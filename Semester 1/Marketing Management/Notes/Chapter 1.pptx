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98" r:id="rId11"/>
    <p:sldId id="264" r:id="rId12"/>
    <p:sldId id="275" r:id="rId13"/>
    <p:sldId id="277" r:id="rId14"/>
    <p:sldId id="278" r:id="rId15"/>
    <p:sldId id="279" r:id="rId16"/>
    <p:sldId id="280" r:id="rId17"/>
    <p:sldId id="282" r:id="rId18"/>
    <p:sldId id="283" r:id="rId19"/>
    <p:sldId id="284" r:id="rId20"/>
    <p:sldId id="286" r:id="rId21"/>
    <p:sldId id="287" r:id="rId22"/>
    <p:sldId id="288" r:id="rId23"/>
    <p:sldId id="289" r:id="rId24"/>
    <p:sldId id="291" r:id="rId25"/>
    <p:sldId id="293" r:id="rId26"/>
    <p:sldId id="294" r:id="rId27"/>
    <p:sldId id="295" r:id="rId28"/>
    <p:sldId id="29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6594-44EF-484D-A3A2-B6C58FA04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4783F-6E83-4478-A540-699BF2137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8F23-CB61-4B47-8B2E-CA92D252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0803-B3BA-4E4E-89B1-A1CDEE6A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4117-9217-4097-B5B8-89E659506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3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7DC32-81BC-44E8-B865-0EA75FC6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F2AB-5D52-41DA-8914-211BCFCE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EC401-9B37-4842-9F33-B9256820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F128E-DCBC-4769-9E34-BA0F0E4A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4EFA-B97B-4962-BAC0-50A98A7B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22CB-A887-475A-88C5-C673E281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C4048-8465-4EA2-8C3F-32023807B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78C35-6969-4B2F-B5FC-76F1A881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EEDB6-BCD2-499A-A3A1-AA3A8E2D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D64A9-B200-4D65-A426-828E4765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81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B02D-DA6D-4A36-B1D4-4055275D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3086-3C04-403D-A84D-8662748BD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B2FA8-ECE8-4D7C-B1E0-F71E580A9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180B6-18B1-47A9-9704-50AF8EA3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F16D8-FCC1-4136-813F-10F006B8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0DBC1-B97D-447D-A950-615868E7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9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E27F-AC5D-433C-96B2-C0E3C6C8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2E233-40F4-400A-9D00-8290CEE6D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17000-50C8-49A2-AF81-13E6F5501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EE7F5-58EC-44A0-8C66-5F3881482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19CBF-6731-45AE-8C6B-FB7BBBA55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3867FE-817A-4DCF-BD97-7870ACA7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F657C-196A-40BD-8355-93218F5C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382D4-FD33-4CF1-A76A-AAB259B7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0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0C82-AE05-48AB-92C3-2D8C259E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D653E-B477-44B8-8822-83AB3F4F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57C0C-BFCD-4862-8D24-8EF1C93B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491BC-1BEF-4104-836D-3254E279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3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5D17C9-C54D-4B0E-ABBB-770D9DFA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70CE2-0340-49CA-ACAF-59A6F59F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22F76-7EE5-4E54-9D74-6B558856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1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7447-E578-4237-9F8D-94CC3BEF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E9C2-315D-4A9D-8F45-2808F50B0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A258F-100B-42E7-86AD-21243E0D6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C1C51-F534-4141-8389-0BD391DD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12B48-B339-4AFA-8D3F-316D45E9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0BE3-6EB2-49B2-8881-A493BDEC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2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509A-57C8-477E-898F-D89AE0E6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C9FF1-8BE4-4013-818A-02B5AD2D7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03BD-C4B5-4A85-89F6-BEC2EA8CC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8C93A-E34D-4CB9-96F3-1BC10F06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D3DE-4A74-4920-850F-25625931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380A0-181E-44CB-AB0B-61BCB58E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3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503B-FD34-4CA0-AD02-87CEB5AB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33F97-3A61-4FCA-BE6B-F2DF45349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05A3-E593-4E34-ADCD-368E39C0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D6FB-7274-4C06-BF8A-BDB37F75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B353C-FF51-4CF8-AE50-DA9C4BCE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A7E64-E3F0-4349-9CBD-FF95F7A2B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10971-F92B-442A-94B9-3807E0BE9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884B5-4515-40E6-A03F-42492809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EC3DD-7053-458C-AB09-DCEAFD735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649B-3F5F-423A-841E-47A0856A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E76F2-9D48-4F08-BC05-2DB44EA8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1051E-7367-47A2-98BA-2549489A2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35ECD-2368-4B09-9E25-A06D06D32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C86FD-924C-4E4B-91A1-3525B6ECDD44}" type="datetimeFigureOut">
              <a:rPr lang="en-US" smtClean="0"/>
              <a:t>9/5/24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1EF83-B157-4F81-92D0-01165DA1D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10E1-A95E-4C8F-B3AA-D6C8BC8F6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8AEC-9AF6-4A36-9985-FC078D45A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4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F379-B8E2-43AE-AB9B-9567BD696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C9E86-0A62-41F9-84AF-7BF1846AA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One</a:t>
            </a:r>
          </a:p>
        </p:txBody>
      </p:sp>
    </p:spTree>
    <p:extLst>
      <p:ext uri="{BB962C8B-B14F-4D97-AF65-F5344CB8AC3E}">
        <p14:creationId xmlns:p14="http://schemas.microsoft.com/office/powerpoint/2010/main" val="3883932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C84-1FEA-42E6-A12E-ABE8C161A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84" y="66746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Marketing 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59EA-4337-4046-B55A-F0665AF85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0354"/>
            <a:ext cx="12192000" cy="3089206"/>
          </a:xfrm>
        </p:spPr>
        <p:txBody>
          <a:bodyPr/>
          <a:lstStyle/>
          <a:p>
            <a:pPr algn="just"/>
            <a:r>
              <a:rPr lang="en-US" altLang="zh-TW" dirty="0">
                <a:solidFill>
                  <a:srgbClr val="000000"/>
                </a:solidFill>
              </a:rPr>
              <a:t>Marketing is a process by which companies create value for customers and build strong customer relationships to capture value from customers in return.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7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64D4-9AF0-4F11-8244-899C8CB1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Marketing Process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4211-793D-4204-B610-FBAAED115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7588"/>
            <a:ext cx="12192000" cy="5070411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This figure shows marketing in a nutshell. By creating value for customers, marketers capture value from customers in return. </a:t>
            </a:r>
            <a:endParaRPr lang="en-US" dirty="0"/>
          </a:p>
        </p:txBody>
      </p:sp>
      <p:grpSp>
        <p:nvGrpSpPr>
          <p:cNvPr id="4" name="群組 4">
            <a:extLst>
              <a:ext uri="{FF2B5EF4-FFF2-40B4-BE49-F238E27FC236}">
                <a16:creationId xmlns:a16="http://schemas.microsoft.com/office/drawing/2014/main" id="{BD57323A-59DA-42D3-B920-D5599584025B}"/>
              </a:ext>
            </a:extLst>
          </p:cNvPr>
          <p:cNvGrpSpPr/>
          <p:nvPr/>
        </p:nvGrpSpPr>
        <p:grpSpPr>
          <a:xfrm>
            <a:off x="1755252" y="2996388"/>
            <a:ext cx="8661400" cy="3631254"/>
            <a:chOff x="171450" y="1628775"/>
            <a:chExt cx="8661400" cy="3692386"/>
          </a:xfrm>
        </p:grpSpPr>
        <p:sp>
          <p:nvSpPr>
            <p:cNvPr id="5" name="矩形 5">
              <a:extLst>
                <a:ext uri="{FF2B5EF4-FFF2-40B4-BE49-F238E27FC236}">
                  <a16:creationId xmlns:a16="http://schemas.microsoft.com/office/drawing/2014/main" id="{8A881214-03EE-4F72-8389-153218E01A72}"/>
                </a:ext>
              </a:extLst>
            </p:cNvPr>
            <p:cNvSpPr/>
            <p:nvPr/>
          </p:nvSpPr>
          <p:spPr>
            <a:xfrm>
              <a:off x="171450" y="2060575"/>
              <a:ext cx="1520825" cy="13684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1600" dirty="0"/>
                <a:t>Understand the marketplace and customer needs and wants</a:t>
              </a:r>
              <a:endParaRPr kumimoji="0" lang="zh-TW" altLang="en-US" sz="1600" dirty="0"/>
            </a:p>
          </p:txBody>
        </p:sp>
        <p:grpSp>
          <p:nvGrpSpPr>
            <p:cNvPr id="6" name="群組 6">
              <a:extLst>
                <a:ext uri="{FF2B5EF4-FFF2-40B4-BE49-F238E27FC236}">
                  <a16:creationId xmlns:a16="http://schemas.microsoft.com/office/drawing/2014/main" id="{6BA2B887-AF26-4FC6-B393-1FAA0D8D4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2275" y="2060575"/>
              <a:ext cx="1781175" cy="1368425"/>
              <a:chOff x="1691680" y="2060848"/>
              <a:chExt cx="1781071" cy="1368152"/>
            </a:xfrm>
          </p:grpSpPr>
          <p:sp>
            <p:nvSpPr>
              <p:cNvPr id="27" name="矩形 27">
                <a:extLst>
                  <a:ext uri="{FF2B5EF4-FFF2-40B4-BE49-F238E27FC236}">
                    <a16:creationId xmlns:a16="http://schemas.microsoft.com/office/drawing/2014/main" id="{7443AB45-2B97-48AB-9525-85DE85F9BCFB}"/>
                  </a:ext>
                </a:extLst>
              </p:cNvPr>
              <p:cNvSpPr/>
              <p:nvPr/>
            </p:nvSpPr>
            <p:spPr>
              <a:xfrm>
                <a:off x="1952015" y="2060848"/>
                <a:ext cx="1520736" cy="136815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Design customer-driven marketing strategy</a:t>
                </a:r>
                <a:endParaRPr kumimoji="0" lang="zh-TW" altLang="en-US" sz="1600" dirty="0"/>
              </a:p>
            </p:txBody>
          </p:sp>
          <p:sp>
            <p:nvSpPr>
              <p:cNvPr id="28" name="向右箭號 28">
                <a:extLst>
                  <a:ext uri="{FF2B5EF4-FFF2-40B4-BE49-F238E27FC236}">
                    <a16:creationId xmlns:a16="http://schemas.microsoft.com/office/drawing/2014/main" id="{CDF427E4-D7D2-4A95-B5EA-E3A20DB79D8F}"/>
                  </a:ext>
                </a:extLst>
              </p:cNvPr>
              <p:cNvSpPr/>
              <p:nvPr/>
            </p:nvSpPr>
            <p:spPr>
              <a:xfrm>
                <a:off x="1691680" y="2636912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7" name="群組 7">
              <a:extLst>
                <a:ext uri="{FF2B5EF4-FFF2-40B4-BE49-F238E27FC236}">
                  <a16:creationId xmlns:a16="http://schemas.microsoft.com/office/drawing/2014/main" id="{84870012-B19E-41B1-B0FF-AB8434F80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1388" y="2060575"/>
              <a:ext cx="1771650" cy="1547813"/>
              <a:chOff x="3482031" y="2060848"/>
              <a:chExt cx="1771791" cy="1547504"/>
            </a:xfrm>
          </p:grpSpPr>
          <p:sp>
            <p:nvSpPr>
              <p:cNvPr id="25" name="矩形 25">
                <a:extLst>
                  <a:ext uri="{FF2B5EF4-FFF2-40B4-BE49-F238E27FC236}">
                    <a16:creationId xmlns:a16="http://schemas.microsoft.com/office/drawing/2014/main" id="{FD090489-B8A1-4D4E-9F84-B4FD9DE9E797}"/>
                  </a:ext>
                </a:extLst>
              </p:cNvPr>
              <p:cNvSpPr/>
              <p:nvPr/>
            </p:nvSpPr>
            <p:spPr>
              <a:xfrm>
                <a:off x="3732876" y="2060848"/>
                <a:ext cx="1520946" cy="154750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Construct an integrated marketing program that delivers superior value</a:t>
                </a:r>
                <a:endParaRPr kumimoji="0" lang="zh-TW" altLang="en-US" sz="1600" dirty="0"/>
              </a:p>
            </p:txBody>
          </p:sp>
          <p:sp>
            <p:nvSpPr>
              <p:cNvPr id="26" name="向右箭號 26">
                <a:extLst>
                  <a:ext uri="{FF2B5EF4-FFF2-40B4-BE49-F238E27FC236}">
                    <a16:creationId xmlns:a16="http://schemas.microsoft.com/office/drawing/2014/main" id="{5BF33FB2-56FA-4F61-A624-F08F0556AB71}"/>
                  </a:ext>
                </a:extLst>
              </p:cNvPr>
              <p:cNvSpPr/>
              <p:nvPr/>
            </p:nvSpPr>
            <p:spPr>
              <a:xfrm>
                <a:off x="3482031" y="2694359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8" name="群組 8">
              <a:extLst>
                <a:ext uri="{FF2B5EF4-FFF2-40B4-BE49-F238E27FC236}">
                  <a16:creationId xmlns:a16="http://schemas.microsoft.com/office/drawing/2014/main" id="{9CF236B9-FE5C-49D9-AE6D-AF8D18980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3038" y="2060575"/>
              <a:ext cx="1781175" cy="1368425"/>
              <a:chOff x="5253822" y="2060848"/>
              <a:chExt cx="1781071" cy="1368152"/>
            </a:xfrm>
          </p:grpSpPr>
          <p:sp>
            <p:nvSpPr>
              <p:cNvPr id="23" name="矩形 23">
                <a:extLst>
                  <a:ext uri="{FF2B5EF4-FFF2-40B4-BE49-F238E27FC236}">
                    <a16:creationId xmlns:a16="http://schemas.microsoft.com/office/drawing/2014/main" id="{C12117AC-1853-4E99-BA75-701B26C49C93}"/>
                  </a:ext>
                </a:extLst>
              </p:cNvPr>
              <p:cNvSpPr/>
              <p:nvPr/>
            </p:nvSpPr>
            <p:spPr>
              <a:xfrm>
                <a:off x="5514157" y="2060848"/>
                <a:ext cx="1520736" cy="1368152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/>
                  <a:t>Build profitable relationships and create customer delight</a:t>
                </a:r>
                <a:endParaRPr kumimoji="0" lang="zh-TW" altLang="en-US" sz="1600" dirty="0"/>
              </a:p>
            </p:txBody>
          </p:sp>
          <p:sp>
            <p:nvSpPr>
              <p:cNvPr id="24" name="向右箭號 24">
                <a:extLst>
                  <a:ext uri="{FF2B5EF4-FFF2-40B4-BE49-F238E27FC236}">
                    <a16:creationId xmlns:a16="http://schemas.microsoft.com/office/drawing/2014/main" id="{9A752699-F9CC-4E90-9B96-D790239A646A}"/>
                  </a:ext>
                </a:extLst>
              </p:cNvPr>
              <p:cNvSpPr/>
              <p:nvPr/>
            </p:nvSpPr>
            <p:spPr>
              <a:xfrm>
                <a:off x="5253822" y="2686657"/>
                <a:ext cx="260700" cy="292422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9" name="群組 9">
              <a:extLst>
                <a:ext uri="{FF2B5EF4-FFF2-40B4-BE49-F238E27FC236}">
                  <a16:creationId xmlns:a16="http://schemas.microsoft.com/office/drawing/2014/main" id="{8D5D028C-5988-4B4B-A7C9-71CC88C72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34213" y="1628775"/>
              <a:ext cx="1798637" cy="2087563"/>
              <a:chOff x="7034892" y="1628800"/>
              <a:chExt cx="1797535" cy="2088232"/>
            </a:xfrm>
          </p:grpSpPr>
          <p:cxnSp>
            <p:nvCxnSpPr>
              <p:cNvPr id="20" name="直線接點 20">
                <a:extLst>
                  <a:ext uri="{FF2B5EF4-FFF2-40B4-BE49-F238E27FC236}">
                    <a16:creationId xmlns:a16="http://schemas.microsoft.com/office/drawing/2014/main" id="{E8FD82B1-F5C4-43A4-A457-2B024CE65BB4}"/>
                  </a:ext>
                </a:extLst>
              </p:cNvPr>
              <p:cNvCxnSpPr/>
              <p:nvPr/>
            </p:nvCxnSpPr>
            <p:spPr>
              <a:xfrm>
                <a:off x="7244314" y="1628800"/>
                <a:ext cx="0" cy="2088232"/>
              </a:xfrm>
              <a:prstGeom prst="line">
                <a:avLst/>
              </a:prstGeom>
              <a:ln w="38100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矩形 21">
                <a:extLst>
                  <a:ext uri="{FF2B5EF4-FFF2-40B4-BE49-F238E27FC236}">
                    <a16:creationId xmlns:a16="http://schemas.microsoft.com/office/drawing/2014/main" id="{752C832A-5548-41DC-82BE-55403203AF98}"/>
                  </a:ext>
                </a:extLst>
              </p:cNvPr>
              <p:cNvSpPr/>
              <p:nvPr/>
            </p:nvSpPr>
            <p:spPr>
              <a:xfrm>
                <a:off x="7452148" y="2060738"/>
                <a:ext cx="1380279" cy="165629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1600" dirty="0">
                    <a:solidFill>
                      <a:schemeClr val="tx1"/>
                    </a:solidFill>
                  </a:rPr>
                  <a:t>Capture value from customers to create profits and customer equity</a:t>
                </a:r>
                <a:endParaRPr kumimoji="0" lang="zh-TW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向右箭號 22">
                <a:extLst>
                  <a:ext uri="{FF2B5EF4-FFF2-40B4-BE49-F238E27FC236}">
                    <a16:creationId xmlns:a16="http://schemas.microsoft.com/office/drawing/2014/main" id="{0A5B9441-F898-4685-B102-FF8ABB15889D}"/>
                  </a:ext>
                </a:extLst>
              </p:cNvPr>
              <p:cNvSpPr/>
              <p:nvPr/>
            </p:nvSpPr>
            <p:spPr>
              <a:xfrm>
                <a:off x="7034892" y="2687053"/>
                <a:ext cx="417427" cy="299728"/>
              </a:xfrm>
              <a:prstGeom prst="rightArrow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zh-TW" altLang="en-US"/>
              </a:p>
            </p:txBody>
          </p:sp>
        </p:grpSp>
        <p:grpSp>
          <p:nvGrpSpPr>
            <p:cNvPr id="10" name="群組 10">
              <a:extLst>
                <a:ext uri="{FF2B5EF4-FFF2-40B4-BE49-F238E27FC236}">
                  <a16:creationId xmlns:a16="http://schemas.microsoft.com/office/drawing/2014/main" id="{10F4D21D-E53E-4046-AE5B-31BB49669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288" y="3608388"/>
              <a:ext cx="6480175" cy="1512748"/>
              <a:chOff x="395536" y="3607946"/>
              <a:chExt cx="6480720" cy="1513047"/>
            </a:xfrm>
          </p:grpSpPr>
          <p:grpSp>
            <p:nvGrpSpPr>
              <p:cNvPr id="14" name="群組 2058">
                <a:extLst>
                  <a:ext uri="{FF2B5EF4-FFF2-40B4-BE49-F238E27FC236}">
                    <a16:creationId xmlns:a16="http://schemas.microsoft.com/office/drawing/2014/main" id="{4BA1E7BE-A98B-46D9-84FF-D150DE0197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36" y="3607946"/>
                <a:ext cx="6480720" cy="612068"/>
                <a:chOff x="395536" y="3607946"/>
                <a:chExt cx="6480720" cy="612068"/>
              </a:xfrm>
            </p:grpSpPr>
            <p:cxnSp>
              <p:nvCxnSpPr>
                <p:cNvPr id="18" name="直線接點 18">
                  <a:extLst>
                    <a:ext uri="{FF2B5EF4-FFF2-40B4-BE49-F238E27FC236}">
                      <a16:creationId xmlns:a16="http://schemas.microsoft.com/office/drawing/2014/main" id="{DE48EEB7-A7F4-4E26-B0BF-C03E341C8F27}"/>
                    </a:ext>
                  </a:extLst>
                </p:cNvPr>
                <p:cNvCxnSpPr/>
                <p:nvPr/>
              </p:nvCxnSpPr>
              <p:spPr>
                <a:xfrm>
                  <a:off x="6876256" y="3607946"/>
                  <a:ext cx="0" cy="6113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接點 19">
                  <a:extLst>
                    <a:ext uri="{FF2B5EF4-FFF2-40B4-BE49-F238E27FC236}">
                      <a16:creationId xmlns:a16="http://schemas.microsoft.com/office/drawing/2014/main" id="{8B2E2E85-5AD5-4357-86CE-D2F68316A03A}"/>
                    </a:ext>
                  </a:extLst>
                </p:cNvPr>
                <p:cNvCxnSpPr/>
                <p:nvPr/>
              </p:nvCxnSpPr>
              <p:spPr>
                <a:xfrm>
                  <a:off x="395536" y="3607946"/>
                  <a:ext cx="0" cy="6113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群組 2060">
                <a:extLst>
                  <a:ext uri="{FF2B5EF4-FFF2-40B4-BE49-F238E27FC236}">
                    <a16:creationId xmlns:a16="http://schemas.microsoft.com/office/drawing/2014/main" id="{4888E5D6-89F4-48EB-A522-B3193D6B5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36" y="4231956"/>
                <a:ext cx="6480720" cy="889037"/>
                <a:chOff x="395536" y="4231956"/>
                <a:chExt cx="6480720" cy="889037"/>
              </a:xfrm>
            </p:grpSpPr>
            <p:cxnSp>
              <p:nvCxnSpPr>
                <p:cNvPr id="16" name="直線接點 16">
                  <a:extLst>
                    <a:ext uri="{FF2B5EF4-FFF2-40B4-BE49-F238E27FC236}">
                      <a16:creationId xmlns:a16="http://schemas.microsoft.com/office/drawing/2014/main" id="{BFFB65F2-BE05-46C1-B770-947053CADAC9}"/>
                    </a:ext>
                  </a:extLst>
                </p:cNvPr>
                <p:cNvCxnSpPr/>
                <p:nvPr/>
              </p:nvCxnSpPr>
              <p:spPr>
                <a:xfrm>
                  <a:off x="395536" y="4231956"/>
                  <a:ext cx="648072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文字方塊 17">
                  <a:extLst>
                    <a:ext uri="{FF2B5EF4-FFF2-40B4-BE49-F238E27FC236}">
                      <a16:creationId xmlns:a16="http://schemas.microsoft.com/office/drawing/2014/main" id="{78EDB0DB-2F9C-4684-ADA7-52A2E0B83183}"/>
                    </a:ext>
                  </a:extLst>
                </p:cNvPr>
                <p:cNvSpPr txBox="1"/>
                <p:nvPr/>
              </p:nvSpPr>
              <p:spPr>
                <a:xfrm>
                  <a:off x="1492590" y="4412967"/>
                  <a:ext cx="3961146" cy="708026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kumimoji="0" lang="en-US" altLang="zh-TW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Create value </a:t>
                  </a:r>
                  <a:r>
                    <a:rPr kumimoji="0" lang="en-US" altLang="zh-TW" sz="2000" b="1" dirty="0">
                      <a:solidFill>
                        <a:srgbClr val="0070C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for customers </a:t>
                  </a:r>
                  <a:r>
                    <a:rPr kumimoji="0" lang="en-US" altLang="zh-TW" sz="2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+mn-lt"/>
                      <a:ea typeface="+mn-ea"/>
                    </a:rPr>
                    <a:t>and build customer relationships</a:t>
                  </a:r>
                  <a:endParaRPr kumimoji="0" lang="zh-TW" alt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endParaRPr>
                </a:p>
              </p:txBody>
            </p:sp>
          </p:grpSp>
        </p:grpSp>
        <p:grpSp>
          <p:nvGrpSpPr>
            <p:cNvPr id="11" name="群組 11">
              <a:extLst>
                <a:ext uri="{FF2B5EF4-FFF2-40B4-BE49-F238E27FC236}">
                  <a16:creationId xmlns:a16="http://schemas.microsoft.com/office/drawing/2014/main" id="{C4FFD72E-EF60-473E-9845-34953A40A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9125" y="3716338"/>
              <a:ext cx="3089275" cy="1604823"/>
              <a:chOff x="5698642" y="3717032"/>
              <a:chExt cx="3089926" cy="1603749"/>
            </a:xfrm>
          </p:grpSpPr>
          <p:cxnSp>
            <p:nvCxnSpPr>
              <p:cNvPr id="12" name="直線接點 12">
                <a:extLst>
                  <a:ext uri="{FF2B5EF4-FFF2-40B4-BE49-F238E27FC236}">
                    <a16:creationId xmlns:a16="http://schemas.microsoft.com/office/drawing/2014/main" id="{D84583F2-DF72-43C6-8C7D-AD4A9F7DD58C}"/>
                  </a:ext>
                </a:extLst>
              </p:cNvPr>
              <p:cNvCxnSpPr/>
              <p:nvPr/>
            </p:nvCxnSpPr>
            <p:spPr>
              <a:xfrm>
                <a:off x="7885091" y="3717032"/>
                <a:ext cx="0" cy="75831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字方塊 13">
                <a:extLst>
                  <a:ext uri="{FF2B5EF4-FFF2-40B4-BE49-F238E27FC236}">
                    <a16:creationId xmlns:a16="http://schemas.microsoft.com/office/drawing/2014/main" id="{FE03535A-351F-447E-A50D-3A8EA39F3A8D}"/>
                  </a:ext>
                </a:extLst>
              </p:cNvPr>
              <p:cNvSpPr txBox="1"/>
              <p:nvPr/>
            </p:nvSpPr>
            <p:spPr>
              <a:xfrm>
                <a:off x="5698642" y="4613369"/>
                <a:ext cx="3089926" cy="70741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TW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Capture value </a:t>
                </a:r>
                <a:r>
                  <a:rPr kumimoji="0" lang="en-US" altLang="zh-TW" sz="2000" b="1" dirty="0">
                    <a:solidFill>
                      <a:srgbClr val="FF99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from customers</a:t>
                </a:r>
                <a:r>
                  <a:rPr kumimoji="0" lang="en-US" altLang="zh-TW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</a:rPr>
                  <a:t> in return</a:t>
                </a:r>
                <a:endParaRPr kumimoji="0" lang="zh-TW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721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751A-11A4-492F-A0E9-0A3A068E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034" y="365125"/>
            <a:ext cx="9522823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b="1" dirty="0"/>
              <a:t>1. Understanding the Marketplace and Customer Needs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2F5E-ED17-4E01-B32C-BFD62CEE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1999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1.1</a:t>
            </a:r>
            <a:r>
              <a:rPr lang="en-US" dirty="0"/>
              <a:t>. </a:t>
            </a:r>
            <a:r>
              <a:rPr lang="en-US" b="1" dirty="0"/>
              <a:t>Customer Needs, Wants, Demands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Customer Needs</a:t>
            </a:r>
          </a:p>
          <a:p>
            <a:pPr marL="0" indent="0">
              <a:buNone/>
            </a:pPr>
            <a:r>
              <a:rPr lang="en-US" dirty="0"/>
              <a:t>	States of felt deprivation</a:t>
            </a:r>
          </a:p>
          <a:p>
            <a:pPr lvl="1"/>
            <a:r>
              <a:rPr lang="en-US" altLang="en-US" sz="2000" dirty="0">
                <a:ea typeface="微軟正黑體" pitchFamily="34" charset="-120"/>
              </a:rPr>
              <a:t>Physical—food, clothing, warmth, safety</a:t>
            </a:r>
            <a:endParaRPr lang="zh-TW" altLang="en-US" sz="2000" dirty="0">
              <a:ea typeface="微軟正黑體" pitchFamily="34" charset="-120"/>
            </a:endParaRPr>
          </a:p>
          <a:p>
            <a:pPr lvl="1"/>
            <a:r>
              <a:rPr lang="en-US" altLang="en-US" sz="2000" dirty="0">
                <a:ea typeface="微軟正黑體" pitchFamily="34" charset="-120"/>
              </a:rPr>
              <a:t>Social—belonging and affection</a:t>
            </a:r>
            <a:endParaRPr lang="zh-TW" altLang="en-US" sz="2000" dirty="0">
              <a:ea typeface="微軟正黑體" pitchFamily="34" charset="-120"/>
            </a:endParaRPr>
          </a:p>
          <a:p>
            <a:pPr lvl="1"/>
            <a:r>
              <a:rPr lang="en-US" altLang="en-US" sz="2000" dirty="0">
                <a:ea typeface="微軟正黑體" pitchFamily="34" charset="-120"/>
              </a:rPr>
              <a:t>Individual—knowledge and self-expression</a:t>
            </a:r>
            <a:endParaRPr lang="zh-TW" altLang="en-US" sz="2000" dirty="0">
              <a:ea typeface="微軟正黑體" pitchFamily="34" charset="-12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Wants:</a:t>
            </a:r>
          </a:p>
          <a:p>
            <a:pPr marL="0" indent="0">
              <a:buNone/>
            </a:pPr>
            <a:r>
              <a:rPr lang="en-US" dirty="0"/>
              <a:t>	Wants are the forms of human needs but they are shaped by culture. 	</a:t>
            </a:r>
          </a:p>
          <a:p>
            <a:pPr lvl="1"/>
            <a:r>
              <a:rPr lang="en-US" sz="2000" dirty="0"/>
              <a:t>Hunger is my need but I want rice with raita or naan with karahi but a person in </a:t>
            </a:r>
            <a:r>
              <a:rPr lang="en-US" sz="2000"/>
              <a:t>Malaysia may want </a:t>
            </a:r>
            <a:r>
              <a:rPr lang="en-US" sz="2000" dirty="0"/>
              <a:t>a bowl of rice with fish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Demands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Human wants backed by buying power. 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633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83E8-0381-448F-8650-F726D641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E838-03ED-4232-B3DC-1B0F80B9D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3040"/>
            <a:ext cx="12192000" cy="53949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1.2 Market offerings</a:t>
            </a:r>
            <a:r>
              <a:rPr lang="en-US" dirty="0"/>
              <a:t> </a:t>
            </a:r>
          </a:p>
          <a:p>
            <a:pPr marL="0" indent="0" algn="just">
              <a:buNone/>
            </a:pPr>
            <a:r>
              <a:rPr lang="en-US" altLang="zh-TW" dirty="0"/>
              <a:t>	Combination of products, services, or experiences 	offered to a market to satisfy a need or a want.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zh-TW" b="1" dirty="0"/>
              <a:t>Marketing myopia</a:t>
            </a:r>
            <a:endParaRPr lang="en-US" altLang="zh-TW" dirty="0"/>
          </a:p>
          <a:p>
            <a:pPr marL="0" indent="0" algn="just">
              <a:buNone/>
            </a:pPr>
            <a:r>
              <a:rPr lang="en-US" altLang="zh-TW" dirty="0"/>
              <a:t>	focusing only on existing wants and losing sight of underlying consumer needs.</a:t>
            </a:r>
          </a:p>
          <a:p>
            <a:pPr marL="0" indent="0" algn="just">
              <a:buNone/>
            </a:pPr>
            <a:r>
              <a:rPr lang="en-US" altLang="zh-TW" b="1" dirty="0"/>
              <a:t>1.3 Customer Value and Satisfaction </a:t>
            </a:r>
          </a:p>
          <a:p>
            <a:pPr marL="457200" lvl="1" indent="0" algn="just">
              <a:buNone/>
            </a:pPr>
            <a:r>
              <a:rPr lang="en-US" dirty="0"/>
              <a:t>There are two aspects to </a:t>
            </a:r>
            <a:r>
              <a:rPr lang="en-US" b="1" dirty="0"/>
              <a:t>customer value</a:t>
            </a:r>
            <a:r>
              <a:rPr lang="en-US" dirty="0"/>
              <a:t>: desired value and perceived value. 	</a:t>
            </a:r>
          </a:p>
          <a:p>
            <a:pPr lvl="2" algn="just"/>
            <a:r>
              <a:rPr lang="en-US" b="1" dirty="0"/>
              <a:t>Desired value</a:t>
            </a:r>
            <a:r>
              <a:rPr lang="en-US" dirty="0"/>
              <a:t> refers to what customers desire in a product or service. </a:t>
            </a:r>
          </a:p>
          <a:p>
            <a:pPr lvl="2" algn="just"/>
            <a:r>
              <a:rPr lang="en-GB" b="1" dirty="0"/>
              <a:t>Perceived value</a:t>
            </a:r>
            <a:r>
              <a:rPr lang="en-GB" dirty="0"/>
              <a:t> is the benefit that a customer believes they received from a product after purchase. If the desired value and perceived value are the same, then customer satisfaction is achieved.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3878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1.4 Exchanges and Relationships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349867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Marketing occurs when people decide to satisfy needs and wants through exchange relationships.</a:t>
            </a:r>
          </a:p>
          <a:p>
            <a:pPr lvl="1"/>
            <a:r>
              <a:rPr lang="en-US" altLang="zh-TW" dirty="0"/>
              <a:t>the act of obtaining a desired object from someone by offering something in return</a:t>
            </a:r>
            <a:endParaRPr lang="en-US" altLang="zh-TW" b="1" i="1" dirty="0"/>
          </a:p>
          <a:p>
            <a:pPr lvl="1"/>
            <a:r>
              <a:rPr lang="en-US" altLang="zh-TW" dirty="0"/>
              <a:t>Marketing actions try to  create, maintain, grow exchange relationships.</a:t>
            </a:r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endParaRPr lang="zh-TW" altLang="en-US" dirty="0"/>
          </a:p>
        </p:txBody>
      </p:sp>
      <p:pic>
        <p:nvPicPr>
          <p:cNvPr id="23554" name="Picture 2" descr="https://encrypted-tbn2.gstatic.com/images?q=tbn:ANd9GcQeYxlDwy4-4XfJLIOWZ90UOT6-MRfXmdoEL4AgpTw3bE-xJdb5a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120" y="4432267"/>
            <a:ext cx="3124588" cy="24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 descr="http://digitalsherpa.com/wp-content/uploads/2013/06/social-media-monitoring-tools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91" t="5953" r="21336" b="5805"/>
          <a:stretch/>
        </p:blipFill>
        <p:spPr bwMode="auto">
          <a:xfrm>
            <a:off x="4822100" y="4175492"/>
            <a:ext cx="2304256" cy="266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97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1" dirty="0"/>
              <a:t>1.5 Markets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60938"/>
            <a:ext cx="12192000" cy="23863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b="1" dirty="0"/>
              <a:t>The concept of exchange and relationships lead to the concept of a market.</a:t>
            </a:r>
          </a:p>
          <a:p>
            <a:r>
              <a:rPr lang="en-US" altLang="zh-TW" b="1" dirty="0"/>
              <a:t>Markets</a:t>
            </a:r>
            <a:r>
              <a:rPr lang="en-US" altLang="zh-TW" dirty="0"/>
              <a:t> are the set of actual and potential buyers of a product.</a:t>
            </a:r>
          </a:p>
          <a:p>
            <a:r>
              <a:rPr lang="en-US" altLang="zh-TW" sz="1600" dirty="0">
                <a:solidFill>
                  <a:srgbClr val="000000"/>
                </a:solidFill>
              </a:rPr>
              <a:t>Each party in the system adds value. </a:t>
            </a:r>
          </a:p>
          <a:p>
            <a:pPr marL="1200150" lvl="2" indent="-285750"/>
            <a:r>
              <a:rPr lang="en-US" altLang="zh-TW" sz="1600" dirty="0">
                <a:solidFill>
                  <a:srgbClr val="000000"/>
                </a:solidFill>
              </a:rPr>
              <a:t>Walmart cannot fulfill its promise of low prices unless its suppliers provide low costs. </a:t>
            </a:r>
          </a:p>
          <a:p>
            <a:pPr marL="1200150" lvl="2" indent="-285750"/>
            <a:r>
              <a:rPr lang="en-US" altLang="zh-TW" sz="1600" dirty="0">
                <a:solidFill>
                  <a:srgbClr val="000000"/>
                </a:solidFill>
              </a:rPr>
              <a:t>Ford cannot deliver a high-quality car-ownership experience unless its dealers provide outstanding service.</a:t>
            </a:r>
          </a:p>
          <a:p>
            <a:pPr marL="742950" lvl="1" indent="-285750"/>
            <a:r>
              <a:rPr lang="en-US" altLang="zh-TW" sz="2000" dirty="0">
                <a:solidFill>
                  <a:srgbClr val="000000"/>
                </a:solidFill>
              </a:rPr>
              <a:t>Arrows represent relationships that must be developed and managed to create customers value and profitable customer relationships.</a:t>
            </a:r>
          </a:p>
          <a:p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34" b="25851"/>
          <a:stretch/>
        </p:blipFill>
        <p:spPr>
          <a:xfrm>
            <a:off x="2495600" y="3847329"/>
            <a:ext cx="7200800" cy="284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9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C200-46D1-49A2-9541-B23381A15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68" y="312874"/>
            <a:ext cx="10334897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2. Designing a Customer Driven Marketing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52015-7B49-4829-BAF3-5B70E1ADC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9407"/>
            <a:ext cx="12192000" cy="4747556"/>
          </a:xfrm>
        </p:spPr>
        <p:txBody>
          <a:bodyPr/>
          <a:lstStyle/>
          <a:p>
            <a:r>
              <a:rPr lang="en-US" altLang="zh-TW" dirty="0"/>
              <a:t>Once it fully understands consumers and the marketplace, marketing management can design a customer-driven marketing strategy.</a:t>
            </a:r>
          </a:p>
          <a:p>
            <a:pPr lvl="2"/>
            <a:r>
              <a:rPr lang="en-US" altLang="zh-TW" dirty="0">
                <a:solidFill>
                  <a:srgbClr val="000000"/>
                </a:solidFill>
              </a:rPr>
              <a:t>What customers will we serve (what’s our target market)?</a:t>
            </a:r>
          </a:p>
          <a:p>
            <a:pPr lvl="2"/>
            <a:r>
              <a:rPr lang="en-US" altLang="zh-TW" dirty="0">
                <a:solidFill>
                  <a:srgbClr val="000000"/>
                </a:solidFill>
              </a:rPr>
              <a:t>How can we serve these customers best (what’s our value proposition or positioning)? </a:t>
            </a:r>
            <a:endParaRPr lang="zh-TW" alt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39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D62A-09FF-4EB2-9F56-86196F05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5117"/>
            <a:ext cx="12192000" cy="5052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/>
              <a:t>Selecting Customers to Serve</a:t>
            </a:r>
            <a:endParaRPr lang="en-US" altLang="zh-TW" i="1" dirty="0"/>
          </a:p>
          <a:p>
            <a:r>
              <a:rPr lang="en-US" altLang="zh-TW" i="1" dirty="0"/>
              <a:t>Market segmentation</a:t>
            </a:r>
            <a:r>
              <a:rPr lang="en-US" altLang="zh-TW" dirty="0"/>
              <a:t> refers to dividing the markets into segments of customers.</a:t>
            </a:r>
          </a:p>
          <a:p>
            <a:r>
              <a:rPr lang="en-US" altLang="zh-TW" i="1" dirty="0"/>
              <a:t>Target marketing</a:t>
            </a:r>
            <a:r>
              <a:rPr lang="en-US" altLang="zh-TW" dirty="0"/>
              <a:t> refers to which segments to go after.</a:t>
            </a:r>
          </a:p>
          <a:p>
            <a:pPr marL="0" indent="0">
              <a:buNone/>
            </a:pPr>
            <a:r>
              <a:rPr lang="en-US" altLang="zh-TW" b="1" dirty="0"/>
              <a:t>Choosing a Value Proposition</a:t>
            </a:r>
            <a:endParaRPr lang="en-US" altLang="zh-TW" dirty="0"/>
          </a:p>
          <a:p>
            <a:r>
              <a:rPr lang="en-US" altLang="zh-TW" dirty="0"/>
              <a:t>A brand’s </a:t>
            </a:r>
            <a:r>
              <a:rPr lang="en-US" altLang="zh-TW" i="1" dirty="0"/>
              <a:t>value proposition</a:t>
            </a:r>
            <a:r>
              <a:rPr lang="en-US" altLang="zh-TW" dirty="0"/>
              <a:t> is the set of benefits or values it promises to deliver to consumers to satisfy their needs. </a:t>
            </a:r>
          </a:p>
          <a:p>
            <a:r>
              <a:rPr lang="en-US" dirty="0"/>
              <a:t>Weak positioning vs Strong positioning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25A54C-5C5F-5C43-050B-1BECB1C2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1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152718"/>
            <a:ext cx="6995120" cy="900018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Marketing Management Orientations</a:t>
            </a:r>
            <a:endParaRPr lang="zh-TW" alt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032F1E-01AC-4260-B429-A0140EAC66D6}"/>
              </a:ext>
            </a:extLst>
          </p:cNvPr>
          <p:cNvSpPr/>
          <p:nvPr/>
        </p:nvSpPr>
        <p:spPr>
          <a:xfrm>
            <a:off x="0" y="1312004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/>
              <a:t>The Production Concept: </a:t>
            </a:r>
            <a:r>
              <a:rPr lang="en-US" sz="2400" dirty="0"/>
              <a:t>low production costs, high production efficiency and mass production.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/>
              <a:t>The Product Concept: </a:t>
            </a:r>
            <a:r>
              <a:rPr lang="en-US" sz="2400" dirty="0"/>
              <a:t>consumers will prefer products that have better quality, performance and features as opposed to a normal product</a:t>
            </a:r>
            <a:endParaRPr lang="en-US" altLang="zh-TW" sz="2400" dirty="0">
              <a:solidFill>
                <a:srgbClr val="00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00"/>
                </a:solidFill>
              </a:rPr>
              <a:t>The Selling Concept: </a:t>
            </a:r>
            <a:r>
              <a:rPr lang="en-US" altLang="zh-TW" sz="2400" dirty="0">
                <a:solidFill>
                  <a:srgbClr val="000000"/>
                </a:solidFill>
              </a:rPr>
              <a:t>The selling concept takes an inside-out view that focuses on existing products and heavy selling. The aim is to sell what the company makes rather than making what the customer wants.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400" b="1" dirty="0">
                <a:solidFill>
                  <a:srgbClr val="000000"/>
                </a:solidFill>
              </a:rPr>
              <a:t>The marketing concept:</a:t>
            </a:r>
            <a:r>
              <a:rPr lang="en-US" altLang="zh-TW" sz="2400" dirty="0">
                <a:solidFill>
                  <a:srgbClr val="000000"/>
                </a:solidFill>
              </a:rPr>
              <a:t> takes an outside-in  view that focuses on satisfying customer needs as a path to profits. As South-west Airlines’ colorful founder puts it, “We don’t have a marketing department, we have a customer department.”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74A73D-857F-B7D3-2057-56407340C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2004"/>
            <a:ext cx="12192000" cy="5545995"/>
          </a:xfrm>
        </p:spPr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604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9D65-7324-410D-AF8F-319A9D76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Marketing Management Orientations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E488-CB07-43D2-9688-13BC654DD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4486275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+mn-ea"/>
              </a:rPr>
              <a:t>The Societal Marketing Concept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The </a:t>
            </a:r>
            <a:r>
              <a:rPr lang="en-US" altLang="zh-TW" b="1" dirty="0">
                <a:solidFill>
                  <a:srgbClr val="000000"/>
                </a:solidFill>
                <a:cs typeface="ヒラギノ角ゴ Pro W3"/>
              </a:rPr>
              <a:t>societal</a:t>
            </a: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cs typeface="ヒラギノ角ゴ Pro W3"/>
              </a:rPr>
              <a:t>marketing concept</a:t>
            </a:r>
            <a:r>
              <a:rPr lang="en-US" altLang="zh-TW" dirty="0">
                <a:solidFill>
                  <a:srgbClr val="000000"/>
                </a:solidFill>
                <a:cs typeface="ヒラギノ角ゴ Pro W3"/>
              </a:rPr>
              <a:t> holds that marketing strategy should deliver value to customers in a way that maintains or improves both the consumer’s and society’s well-being.</a:t>
            </a:r>
          </a:p>
          <a:p>
            <a:endParaRPr lang="en-US" altLang="zh-TW" b="1" dirty="0">
              <a:latin typeface="+mn-e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999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5745" y="152718"/>
            <a:ext cx="9767455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3. Preparing an Integrated Marketing Plan and Program </a:t>
            </a:r>
            <a:br>
              <a:rPr lang="en-US" altLang="zh-TW" sz="3600" b="1" dirty="0"/>
            </a:br>
            <a:r>
              <a:rPr lang="en-US" altLang="zh-TW" sz="3600" b="1" dirty="0"/>
              <a:t>(Marketing Mix)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i="1" dirty="0"/>
              <a:t>marketing mix</a:t>
            </a:r>
            <a:r>
              <a:rPr lang="en-US" altLang="zh-TW" dirty="0"/>
              <a:t> is the set of tools (four Ps) the firm uses to implement its marketing strategy. It includes product, price, promotion, and place.</a:t>
            </a:r>
          </a:p>
          <a:p>
            <a:r>
              <a:rPr lang="en-US" altLang="zh-TW" dirty="0"/>
              <a:t>Product </a:t>
            </a:r>
          </a:p>
          <a:p>
            <a:r>
              <a:rPr lang="en-US" altLang="zh-TW" dirty="0"/>
              <a:t>Price </a:t>
            </a:r>
          </a:p>
          <a:p>
            <a:r>
              <a:rPr lang="en-US" altLang="zh-TW" dirty="0"/>
              <a:t>Place </a:t>
            </a:r>
          </a:p>
          <a:p>
            <a:r>
              <a:rPr lang="en-US" altLang="zh-TW" dirty="0"/>
              <a:t>Promotion</a:t>
            </a:r>
          </a:p>
          <a:p>
            <a:r>
              <a:rPr lang="en-US" altLang="zh-TW" dirty="0"/>
              <a:t>The firm must blend each marketing mix tool into a comprehensive </a:t>
            </a:r>
            <a:r>
              <a:rPr lang="en-US" altLang="zh-TW" i="1" dirty="0"/>
              <a:t>integrated marketing program</a:t>
            </a:r>
            <a:r>
              <a:rPr lang="en-US" altLang="zh-TW" dirty="0"/>
              <a:t> that communicates and delivers the intended value to chosen customers.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131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91544" y="116632"/>
            <a:ext cx="6995120" cy="1008112"/>
          </a:xfrm>
        </p:spPr>
        <p:txBody>
          <a:bodyPr>
            <a:normAutofit fontScale="90000"/>
          </a:bodyPr>
          <a:lstStyle/>
          <a:p>
            <a:br>
              <a:rPr lang="en-US" altLang="zh-TW" sz="3600" b="1" dirty="0"/>
            </a:br>
            <a:r>
              <a:rPr lang="en-US" altLang="zh-TW" sz="3600" b="1" dirty="0"/>
              <a:t>4. </a:t>
            </a:r>
            <a:r>
              <a:rPr lang="en-US" altLang="zh-TW" sz="3100" b="1" dirty="0"/>
              <a:t>Customer Relationship Management (CRM)</a:t>
            </a:r>
            <a:endParaRPr lang="zh-TW" altLang="en-US" sz="28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891407"/>
          </a:xfrm>
        </p:spPr>
        <p:txBody>
          <a:bodyPr/>
          <a:lstStyle/>
          <a:p>
            <a:r>
              <a:rPr lang="en-US" altLang="zh-TW" dirty="0"/>
              <a:t>In this broader sense, </a:t>
            </a:r>
            <a:r>
              <a:rPr lang="en-US" altLang="zh-TW" b="1" dirty="0"/>
              <a:t>customer relationship management</a:t>
            </a:r>
            <a:r>
              <a:rPr lang="en-US" altLang="zh-TW" dirty="0"/>
              <a:t> is the overall process of building and maintaining profitable customer relationships by delivering superior customer value and satisfaction. </a:t>
            </a:r>
            <a:endParaRPr lang="zh-TW" altLang="en-US" dirty="0"/>
          </a:p>
        </p:txBody>
      </p:sp>
      <p:pic>
        <p:nvPicPr>
          <p:cNvPr id="4098" name="Picture 2" descr="https://encrypted-tbn1.gstatic.com/images?q=tbn:ANd9GcTnbgfTyrVRC1jgP9ZvREyWeRrdbGFuXOjMdq07J62T-mEndZx3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3717032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1" y="4119640"/>
            <a:ext cx="2808287" cy="227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7670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4458" y="622571"/>
            <a:ext cx="5585362" cy="1044034"/>
          </a:xfrm>
        </p:spPr>
        <p:txBody>
          <a:bodyPr>
            <a:normAutofit/>
          </a:bodyPr>
          <a:lstStyle/>
          <a:p>
            <a:pPr algn="ctr"/>
            <a:r>
              <a:rPr lang="en-US" altLang="zh-TW" sz="3600" b="1" dirty="0">
                <a:solidFill>
                  <a:srgbClr val="000000"/>
                </a:solidFill>
              </a:rPr>
              <a:t>a. Relationship Building</a:t>
            </a:r>
            <a:endParaRPr lang="zh-TW" altLang="en-US" sz="3600" b="1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2857211"/>
          </a:xfrm>
        </p:spPr>
        <p:txBody>
          <a:bodyPr>
            <a:normAutofit/>
          </a:bodyPr>
          <a:lstStyle/>
          <a:p>
            <a:r>
              <a:rPr lang="en-US" altLang="zh-TW" dirty="0"/>
              <a:t>A customer buys from the firm that offers the highest </a:t>
            </a:r>
            <a:r>
              <a:rPr lang="en-US" altLang="zh-TW" b="1" dirty="0"/>
              <a:t>customer-perceived value</a:t>
            </a:r>
            <a:r>
              <a:rPr lang="en-US" altLang="zh-TW" dirty="0"/>
              <a:t>—the customer’s evaluation of the difference between all the benefits and all the costs of a market offering relative to those of competing offers. </a:t>
            </a:r>
          </a:p>
          <a:p>
            <a:r>
              <a:rPr lang="en-US" altLang="zh-TW" b="1" dirty="0"/>
              <a:t>Customer satisfaction</a:t>
            </a:r>
            <a:r>
              <a:rPr lang="en-US" altLang="zh-TW" dirty="0"/>
              <a:t> depends on the product’s perceived performance relative to a buyer’s expectations. If the product’s performance falls short of expectations, the customer is dissatisfied.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6"/>
          <a:stretch/>
        </p:blipFill>
        <p:spPr>
          <a:xfrm>
            <a:off x="6096000" y="4682836"/>
            <a:ext cx="2493819" cy="2175164"/>
          </a:xfrm>
          <a:prstGeom prst="rect">
            <a:avLst/>
          </a:prstGeom>
        </p:spPr>
      </p:pic>
      <p:pic>
        <p:nvPicPr>
          <p:cNvPr id="5122" name="Picture 2" descr="http://4.bp.blogspot.com/-rzBdEa0c5_s/UD6FiVKMbDI/AAAAAAAAANU/yaR6NjTA7yw/s1600/Customer-Satisfactio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296" y="5445224"/>
            <a:ext cx="1584176" cy="1363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94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609918"/>
            <a:ext cx="6995120" cy="972026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>
                <a:solidFill>
                  <a:srgbClr val="000000"/>
                </a:solidFill>
              </a:rPr>
              <a:t>b. Customer Relationship Levels and Tools</a:t>
            </a:r>
            <a:endParaRPr lang="zh-TW" altLang="en-US" sz="3600" b="1" dirty="0">
              <a:solidFill>
                <a:srgbClr val="00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067106"/>
          </a:xfrm>
        </p:spPr>
        <p:txBody>
          <a:bodyPr/>
          <a:lstStyle/>
          <a:p>
            <a:r>
              <a:rPr lang="en-US" altLang="zh-TW" b="1" i="1" dirty="0"/>
              <a:t>Frequency marketing programs</a:t>
            </a:r>
            <a:r>
              <a:rPr lang="en-US" altLang="zh-TW" b="1" dirty="0"/>
              <a:t> </a:t>
            </a:r>
            <a:r>
              <a:rPr lang="en-US" altLang="zh-TW" dirty="0"/>
              <a:t>that reward customers who buy frequently or in large amounts. </a:t>
            </a:r>
          </a:p>
          <a:p>
            <a:r>
              <a:rPr lang="en-US" altLang="zh-TW" b="1" i="1" dirty="0"/>
              <a:t>Club marketing programs</a:t>
            </a:r>
            <a:r>
              <a:rPr lang="en-US" altLang="zh-TW" b="1" dirty="0"/>
              <a:t> </a:t>
            </a:r>
            <a:r>
              <a:rPr lang="en-US" altLang="zh-TW" dirty="0"/>
              <a:t>that offer members special benefits and create member communities.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2037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1448" y="426810"/>
            <a:ext cx="8861271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c. The Changing Nature of Customer Relationships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753597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Companies are building deeper, more direct, and lasting relationships with more carefully selected customers.</a:t>
            </a:r>
          </a:p>
          <a:p>
            <a:r>
              <a:rPr lang="en-US" altLang="zh-TW" dirty="0"/>
              <a:t>Today, most marketers realize that they don’t want relationships with every customers. Instead, they target fewer, more profitable customers.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91"/>
          <a:stretch/>
        </p:blipFill>
        <p:spPr>
          <a:xfrm>
            <a:off x="6100354" y="3579222"/>
            <a:ext cx="4473410" cy="322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71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66345" y="709583"/>
            <a:ext cx="8278001" cy="1116042"/>
          </a:xfrm>
        </p:spPr>
        <p:txBody>
          <a:bodyPr/>
          <a:lstStyle/>
          <a:p>
            <a:r>
              <a:rPr lang="en-US" altLang="zh-TW" sz="3600" b="1" dirty="0"/>
              <a:t>d. Relating More Deeply and Interactively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3360329"/>
          </a:xfrm>
        </p:spPr>
        <p:txBody>
          <a:bodyPr/>
          <a:lstStyle/>
          <a:p>
            <a:pPr algn="just"/>
            <a:r>
              <a:rPr lang="en-US" altLang="zh-TW" sz="2400" dirty="0"/>
              <a:t>Relating more deeply and interactively by incorporating more interactive two way relationships through blogs, Websites, online communities and social networks. </a:t>
            </a:r>
          </a:p>
          <a:p>
            <a:pPr algn="just"/>
            <a:r>
              <a:rPr lang="en-US" altLang="zh-TW" sz="2400" dirty="0"/>
              <a:t>Today’s consumers have more information about brands than ever before, and they have a wealth of platforms for airing and sharing their brand views with other consumers. Thus, the marketing world is now embracing not only customer relationship management, but also </a:t>
            </a:r>
            <a:r>
              <a:rPr lang="en-US" altLang="zh-TW" sz="2400" b="1" dirty="0"/>
              <a:t>customer-managed relationships.</a:t>
            </a:r>
          </a:p>
          <a:p>
            <a:pPr algn="just"/>
            <a:r>
              <a:rPr lang="en-US" altLang="zh-TW" sz="2400" dirty="0"/>
              <a:t>A growing part of the new customer dialogue is </a:t>
            </a:r>
            <a:r>
              <a:rPr lang="en-US" altLang="zh-TW" sz="2400" b="1" dirty="0"/>
              <a:t>consumer-generated marketing, </a:t>
            </a:r>
            <a:r>
              <a:rPr lang="en-US" altLang="zh-TW" sz="2400" dirty="0"/>
              <a:t>by which consumers themselves are playing a bigger role in shaping their own brand experiences and those of others.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830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e. Partner relationship management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707186"/>
          </a:xfrm>
        </p:spPr>
        <p:txBody>
          <a:bodyPr/>
          <a:lstStyle/>
          <a:p>
            <a:r>
              <a:rPr lang="en-US" altLang="zh-TW" dirty="0"/>
              <a:t>In addition to being good at customer relationship management, marketers must also be good at </a:t>
            </a:r>
            <a:r>
              <a:rPr lang="en-US" altLang="zh-TW" b="1" dirty="0"/>
              <a:t>partner relationship management</a:t>
            </a:r>
            <a:r>
              <a:rPr lang="en-US" altLang="zh-TW" dirty="0"/>
              <a:t>—working closely with others inside and outside the company to jointly bring more value to customers.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/>
              <a:t>Pakistan Plant Drive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altLang="zh-TW" dirty="0"/>
              <a:t>Tourism 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3023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38999"/>
            <a:ext cx="10515600" cy="1325563"/>
          </a:xfrm>
        </p:spPr>
        <p:txBody>
          <a:bodyPr/>
          <a:lstStyle/>
          <a:p>
            <a:pPr algn="ctr"/>
            <a:r>
              <a:rPr lang="en-US" altLang="zh-TW" sz="3600" b="1" dirty="0"/>
              <a:t>f. Partner relationship management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1991513"/>
          </a:xfrm>
        </p:spPr>
        <p:txBody>
          <a:bodyPr/>
          <a:lstStyle/>
          <a:p>
            <a:r>
              <a:rPr lang="en-US" altLang="zh-TW" dirty="0"/>
              <a:t>In today’s more connected world, every functional area in the organization can interact with customers. The new thinking is that—no matter what your job is in a company—you must understand marketing and be customer focused. </a:t>
            </a:r>
            <a:endParaRPr lang="zh-TW" altLang="en-US" dirty="0"/>
          </a:p>
        </p:txBody>
      </p:sp>
      <p:pic>
        <p:nvPicPr>
          <p:cNvPr id="7172" name="Picture 4" descr="https://encrypted-tbn3.gstatic.com/images?q=tbn:ANd9GcSSpS94Wz4Ov-APOFNfZFudiWcyM6m1-XipVue17_LLjr78H89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5656" y="3999835"/>
            <a:ext cx="3096344" cy="285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802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897892"/>
            <a:ext cx="6923112" cy="756002"/>
          </a:xfrm>
        </p:spPr>
        <p:txBody>
          <a:bodyPr/>
          <a:lstStyle/>
          <a:p>
            <a:r>
              <a:rPr lang="en-US" altLang="zh-TW" sz="3600" b="1" dirty="0"/>
              <a:t>5. Capturing Value from Customers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184672"/>
          </a:xfrm>
        </p:spPr>
        <p:txBody>
          <a:bodyPr/>
          <a:lstStyle/>
          <a:p>
            <a:r>
              <a:rPr lang="en-US" altLang="zh-TW" dirty="0"/>
              <a:t>The final step involves capturing value in return in the form of sales, market share, profits and customer equity. </a:t>
            </a:r>
          </a:p>
          <a:p>
            <a:r>
              <a:rPr lang="en-US" altLang="zh-TW" dirty="0"/>
              <a:t>In addition, by creating superior customer value, the firm creates highly satisfied customers who stay loyal and buy more. This, in return, means greater long-run returns for the firm.</a:t>
            </a:r>
            <a:endParaRPr lang="zh-TW" altLang="en-US" dirty="0"/>
          </a:p>
        </p:txBody>
      </p:sp>
      <p:pic>
        <p:nvPicPr>
          <p:cNvPr id="10242" name="Picture 2" descr="https://encrypted-tbn3.gstatic.com/images?q=tbn:ANd9GcSaMrUYorMaejTrJRPsz6r53Om5N6YRSlfE4W7KRrUeIKFqvZ_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691" y="3866606"/>
            <a:ext cx="5066105" cy="286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9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557667"/>
            <a:ext cx="6995120" cy="972026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Creating Customer Loyalty and Retention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741761"/>
            <a:ext cx="12192000" cy="869441"/>
          </a:xfrm>
        </p:spPr>
        <p:txBody>
          <a:bodyPr/>
          <a:lstStyle/>
          <a:p>
            <a:r>
              <a:rPr lang="en-US" altLang="zh-TW" b="1" dirty="0"/>
              <a:t>Customer lifetime value</a:t>
            </a:r>
            <a:r>
              <a:rPr lang="en-US" altLang="zh-TW" dirty="0"/>
              <a:t> is the value of the entire stream of purchases that the customer would make over a lifetime of patronage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53"/>
          <a:stretch/>
        </p:blipFill>
        <p:spPr>
          <a:xfrm>
            <a:off x="6935416" y="2823271"/>
            <a:ext cx="5256584" cy="40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23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Growing Share of Customer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90688"/>
            <a:ext cx="12191999" cy="2273884"/>
          </a:xfrm>
        </p:spPr>
        <p:txBody>
          <a:bodyPr/>
          <a:lstStyle/>
          <a:p>
            <a:r>
              <a:rPr lang="en-US" altLang="zh-TW" dirty="0"/>
              <a:t>Beyond simply retaining good customers to capture customer lifetime value, good customer relationship management can help marketers increase their </a:t>
            </a:r>
            <a:r>
              <a:rPr lang="en-US" altLang="zh-TW" b="1" dirty="0"/>
              <a:t>share of customer</a:t>
            </a:r>
            <a:r>
              <a:rPr lang="en-US" altLang="zh-TW" dirty="0"/>
              <a:t>—the share they get of the customer’s purchasing in their product categories.</a:t>
            </a:r>
            <a:endParaRPr lang="zh-TW" altLang="en-US" dirty="0"/>
          </a:p>
        </p:txBody>
      </p:sp>
      <p:pic>
        <p:nvPicPr>
          <p:cNvPr id="12294" name="Picture 6" descr="https://encrypted-tbn1.gstatic.com/images?q=tbn:ANd9GcQ2N5yy214wyzQaj4MxomEswig2fRkFIpwBBSqMLKd4W2XbyFt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214" y="4906414"/>
            <a:ext cx="4670785" cy="1951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81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Building Customer Equity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2615746"/>
          </a:xfrm>
        </p:spPr>
        <p:txBody>
          <a:bodyPr/>
          <a:lstStyle/>
          <a:p>
            <a:r>
              <a:rPr lang="en-US" altLang="zh-TW" b="1" dirty="0"/>
              <a:t>Customer equity</a:t>
            </a:r>
            <a:r>
              <a:rPr lang="en-US" altLang="zh-TW" dirty="0"/>
              <a:t> is the total combined customer lifetime values of all of the company’s current and potential customers.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Awareness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Brand Image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Perceived Quality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zh-TW" dirty="0"/>
              <a:t>Loyalty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2598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81200" y="674219"/>
            <a:ext cx="8219256" cy="828010"/>
          </a:xfrm>
        </p:spPr>
        <p:txBody>
          <a:bodyPr/>
          <a:lstStyle/>
          <a:p>
            <a:r>
              <a:rPr lang="en-US" altLang="zh-TW" sz="3600" b="1" dirty="0"/>
              <a:t>The Changing Marketing Landscape</a:t>
            </a:r>
            <a:endParaRPr lang="zh-TW" altLang="en-US" sz="3600" b="1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0" y="1502229"/>
            <a:ext cx="12192000" cy="5355770"/>
          </a:xfrm>
        </p:spPr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318017" y="2188353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The Digital Age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2639616" y="3831348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The Growth of Not-for-Profit Marketing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6551949" y="3831348"/>
            <a:ext cx="3024336" cy="1368152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Rapid Globalization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4583832" y="5287385"/>
            <a:ext cx="3312368" cy="1453983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00"/>
                </a:solidFill>
              </a:rPr>
              <a:t>Sustainable Marketing </a:t>
            </a:r>
            <a:r>
              <a:rPr lang="zh-TW" altLang="en-US" sz="2400" b="1" dirty="0">
                <a:solidFill>
                  <a:srgbClr val="000000"/>
                </a:solidFill>
              </a:rPr>
              <a:t>─ </a:t>
            </a:r>
            <a:r>
              <a:rPr lang="en-US" altLang="zh-TW" sz="2400" b="1" dirty="0">
                <a:solidFill>
                  <a:srgbClr val="000000"/>
                </a:solidFill>
              </a:rPr>
              <a:t>The Call for More Social Responsibility</a:t>
            </a:r>
            <a:endParaRPr lang="zh-TW" altLang="en-US" sz="2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24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The Digital Age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6"/>
            <a:ext cx="12191999" cy="2067106"/>
          </a:xfrm>
        </p:spPr>
        <p:txBody>
          <a:bodyPr/>
          <a:lstStyle/>
          <a:p>
            <a:r>
              <a:rPr lang="en-US" altLang="zh-TW" sz="2400" dirty="0"/>
              <a:t>The digital age has provided marketers with exciting new ways to learn about and track customers and create products and services tailored to individual customer needs.</a:t>
            </a:r>
          </a:p>
          <a:p>
            <a:r>
              <a:rPr lang="en-US" altLang="zh-TW" sz="2400" dirty="0"/>
              <a:t>Online marketing is now the fastest-growing form of marketing. </a:t>
            </a:r>
            <a:endParaRPr lang="zh-TW" altLang="en-US" sz="2400" dirty="0"/>
          </a:p>
        </p:txBody>
      </p:sp>
      <p:pic>
        <p:nvPicPr>
          <p:cNvPr id="13316" name="Picture 4" descr="http://www.heraldboy.com/wp-content/uploads/2013/10/Digital-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487" y="3892733"/>
            <a:ext cx="5856514" cy="296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136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15886" y="897301"/>
            <a:ext cx="8219256" cy="828010"/>
          </a:xfrm>
        </p:spPr>
        <p:txBody>
          <a:bodyPr/>
          <a:lstStyle/>
          <a:p>
            <a:r>
              <a:rPr lang="en-US" altLang="zh-TW" sz="3600" b="1" dirty="0"/>
              <a:t>The Growth of Not-for-profit Marketing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1559809"/>
          </a:xfrm>
        </p:spPr>
        <p:txBody>
          <a:bodyPr/>
          <a:lstStyle/>
          <a:p>
            <a:r>
              <a:rPr lang="en-US" altLang="zh-TW" sz="2400" dirty="0"/>
              <a:t>In recent years, marketing has also become a major part of the strategies of many  not-for-profit organizations, such as colleges, hospitals, museums, zoos, symphony orchestras, and even churches.</a:t>
            </a:r>
          </a:p>
          <a:p>
            <a:r>
              <a:rPr lang="en-US" altLang="zh-TW" sz="2400" dirty="0"/>
              <a:t>Government agencies have also shown an increased interest in marketing.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/>
        </p:blipFill>
        <p:spPr>
          <a:xfrm>
            <a:off x="9311680" y="3413143"/>
            <a:ext cx="2880320" cy="3444857"/>
          </a:xfrm>
          <a:prstGeom prst="rect">
            <a:avLst/>
          </a:prstGeom>
        </p:spPr>
      </p:pic>
      <p:pic>
        <p:nvPicPr>
          <p:cNvPr id="16386" name="Picture 2" descr="https://encrypted-tbn1.gstatic.com/images?q=tbn:ANd9GcR0myhkxSuXXMzIJ7odX3Bftm5H1BIVx5-av6D47_k_nk5l8NP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026" y="4174343"/>
            <a:ext cx="4047480" cy="26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12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3600" b="1" dirty="0"/>
              <a:t>Rapid Globalization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1666304"/>
          </a:xfrm>
        </p:spPr>
        <p:txBody>
          <a:bodyPr/>
          <a:lstStyle/>
          <a:p>
            <a:r>
              <a:rPr lang="en-US" altLang="zh-TW" sz="2400" dirty="0"/>
              <a:t>Today, almost every company, large or small, is touched in some way by global competition. </a:t>
            </a:r>
          </a:p>
          <a:p>
            <a:r>
              <a:rPr lang="en-US" altLang="zh-TW" sz="2400" dirty="0"/>
              <a:t>Managers in countries around the world are increasingly taking a global, not just local, view of the company’s industry, competitors, and opportunities.</a:t>
            </a:r>
            <a:endParaRPr lang="zh-TW" altLang="en-US" sz="2400" dirty="0"/>
          </a:p>
        </p:txBody>
      </p:sp>
      <p:pic>
        <p:nvPicPr>
          <p:cNvPr id="17410" name="Picture 2" descr="http://pic.pimg.tw/patriciayang0715/c2596395d7a942911abe67ed21cc1f1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777" y="3356992"/>
            <a:ext cx="6627223" cy="344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580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89760" y="609918"/>
            <a:ext cx="8219256" cy="1044034"/>
          </a:xfrm>
        </p:spPr>
        <p:txBody>
          <a:bodyPr>
            <a:normAutofit fontScale="90000"/>
          </a:bodyPr>
          <a:lstStyle/>
          <a:p>
            <a:r>
              <a:rPr lang="en-US" altLang="zh-TW" sz="3600" b="1" dirty="0"/>
              <a:t>Sustainable Marketing </a:t>
            </a:r>
            <a:r>
              <a:rPr lang="zh-TW" altLang="en-US" sz="3600" b="1" dirty="0"/>
              <a:t>─ </a:t>
            </a:r>
            <a:r>
              <a:rPr lang="en-US" altLang="zh-TW" sz="3600" b="1" dirty="0"/>
              <a:t>The Call for More Social Responsibility</a:t>
            </a:r>
            <a:endParaRPr lang="zh-TW" altLang="en-US" sz="36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1607463"/>
          </a:xfrm>
        </p:spPr>
        <p:txBody>
          <a:bodyPr/>
          <a:lstStyle/>
          <a:p>
            <a:r>
              <a:rPr lang="en-US" altLang="zh-TW" sz="2400" dirty="0"/>
              <a:t>As the worldwide consumerism and environmentalism movements mature, today’s marketers are being called on to develop sustainable marketing practices. </a:t>
            </a:r>
          </a:p>
          <a:p>
            <a:r>
              <a:rPr lang="en-US" altLang="zh-TW" sz="2400" dirty="0"/>
              <a:t>Corporate ethics and social responsibility have become hot topics for almost every business. </a:t>
            </a:r>
            <a:endParaRPr lang="zh-TW" altLang="en-US" sz="24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6"/>
          <a:stretch/>
        </p:blipFill>
        <p:spPr>
          <a:xfrm>
            <a:off x="8519592" y="3433088"/>
            <a:ext cx="3672408" cy="34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7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8025</TotalTime>
  <Words>1536</Words>
  <Application>Microsoft Macintosh PowerPoint</Application>
  <PresentationFormat>Widescreen</PresentationFormat>
  <Paragraphs>122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微軟正黑體</vt:lpstr>
      <vt:lpstr>新細明體</vt:lpstr>
      <vt:lpstr>Arial</vt:lpstr>
      <vt:lpstr>Calibri</vt:lpstr>
      <vt:lpstr>Calibri Light</vt:lpstr>
      <vt:lpstr>Wingdings</vt:lpstr>
      <vt:lpstr>Office Theme</vt:lpstr>
      <vt:lpstr>Marketing</vt:lpstr>
      <vt:lpstr>Marketing Definition </vt:lpstr>
      <vt:lpstr>Marketing Process </vt:lpstr>
      <vt:lpstr>1. Understanding the Marketplace and Customer Needs</vt:lpstr>
      <vt:lpstr>Cont.</vt:lpstr>
      <vt:lpstr>1.4 Exchanges and Relationships</vt:lpstr>
      <vt:lpstr>1.5 Markets</vt:lpstr>
      <vt:lpstr>2. Designing a Customer Driven Marketing Strategy </vt:lpstr>
      <vt:lpstr>PowerPoint Presentation</vt:lpstr>
      <vt:lpstr>Marketing Management Orientations</vt:lpstr>
      <vt:lpstr>Marketing Management Orientations</vt:lpstr>
      <vt:lpstr>3. Preparing an Integrated Marketing Plan and Program  (Marketing Mix)</vt:lpstr>
      <vt:lpstr> 4. Customer Relationship Management (CRM)</vt:lpstr>
      <vt:lpstr>a. Relationship Building</vt:lpstr>
      <vt:lpstr>b. Customer Relationship Levels and Tools</vt:lpstr>
      <vt:lpstr>c. The Changing Nature of Customer Relationships</vt:lpstr>
      <vt:lpstr>d. Relating More Deeply and Interactively</vt:lpstr>
      <vt:lpstr>e. Partner relationship management</vt:lpstr>
      <vt:lpstr>f. Partner relationship management</vt:lpstr>
      <vt:lpstr>5. Capturing Value from Customers</vt:lpstr>
      <vt:lpstr>Creating Customer Loyalty and Retention</vt:lpstr>
      <vt:lpstr>Growing Share of Customer</vt:lpstr>
      <vt:lpstr>Building Customer Equity</vt:lpstr>
      <vt:lpstr>The Changing Marketing Landscape</vt:lpstr>
      <vt:lpstr>The Digital Age</vt:lpstr>
      <vt:lpstr>The Growth of Not-for-profit Marketing</vt:lpstr>
      <vt:lpstr>Rapid Globalization</vt:lpstr>
      <vt:lpstr>Sustainable Marketing ─ The Call for More Social Responsibility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Munazza</dc:creator>
  <cp:lastModifiedBy>Dr.Munazza Saeed</cp:lastModifiedBy>
  <cp:revision>153</cp:revision>
  <dcterms:created xsi:type="dcterms:W3CDTF">2018-08-28T06:50:30Z</dcterms:created>
  <dcterms:modified xsi:type="dcterms:W3CDTF">2024-09-05T12:39:14Z</dcterms:modified>
</cp:coreProperties>
</file>