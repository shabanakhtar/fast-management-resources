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3" r:id="rId5"/>
    <p:sldId id="265" r:id="rId6"/>
    <p:sldId id="267" r:id="rId7"/>
    <p:sldId id="269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6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1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9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13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3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8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2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1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00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03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"/>
          </p:nvPr>
        </p:nvSpPr>
        <p:spPr>
          <a:xfrm>
            <a:off x="2293235" y="1754733"/>
            <a:ext cx="3218800" cy="10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3"/>
          </p:nvPr>
        </p:nvSpPr>
        <p:spPr>
          <a:xfrm>
            <a:off x="7284867" y="1754733"/>
            <a:ext cx="3218800" cy="10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2293236" y="2789133"/>
            <a:ext cx="321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4"/>
          </p:nvPr>
        </p:nvSpPr>
        <p:spPr>
          <a:xfrm>
            <a:off x="7284869" y="2789133"/>
            <a:ext cx="321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5"/>
          </p:nvPr>
        </p:nvSpPr>
        <p:spPr>
          <a:xfrm>
            <a:off x="2293235" y="3787400"/>
            <a:ext cx="3218800" cy="10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6"/>
          </p:nvPr>
        </p:nvSpPr>
        <p:spPr>
          <a:xfrm>
            <a:off x="7284867" y="3787400"/>
            <a:ext cx="3218800" cy="10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7"/>
          </p:nvPr>
        </p:nvSpPr>
        <p:spPr>
          <a:xfrm>
            <a:off x="2293272" y="4821800"/>
            <a:ext cx="321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8"/>
          </p:nvPr>
        </p:nvSpPr>
        <p:spPr>
          <a:xfrm>
            <a:off x="7284875" y="4821800"/>
            <a:ext cx="321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9" hasCustomPrompt="1"/>
          </p:nvPr>
        </p:nvSpPr>
        <p:spPr>
          <a:xfrm>
            <a:off x="1002800" y="1850133"/>
            <a:ext cx="10344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3" hasCustomPrompt="1"/>
          </p:nvPr>
        </p:nvSpPr>
        <p:spPr>
          <a:xfrm>
            <a:off x="1002813" y="3884000"/>
            <a:ext cx="10344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4613" y="1851333"/>
            <a:ext cx="10344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4613" y="3884000"/>
            <a:ext cx="10344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grpSp>
        <p:nvGrpSpPr>
          <p:cNvPr id="88" name="Google Shape;88;p13"/>
          <p:cNvGrpSpPr/>
          <p:nvPr/>
        </p:nvGrpSpPr>
        <p:grpSpPr>
          <a:xfrm>
            <a:off x="-1656351" y="-1069600"/>
            <a:ext cx="14998733" cy="10045640"/>
            <a:chOff x="-1242263" y="-802200"/>
            <a:chExt cx="11249050" cy="7534230"/>
          </a:xfrm>
        </p:grpSpPr>
        <p:sp>
          <p:nvSpPr>
            <p:cNvPr id="89" name="Google Shape;89;p13"/>
            <p:cNvSpPr/>
            <p:nvPr/>
          </p:nvSpPr>
          <p:spPr>
            <a:xfrm>
              <a:off x="-1032825" y="4189050"/>
              <a:ext cx="2560719" cy="2542980"/>
            </a:xfrm>
            <a:custGeom>
              <a:avLst/>
              <a:gdLst/>
              <a:ahLst/>
              <a:cxnLst/>
              <a:rect l="l" t="t" r="r" b="b"/>
              <a:pathLst>
                <a:path w="853" h="849" extrusionOk="0">
                  <a:moveTo>
                    <a:pt x="360" y="812"/>
                  </a:moveTo>
                  <a:cubicBezTo>
                    <a:pt x="39" y="495"/>
                    <a:pt x="39" y="495"/>
                    <a:pt x="39" y="495"/>
                  </a:cubicBezTo>
                  <a:cubicBezTo>
                    <a:pt x="0" y="456"/>
                    <a:pt x="0" y="392"/>
                    <a:pt x="39" y="354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97" y="0"/>
                    <a:pt x="456" y="0"/>
                    <a:pt x="494" y="37"/>
                  </a:cubicBezTo>
                  <a:cubicBezTo>
                    <a:pt x="814" y="354"/>
                    <a:pt x="814" y="354"/>
                    <a:pt x="814" y="354"/>
                  </a:cubicBezTo>
                  <a:cubicBezTo>
                    <a:pt x="853" y="392"/>
                    <a:pt x="853" y="456"/>
                    <a:pt x="814" y="495"/>
                  </a:cubicBezTo>
                  <a:cubicBezTo>
                    <a:pt x="494" y="812"/>
                    <a:pt x="494" y="812"/>
                    <a:pt x="494" y="812"/>
                  </a:cubicBezTo>
                  <a:cubicBezTo>
                    <a:pt x="456" y="849"/>
                    <a:pt x="397" y="849"/>
                    <a:pt x="360" y="8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-1242263" y="3552418"/>
              <a:ext cx="1532504" cy="1521883"/>
            </a:xfrm>
            <a:custGeom>
              <a:avLst/>
              <a:gdLst/>
              <a:ahLst/>
              <a:cxnLst/>
              <a:rect l="l" t="t" r="r" b="b"/>
              <a:pathLst>
                <a:path w="853" h="849" extrusionOk="0">
                  <a:moveTo>
                    <a:pt x="360" y="812"/>
                  </a:moveTo>
                  <a:cubicBezTo>
                    <a:pt x="39" y="495"/>
                    <a:pt x="39" y="495"/>
                    <a:pt x="39" y="495"/>
                  </a:cubicBezTo>
                  <a:cubicBezTo>
                    <a:pt x="0" y="456"/>
                    <a:pt x="0" y="392"/>
                    <a:pt x="39" y="354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97" y="0"/>
                    <a:pt x="456" y="0"/>
                    <a:pt x="494" y="37"/>
                  </a:cubicBezTo>
                  <a:cubicBezTo>
                    <a:pt x="814" y="354"/>
                    <a:pt x="814" y="354"/>
                    <a:pt x="814" y="354"/>
                  </a:cubicBezTo>
                  <a:cubicBezTo>
                    <a:pt x="853" y="392"/>
                    <a:pt x="853" y="456"/>
                    <a:pt x="814" y="495"/>
                  </a:cubicBezTo>
                  <a:cubicBezTo>
                    <a:pt x="494" y="812"/>
                    <a:pt x="494" y="812"/>
                    <a:pt x="494" y="812"/>
                  </a:cubicBezTo>
                  <a:cubicBezTo>
                    <a:pt x="456" y="849"/>
                    <a:pt x="397" y="849"/>
                    <a:pt x="360" y="812"/>
                  </a:cubicBezTo>
                  <a:close/>
                </a:path>
              </a:pathLst>
            </a:custGeom>
            <a:solidFill>
              <a:srgbClr val="33CFF8">
                <a:alpha val="534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8174151" y="-802200"/>
              <a:ext cx="1832636" cy="1819925"/>
            </a:xfrm>
            <a:custGeom>
              <a:avLst/>
              <a:gdLst/>
              <a:ahLst/>
              <a:cxnLst/>
              <a:rect l="l" t="t" r="r" b="b"/>
              <a:pathLst>
                <a:path w="853" h="849" extrusionOk="0">
                  <a:moveTo>
                    <a:pt x="360" y="812"/>
                  </a:moveTo>
                  <a:cubicBezTo>
                    <a:pt x="39" y="495"/>
                    <a:pt x="39" y="495"/>
                    <a:pt x="39" y="495"/>
                  </a:cubicBezTo>
                  <a:cubicBezTo>
                    <a:pt x="0" y="456"/>
                    <a:pt x="0" y="392"/>
                    <a:pt x="39" y="354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97" y="0"/>
                    <a:pt x="456" y="0"/>
                    <a:pt x="494" y="37"/>
                  </a:cubicBezTo>
                  <a:cubicBezTo>
                    <a:pt x="814" y="354"/>
                    <a:pt x="814" y="354"/>
                    <a:pt x="814" y="354"/>
                  </a:cubicBezTo>
                  <a:cubicBezTo>
                    <a:pt x="853" y="392"/>
                    <a:pt x="853" y="456"/>
                    <a:pt x="814" y="495"/>
                  </a:cubicBezTo>
                  <a:cubicBezTo>
                    <a:pt x="494" y="812"/>
                    <a:pt x="494" y="812"/>
                    <a:pt x="494" y="812"/>
                  </a:cubicBezTo>
                  <a:cubicBezTo>
                    <a:pt x="456" y="849"/>
                    <a:pt x="397" y="849"/>
                    <a:pt x="360" y="8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7706079" y="-644147"/>
              <a:ext cx="1096770" cy="1089161"/>
            </a:xfrm>
            <a:custGeom>
              <a:avLst/>
              <a:gdLst/>
              <a:ahLst/>
              <a:cxnLst/>
              <a:rect l="l" t="t" r="r" b="b"/>
              <a:pathLst>
                <a:path w="853" h="849" extrusionOk="0">
                  <a:moveTo>
                    <a:pt x="360" y="812"/>
                  </a:moveTo>
                  <a:cubicBezTo>
                    <a:pt x="39" y="495"/>
                    <a:pt x="39" y="495"/>
                    <a:pt x="39" y="495"/>
                  </a:cubicBezTo>
                  <a:cubicBezTo>
                    <a:pt x="0" y="456"/>
                    <a:pt x="0" y="392"/>
                    <a:pt x="39" y="354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97" y="0"/>
                    <a:pt x="456" y="0"/>
                    <a:pt x="494" y="37"/>
                  </a:cubicBezTo>
                  <a:cubicBezTo>
                    <a:pt x="814" y="354"/>
                    <a:pt x="814" y="354"/>
                    <a:pt x="814" y="354"/>
                  </a:cubicBezTo>
                  <a:cubicBezTo>
                    <a:pt x="853" y="392"/>
                    <a:pt x="853" y="456"/>
                    <a:pt x="814" y="495"/>
                  </a:cubicBezTo>
                  <a:cubicBezTo>
                    <a:pt x="494" y="812"/>
                    <a:pt x="494" y="812"/>
                    <a:pt x="494" y="812"/>
                  </a:cubicBezTo>
                  <a:cubicBezTo>
                    <a:pt x="456" y="849"/>
                    <a:pt x="397" y="849"/>
                    <a:pt x="360" y="812"/>
                  </a:cubicBezTo>
                  <a:close/>
                </a:path>
              </a:pathLst>
            </a:custGeom>
            <a:solidFill>
              <a:srgbClr val="33CFF8">
                <a:alpha val="534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2203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96400" y="1849151"/>
            <a:ext cx="5390000" cy="2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5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113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96400" y="4672251"/>
            <a:ext cx="53900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7290201" y="939701"/>
            <a:ext cx="4978400" cy="4978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t="22755" b="17953"/>
          <a:stretch/>
        </p:blipFill>
        <p:spPr>
          <a:xfrm>
            <a:off x="-1521300" y="6055001"/>
            <a:ext cx="8817432" cy="895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991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69426-AC08-4111-9515-1D0F22E9ACBF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7DC76-75B8-4D7C-84B2-C595F0BC0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1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179" y="1774341"/>
            <a:ext cx="10040827" cy="1014792"/>
          </a:xfrm>
        </p:spPr>
        <p:txBody>
          <a:bodyPr/>
          <a:lstStyle/>
          <a:p>
            <a:r>
              <a:rPr lang="en-US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Market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42179" y="2789133"/>
            <a:ext cx="7238068" cy="763600"/>
          </a:xfrm>
        </p:spPr>
        <p:txBody>
          <a:bodyPr/>
          <a:lstStyle/>
          <a:p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Mahnoor</a:t>
            </a:r>
            <a:r>
              <a:rPr 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Kashif</a:t>
            </a:r>
            <a:r>
              <a:rPr lang="en-US" sz="4000" dirty="0">
                <a:solidFill>
                  <a:schemeClr val="tx1"/>
                </a:solidFill>
              </a:rPr>
              <a:t/>
            </a:r>
            <a:br>
              <a:rPr lang="en-US" sz="4000" dirty="0">
                <a:solidFill>
                  <a:schemeClr val="tx1"/>
                </a:solidFill>
              </a:rPr>
            </a:b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74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8027" y="938255"/>
            <a:ext cx="10140759" cy="1177828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Market Segmentation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026" y="2116083"/>
            <a:ext cx="10364980" cy="2844800"/>
          </a:xfrm>
        </p:spPr>
        <p:txBody>
          <a:bodyPr/>
          <a:lstStyle/>
          <a:p>
            <a:pPr marL="0" indent="0" defTabSz="609585">
              <a:spcBef>
                <a:spcPts val="1333"/>
              </a:spcBef>
              <a:buClr>
                <a:srgbClr val="A53010"/>
              </a:buClr>
              <a:buSzTx/>
            </a:pPr>
            <a:r>
              <a:rPr lang="en-US" sz="36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Definition: Dividing a broad number of  consumers or business markets into sub-groups of consumers based on shared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50720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0275" y="531855"/>
            <a:ext cx="9636263" cy="1219869"/>
          </a:xfrm>
        </p:spPr>
        <p:txBody>
          <a:bodyPr/>
          <a:lstStyle/>
          <a:p>
            <a:r>
              <a:rPr lang="en-US" sz="4800" kern="1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Why Segment the Market?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00" y="1751725"/>
            <a:ext cx="9370000" cy="3534127"/>
          </a:xfrm>
        </p:spPr>
        <p:txBody>
          <a:bodyPr/>
          <a:lstStyle/>
          <a:p>
            <a:pPr indent="-609585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Identify distinct customer needs</a:t>
            </a:r>
          </a:p>
          <a:p>
            <a:pPr indent="-609585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Better allocation of resources</a:t>
            </a:r>
          </a:p>
          <a:p>
            <a:pPr indent="-609585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Higher conversion rates</a:t>
            </a:r>
          </a:p>
          <a:p>
            <a:pPr indent="-609585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Optimize Marketing spend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18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Market Segmentation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777" y="1827538"/>
            <a:ext cx="7662440" cy="410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9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623" y="363690"/>
            <a:ext cx="9636263" cy="1219869"/>
          </a:xfrm>
        </p:spPr>
        <p:txBody>
          <a:bodyPr/>
          <a:lstStyle/>
          <a:p>
            <a:r>
              <a:rPr lang="en-US" sz="4800" kern="1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Demographic Segmentation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623" y="1163146"/>
            <a:ext cx="10706536" cy="4898020"/>
          </a:xfrm>
        </p:spPr>
        <p:txBody>
          <a:bodyPr/>
          <a:lstStyle/>
          <a:p>
            <a:pPr marL="0" indent="0" defTabSz="609585">
              <a:spcBef>
                <a:spcPts val="1333"/>
              </a:spcBef>
              <a:buClr>
                <a:srgbClr val="A53010"/>
              </a:buClr>
              <a:buSzTx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Based on measurable statistics: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Age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Gender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Income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Education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Family size</a:t>
            </a:r>
          </a:p>
          <a:p>
            <a:pPr marL="0" indent="0" defTabSz="609585">
              <a:spcBef>
                <a:spcPts val="1333"/>
              </a:spcBef>
              <a:buClr>
                <a:srgbClr val="A53010"/>
              </a:buClr>
              <a:buSzTx/>
            </a:pPr>
            <a:r>
              <a:rPr lang="en-US" sz="30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Example: Luxury brands targeting high-income individuals </a:t>
            </a:r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892" y="1477299"/>
            <a:ext cx="6054553" cy="359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623" y="363690"/>
            <a:ext cx="9636263" cy="1219869"/>
          </a:xfrm>
        </p:spPr>
        <p:txBody>
          <a:bodyPr/>
          <a:lstStyle/>
          <a:p>
            <a:r>
              <a:rPr lang="en-US" sz="4800" kern="1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Geographic Segmentation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058" y="1112094"/>
            <a:ext cx="10706536" cy="4727003"/>
          </a:xfrm>
        </p:spPr>
        <p:txBody>
          <a:bodyPr/>
          <a:lstStyle/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City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Country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Climate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Urban/ </a:t>
            </a:r>
            <a:r>
              <a:rPr lang="en-US" sz="3200" kern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Rural</a:t>
            </a:r>
            <a:endParaRPr lang="en-US" sz="2900" kern="1200" dirty="0" smtClean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609585">
              <a:spcBef>
                <a:spcPts val="1333"/>
              </a:spcBef>
              <a:buClr>
                <a:srgbClr val="A53010"/>
              </a:buClr>
              <a:buSzTx/>
            </a:pPr>
            <a:endParaRPr lang="en-US" sz="2900" kern="1200" dirty="0" smtClean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609585">
              <a:spcBef>
                <a:spcPts val="1333"/>
              </a:spcBef>
              <a:buClr>
                <a:srgbClr val="A53010"/>
              </a:buClr>
              <a:buSzTx/>
            </a:pPr>
            <a:r>
              <a:rPr lang="en-US" sz="2900" kern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</a:t>
            </a:r>
            <a:r>
              <a:rPr lang="en-US" sz="29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McDonald’s adapts it’s menu  according to local taste, culture and dietary restrictions</a:t>
            </a:r>
          </a:p>
          <a:p>
            <a:pPr marL="0" indent="0" defTabSz="609585">
              <a:spcBef>
                <a:spcPts val="1333"/>
              </a:spcBef>
              <a:buClr>
                <a:srgbClr val="A53010"/>
              </a:buClr>
              <a:buSzTx/>
            </a:pPr>
            <a:r>
              <a:rPr lang="en-US" sz="29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Middle East: </a:t>
            </a:r>
            <a:r>
              <a:rPr lang="en-US" sz="29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Halal certified meat in all products</a:t>
            </a:r>
            <a:endParaRPr lang="en-US" sz="2900" b="1" kern="12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</a:pPr>
            <a:endParaRPr lang="en-US" sz="3333" kern="12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088" y="1373351"/>
            <a:ext cx="5500913" cy="300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4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623" y="363690"/>
            <a:ext cx="9636263" cy="1219869"/>
          </a:xfrm>
        </p:spPr>
        <p:txBody>
          <a:bodyPr/>
          <a:lstStyle/>
          <a:p>
            <a:r>
              <a:rPr lang="en-US" sz="4800" kern="1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Psychographic Segmentation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6120" y="1092927"/>
            <a:ext cx="10706536" cy="4680607"/>
          </a:xfrm>
        </p:spPr>
        <p:txBody>
          <a:bodyPr/>
          <a:lstStyle/>
          <a:p>
            <a:pPr indent="-609585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Lifestyle</a:t>
            </a:r>
          </a:p>
          <a:p>
            <a:pPr indent="-609585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Social Status</a:t>
            </a:r>
          </a:p>
          <a:p>
            <a:pPr indent="-609585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Personality Traits</a:t>
            </a:r>
          </a:p>
          <a:p>
            <a:pPr indent="-609585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Values</a:t>
            </a:r>
          </a:p>
          <a:p>
            <a:pPr marL="0" indent="0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</a:pPr>
            <a:endParaRPr lang="en-US" sz="3333" kern="12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</a:pPr>
            <a:endParaRPr lang="en-US" sz="2900" kern="1200" dirty="0" smtClean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</a:pPr>
            <a:r>
              <a:rPr lang="en-US" sz="2900" kern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</a:t>
            </a:r>
            <a:r>
              <a:rPr lang="en-US" sz="29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IKEA targets budget friendly, conscious people who value designs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292" y="1092927"/>
            <a:ext cx="4873708" cy="393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2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623" y="363690"/>
            <a:ext cx="9636263" cy="1219869"/>
          </a:xfrm>
        </p:spPr>
        <p:txBody>
          <a:bodyPr/>
          <a:lstStyle/>
          <a:p>
            <a:r>
              <a:rPr lang="en-US" sz="4800" kern="1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Behavioral Segmentation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200" y="1045029"/>
            <a:ext cx="10706536" cy="4976948"/>
          </a:xfrm>
        </p:spPr>
        <p:txBody>
          <a:bodyPr/>
          <a:lstStyle/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Purchase habits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Brand loyalty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Usage rates</a:t>
            </a:r>
          </a:p>
          <a:p>
            <a:pPr marL="457189" indent="-457189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en-US" sz="3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Benefit needed</a:t>
            </a:r>
          </a:p>
          <a:p>
            <a:pPr marL="0" indent="0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</a:pPr>
            <a:endParaRPr lang="en-US" sz="3333" kern="12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609585">
              <a:spcBef>
                <a:spcPts val="1333"/>
              </a:spcBef>
              <a:buClr>
                <a:srgbClr val="A53010"/>
              </a:buClr>
              <a:buSzTx/>
            </a:pPr>
            <a:endParaRPr lang="en-US" sz="2900" kern="1200" dirty="0" smtClean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609585">
              <a:spcBef>
                <a:spcPts val="1333"/>
              </a:spcBef>
              <a:buClr>
                <a:srgbClr val="A53010"/>
              </a:buClr>
              <a:buSzTx/>
            </a:pPr>
            <a:r>
              <a:rPr lang="en-US" sz="2900" kern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</a:t>
            </a:r>
            <a:r>
              <a:rPr lang="en-US" sz="29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Netflix uses viewing history and content preferences to recommend movies and shows</a:t>
            </a:r>
          </a:p>
          <a:p>
            <a:pPr marL="0" indent="0" defTabSz="609585">
              <a:spcBef>
                <a:spcPts val="1333"/>
              </a:spcBef>
              <a:buClr>
                <a:schemeClr val="accent1">
                  <a:lumMod val="75000"/>
                </a:schemeClr>
              </a:buClr>
              <a:buSzTx/>
            </a:pPr>
            <a:endParaRPr lang="en-US" sz="3333" kern="12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731" y="1205185"/>
            <a:ext cx="5353269" cy="36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Consumer Market Segmentation</vt:lpstr>
      <vt:lpstr>Introduction to Market Segmentation</vt:lpstr>
      <vt:lpstr>Why Segment the Market?</vt:lpstr>
      <vt:lpstr>Types of Market Segmentation</vt:lpstr>
      <vt:lpstr>Demographic Segmentation</vt:lpstr>
      <vt:lpstr>Geographic Segmentation</vt:lpstr>
      <vt:lpstr>Psychographic Segmentation</vt:lpstr>
      <vt:lpstr>Behavioral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Market Segmentation</dc:title>
  <dc:creator>Mahnoor</dc:creator>
  <cp:lastModifiedBy>Mahnoor</cp:lastModifiedBy>
  <cp:revision>2</cp:revision>
  <dcterms:created xsi:type="dcterms:W3CDTF">2025-09-14T08:00:10Z</dcterms:created>
  <dcterms:modified xsi:type="dcterms:W3CDTF">2025-09-14T08:04:31Z</dcterms:modified>
</cp:coreProperties>
</file>