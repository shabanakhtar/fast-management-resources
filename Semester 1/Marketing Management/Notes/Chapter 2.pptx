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handoutMasterIdLst>
    <p:handoutMasterId r:id="rId26"/>
  </p:handoutMasterIdLst>
  <p:sldIdLst>
    <p:sldId id="256" r:id="rId2"/>
    <p:sldId id="407" r:id="rId3"/>
    <p:sldId id="408" r:id="rId4"/>
    <p:sldId id="257" r:id="rId5"/>
    <p:sldId id="409" r:id="rId6"/>
    <p:sldId id="410" r:id="rId7"/>
    <p:sldId id="411" r:id="rId8"/>
    <p:sldId id="259" r:id="rId9"/>
    <p:sldId id="330" r:id="rId10"/>
    <p:sldId id="401" r:id="rId11"/>
    <p:sldId id="260" r:id="rId12"/>
    <p:sldId id="262" r:id="rId13"/>
    <p:sldId id="263" r:id="rId14"/>
    <p:sldId id="402" r:id="rId15"/>
    <p:sldId id="264" r:id="rId16"/>
    <p:sldId id="266" r:id="rId17"/>
    <p:sldId id="403" r:id="rId18"/>
    <p:sldId id="404" r:id="rId19"/>
    <p:sldId id="405" r:id="rId20"/>
    <p:sldId id="268" r:id="rId21"/>
    <p:sldId id="269" r:id="rId22"/>
    <p:sldId id="270" r:id="rId23"/>
    <p:sldId id="412" r:id="rId24"/>
  </p:sldIdLst>
  <p:sldSz cx="10058400" cy="7772400"/>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448">
          <p15:clr>
            <a:srgbClr val="A4A3A4"/>
          </p15:clr>
        </p15:guide>
        <p15:guide id="2" pos="31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721" autoAdjust="0"/>
    <p:restoredTop sz="94643"/>
  </p:normalViewPr>
  <p:slideViewPr>
    <p:cSldViewPr>
      <p:cViewPr varScale="1">
        <p:scale>
          <a:sx n="61" d="100"/>
          <a:sy n="61" d="100"/>
        </p:scale>
        <p:origin x="1392" y="72"/>
      </p:cViewPr>
      <p:guideLst>
        <p:guide orient="horz" pos="2448"/>
        <p:guide pos="316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1588" y="25400"/>
            <a:ext cx="2246312" cy="280988"/>
          </a:xfrm>
          <a:prstGeom prst="rect">
            <a:avLst/>
          </a:prstGeom>
          <a:noFill/>
          <a:ln>
            <a:noFill/>
          </a:ln>
        </p:spPr>
        <p:txBody>
          <a:bodyPr wrap="none"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defRPr/>
            </a:pPr>
            <a:r>
              <a:rPr lang="en-US" altLang="en-US" sz="1400" b="1" i="1">
                <a:latin typeface="Arial" panose="020B0604020202020204" pitchFamily="34" charset="0"/>
              </a:rPr>
              <a:t>Instructor’s Visual Index</a:t>
            </a:r>
          </a:p>
        </p:txBody>
      </p:sp>
      <p:sp>
        <p:nvSpPr>
          <p:cNvPr id="3075" name="Rectangle 3"/>
          <p:cNvSpPr>
            <a:spLocks noChangeArrowheads="1"/>
          </p:cNvSpPr>
          <p:nvPr/>
        </p:nvSpPr>
        <p:spPr bwMode="auto">
          <a:xfrm>
            <a:off x="3895725" y="42863"/>
            <a:ext cx="2941638" cy="584200"/>
          </a:xfrm>
          <a:prstGeom prst="rect">
            <a:avLst/>
          </a:prstGeom>
          <a:noFill/>
          <a:ln>
            <a:noFill/>
          </a:ln>
        </p:spPr>
        <p:txBody>
          <a:bodyPr wrap="none"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lnSpc>
                <a:spcPct val="90000"/>
              </a:lnSpc>
              <a:defRPr/>
            </a:pPr>
            <a:r>
              <a:rPr lang="en-US" altLang="en-US" sz="1200" b="1" i="1">
                <a:latin typeface="Arial" panose="020B0604020202020204" pitchFamily="34" charset="0"/>
              </a:rPr>
              <a:t>Kotler/Armstrong</a:t>
            </a:r>
          </a:p>
          <a:p>
            <a:pPr algn="r">
              <a:lnSpc>
                <a:spcPct val="90000"/>
              </a:lnSpc>
              <a:defRPr/>
            </a:pPr>
            <a:r>
              <a:rPr lang="en-US" altLang="en-US" sz="1200" b="1" i="1">
                <a:latin typeface="Arial" panose="020B0604020202020204" pitchFamily="34" charset="0"/>
              </a:rPr>
              <a:t>Chapter 2:  Strategic Planning and the</a:t>
            </a:r>
          </a:p>
          <a:p>
            <a:pPr algn="r">
              <a:lnSpc>
                <a:spcPct val="90000"/>
              </a:lnSpc>
              <a:defRPr/>
            </a:pPr>
            <a:r>
              <a:rPr lang="en-US" altLang="en-US" sz="1200" b="1" i="1">
                <a:latin typeface="Arial" panose="020B0604020202020204" pitchFamily="34" charset="0"/>
              </a:rPr>
              <a:t>Marketing Process</a:t>
            </a:r>
          </a:p>
        </p:txBody>
      </p:sp>
      <p:sp>
        <p:nvSpPr>
          <p:cNvPr id="3076" name="Rectangle 4"/>
          <p:cNvSpPr>
            <a:spLocks noChangeArrowheads="1"/>
          </p:cNvSpPr>
          <p:nvPr/>
        </p:nvSpPr>
        <p:spPr bwMode="auto">
          <a:xfrm>
            <a:off x="2189163" y="8748713"/>
            <a:ext cx="2493962" cy="247650"/>
          </a:xfrm>
          <a:prstGeom prst="rect">
            <a:avLst/>
          </a:prstGeom>
          <a:noFill/>
          <a:ln>
            <a:noFill/>
          </a:ln>
        </p:spPr>
        <p:txBody>
          <a:bodyPr lIns="47625" tIns="19050" rIns="47625" bIns="19050">
            <a:spAutoFit/>
          </a:bodyPr>
          <a:lstStyle>
            <a:lvl1pPr marL="342900" indent="-342900">
              <a:tabLst>
                <a:tab pos="457200" algn="l"/>
              </a:tabLst>
              <a:defRPr sz="2400">
                <a:solidFill>
                  <a:schemeClr val="tx1"/>
                </a:solidFill>
                <a:latin typeface="Times New Roman" panose="02020603050405020304" pitchFamily="18" charset="0"/>
              </a:defRPr>
            </a:lvl1pPr>
            <a:lvl2pPr marL="742950" indent="-285750">
              <a:tabLst>
                <a:tab pos="457200" algn="l"/>
              </a:tabLst>
              <a:defRPr sz="2400">
                <a:solidFill>
                  <a:schemeClr val="tx1"/>
                </a:solidFill>
                <a:latin typeface="Times New Roman" panose="02020603050405020304" pitchFamily="18" charset="0"/>
              </a:defRPr>
            </a:lvl2pPr>
            <a:lvl3pPr marL="1143000" indent="-228600">
              <a:tabLst>
                <a:tab pos="457200" algn="l"/>
              </a:tabLst>
              <a:defRPr sz="2400">
                <a:solidFill>
                  <a:schemeClr val="tx1"/>
                </a:solidFill>
                <a:latin typeface="Times New Roman" panose="02020603050405020304" pitchFamily="18" charset="0"/>
              </a:defRPr>
            </a:lvl3pPr>
            <a:lvl4pPr marL="1600200" indent="-228600">
              <a:tabLst>
                <a:tab pos="457200" algn="l"/>
              </a:tabLst>
              <a:defRPr sz="2400">
                <a:solidFill>
                  <a:schemeClr val="tx1"/>
                </a:solidFill>
                <a:latin typeface="Times New Roman" panose="02020603050405020304" pitchFamily="18" charset="0"/>
              </a:defRPr>
            </a:lvl4pPr>
            <a:lvl5pPr marL="2057400" indent="-228600">
              <a:tabLst>
                <a:tab pos="4572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4572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4572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4572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457200" algn="l"/>
              </a:tabLst>
              <a:defRPr sz="2400">
                <a:solidFill>
                  <a:schemeClr val="tx1"/>
                </a:solidFill>
                <a:latin typeface="Times New Roman" panose="02020603050405020304" pitchFamily="18" charset="0"/>
              </a:defRPr>
            </a:lvl9pPr>
          </a:lstStyle>
          <a:p>
            <a:pPr>
              <a:lnSpc>
                <a:spcPct val="115000"/>
              </a:lnSpc>
              <a:spcAft>
                <a:spcPct val="57000"/>
              </a:spcAft>
              <a:defRPr/>
            </a:pPr>
            <a:r>
              <a:rPr lang="en-US" altLang="en-US" sz="1200" b="1">
                <a:solidFill>
                  <a:srgbClr val="000000"/>
                </a:solidFill>
                <a:latin typeface="Symbol" panose="05050102010706020507" pitchFamily="18" charset="2"/>
              </a:rPr>
              <a:t> Ó</a:t>
            </a:r>
            <a:r>
              <a:rPr lang="en-US" altLang="en-US" sz="1200" b="1">
                <a:solidFill>
                  <a:srgbClr val="000000"/>
                </a:solidFill>
                <a:latin typeface="Helvetica" panose="020B0604020202020204" pitchFamily="34" charset="0"/>
              </a:rPr>
              <a:t> </a:t>
            </a:r>
            <a:r>
              <a:rPr lang="en-US" altLang="en-US" sz="1200" b="1">
                <a:solidFill>
                  <a:srgbClr val="000000"/>
                </a:solidFill>
                <a:latin typeface="Arial" panose="020B0604020202020204" pitchFamily="34" charset="0"/>
              </a:rPr>
              <a:t>Copyright 1999 Prentice Hall</a:t>
            </a: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Rot="1" noChangeArrowheads="1" noTextEdit="1"/>
          </p:cNvSpPr>
          <p:nvPr>
            <p:ph type="sldImg" idx="2"/>
          </p:nvPr>
        </p:nvSpPr>
        <p:spPr bwMode="auto">
          <a:xfrm>
            <a:off x="920750" y="463550"/>
            <a:ext cx="5016500" cy="38735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1" name="Rectangle 3"/>
          <p:cNvSpPr>
            <a:spLocks noChangeArrowheads="1"/>
          </p:cNvSpPr>
          <p:nvPr/>
        </p:nvSpPr>
        <p:spPr bwMode="auto">
          <a:xfrm>
            <a:off x="390525" y="325438"/>
            <a:ext cx="3673475" cy="2617787"/>
          </a:xfrm>
          <a:prstGeom prst="rect">
            <a:avLst/>
          </a:prstGeom>
          <a:noFill/>
          <a:ln>
            <a:noFill/>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endParaRPr lang="en-US" altLang="en-US"/>
          </a:p>
        </p:txBody>
      </p:sp>
      <p:sp>
        <p:nvSpPr>
          <p:cNvPr id="13316" name="Line 4"/>
          <p:cNvSpPr>
            <a:spLocks noChangeShapeType="1"/>
          </p:cNvSpPr>
          <p:nvPr/>
        </p:nvSpPr>
        <p:spPr bwMode="auto">
          <a:xfrm>
            <a:off x="257175" y="8816975"/>
            <a:ext cx="634365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3" name="Rectangle 5"/>
          <p:cNvSpPr>
            <a:spLocks noChangeArrowheads="1"/>
          </p:cNvSpPr>
          <p:nvPr/>
        </p:nvSpPr>
        <p:spPr bwMode="auto">
          <a:xfrm>
            <a:off x="5278438" y="8823325"/>
            <a:ext cx="1373187" cy="247650"/>
          </a:xfrm>
          <a:prstGeom prst="rect">
            <a:avLst/>
          </a:prstGeom>
          <a:noFill/>
          <a:ln w="12700">
            <a:noFill/>
            <a:miter lim="800000"/>
            <a:headEnd/>
            <a:tailEnd/>
          </a:ln>
          <a:effectLst/>
        </p:spPr>
        <p:txBody>
          <a:bodyPr wrap="none" lIns="44450" tIns="17463" rIns="44450" bIns="17463">
            <a:spAutoFit/>
          </a:bodyPr>
          <a:lstStyle>
            <a:lvl1pPr defTabSz="850900">
              <a:defRPr sz="2400">
                <a:solidFill>
                  <a:schemeClr val="tx1"/>
                </a:solidFill>
                <a:latin typeface="Times New Roman" panose="02020603050405020304" pitchFamily="18" charset="0"/>
              </a:defRPr>
            </a:lvl1pPr>
            <a:lvl2pPr marL="742950" indent="-285750" defTabSz="850900">
              <a:defRPr sz="2400">
                <a:solidFill>
                  <a:schemeClr val="tx1"/>
                </a:solidFill>
                <a:latin typeface="Times New Roman" panose="02020603050405020304" pitchFamily="18" charset="0"/>
              </a:defRPr>
            </a:lvl2pPr>
            <a:lvl3pPr marL="1143000" indent="-228600" defTabSz="850900">
              <a:defRPr sz="2400">
                <a:solidFill>
                  <a:schemeClr val="tx1"/>
                </a:solidFill>
                <a:latin typeface="Times New Roman" panose="02020603050405020304" pitchFamily="18" charset="0"/>
              </a:defRPr>
            </a:lvl3pPr>
            <a:lvl4pPr marL="1600200" indent="-228600" defTabSz="850900">
              <a:defRPr sz="2400">
                <a:solidFill>
                  <a:schemeClr val="tx1"/>
                </a:solidFill>
                <a:latin typeface="Times New Roman" panose="02020603050405020304" pitchFamily="18" charset="0"/>
              </a:defRPr>
            </a:lvl4pPr>
            <a:lvl5pPr marL="2057400" indent="-228600" defTabSz="850900">
              <a:defRPr sz="2400">
                <a:solidFill>
                  <a:schemeClr val="tx1"/>
                </a:solidFill>
                <a:latin typeface="Times New Roman" panose="02020603050405020304" pitchFamily="18" charset="0"/>
              </a:defRPr>
            </a:lvl5pPr>
            <a:lvl6pPr marL="2514600" indent="-228600" defTabSz="8509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509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509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509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US" altLang="en-US" sz="1400" b="1">
                <a:latin typeface="Arial" panose="020B0604020202020204" pitchFamily="34" charset="0"/>
              </a:rPr>
              <a:t>Notes for 2 - </a:t>
            </a:r>
            <a:fld id="{7BDB9456-481D-43F6-8875-CF4558C9DFCA}" type="slidenum">
              <a:rPr lang="en-US" altLang="en-US" sz="1400" b="1">
                <a:latin typeface="Arial" panose="020B0604020202020204" pitchFamily="34" charset="0"/>
              </a:rPr>
              <a:pPr algn="r"/>
              <a:t>‹#›</a:t>
            </a:fld>
            <a:endParaRPr lang="en-US" altLang="en-US" sz="1400" b="1">
              <a:latin typeface="Arial" panose="020B0604020202020204" pitchFamily="34" charset="0"/>
            </a:endParaRPr>
          </a:p>
        </p:txBody>
      </p:sp>
      <p:sp>
        <p:nvSpPr>
          <p:cNvPr id="2054" name="Rectangle 6"/>
          <p:cNvSpPr>
            <a:spLocks noChangeArrowheads="1"/>
          </p:cNvSpPr>
          <p:nvPr/>
        </p:nvSpPr>
        <p:spPr bwMode="auto">
          <a:xfrm>
            <a:off x="52388" y="8848725"/>
            <a:ext cx="2365375" cy="212725"/>
          </a:xfrm>
          <a:prstGeom prst="rect">
            <a:avLst/>
          </a:prstGeom>
          <a:noFill/>
          <a:ln>
            <a:noFill/>
          </a:ln>
        </p:spPr>
        <p:txBody>
          <a:bodyPr lIns="47625" tIns="19050" rIns="47625" bIns="19050">
            <a:spAutoFit/>
          </a:bodyPr>
          <a:lstStyle>
            <a:lvl1pPr marL="342900" indent="-342900">
              <a:tabLst>
                <a:tab pos="457200" algn="l"/>
              </a:tabLst>
              <a:defRPr sz="2400">
                <a:solidFill>
                  <a:schemeClr val="tx1"/>
                </a:solidFill>
                <a:latin typeface="Times New Roman" panose="02020603050405020304" pitchFamily="18" charset="0"/>
              </a:defRPr>
            </a:lvl1pPr>
            <a:lvl2pPr marL="742950" indent="-285750">
              <a:tabLst>
                <a:tab pos="457200" algn="l"/>
              </a:tabLst>
              <a:defRPr sz="2400">
                <a:solidFill>
                  <a:schemeClr val="tx1"/>
                </a:solidFill>
                <a:latin typeface="Times New Roman" panose="02020603050405020304" pitchFamily="18" charset="0"/>
              </a:defRPr>
            </a:lvl2pPr>
            <a:lvl3pPr marL="1143000" indent="-228600">
              <a:tabLst>
                <a:tab pos="457200" algn="l"/>
              </a:tabLst>
              <a:defRPr sz="2400">
                <a:solidFill>
                  <a:schemeClr val="tx1"/>
                </a:solidFill>
                <a:latin typeface="Times New Roman" panose="02020603050405020304" pitchFamily="18" charset="0"/>
              </a:defRPr>
            </a:lvl3pPr>
            <a:lvl4pPr marL="1600200" indent="-228600">
              <a:tabLst>
                <a:tab pos="457200" algn="l"/>
              </a:tabLst>
              <a:defRPr sz="2400">
                <a:solidFill>
                  <a:schemeClr val="tx1"/>
                </a:solidFill>
                <a:latin typeface="Times New Roman" panose="02020603050405020304" pitchFamily="18" charset="0"/>
              </a:defRPr>
            </a:lvl4pPr>
            <a:lvl5pPr marL="2057400" indent="-228600">
              <a:tabLst>
                <a:tab pos="4572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4572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4572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4572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457200" algn="l"/>
              </a:tabLst>
              <a:defRPr sz="2400">
                <a:solidFill>
                  <a:schemeClr val="tx1"/>
                </a:solidFill>
                <a:latin typeface="Times New Roman" panose="02020603050405020304" pitchFamily="18" charset="0"/>
              </a:defRPr>
            </a:lvl9pPr>
          </a:lstStyle>
          <a:p>
            <a:pPr>
              <a:lnSpc>
                <a:spcPct val="115000"/>
              </a:lnSpc>
              <a:spcAft>
                <a:spcPct val="57000"/>
              </a:spcAft>
              <a:defRPr/>
            </a:pPr>
            <a:r>
              <a:rPr lang="en-US" altLang="en-US" sz="1000">
                <a:solidFill>
                  <a:srgbClr val="000000"/>
                </a:solidFill>
                <a:latin typeface="Symbol" panose="05050102010706020507" pitchFamily="18" charset="2"/>
              </a:rPr>
              <a:t> Ó</a:t>
            </a:r>
            <a:r>
              <a:rPr lang="en-US" altLang="en-US" sz="1000">
                <a:solidFill>
                  <a:srgbClr val="000000"/>
                </a:solidFill>
                <a:latin typeface="Helvetica" panose="020B0604020202020204" pitchFamily="34" charset="0"/>
              </a:rPr>
              <a:t> </a:t>
            </a:r>
            <a:r>
              <a:rPr lang="en-US" altLang="en-US" sz="1000">
                <a:solidFill>
                  <a:srgbClr val="000000"/>
                </a:solidFill>
                <a:latin typeface="Arial" panose="020B0604020202020204" pitchFamily="34" charset="0"/>
              </a:rPr>
              <a:t>Copyright 1999 Prentice Hall</a:t>
            </a:r>
          </a:p>
        </p:txBody>
      </p:sp>
    </p:spTree>
  </p:cSld>
  <p:clrMap bg1="lt1" tx1="dk1" bg2="lt2" tx2="dk2" accent1="accent1" accent2="accent2" accent3="accent3" accent4="accent4" accent5="accent5" accent6="accent6" hlink="hlink" folHlink="folHlink"/>
  <p:notesStyle>
    <a:lvl1pPr algn="l" rtl="0" eaLnBrk="0" fontAlgn="base" hangingPunct="0">
      <a:lnSpc>
        <a:spcPct val="89000"/>
      </a:lnSpc>
      <a:spcBef>
        <a:spcPct val="40000"/>
      </a:spcBef>
      <a:spcAft>
        <a:spcPct val="0"/>
      </a:spcAft>
      <a:defRPr sz="1200" kern="1200">
        <a:solidFill>
          <a:schemeClr val="tx1"/>
        </a:solidFill>
        <a:latin typeface="Arial" pitchFamily="34" charset="0"/>
        <a:ea typeface="+mn-ea"/>
        <a:cs typeface="+mn-cs"/>
      </a:defRPr>
    </a:lvl1pPr>
    <a:lvl2pPr marL="457200" algn="l" rtl="0" eaLnBrk="0" fontAlgn="base" hangingPunct="0">
      <a:lnSpc>
        <a:spcPct val="89000"/>
      </a:lnSpc>
      <a:spcBef>
        <a:spcPct val="40000"/>
      </a:spcBef>
      <a:spcAft>
        <a:spcPct val="0"/>
      </a:spcAft>
      <a:defRPr sz="1200" kern="1200">
        <a:solidFill>
          <a:schemeClr val="tx1"/>
        </a:solidFill>
        <a:latin typeface="Arial" pitchFamily="34" charset="0"/>
        <a:ea typeface="+mn-ea"/>
        <a:cs typeface="+mn-cs"/>
      </a:defRPr>
    </a:lvl2pPr>
    <a:lvl3pPr marL="914400" algn="l" rtl="0" eaLnBrk="0" fontAlgn="base" hangingPunct="0">
      <a:lnSpc>
        <a:spcPct val="89000"/>
      </a:lnSpc>
      <a:spcBef>
        <a:spcPct val="40000"/>
      </a:spcBef>
      <a:spcAft>
        <a:spcPct val="0"/>
      </a:spcAft>
      <a:defRPr sz="1200" kern="1200">
        <a:solidFill>
          <a:schemeClr val="tx1"/>
        </a:solidFill>
        <a:latin typeface="Arial" pitchFamily="34" charset="0"/>
        <a:ea typeface="+mn-ea"/>
        <a:cs typeface="+mn-cs"/>
      </a:defRPr>
    </a:lvl3pPr>
    <a:lvl4pPr marL="1371600" algn="l" rtl="0" eaLnBrk="0" fontAlgn="base" hangingPunct="0">
      <a:lnSpc>
        <a:spcPct val="89000"/>
      </a:lnSpc>
      <a:spcBef>
        <a:spcPct val="40000"/>
      </a:spcBef>
      <a:spcAft>
        <a:spcPct val="0"/>
      </a:spcAft>
      <a:defRPr sz="1200" kern="1200">
        <a:solidFill>
          <a:schemeClr val="tx1"/>
        </a:solidFill>
        <a:latin typeface="Arial" pitchFamily="34" charset="0"/>
        <a:ea typeface="+mn-ea"/>
        <a:cs typeface="+mn-cs"/>
      </a:defRPr>
    </a:lvl4pPr>
    <a:lvl5pPr marL="1828800" algn="l" rtl="0" eaLnBrk="0" fontAlgn="base" hangingPunct="0">
      <a:lnSpc>
        <a:spcPct val="89000"/>
      </a:lnSpc>
      <a:spcBef>
        <a:spcPct val="4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Rot="1" noChangeArrowheads="1" noTextEdit="1"/>
          </p:cNvSpPr>
          <p:nvPr>
            <p:ph type="sldImg"/>
          </p:nvPr>
        </p:nvSpPr>
        <p:spPr>
          <a:xfrm>
            <a:off x="922338" y="463550"/>
            <a:ext cx="5013325" cy="3873500"/>
          </a:xfrm>
          <a:ln cap="flat"/>
        </p:spPr>
      </p:sp>
      <p:sp>
        <p:nvSpPr>
          <p:cNvPr id="29698" name="Rectangle 3"/>
          <p:cNvSpPr>
            <a:spLocks noChangeArrowheads="1"/>
          </p:cNvSpPr>
          <p:nvPr/>
        </p:nvSpPr>
        <p:spPr bwMode="auto">
          <a:xfrm>
            <a:off x="15875" y="15875"/>
            <a:ext cx="3481388" cy="181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102000"/>
              </a:lnSpc>
              <a:spcAft>
                <a:spcPct val="51000"/>
              </a:spcAft>
            </a:pPr>
            <a:r>
              <a:rPr lang="en-US" altLang="en-US" sz="1800" b="1">
                <a:latin typeface="Helvetica" panose="020B0604020202020204" pitchFamily="34" charset="0"/>
              </a:rPr>
              <a:t>Analyzing Current SBU’s: Boston Consulting Group Approach</a:t>
            </a:r>
            <a:endParaRPr lang="en-US" altLang="en-US" sz="1700" b="1">
              <a:latin typeface="Helvetica" panose="020B0604020202020204" pitchFamily="34" charset="0"/>
            </a:endParaRPr>
          </a:p>
          <a:p>
            <a:pPr>
              <a:lnSpc>
                <a:spcPct val="102000"/>
              </a:lnSpc>
              <a:spcAft>
                <a:spcPct val="51000"/>
              </a:spcAft>
            </a:pPr>
            <a:r>
              <a:rPr lang="en-US" altLang="en-US" sz="1600" b="1">
                <a:latin typeface="Helvetica" panose="020B0604020202020204" pitchFamily="34" charset="0"/>
              </a:rPr>
              <a:t>This CTR corresponds to Figure 2-2  on p. 39 and relates to the discussion on pp. 38-39.</a:t>
            </a:r>
          </a:p>
        </p:txBody>
      </p:sp>
      <p:sp>
        <p:nvSpPr>
          <p:cNvPr id="29699" name="Rectangle 4"/>
          <p:cNvSpPr>
            <a:spLocks noChangeArrowheads="1"/>
          </p:cNvSpPr>
          <p:nvPr/>
        </p:nvSpPr>
        <p:spPr bwMode="auto">
          <a:xfrm>
            <a:off x="15875" y="2759075"/>
            <a:ext cx="6767513" cy="444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50000"/>
              </a:spcBef>
            </a:pPr>
            <a:r>
              <a:rPr lang="en-US" altLang="en-US" sz="1600" b="1">
                <a:latin typeface="Arial" panose="020B0604020202020204" pitchFamily="34" charset="0"/>
              </a:rPr>
              <a:t>Designing the Business Portfolio</a:t>
            </a:r>
            <a:endParaRPr lang="en-US" altLang="en-US" sz="1400" b="1">
              <a:latin typeface="Arial" panose="020B0604020202020204" pitchFamily="34" charset="0"/>
            </a:endParaRPr>
          </a:p>
          <a:p>
            <a:pPr>
              <a:lnSpc>
                <a:spcPct val="90000"/>
              </a:lnSpc>
              <a:spcBef>
                <a:spcPct val="50000"/>
              </a:spcBef>
            </a:pPr>
            <a:r>
              <a:rPr lang="en-US" altLang="en-US" sz="1400" b="1">
                <a:latin typeface="Arial" panose="020B0604020202020204" pitchFamily="34" charset="0"/>
              </a:rPr>
              <a:t>The </a:t>
            </a:r>
            <a:r>
              <a:rPr lang="en-US" altLang="en-US" sz="1400" b="1" i="1">
                <a:latin typeface="Arial" panose="020B0604020202020204" pitchFamily="34" charset="0"/>
              </a:rPr>
              <a:t>business portfolio</a:t>
            </a:r>
            <a:r>
              <a:rPr lang="en-US" altLang="en-US" sz="1400" b="1">
                <a:latin typeface="Arial" panose="020B0604020202020204" pitchFamily="34" charset="0"/>
              </a:rPr>
              <a:t> is the collection of businesses and products that make up the company.  In </a:t>
            </a:r>
            <a:r>
              <a:rPr lang="en-US" altLang="en-US" sz="1400" b="1" i="1">
                <a:latin typeface="Arial" panose="020B0604020202020204" pitchFamily="34" charset="0"/>
              </a:rPr>
              <a:t>portfolio analysis,</a:t>
            </a:r>
            <a:r>
              <a:rPr lang="en-US" altLang="en-US" sz="1400" b="1">
                <a:latin typeface="Arial" panose="020B0604020202020204" pitchFamily="34" charset="0"/>
              </a:rPr>
              <a:t> management evaluates the businesses for their strategic fit in meeting company objectives.  </a:t>
            </a:r>
            <a:r>
              <a:rPr lang="en-US" altLang="en-US" sz="1400" b="1" i="1">
                <a:latin typeface="Arial" panose="020B0604020202020204" pitchFamily="34" charset="0"/>
              </a:rPr>
              <a:t>Strategic Business Units (SBUs)</a:t>
            </a:r>
            <a:r>
              <a:rPr lang="en-US" altLang="en-US" sz="1400" b="1">
                <a:latin typeface="Arial" panose="020B0604020202020204" pitchFamily="34" charset="0"/>
              </a:rPr>
              <a:t> consist of separate units of the company that can be planned independently from other company businesses.</a:t>
            </a:r>
          </a:p>
          <a:p>
            <a:pPr>
              <a:lnSpc>
                <a:spcPct val="90000"/>
              </a:lnSpc>
              <a:spcBef>
                <a:spcPct val="50000"/>
              </a:spcBef>
            </a:pPr>
            <a:r>
              <a:rPr lang="en-US" altLang="en-US" sz="1600" b="1">
                <a:latin typeface="Arial" panose="020B0604020202020204" pitchFamily="34" charset="0"/>
              </a:rPr>
              <a:t>The BCG Matrix</a:t>
            </a:r>
            <a:endParaRPr lang="en-US" altLang="en-US" sz="1400" b="1">
              <a:latin typeface="Arial" panose="020B0604020202020204" pitchFamily="34" charset="0"/>
            </a:endParaRPr>
          </a:p>
          <a:p>
            <a:pPr>
              <a:lnSpc>
                <a:spcPct val="90000"/>
              </a:lnSpc>
              <a:spcBef>
                <a:spcPct val="50000"/>
              </a:spcBef>
            </a:pPr>
            <a:endParaRPr lang="en-US" altLang="en-US" sz="1400" b="1">
              <a:latin typeface="Arial" panose="020B0604020202020204" pitchFamily="34" charset="0"/>
            </a:endParaRPr>
          </a:p>
          <a:p>
            <a:pPr>
              <a:lnSpc>
                <a:spcPct val="90000"/>
              </a:lnSpc>
              <a:spcAft>
                <a:spcPct val="50000"/>
              </a:spcAft>
            </a:pPr>
            <a:r>
              <a:rPr lang="en-US" altLang="en-US" sz="1400" b="1" i="1">
                <a:latin typeface="Arial" panose="020B0604020202020204" pitchFamily="34" charset="0"/>
              </a:rPr>
              <a:t>Stars. </a:t>
            </a:r>
            <a:r>
              <a:rPr lang="en-US" altLang="en-US" sz="1400" b="1">
                <a:latin typeface="Arial" panose="020B0604020202020204" pitchFamily="34" charset="0"/>
              </a:rPr>
              <a:t> High growth, high share businesses.  Stars often require heavy investment to build/maintain share in rapidly expanding markets.  You may wish to discuss the importance of market share to product profitability at this point.</a:t>
            </a:r>
          </a:p>
          <a:p>
            <a:pPr>
              <a:lnSpc>
                <a:spcPct val="90000"/>
              </a:lnSpc>
              <a:spcAft>
                <a:spcPct val="50000"/>
              </a:spcAft>
            </a:pPr>
            <a:r>
              <a:rPr lang="en-US" altLang="en-US" sz="1400" b="1" i="1">
                <a:latin typeface="Arial" panose="020B0604020202020204" pitchFamily="34" charset="0"/>
              </a:rPr>
              <a:t>Cash Cows</a:t>
            </a:r>
            <a:r>
              <a:rPr lang="en-US" altLang="en-US" sz="1400" b="1">
                <a:latin typeface="Arial" panose="020B0604020202020204" pitchFamily="34" charset="0"/>
              </a:rPr>
              <a:t>.  Low growth, high share businesses.  Cows generate profits for investment in other businesses.</a:t>
            </a:r>
          </a:p>
          <a:p>
            <a:pPr>
              <a:lnSpc>
                <a:spcPct val="90000"/>
              </a:lnSpc>
              <a:spcAft>
                <a:spcPct val="50000"/>
              </a:spcAft>
            </a:pPr>
            <a:r>
              <a:rPr lang="en-US" altLang="en-US" sz="1400" b="1" i="1">
                <a:latin typeface="Arial" panose="020B0604020202020204" pitchFamily="34" charset="0"/>
              </a:rPr>
              <a:t>Question Marks. </a:t>
            </a:r>
            <a:r>
              <a:rPr lang="en-US" altLang="en-US" sz="1400" b="1">
                <a:latin typeface="Arial" panose="020B0604020202020204" pitchFamily="34" charset="0"/>
              </a:rPr>
              <a:t> High growth, low share businesses.  Strategy must decide between further investment to move question marks to star status or phasing the product out.</a:t>
            </a:r>
          </a:p>
          <a:p>
            <a:pPr>
              <a:lnSpc>
                <a:spcPct val="90000"/>
              </a:lnSpc>
              <a:spcAft>
                <a:spcPct val="50000"/>
              </a:spcAft>
            </a:pPr>
            <a:r>
              <a:rPr lang="en-US" altLang="en-US" sz="1400" b="1" i="1">
                <a:latin typeface="Arial" panose="020B0604020202020204" pitchFamily="34" charset="0"/>
              </a:rPr>
              <a:t>Dogs</a:t>
            </a:r>
            <a:r>
              <a:rPr lang="en-US" altLang="en-US" sz="1400" b="1">
                <a:latin typeface="Arial" panose="020B0604020202020204" pitchFamily="34" charset="0"/>
              </a:rPr>
              <a:t>.  Low growth, low share.  Dogs are often targets for divestment, but may still be profitable and/or contribute to other organizational goals.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Rot="1" noChangeArrowheads="1" noTextEdit="1"/>
          </p:cNvSpPr>
          <p:nvPr>
            <p:ph type="sldImg"/>
          </p:nvPr>
        </p:nvSpPr>
        <p:spPr>
          <a:xfrm>
            <a:off x="922338" y="463550"/>
            <a:ext cx="5013325" cy="3873500"/>
          </a:xfrm>
          <a:ln cap="flat"/>
        </p:spPr>
      </p:sp>
      <p:sp>
        <p:nvSpPr>
          <p:cNvPr id="31746" name="Rectangle 3"/>
          <p:cNvSpPr>
            <a:spLocks noChangeArrowheads="1"/>
          </p:cNvSpPr>
          <p:nvPr/>
        </p:nvSpPr>
        <p:spPr bwMode="auto">
          <a:xfrm>
            <a:off x="58738" y="30163"/>
            <a:ext cx="3524250" cy="152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101000"/>
              </a:lnSpc>
              <a:spcAft>
                <a:spcPct val="51000"/>
              </a:spcAft>
            </a:pPr>
            <a:r>
              <a:rPr lang="en-US" altLang="en-US" sz="1800" b="1">
                <a:latin typeface="Arial" panose="020B0604020202020204" pitchFamily="34" charset="0"/>
              </a:rPr>
              <a:t>Product/Market Expansion Grid</a:t>
            </a:r>
            <a:r>
              <a:rPr lang="en-US" altLang="en-US" sz="1700" b="1">
                <a:latin typeface="Arial" panose="020B0604020202020204" pitchFamily="34" charset="0"/>
              </a:rPr>
              <a:t> </a:t>
            </a:r>
          </a:p>
          <a:p>
            <a:pPr>
              <a:lnSpc>
                <a:spcPct val="101000"/>
              </a:lnSpc>
              <a:spcAft>
                <a:spcPct val="51000"/>
              </a:spcAft>
            </a:pPr>
            <a:r>
              <a:rPr lang="en-US" altLang="en-US" sz="1600" b="1">
                <a:latin typeface="Arial" panose="020B0604020202020204" pitchFamily="34" charset="0"/>
              </a:rPr>
              <a:t>This CTR corresponds to Figure 2-4 on p. 41 and relates to the material on pp. 41-42.</a:t>
            </a:r>
          </a:p>
        </p:txBody>
      </p:sp>
      <p:sp>
        <p:nvSpPr>
          <p:cNvPr id="31747" name="Rectangle 4"/>
          <p:cNvSpPr>
            <a:spLocks noChangeArrowheads="1"/>
          </p:cNvSpPr>
          <p:nvPr/>
        </p:nvSpPr>
        <p:spPr bwMode="auto">
          <a:xfrm>
            <a:off x="1588" y="2759075"/>
            <a:ext cx="6724650" cy="481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Aft>
                <a:spcPct val="50000"/>
              </a:spcAft>
            </a:pPr>
            <a:r>
              <a:rPr lang="en-US" altLang="en-US" sz="1600" b="1">
                <a:latin typeface="Arial" panose="020B0604020202020204" pitchFamily="34" charset="0"/>
              </a:rPr>
              <a:t>Developing Growth Strategies</a:t>
            </a:r>
            <a:endParaRPr lang="en-US" altLang="en-US" sz="1400" b="1">
              <a:latin typeface="Arial" panose="020B0604020202020204" pitchFamily="34" charset="0"/>
            </a:endParaRPr>
          </a:p>
          <a:p>
            <a:pPr>
              <a:spcAft>
                <a:spcPct val="50000"/>
              </a:spcAft>
            </a:pPr>
            <a:r>
              <a:rPr lang="en-US" altLang="en-US" sz="1400" b="1" i="1">
                <a:latin typeface="Arial" panose="020B0604020202020204" pitchFamily="34" charset="0"/>
              </a:rPr>
              <a:t>Market Penetration.</a:t>
            </a:r>
            <a:r>
              <a:rPr lang="en-US" altLang="en-US" sz="1400" b="1">
                <a:latin typeface="Arial" panose="020B0604020202020204" pitchFamily="34" charset="0"/>
              </a:rPr>
              <a:t>  A penetration strategy involves increasing sales to present target customers.  The product itself remains unchanged although there may be a substantial change in how the product is promoted.  You may wish to  link market penetration with other company-wide strategies such as market leader if appropriate to course progress at this time.</a:t>
            </a:r>
          </a:p>
          <a:p>
            <a:pPr>
              <a:spcAft>
                <a:spcPct val="50000"/>
              </a:spcAft>
            </a:pPr>
            <a:r>
              <a:rPr lang="en-US" altLang="en-US" sz="1400" b="1" i="1">
                <a:latin typeface="Arial" panose="020B0604020202020204" pitchFamily="34" charset="0"/>
              </a:rPr>
              <a:t>Market Development.</a:t>
            </a:r>
            <a:r>
              <a:rPr lang="en-US" altLang="en-US" sz="1400" b="1">
                <a:latin typeface="Arial" panose="020B0604020202020204" pitchFamily="34" charset="0"/>
              </a:rPr>
              <a:t>  A market development strategy involves identifying new segments for the current products offered by the company.  Market development can be successful  for old products like Arm &amp; Hammer Baking Soda (used as a refrigerator deodorant).  You may wish to link market development to emerging technologies such as geodemographics for identifying new market segments.</a:t>
            </a:r>
          </a:p>
          <a:p>
            <a:pPr>
              <a:spcAft>
                <a:spcPct val="50000"/>
              </a:spcAft>
            </a:pPr>
            <a:r>
              <a:rPr lang="en-US" altLang="en-US" sz="1400" b="1" i="1">
                <a:latin typeface="Arial" panose="020B0604020202020204" pitchFamily="34" charset="0"/>
              </a:rPr>
              <a:t>Product Development.</a:t>
            </a:r>
            <a:r>
              <a:rPr lang="en-US" altLang="en-US" sz="1400" b="1">
                <a:latin typeface="Arial" panose="020B0604020202020204" pitchFamily="34" charset="0"/>
              </a:rPr>
              <a:t>  A product development seeks growth by modifying existing products or introducing new products to serve an existing market.  Line extensions in snack foods are often useful for illustrating this strategy to students.  You may ask your class how many flavors of Doritos they can name as an example.</a:t>
            </a:r>
          </a:p>
          <a:p>
            <a:pPr>
              <a:spcAft>
                <a:spcPct val="50000"/>
              </a:spcAft>
            </a:pPr>
            <a:r>
              <a:rPr lang="en-US" altLang="en-US" sz="1400" b="1" i="1">
                <a:latin typeface="Arial" panose="020B0604020202020204" pitchFamily="34" charset="0"/>
              </a:rPr>
              <a:t>Diversification. </a:t>
            </a:r>
            <a:r>
              <a:rPr lang="en-US" altLang="en-US" sz="1400" b="1">
                <a:latin typeface="Arial" panose="020B0604020202020204" pitchFamily="34" charset="0"/>
              </a:rPr>
              <a:t> This strategy involves taking profits from existing products or businesses to acquire or enter new markets, usually in different industries from previous company efforts.  RJR buying Nabisco is an example.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Rot="1" noChangeArrowheads="1" noTextEdit="1"/>
          </p:cNvSpPr>
          <p:nvPr>
            <p:ph type="sldImg"/>
          </p:nvPr>
        </p:nvSpPr>
        <p:spPr>
          <a:xfrm>
            <a:off x="922338" y="463550"/>
            <a:ext cx="5013325" cy="3873500"/>
          </a:xfrm>
          <a:ln cap="flat"/>
        </p:spPr>
      </p:sp>
      <p:sp>
        <p:nvSpPr>
          <p:cNvPr id="38914" name="Rectangle 3"/>
          <p:cNvSpPr>
            <a:spLocks noChangeArrowheads="1"/>
          </p:cNvSpPr>
          <p:nvPr/>
        </p:nvSpPr>
        <p:spPr bwMode="auto">
          <a:xfrm>
            <a:off x="1588" y="58738"/>
            <a:ext cx="3238500" cy="116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4000"/>
              </a:lnSpc>
              <a:spcAft>
                <a:spcPct val="47000"/>
              </a:spcAft>
            </a:pPr>
            <a:r>
              <a:rPr lang="en-US" altLang="en-US" sz="1800" b="1">
                <a:latin typeface="Arial" panose="020B0604020202020204" pitchFamily="34" charset="0"/>
              </a:rPr>
              <a:t>The Four Ps of Marketing</a:t>
            </a:r>
            <a:endParaRPr lang="en-US" altLang="en-US" sz="1600" b="1">
              <a:latin typeface="Arial" panose="020B0604020202020204" pitchFamily="34" charset="0"/>
            </a:endParaRPr>
          </a:p>
          <a:p>
            <a:pPr>
              <a:lnSpc>
                <a:spcPct val="94000"/>
              </a:lnSpc>
              <a:spcAft>
                <a:spcPct val="47000"/>
              </a:spcAft>
            </a:pPr>
            <a:r>
              <a:rPr lang="en-US" altLang="en-US" sz="1600" b="1">
                <a:latin typeface="Arial" panose="020B0604020202020204" pitchFamily="34" charset="0"/>
              </a:rPr>
              <a:t>This CTR corresponds to Figure 2-6 on p. 49 and the material on pp. 47-50.   </a:t>
            </a:r>
          </a:p>
        </p:txBody>
      </p:sp>
      <p:sp>
        <p:nvSpPr>
          <p:cNvPr id="38915" name="Rectangle 4"/>
          <p:cNvSpPr>
            <a:spLocks noChangeArrowheads="1"/>
          </p:cNvSpPr>
          <p:nvPr/>
        </p:nvSpPr>
        <p:spPr bwMode="auto">
          <a:xfrm>
            <a:off x="58738" y="2830513"/>
            <a:ext cx="6738937" cy="534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Aft>
                <a:spcPct val="50000"/>
              </a:spcAft>
            </a:pPr>
            <a:r>
              <a:rPr lang="en-US" altLang="en-US" sz="1600" b="1">
                <a:latin typeface="Arial" panose="020B0604020202020204" pitchFamily="34" charset="0"/>
              </a:rPr>
              <a:t>The Marketing Mix</a:t>
            </a:r>
            <a:endParaRPr lang="en-US" altLang="en-US" sz="1400" b="1">
              <a:latin typeface="Arial" panose="020B0604020202020204" pitchFamily="34" charset="0"/>
            </a:endParaRPr>
          </a:p>
          <a:p>
            <a:pPr>
              <a:spcAft>
                <a:spcPct val="50000"/>
              </a:spcAft>
            </a:pPr>
            <a:r>
              <a:rPr lang="en-US" altLang="en-US" sz="1400" b="1" i="1">
                <a:latin typeface="Arial" panose="020B0604020202020204" pitchFamily="34" charset="0"/>
              </a:rPr>
              <a:t>Product.  </a:t>
            </a:r>
            <a:r>
              <a:rPr lang="en-US" altLang="en-US" sz="1400" b="1">
                <a:latin typeface="Arial" panose="020B0604020202020204" pitchFamily="34" charset="0"/>
              </a:rPr>
              <a:t>In the contemporary mix, product is the term for the "goods and service" offering sold by the company.  As technology makes everything from stereos to computers more accessible to the average buyer, service increasingly makes the competitive difference, especially in creating brand loyalty and generating repeat customers.</a:t>
            </a:r>
          </a:p>
          <a:p>
            <a:pPr>
              <a:spcAft>
                <a:spcPct val="50000"/>
              </a:spcAft>
            </a:pPr>
            <a:r>
              <a:rPr lang="en-US" altLang="en-US" sz="1400" b="1" i="1">
                <a:latin typeface="Arial" panose="020B0604020202020204" pitchFamily="34" charset="0"/>
              </a:rPr>
              <a:t>Place. </a:t>
            </a:r>
            <a:r>
              <a:rPr lang="en-US" altLang="en-US" sz="1400" b="1">
                <a:latin typeface="Arial" panose="020B0604020202020204" pitchFamily="34" charset="0"/>
              </a:rPr>
              <a:t>  Place refers as much to how the product arrives to the final outlet as where the customer actually buys it.  Later in the course, when students distinguish between convenience, shopping, and specialty goods the logistics of getting the product to the "place" of purchase can be emphasized again.  </a:t>
            </a:r>
          </a:p>
          <a:p>
            <a:pPr>
              <a:spcAft>
                <a:spcPct val="50000"/>
              </a:spcAft>
            </a:pPr>
            <a:r>
              <a:rPr lang="en-US" altLang="en-US" sz="1400" i="1">
                <a:latin typeface="Arial" panose="020B0604020202020204" pitchFamily="34" charset="0"/>
              </a:rPr>
              <a:t>Discussion Note:  You may wish to discuss the role of infrastructure on placing decisions -- highway, rail, and waterway conditions and/or airfreight costs.</a:t>
            </a:r>
            <a:endParaRPr lang="en-US" altLang="en-US" sz="1400" b="1">
              <a:latin typeface="Arial" panose="020B0604020202020204" pitchFamily="34" charset="0"/>
            </a:endParaRPr>
          </a:p>
          <a:p>
            <a:pPr>
              <a:spcAft>
                <a:spcPct val="50000"/>
              </a:spcAft>
            </a:pPr>
            <a:r>
              <a:rPr lang="en-US" altLang="en-US" sz="1400" b="1" i="1">
                <a:latin typeface="Arial" panose="020B0604020202020204" pitchFamily="34" charset="0"/>
              </a:rPr>
              <a:t>Price.  </a:t>
            </a:r>
            <a:r>
              <a:rPr lang="en-US" altLang="en-US" sz="1400" b="1">
                <a:latin typeface="Arial" panose="020B0604020202020204" pitchFamily="34" charset="0"/>
              </a:rPr>
              <a:t>Price too is an excellent source of discussion content.  Students will undoubtedly know about list and discount prices as many will have had shopping experiences in discount malls.  The manipulation of price in the channel of distribution through allowances, credit, and payment arrangements may be new to them.  </a:t>
            </a:r>
          </a:p>
          <a:p>
            <a:pPr>
              <a:spcAft>
                <a:spcPct val="50000"/>
              </a:spcAft>
            </a:pPr>
            <a:r>
              <a:rPr lang="en-US" altLang="en-US" sz="1400" b="1" i="1">
                <a:latin typeface="Arial" panose="020B0604020202020204" pitchFamily="34" charset="0"/>
              </a:rPr>
              <a:t>Promotion.  </a:t>
            </a:r>
            <a:r>
              <a:rPr lang="en-US" altLang="en-US" sz="1400" b="1">
                <a:latin typeface="Arial" panose="020B0604020202020204" pitchFamily="34" charset="0"/>
              </a:rPr>
              <a:t>Promotion covers most of what students will stereotypically identify as "real marketing."  While the role of promotion is important you may remind them the dangers of too much emphasis on a single component of the mix.</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Rot="1" noChangeArrowheads="1" noTextEdit="1"/>
          </p:cNvSpPr>
          <p:nvPr>
            <p:ph type="sldImg"/>
          </p:nvPr>
        </p:nvSpPr>
        <p:spPr>
          <a:xfrm>
            <a:off x="922338" y="463550"/>
            <a:ext cx="5013325" cy="3873500"/>
          </a:xfrm>
          <a:ln cap="flat"/>
        </p:spPr>
      </p:sp>
      <p:sp>
        <p:nvSpPr>
          <p:cNvPr id="44034" name="Rectangle 3"/>
          <p:cNvSpPr>
            <a:spLocks noChangeArrowheads="1"/>
          </p:cNvSpPr>
          <p:nvPr/>
        </p:nvSpPr>
        <p:spPr bwMode="auto">
          <a:xfrm>
            <a:off x="15875" y="58738"/>
            <a:ext cx="3452813" cy="262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102000"/>
              </a:lnSpc>
              <a:spcAft>
                <a:spcPct val="51000"/>
              </a:spcAft>
            </a:pPr>
            <a:r>
              <a:rPr lang="en-US" altLang="en-US" sz="1800" b="1">
                <a:latin typeface="Arial" panose="020B0604020202020204" pitchFamily="34" charset="0"/>
              </a:rPr>
              <a:t>Marketing Planning</a:t>
            </a:r>
          </a:p>
          <a:p>
            <a:pPr>
              <a:lnSpc>
                <a:spcPct val="102000"/>
              </a:lnSpc>
              <a:spcAft>
                <a:spcPct val="51000"/>
              </a:spcAft>
            </a:pPr>
            <a:r>
              <a:rPr lang="en-US" altLang="en-US" sz="1600" b="1">
                <a:latin typeface="Arial" panose="020B0604020202020204" pitchFamily="34" charset="0"/>
              </a:rPr>
              <a:t>This CTR relates to the material on pp.  51-52 and corresponds to the information in Table 2-2 on p. 51.  </a:t>
            </a:r>
          </a:p>
          <a:p>
            <a:pPr>
              <a:lnSpc>
                <a:spcPct val="102000"/>
              </a:lnSpc>
              <a:spcAft>
                <a:spcPct val="51000"/>
              </a:spcAft>
            </a:pPr>
            <a:r>
              <a:rPr lang="en-US" altLang="en-US" sz="1600" i="1">
                <a:latin typeface="Arial" panose="020B0604020202020204" pitchFamily="34" charset="0"/>
              </a:rPr>
              <a:t>Teaching Tip:  If you are using a term marketing project in the course, you may wish to handout the assignment at this time.</a:t>
            </a:r>
          </a:p>
        </p:txBody>
      </p:sp>
      <p:sp>
        <p:nvSpPr>
          <p:cNvPr id="44035" name="Rectangle 4"/>
          <p:cNvSpPr>
            <a:spLocks noChangeArrowheads="1"/>
          </p:cNvSpPr>
          <p:nvPr/>
        </p:nvSpPr>
        <p:spPr bwMode="auto">
          <a:xfrm>
            <a:off x="44450" y="2687638"/>
            <a:ext cx="6738938" cy="597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spcAft>
                <a:spcPct val="48000"/>
              </a:spcAft>
            </a:pPr>
            <a:r>
              <a:rPr lang="en-US" altLang="en-US" sz="1600" b="1">
                <a:latin typeface="Arial" panose="020B0604020202020204" pitchFamily="34" charset="0"/>
              </a:rPr>
              <a:t>Marketing Plan Components</a:t>
            </a:r>
            <a:endParaRPr lang="en-US" altLang="en-US" sz="1800" b="1">
              <a:latin typeface="Arial" panose="020B0604020202020204" pitchFamily="34" charset="0"/>
            </a:endParaRPr>
          </a:p>
          <a:p>
            <a:pPr>
              <a:lnSpc>
                <a:spcPct val="80000"/>
              </a:lnSpc>
              <a:spcAft>
                <a:spcPct val="48000"/>
              </a:spcAft>
            </a:pPr>
            <a:r>
              <a:rPr lang="en-US" altLang="en-US" sz="1400" b="1" i="1">
                <a:latin typeface="Arial" panose="020B0604020202020204" pitchFamily="34" charset="0"/>
              </a:rPr>
              <a:t>Executive Summary</a:t>
            </a:r>
            <a:r>
              <a:rPr lang="en-US" altLang="en-US" sz="1400" b="1">
                <a:latin typeface="Arial" panose="020B0604020202020204" pitchFamily="34" charset="0"/>
              </a:rPr>
              <a:t>.  This opening section provides a short summary of the main goals and recommendations for action.  It should prepare the reader in anticipation of full explanations later.  </a:t>
            </a:r>
          </a:p>
          <a:p>
            <a:pPr>
              <a:lnSpc>
                <a:spcPct val="80000"/>
              </a:lnSpc>
              <a:spcAft>
                <a:spcPct val="48000"/>
              </a:spcAft>
            </a:pPr>
            <a:r>
              <a:rPr lang="en-US" altLang="en-US" sz="1400" i="1">
                <a:latin typeface="Arial" panose="020B0604020202020204" pitchFamily="34" charset="0"/>
              </a:rPr>
              <a:t>Teaching Tip:  Hint for students:  Write this section after completing the plan.</a:t>
            </a:r>
            <a:endParaRPr lang="en-US" altLang="en-US" sz="1400" b="1">
              <a:latin typeface="Arial" panose="020B0604020202020204" pitchFamily="34" charset="0"/>
            </a:endParaRPr>
          </a:p>
          <a:p>
            <a:pPr>
              <a:lnSpc>
                <a:spcPct val="80000"/>
              </a:lnSpc>
              <a:spcAft>
                <a:spcPct val="48000"/>
              </a:spcAft>
            </a:pPr>
            <a:r>
              <a:rPr lang="en-US" altLang="en-US" sz="1400" b="1" i="1">
                <a:latin typeface="Arial" panose="020B0604020202020204" pitchFamily="34" charset="0"/>
              </a:rPr>
              <a:t>Current Marketing Situation.</a:t>
            </a:r>
            <a:r>
              <a:rPr lang="en-US" altLang="en-US" sz="1400" b="1">
                <a:latin typeface="Arial" panose="020B0604020202020204" pitchFamily="34" charset="0"/>
              </a:rPr>
              <a:t>  This section describes the market and the company's position in it.  A product review should compare all market entries.  A distribution section reports sales trends and channel developments.</a:t>
            </a:r>
          </a:p>
          <a:p>
            <a:pPr>
              <a:lnSpc>
                <a:spcPct val="80000"/>
              </a:lnSpc>
              <a:spcAft>
                <a:spcPct val="48000"/>
              </a:spcAft>
            </a:pPr>
            <a:r>
              <a:rPr lang="en-US" altLang="en-US" sz="1400" b="1" i="1">
                <a:latin typeface="Arial" panose="020B0604020202020204" pitchFamily="34" charset="0"/>
              </a:rPr>
              <a:t>Threats and Opportunities. </a:t>
            </a:r>
            <a:r>
              <a:rPr lang="en-US" altLang="en-US" sz="1400" b="1">
                <a:latin typeface="Arial" panose="020B0604020202020204" pitchFamily="34" charset="0"/>
              </a:rPr>
              <a:t> This section distills environmental scanning efforts into an appraisal of how those forces and trends affect the company.  Marketing plans should both identify and rank threats and opportunities.</a:t>
            </a:r>
          </a:p>
          <a:p>
            <a:pPr>
              <a:lnSpc>
                <a:spcPct val="80000"/>
              </a:lnSpc>
              <a:spcAft>
                <a:spcPct val="48000"/>
              </a:spcAft>
            </a:pPr>
            <a:r>
              <a:rPr lang="en-US" altLang="en-US" sz="1400" b="1" i="1">
                <a:latin typeface="Arial" panose="020B0604020202020204" pitchFamily="34" charset="0"/>
              </a:rPr>
              <a:t>Objectives and Issues. </a:t>
            </a:r>
            <a:r>
              <a:rPr lang="en-US" altLang="en-US" sz="1400" b="1">
                <a:latin typeface="Arial" panose="020B0604020202020204" pitchFamily="34" charset="0"/>
              </a:rPr>
              <a:t> This section begins the process whereby the manager translates analysis into terms for action.  Based upon the preceding two steps the manager can set goals that will successfully implement company strategy.</a:t>
            </a:r>
          </a:p>
          <a:p>
            <a:pPr>
              <a:lnSpc>
                <a:spcPct val="80000"/>
              </a:lnSpc>
              <a:spcAft>
                <a:spcPct val="48000"/>
              </a:spcAft>
            </a:pPr>
            <a:r>
              <a:rPr lang="en-US" altLang="en-US" sz="1400" b="1" i="1">
                <a:latin typeface="Arial" panose="020B0604020202020204" pitchFamily="34" charset="0"/>
              </a:rPr>
              <a:t>Marketing Strategies.</a:t>
            </a:r>
            <a:r>
              <a:rPr lang="en-US" altLang="en-US" sz="1400" b="1">
                <a:latin typeface="Arial" panose="020B0604020202020204" pitchFamily="34" charset="0"/>
              </a:rPr>
              <a:t>  Just as the company has strategies for growth, the manager must define the marketing logic or "game plan" to be used in running the specific business or product.  The marketing plan here must provide specific strategies for target markets, the marketing mix, expenditures, and how strategies complement and support overall marketing goals.</a:t>
            </a:r>
          </a:p>
          <a:p>
            <a:pPr>
              <a:lnSpc>
                <a:spcPct val="80000"/>
              </a:lnSpc>
              <a:spcAft>
                <a:spcPct val="48000"/>
              </a:spcAft>
            </a:pPr>
            <a:r>
              <a:rPr lang="en-US" altLang="en-US" sz="1400" b="1" i="1">
                <a:latin typeface="Arial" panose="020B0604020202020204" pitchFamily="34" charset="0"/>
              </a:rPr>
              <a:t>Action Programs.</a:t>
            </a:r>
            <a:r>
              <a:rPr lang="en-US" altLang="en-US" sz="1400" b="1">
                <a:latin typeface="Arial" panose="020B0604020202020204" pitchFamily="34" charset="0"/>
              </a:rPr>
              <a:t>  This section tells the who, what , when, and how much of the plan.</a:t>
            </a:r>
          </a:p>
          <a:p>
            <a:pPr>
              <a:lnSpc>
                <a:spcPct val="80000"/>
              </a:lnSpc>
              <a:spcAft>
                <a:spcPct val="48000"/>
              </a:spcAft>
            </a:pPr>
            <a:r>
              <a:rPr lang="en-US" altLang="en-US" sz="1400" b="1" i="1">
                <a:latin typeface="Arial" panose="020B0604020202020204" pitchFamily="34" charset="0"/>
              </a:rPr>
              <a:t>Budgets. </a:t>
            </a:r>
            <a:r>
              <a:rPr lang="en-US" altLang="en-US" sz="1400" b="1">
                <a:latin typeface="Arial" panose="020B0604020202020204" pitchFamily="34" charset="0"/>
              </a:rPr>
              <a:t> This section is essentially a projected profit-and-loss statement.  You may wish to use it as part of a diagnostic if student plans are used with a simulation.</a:t>
            </a:r>
          </a:p>
          <a:p>
            <a:pPr>
              <a:lnSpc>
                <a:spcPct val="80000"/>
              </a:lnSpc>
              <a:spcAft>
                <a:spcPct val="48000"/>
              </a:spcAft>
            </a:pPr>
            <a:r>
              <a:rPr lang="en-US" altLang="en-US" sz="1400" b="1" i="1">
                <a:latin typeface="Arial" panose="020B0604020202020204" pitchFamily="34" charset="0"/>
              </a:rPr>
              <a:t>Controls.</a:t>
            </a:r>
            <a:r>
              <a:rPr lang="en-US" altLang="en-US" sz="1400" b="1">
                <a:latin typeface="Arial" panose="020B0604020202020204" pitchFamily="34" charset="0"/>
              </a:rPr>
              <a:t>  All marketing plans must specify the means for evaluating their effectiveness.  Financial goals by market by quarter are common.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Rot="1" noChangeArrowheads="1" noTextEdit="1"/>
          </p:cNvSpPr>
          <p:nvPr>
            <p:ph type="sldImg"/>
          </p:nvPr>
        </p:nvSpPr>
        <p:spPr>
          <a:xfrm>
            <a:off x="922338" y="463550"/>
            <a:ext cx="5013325" cy="3873500"/>
          </a:xfrm>
          <a:ln cap="flat"/>
        </p:spPr>
      </p:sp>
      <p:sp>
        <p:nvSpPr>
          <p:cNvPr id="46082" name="Rectangle 3"/>
          <p:cNvSpPr>
            <a:spLocks noChangeArrowheads="1"/>
          </p:cNvSpPr>
          <p:nvPr/>
        </p:nvSpPr>
        <p:spPr bwMode="auto">
          <a:xfrm>
            <a:off x="30163" y="30163"/>
            <a:ext cx="3538537"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5000"/>
              </a:lnSpc>
              <a:spcAft>
                <a:spcPct val="51000"/>
              </a:spcAft>
            </a:pPr>
            <a:r>
              <a:rPr lang="en-US" altLang="en-US" sz="1800" b="1">
                <a:latin typeface="Arial" panose="020B0604020202020204" pitchFamily="34" charset="0"/>
              </a:rPr>
              <a:t>Marketing Implementation</a:t>
            </a:r>
          </a:p>
          <a:p>
            <a:pPr>
              <a:lnSpc>
                <a:spcPct val="85000"/>
              </a:lnSpc>
              <a:spcAft>
                <a:spcPct val="51000"/>
              </a:spcAft>
            </a:pPr>
            <a:r>
              <a:rPr lang="en-US" altLang="en-US" sz="1600" b="1">
                <a:latin typeface="Arial" panose="020B0604020202020204" pitchFamily="34" charset="0"/>
              </a:rPr>
              <a:t>This CTR relates to the material on p. 52.  </a:t>
            </a:r>
          </a:p>
          <a:p>
            <a:pPr>
              <a:lnSpc>
                <a:spcPct val="85000"/>
              </a:lnSpc>
              <a:spcAft>
                <a:spcPct val="51000"/>
              </a:spcAft>
            </a:pPr>
            <a:r>
              <a:rPr lang="en-US" altLang="en-US" sz="1600" i="1">
                <a:latin typeface="Arial" panose="020B0604020202020204" pitchFamily="34" charset="0"/>
              </a:rPr>
              <a:t>Teaching Tip:  Students may have initial difficulty in developing a solid approach to implementing marketing plans.  After working through the planning process itself it is often hard for students to focus again on the  more concrete activities required to implement their ideas. </a:t>
            </a:r>
            <a:r>
              <a:rPr lang="en-US" altLang="en-US" sz="1600" b="1">
                <a:latin typeface="Arial" panose="020B0604020202020204" pitchFamily="34" charset="0"/>
              </a:rPr>
              <a:t> </a:t>
            </a:r>
          </a:p>
        </p:txBody>
      </p:sp>
      <p:sp>
        <p:nvSpPr>
          <p:cNvPr id="46083" name="Rectangle 4"/>
          <p:cNvSpPr>
            <a:spLocks noChangeArrowheads="1"/>
          </p:cNvSpPr>
          <p:nvPr/>
        </p:nvSpPr>
        <p:spPr bwMode="auto">
          <a:xfrm>
            <a:off x="1588" y="3059113"/>
            <a:ext cx="6710362" cy="537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spcAft>
                <a:spcPct val="50000"/>
              </a:spcAft>
            </a:pPr>
            <a:r>
              <a:rPr lang="en-US" altLang="en-US" sz="1400" b="1" i="1">
                <a:latin typeface="Arial" panose="020B0604020202020204" pitchFamily="34" charset="0"/>
              </a:rPr>
              <a:t>Marketing Implementation </a:t>
            </a:r>
            <a:r>
              <a:rPr lang="en-US" altLang="en-US" sz="1400" b="1">
                <a:latin typeface="Arial" panose="020B0604020202020204" pitchFamily="34" charset="0"/>
              </a:rPr>
              <a:t>is the process that turns marketing strategies and plans into actions in order to accomplish strategic marketing objectives.</a:t>
            </a:r>
            <a:endParaRPr lang="en-US" altLang="en-US" sz="1800" b="1">
              <a:latin typeface="Arial" panose="020B0604020202020204" pitchFamily="34" charset="0"/>
            </a:endParaRPr>
          </a:p>
          <a:p>
            <a:pPr>
              <a:lnSpc>
                <a:spcPct val="80000"/>
              </a:lnSpc>
              <a:spcAft>
                <a:spcPct val="50000"/>
              </a:spcAft>
            </a:pPr>
            <a:r>
              <a:rPr lang="en-US" altLang="en-US" sz="1400" b="1" i="1">
                <a:latin typeface="Arial" panose="020B0604020202020204" pitchFamily="34" charset="0"/>
              </a:rPr>
              <a:t>Action Program. </a:t>
            </a:r>
            <a:r>
              <a:rPr lang="en-US" altLang="en-US" sz="1400" b="1">
                <a:latin typeface="Arial" panose="020B0604020202020204" pitchFamily="34" charset="0"/>
              </a:rPr>
              <a:t> This element of the implementation process coordinates the activities -- what people do -- of the plan.  Decisions and deadlines for actions are specified.  Lines of authority and reporting are specified.  Procedures for resolving conflicts should also be provided.</a:t>
            </a:r>
          </a:p>
          <a:p>
            <a:pPr>
              <a:lnSpc>
                <a:spcPct val="80000"/>
              </a:lnSpc>
              <a:spcAft>
                <a:spcPct val="50000"/>
              </a:spcAft>
            </a:pPr>
            <a:r>
              <a:rPr lang="en-US" altLang="en-US" sz="1400" b="1" i="1">
                <a:latin typeface="Arial" panose="020B0604020202020204" pitchFamily="34" charset="0"/>
              </a:rPr>
              <a:t>Organization Structure.</a:t>
            </a:r>
            <a:r>
              <a:rPr lang="en-US" altLang="en-US" sz="1400" b="1">
                <a:latin typeface="Arial" panose="020B0604020202020204" pitchFamily="34" charset="0"/>
              </a:rPr>
              <a:t>  It should be emphasized to students that there is no one "right" organization structure.  Structure is appropriate to the kind of market and competitive conditions that exist.  Fast changing markets in high technology are best served by decentralized structures.  Management styles from formal to informal serve company interests better if they are linked to the kind of decisions that need to be made rather that personal preferences of management.  While decentralized, informal approaches are popular in fast changing markets, formal and centralized structures are often more competitive for organizations in stable markets.</a:t>
            </a:r>
          </a:p>
          <a:p>
            <a:pPr>
              <a:lnSpc>
                <a:spcPct val="80000"/>
              </a:lnSpc>
              <a:spcAft>
                <a:spcPct val="50000"/>
              </a:spcAft>
            </a:pPr>
            <a:r>
              <a:rPr lang="en-US" altLang="en-US" sz="1400" b="1" i="1">
                <a:latin typeface="Arial" panose="020B0604020202020204" pitchFamily="34" charset="0"/>
              </a:rPr>
              <a:t>Decision and Reward Systems. </a:t>
            </a:r>
            <a:r>
              <a:rPr lang="en-US" altLang="en-US" sz="1400" b="1">
                <a:latin typeface="Arial" panose="020B0604020202020204" pitchFamily="34" charset="0"/>
              </a:rPr>
              <a:t> These must include issues of compensation but management will also benefit from attention to information networking opportunities and the role of praise and honor as effective additional roles that build a sense of company identity.</a:t>
            </a:r>
          </a:p>
          <a:p>
            <a:pPr>
              <a:lnSpc>
                <a:spcPct val="80000"/>
              </a:lnSpc>
              <a:spcAft>
                <a:spcPct val="50000"/>
              </a:spcAft>
            </a:pPr>
            <a:r>
              <a:rPr lang="en-US" altLang="en-US" sz="1400" b="1" i="1">
                <a:latin typeface="Arial" panose="020B0604020202020204" pitchFamily="34" charset="0"/>
              </a:rPr>
              <a:t>Human Resources. </a:t>
            </a:r>
            <a:r>
              <a:rPr lang="en-US" altLang="en-US" sz="1400" b="1">
                <a:latin typeface="Arial" panose="020B0604020202020204" pitchFamily="34" charset="0"/>
              </a:rPr>
              <a:t> Recruitment and training of motivated people with the necessary skills and abilities to perform specific tasks is crucial to successful implementation of marketing plans.  Combined with reward systems, you may wish to introduce extra-textual discussion of theories of management such as Herzberg’s motivators and hygiene factors here.</a:t>
            </a:r>
          </a:p>
          <a:p>
            <a:pPr>
              <a:lnSpc>
                <a:spcPct val="80000"/>
              </a:lnSpc>
              <a:spcAft>
                <a:spcPct val="50000"/>
              </a:spcAft>
            </a:pPr>
            <a:r>
              <a:rPr lang="en-US" altLang="en-US" sz="1400" b="1" i="1">
                <a:latin typeface="Arial" panose="020B0604020202020204" pitchFamily="34" charset="0"/>
              </a:rPr>
              <a:t>Climate and Culture. </a:t>
            </a:r>
            <a:r>
              <a:rPr lang="en-US" altLang="en-US" sz="1400" b="1">
                <a:latin typeface="Arial" panose="020B0604020202020204" pitchFamily="34" charset="0"/>
              </a:rPr>
              <a:t> Company culture is a system of values and beliefs shared by people in the organization that provide collective meaning and identity.  This system serves as the context for determining meaning and guides decision making.</a:t>
            </a:r>
          </a:p>
        </p:txBody>
      </p:sp>
      <p:sp>
        <p:nvSpPr>
          <p:cNvPr id="46084" name="Rectangle 5"/>
          <p:cNvSpPr>
            <a:spLocks noChangeArrowheads="1"/>
          </p:cNvSpPr>
          <p:nvPr/>
        </p:nvSpPr>
        <p:spPr bwMode="auto">
          <a:xfrm>
            <a:off x="1588" y="2759075"/>
            <a:ext cx="4138612"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80000"/>
              </a:lnSpc>
              <a:spcAft>
                <a:spcPct val="50000"/>
              </a:spcAft>
            </a:pPr>
            <a:r>
              <a:rPr lang="en-US" altLang="en-US" sz="1600" b="1">
                <a:latin typeface="Helvetica" panose="020B0604020202020204" pitchFamily="34" charset="0"/>
              </a:rPr>
              <a:t>Marketing Implementation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Rot="1" noChangeArrowheads="1" noTextEdit="1"/>
          </p:cNvSpPr>
          <p:nvPr>
            <p:ph type="sldImg"/>
          </p:nvPr>
        </p:nvSpPr>
        <p:spPr>
          <a:xfrm>
            <a:off x="922338" y="463550"/>
            <a:ext cx="5013325" cy="3873500"/>
          </a:xfrm>
          <a:ln cap="flat"/>
        </p:spPr>
      </p:sp>
      <p:sp>
        <p:nvSpPr>
          <p:cNvPr id="48130" name="Rectangle 3"/>
          <p:cNvSpPr>
            <a:spLocks noChangeArrowheads="1"/>
          </p:cNvSpPr>
          <p:nvPr/>
        </p:nvSpPr>
        <p:spPr bwMode="auto">
          <a:xfrm>
            <a:off x="0" y="80963"/>
            <a:ext cx="34417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85725" tIns="42863" rIns="85725" bIns="42863">
            <a:spAutoFit/>
          </a:bodyPr>
          <a:lstStyle>
            <a:lvl1pPr defTabSz="850900">
              <a:defRPr sz="2400">
                <a:solidFill>
                  <a:schemeClr val="tx1"/>
                </a:solidFill>
                <a:latin typeface="Times New Roman" panose="02020603050405020304" pitchFamily="18" charset="0"/>
              </a:defRPr>
            </a:lvl1pPr>
            <a:lvl2pPr marL="742950" indent="-285750" defTabSz="850900">
              <a:defRPr sz="2400">
                <a:solidFill>
                  <a:schemeClr val="tx1"/>
                </a:solidFill>
                <a:latin typeface="Times New Roman" panose="02020603050405020304" pitchFamily="18" charset="0"/>
              </a:defRPr>
            </a:lvl2pPr>
            <a:lvl3pPr marL="1143000" indent="-228600" defTabSz="850900">
              <a:defRPr sz="2400">
                <a:solidFill>
                  <a:schemeClr val="tx1"/>
                </a:solidFill>
                <a:latin typeface="Times New Roman" panose="02020603050405020304" pitchFamily="18" charset="0"/>
              </a:defRPr>
            </a:lvl3pPr>
            <a:lvl4pPr marL="1600200" indent="-228600" defTabSz="850900">
              <a:defRPr sz="2400">
                <a:solidFill>
                  <a:schemeClr val="tx1"/>
                </a:solidFill>
                <a:latin typeface="Times New Roman" panose="02020603050405020304" pitchFamily="18" charset="0"/>
              </a:defRPr>
            </a:lvl4pPr>
            <a:lvl5pPr marL="2057400" indent="-228600" defTabSz="850900">
              <a:defRPr sz="2400">
                <a:solidFill>
                  <a:schemeClr val="tx1"/>
                </a:solidFill>
                <a:latin typeface="Times New Roman" panose="02020603050405020304" pitchFamily="18" charset="0"/>
              </a:defRPr>
            </a:lvl5pPr>
            <a:lvl6pPr marL="2514600" indent="-228600" defTabSz="8509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509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509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509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50000"/>
              </a:spcBef>
            </a:pPr>
            <a:r>
              <a:rPr lang="en-US" altLang="en-US" sz="1800" b="1">
                <a:latin typeface="Arial" panose="020B0604020202020204" pitchFamily="34" charset="0"/>
              </a:rPr>
              <a:t>Marketing Control</a:t>
            </a:r>
            <a:endParaRPr lang="en-US" altLang="en-US" sz="1700" b="1">
              <a:latin typeface="Arial" panose="020B0604020202020204" pitchFamily="34" charset="0"/>
            </a:endParaRPr>
          </a:p>
          <a:p>
            <a:pPr>
              <a:lnSpc>
                <a:spcPct val="90000"/>
              </a:lnSpc>
              <a:spcBef>
                <a:spcPct val="50000"/>
              </a:spcBef>
            </a:pPr>
            <a:r>
              <a:rPr lang="en-US" altLang="en-US" sz="1600" b="1">
                <a:latin typeface="Arial" panose="020B0604020202020204" pitchFamily="34" charset="0"/>
              </a:rPr>
              <a:t>This CTR corresponds to Figure 2-8 on p. 53 and relates to the material on pp. 53-55 .</a:t>
            </a:r>
          </a:p>
        </p:txBody>
      </p:sp>
      <p:sp>
        <p:nvSpPr>
          <p:cNvPr id="48131" name="Rectangle 4"/>
          <p:cNvSpPr>
            <a:spLocks noChangeArrowheads="1"/>
          </p:cNvSpPr>
          <p:nvPr/>
        </p:nvSpPr>
        <p:spPr bwMode="auto">
          <a:xfrm>
            <a:off x="74613" y="2676525"/>
            <a:ext cx="6491287" cy="605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85725" tIns="42863" rIns="85725" bIns="42863">
            <a:spAutoFit/>
          </a:bodyPr>
          <a:lstStyle>
            <a:lvl1pPr defTabSz="850900">
              <a:defRPr sz="2400">
                <a:solidFill>
                  <a:schemeClr val="tx1"/>
                </a:solidFill>
                <a:latin typeface="Times New Roman" panose="02020603050405020304" pitchFamily="18" charset="0"/>
              </a:defRPr>
            </a:lvl1pPr>
            <a:lvl2pPr marL="742950" indent="-285750" defTabSz="850900">
              <a:defRPr sz="2400">
                <a:solidFill>
                  <a:schemeClr val="tx1"/>
                </a:solidFill>
                <a:latin typeface="Times New Roman" panose="02020603050405020304" pitchFamily="18" charset="0"/>
              </a:defRPr>
            </a:lvl2pPr>
            <a:lvl3pPr marL="1143000" indent="-228600" defTabSz="850900">
              <a:defRPr sz="2400">
                <a:solidFill>
                  <a:schemeClr val="tx1"/>
                </a:solidFill>
                <a:latin typeface="Times New Roman" panose="02020603050405020304" pitchFamily="18" charset="0"/>
              </a:defRPr>
            </a:lvl3pPr>
            <a:lvl4pPr marL="1600200" indent="-228600" defTabSz="850900">
              <a:defRPr sz="2400">
                <a:solidFill>
                  <a:schemeClr val="tx1"/>
                </a:solidFill>
                <a:latin typeface="Times New Roman" panose="02020603050405020304" pitchFamily="18" charset="0"/>
              </a:defRPr>
            </a:lvl4pPr>
            <a:lvl5pPr marL="2057400" indent="-228600" defTabSz="850900">
              <a:defRPr sz="2400">
                <a:solidFill>
                  <a:schemeClr val="tx1"/>
                </a:solidFill>
                <a:latin typeface="Times New Roman" panose="02020603050405020304" pitchFamily="18" charset="0"/>
              </a:defRPr>
            </a:lvl5pPr>
            <a:lvl6pPr marL="2514600" indent="-228600" defTabSz="8509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509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509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509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50000"/>
              </a:spcBef>
            </a:pPr>
            <a:r>
              <a:rPr lang="en-US" altLang="en-US" sz="1600" b="1">
                <a:latin typeface="Arial" panose="020B0604020202020204" pitchFamily="34" charset="0"/>
              </a:rPr>
              <a:t>Marketing Control</a:t>
            </a:r>
            <a:r>
              <a:rPr lang="en-US" altLang="en-US" sz="1800" b="1">
                <a:latin typeface="Arial" panose="020B0604020202020204" pitchFamily="34" charset="0"/>
              </a:rPr>
              <a:t> </a:t>
            </a:r>
          </a:p>
          <a:p>
            <a:pPr>
              <a:lnSpc>
                <a:spcPct val="90000"/>
              </a:lnSpc>
              <a:spcBef>
                <a:spcPct val="50000"/>
              </a:spcBef>
            </a:pPr>
            <a:r>
              <a:rPr lang="en-US" altLang="en-US" sz="1400" b="1" i="1">
                <a:latin typeface="Arial" panose="020B0604020202020204" pitchFamily="34" charset="0"/>
              </a:rPr>
              <a:t>Marketing control</a:t>
            </a:r>
            <a:r>
              <a:rPr lang="en-US" altLang="en-US" sz="1400" b="1">
                <a:latin typeface="Arial" panose="020B0604020202020204" pitchFamily="34" charset="0"/>
              </a:rPr>
              <a:t> is the process of measuring and evaluating the results of marketing strategies and plans and taking corrective action to ensure that marketing objectives are attained.</a:t>
            </a:r>
            <a:r>
              <a:rPr lang="en-US" altLang="en-US" sz="1600" b="1">
                <a:latin typeface="Arial" panose="020B0604020202020204" pitchFamily="34" charset="0"/>
              </a:rPr>
              <a:t>  </a:t>
            </a:r>
            <a:r>
              <a:rPr lang="en-US" altLang="en-US" sz="1400" b="1">
                <a:latin typeface="Arial" panose="020B0604020202020204" pitchFamily="34" charset="0"/>
              </a:rPr>
              <a:t>Four Steps of Control Include:</a:t>
            </a:r>
            <a:endParaRPr lang="en-US" altLang="en-US" sz="1800" b="1">
              <a:latin typeface="Arial" panose="020B0604020202020204" pitchFamily="34" charset="0"/>
            </a:endParaRPr>
          </a:p>
          <a:p>
            <a:pPr>
              <a:lnSpc>
                <a:spcPct val="90000"/>
              </a:lnSpc>
              <a:spcBef>
                <a:spcPct val="50000"/>
              </a:spcBef>
            </a:pPr>
            <a:r>
              <a:rPr lang="en-US" altLang="en-US" sz="1400" b="1" i="1">
                <a:latin typeface="Arial" panose="020B0604020202020204" pitchFamily="34" charset="0"/>
              </a:rPr>
              <a:t>Set Goals.  </a:t>
            </a:r>
            <a:r>
              <a:rPr lang="en-US" altLang="en-US" sz="1400" b="1">
                <a:latin typeface="Arial" panose="020B0604020202020204" pitchFamily="34" charset="0"/>
              </a:rPr>
              <a:t>It is important that students understand that the control process is proactive in nature.  Management starts by deciding which goals it wants to reach.  Goals are integrated into all marketing plans and should be reasonable and specific.</a:t>
            </a:r>
            <a:endParaRPr lang="en-US" altLang="en-US" sz="1800" b="1">
              <a:latin typeface="Arial" panose="020B0604020202020204" pitchFamily="34" charset="0"/>
            </a:endParaRPr>
          </a:p>
          <a:p>
            <a:pPr>
              <a:lnSpc>
                <a:spcPct val="90000"/>
              </a:lnSpc>
              <a:spcBef>
                <a:spcPct val="50000"/>
              </a:spcBef>
            </a:pPr>
            <a:r>
              <a:rPr lang="en-US" altLang="en-US" sz="1400" b="1" i="1">
                <a:latin typeface="Arial" panose="020B0604020202020204" pitchFamily="34" charset="0"/>
              </a:rPr>
              <a:t>Measure Performance.  </a:t>
            </a:r>
            <a:r>
              <a:rPr lang="en-US" altLang="en-US" sz="1400" b="1">
                <a:latin typeface="Arial" panose="020B0604020202020204" pitchFamily="34" charset="0"/>
              </a:rPr>
              <a:t>In determining the success of the marketing efforts, performance in the marketplace and the company must be objectively measured.  The measurements then become the basis for considering how things are working out for the company.</a:t>
            </a:r>
            <a:endParaRPr lang="en-US" altLang="en-US" sz="1800" b="1">
              <a:latin typeface="Arial" panose="020B0604020202020204" pitchFamily="34" charset="0"/>
            </a:endParaRPr>
          </a:p>
          <a:p>
            <a:pPr>
              <a:lnSpc>
                <a:spcPct val="90000"/>
              </a:lnSpc>
              <a:spcBef>
                <a:spcPct val="50000"/>
              </a:spcBef>
            </a:pPr>
            <a:r>
              <a:rPr lang="en-US" altLang="en-US" sz="1400" b="1" i="1">
                <a:latin typeface="Arial" panose="020B0604020202020204" pitchFamily="34" charset="0"/>
              </a:rPr>
              <a:t>Evaluate Performance.  </a:t>
            </a:r>
            <a:r>
              <a:rPr lang="en-US" altLang="en-US" sz="1400" b="1">
                <a:latin typeface="Arial" panose="020B0604020202020204" pitchFamily="34" charset="0"/>
              </a:rPr>
              <a:t>Many students will bring with them a negative connotation of the evaluation process.  You may want to encourage them to think that the evaluation step is a diagnostic one.  Few companies use this step or the following one for strictly punishing marketing personnel.  Evaluation may identify a need for improvement for the marketers, but it also may indicated changed environmental conditions, new competitive threats, unrealistic goals, or faulty strategic assumptions.  Encourage your students to articulate and discuss evaluation as a beneficial professional experience as well as an inevitable necessary part of strategic planning.</a:t>
            </a:r>
            <a:endParaRPr lang="en-US" altLang="en-US" sz="1800" b="1">
              <a:latin typeface="Arial" panose="020B0604020202020204" pitchFamily="34" charset="0"/>
            </a:endParaRPr>
          </a:p>
          <a:p>
            <a:pPr>
              <a:lnSpc>
                <a:spcPct val="90000"/>
              </a:lnSpc>
              <a:spcBef>
                <a:spcPct val="50000"/>
              </a:spcBef>
            </a:pPr>
            <a:r>
              <a:rPr lang="en-US" altLang="en-US" sz="1400" b="1" i="1">
                <a:latin typeface="Arial" panose="020B0604020202020204" pitchFamily="34" charset="0"/>
              </a:rPr>
              <a:t>Take Corrective Action.  </a:t>
            </a:r>
            <a:r>
              <a:rPr lang="en-US" altLang="en-US" sz="1400" b="1">
                <a:latin typeface="Arial" panose="020B0604020202020204" pitchFamily="34" charset="0"/>
              </a:rPr>
              <a:t>Again, many students will see “corrective” as a necessary evil.  Invite them to consider that all organizations seek feedback on performance in order to make changes in their competitive behavior.  Coaches use half-time and time outs to take corrective action.  Marketing managers use the control process to “tinker” with the plans in order to help all members of the marketing team perform well.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57300" y="1272011"/>
            <a:ext cx="7543800" cy="2705947"/>
          </a:xfrm>
        </p:spPr>
        <p:txBody>
          <a:bodyPr anchor="b"/>
          <a:lstStyle>
            <a:lvl1pPr algn="ctr">
              <a:defRPr sz="4950"/>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1980"/>
            </a:lvl1pPr>
            <a:lvl2pPr marL="377190" indent="0" algn="ctr">
              <a:buNone/>
              <a:defRPr sz="1650"/>
            </a:lvl2pPr>
            <a:lvl3pPr marL="754380" indent="0" algn="ctr">
              <a:buNone/>
              <a:defRPr sz="1485"/>
            </a:lvl3pPr>
            <a:lvl4pPr marL="1131570" indent="0" algn="ctr">
              <a:buNone/>
              <a:defRPr sz="1320"/>
            </a:lvl4pPr>
            <a:lvl5pPr marL="1508760" indent="0" algn="ctr">
              <a:buNone/>
              <a:defRPr sz="1320"/>
            </a:lvl5pPr>
            <a:lvl6pPr marL="1885950" indent="0" algn="ctr">
              <a:buNone/>
              <a:defRPr sz="1320"/>
            </a:lvl6pPr>
            <a:lvl7pPr marL="2263140" indent="0" algn="ctr">
              <a:buNone/>
              <a:defRPr sz="1320"/>
            </a:lvl7pPr>
            <a:lvl8pPr marL="2640330" indent="0" algn="ctr">
              <a:buNone/>
              <a:defRPr sz="1320"/>
            </a:lvl8pPr>
            <a:lvl9pPr marL="3017520" indent="0" algn="ctr">
              <a:buNone/>
              <a:defRPr sz="132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F37D7805-CF54-4E63-B34F-C62237243EB7}" type="datetimeFigureOut">
              <a:rPr lang="en-US"/>
              <a:pPr>
                <a:defRPr/>
              </a:pPr>
              <a:t>8/22/2025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78B30116-CF48-4E90-9EDF-84F6BCEBDF50}" type="slidenum">
              <a:rPr lang="en-US" altLang="en-US"/>
              <a:pPr/>
              <a:t>‹#›</a:t>
            </a:fld>
            <a:endParaRPr lang="en-US" altLang="en-US"/>
          </a:p>
        </p:txBody>
      </p:sp>
    </p:spTree>
    <p:extLst>
      <p:ext uri="{BB962C8B-B14F-4D97-AF65-F5344CB8AC3E}">
        <p14:creationId xmlns:p14="http://schemas.microsoft.com/office/powerpoint/2010/main" val="1609639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677111F-11CF-4262-80C4-3E4CF7FEB1A5}" type="datetimeFigureOut">
              <a:rPr lang="en-US"/>
              <a:pPr>
                <a:defRPr/>
              </a:pPr>
              <a:t>8/22/2025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3B98F1F-1382-4A53-AFA9-488906A897E8}" type="slidenum">
              <a:rPr lang="en-US" altLang="en-US"/>
              <a:pPr/>
              <a:t>‹#›</a:t>
            </a:fld>
            <a:endParaRPr lang="en-US" altLang="en-US"/>
          </a:p>
        </p:txBody>
      </p:sp>
    </p:spTree>
    <p:extLst>
      <p:ext uri="{BB962C8B-B14F-4D97-AF65-F5344CB8AC3E}">
        <p14:creationId xmlns:p14="http://schemas.microsoft.com/office/powerpoint/2010/main" val="3306160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6" y="1937704"/>
            <a:ext cx="8675370" cy="3233102"/>
          </a:xfrm>
        </p:spPr>
        <p:txBody>
          <a:bodyPr anchor="b"/>
          <a:lstStyle>
            <a:lvl1pPr>
              <a:defRPr sz="4950"/>
            </a:lvl1pPr>
          </a:lstStyle>
          <a:p>
            <a:r>
              <a:rPr lang="en-US"/>
              <a:t>Click to edit Master title style</a:t>
            </a:r>
          </a:p>
        </p:txBody>
      </p:sp>
      <p:sp>
        <p:nvSpPr>
          <p:cNvPr id="3" name="Text Placeholder 2"/>
          <p:cNvSpPr>
            <a:spLocks noGrp="1"/>
          </p:cNvSpPr>
          <p:nvPr>
            <p:ph type="body" idx="1"/>
          </p:nvPr>
        </p:nvSpPr>
        <p:spPr>
          <a:xfrm>
            <a:off x="686276" y="5201392"/>
            <a:ext cx="8675370" cy="1700212"/>
          </a:xfrm>
        </p:spPr>
        <p:txBody>
          <a:bodyPr/>
          <a:lstStyle>
            <a:lvl1pPr marL="0" indent="0">
              <a:buNone/>
              <a:defRPr sz="1980">
                <a:solidFill>
                  <a:schemeClr val="tx1">
                    <a:tint val="75000"/>
                  </a:schemeClr>
                </a:solidFill>
              </a:defRPr>
            </a:lvl1pPr>
            <a:lvl2pPr marL="377190" indent="0">
              <a:buNone/>
              <a:defRPr sz="1650">
                <a:solidFill>
                  <a:schemeClr val="tx1">
                    <a:tint val="75000"/>
                  </a:schemeClr>
                </a:solidFill>
              </a:defRPr>
            </a:lvl2pPr>
            <a:lvl3pPr marL="754380" indent="0">
              <a:buNone/>
              <a:defRPr sz="1485">
                <a:solidFill>
                  <a:schemeClr val="tx1">
                    <a:tint val="75000"/>
                  </a:schemeClr>
                </a:solidFill>
              </a:defRPr>
            </a:lvl3pPr>
            <a:lvl4pPr marL="1131570" indent="0">
              <a:buNone/>
              <a:defRPr sz="1320">
                <a:solidFill>
                  <a:schemeClr val="tx1">
                    <a:tint val="75000"/>
                  </a:schemeClr>
                </a:solidFill>
              </a:defRPr>
            </a:lvl4pPr>
            <a:lvl5pPr marL="1508760" indent="0">
              <a:buNone/>
              <a:defRPr sz="1320">
                <a:solidFill>
                  <a:schemeClr val="tx1">
                    <a:tint val="75000"/>
                  </a:schemeClr>
                </a:solidFill>
              </a:defRPr>
            </a:lvl5pPr>
            <a:lvl6pPr marL="1885950" indent="0">
              <a:buNone/>
              <a:defRPr sz="1320">
                <a:solidFill>
                  <a:schemeClr val="tx1">
                    <a:tint val="75000"/>
                  </a:schemeClr>
                </a:solidFill>
              </a:defRPr>
            </a:lvl6pPr>
            <a:lvl7pPr marL="2263140" indent="0">
              <a:buNone/>
              <a:defRPr sz="1320">
                <a:solidFill>
                  <a:schemeClr val="tx1">
                    <a:tint val="75000"/>
                  </a:schemeClr>
                </a:solidFill>
              </a:defRPr>
            </a:lvl7pPr>
            <a:lvl8pPr marL="2640330" indent="0">
              <a:buNone/>
              <a:defRPr sz="1320">
                <a:solidFill>
                  <a:schemeClr val="tx1">
                    <a:tint val="75000"/>
                  </a:schemeClr>
                </a:solidFill>
              </a:defRPr>
            </a:lvl8pPr>
            <a:lvl9pPr marL="3017520" indent="0">
              <a:buNone/>
              <a:defRPr sz="132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FFDC3F1-4826-40F5-84C9-42C1532D97AF}" type="datetimeFigureOut">
              <a:rPr lang="en-US"/>
              <a:pPr>
                <a:defRPr/>
              </a:pPr>
              <a:t>8/22/2025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9AC32259-0792-411F-8CFB-4E5874E7821D}" type="slidenum">
              <a:rPr lang="en-US" altLang="en-US"/>
              <a:pPr/>
              <a:t>‹#›</a:t>
            </a:fld>
            <a:endParaRPr lang="en-US" altLang="en-US"/>
          </a:p>
        </p:txBody>
      </p:sp>
    </p:spTree>
    <p:extLst>
      <p:ext uri="{BB962C8B-B14F-4D97-AF65-F5344CB8AC3E}">
        <p14:creationId xmlns:p14="http://schemas.microsoft.com/office/powerpoint/2010/main" val="4072108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34DDD034-2B0E-48F5-846F-15D7F0A97521}" type="datetimeFigureOut">
              <a:rPr lang="en-US"/>
              <a:pPr>
                <a:defRPr/>
              </a:pPr>
              <a:t>8/22/2025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73AFD9C3-82C8-4030-8BA8-A7B61BB2E2B6}" type="slidenum">
              <a:rPr lang="en-US" altLang="en-US"/>
              <a:pPr/>
              <a:t>‹#›</a:t>
            </a:fld>
            <a:endParaRPr lang="en-US" altLang="en-US"/>
          </a:p>
        </p:txBody>
      </p:sp>
    </p:spTree>
    <p:extLst>
      <p:ext uri="{BB962C8B-B14F-4D97-AF65-F5344CB8AC3E}">
        <p14:creationId xmlns:p14="http://schemas.microsoft.com/office/powerpoint/2010/main" val="950234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09"/>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18"/>
            <a:ext cx="4255174" cy="933767"/>
          </a:xfrm>
        </p:spPr>
        <p:txBody>
          <a:bodyPr anchor="b"/>
          <a:lstStyle>
            <a:lvl1pPr marL="0" indent="0">
              <a:buNone/>
              <a:defRPr sz="1980" b="1"/>
            </a:lvl1pPr>
            <a:lvl2pPr marL="377190" indent="0">
              <a:buNone/>
              <a:defRPr sz="1650" b="1"/>
            </a:lvl2pPr>
            <a:lvl3pPr marL="754380" indent="0">
              <a:buNone/>
              <a:defRPr sz="1485" b="1"/>
            </a:lvl3pPr>
            <a:lvl4pPr marL="1131570" indent="0">
              <a:buNone/>
              <a:defRPr sz="1320" b="1"/>
            </a:lvl4pPr>
            <a:lvl5pPr marL="1508760" indent="0">
              <a:buNone/>
              <a:defRPr sz="1320" b="1"/>
            </a:lvl5pPr>
            <a:lvl6pPr marL="1885950" indent="0">
              <a:buNone/>
              <a:defRPr sz="1320" b="1"/>
            </a:lvl6pPr>
            <a:lvl7pPr marL="2263140" indent="0">
              <a:buNone/>
              <a:defRPr sz="1320" b="1"/>
            </a:lvl7pPr>
            <a:lvl8pPr marL="2640330" indent="0">
              <a:buNone/>
              <a:defRPr sz="1320" b="1"/>
            </a:lvl8pPr>
            <a:lvl9pPr marL="3017520" indent="0">
              <a:buNone/>
              <a:defRPr sz="1320" b="1"/>
            </a:lvl9pPr>
          </a:lstStyle>
          <a:p>
            <a:pPr lvl="0"/>
            <a:r>
              <a:rPr lang="en-US"/>
              <a:t>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5" y="1905318"/>
            <a:ext cx="4276130" cy="933767"/>
          </a:xfrm>
        </p:spPr>
        <p:txBody>
          <a:bodyPr anchor="b"/>
          <a:lstStyle>
            <a:lvl1pPr marL="0" indent="0">
              <a:buNone/>
              <a:defRPr sz="1980" b="1"/>
            </a:lvl1pPr>
            <a:lvl2pPr marL="377190" indent="0">
              <a:buNone/>
              <a:defRPr sz="1650" b="1"/>
            </a:lvl2pPr>
            <a:lvl3pPr marL="754380" indent="0">
              <a:buNone/>
              <a:defRPr sz="1485" b="1"/>
            </a:lvl3pPr>
            <a:lvl4pPr marL="1131570" indent="0">
              <a:buNone/>
              <a:defRPr sz="1320" b="1"/>
            </a:lvl4pPr>
            <a:lvl5pPr marL="1508760" indent="0">
              <a:buNone/>
              <a:defRPr sz="1320" b="1"/>
            </a:lvl5pPr>
            <a:lvl6pPr marL="1885950" indent="0">
              <a:buNone/>
              <a:defRPr sz="1320" b="1"/>
            </a:lvl6pPr>
            <a:lvl7pPr marL="2263140" indent="0">
              <a:buNone/>
              <a:defRPr sz="1320" b="1"/>
            </a:lvl7pPr>
            <a:lvl8pPr marL="2640330" indent="0">
              <a:buNone/>
              <a:defRPr sz="1320" b="1"/>
            </a:lvl8pPr>
            <a:lvl9pPr marL="3017520" indent="0">
              <a:buNone/>
              <a:defRPr sz="1320" b="1"/>
            </a:lvl9pPr>
          </a:lstStyle>
          <a:p>
            <a:pPr lvl="0"/>
            <a:r>
              <a:rPr lang="en-US"/>
              <a:t>Edit Master text styles</a:t>
            </a:r>
          </a:p>
        </p:txBody>
      </p:sp>
      <p:sp>
        <p:nvSpPr>
          <p:cNvPr id="6" name="Content Placeholder 5"/>
          <p:cNvSpPr>
            <a:spLocks noGrp="1"/>
          </p:cNvSpPr>
          <p:nvPr>
            <p:ph sz="quarter" idx="4"/>
          </p:nvPr>
        </p:nvSpPr>
        <p:spPr>
          <a:xfrm>
            <a:off x="5092065" y="2839085"/>
            <a:ext cx="4276130" cy="41758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A08E07F6-049C-4462-9A56-83B6D64E64B0}" type="datetimeFigureOut">
              <a:rPr lang="en-US"/>
              <a:pPr>
                <a:defRPr/>
              </a:pPr>
              <a:t>8/22/2025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721F0EE1-64AA-45D8-8108-D22C78FDB398}" type="slidenum">
              <a:rPr lang="en-US" altLang="en-US"/>
              <a:pPr/>
              <a:t>‹#›</a:t>
            </a:fld>
            <a:endParaRPr lang="en-US" altLang="en-US"/>
          </a:p>
        </p:txBody>
      </p:sp>
    </p:spTree>
    <p:extLst>
      <p:ext uri="{BB962C8B-B14F-4D97-AF65-F5344CB8AC3E}">
        <p14:creationId xmlns:p14="http://schemas.microsoft.com/office/powerpoint/2010/main" val="2070554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4A27B3C8-38AB-4F18-9A2C-A07909A61F5D}" type="datetimeFigureOut">
              <a:rPr lang="en-US"/>
              <a:pPr>
                <a:defRPr/>
              </a:pPr>
              <a:t>8/22/2025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83775837-0B8A-4739-ABB2-0B9F77EB88D6}" type="slidenum">
              <a:rPr lang="en-US" altLang="en-US"/>
              <a:pPr/>
              <a:t>‹#›</a:t>
            </a:fld>
            <a:endParaRPr lang="en-US" altLang="en-US"/>
          </a:p>
        </p:txBody>
      </p:sp>
    </p:spTree>
    <p:extLst>
      <p:ext uri="{BB962C8B-B14F-4D97-AF65-F5344CB8AC3E}">
        <p14:creationId xmlns:p14="http://schemas.microsoft.com/office/powerpoint/2010/main" val="42787374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B0B7917-06A6-433F-AEAA-3C9E0ACD0399}" type="datetimeFigureOut">
              <a:rPr lang="en-US"/>
              <a:pPr>
                <a:defRPr/>
              </a:pPr>
              <a:t>8/22/2025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AF28BBA8-B026-4D36-B8BB-308C8E303E1E}" type="slidenum">
              <a:rPr lang="en-US" altLang="en-US"/>
              <a:pPr/>
              <a:t>‹#›</a:t>
            </a:fld>
            <a:endParaRPr lang="en-US" altLang="en-US"/>
          </a:p>
        </p:txBody>
      </p:sp>
    </p:spTree>
    <p:extLst>
      <p:ext uri="{BB962C8B-B14F-4D97-AF65-F5344CB8AC3E}">
        <p14:creationId xmlns:p14="http://schemas.microsoft.com/office/powerpoint/2010/main" val="1647206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2640"/>
            </a:lvl1pPr>
          </a:lstStyle>
          <a:p>
            <a:r>
              <a:rPr lang="en-US"/>
              <a:t>Click to edit Master title style</a:t>
            </a:r>
          </a:p>
        </p:txBody>
      </p:sp>
      <p:sp>
        <p:nvSpPr>
          <p:cNvPr id="3" name="Content Placeholder 2"/>
          <p:cNvSpPr>
            <a:spLocks noGrp="1"/>
          </p:cNvSpPr>
          <p:nvPr>
            <p:ph idx="1"/>
          </p:nvPr>
        </p:nvSpPr>
        <p:spPr>
          <a:xfrm>
            <a:off x="4276130" y="1119082"/>
            <a:ext cx="5092065" cy="5523442"/>
          </a:xfrm>
        </p:spPr>
        <p:txBody>
          <a:bodyPr/>
          <a:lstStyle>
            <a:lvl1pPr>
              <a:defRPr sz="2640"/>
            </a:lvl1pPr>
            <a:lvl2pPr>
              <a:defRPr sz="2310"/>
            </a:lvl2pPr>
            <a:lvl3pPr>
              <a:defRPr sz="1980"/>
            </a:lvl3pPr>
            <a:lvl4pPr>
              <a:defRPr sz="1650"/>
            </a:lvl4pPr>
            <a:lvl5pPr>
              <a:defRPr sz="1650"/>
            </a:lvl5pPr>
            <a:lvl6pPr>
              <a:defRPr sz="1650"/>
            </a:lvl6pPr>
            <a:lvl7pPr>
              <a:defRPr sz="1650"/>
            </a:lvl7pPr>
            <a:lvl8pPr>
              <a:defRPr sz="1650"/>
            </a:lvl8pPr>
            <a:lvl9pPr>
              <a:defRPr sz="16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320"/>
            </a:lvl1pPr>
            <a:lvl2pPr marL="377190" indent="0">
              <a:buNone/>
              <a:defRPr sz="1155"/>
            </a:lvl2pPr>
            <a:lvl3pPr marL="754380" indent="0">
              <a:buNone/>
              <a:defRPr sz="990"/>
            </a:lvl3pPr>
            <a:lvl4pPr marL="1131570" indent="0">
              <a:buNone/>
              <a:defRPr sz="825"/>
            </a:lvl4pPr>
            <a:lvl5pPr marL="1508760" indent="0">
              <a:buNone/>
              <a:defRPr sz="825"/>
            </a:lvl5pPr>
            <a:lvl6pPr marL="1885950" indent="0">
              <a:buNone/>
              <a:defRPr sz="825"/>
            </a:lvl6pPr>
            <a:lvl7pPr marL="2263140" indent="0">
              <a:buNone/>
              <a:defRPr sz="825"/>
            </a:lvl7pPr>
            <a:lvl8pPr marL="2640330" indent="0">
              <a:buNone/>
              <a:defRPr sz="825"/>
            </a:lvl8pPr>
            <a:lvl9pPr marL="3017520" indent="0">
              <a:buNone/>
              <a:defRPr sz="825"/>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64E8083C-0D82-4371-9AFA-808A30A8AE03}" type="datetimeFigureOut">
              <a:rPr lang="en-US"/>
              <a:pPr>
                <a:defRPr/>
              </a:pPr>
              <a:t>8/22/2025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22F8EFF4-A338-4F62-9E93-587A4A8A85CF}" type="slidenum">
              <a:rPr lang="en-US" altLang="en-US"/>
              <a:pPr/>
              <a:t>‹#›</a:t>
            </a:fld>
            <a:endParaRPr lang="en-US" altLang="en-US"/>
          </a:p>
        </p:txBody>
      </p:sp>
    </p:spTree>
    <p:extLst>
      <p:ext uri="{BB962C8B-B14F-4D97-AF65-F5344CB8AC3E}">
        <p14:creationId xmlns:p14="http://schemas.microsoft.com/office/powerpoint/2010/main" val="4191077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2640"/>
            </a:lvl1pPr>
          </a:lstStyle>
          <a:p>
            <a:r>
              <a:rPr lang="en-US"/>
              <a:t>Click to edit Master title style</a:t>
            </a:r>
          </a:p>
        </p:txBody>
      </p:sp>
      <p:sp>
        <p:nvSpPr>
          <p:cNvPr id="3" name="Picture Placeholder 2"/>
          <p:cNvSpPr>
            <a:spLocks noGrp="1"/>
          </p:cNvSpPr>
          <p:nvPr>
            <p:ph type="pic" idx="1"/>
          </p:nvPr>
        </p:nvSpPr>
        <p:spPr>
          <a:xfrm>
            <a:off x="4276130" y="1119082"/>
            <a:ext cx="5092065" cy="5523442"/>
          </a:xfrm>
        </p:spPr>
        <p:txBody>
          <a:bodyPr rtlCol="0">
            <a:normAutofit/>
          </a:bodyPr>
          <a:lstStyle>
            <a:lvl1pPr marL="0" indent="0">
              <a:buNone/>
              <a:defRPr sz="2640"/>
            </a:lvl1pPr>
            <a:lvl2pPr marL="377190" indent="0">
              <a:buNone/>
              <a:defRPr sz="2310"/>
            </a:lvl2pPr>
            <a:lvl3pPr marL="754380" indent="0">
              <a:buNone/>
              <a:defRPr sz="1980"/>
            </a:lvl3pPr>
            <a:lvl4pPr marL="1131570" indent="0">
              <a:buNone/>
              <a:defRPr sz="1650"/>
            </a:lvl4pPr>
            <a:lvl5pPr marL="1508760" indent="0">
              <a:buNone/>
              <a:defRPr sz="1650"/>
            </a:lvl5pPr>
            <a:lvl6pPr marL="1885950" indent="0">
              <a:buNone/>
              <a:defRPr sz="1650"/>
            </a:lvl6pPr>
            <a:lvl7pPr marL="2263140" indent="0">
              <a:buNone/>
              <a:defRPr sz="1650"/>
            </a:lvl7pPr>
            <a:lvl8pPr marL="2640330" indent="0">
              <a:buNone/>
              <a:defRPr sz="1650"/>
            </a:lvl8pPr>
            <a:lvl9pPr marL="3017520" indent="0">
              <a:buNone/>
              <a:defRPr sz="1650"/>
            </a:lvl9pPr>
          </a:lstStyle>
          <a:p>
            <a:pPr lvl="0"/>
            <a:endParaRPr lang="en-US" noProof="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320"/>
            </a:lvl1pPr>
            <a:lvl2pPr marL="377190" indent="0">
              <a:buNone/>
              <a:defRPr sz="1155"/>
            </a:lvl2pPr>
            <a:lvl3pPr marL="754380" indent="0">
              <a:buNone/>
              <a:defRPr sz="990"/>
            </a:lvl3pPr>
            <a:lvl4pPr marL="1131570" indent="0">
              <a:buNone/>
              <a:defRPr sz="825"/>
            </a:lvl4pPr>
            <a:lvl5pPr marL="1508760" indent="0">
              <a:buNone/>
              <a:defRPr sz="825"/>
            </a:lvl5pPr>
            <a:lvl6pPr marL="1885950" indent="0">
              <a:buNone/>
              <a:defRPr sz="825"/>
            </a:lvl6pPr>
            <a:lvl7pPr marL="2263140" indent="0">
              <a:buNone/>
              <a:defRPr sz="825"/>
            </a:lvl7pPr>
            <a:lvl8pPr marL="2640330" indent="0">
              <a:buNone/>
              <a:defRPr sz="825"/>
            </a:lvl8pPr>
            <a:lvl9pPr marL="3017520" indent="0">
              <a:buNone/>
              <a:defRPr sz="825"/>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581A7F7C-7A67-4B4C-B9BF-D5FD1673F2D8}" type="datetimeFigureOut">
              <a:rPr lang="en-US"/>
              <a:pPr>
                <a:defRPr/>
              </a:pPr>
              <a:t>8/22/2025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481669D1-9A38-42E8-8D31-3CCC8BB9633A}" type="slidenum">
              <a:rPr lang="en-US" altLang="en-US"/>
              <a:pPr/>
              <a:t>‹#›</a:t>
            </a:fld>
            <a:endParaRPr lang="en-US" altLang="en-US"/>
          </a:p>
        </p:txBody>
      </p:sp>
    </p:spTree>
    <p:extLst>
      <p:ext uri="{BB962C8B-B14F-4D97-AF65-F5344CB8AC3E}">
        <p14:creationId xmlns:p14="http://schemas.microsoft.com/office/powerpoint/2010/main" val="4137569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8CB0F17-639D-4FFB-932D-BD6F29CD6E01}" type="datetimeFigureOut">
              <a:rPr lang="en-US"/>
              <a:pPr>
                <a:defRPr/>
              </a:pPr>
              <a:t>8/22/2025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4CF8BFC8-1BF8-4264-814A-817EC31294E8}" type="slidenum">
              <a:rPr lang="en-US" altLang="en-US"/>
              <a:pPr/>
              <a:t>‹#›</a:t>
            </a:fld>
            <a:endParaRPr lang="en-US" altLang="en-US"/>
          </a:p>
        </p:txBody>
      </p:sp>
    </p:spTree>
    <p:extLst>
      <p:ext uri="{BB962C8B-B14F-4D97-AF65-F5344CB8AC3E}">
        <p14:creationId xmlns:p14="http://schemas.microsoft.com/office/powerpoint/2010/main" val="2035082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2"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AC67A70-B781-4252-8A4E-B779C16D99A6}" type="datetimeFigureOut">
              <a:rPr lang="en-US"/>
              <a:pPr>
                <a:defRPr/>
              </a:pPr>
              <a:t>8/22/2025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94461C87-DEF7-4CE7-9C83-CAF4B317D639}" type="slidenum">
              <a:rPr lang="en-US" altLang="en-US"/>
              <a:pPr/>
              <a:t>‹#›</a:t>
            </a:fld>
            <a:endParaRPr lang="en-US" altLang="en-US"/>
          </a:p>
        </p:txBody>
      </p:sp>
    </p:spTree>
    <p:extLst>
      <p:ext uri="{BB962C8B-B14F-4D97-AF65-F5344CB8AC3E}">
        <p14:creationId xmlns:p14="http://schemas.microsoft.com/office/powerpoint/2010/main" val="3152567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noChangeArrowheads="1"/>
          </p:cNvSpPr>
          <p:nvPr>
            <p:ph type="title"/>
          </p:nvPr>
        </p:nvSpPr>
        <p:spPr bwMode="auto">
          <a:xfrm>
            <a:off x="692150" y="414338"/>
            <a:ext cx="8674100" cy="150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Text Placeholder 2"/>
          <p:cNvSpPr>
            <a:spLocks noGrp="1" noChangeArrowheads="1"/>
          </p:cNvSpPr>
          <p:nvPr>
            <p:ph type="body" idx="1"/>
          </p:nvPr>
        </p:nvSpPr>
        <p:spPr bwMode="auto">
          <a:xfrm>
            <a:off x="692150" y="2068513"/>
            <a:ext cx="8674100" cy="493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692150" y="7204075"/>
            <a:ext cx="2262188" cy="414338"/>
          </a:xfrm>
          <a:prstGeom prst="rect">
            <a:avLst/>
          </a:prstGeom>
        </p:spPr>
        <p:txBody>
          <a:bodyPr vert="horz" lIns="91440" tIns="45720" rIns="91440" bIns="45720" rtlCol="0" anchor="ctr"/>
          <a:lstStyle>
            <a:lvl1pPr algn="l">
              <a:defRPr sz="990">
                <a:solidFill>
                  <a:schemeClr val="tx1">
                    <a:tint val="75000"/>
                  </a:schemeClr>
                </a:solidFill>
              </a:defRPr>
            </a:lvl1pPr>
          </a:lstStyle>
          <a:p>
            <a:pPr>
              <a:defRPr/>
            </a:pPr>
            <a:fld id="{2ECDD261-4682-4A37-9392-C183B467C85B}" type="datetimeFigureOut">
              <a:rPr lang="en-US"/>
              <a:pPr>
                <a:defRPr/>
              </a:pPr>
              <a:t>8/22/2025</a:t>
            </a:fld>
            <a:endParaRPr lang="en-US"/>
          </a:p>
        </p:txBody>
      </p:sp>
      <p:sp>
        <p:nvSpPr>
          <p:cNvPr id="5" name="Footer Placeholder 4"/>
          <p:cNvSpPr>
            <a:spLocks noGrp="1"/>
          </p:cNvSpPr>
          <p:nvPr>
            <p:ph type="ftr" sz="quarter" idx="3"/>
          </p:nvPr>
        </p:nvSpPr>
        <p:spPr>
          <a:xfrm>
            <a:off x="3332163" y="7204075"/>
            <a:ext cx="3394075" cy="414338"/>
          </a:xfrm>
          <a:prstGeom prst="rect">
            <a:avLst/>
          </a:prstGeom>
        </p:spPr>
        <p:txBody>
          <a:bodyPr vert="horz" lIns="91440" tIns="45720" rIns="91440" bIns="45720" rtlCol="0" anchor="ctr"/>
          <a:lstStyle>
            <a:lvl1pPr algn="ctr">
              <a:defRPr sz="99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7104063" y="7204075"/>
            <a:ext cx="2262187" cy="414338"/>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898989"/>
                </a:solidFill>
              </a:defRPr>
            </a:lvl1pPr>
          </a:lstStyle>
          <a:p>
            <a:fld id="{9B406C09-E771-4631-8FA1-9832E0E8FDE0}"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754063" rtl="0" eaLnBrk="0" fontAlgn="base" hangingPunct="0">
        <a:lnSpc>
          <a:spcPct val="90000"/>
        </a:lnSpc>
        <a:spcBef>
          <a:spcPct val="0"/>
        </a:spcBef>
        <a:spcAft>
          <a:spcPct val="0"/>
        </a:spcAft>
        <a:defRPr sz="3600" kern="1200">
          <a:solidFill>
            <a:schemeClr val="tx1"/>
          </a:solidFill>
          <a:latin typeface="+mj-lt"/>
          <a:ea typeface="+mj-ea"/>
          <a:cs typeface="+mj-cs"/>
        </a:defRPr>
      </a:lvl1pPr>
      <a:lvl2pPr algn="l" defTabSz="754063" rtl="0" eaLnBrk="0" fontAlgn="base" hangingPunct="0">
        <a:lnSpc>
          <a:spcPct val="90000"/>
        </a:lnSpc>
        <a:spcBef>
          <a:spcPct val="0"/>
        </a:spcBef>
        <a:spcAft>
          <a:spcPct val="0"/>
        </a:spcAft>
        <a:defRPr sz="3600">
          <a:solidFill>
            <a:schemeClr val="tx1"/>
          </a:solidFill>
          <a:latin typeface="Calibri Light" panose="020F0302020204030204" pitchFamily="34" charset="0"/>
        </a:defRPr>
      </a:lvl2pPr>
      <a:lvl3pPr algn="l" defTabSz="754063" rtl="0" eaLnBrk="0" fontAlgn="base" hangingPunct="0">
        <a:lnSpc>
          <a:spcPct val="90000"/>
        </a:lnSpc>
        <a:spcBef>
          <a:spcPct val="0"/>
        </a:spcBef>
        <a:spcAft>
          <a:spcPct val="0"/>
        </a:spcAft>
        <a:defRPr sz="3600">
          <a:solidFill>
            <a:schemeClr val="tx1"/>
          </a:solidFill>
          <a:latin typeface="Calibri Light" panose="020F0302020204030204" pitchFamily="34" charset="0"/>
        </a:defRPr>
      </a:lvl3pPr>
      <a:lvl4pPr algn="l" defTabSz="754063" rtl="0" eaLnBrk="0" fontAlgn="base" hangingPunct="0">
        <a:lnSpc>
          <a:spcPct val="90000"/>
        </a:lnSpc>
        <a:spcBef>
          <a:spcPct val="0"/>
        </a:spcBef>
        <a:spcAft>
          <a:spcPct val="0"/>
        </a:spcAft>
        <a:defRPr sz="3600">
          <a:solidFill>
            <a:schemeClr val="tx1"/>
          </a:solidFill>
          <a:latin typeface="Calibri Light" panose="020F0302020204030204" pitchFamily="34" charset="0"/>
        </a:defRPr>
      </a:lvl4pPr>
      <a:lvl5pPr algn="l" defTabSz="754063" rtl="0" eaLnBrk="0" fontAlgn="base" hangingPunct="0">
        <a:lnSpc>
          <a:spcPct val="90000"/>
        </a:lnSpc>
        <a:spcBef>
          <a:spcPct val="0"/>
        </a:spcBef>
        <a:spcAft>
          <a:spcPct val="0"/>
        </a:spcAft>
        <a:defRPr sz="3600">
          <a:solidFill>
            <a:schemeClr val="tx1"/>
          </a:solidFill>
          <a:latin typeface="Calibri Light" panose="020F0302020204030204" pitchFamily="34" charset="0"/>
        </a:defRPr>
      </a:lvl5pPr>
      <a:lvl6pPr marL="457200" algn="l" defTabSz="754063" rtl="0" fontAlgn="base">
        <a:lnSpc>
          <a:spcPct val="90000"/>
        </a:lnSpc>
        <a:spcBef>
          <a:spcPct val="0"/>
        </a:spcBef>
        <a:spcAft>
          <a:spcPct val="0"/>
        </a:spcAft>
        <a:defRPr sz="3600">
          <a:solidFill>
            <a:schemeClr val="tx1"/>
          </a:solidFill>
          <a:latin typeface="Calibri Light" panose="020F0302020204030204" pitchFamily="34" charset="0"/>
        </a:defRPr>
      </a:lvl6pPr>
      <a:lvl7pPr marL="914400" algn="l" defTabSz="754063" rtl="0" fontAlgn="base">
        <a:lnSpc>
          <a:spcPct val="90000"/>
        </a:lnSpc>
        <a:spcBef>
          <a:spcPct val="0"/>
        </a:spcBef>
        <a:spcAft>
          <a:spcPct val="0"/>
        </a:spcAft>
        <a:defRPr sz="3600">
          <a:solidFill>
            <a:schemeClr val="tx1"/>
          </a:solidFill>
          <a:latin typeface="Calibri Light" panose="020F0302020204030204" pitchFamily="34" charset="0"/>
        </a:defRPr>
      </a:lvl7pPr>
      <a:lvl8pPr marL="1371600" algn="l" defTabSz="754063" rtl="0" fontAlgn="base">
        <a:lnSpc>
          <a:spcPct val="90000"/>
        </a:lnSpc>
        <a:spcBef>
          <a:spcPct val="0"/>
        </a:spcBef>
        <a:spcAft>
          <a:spcPct val="0"/>
        </a:spcAft>
        <a:defRPr sz="3600">
          <a:solidFill>
            <a:schemeClr val="tx1"/>
          </a:solidFill>
          <a:latin typeface="Calibri Light" panose="020F0302020204030204" pitchFamily="34" charset="0"/>
        </a:defRPr>
      </a:lvl8pPr>
      <a:lvl9pPr marL="1828800" algn="l" defTabSz="754063" rtl="0" fontAlgn="base">
        <a:lnSpc>
          <a:spcPct val="90000"/>
        </a:lnSpc>
        <a:spcBef>
          <a:spcPct val="0"/>
        </a:spcBef>
        <a:spcAft>
          <a:spcPct val="0"/>
        </a:spcAft>
        <a:defRPr sz="3600">
          <a:solidFill>
            <a:schemeClr val="tx1"/>
          </a:solidFill>
          <a:latin typeface="Calibri Light" panose="020F0302020204030204" pitchFamily="34" charset="0"/>
        </a:defRPr>
      </a:lvl9pPr>
    </p:titleStyle>
    <p:bodyStyle>
      <a:lvl1pPr marL="187325" indent="-187325" algn="l" defTabSz="754063" rtl="0" eaLnBrk="0" fontAlgn="base" hangingPunct="0">
        <a:lnSpc>
          <a:spcPct val="90000"/>
        </a:lnSpc>
        <a:spcBef>
          <a:spcPts val="825"/>
        </a:spcBef>
        <a:spcAft>
          <a:spcPct val="0"/>
        </a:spcAft>
        <a:buFont typeface="Arial" panose="020B0604020202020204" pitchFamily="34" charset="0"/>
        <a:buChar char="•"/>
        <a:defRPr sz="2300" kern="1200">
          <a:solidFill>
            <a:schemeClr val="tx1"/>
          </a:solidFill>
          <a:latin typeface="+mn-lt"/>
          <a:ea typeface="+mn-ea"/>
          <a:cs typeface="+mn-cs"/>
        </a:defRPr>
      </a:lvl1pPr>
      <a:lvl2pPr marL="565150" indent="-187325" algn="l" defTabSz="754063" rtl="0" eaLnBrk="0" fontAlgn="base" hangingPunct="0">
        <a:lnSpc>
          <a:spcPct val="90000"/>
        </a:lnSpc>
        <a:spcBef>
          <a:spcPts val="413"/>
        </a:spcBef>
        <a:spcAft>
          <a:spcPct val="0"/>
        </a:spcAft>
        <a:buFont typeface="Arial" panose="020B0604020202020204" pitchFamily="34" charset="0"/>
        <a:buChar char="•"/>
        <a:defRPr sz="1900" kern="1200">
          <a:solidFill>
            <a:schemeClr val="tx1"/>
          </a:solidFill>
          <a:latin typeface="+mn-lt"/>
          <a:ea typeface="+mn-ea"/>
          <a:cs typeface="+mn-cs"/>
        </a:defRPr>
      </a:lvl2pPr>
      <a:lvl3pPr marL="942975" indent="-187325" algn="l" defTabSz="754063" rtl="0" eaLnBrk="0" fontAlgn="base" hangingPunct="0">
        <a:lnSpc>
          <a:spcPct val="90000"/>
        </a:lnSpc>
        <a:spcBef>
          <a:spcPts val="413"/>
        </a:spcBef>
        <a:spcAft>
          <a:spcPct val="0"/>
        </a:spcAft>
        <a:buFont typeface="Arial" panose="020B0604020202020204" pitchFamily="34" charset="0"/>
        <a:buChar char="•"/>
        <a:defRPr sz="1600" kern="1200">
          <a:solidFill>
            <a:schemeClr val="tx1"/>
          </a:solidFill>
          <a:latin typeface="+mn-lt"/>
          <a:ea typeface="+mn-ea"/>
          <a:cs typeface="+mn-cs"/>
        </a:defRPr>
      </a:lvl3pPr>
      <a:lvl4pPr marL="1319213" indent="-187325" algn="l" defTabSz="754063" rtl="0" eaLnBrk="0" fontAlgn="base" hangingPunct="0">
        <a:lnSpc>
          <a:spcPct val="90000"/>
        </a:lnSpc>
        <a:spcBef>
          <a:spcPts val="413"/>
        </a:spcBef>
        <a:spcAft>
          <a:spcPct val="0"/>
        </a:spcAft>
        <a:buFont typeface="Arial" panose="020B0604020202020204" pitchFamily="34" charset="0"/>
        <a:buChar char="•"/>
        <a:defRPr sz="1400" kern="1200">
          <a:solidFill>
            <a:schemeClr val="tx1"/>
          </a:solidFill>
          <a:latin typeface="+mn-lt"/>
          <a:ea typeface="+mn-ea"/>
          <a:cs typeface="+mn-cs"/>
        </a:defRPr>
      </a:lvl4pPr>
      <a:lvl5pPr marL="1697038" indent="-187325" algn="l" defTabSz="754063" rtl="0" eaLnBrk="0" fontAlgn="base" hangingPunct="0">
        <a:lnSpc>
          <a:spcPct val="90000"/>
        </a:lnSpc>
        <a:spcBef>
          <a:spcPts val="413"/>
        </a:spcBef>
        <a:spcAft>
          <a:spcPct val="0"/>
        </a:spcAft>
        <a:buFont typeface="Arial" panose="020B0604020202020204" pitchFamily="34" charset="0"/>
        <a:buChar char="•"/>
        <a:defRPr sz="1400" kern="1200">
          <a:solidFill>
            <a:schemeClr val="tx1"/>
          </a:solidFill>
          <a:latin typeface="+mn-lt"/>
          <a:ea typeface="+mn-ea"/>
          <a:cs typeface="+mn-cs"/>
        </a:defRPr>
      </a:lvl5pPr>
      <a:lvl6pPr marL="207454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6pPr>
      <a:lvl7pPr marL="245173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7pPr>
      <a:lvl8pPr marL="282892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8pPr>
      <a:lvl9pPr marL="320611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9pPr>
    </p:bodyStyle>
    <p:otherStyle>
      <a:defPPr>
        <a:defRPr lang="en-US"/>
      </a:defPPr>
      <a:lvl1pPr marL="0" algn="l" defTabSz="754380" rtl="0" eaLnBrk="1" latinLnBrk="0" hangingPunct="1">
        <a:defRPr sz="1485" kern="1200">
          <a:solidFill>
            <a:schemeClr val="tx1"/>
          </a:solidFill>
          <a:latin typeface="+mn-lt"/>
          <a:ea typeface="+mn-ea"/>
          <a:cs typeface="+mn-cs"/>
        </a:defRPr>
      </a:lvl1pPr>
      <a:lvl2pPr marL="377190" algn="l" defTabSz="754380" rtl="0" eaLnBrk="1" latinLnBrk="0" hangingPunct="1">
        <a:defRPr sz="1485" kern="1200">
          <a:solidFill>
            <a:schemeClr val="tx1"/>
          </a:solidFill>
          <a:latin typeface="+mn-lt"/>
          <a:ea typeface="+mn-ea"/>
          <a:cs typeface="+mn-cs"/>
        </a:defRPr>
      </a:lvl2pPr>
      <a:lvl3pPr marL="754380" algn="l" defTabSz="754380" rtl="0" eaLnBrk="1" latinLnBrk="0" hangingPunct="1">
        <a:defRPr sz="1485" kern="1200">
          <a:solidFill>
            <a:schemeClr val="tx1"/>
          </a:solidFill>
          <a:latin typeface="+mn-lt"/>
          <a:ea typeface="+mn-ea"/>
          <a:cs typeface="+mn-cs"/>
        </a:defRPr>
      </a:lvl3pPr>
      <a:lvl4pPr marL="1131570" algn="l" defTabSz="754380" rtl="0" eaLnBrk="1" latinLnBrk="0" hangingPunct="1">
        <a:defRPr sz="1485" kern="1200">
          <a:solidFill>
            <a:schemeClr val="tx1"/>
          </a:solidFill>
          <a:latin typeface="+mn-lt"/>
          <a:ea typeface="+mn-ea"/>
          <a:cs typeface="+mn-cs"/>
        </a:defRPr>
      </a:lvl4pPr>
      <a:lvl5pPr marL="1508760" algn="l" defTabSz="754380" rtl="0" eaLnBrk="1" latinLnBrk="0" hangingPunct="1">
        <a:defRPr sz="1485" kern="1200">
          <a:solidFill>
            <a:schemeClr val="tx1"/>
          </a:solidFill>
          <a:latin typeface="+mn-lt"/>
          <a:ea typeface="+mn-ea"/>
          <a:cs typeface="+mn-cs"/>
        </a:defRPr>
      </a:lvl5pPr>
      <a:lvl6pPr marL="1885950" algn="l" defTabSz="754380" rtl="0" eaLnBrk="1" latinLnBrk="0" hangingPunct="1">
        <a:defRPr sz="1485" kern="1200">
          <a:solidFill>
            <a:schemeClr val="tx1"/>
          </a:solidFill>
          <a:latin typeface="+mn-lt"/>
          <a:ea typeface="+mn-ea"/>
          <a:cs typeface="+mn-cs"/>
        </a:defRPr>
      </a:lvl6pPr>
      <a:lvl7pPr marL="2263140" algn="l" defTabSz="754380" rtl="0" eaLnBrk="1" latinLnBrk="0" hangingPunct="1">
        <a:defRPr sz="1485" kern="1200">
          <a:solidFill>
            <a:schemeClr val="tx1"/>
          </a:solidFill>
          <a:latin typeface="+mn-lt"/>
          <a:ea typeface="+mn-ea"/>
          <a:cs typeface="+mn-cs"/>
        </a:defRPr>
      </a:lvl7pPr>
      <a:lvl8pPr marL="2640330" algn="l" defTabSz="754380" rtl="0" eaLnBrk="1" latinLnBrk="0" hangingPunct="1">
        <a:defRPr sz="1485" kern="1200">
          <a:solidFill>
            <a:schemeClr val="tx1"/>
          </a:solidFill>
          <a:latin typeface="+mn-lt"/>
          <a:ea typeface="+mn-ea"/>
          <a:cs typeface="+mn-cs"/>
        </a:defRPr>
      </a:lvl8pPr>
      <a:lvl9pPr marL="3017520" algn="l" defTabSz="754380" rtl="0" eaLnBrk="1" latinLnBrk="0" hangingPunct="1">
        <a:defRPr sz="148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3352800" y="3246438"/>
            <a:ext cx="3316288" cy="860425"/>
          </a:xfrm>
        </p:spPr>
        <p:txBody>
          <a:bodyPr rtlCol="0" anchor="ctr">
            <a:normAutofit fontScale="90000"/>
          </a:bodyPr>
          <a:lstStyle/>
          <a:p>
            <a:pPr defTabSz="754380" eaLnBrk="1" fontAlgn="auto" hangingPunct="1">
              <a:spcAft>
                <a:spcPts val="0"/>
              </a:spcAft>
              <a:defRPr/>
            </a:pPr>
            <a:r>
              <a:rPr lang="en-US" dirty="0"/>
              <a:t> </a:t>
            </a:r>
            <a:r>
              <a:rPr lang="en-US" sz="5400" dirty="0">
                <a:solidFill>
                  <a:schemeClr val="accent1"/>
                </a:solidFill>
                <a:latin typeface="Times New Roman" pitchFamily="18" charset="0"/>
              </a:rPr>
              <a:t>Chapter 2</a:t>
            </a:r>
            <a:br>
              <a:rPr lang="en-US" sz="5400" dirty="0">
                <a:solidFill>
                  <a:schemeClr val="accent1"/>
                </a:solidFill>
                <a:latin typeface="Times New Roman" pitchFamily="18" charset="0"/>
              </a:rPr>
            </a:br>
            <a:r>
              <a:rPr lang="en-US" sz="4000" dirty="0">
                <a:solidFill>
                  <a:schemeClr val="accent1"/>
                </a:solidFill>
              </a:rPr>
              <a:t> </a:t>
            </a:r>
          </a:p>
        </p:txBody>
      </p:sp>
      <p:sp>
        <p:nvSpPr>
          <p:cNvPr id="15362" name="Rectangle 3"/>
          <p:cNvSpPr>
            <a:spLocks noGrp="1" noChangeArrowheads="1"/>
          </p:cNvSpPr>
          <p:nvPr>
            <p:ph type="subTitle" idx="1"/>
          </p:nvPr>
        </p:nvSpPr>
        <p:spPr>
          <a:xfrm>
            <a:off x="528638" y="4419600"/>
            <a:ext cx="8996362" cy="1981200"/>
          </a:xfrm>
          <a:extLs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pPr marL="285750" indent="-285750" eaLnBrk="1" hangingPunct="1"/>
            <a:r>
              <a:rPr lang="en-US" altLang="en-US" sz="5400" smtClean="0">
                <a:latin typeface="Times New Roman" panose="02020603050405020304" pitchFamily="18" charset="0"/>
              </a:rPr>
              <a:t>Company and Marketing Strategy  </a:t>
            </a:r>
          </a:p>
        </p:txBody>
      </p:sp>
      <p:sp>
        <p:nvSpPr>
          <p:cNvPr id="15363" name="Rectangle 4"/>
          <p:cNvSpPr>
            <a:spLocks noChangeArrowheads="1"/>
          </p:cNvSpPr>
          <p:nvPr/>
        </p:nvSpPr>
        <p:spPr bwMode="auto">
          <a:xfrm>
            <a:off x="528638" y="381000"/>
            <a:ext cx="9153525"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spcBef>
                <a:spcPct val="50000"/>
              </a:spcBef>
            </a:pPr>
            <a:r>
              <a:rPr lang="en-US" altLang="en-US" sz="4400" b="1">
                <a:solidFill>
                  <a:srgbClr val="FFFFFF"/>
                </a:solidFill>
              </a:rPr>
              <a:t>PRINCIPLES OF MARKETING</a:t>
            </a:r>
          </a:p>
          <a:p>
            <a:pPr algn="ctr">
              <a:lnSpc>
                <a:spcPct val="90000"/>
              </a:lnSpc>
              <a:spcBef>
                <a:spcPct val="50000"/>
              </a:spcBef>
            </a:pPr>
            <a:r>
              <a:rPr lang="en-US" altLang="en-US" sz="4400" b="1">
                <a:solidFill>
                  <a:srgbClr val="FFFFFF"/>
                </a:solidFill>
              </a:rPr>
              <a:t>Philip Kotler and Gary Armstrong</a:t>
            </a:r>
          </a:p>
        </p:txBody>
      </p:sp>
    </p:spTree>
  </p:cSld>
  <p:clrMapOvr>
    <a:masterClrMapping/>
  </p:clrMapOvr>
  <p:transition spd="slow">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Content Placeholder 2"/>
          <p:cNvSpPr>
            <a:spLocks noGrp="1"/>
          </p:cNvSpPr>
          <p:nvPr>
            <p:ph idx="1"/>
          </p:nvPr>
        </p:nvSpPr>
        <p:spPr>
          <a:xfrm>
            <a:off x="1143000" y="2389188"/>
            <a:ext cx="8412163" cy="2994025"/>
          </a:xfrm>
        </p:spPr>
        <p:txBody>
          <a:bodyPr/>
          <a:lstStyle/>
          <a:p>
            <a:pPr marL="0">
              <a:spcBef>
                <a:spcPts val="660"/>
              </a:spcBef>
              <a:spcAft>
                <a:spcPts val="1320"/>
              </a:spcAft>
              <a:buFont typeface="Arial" panose="020B0604020202020204" pitchFamily="34" charset="0"/>
              <a:buNone/>
              <a:defRPr/>
            </a:pPr>
            <a:r>
              <a:rPr lang="en-US" sz="2800" b="1" dirty="0"/>
              <a:t>Strategy</a:t>
            </a:r>
            <a:r>
              <a:rPr lang="en-US" sz="2800" dirty="0"/>
              <a:t> is the matching of the activities of an organisation to the environment in which it operates and to its own resource capabilities</a:t>
            </a:r>
          </a:p>
          <a:p>
            <a:pPr algn="r">
              <a:buFont typeface="Arial" charset="0"/>
              <a:buNone/>
              <a:defRPr/>
            </a:pPr>
            <a:r>
              <a:rPr lang="en-US" sz="2800" b="1" dirty="0"/>
              <a:t>Johnson and scholes (1988)</a:t>
            </a:r>
            <a:endParaRPr lang="en-US" sz="2800" dirty="0"/>
          </a:p>
          <a:p>
            <a:pPr>
              <a:buFont typeface="Arial" charset="0"/>
              <a:buNone/>
              <a:defRPr/>
            </a:pPr>
            <a:endParaRPr lang="en-US" dirty="0"/>
          </a:p>
        </p:txBody>
      </p:sp>
      <p:sp>
        <p:nvSpPr>
          <p:cNvPr id="17410"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815975" indent="-314325">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1257300" indent="-250825">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1758950" indent="-250825">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2262188" indent="-250825">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27193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31765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6337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40909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nSpc>
                <a:spcPct val="100000"/>
              </a:lnSpc>
              <a:spcBef>
                <a:spcPct val="0"/>
              </a:spcBef>
              <a:buFontTx/>
              <a:buNone/>
            </a:pPr>
            <a:r>
              <a:rPr lang="en-US" altLang="en-US" sz="1300">
                <a:solidFill>
                  <a:srgbClr val="898989"/>
                </a:solidFill>
                <a:latin typeface="Times New Roman" panose="02020603050405020304" pitchFamily="18" charset="0"/>
              </a:rPr>
              <a:t>6-</a:t>
            </a:r>
            <a:fld id="{2009E08B-B12F-47C2-B374-541F4099F64D}" type="slidenum">
              <a:rPr lang="en-US" altLang="en-US" sz="1300">
                <a:solidFill>
                  <a:srgbClr val="898989"/>
                </a:solidFill>
                <a:latin typeface="Times New Roman" panose="02020603050405020304" pitchFamily="18" charset="0"/>
              </a:rPr>
              <a:pPr>
                <a:lnSpc>
                  <a:spcPct val="100000"/>
                </a:lnSpc>
                <a:spcBef>
                  <a:spcPct val="0"/>
                </a:spcBef>
                <a:buFontTx/>
                <a:buNone/>
              </a:pPr>
              <a:t>2</a:t>
            </a:fld>
            <a:endParaRPr lang="en-US" altLang="en-US" sz="1300">
              <a:solidFill>
                <a:srgbClr val="898989"/>
              </a:solidFill>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noChangeArrowheads="1"/>
          </p:cNvSpPr>
          <p:nvPr>
            <p:ph type="title"/>
          </p:nvPr>
        </p:nvSpPr>
        <p:spPr/>
        <p:txBody>
          <a:bodyPr/>
          <a:lstStyle/>
          <a:p>
            <a:pPr eaLnBrk="1" hangingPunct="1"/>
            <a:r>
              <a:rPr lang="en-US" altLang="en-US" smtClean="0"/>
              <a:t>Vision Statement</a:t>
            </a:r>
          </a:p>
        </p:txBody>
      </p:sp>
      <p:sp>
        <p:nvSpPr>
          <p:cNvPr id="18434" name="Content Placeholder 2"/>
          <p:cNvSpPr>
            <a:spLocks noGrp="1" noChangeArrowheads="1"/>
          </p:cNvSpPr>
          <p:nvPr>
            <p:ph idx="1"/>
          </p:nvPr>
        </p:nvSpPr>
        <p:spPr>
          <a:xfrm>
            <a:off x="0" y="1958975"/>
            <a:ext cx="10058400" cy="5659438"/>
          </a:xfrm>
        </p:spPr>
        <p:txBody>
          <a:bodyPr/>
          <a:lstStyle/>
          <a:p>
            <a:pPr eaLnBrk="1" hangingPunct="1"/>
            <a:r>
              <a:rPr lang="en-US" altLang="en-US" smtClean="0"/>
              <a:t>A </a:t>
            </a:r>
            <a:r>
              <a:rPr lang="en-US" altLang="en-US" b="1" smtClean="0"/>
              <a:t>vision statement </a:t>
            </a:r>
            <a:r>
              <a:rPr lang="en-US" altLang="en-US" smtClean="0"/>
              <a:t>should answer the basic question, </a:t>
            </a:r>
            <a:r>
              <a:rPr lang="en-US" altLang="en-US" b="1" smtClean="0">
                <a:solidFill>
                  <a:srgbClr val="0070C0"/>
                </a:solidFill>
              </a:rPr>
              <a:t>“What do we want to become?”</a:t>
            </a:r>
          </a:p>
          <a:p>
            <a:pPr eaLnBrk="1" hangingPunct="1"/>
            <a:endParaRPr lang="en-US" altLang="en-US" b="1" smtClean="0">
              <a:solidFill>
                <a:srgbClr val="0070C0"/>
              </a:solidFill>
            </a:endParaRPr>
          </a:p>
          <a:p>
            <a:r>
              <a:rPr lang="en-US" altLang="en-US" smtClean="0">
                <a:solidFill>
                  <a:srgbClr val="000000"/>
                </a:solidFill>
              </a:rPr>
              <a:t>The </a:t>
            </a:r>
            <a:r>
              <a:rPr lang="en-US" altLang="en-US" b="1" smtClean="0">
                <a:solidFill>
                  <a:srgbClr val="000000"/>
                </a:solidFill>
              </a:rPr>
              <a:t>vision statement </a:t>
            </a:r>
            <a:r>
              <a:rPr lang="en-US" altLang="en-US" smtClean="0">
                <a:solidFill>
                  <a:srgbClr val="000000"/>
                </a:solidFill>
              </a:rPr>
              <a:t>should be short, preferably one sentence, and as many managers as possible should have input into developing the statement.</a:t>
            </a:r>
          </a:p>
          <a:p>
            <a:r>
              <a:rPr lang="en-US" altLang="en-US" smtClean="0"/>
              <a:t>Examples</a:t>
            </a:r>
          </a:p>
          <a:p>
            <a:pPr lvl="1"/>
            <a:r>
              <a:rPr lang="en-US" altLang="en-US" b="1" smtClean="0"/>
              <a:t>“To create a better every-day life for the many people.”</a:t>
            </a:r>
          </a:p>
          <a:p>
            <a:pPr lvl="1"/>
            <a:r>
              <a:rPr lang="en-US" altLang="en-US" b="1" smtClean="0"/>
              <a:t>“Bring inspiration and innovation to every athlete”</a:t>
            </a:r>
          </a:p>
          <a:p>
            <a:pPr lvl="1"/>
            <a:r>
              <a:rPr lang="en-US" altLang="en-US" b="1" smtClean="0">
                <a:solidFill>
                  <a:srgbClr val="000000"/>
                </a:solidFill>
              </a:rPr>
              <a:t>“To help people and businesses throughout the world realize their full potential”</a:t>
            </a:r>
          </a:p>
          <a:p>
            <a:pPr lvl="1"/>
            <a:r>
              <a:rPr lang="en-US" altLang="en-US" b="1" smtClean="0">
                <a:solidFill>
                  <a:srgbClr val="000000"/>
                </a:solidFill>
              </a:rPr>
              <a:t>“To provide access to worlds information in one click”</a:t>
            </a:r>
          </a:p>
          <a:p>
            <a:pPr lvl="1"/>
            <a:r>
              <a:rPr lang="en-US" altLang="en-US" b="1" smtClean="0">
                <a:solidFill>
                  <a:srgbClr val="000000"/>
                </a:solidFill>
              </a:rPr>
              <a:t>“Becoming the best global entertainment distribution service”</a:t>
            </a:r>
          </a:p>
          <a:p>
            <a:pPr lvl="1"/>
            <a:r>
              <a:rPr lang="en-US" altLang="en-US" b="1" smtClean="0">
                <a:solidFill>
                  <a:srgbClr val="000000"/>
                </a:solidFill>
              </a:rPr>
              <a:t>“To give everyone a voice and show them the world”</a:t>
            </a:r>
          </a:p>
          <a:p>
            <a:pPr eaLnBrk="1" hangingPunct="1"/>
            <a:endParaRPr lang="en-US" altLang="en-US" b="1" smtClean="0">
              <a:solidFill>
                <a:srgbClr val="0070C0"/>
              </a:solidFill>
            </a:endParaRPr>
          </a:p>
        </p:txBody>
      </p:sp>
      <p:sp>
        <p:nvSpPr>
          <p:cNvPr id="18435"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815975" indent="-314325">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1257300" indent="-250825">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1758950" indent="-250825">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2262188" indent="-250825">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27193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31765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6337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40909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nSpc>
                <a:spcPct val="100000"/>
              </a:lnSpc>
              <a:spcBef>
                <a:spcPct val="0"/>
              </a:spcBef>
              <a:buFontTx/>
              <a:buNone/>
            </a:pPr>
            <a:r>
              <a:rPr lang="en-US" altLang="en-US" sz="1300">
                <a:latin typeface="Arial" panose="020B0604020202020204" pitchFamily="34" charset="0"/>
                <a:cs typeface="Arial" panose="020B0604020202020204" pitchFamily="34" charset="0"/>
              </a:rPr>
              <a:t>2-</a:t>
            </a:r>
            <a:fld id="{4AD08087-2ADF-4AF3-B93D-6BFFB3DB4E2D}" type="slidenum">
              <a:rPr lang="en-US" altLang="en-US" sz="1300">
                <a:latin typeface="Arial" panose="020B0604020202020204" pitchFamily="34" charset="0"/>
                <a:cs typeface="Arial" panose="020B0604020202020204" pitchFamily="34" charset="0"/>
              </a:rPr>
              <a:pPr>
                <a:lnSpc>
                  <a:spcPct val="100000"/>
                </a:lnSpc>
                <a:spcBef>
                  <a:spcPct val="0"/>
                </a:spcBef>
                <a:buFontTx/>
                <a:buNone/>
              </a:pPr>
              <a:t>3</a:t>
            </a:fld>
            <a:endParaRPr lang="en-US" altLang="en-US" sz="1300">
              <a:latin typeface="Arial" panose="020B0604020202020204" pitchFamily="34" charset="0"/>
              <a:cs typeface="Arial" panose="020B0604020202020204" pitchFamily="34" charset="0"/>
            </a:endParaRPr>
          </a:p>
        </p:txBody>
      </p:sp>
    </p:spTree>
  </p:cSld>
  <p:clrMapOvr>
    <a:masterClrMapping/>
  </p:clrMapOvr>
  <p:transition>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p:nvPr>
        </p:nvSpPr>
        <p:spPr>
          <a:xfrm>
            <a:off x="239713" y="-15875"/>
            <a:ext cx="6673850" cy="647700"/>
          </a:xfrm>
        </p:spPr>
        <p:txBody>
          <a:bodyPr/>
          <a:lstStyle/>
          <a:p>
            <a:pPr eaLnBrk="1" hangingPunct="1"/>
            <a:r>
              <a:rPr lang="en-US" altLang="en-US" sz="4000" b="1" smtClean="0"/>
              <a:t>Strategic Planning Process</a:t>
            </a:r>
          </a:p>
        </p:txBody>
      </p:sp>
      <p:sp>
        <p:nvSpPr>
          <p:cNvPr id="5123" name="Rectangle 3"/>
          <p:cNvSpPr>
            <a:spLocks noGrp="1" noChangeArrowheads="1"/>
          </p:cNvSpPr>
          <p:nvPr>
            <p:ph idx="1"/>
          </p:nvPr>
        </p:nvSpPr>
        <p:spPr>
          <a:xfrm>
            <a:off x="381000" y="1219200"/>
            <a:ext cx="9296400" cy="5715000"/>
          </a:xfrm>
          <a:ln w="12700">
            <a:miter lim="800000"/>
            <a:headEnd/>
            <a:tailEnd/>
          </a:ln>
        </p:spPr>
        <p:txBody>
          <a:bodyPr lIns="90488" tIns="44450" rIns="90488" bIns="44450" rtlCol="0">
            <a:normAutofit/>
          </a:bodyPr>
          <a:lstStyle/>
          <a:p>
            <a:pPr marL="188595" indent="-188595" algn="just" defTabSz="754380" eaLnBrk="1" fontAlgn="auto" hangingPunct="1">
              <a:spcAft>
                <a:spcPts val="0"/>
              </a:spcAft>
              <a:buClr>
                <a:schemeClr val="accent1"/>
              </a:buClr>
              <a:defRPr/>
            </a:pPr>
            <a:r>
              <a:rPr lang="en-US" sz="3200" dirty="0">
                <a:effectLst>
                  <a:outerShdw blurRad="38100" dist="38100" dir="2700000" algn="tl">
                    <a:srgbClr val="000000"/>
                  </a:outerShdw>
                </a:effectLst>
              </a:rPr>
              <a:t>Strategic Planning </a:t>
            </a:r>
            <a:r>
              <a:rPr lang="en-US" sz="3200" dirty="0"/>
              <a:t>involves developing an overall company strategy for long-run survival and growth.</a:t>
            </a:r>
          </a:p>
          <a:p>
            <a:pPr marL="188595" indent="-188595" algn="just" defTabSz="754380" eaLnBrk="1" fontAlgn="auto" hangingPunct="1">
              <a:spcAft>
                <a:spcPts val="0"/>
              </a:spcAft>
              <a:buClr>
                <a:schemeClr val="accent1"/>
              </a:buClr>
              <a:buFontTx/>
              <a:buChar char=" "/>
              <a:defRPr/>
            </a:pPr>
            <a:endParaRPr lang="en-US" sz="3200" dirty="0"/>
          </a:p>
          <a:p>
            <a:pPr marL="188595" indent="-188595" algn="just" defTabSz="754380" eaLnBrk="1" fontAlgn="auto" hangingPunct="1">
              <a:spcAft>
                <a:spcPts val="0"/>
              </a:spcAft>
              <a:buClr>
                <a:schemeClr val="accent1"/>
              </a:buClr>
              <a:defRPr/>
            </a:pPr>
            <a:r>
              <a:rPr lang="en-US" sz="2800" dirty="0"/>
              <a:t>This process involves:</a:t>
            </a:r>
          </a:p>
          <a:p>
            <a:pPr marL="565785" lvl="1" indent="-188595" defTabSz="754380" eaLnBrk="1" fontAlgn="auto" hangingPunct="1">
              <a:spcAft>
                <a:spcPts val="0"/>
              </a:spcAft>
              <a:defRPr/>
            </a:pPr>
            <a:r>
              <a:rPr lang="en-US" sz="2400" u="sng" dirty="0"/>
              <a:t>Defining a Mission</a:t>
            </a:r>
            <a:r>
              <a:rPr lang="en-US" sz="2400" dirty="0"/>
              <a:t>: Statement of an organization’s purpose; should be market oriented. </a:t>
            </a:r>
          </a:p>
          <a:p>
            <a:pPr marL="565785" lvl="1" indent="-188595" defTabSz="754380" eaLnBrk="1" fontAlgn="auto" hangingPunct="1">
              <a:spcAft>
                <a:spcPts val="0"/>
              </a:spcAft>
              <a:defRPr/>
            </a:pPr>
            <a:r>
              <a:rPr lang="en-US" sz="2400" u="sng" dirty="0"/>
              <a:t>Setting Company Objectives</a:t>
            </a:r>
            <a:r>
              <a:rPr lang="en-US" sz="2400" dirty="0"/>
              <a:t>: Supporting goals and objectives to guide the entire company.</a:t>
            </a:r>
          </a:p>
          <a:p>
            <a:pPr marL="565785" lvl="1" indent="-188595" defTabSz="754380" eaLnBrk="1" fontAlgn="auto" hangingPunct="1">
              <a:spcAft>
                <a:spcPts val="0"/>
              </a:spcAft>
              <a:defRPr/>
            </a:pPr>
            <a:r>
              <a:rPr lang="en-US" sz="2400" u="sng" dirty="0"/>
              <a:t>Designing a Business Portfolio: </a:t>
            </a:r>
            <a:r>
              <a:rPr lang="en-US" sz="2400" dirty="0"/>
              <a:t>Collection of businesses and products that make up the company.</a:t>
            </a:r>
          </a:p>
          <a:p>
            <a:pPr marL="565785" lvl="1" indent="-188595" defTabSz="754380" eaLnBrk="1" fontAlgn="auto" hangingPunct="1">
              <a:spcAft>
                <a:spcPts val="0"/>
              </a:spcAft>
              <a:defRPr/>
            </a:pPr>
            <a:r>
              <a:rPr lang="en-US" sz="2400" u="sng" dirty="0"/>
              <a:t>Planning Functional Strategies: </a:t>
            </a:r>
            <a:r>
              <a:rPr lang="en-US" sz="2400" dirty="0"/>
              <a:t>Detailed planning for each department designed to accomplish strategic objectives.</a:t>
            </a:r>
          </a:p>
        </p:txBody>
      </p:sp>
    </p:spTree>
  </p:cSld>
  <p:clrMapOvr>
    <a:masterClrMapping/>
  </p:clrMapOvr>
  <p:transition spd="slow">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2"/>
          <p:cNvSpPr>
            <a:spLocks noGrp="1" noChangeArrowheads="1"/>
          </p:cNvSpPr>
          <p:nvPr>
            <p:ph type="title"/>
          </p:nvPr>
        </p:nvSpPr>
        <p:spPr/>
        <p:txBody>
          <a:bodyPr/>
          <a:lstStyle/>
          <a:p>
            <a:r>
              <a:rPr lang="en-US" altLang="en-US" smtClean="0"/>
              <a:t>Defining the business purpose or mission</a:t>
            </a:r>
          </a:p>
        </p:txBody>
      </p:sp>
      <p:sp>
        <p:nvSpPr>
          <p:cNvPr id="21506" name="Content Placeholder 3"/>
          <p:cNvSpPr>
            <a:spLocks noGrp="1" noChangeArrowheads="1"/>
          </p:cNvSpPr>
          <p:nvPr>
            <p:ph idx="1"/>
          </p:nvPr>
        </p:nvSpPr>
        <p:spPr/>
        <p:txBody>
          <a:bodyPr/>
          <a:lstStyle/>
          <a:p>
            <a:r>
              <a:rPr lang="en-US" altLang="en-US" sz="2800" smtClean="0"/>
              <a:t>Requires asking fundamental questions:</a:t>
            </a:r>
          </a:p>
          <a:p>
            <a:pPr lvl="1"/>
            <a:r>
              <a:rPr lang="en-US" altLang="en-US" sz="2300" smtClean="0">
                <a:solidFill>
                  <a:srgbClr val="000000"/>
                </a:solidFill>
              </a:rPr>
              <a:t>What business are we in?</a:t>
            </a:r>
          </a:p>
          <a:p>
            <a:pPr lvl="1"/>
            <a:r>
              <a:rPr lang="en-US" altLang="en-US" sz="2300" smtClean="0">
                <a:solidFill>
                  <a:srgbClr val="000000"/>
                </a:solidFill>
              </a:rPr>
              <a:t>What businesses do we want to be in?</a:t>
            </a:r>
          </a:p>
          <a:p>
            <a:pPr lvl="1"/>
            <a:r>
              <a:rPr lang="en-US" altLang="en-US" sz="2300" smtClean="0">
                <a:solidFill>
                  <a:srgbClr val="000000"/>
                </a:solidFill>
              </a:rPr>
              <a:t>Who is our major competitor?</a:t>
            </a:r>
          </a:p>
          <a:p>
            <a:pPr lvl="1"/>
            <a:r>
              <a:rPr lang="en-US" altLang="en-US" sz="2300" smtClean="0">
                <a:solidFill>
                  <a:srgbClr val="000000"/>
                </a:solidFill>
              </a:rPr>
              <a:t>What markets are we in?</a:t>
            </a:r>
          </a:p>
        </p:txBody>
      </p:sp>
      <p:sp>
        <p:nvSpPr>
          <p:cNvPr id="21507"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815975" indent="-314325">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1257300" indent="-250825">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1758950" indent="-250825">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2262188" indent="-250825">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27193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31765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6337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40909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nSpc>
                <a:spcPct val="100000"/>
              </a:lnSpc>
              <a:spcBef>
                <a:spcPct val="0"/>
              </a:spcBef>
              <a:buFontTx/>
              <a:buNone/>
            </a:pPr>
            <a:r>
              <a:rPr lang="en-US" altLang="en-US" sz="1300">
                <a:solidFill>
                  <a:srgbClr val="898989"/>
                </a:solidFill>
                <a:latin typeface="Times New Roman" panose="02020603050405020304" pitchFamily="18" charset="0"/>
              </a:rPr>
              <a:t>6-</a:t>
            </a:r>
            <a:fld id="{65B11705-0AC4-46C9-815F-F2BFC88D0B81}" type="slidenum">
              <a:rPr lang="en-US" altLang="en-US" sz="1300">
                <a:solidFill>
                  <a:srgbClr val="898989"/>
                </a:solidFill>
                <a:latin typeface="Times New Roman" panose="02020603050405020304" pitchFamily="18" charset="0"/>
              </a:rPr>
              <a:pPr>
                <a:lnSpc>
                  <a:spcPct val="100000"/>
                </a:lnSpc>
                <a:spcBef>
                  <a:spcPct val="0"/>
                </a:spcBef>
                <a:buFontTx/>
                <a:buNone/>
              </a:pPr>
              <a:t>5</a:t>
            </a:fld>
            <a:endParaRPr lang="en-US" altLang="en-US" sz="1300">
              <a:solidFill>
                <a:srgbClr val="898989"/>
              </a:solidFill>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noChangeArrowheads="1"/>
          </p:cNvSpPr>
          <p:nvPr>
            <p:ph type="title"/>
          </p:nvPr>
        </p:nvSpPr>
        <p:spPr/>
        <p:txBody>
          <a:bodyPr/>
          <a:lstStyle/>
          <a:p>
            <a:r>
              <a:rPr lang="en-US" altLang="en-US" smtClean="0"/>
              <a:t>Mission formulation and statement</a:t>
            </a:r>
          </a:p>
        </p:txBody>
      </p:sp>
      <p:sp>
        <p:nvSpPr>
          <p:cNvPr id="3" name="Content Placeholder 2"/>
          <p:cNvSpPr>
            <a:spLocks noGrp="1"/>
          </p:cNvSpPr>
          <p:nvPr>
            <p:ph idx="1"/>
          </p:nvPr>
        </p:nvSpPr>
        <p:spPr>
          <a:xfrm>
            <a:off x="503238" y="1874838"/>
            <a:ext cx="9220200" cy="4978400"/>
          </a:xfrm>
        </p:spPr>
        <p:txBody>
          <a:bodyPr/>
          <a:lstStyle/>
          <a:p>
            <a:pPr>
              <a:buFont typeface="Arial" charset="0"/>
              <a:buChar char="•"/>
              <a:defRPr/>
            </a:pPr>
            <a:r>
              <a:rPr lang="en-US" dirty="0"/>
              <a:t>The </a:t>
            </a:r>
            <a:r>
              <a:rPr lang="en-US" b="1" dirty="0">
                <a:effectLst>
                  <a:outerShdw blurRad="38100" dist="38100" dir="2700000" algn="tl">
                    <a:srgbClr val="C0C0C0"/>
                  </a:outerShdw>
                </a:effectLst>
              </a:rPr>
              <a:t>strategic intent </a:t>
            </a:r>
            <a:r>
              <a:rPr lang="en-US" dirty="0"/>
              <a:t>or vision of where organization want to be in foreseeable future</a:t>
            </a:r>
          </a:p>
          <a:p>
            <a:pPr>
              <a:buFont typeface="Arial" charset="0"/>
              <a:buChar char="•"/>
              <a:defRPr/>
            </a:pPr>
            <a:r>
              <a:rPr lang="en-US" dirty="0"/>
              <a:t>The </a:t>
            </a:r>
            <a:r>
              <a:rPr lang="en-US" b="1" dirty="0">
                <a:effectLst>
                  <a:outerShdw blurRad="38100" dist="38100" dir="2700000" algn="tl">
                    <a:srgbClr val="C0C0C0"/>
                  </a:outerShdw>
                </a:effectLst>
              </a:rPr>
              <a:t>values of the organization </a:t>
            </a:r>
            <a:r>
              <a:rPr lang="en-US" dirty="0"/>
              <a:t>should be spelled out to guide operations</a:t>
            </a:r>
          </a:p>
          <a:p>
            <a:pPr>
              <a:buFont typeface="Arial" charset="0"/>
              <a:buChar char="•"/>
              <a:defRPr/>
            </a:pPr>
            <a:r>
              <a:rPr lang="en-US" dirty="0"/>
              <a:t>Articulate </a:t>
            </a:r>
            <a:r>
              <a:rPr lang="en-US" b="1" dirty="0">
                <a:effectLst>
                  <a:outerShdw blurRad="38100" dist="38100" dir="2700000" algn="tl">
                    <a:srgbClr val="C0C0C0"/>
                  </a:outerShdw>
                </a:effectLst>
              </a:rPr>
              <a:t>distinctive competencies</a:t>
            </a:r>
          </a:p>
          <a:p>
            <a:pPr>
              <a:buFont typeface="Arial" charset="0"/>
              <a:buChar char="•"/>
              <a:defRPr/>
            </a:pPr>
            <a:r>
              <a:rPr lang="en-US" b="1" dirty="0">
                <a:effectLst>
                  <a:outerShdw blurRad="38100" dist="38100" dir="2700000" algn="tl">
                    <a:srgbClr val="C0C0C0"/>
                  </a:outerShdw>
                </a:effectLst>
              </a:rPr>
              <a:t>Market definition</a:t>
            </a:r>
            <a:r>
              <a:rPr lang="en-US" dirty="0"/>
              <a:t>, in terms of customer targets</a:t>
            </a:r>
          </a:p>
          <a:p>
            <a:pPr>
              <a:buFont typeface="Arial" charset="0"/>
              <a:buChar char="•"/>
              <a:defRPr/>
            </a:pPr>
            <a:r>
              <a:rPr lang="en-US" dirty="0"/>
              <a:t>Finally, it should spell out where organization intends to be </a:t>
            </a:r>
            <a:r>
              <a:rPr lang="en-US" b="1" dirty="0">
                <a:effectLst>
                  <a:outerShdw blurRad="38100" dist="38100" dir="2700000" algn="tl">
                    <a:srgbClr val="C0C0C0"/>
                  </a:outerShdw>
                </a:effectLst>
              </a:rPr>
              <a:t>positioned</a:t>
            </a:r>
            <a:r>
              <a:rPr lang="en-US" dirty="0"/>
              <a:t> in marketplace</a:t>
            </a:r>
          </a:p>
          <a:p>
            <a:pPr marL="0" indent="0">
              <a:buFont typeface="Arial" panose="020B0604020202020204" pitchFamily="34" charset="0"/>
              <a:buNone/>
              <a:defRPr/>
            </a:pPr>
            <a:endParaRPr lang="en-US" dirty="0"/>
          </a:p>
          <a:p>
            <a:pPr>
              <a:buFont typeface="Arial" charset="0"/>
              <a:buChar char="•"/>
              <a:defRPr/>
            </a:pPr>
            <a:r>
              <a:rPr lang="en-US" dirty="0"/>
              <a:t>”to empower every person and organization on the planet to achieve more”</a:t>
            </a:r>
          </a:p>
        </p:txBody>
      </p:sp>
      <p:sp>
        <p:nvSpPr>
          <p:cNvPr id="22531"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815975" indent="-314325">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1257300" indent="-250825">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1758950" indent="-250825">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2262188" indent="-250825">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27193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31765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6337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40909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nSpc>
                <a:spcPct val="100000"/>
              </a:lnSpc>
              <a:spcBef>
                <a:spcPct val="0"/>
              </a:spcBef>
              <a:buFontTx/>
              <a:buNone/>
            </a:pPr>
            <a:r>
              <a:rPr lang="en-US" altLang="en-US" sz="1300">
                <a:solidFill>
                  <a:srgbClr val="898989"/>
                </a:solidFill>
                <a:latin typeface="Times New Roman" panose="02020603050405020304" pitchFamily="18" charset="0"/>
              </a:rPr>
              <a:t>6-</a:t>
            </a:r>
            <a:fld id="{BE5B1693-76C9-4D40-90E3-91194F34DE3C}" type="slidenum">
              <a:rPr lang="en-US" altLang="en-US" sz="1300">
                <a:solidFill>
                  <a:srgbClr val="898989"/>
                </a:solidFill>
                <a:latin typeface="Times New Roman" panose="02020603050405020304" pitchFamily="18" charset="0"/>
              </a:rPr>
              <a:pPr>
                <a:lnSpc>
                  <a:spcPct val="100000"/>
                </a:lnSpc>
                <a:spcBef>
                  <a:spcPct val="0"/>
                </a:spcBef>
                <a:buFontTx/>
                <a:buNone/>
              </a:pPr>
              <a:t>6</a:t>
            </a:fld>
            <a:endParaRPr lang="en-US" altLang="en-US" sz="1300">
              <a:solidFill>
                <a:srgbClr val="898989"/>
              </a:solidFill>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815975" indent="-314325">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1257300" indent="-250825">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1758950" indent="-250825">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2262188" indent="-250825">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27193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31765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6337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40909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nSpc>
                <a:spcPct val="100000"/>
              </a:lnSpc>
              <a:spcBef>
                <a:spcPct val="0"/>
              </a:spcBef>
              <a:buFontTx/>
              <a:buNone/>
            </a:pPr>
            <a:r>
              <a:rPr lang="en-US" altLang="en-US" sz="1300">
                <a:solidFill>
                  <a:srgbClr val="898989"/>
                </a:solidFill>
                <a:latin typeface="Times New Roman" panose="02020603050405020304" pitchFamily="18" charset="0"/>
              </a:rPr>
              <a:t>6-</a:t>
            </a:r>
            <a:fld id="{C035A6B6-CE83-44FE-900D-D8BB831BCB88}" type="slidenum">
              <a:rPr lang="en-US" altLang="en-US" sz="1300">
                <a:solidFill>
                  <a:srgbClr val="898989"/>
                </a:solidFill>
                <a:latin typeface="Times New Roman" panose="02020603050405020304" pitchFamily="18" charset="0"/>
              </a:rPr>
              <a:pPr>
                <a:lnSpc>
                  <a:spcPct val="100000"/>
                </a:lnSpc>
                <a:spcBef>
                  <a:spcPct val="0"/>
                </a:spcBef>
                <a:buFontTx/>
                <a:buNone/>
              </a:pPr>
              <a:t>7</a:t>
            </a:fld>
            <a:endParaRPr lang="en-US" altLang="en-US" sz="1300">
              <a:solidFill>
                <a:srgbClr val="898989"/>
              </a:solidFill>
              <a:latin typeface="Times New Roman" panose="02020603050405020304" pitchFamily="18" charset="0"/>
            </a:endParaRPr>
          </a:p>
        </p:txBody>
      </p:sp>
      <p:sp>
        <p:nvSpPr>
          <p:cNvPr id="4" name="TextBox 3"/>
          <p:cNvSpPr txBox="1"/>
          <p:nvPr/>
        </p:nvSpPr>
        <p:spPr>
          <a:xfrm>
            <a:off x="2263775" y="365125"/>
            <a:ext cx="7459663" cy="498475"/>
          </a:xfrm>
          <a:prstGeom prst="rect">
            <a:avLst/>
          </a:prstGeom>
          <a:noFill/>
        </p:spPr>
        <p:txBody>
          <a:bodyPr>
            <a:spAutoFit/>
          </a:bodyPr>
          <a:lstStyle/>
          <a:p>
            <a:pPr>
              <a:defRPr/>
            </a:pPr>
            <a:r>
              <a:rPr lang="en-US" sz="2640" spc="330" dirty="0">
                <a:latin typeface="Arial" pitchFamily="34" charset="0"/>
                <a:cs typeface="Arial" pitchFamily="34" charset="0"/>
              </a:rPr>
              <a:t>Components of mission</a:t>
            </a:r>
          </a:p>
        </p:txBody>
      </p:sp>
      <p:grpSp>
        <p:nvGrpSpPr>
          <p:cNvPr id="5" name="Oval 4"/>
          <p:cNvGrpSpPr>
            <a:grpSpLocks/>
          </p:cNvGrpSpPr>
          <p:nvPr/>
        </p:nvGrpSpPr>
        <p:grpSpPr bwMode="auto">
          <a:xfrm>
            <a:off x="596900" y="3517900"/>
            <a:ext cx="2755900" cy="1143000"/>
            <a:chOff x="376" y="2216"/>
            <a:chExt cx="1736" cy="720"/>
          </a:xfrm>
        </p:grpSpPr>
        <p:pic>
          <p:nvPicPr>
            <p:cNvPr id="23555" name="Oval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 y="2216"/>
              <a:ext cx="1736" cy="720"/>
            </a:xfrm>
            <a:prstGeom prst="rect">
              <a:avLst/>
            </a:prstGeom>
            <a:noFill/>
            <a:extLst>
              <a:ext uri="{909E8E84-426E-40DD-AFC4-6F175D3DCCD1}">
                <a14:hiddenFill xmlns:a14="http://schemas.microsoft.com/office/drawing/2010/main">
                  <a:solidFill>
                    <a:srgbClr val="FFFFFF"/>
                  </a:solidFill>
                </a14:hiddenFill>
              </a:ext>
            </a:extLst>
          </p:spPr>
        </p:pic>
        <p:sp>
          <p:nvSpPr>
            <p:cNvPr id="23556" name="Text Box 4"/>
            <p:cNvSpPr txBox="1">
              <a:spLocks noChangeArrowheads="1"/>
            </p:cNvSpPr>
            <p:nvPr/>
          </p:nvSpPr>
          <p:spPr bwMode="auto">
            <a:xfrm>
              <a:off x="662" y="2322"/>
              <a:ext cx="115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500">
                  <a:solidFill>
                    <a:srgbClr val="FFFFFF"/>
                  </a:solidFill>
                  <a:latin typeface="Calibri" panose="020F0502020204030204" pitchFamily="34" charset="0"/>
                </a:rPr>
                <a:t>Market definition</a:t>
              </a:r>
            </a:p>
            <a:p>
              <a:pPr algn="ctr"/>
              <a:r>
                <a:rPr lang="en-US" altLang="en-US" sz="1500">
                  <a:solidFill>
                    <a:srgbClr val="FFFFFF"/>
                  </a:solidFill>
                  <a:latin typeface="Calibri" panose="020F0502020204030204" pitchFamily="34" charset="0"/>
                </a:rPr>
                <a:t>Customer targets</a:t>
              </a:r>
            </a:p>
          </p:txBody>
        </p:sp>
      </p:grpSp>
      <p:grpSp>
        <p:nvGrpSpPr>
          <p:cNvPr id="6" name="Oval 5"/>
          <p:cNvGrpSpPr>
            <a:grpSpLocks/>
          </p:cNvGrpSpPr>
          <p:nvPr/>
        </p:nvGrpSpPr>
        <p:grpSpPr bwMode="auto">
          <a:xfrm>
            <a:off x="3187700" y="1676400"/>
            <a:ext cx="3848100" cy="1130300"/>
            <a:chOff x="2008" y="1056"/>
            <a:chExt cx="2424" cy="712"/>
          </a:xfrm>
        </p:grpSpPr>
        <p:pic>
          <p:nvPicPr>
            <p:cNvPr id="23558" name="Oval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8" y="1056"/>
              <a:ext cx="2424" cy="712"/>
            </a:xfrm>
            <a:prstGeom prst="rect">
              <a:avLst/>
            </a:prstGeom>
            <a:noFill/>
            <a:extLst>
              <a:ext uri="{909E8E84-426E-40DD-AFC4-6F175D3DCCD1}">
                <a14:hiddenFill xmlns:a14="http://schemas.microsoft.com/office/drawing/2010/main">
                  <a:solidFill>
                    <a:srgbClr val="FFFFFF"/>
                  </a:solidFill>
                </a14:hiddenFill>
              </a:ext>
            </a:extLst>
          </p:spPr>
        </p:pic>
        <p:sp>
          <p:nvSpPr>
            <p:cNvPr id="23559" name="Text Box 7"/>
            <p:cNvSpPr txBox="1">
              <a:spLocks noChangeArrowheads="1"/>
            </p:cNvSpPr>
            <p:nvPr/>
          </p:nvSpPr>
          <p:spPr bwMode="auto">
            <a:xfrm>
              <a:off x="2399" y="1160"/>
              <a:ext cx="1643"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500">
                  <a:solidFill>
                    <a:srgbClr val="FFFFFF"/>
                  </a:solidFill>
                  <a:latin typeface="Calibri" panose="020F0502020204030204" pitchFamily="34" charset="0"/>
                </a:rPr>
                <a:t>Strategic intent</a:t>
              </a:r>
            </a:p>
            <a:p>
              <a:pPr algn="ctr"/>
              <a:r>
                <a:rPr lang="en-US" altLang="en-US" sz="1500">
                  <a:solidFill>
                    <a:srgbClr val="FFFFFF"/>
                  </a:solidFill>
                  <a:latin typeface="Calibri" panose="020F0502020204030204" pitchFamily="34" charset="0"/>
                </a:rPr>
                <a:t>Vision of what you want to be</a:t>
              </a:r>
            </a:p>
          </p:txBody>
        </p:sp>
      </p:grpSp>
      <p:grpSp>
        <p:nvGrpSpPr>
          <p:cNvPr id="7" name="Oval 6"/>
          <p:cNvGrpSpPr>
            <a:grpSpLocks/>
          </p:cNvGrpSpPr>
          <p:nvPr/>
        </p:nvGrpSpPr>
        <p:grpSpPr bwMode="auto">
          <a:xfrm>
            <a:off x="7048500" y="3517900"/>
            <a:ext cx="2755900" cy="1143000"/>
            <a:chOff x="4440" y="2216"/>
            <a:chExt cx="1736" cy="720"/>
          </a:xfrm>
        </p:grpSpPr>
        <p:pic>
          <p:nvPicPr>
            <p:cNvPr id="23561" name="Oval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0" y="2216"/>
              <a:ext cx="1736" cy="720"/>
            </a:xfrm>
            <a:prstGeom prst="rect">
              <a:avLst/>
            </a:prstGeom>
            <a:noFill/>
            <a:extLst>
              <a:ext uri="{909E8E84-426E-40DD-AFC4-6F175D3DCCD1}">
                <a14:hiddenFill xmlns:a14="http://schemas.microsoft.com/office/drawing/2010/main">
                  <a:solidFill>
                    <a:srgbClr val="FFFFFF"/>
                  </a:solidFill>
                </a14:hiddenFill>
              </a:ext>
            </a:extLst>
          </p:spPr>
        </p:pic>
        <p:sp>
          <p:nvSpPr>
            <p:cNvPr id="23562" name="Text Box 10"/>
            <p:cNvSpPr txBox="1">
              <a:spLocks noChangeArrowheads="1"/>
            </p:cNvSpPr>
            <p:nvPr/>
          </p:nvSpPr>
          <p:spPr bwMode="auto">
            <a:xfrm>
              <a:off x="4728" y="2322"/>
              <a:ext cx="115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500">
                  <a:solidFill>
                    <a:srgbClr val="FFFFFF"/>
                  </a:solidFill>
                  <a:latin typeface="Calibri" panose="020F0502020204030204" pitchFamily="34" charset="0"/>
                </a:rPr>
                <a:t>Company values</a:t>
              </a:r>
            </a:p>
            <a:p>
              <a:pPr algn="ctr"/>
              <a:r>
                <a:rPr lang="en-US" altLang="en-US" sz="1500">
                  <a:solidFill>
                    <a:srgbClr val="FFFFFF"/>
                  </a:solidFill>
                  <a:latin typeface="Calibri" panose="020F0502020204030204" pitchFamily="34" charset="0"/>
                </a:rPr>
                <a:t>Guiding principles</a:t>
              </a:r>
            </a:p>
          </p:txBody>
        </p:sp>
      </p:grpSp>
      <p:grpSp>
        <p:nvGrpSpPr>
          <p:cNvPr id="8" name="Oval 7"/>
          <p:cNvGrpSpPr>
            <a:grpSpLocks/>
          </p:cNvGrpSpPr>
          <p:nvPr/>
        </p:nvGrpSpPr>
        <p:grpSpPr bwMode="auto">
          <a:xfrm>
            <a:off x="1600200" y="5702300"/>
            <a:ext cx="3175000" cy="1130300"/>
            <a:chOff x="1008" y="3592"/>
            <a:chExt cx="2000" cy="712"/>
          </a:xfrm>
        </p:grpSpPr>
        <p:pic>
          <p:nvPicPr>
            <p:cNvPr id="23564" name="Oval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8" y="3592"/>
              <a:ext cx="2000" cy="712"/>
            </a:xfrm>
            <a:prstGeom prst="rect">
              <a:avLst/>
            </a:prstGeom>
            <a:noFill/>
            <a:extLst>
              <a:ext uri="{909E8E84-426E-40DD-AFC4-6F175D3DCCD1}">
                <a14:hiddenFill xmlns:a14="http://schemas.microsoft.com/office/drawing/2010/main">
                  <a:solidFill>
                    <a:srgbClr val="FFFFFF"/>
                  </a:solidFill>
                </a14:hiddenFill>
              </a:ext>
            </a:extLst>
          </p:spPr>
        </p:pic>
        <p:sp>
          <p:nvSpPr>
            <p:cNvPr id="23565" name="Text Box 13"/>
            <p:cNvSpPr txBox="1">
              <a:spLocks noChangeArrowheads="1"/>
            </p:cNvSpPr>
            <p:nvPr/>
          </p:nvSpPr>
          <p:spPr bwMode="auto">
            <a:xfrm>
              <a:off x="1334" y="3695"/>
              <a:ext cx="1344" cy="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500">
                  <a:solidFill>
                    <a:srgbClr val="FFFFFF"/>
                  </a:solidFill>
                  <a:latin typeface="Calibri" panose="020F0502020204030204" pitchFamily="34" charset="0"/>
                </a:rPr>
                <a:t>Competitive positioning</a:t>
              </a:r>
            </a:p>
            <a:p>
              <a:pPr algn="ctr"/>
              <a:r>
                <a:rPr lang="en-US" altLang="en-US" sz="1500">
                  <a:solidFill>
                    <a:srgbClr val="FFFFFF"/>
                  </a:solidFill>
                  <a:latin typeface="Calibri" panose="020F0502020204030204" pitchFamily="34" charset="0"/>
                </a:rPr>
                <a:t>Differential advantage</a:t>
              </a:r>
            </a:p>
          </p:txBody>
        </p:sp>
      </p:grpSp>
      <p:grpSp>
        <p:nvGrpSpPr>
          <p:cNvPr id="9" name="Oval 8"/>
          <p:cNvGrpSpPr>
            <a:grpSpLocks/>
          </p:cNvGrpSpPr>
          <p:nvPr/>
        </p:nvGrpSpPr>
        <p:grpSpPr bwMode="auto">
          <a:xfrm>
            <a:off x="5537200" y="5702300"/>
            <a:ext cx="3175000" cy="1130300"/>
            <a:chOff x="3488" y="3592"/>
            <a:chExt cx="2000" cy="712"/>
          </a:xfrm>
        </p:grpSpPr>
        <p:pic>
          <p:nvPicPr>
            <p:cNvPr id="23567" name="Oval 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88" y="3592"/>
              <a:ext cx="2000" cy="712"/>
            </a:xfrm>
            <a:prstGeom prst="rect">
              <a:avLst/>
            </a:prstGeom>
            <a:noFill/>
            <a:extLst>
              <a:ext uri="{909E8E84-426E-40DD-AFC4-6F175D3DCCD1}">
                <a14:hiddenFill xmlns:a14="http://schemas.microsoft.com/office/drawing/2010/main">
                  <a:solidFill>
                    <a:srgbClr val="FFFFFF"/>
                  </a:solidFill>
                </a14:hiddenFill>
              </a:ext>
            </a:extLst>
          </p:spPr>
        </p:pic>
        <p:sp>
          <p:nvSpPr>
            <p:cNvPr id="23568" name="Text Box 16"/>
            <p:cNvSpPr txBox="1">
              <a:spLocks noChangeArrowheads="1"/>
            </p:cNvSpPr>
            <p:nvPr/>
          </p:nvSpPr>
          <p:spPr bwMode="auto">
            <a:xfrm>
              <a:off x="3816" y="3695"/>
              <a:ext cx="1344" cy="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500">
                  <a:solidFill>
                    <a:srgbClr val="FFFFFF"/>
                  </a:solidFill>
                  <a:latin typeface="Calibri" panose="020F0502020204030204" pitchFamily="34" charset="0"/>
                </a:rPr>
                <a:t>Distinctive competencies</a:t>
              </a:r>
            </a:p>
            <a:p>
              <a:pPr algn="ctr"/>
              <a:r>
                <a:rPr lang="en-US" altLang="en-US" sz="1500">
                  <a:solidFill>
                    <a:srgbClr val="FFFFFF"/>
                  </a:solidFill>
                  <a:latin typeface="Calibri" panose="020F0502020204030204" pitchFamily="34" charset="0"/>
                </a:rPr>
                <a:t>Core skills</a:t>
              </a:r>
            </a:p>
          </p:txBody>
        </p:sp>
      </p:grpSp>
      <p:sp>
        <p:nvSpPr>
          <p:cNvPr id="10" name="Rounded Rectangle 9"/>
          <p:cNvSpPr/>
          <p:nvPr/>
        </p:nvSpPr>
        <p:spPr>
          <a:xfrm>
            <a:off x="3939540" y="3634740"/>
            <a:ext cx="2346960" cy="838200"/>
          </a:xfrm>
          <a:prstGeom prst="roundRect">
            <a:avLst/>
          </a:prstGeom>
          <a:effectLst>
            <a:outerShdw blurRad="50800" dist="101600" dir="5400000" algn="ctr" rotWithShape="0">
              <a:srgbClr val="000000">
                <a:alpha val="22000"/>
              </a:srgbClr>
            </a:outerShdw>
          </a:effectLst>
          <a:scene3d>
            <a:camera prst="orthographicFront"/>
            <a:lightRig rig="soft" dir="t"/>
          </a:scene3d>
          <a:sp3d prstMaterial="metal">
            <a:bevelT w="139700" h="114300"/>
            <a:bevelB w="1270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540" dirty="0"/>
              <a:t>Mission</a:t>
            </a:r>
          </a:p>
          <a:p>
            <a:pPr algn="ctr">
              <a:defRPr/>
            </a:pPr>
            <a:r>
              <a:rPr lang="en-US" sz="1540" dirty="0"/>
              <a:t>Objectives and strategy</a:t>
            </a:r>
          </a:p>
        </p:txBody>
      </p:sp>
      <p:sp>
        <p:nvSpPr>
          <p:cNvPr id="11" name="Oval 10"/>
          <p:cNvSpPr>
            <a:spLocks noChangeArrowheads="1"/>
          </p:cNvSpPr>
          <p:nvPr/>
        </p:nvSpPr>
        <p:spPr bwMode="auto">
          <a:xfrm>
            <a:off x="334963" y="1371600"/>
            <a:ext cx="9555162" cy="5951538"/>
          </a:xfrm>
          <a:prstGeom prst="ellipse">
            <a:avLst/>
          </a:prstGeom>
          <a:noFill/>
          <a:ln w="19050" algn="ctr">
            <a:solidFill>
              <a:schemeClr val="tx1"/>
            </a:solidFill>
            <a:round/>
            <a:headEnd/>
            <a:tailEnd/>
          </a:ln>
          <a:effectLst>
            <a:outerShdw blurRad="50800" dist="76201" dir="2700000" algn="tl" rotWithShape="0">
              <a:srgbClr val="000000">
                <a:alpha val="39999"/>
              </a:srgbClr>
            </a:outerShdw>
          </a:effectLst>
        </p:spPr>
        <p:txBody>
          <a:bodyPr anchor="ctr"/>
          <a:lstStyle/>
          <a:p>
            <a:pPr algn="ctr">
              <a:defRPr/>
            </a:pPr>
            <a:endParaRPr lang="en-US" sz="2640">
              <a:solidFill>
                <a:schemeClr val="lt1"/>
              </a:solidFill>
              <a:latin typeface="+mn-lt"/>
            </a:endParaRPr>
          </a:p>
        </p:txBody>
      </p:sp>
      <p:cxnSp>
        <p:nvCxnSpPr>
          <p:cNvPr id="13" name="Straight Arrow Connector 12"/>
          <p:cNvCxnSpPr/>
          <p:nvPr/>
        </p:nvCxnSpPr>
        <p:spPr>
          <a:xfrm rot="5400000">
            <a:off x="4694238" y="3132137"/>
            <a:ext cx="838200" cy="3175"/>
          </a:xfrm>
          <a:prstGeom prst="straightConnector1">
            <a:avLst/>
          </a:prstGeom>
          <a:ln w="25400">
            <a:headEnd type="arrow"/>
            <a:tailEnd type="arrow"/>
          </a:ln>
        </p:spPr>
        <p:style>
          <a:lnRef idx="1">
            <a:schemeClr val="dk1"/>
          </a:lnRef>
          <a:fillRef idx="0">
            <a:schemeClr val="dk1"/>
          </a:fillRef>
          <a:effectRef idx="0">
            <a:schemeClr val="dk1"/>
          </a:effectRef>
          <a:fontRef idx="minor">
            <a:schemeClr val="tx1"/>
          </a:fontRef>
        </p:style>
      </p:cxnSp>
      <p:cxnSp>
        <p:nvCxnSpPr>
          <p:cNvPr id="14" name="Straight Arrow Connector 13"/>
          <p:cNvCxnSpPr/>
          <p:nvPr/>
        </p:nvCxnSpPr>
        <p:spPr>
          <a:xfrm rot="10800000">
            <a:off x="3268663" y="4054475"/>
            <a:ext cx="588962" cy="1588"/>
          </a:xfrm>
          <a:prstGeom prst="straightConnector1">
            <a:avLst/>
          </a:prstGeom>
          <a:ln w="25400">
            <a:headEnd type="arrow"/>
            <a:tailEnd type="arrow"/>
          </a:ln>
        </p:spPr>
        <p:style>
          <a:lnRef idx="1">
            <a:schemeClr val="dk1"/>
          </a:lnRef>
          <a:fillRef idx="0">
            <a:schemeClr val="dk1"/>
          </a:fillRef>
          <a:effectRef idx="0">
            <a:schemeClr val="dk1"/>
          </a:effectRef>
          <a:fontRef idx="minor">
            <a:schemeClr val="tx1"/>
          </a:fontRef>
        </p:style>
      </p:cxnSp>
      <p:cxnSp>
        <p:nvCxnSpPr>
          <p:cNvPr id="16" name="Straight Arrow Connector 15"/>
          <p:cNvCxnSpPr/>
          <p:nvPr/>
        </p:nvCxnSpPr>
        <p:spPr>
          <a:xfrm rot="10800000">
            <a:off x="6369050" y="4054475"/>
            <a:ext cx="587375" cy="1588"/>
          </a:xfrm>
          <a:prstGeom prst="straightConnector1">
            <a:avLst/>
          </a:prstGeom>
          <a:ln w="25400">
            <a:headEnd type="arrow"/>
            <a:tailEnd type="arrow"/>
          </a:ln>
        </p:spPr>
        <p:style>
          <a:lnRef idx="1">
            <a:schemeClr val="dk1"/>
          </a:lnRef>
          <a:fillRef idx="0">
            <a:schemeClr val="dk1"/>
          </a:fillRef>
          <a:effectRef idx="0">
            <a:schemeClr val="dk1"/>
          </a:effectRef>
          <a:fontRef idx="minor">
            <a:schemeClr val="tx1"/>
          </a:fontRef>
        </p:style>
      </p:cxnSp>
      <p:cxnSp>
        <p:nvCxnSpPr>
          <p:cNvPr id="17" name="Straight Arrow Connector 16"/>
          <p:cNvCxnSpPr/>
          <p:nvPr/>
        </p:nvCxnSpPr>
        <p:spPr>
          <a:xfrm rot="16200000" flipV="1">
            <a:off x="1635125" y="4933950"/>
            <a:ext cx="838200" cy="419100"/>
          </a:xfrm>
          <a:prstGeom prst="straightConnector1">
            <a:avLst/>
          </a:prstGeom>
          <a:ln w="25400">
            <a:headEnd type="arrow"/>
            <a:tailEnd type="arrow"/>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rot="5400000" flipH="1" flipV="1">
            <a:off x="7753350" y="4933950"/>
            <a:ext cx="838200" cy="419100"/>
          </a:xfrm>
          <a:prstGeom prst="straightConnector1">
            <a:avLst/>
          </a:prstGeom>
          <a:ln w="25400">
            <a:headEnd type="arrow"/>
            <a:tailEnd type="arrow"/>
          </a:ln>
        </p:spPr>
        <p:style>
          <a:lnRef idx="1">
            <a:schemeClr val="dk1"/>
          </a:lnRef>
          <a:fillRef idx="0">
            <a:schemeClr val="dk1"/>
          </a:fillRef>
          <a:effectRef idx="0">
            <a:schemeClr val="dk1"/>
          </a:effectRef>
          <a:fontRef idx="minor">
            <a:schemeClr val="tx1"/>
          </a:fontRef>
        </p:style>
      </p:cxnSp>
      <p:cxnSp>
        <p:nvCxnSpPr>
          <p:cNvPr id="22" name="Straight Arrow Connector 21"/>
          <p:cNvCxnSpPr>
            <a:stCxn id="0" idx="2"/>
            <a:endCxn id="8" idx="6"/>
          </p:cNvCxnSpPr>
          <p:nvPr/>
        </p:nvCxnSpPr>
        <p:spPr>
          <a:xfrm rot="10800000">
            <a:off x="4694238" y="6191250"/>
            <a:ext cx="922337" cy="1588"/>
          </a:xfrm>
          <a:prstGeom prst="straightConnector1">
            <a:avLst/>
          </a:prstGeom>
          <a:ln w="25400">
            <a:headEnd type="arrow"/>
            <a:tailEnd type="arrow"/>
          </a:ln>
        </p:spPr>
        <p:style>
          <a:lnRef idx="1">
            <a:schemeClr val="dk1"/>
          </a:lnRef>
          <a:fillRef idx="0">
            <a:schemeClr val="dk1"/>
          </a:fillRef>
          <a:effectRef idx="0">
            <a:schemeClr val="dk1"/>
          </a:effectRef>
          <a:fontRef idx="minor">
            <a:schemeClr val="tx1"/>
          </a:fontRef>
        </p:style>
      </p:cxnSp>
      <p:cxnSp>
        <p:nvCxnSpPr>
          <p:cNvPr id="24" name="Straight Arrow Connector 23"/>
          <p:cNvCxnSpPr/>
          <p:nvPr/>
        </p:nvCxnSpPr>
        <p:spPr>
          <a:xfrm rot="5400000">
            <a:off x="4023519" y="4807744"/>
            <a:ext cx="669925" cy="671513"/>
          </a:xfrm>
          <a:prstGeom prst="straightConnector1">
            <a:avLst/>
          </a:prstGeom>
          <a:ln w="25400">
            <a:headEnd type="arrow"/>
            <a:tailEnd type="arrow"/>
          </a:ln>
        </p:spPr>
        <p:style>
          <a:lnRef idx="1">
            <a:schemeClr val="dk1"/>
          </a:lnRef>
          <a:fillRef idx="0">
            <a:schemeClr val="dk1"/>
          </a:fillRef>
          <a:effectRef idx="0">
            <a:schemeClr val="dk1"/>
          </a:effectRef>
          <a:fontRef idx="minor">
            <a:schemeClr val="tx1"/>
          </a:fontRef>
        </p:style>
      </p:cxnSp>
      <p:cxnSp>
        <p:nvCxnSpPr>
          <p:cNvPr id="26" name="Straight Arrow Connector 25"/>
          <p:cNvCxnSpPr/>
          <p:nvPr/>
        </p:nvCxnSpPr>
        <p:spPr>
          <a:xfrm rot="16200000" flipH="1">
            <a:off x="5364957" y="4891881"/>
            <a:ext cx="754062" cy="587375"/>
          </a:xfrm>
          <a:prstGeom prst="straightConnector1">
            <a:avLst/>
          </a:prstGeom>
          <a:ln w="25400">
            <a:headEnd type="arrow"/>
            <a:tailEnd type="arrow"/>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a:xfrm>
            <a:off x="949325" y="533400"/>
            <a:ext cx="8083550" cy="647700"/>
          </a:xfrm>
        </p:spPr>
        <p:txBody>
          <a:bodyPr/>
          <a:lstStyle/>
          <a:p>
            <a:pPr eaLnBrk="1" hangingPunct="1"/>
            <a:r>
              <a:rPr lang="en-US" altLang="en-US" sz="4000" b="1" smtClean="0"/>
              <a:t>Designing the Business Portfolio</a:t>
            </a:r>
          </a:p>
        </p:txBody>
      </p:sp>
      <p:sp>
        <p:nvSpPr>
          <p:cNvPr id="5123" name="Rectangle 3"/>
          <p:cNvSpPr>
            <a:spLocks noGrp="1" noChangeArrowheads="1"/>
          </p:cNvSpPr>
          <p:nvPr>
            <p:ph idx="1"/>
          </p:nvPr>
        </p:nvSpPr>
        <p:spPr>
          <a:xfrm>
            <a:off x="0" y="1447800"/>
            <a:ext cx="10058400" cy="6324600"/>
          </a:xfrm>
        </p:spPr>
        <p:txBody>
          <a:bodyPr lIns="90488" tIns="44450" rIns="90488" bIns="44450" rtlCol="0">
            <a:normAutofit/>
          </a:bodyPr>
          <a:lstStyle/>
          <a:p>
            <a:pPr marL="188595" indent="-188595" algn="just" defTabSz="754380" eaLnBrk="1" fontAlgn="auto" hangingPunct="1">
              <a:spcAft>
                <a:spcPts val="0"/>
              </a:spcAft>
              <a:buClr>
                <a:schemeClr val="accent1"/>
              </a:buClr>
              <a:defRPr/>
            </a:pPr>
            <a:r>
              <a:rPr lang="en-US" altLang="en-US" sz="2800" dirty="0"/>
              <a:t>The collection of businesses and products/services that make up the company. </a:t>
            </a:r>
          </a:p>
          <a:p>
            <a:pPr marL="566420" lvl="1" indent="-188595" algn="just" defTabSz="754380" eaLnBrk="1" fontAlgn="auto" hangingPunct="1">
              <a:spcAft>
                <a:spcPts val="0"/>
              </a:spcAft>
              <a:buClr>
                <a:schemeClr val="accent1"/>
              </a:buClr>
              <a:defRPr/>
            </a:pPr>
            <a:r>
              <a:rPr lang="en-US" altLang="en-US" sz="2400" dirty="0"/>
              <a:t>Meta: Facebook, Instagram and WhatsApp</a:t>
            </a:r>
          </a:p>
          <a:p>
            <a:pPr marL="566420" lvl="1" indent="-188595" algn="just" defTabSz="754380" eaLnBrk="1" fontAlgn="auto" hangingPunct="1">
              <a:spcAft>
                <a:spcPts val="0"/>
              </a:spcAft>
              <a:buClr>
                <a:schemeClr val="accent1"/>
              </a:buClr>
              <a:defRPr/>
            </a:pPr>
            <a:r>
              <a:rPr lang="en-US" altLang="en-US" sz="2400" dirty="0"/>
              <a:t>Apple: iPhone, iPad, iPod, MAC and iWatch</a:t>
            </a:r>
          </a:p>
          <a:p>
            <a:pPr marL="188595" indent="-188595" algn="just" defTabSz="754380" eaLnBrk="1" fontAlgn="auto" hangingPunct="1">
              <a:spcAft>
                <a:spcPts val="0"/>
              </a:spcAft>
              <a:buClr>
                <a:schemeClr val="accent1"/>
              </a:buClr>
              <a:defRPr/>
            </a:pPr>
            <a:r>
              <a:rPr lang="en-US" altLang="en-US" sz="2800" dirty="0"/>
              <a:t>The best portfolio is the one that best fits the company’s strengths and weaknesses to the opportunities in the environment.</a:t>
            </a:r>
          </a:p>
          <a:p>
            <a:pPr marL="188595" indent="-188595" defTabSz="754380" eaLnBrk="1" fontAlgn="auto" hangingPunct="1">
              <a:spcAft>
                <a:spcPts val="0"/>
              </a:spcAft>
              <a:buClr>
                <a:schemeClr val="accent1"/>
              </a:buClr>
              <a:defRPr/>
            </a:pPr>
            <a:r>
              <a:rPr lang="en-US" altLang="en-US" sz="3200" dirty="0"/>
              <a:t>Analyzing the current business portfolio:</a:t>
            </a:r>
            <a:r>
              <a:rPr lang="en-US" altLang="en-US" sz="2800" dirty="0"/>
              <a:t>	</a:t>
            </a:r>
          </a:p>
          <a:p>
            <a:pPr marL="565785" lvl="1" indent="-188595" algn="just" defTabSz="754380" eaLnBrk="1" fontAlgn="auto" hangingPunct="1">
              <a:spcAft>
                <a:spcPts val="0"/>
              </a:spcAft>
              <a:defRPr/>
            </a:pPr>
            <a:r>
              <a:rPr lang="en-US" altLang="en-US" sz="1980" dirty="0"/>
              <a:t>analyze its </a:t>
            </a:r>
            <a:r>
              <a:rPr lang="en-US" altLang="en-US" sz="1980" i="1" u="sng" dirty="0"/>
              <a:t>current</a:t>
            </a:r>
            <a:r>
              <a:rPr lang="en-US" altLang="en-US" sz="1980" i="1" dirty="0"/>
              <a:t> </a:t>
            </a:r>
            <a:r>
              <a:rPr lang="en-US" altLang="en-US" sz="1980" dirty="0"/>
              <a:t>business portfolio or Strategic Business Units (</a:t>
            </a:r>
            <a:r>
              <a:rPr lang="en-US" altLang="en-US" sz="1980" dirty="0" err="1"/>
              <a:t>SBU’s</a:t>
            </a:r>
            <a:r>
              <a:rPr lang="en-US" altLang="en-US" sz="1980" dirty="0"/>
              <a:t>)</a:t>
            </a:r>
          </a:p>
          <a:p>
            <a:pPr marL="565785" lvl="1" indent="-188595" algn="just" defTabSz="754380" eaLnBrk="1" fontAlgn="auto" hangingPunct="1">
              <a:spcAft>
                <a:spcPts val="0"/>
              </a:spcAft>
              <a:defRPr/>
            </a:pPr>
            <a:r>
              <a:rPr lang="en-US" altLang="en-US" sz="1980" dirty="0"/>
              <a:t>decide which </a:t>
            </a:r>
            <a:r>
              <a:rPr lang="en-US" altLang="en-US" sz="1980" dirty="0" err="1"/>
              <a:t>SBU’s</a:t>
            </a:r>
            <a:r>
              <a:rPr lang="en-US" altLang="en-US" sz="1980" dirty="0"/>
              <a:t> should receive more, less, or no investment</a:t>
            </a:r>
          </a:p>
          <a:p>
            <a:pPr marL="565785" lvl="1" indent="-188595" algn="just" defTabSz="754380" eaLnBrk="1" fontAlgn="auto" hangingPunct="1">
              <a:spcAft>
                <a:spcPts val="0"/>
              </a:spcAft>
              <a:defRPr/>
            </a:pPr>
            <a:r>
              <a:rPr lang="en-US" altLang="en-US" sz="1980" dirty="0"/>
              <a:t>develop growth strategies for adding </a:t>
            </a:r>
            <a:r>
              <a:rPr lang="en-US" altLang="en-US" sz="1980" i="1" u="sng" dirty="0"/>
              <a:t>new</a:t>
            </a:r>
            <a:r>
              <a:rPr lang="en-US" altLang="en-US" sz="1980" i="1" dirty="0"/>
              <a:t> </a:t>
            </a:r>
            <a:r>
              <a:rPr lang="en-US" altLang="en-US" sz="1980" dirty="0"/>
              <a:t>products or businesses to the portfolio</a:t>
            </a:r>
          </a:p>
        </p:txBody>
      </p:sp>
    </p:spTree>
  </p:cSld>
  <p:clrMapOvr>
    <a:masterClrMapping/>
  </p:clrMapOvr>
  <p:transition spd="slow">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Number Placeholder 3"/>
          <p:cNvSpPr>
            <a:spLocks noGrp="1"/>
          </p:cNvSpPr>
          <p:nvPr>
            <p:ph type="sldNum" sz="quarter" idx="12"/>
          </p:nvPr>
        </p:nvSpPr>
        <p:spPr bwMode="auto">
          <a:xfrm>
            <a:off x="7712075" y="7070725"/>
            <a:ext cx="2095500"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815975" indent="-314325">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1257300" indent="-250825">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1758950" indent="-250825">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2262188" indent="-250825">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27193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31765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6337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40909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900">
                <a:latin typeface="Arial" panose="020B0604020202020204" pitchFamily="34" charset="0"/>
                <a:cs typeface="Arial" panose="020B0604020202020204" pitchFamily="34" charset="0"/>
              </a:rPr>
              <a:t>1-</a:t>
            </a:r>
            <a:fld id="{36E71C06-BA23-4DC7-901E-6737F42E79E8}" type="slidenum">
              <a:rPr lang="ar-SA" altLang="en-US" sz="900">
                <a:latin typeface="Arial" panose="020B0604020202020204" pitchFamily="34" charset="0"/>
                <a:cs typeface="Times New Roman" panose="02020603050405020304" pitchFamily="18" charset="0"/>
              </a:rPr>
              <a:pPr eaLnBrk="1" hangingPunct="1">
                <a:lnSpc>
                  <a:spcPct val="100000"/>
                </a:lnSpc>
                <a:spcBef>
                  <a:spcPct val="0"/>
                </a:spcBef>
                <a:buFontTx/>
                <a:buNone/>
              </a:pPr>
              <a:t>9</a:t>
            </a:fld>
            <a:endParaRPr lang="en-US" altLang="en-US" sz="900">
              <a:latin typeface="Arial" panose="020B0604020202020204" pitchFamily="34" charset="0"/>
              <a:cs typeface="Arial" panose="020B0604020202020204" pitchFamily="34" charset="0"/>
            </a:endParaRPr>
          </a:p>
        </p:txBody>
      </p:sp>
      <p:sp>
        <p:nvSpPr>
          <p:cNvPr id="58371" name="Rectangle 7"/>
          <p:cNvSpPr>
            <a:spLocks noChangeArrowheads="1"/>
          </p:cNvSpPr>
          <p:nvPr/>
        </p:nvSpPr>
        <p:spPr bwMode="auto">
          <a:xfrm>
            <a:off x="304800" y="746125"/>
            <a:ext cx="8716963" cy="635000"/>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r>
              <a:rPr lang="en-US" altLang="en-US" sz="3520" dirty="0"/>
              <a:t>Strategic Business Units</a:t>
            </a:r>
          </a:p>
        </p:txBody>
      </p:sp>
      <p:sp>
        <p:nvSpPr>
          <p:cNvPr id="9" name="Rectangle 8"/>
          <p:cNvSpPr/>
          <p:nvPr/>
        </p:nvSpPr>
        <p:spPr>
          <a:xfrm>
            <a:off x="533400" y="1617663"/>
            <a:ext cx="8945563" cy="4511675"/>
          </a:xfrm>
          <a:prstGeom prst="rect">
            <a:avLst/>
          </a:prstGeom>
        </p:spPr>
        <p:txBody>
          <a:bodyPr>
            <a:spAutoFit/>
          </a:bodyPr>
          <a:lstStyle/>
          <a:p>
            <a:pPr marL="457200" indent="-457200" algn="just">
              <a:buFont typeface="Wingdings" panose="05000000000000000000" pitchFamily="2" charset="2"/>
              <a:buChar char="ü"/>
              <a:defRPr/>
            </a:pPr>
            <a:r>
              <a:rPr lang="en-US" sz="2800" dirty="0">
                <a:cs typeface="Times New Roman" panose="02020603050405020304" pitchFamily="18" charset="0"/>
              </a:rPr>
              <a:t>A strategic business unit, popularly known as SBU, is a fully-functional unit of a business that has its own vision and direction. </a:t>
            </a:r>
          </a:p>
          <a:p>
            <a:pPr marL="457200" indent="-457200" algn="just">
              <a:buFont typeface="Wingdings" panose="05000000000000000000" pitchFamily="2" charset="2"/>
              <a:buChar char="ü"/>
              <a:defRPr/>
            </a:pPr>
            <a:r>
              <a:rPr lang="en-US" sz="2800" dirty="0">
                <a:cs typeface="Times New Roman" panose="02020603050405020304" pitchFamily="18" charset="0"/>
              </a:rPr>
              <a:t>Typically, a strategic business unit operates as a separate unit, but it is also an important part of the company. It reports to the headquarters about its operational status. </a:t>
            </a:r>
          </a:p>
          <a:p>
            <a:pPr marL="457200" indent="-457200">
              <a:buFont typeface="Wingdings" panose="05000000000000000000" pitchFamily="2" charset="2"/>
              <a:buChar char="ü"/>
              <a:defRPr/>
            </a:pPr>
            <a:r>
              <a:rPr lang="en-US" sz="2800" dirty="0">
                <a:cs typeface="Times New Roman" panose="02020603050405020304" pitchFamily="18" charset="0"/>
              </a:rPr>
              <a:t>The purpose of identifying the company's strategic business units is to develop separate strategies and assign appropriate funding. </a:t>
            </a:r>
          </a:p>
          <a:p>
            <a:pPr marL="377190" indent="-377190">
              <a:defRPr/>
            </a:pPr>
            <a:endParaRPr lang="en-US" sz="3520" dirty="0">
              <a:latin typeface="Arial" charset="0"/>
              <a:cs typeface="Arial" charset="0"/>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Number Placeholder 3"/>
          <p:cNvSpPr>
            <a:spLocks noGrp="1"/>
          </p:cNvSpPr>
          <p:nvPr>
            <p:ph type="sldNum" sz="quarter" idx="12"/>
          </p:nvPr>
        </p:nvSpPr>
        <p:spPr bwMode="auto">
          <a:xfrm>
            <a:off x="7712075" y="7070725"/>
            <a:ext cx="2095500"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815975" indent="-314325">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1257300" indent="-250825">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1758950" indent="-250825">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2262188" indent="-250825">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27193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31765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36337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4090988" indent="-250825"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900">
                <a:latin typeface="Arial" panose="020B0604020202020204" pitchFamily="34" charset="0"/>
                <a:cs typeface="Arial" panose="020B0604020202020204" pitchFamily="34" charset="0"/>
              </a:rPr>
              <a:t>1-</a:t>
            </a:r>
            <a:fld id="{768EA70C-5538-455C-B509-5C8BCB6647CB}" type="slidenum">
              <a:rPr lang="ar-SA" altLang="en-US" sz="900">
                <a:latin typeface="Arial" panose="020B0604020202020204" pitchFamily="34" charset="0"/>
                <a:cs typeface="Times New Roman" panose="02020603050405020304" pitchFamily="18" charset="0"/>
              </a:rPr>
              <a:pPr eaLnBrk="1" hangingPunct="1">
                <a:lnSpc>
                  <a:spcPct val="100000"/>
                </a:lnSpc>
                <a:spcBef>
                  <a:spcPct val="0"/>
                </a:spcBef>
                <a:buFontTx/>
                <a:buNone/>
              </a:pPr>
              <a:t>10</a:t>
            </a:fld>
            <a:endParaRPr lang="en-US" altLang="en-US" sz="900">
              <a:latin typeface="Arial" panose="020B0604020202020204" pitchFamily="34" charset="0"/>
              <a:cs typeface="Arial" panose="020B0604020202020204" pitchFamily="34" charset="0"/>
            </a:endParaRPr>
          </a:p>
        </p:txBody>
      </p:sp>
      <p:sp>
        <p:nvSpPr>
          <p:cNvPr id="59395" name="Rectangle 7"/>
          <p:cNvSpPr>
            <a:spLocks noChangeArrowheads="1"/>
          </p:cNvSpPr>
          <p:nvPr/>
        </p:nvSpPr>
        <p:spPr bwMode="auto">
          <a:xfrm>
            <a:off x="838200" y="449263"/>
            <a:ext cx="8716963" cy="1176337"/>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sz="3520" dirty="0"/>
          </a:p>
          <a:p>
            <a:pPr algn="ctr" eaLnBrk="1" hangingPunct="1">
              <a:defRPr/>
            </a:pPr>
            <a:r>
              <a:rPr lang="en-US" altLang="en-US" sz="3520" dirty="0"/>
              <a:t>SBU has four characteristics: </a:t>
            </a:r>
          </a:p>
        </p:txBody>
      </p:sp>
      <p:sp>
        <p:nvSpPr>
          <p:cNvPr id="59396" name="Rectangle 8"/>
          <p:cNvSpPr>
            <a:spLocks noChangeArrowheads="1"/>
          </p:cNvSpPr>
          <p:nvPr/>
        </p:nvSpPr>
        <p:spPr bwMode="auto">
          <a:xfrm>
            <a:off x="533400" y="1790700"/>
            <a:ext cx="9021763" cy="3341688"/>
          </a:xfrm>
          <a:prstGeom prst="rect">
            <a:avLst/>
          </a:prstGeom>
          <a:noFill/>
          <a:ln>
            <a:noFill/>
          </a:ln>
        </p:spPr>
        <p:txBody>
          <a:bodyPr>
            <a:spAutoFit/>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571500" indent="-571500" eaLnBrk="1" hangingPunct="1">
              <a:buFont typeface="Wingdings" panose="05000000000000000000" pitchFamily="2" charset="2"/>
              <a:buChar char="ü"/>
              <a:defRPr/>
            </a:pPr>
            <a:r>
              <a:rPr lang="en-US" altLang="en-US" sz="3520" dirty="0"/>
              <a:t> A distinct mission and specific target market</a:t>
            </a:r>
          </a:p>
          <a:p>
            <a:pPr marL="571500" indent="-571500" eaLnBrk="1" hangingPunct="1">
              <a:buFont typeface="Wingdings" panose="05000000000000000000" pitchFamily="2" charset="2"/>
              <a:buChar char="ü"/>
              <a:defRPr/>
            </a:pPr>
            <a:r>
              <a:rPr lang="en-US" altLang="en-US" sz="3520" dirty="0"/>
              <a:t>Control over its resources</a:t>
            </a:r>
          </a:p>
          <a:p>
            <a:pPr marL="571500" indent="-571500" eaLnBrk="1" hangingPunct="1">
              <a:buFont typeface="Wingdings" panose="05000000000000000000" pitchFamily="2" charset="2"/>
              <a:buChar char="ü"/>
              <a:defRPr/>
            </a:pPr>
            <a:r>
              <a:rPr lang="en-US" altLang="en-US" sz="3520" dirty="0"/>
              <a:t> It has its own set of competitors. </a:t>
            </a:r>
          </a:p>
          <a:p>
            <a:pPr marL="571500" indent="-571500" eaLnBrk="1" hangingPunct="1">
              <a:buFont typeface="Wingdings" panose="05000000000000000000" pitchFamily="2" charset="2"/>
              <a:buChar char="ü"/>
              <a:defRPr/>
            </a:pPr>
            <a:r>
              <a:rPr lang="en-US" altLang="en-US" sz="3520" dirty="0"/>
              <a:t>It has a manager who is responsible for strategic planning and profit performance.</a:t>
            </a: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a:xfrm>
            <a:off x="111125" y="50800"/>
            <a:ext cx="8378825" cy="1196975"/>
          </a:xfrm>
          <a:solidFill>
            <a:schemeClr val="bg1"/>
          </a:solidFill>
          <a:effectLst>
            <a:outerShdw dist="107763" dir="2700000" algn="ctr" rotWithShape="0">
              <a:srgbClr val="081D58">
                <a:alpha val="50000"/>
              </a:srgbClr>
            </a:outerShdw>
          </a:effectLst>
        </p:spPr>
        <p:txBody>
          <a:bodyPr/>
          <a:lstStyle/>
          <a:p>
            <a:pPr eaLnBrk="1" hangingPunct="1"/>
            <a:r>
              <a:rPr lang="en-US" altLang="en-US" sz="3800" smtClean="0"/>
              <a:t>Analyzing Current SBU’s:</a:t>
            </a:r>
            <a:br>
              <a:rPr lang="en-US" altLang="en-US" sz="3800" smtClean="0"/>
            </a:br>
            <a:r>
              <a:rPr lang="en-US" altLang="en-US" sz="3800" smtClean="0"/>
              <a:t>Boston Consulting Group Approach</a:t>
            </a:r>
          </a:p>
        </p:txBody>
      </p:sp>
      <p:sp>
        <p:nvSpPr>
          <p:cNvPr id="28674" name="Rectangle 3"/>
          <p:cNvSpPr>
            <a:spLocks noChangeArrowheads="1"/>
          </p:cNvSpPr>
          <p:nvPr/>
        </p:nvSpPr>
        <p:spPr bwMode="auto">
          <a:xfrm>
            <a:off x="4441825" y="2832100"/>
            <a:ext cx="4164013"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8675" name="Rectangle 4"/>
          <p:cNvSpPr>
            <a:spLocks noChangeArrowheads="1"/>
          </p:cNvSpPr>
          <p:nvPr/>
        </p:nvSpPr>
        <p:spPr bwMode="auto">
          <a:xfrm rot="10800000">
            <a:off x="0" y="1247775"/>
            <a:ext cx="10058400" cy="6524625"/>
          </a:xfrm>
          <a:prstGeom prst="rect">
            <a:avLst/>
          </a:prstGeom>
          <a:solidFill>
            <a:srgbClr val="EAEC5E"/>
          </a:solidFill>
          <a:ln w="12700">
            <a:solidFill>
              <a:schemeClr val="tx1"/>
            </a:solidFill>
            <a:miter lim="800000"/>
            <a:headEnd/>
            <a:tailEnd/>
          </a:ln>
        </p:spPr>
        <p:txBody>
          <a:bodyPr wrap="none" lIns="90488" tIns="44450" rIns="90488" bIns="44450"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endParaRPr lang="en-US" altLang="en-US" sz="1800" b="1">
              <a:latin typeface="Arial" panose="020B0604020202020204" pitchFamily="34" charset="0"/>
            </a:endParaRPr>
          </a:p>
          <a:p>
            <a:pPr algn="ctr">
              <a:lnSpc>
                <a:spcPct val="90000"/>
              </a:lnSpc>
            </a:pPr>
            <a:endParaRPr lang="en-US" altLang="en-US" sz="1800" b="1">
              <a:latin typeface="Arial" panose="020B0604020202020204" pitchFamily="34" charset="0"/>
            </a:endParaRPr>
          </a:p>
          <a:p>
            <a:pPr algn="ctr">
              <a:lnSpc>
                <a:spcPct val="90000"/>
              </a:lnSpc>
            </a:pPr>
            <a:endParaRPr lang="en-US" altLang="en-US" sz="1800" b="1">
              <a:latin typeface="Arial" panose="020B0604020202020204" pitchFamily="34" charset="0"/>
            </a:endParaRPr>
          </a:p>
          <a:p>
            <a:pPr algn="ctr">
              <a:lnSpc>
                <a:spcPct val="90000"/>
              </a:lnSpc>
            </a:pPr>
            <a:endParaRPr lang="en-US" altLang="en-US" sz="1800" b="1">
              <a:latin typeface="Arial" panose="020B0604020202020204" pitchFamily="34" charset="0"/>
            </a:endParaRPr>
          </a:p>
          <a:p>
            <a:pPr algn="ctr">
              <a:lnSpc>
                <a:spcPct val="90000"/>
              </a:lnSpc>
            </a:pPr>
            <a:endParaRPr lang="en-US" altLang="en-US" sz="1800" b="1">
              <a:latin typeface="Arial" panose="020B0604020202020204" pitchFamily="34" charset="0"/>
            </a:endParaRPr>
          </a:p>
          <a:p>
            <a:pPr algn="ctr">
              <a:lnSpc>
                <a:spcPct val="90000"/>
              </a:lnSpc>
            </a:pPr>
            <a:endParaRPr lang="en-US" altLang="en-US" sz="1800" b="1">
              <a:latin typeface="Arial" panose="020B0604020202020204" pitchFamily="34" charset="0"/>
            </a:endParaRPr>
          </a:p>
          <a:p>
            <a:pPr algn="ctr">
              <a:lnSpc>
                <a:spcPct val="90000"/>
              </a:lnSpc>
            </a:pPr>
            <a:endParaRPr lang="en-US" altLang="en-US" sz="1800" b="1">
              <a:latin typeface="Arial" panose="020B0604020202020204" pitchFamily="34" charset="0"/>
            </a:endParaRPr>
          </a:p>
          <a:p>
            <a:pPr algn="ctr">
              <a:lnSpc>
                <a:spcPct val="90000"/>
              </a:lnSpc>
            </a:pPr>
            <a:endParaRPr lang="en-US" altLang="en-US" sz="1800" b="1">
              <a:latin typeface="Arial" panose="020B0604020202020204" pitchFamily="34" charset="0"/>
            </a:endParaRPr>
          </a:p>
          <a:p>
            <a:pPr algn="ctr">
              <a:lnSpc>
                <a:spcPct val="90000"/>
              </a:lnSpc>
            </a:pPr>
            <a:endParaRPr lang="en-US" altLang="en-US" sz="1800" b="1">
              <a:latin typeface="Arial" panose="020B0604020202020204" pitchFamily="34" charset="0"/>
            </a:endParaRPr>
          </a:p>
          <a:p>
            <a:pPr algn="ctr">
              <a:lnSpc>
                <a:spcPct val="90000"/>
              </a:lnSpc>
            </a:pPr>
            <a:endParaRPr lang="en-US" altLang="en-US" sz="1800" b="1">
              <a:latin typeface="Arial" panose="020B0604020202020204" pitchFamily="34" charset="0"/>
            </a:endParaRPr>
          </a:p>
          <a:p>
            <a:pPr algn="ctr">
              <a:lnSpc>
                <a:spcPct val="90000"/>
              </a:lnSpc>
            </a:pPr>
            <a:endParaRPr lang="en-US" altLang="en-US" sz="1800" b="1">
              <a:latin typeface="Arial" panose="020B0604020202020204" pitchFamily="34" charset="0"/>
            </a:endParaRPr>
          </a:p>
          <a:p>
            <a:pPr algn="ctr">
              <a:lnSpc>
                <a:spcPct val="90000"/>
              </a:lnSpc>
            </a:pPr>
            <a:endParaRPr lang="en-US" altLang="en-US" sz="1800" b="1">
              <a:latin typeface="Arial" panose="020B0604020202020204" pitchFamily="34" charset="0"/>
            </a:endParaRPr>
          </a:p>
          <a:p>
            <a:pPr algn="ctr">
              <a:lnSpc>
                <a:spcPct val="90000"/>
              </a:lnSpc>
            </a:pPr>
            <a:endParaRPr lang="en-US" altLang="en-US" sz="1800" b="1">
              <a:latin typeface="Arial" panose="020B0604020202020204" pitchFamily="34" charset="0"/>
            </a:endParaRPr>
          </a:p>
          <a:p>
            <a:pPr algn="ctr">
              <a:lnSpc>
                <a:spcPct val="90000"/>
              </a:lnSpc>
            </a:pPr>
            <a:endParaRPr lang="en-US" altLang="en-US" sz="1800" b="1">
              <a:latin typeface="Arial" panose="020B0604020202020204" pitchFamily="34" charset="0"/>
            </a:endParaRPr>
          </a:p>
          <a:p>
            <a:pPr algn="ctr">
              <a:lnSpc>
                <a:spcPct val="90000"/>
              </a:lnSpc>
            </a:pPr>
            <a:endParaRPr lang="en-US" altLang="en-US" sz="1800" b="1">
              <a:latin typeface="Arial" panose="020B0604020202020204" pitchFamily="34" charset="0"/>
            </a:endParaRPr>
          </a:p>
          <a:p>
            <a:pPr algn="ctr">
              <a:lnSpc>
                <a:spcPct val="90000"/>
              </a:lnSpc>
            </a:pPr>
            <a:endParaRPr lang="en-US" altLang="en-US" sz="1800" b="1">
              <a:latin typeface="Arial" panose="020B0604020202020204" pitchFamily="34" charset="0"/>
            </a:endParaRPr>
          </a:p>
          <a:p>
            <a:pPr algn="ctr">
              <a:lnSpc>
                <a:spcPct val="90000"/>
              </a:lnSpc>
            </a:pPr>
            <a:endParaRPr lang="en-US" altLang="en-US" sz="1800" b="1">
              <a:latin typeface="Arial" panose="020B0604020202020204" pitchFamily="34" charset="0"/>
            </a:endParaRPr>
          </a:p>
          <a:p>
            <a:pPr algn="ctr">
              <a:lnSpc>
                <a:spcPct val="90000"/>
              </a:lnSpc>
            </a:pPr>
            <a:endParaRPr lang="en-US" altLang="en-US" sz="1800" b="1">
              <a:latin typeface="Arial" panose="020B0604020202020204" pitchFamily="34" charset="0"/>
            </a:endParaRPr>
          </a:p>
          <a:p>
            <a:pPr algn="ctr">
              <a:lnSpc>
                <a:spcPct val="90000"/>
              </a:lnSpc>
            </a:pPr>
            <a:endParaRPr lang="en-US" altLang="en-US" sz="1800" b="1">
              <a:latin typeface="Arial" panose="020B0604020202020204" pitchFamily="34" charset="0"/>
            </a:endParaRPr>
          </a:p>
          <a:p>
            <a:pPr algn="ctr">
              <a:lnSpc>
                <a:spcPct val="90000"/>
              </a:lnSpc>
            </a:pPr>
            <a:endParaRPr lang="en-US" altLang="en-US" sz="1800" b="1">
              <a:latin typeface="Arial" panose="020B0604020202020204" pitchFamily="34" charset="0"/>
            </a:endParaRPr>
          </a:p>
          <a:p>
            <a:pPr algn="ctr">
              <a:lnSpc>
                <a:spcPct val="90000"/>
              </a:lnSpc>
            </a:pPr>
            <a:endParaRPr lang="en-US" altLang="en-US" sz="1800" b="1">
              <a:latin typeface="Arial" panose="020B0604020202020204" pitchFamily="34" charset="0"/>
            </a:endParaRPr>
          </a:p>
          <a:p>
            <a:pPr algn="ctr" latinLnBrk="1">
              <a:lnSpc>
                <a:spcPct val="90000"/>
              </a:lnSpc>
            </a:pPr>
            <a:endParaRPr lang="en-US" altLang="en-US" sz="1800" b="1">
              <a:latin typeface="Arial" panose="020B0604020202020204" pitchFamily="34" charset="0"/>
            </a:endParaRPr>
          </a:p>
        </p:txBody>
      </p:sp>
      <p:sp>
        <p:nvSpPr>
          <p:cNvPr id="28676" name="Rectangle 5"/>
          <p:cNvSpPr>
            <a:spLocks noChangeArrowheads="1"/>
          </p:cNvSpPr>
          <p:nvPr/>
        </p:nvSpPr>
        <p:spPr bwMode="auto">
          <a:xfrm>
            <a:off x="4521200" y="3035300"/>
            <a:ext cx="3511550" cy="1892300"/>
          </a:xfrm>
          <a:prstGeom prst="rect">
            <a:avLst/>
          </a:prstGeom>
          <a:gradFill rotWithShape="0">
            <a:gsLst>
              <a:gs pos="0">
                <a:srgbClr val="C1CEFF"/>
              </a:gs>
              <a:gs pos="100000">
                <a:srgbClr val="CDD8FF"/>
              </a:gs>
            </a:gsLst>
            <a:lin ang="5400000" scaled="1"/>
          </a:gradFill>
          <a:ln w="12700">
            <a:solidFill>
              <a:schemeClr val="tx1"/>
            </a:solidFill>
            <a:miter lim="800000"/>
            <a:headEnd/>
            <a:tailEnd/>
          </a:ln>
          <a:effectLst>
            <a:outerShdw dist="107763" dir="2700000" algn="ctr" rotWithShape="0">
              <a:schemeClr val="bg2">
                <a:alpha val="50000"/>
              </a:schemeClr>
            </a:outerShdw>
          </a:effectLst>
        </p:spPr>
        <p:txBody>
          <a:bodyPr wrap="none" lIns="90488" tIns="44450" rIns="90488" bIns="44450"/>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pPr>
            <a:r>
              <a:rPr lang="en-US" altLang="en-US" sz="2000" b="1">
                <a:latin typeface="Arial" panose="020B0604020202020204" pitchFamily="34" charset="0"/>
              </a:rPr>
              <a:t>      </a:t>
            </a:r>
            <a:r>
              <a:rPr lang="en-US" altLang="en-US" b="1" i="1">
                <a:latin typeface="Arial" panose="020B0604020202020204" pitchFamily="34" charset="0"/>
              </a:rPr>
              <a:t>Question Marks</a:t>
            </a:r>
            <a:endParaRPr lang="en-US" altLang="en-US" b="1">
              <a:latin typeface="Arial" panose="020B0604020202020204" pitchFamily="34" charset="0"/>
            </a:endParaRPr>
          </a:p>
          <a:p>
            <a:pPr>
              <a:lnSpc>
                <a:spcPct val="90000"/>
              </a:lnSpc>
            </a:pPr>
            <a:endParaRPr lang="en-US" altLang="en-US" sz="2000" b="1">
              <a:latin typeface="Arial" panose="020B0604020202020204" pitchFamily="34" charset="0"/>
            </a:endParaRPr>
          </a:p>
          <a:p>
            <a:pPr>
              <a:lnSpc>
                <a:spcPct val="90000"/>
              </a:lnSpc>
              <a:buSzPct val="100000"/>
              <a:buFontTx/>
              <a:buChar char="•"/>
            </a:pPr>
            <a:r>
              <a:rPr lang="en-US" altLang="en-US" sz="2000" b="1">
                <a:latin typeface="Arial" panose="020B0604020202020204" pitchFamily="34" charset="0"/>
              </a:rPr>
              <a:t> High growth, low share  </a:t>
            </a:r>
          </a:p>
          <a:p>
            <a:pPr>
              <a:lnSpc>
                <a:spcPct val="90000"/>
              </a:lnSpc>
              <a:buSzPct val="100000"/>
              <a:buFontTx/>
              <a:buChar char="•"/>
            </a:pPr>
            <a:r>
              <a:rPr lang="en-US" altLang="en-US" sz="2000" b="1">
                <a:latin typeface="Arial" panose="020B0604020202020204" pitchFamily="34" charset="0"/>
              </a:rPr>
              <a:t> Build into Stars/ phase out </a:t>
            </a:r>
          </a:p>
          <a:p>
            <a:pPr>
              <a:lnSpc>
                <a:spcPct val="90000"/>
              </a:lnSpc>
              <a:buSzPct val="100000"/>
              <a:buFontTx/>
              <a:buChar char="•"/>
            </a:pPr>
            <a:r>
              <a:rPr lang="en-US" altLang="en-US" sz="2000" b="1">
                <a:latin typeface="Arial" panose="020B0604020202020204" pitchFamily="34" charset="0"/>
              </a:rPr>
              <a:t> Requires cash to hold </a:t>
            </a:r>
          </a:p>
          <a:p>
            <a:pPr>
              <a:lnSpc>
                <a:spcPct val="90000"/>
              </a:lnSpc>
              <a:buSzPct val="100000"/>
              <a:buFontTx/>
              <a:buChar char=" "/>
            </a:pPr>
            <a:r>
              <a:rPr lang="en-US" altLang="en-US" sz="2000" b="1">
                <a:latin typeface="Arial" panose="020B0604020202020204" pitchFamily="34" charset="0"/>
              </a:rPr>
              <a:t>   market share</a:t>
            </a:r>
          </a:p>
          <a:p>
            <a:pPr latinLnBrk="1">
              <a:lnSpc>
                <a:spcPct val="90000"/>
              </a:lnSpc>
              <a:buSzPct val="100000"/>
              <a:buFontTx/>
              <a:buChar char=" "/>
            </a:pPr>
            <a:endParaRPr lang="en-US" altLang="en-US" sz="2000" b="1">
              <a:latin typeface="Arial" panose="020B0604020202020204" pitchFamily="34" charset="0"/>
            </a:endParaRPr>
          </a:p>
        </p:txBody>
      </p:sp>
      <p:sp>
        <p:nvSpPr>
          <p:cNvPr id="28677" name="Rectangle 6"/>
          <p:cNvSpPr>
            <a:spLocks noChangeArrowheads="1"/>
          </p:cNvSpPr>
          <p:nvPr/>
        </p:nvSpPr>
        <p:spPr bwMode="auto">
          <a:xfrm>
            <a:off x="1301750" y="3035300"/>
            <a:ext cx="3187700" cy="1968500"/>
          </a:xfrm>
          <a:prstGeom prst="rect">
            <a:avLst/>
          </a:prstGeom>
          <a:gradFill rotWithShape="0">
            <a:gsLst>
              <a:gs pos="0">
                <a:srgbClr val="00B7A5"/>
              </a:gs>
              <a:gs pos="100000">
                <a:srgbClr val="33C5B7"/>
              </a:gs>
            </a:gsLst>
            <a:lin ang="5400000" scaled="1"/>
          </a:gradFill>
          <a:ln w="12700">
            <a:solidFill>
              <a:schemeClr val="tx1"/>
            </a:solidFill>
            <a:miter lim="800000"/>
            <a:headEnd/>
            <a:tailEnd/>
          </a:ln>
        </p:spPr>
        <p:txBody>
          <a:bodyPr wrap="none" lIns="90488" tIns="44450" rIns="90488" bIns="44450"/>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pPr>
            <a:r>
              <a:rPr lang="en-US" altLang="en-US" b="1">
                <a:latin typeface="Arial" panose="020B0604020202020204" pitchFamily="34" charset="0"/>
              </a:rPr>
              <a:t>	</a:t>
            </a:r>
            <a:r>
              <a:rPr lang="en-US" altLang="en-US" b="1" i="1">
                <a:latin typeface="Arial" panose="020B0604020202020204" pitchFamily="34" charset="0"/>
              </a:rPr>
              <a:t>Stars</a:t>
            </a:r>
            <a:endParaRPr lang="en-US" altLang="en-US" sz="2800" b="1">
              <a:latin typeface="Arial" panose="020B0604020202020204" pitchFamily="34" charset="0"/>
            </a:endParaRPr>
          </a:p>
          <a:p>
            <a:pPr>
              <a:lnSpc>
                <a:spcPct val="90000"/>
              </a:lnSpc>
            </a:pPr>
            <a:endParaRPr lang="en-US" altLang="en-US" sz="2000" b="1">
              <a:latin typeface="Arial" panose="020B0604020202020204" pitchFamily="34" charset="0"/>
            </a:endParaRPr>
          </a:p>
          <a:p>
            <a:pPr>
              <a:lnSpc>
                <a:spcPct val="90000"/>
              </a:lnSpc>
              <a:buSzPct val="100000"/>
              <a:buFontTx/>
              <a:buChar char="•"/>
            </a:pPr>
            <a:r>
              <a:rPr lang="en-US" altLang="en-US" sz="2000" b="1">
                <a:latin typeface="Arial" panose="020B0604020202020204" pitchFamily="34" charset="0"/>
              </a:rPr>
              <a:t> High growth &amp; share</a:t>
            </a:r>
          </a:p>
          <a:p>
            <a:pPr>
              <a:lnSpc>
                <a:spcPct val="90000"/>
              </a:lnSpc>
              <a:buSzPct val="100000"/>
              <a:buFontTx/>
              <a:buChar char="•"/>
            </a:pPr>
            <a:r>
              <a:rPr lang="en-US" altLang="en-US" sz="2000" b="1">
                <a:latin typeface="Arial" panose="020B0604020202020204" pitchFamily="34" charset="0"/>
              </a:rPr>
              <a:t> Profit potential  </a:t>
            </a:r>
          </a:p>
          <a:p>
            <a:pPr>
              <a:lnSpc>
                <a:spcPct val="90000"/>
              </a:lnSpc>
              <a:buSzPct val="100000"/>
              <a:buFontTx/>
              <a:buChar char="•"/>
            </a:pPr>
            <a:r>
              <a:rPr lang="en-US" altLang="en-US" sz="2000" b="1">
                <a:latin typeface="Arial" panose="020B0604020202020204" pitchFamily="34" charset="0"/>
              </a:rPr>
              <a:t> May need heavy </a:t>
            </a:r>
          </a:p>
          <a:p>
            <a:pPr>
              <a:lnSpc>
                <a:spcPct val="90000"/>
              </a:lnSpc>
              <a:buSzPct val="100000"/>
              <a:buFontTx/>
              <a:buChar char=" "/>
            </a:pPr>
            <a:r>
              <a:rPr lang="en-US" altLang="en-US" sz="2000" b="1">
                <a:latin typeface="Arial" panose="020B0604020202020204" pitchFamily="34" charset="0"/>
              </a:rPr>
              <a:t>   investment to grow</a:t>
            </a:r>
          </a:p>
        </p:txBody>
      </p:sp>
      <p:sp>
        <p:nvSpPr>
          <p:cNvPr id="28678" name="Rectangle 7"/>
          <p:cNvSpPr>
            <a:spLocks noChangeArrowheads="1"/>
          </p:cNvSpPr>
          <p:nvPr/>
        </p:nvSpPr>
        <p:spPr bwMode="auto">
          <a:xfrm>
            <a:off x="1282700" y="4978400"/>
            <a:ext cx="3187700" cy="1930400"/>
          </a:xfrm>
          <a:prstGeom prst="rect">
            <a:avLst/>
          </a:prstGeom>
          <a:gradFill rotWithShape="0">
            <a:gsLst>
              <a:gs pos="0">
                <a:srgbClr val="F95AB7"/>
              </a:gs>
              <a:gs pos="100000">
                <a:srgbClr val="FB9CD4"/>
              </a:gs>
            </a:gsLst>
            <a:lin ang="5400000" scaled="1"/>
          </a:gradFill>
          <a:ln w="12700">
            <a:solidFill>
              <a:schemeClr val="tx1"/>
            </a:solidFill>
            <a:miter lim="800000"/>
            <a:headEnd/>
            <a:tailEnd/>
          </a:ln>
          <a:effectLst>
            <a:outerShdw dist="107763" dir="2700000" algn="ctr" rotWithShape="0">
              <a:schemeClr val="bg2">
                <a:alpha val="50000"/>
              </a:schemeClr>
            </a:outerShdw>
          </a:effectLst>
        </p:spPr>
        <p:txBody>
          <a:bodyPr wrap="none" lIns="90488" tIns="44450" rIns="90488" bIns="44450"/>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pPr>
            <a:r>
              <a:rPr lang="en-US" altLang="en-US" sz="2000" b="1">
                <a:latin typeface="Arial" panose="020B0604020202020204" pitchFamily="34" charset="0"/>
              </a:rPr>
              <a:t>      </a:t>
            </a:r>
            <a:r>
              <a:rPr lang="en-US" altLang="en-US" b="1" i="1">
                <a:latin typeface="Arial" panose="020B0604020202020204" pitchFamily="34" charset="0"/>
              </a:rPr>
              <a:t>Cash Cows</a:t>
            </a:r>
            <a:endParaRPr lang="en-US" altLang="en-US" b="1">
              <a:latin typeface="Arial" panose="020B0604020202020204" pitchFamily="34" charset="0"/>
            </a:endParaRPr>
          </a:p>
          <a:p>
            <a:pPr>
              <a:lnSpc>
                <a:spcPct val="90000"/>
              </a:lnSpc>
              <a:buSzPct val="100000"/>
              <a:buFontTx/>
              <a:buChar char=" "/>
            </a:pPr>
            <a:endParaRPr lang="en-US" altLang="en-US" sz="2000" b="1">
              <a:latin typeface="Arial" panose="020B0604020202020204" pitchFamily="34" charset="0"/>
            </a:endParaRPr>
          </a:p>
          <a:p>
            <a:pPr>
              <a:lnSpc>
                <a:spcPct val="90000"/>
              </a:lnSpc>
              <a:buSzPct val="100000"/>
              <a:buFontTx/>
              <a:buChar char="•"/>
            </a:pPr>
            <a:r>
              <a:rPr lang="en-US" altLang="en-US" sz="2000" b="1">
                <a:latin typeface="Arial" panose="020B0604020202020204" pitchFamily="34" charset="0"/>
              </a:rPr>
              <a:t> Low growth, high share</a:t>
            </a:r>
          </a:p>
          <a:p>
            <a:pPr>
              <a:lnSpc>
                <a:spcPct val="90000"/>
              </a:lnSpc>
              <a:buSzPct val="100000"/>
              <a:buFontTx/>
              <a:buChar char="•"/>
            </a:pPr>
            <a:r>
              <a:rPr lang="en-US" altLang="en-US" sz="2000" b="1">
                <a:latin typeface="Arial" panose="020B0604020202020204" pitchFamily="34" charset="0"/>
              </a:rPr>
              <a:t> Established, successful</a:t>
            </a:r>
          </a:p>
          <a:p>
            <a:pPr>
              <a:lnSpc>
                <a:spcPct val="90000"/>
              </a:lnSpc>
              <a:buSzPct val="100000"/>
              <a:buFontTx/>
              <a:buChar char=" "/>
            </a:pPr>
            <a:r>
              <a:rPr lang="en-US" altLang="en-US" sz="2000" b="1">
                <a:latin typeface="Arial" panose="020B0604020202020204" pitchFamily="34" charset="0"/>
              </a:rPr>
              <a:t>  SBU’s</a:t>
            </a:r>
          </a:p>
          <a:p>
            <a:pPr>
              <a:lnSpc>
                <a:spcPct val="90000"/>
              </a:lnSpc>
              <a:buSzPct val="100000"/>
              <a:buFontTx/>
              <a:buChar char="•"/>
            </a:pPr>
            <a:r>
              <a:rPr lang="en-US" altLang="en-US" sz="2000" b="1">
                <a:latin typeface="Arial" panose="020B0604020202020204" pitchFamily="34" charset="0"/>
              </a:rPr>
              <a:t>Produces cash</a:t>
            </a:r>
          </a:p>
          <a:p>
            <a:pPr>
              <a:lnSpc>
                <a:spcPct val="90000"/>
              </a:lnSpc>
              <a:buSzPct val="100000"/>
              <a:buFontTx/>
              <a:buChar char=" "/>
            </a:pPr>
            <a:endParaRPr lang="en-US" altLang="en-US" sz="2000" b="1">
              <a:latin typeface="Arial" panose="020B0604020202020204" pitchFamily="34" charset="0"/>
            </a:endParaRPr>
          </a:p>
          <a:p>
            <a:pPr latinLnBrk="1">
              <a:lnSpc>
                <a:spcPct val="90000"/>
              </a:lnSpc>
              <a:buSzPct val="100000"/>
              <a:buFontTx/>
              <a:buChar char=" "/>
            </a:pPr>
            <a:endParaRPr lang="en-US" altLang="en-US" sz="2000" b="1">
              <a:latin typeface="Arial" panose="020B0604020202020204" pitchFamily="34" charset="0"/>
            </a:endParaRPr>
          </a:p>
        </p:txBody>
      </p:sp>
      <p:sp>
        <p:nvSpPr>
          <p:cNvPr id="28679" name="Rectangle 8"/>
          <p:cNvSpPr>
            <a:spLocks noChangeArrowheads="1"/>
          </p:cNvSpPr>
          <p:nvPr/>
        </p:nvSpPr>
        <p:spPr bwMode="auto">
          <a:xfrm>
            <a:off x="4521200" y="4959350"/>
            <a:ext cx="3511550" cy="1930400"/>
          </a:xfrm>
          <a:prstGeom prst="rect">
            <a:avLst/>
          </a:prstGeom>
          <a:gradFill rotWithShape="0">
            <a:gsLst>
              <a:gs pos="0">
                <a:srgbClr val="B760F9"/>
              </a:gs>
              <a:gs pos="100000">
                <a:srgbClr val="D4A0FB"/>
              </a:gs>
            </a:gsLst>
            <a:lin ang="5400000" scaled="1"/>
          </a:gradFill>
          <a:ln w="12700">
            <a:solidFill>
              <a:schemeClr val="tx1"/>
            </a:solidFill>
            <a:miter lim="800000"/>
            <a:headEnd/>
            <a:tailEnd/>
          </a:ln>
          <a:effectLst>
            <a:outerShdw dist="107763" dir="2700000" algn="ctr" rotWithShape="0">
              <a:schemeClr val="bg2">
                <a:alpha val="50000"/>
              </a:schemeClr>
            </a:outerShdw>
          </a:effectLst>
        </p:spPr>
        <p:txBody>
          <a:bodyPr wrap="none" lIns="90488" tIns="44450" rIns="90488" bIns="44450"/>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pPr>
            <a:r>
              <a:rPr lang="en-US" altLang="en-US" b="1">
                <a:latin typeface="Arial" panose="020B0604020202020204" pitchFamily="34" charset="0"/>
              </a:rPr>
              <a:t>	</a:t>
            </a:r>
            <a:r>
              <a:rPr lang="en-US" altLang="en-US" b="1" i="1">
                <a:latin typeface="Arial" panose="020B0604020202020204" pitchFamily="34" charset="0"/>
              </a:rPr>
              <a:t>Dogs</a:t>
            </a:r>
            <a:endParaRPr lang="en-US" altLang="en-US" sz="1800" b="1">
              <a:latin typeface="Arial" panose="020B0604020202020204" pitchFamily="34" charset="0"/>
            </a:endParaRPr>
          </a:p>
          <a:p>
            <a:pPr>
              <a:lnSpc>
                <a:spcPct val="90000"/>
              </a:lnSpc>
            </a:pPr>
            <a:endParaRPr lang="en-US" altLang="en-US" sz="1800" b="1">
              <a:latin typeface="Arial" panose="020B0604020202020204" pitchFamily="34" charset="0"/>
            </a:endParaRPr>
          </a:p>
          <a:p>
            <a:pPr>
              <a:lnSpc>
                <a:spcPct val="90000"/>
              </a:lnSpc>
              <a:buSzPct val="100000"/>
              <a:buFontTx/>
              <a:buChar char="•"/>
            </a:pPr>
            <a:r>
              <a:rPr lang="en-US" altLang="en-US" sz="2000" b="1">
                <a:latin typeface="Arial" panose="020B0604020202020204" pitchFamily="34" charset="0"/>
              </a:rPr>
              <a:t> Low growth &amp; share </a:t>
            </a:r>
          </a:p>
          <a:p>
            <a:pPr>
              <a:lnSpc>
                <a:spcPct val="90000"/>
              </a:lnSpc>
              <a:buSzPct val="100000"/>
              <a:buFontTx/>
              <a:buChar char="•"/>
            </a:pPr>
            <a:r>
              <a:rPr lang="en-US" altLang="en-US" sz="2000" b="1">
                <a:latin typeface="Arial" panose="020B0604020202020204" pitchFamily="34" charset="0"/>
              </a:rPr>
              <a:t> Low profit potential</a:t>
            </a:r>
          </a:p>
        </p:txBody>
      </p:sp>
      <p:sp>
        <p:nvSpPr>
          <p:cNvPr id="28680" name="Rectangle 9"/>
          <p:cNvSpPr>
            <a:spLocks noChangeArrowheads="1"/>
          </p:cNvSpPr>
          <p:nvPr/>
        </p:nvSpPr>
        <p:spPr bwMode="auto">
          <a:xfrm>
            <a:off x="1638300" y="2400300"/>
            <a:ext cx="6191250" cy="457200"/>
          </a:xfrm>
          <a:prstGeom prst="rect">
            <a:avLst/>
          </a:prstGeom>
          <a:solidFill>
            <a:srgbClr val="EAEC5E"/>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pPr>
            <a:r>
              <a:rPr lang="en-US" altLang="en-US" sz="2800" b="1">
                <a:latin typeface="Arial" panose="020B0604020202020204" pitchFamily="34" charset="0"/>
              </a:rPr>
              <a:t>          Relative Market Share</a:t>
            </a:r>
          </a:p>
          <a:p>
            <a:pPr>
              <a:lnSpc>
                <a:spcPct val="90000"/>
              </a:lnSpc>
            </a:pPr>
            <a:r>
              <a:rPr lang="en-US" altLang="en-US" b="1">
                <a:latin typeface="Arial" panose="020B0604020202020204" pitchFamily="34" charset="0"/>
              </a:rPr>
              <a:t>	High </a:t>
            </a:r>
            <a:r>
              <a:rPr lang="en-US" altLang="en-US" sz="2800" b="1">
                <a:latin typeface="Arial" panose="020B0604020202020204" pitchFamily="34" charset="0"/>
              </a:rPr>
              <a:t>                          </a:t>
            </a:r>
            <a:r>
              <a:rPr lang="en-US" altLang="en-US" b="1">
                <a:latin typeface="Arial" panose="020B0604020202020204" pitchFamily="34" charset="0"/>
              </a:rPr>
              <a:t>Low</a:t>
            </a:r>
          </a:p>
        </p:txBody>
      </p:sp>
      <p:sp>
        <p:nvSpPr>
          <p:cNvPr id="28681" name="Rectangle 10"/>
          <p:cNvSpPr>
            <a:spLocks noChangeArrowheads="1"/>
          </p:cNvSpPr>
          <p:nvPr/>
        </p:nvSpPr>
        <p:spPr bwMode="auto">
          <a:xfrm rot="16200000" flipH="1">
            <a:off x="-992981" y="4517232"/>
            <a:ext cx="3646487" cy="628650"/>
          </a:xfrm>
          <a:prstGeom prst="rect">
            <a:avLst/>
          </a:prstGeom>
          <a:solidFill>
            <a:srgbClr val="EAEC5E"/>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2800" b="1">
                <a:latin typeface="Arial" panose="020B0604020202020204" pitchFamily="34" charset="0"/>
              </a:rPr>
              <a:t>Market Growth Rate</a:t>
            </a:r>
          </a:p>
          <a:p>
            <a:pPr algn="ctr">
              <a:lnSpc>
                <a:spcPct val="90000"/>
              </a:lnSpc>
            </a:pPr>
            <a:r>
              <a:rPr lang="en-US" altLang="en-US" b="1">
                <a:latin typeface="Arial" panose="020B0604020202020204" pitchFamily="34" charset="0"/>
              </a:rPr>
              <a:t> Low                    High</a:t>
            </a:r>
          </a:p>
        </p:txBody>
      </p:sp>
    </p:spTree>
  </p:cSld>
  <p:clrMapOvr>
    <a:masterClrMapping/>
  </p:clrMapOvr>
  <p:transition spd="slow">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ChangeArrowheads="1"/>
          </p:cNvSpPr>
          <p:nvPr/>
        </p:nvSpPr>
        <p:spPr bwMode="auto">
          <a:xfrm>
            <a:off x="190500" y="2038350"/>
            <a:ext cx="9677400" cy="4468813"/>
          </a:xfrm>
          <a:prstGeom prst="rect">
            <a:avLst/>
          </a:prstGeom>
          <a:solidFill>
            <a:srgbClr val="FEFF72"/>
          </a:solidFill>
          <a:ln w="12700">
            <a:solidFill>
              <a:srgbClr val="000000"/>
            </a:solidFill>
            <a:miter lim="800000"/>
            <a:headEnd/>
            <a:tailEnd/>
          </a:ln>
          <a:effectLst>
            <a:outerShdw dist="89803" dir="2700000" algn="ctr" rotWithShape="0">
              <a:schemeClr val="bg2">
                <a:alpha val="50000"/>
              </a:schemeClr>
            </a:outerShdw>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2" name="Rectangle 3"/>
          <p:cNvSpPr>
            <a:spLocks noGrp="1" noChangeArrowheads="1"/>
          </p:cNvSpPr>
          <p:nvPr>
            <p:ph type="title"/>
          </p:nvPr>
        </p:nvSpPr>
        <p:spPr>
          <a:xfrm>
            <a:off x="239713" y="-15875"/>
            <a:ext cx="7350125" cy="647700"/>
          </a:xfrm>
          <a:solidFill>
            <a:schemeClr val="bg1"/>
          </a:solidFill>
          <a:effectLst>
            <a:outerShdw dist="107763" dir="2700000" algn="ctr" rotWithShape="0">
              <a:srgbClr val="081D58">
                <a:alpha val="50000"/>
              </a:srgbClr>
            </a:outerShdw>
          </a:effectLst>
        </p:spPr>
        <p:txBody>
          <a:bodyPr/>
          <a:lstStyle/>
          <a:p>
            <a:pPr eaLnBrk="1" hangingPunct="1"/>
            <a:r>
              <a:rPr lang="en-US" altLang="en-US" sz="4000" smtClean="0"/>
              <a:t>Developing Growth Strategies</a:t>
            </a:r>
          </a:p>
        </p:txBody>
      </p:sp>
      <p:sp>
        <p:nvSpPr>
          <p:cNvPr id="30723" name="AutoShape 4"/>
          <p:cNvSpPr>
            <a:spLocks noChangeArrowheads="1"/>
          </p:cNvSpPr>
          <p:nvPr/>
        </p:nvSpPr>
        <p:spPr bwMode="auto">
          <a:xfrm rot="5400000">
            <a:off x="3255963" y="2082800"/>
            <a:ext cx="1365250" cy="3813175"/>
          </a:xfrm>
          <a:prstGeom prst="cube">
            <a:avLst>
              <a:gd name="adj" fmla="val 18241"/>
            </a:avLst>
          </a:prstGeom>
          <a:gradFill rotWithShape="0">
            <a:gsLst>
              <a:gs pos="0">
                <a:srgbClr val="B760F9"/>
              </a:gs>
              <a:gs pos="100000">
                <a:srgbClr val="DBAFFC"/>
              </a:gs>
            </a:gsLst>
            <a:lin ang="5400000" scaled="1"/>
          </a:gradFill>
          <a:ln w="12700">
            <a:solidFill>
              <a:srgbClr val="000000"/>
            </a:solidFill>
            <a:miter lim="800000"/>
            <a:headEnd/>
            <a:tailEnd/>
          </a:ln>
        </p:spPr>
        <p:txBody>
          <a:bodyPr rot="10800000" vert="eaVert" wrap="none" lIns="90488" tIns="44450" rIns="90488" bIns="44450"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b="1">
                <a:solidFill>
                  <a:srgbClr val="000000"/>
                </a:solidFill>
                <a:latin typeface="Arial" panose="020B0604020202020204" pitchFamily="34" charset="0"/>
              </a:rPr>
              <a:t>  </a:t>
            </a:r>
            <a:r>
              <a:rPr lang="en-US" altLang="en-US" sz="2800" b="1">
                <a:solidFill>
                  <a:srgbClr val="000000"/>
                </a:solidFill>
                <a:latin typeface="Arial" panose="020B0604020202020204" pitchFamily="34" charset="0"/>
              </a:rPr>
              <a:t>1. Market</a:t>
            </a:r>
          </a:p>
          <a:p>
            <a:r>
              <a:rPr lang="en-US" altLang="en-US" sz="2800" b="1">
                <a:solidFill>
                  <a:srgbClr val="000000"/>
                </a:solidFill>
                <a:latin typeface="Arial" panose="020B0604020202020204" pitchFamily="34" charset="0"/>
              </a:rPr>
              <a:t>      Penetration</a:t>
            </a:r>
          </a:p>
        </p:txBody>
      </p:sp>
      <p:sp>
        <p:nvSpPr>
          <p:cNvPr id="30724" name="AutoShape 5"/>
          <p:cNvSpPr>
            <a:spLocks noChangeArrowheads="1"/>
          </p:cNvSpPr>
          <p:nvPr/>
        </p:nvSpPr>
        <p:spPr bwMode="auto">
          <a:xfrm rot="5400000">
            <a:off x="3255963" y="3430587"/>
            <a:ext cx="1365250" cy="3813175"/>
          </a:xfrm>
          <a:prstGeom prst="cube">
            <a:avLst>
              <a:gd name="adj" fmla="val 18241"/>
            </a:avLst>
          </a:prstGeom>
          <a:gradFill rotWithShape="0">
            <a:gsLst>
              <a:gs pos="0">
                <a:srgbClr val="A2C1FE"/>
              </a:gs>
              <a:gs pos="100000">
                <a:srgbClr val="D0E0FE"/>
              </a:gs>
            </a:gsLst>
            <a:lin ang="5400000" scaled="1"/>
          </a:gradFill>
          <a:ln w="12700">
            <a:solidFill>
              <a:srgbClr val="000000"/>
            </a:solidFill>
            <a:miter lim="800000"/>
            <a:headEnd/>
            <a:tailEnd/>
          </a:ln>
        </p:spPr>
        <p:txBody>
          <a:bodyPr rot="10800000" vert="eaVert" wrap="none" lIns="90488" tIns="44450" rIns="90488" bIns="44450"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b="1">
                <a:solidFill>
                  <a:srgbClr val="000000"/>
                </a:solidFill>
                <a:latin typeface="Arial" panose="020B0604020202020204" pitchFamily="34" charset="0"/>
              </a:rPr>
              <a:t>  </a:t>
            </a:r>
            <a:r>
              <a:rPr lang="en-US" altLang="en-US" sz="2800" b="1">
                <a:solidFill>
                  <a:srgbClr val="000000"/>
                </a:solidFill>
                <a:latin typeface="Arial" panose="020B0604020202020204" pitchFamily="34" charset="0"/>
              </a:rPr>
              <a:t>2. Market</a:t>
            </a:r>
          </a:p>
          <a:p>
            <a:r>
              <a:rPr lang="en-US" altLang="en-US" sz="2800" b="1">
                <a:solidFill>
                  <a:srgbClr val="000000"/>
                </a:solidFill>
                <a:latin typeface="Arial" panose="020B0604020202020204" pitchFamily="34" charset="0"/>
              </a:rPr>
              <a:t>      Development</a:t>
            </a:r>
          </a:p>
        </p:txBody>
      </p:sp>
      <p:sp>
        <p:nvSpPr>
          <p:cNvPr id="30725" name="AutoShape 6"/>
          <p:cNvSpPr>
            <a:spLocks noChangeArrowheads="1"/>
          </p:cNvSpPr>
          <p:nvPr/>
        </p:nvSpPr>
        <p:spPr bwMode="auto">
          <a:xfrm rot="5400000">
            <a:off x="6805613" y="2138363"/>
            <a:ext cx="1365250" cy="3702050"/>
          </a:xfrm>
          <a:prstGeom prst="cube">
            <a:avLst>
              <a:gd name="adj" fmla="val 18241"/>
            </a:avLst>
          </a:prstGeom>
          <a:gradFill rotWithShape="0">
            <a:gsLst>
              <a:gs pos="0">
                <a:srgbClr val="B760F9"/>
              </a:gs>
              <a:gs pos="100000">
                <a:srgbClr val="CC8FFB"/>
              </a:gs>
            </a:gsLst>
            <a:lin ang="5400000" scaled="1"/>
          </a:gradFill>
          <a:ln w="12700">
            <a:solidFill>
              <a:srgbClr val="000000"/>
            </a:solidFill>
            <a:miter lim="800000"/>
            <a:headEnd/>
            <a:tailEnd/>
          </a:ln>
        </p:spPr>
        <p:txBody>
          <a:bodyPr rot="10800000" vert="eaVert" wrap="none" lIns="90488" tIns="44450" rIns="90488" bIns="44450"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b="1">
                <a:solidFill>
                  <a:srgbClr val="000000"/>
                </a:solidFill>
                <a:latin typeface="Arial" panose="020B0604020202020204" pitchFamily="34" charset="0"/>
              </a:rPr>
              <a:t>  </a:t>
            </a:r>
            <a:r>
              <a:rPr lang="en-US" altLang="en-US" sz="2800" b="1">
                <a:solidFill>
                  <a:srgbClr val="000000"/>
                </a:solidFill>
                <a:latin typeface="Arial" panose="020B0604020202020204" pitchFamily="34" charset="0"/>
              </a:rPr>
              <a:t>3. Product</a:t>
            </a:r>
          </a:p>
          <a:p>
            <a:r>
              <a:rPr lang="en-US" altLang="en-US" sz="2800" b="1">
                <a:solidFill>
                  <a:srgbClr val="000000"/>
                </a:solidFill>
                <a:latin typeface="Arial" panose="020B0604020202020204" pitchFamily="34" charset="0"/>
              </a:rPr>
              <a:t>      Development</a:t>
            </a:r>
          </a:p>
        </p:txBody>
      </p:sp>
      <p:sp>
        <p:nvSpPr>
          <p:cNvPr id="30726" name="AutoShape 7"/>
          <p:cNvSpPr>
            <a:spLocks noChangeArrowheads="1"/>
          </p:cNvSpPr>
          <p:nvPr/>
        </p:nvSpPr>
        <p:spPr bwMode="auto">
          <a:xfrm rot="5400000">
            <a:off x="6805613" y="3465512"/>
            <a:ext cx="1365250" cy="3743325"/>
          </a:xfrm>
          <a:prstGeom prst="cube">
            <a:avLst>
              <a:gd name="adj" fmla="val 18241"/>
            </a:avLst>
          </a:prstGeom>
          <a:gradFill rotWithShape="0">
            <a:gsLst>
              <a:gs pos="0">
                <a:srgbClr val="A2C1FE"/>
              </a:gs>
              <a:gs pos="100000">
                <a:srgbClr val="D0E0FE"/>
              </a:gs>
            </a:gsLst>
            <a:lin ang="5400000" scaled="1"/>
          </a:gradFill>
          <a:ln w="12700">
            <a:solidFill>
              <a:srgbClr val="000000"/>
            </a:solidFill>
            <a:miter lim="800000"/>
            <a:headEnd/>
            <a:tailEnd/>
          </a:ln>
        </p:spPr>
        <p:txBody>
          <a:bodyPr rot="10800000" vert="eaVert" wrap="none" lIns="90488" tIns="44450" rIns="90488" bIns="44450"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800" b="1">
                <a:solidFill>
                  <a:srgbClr val="000000"/>
                </a:solidFill>
                <a:latin typeface="Arial" panose="020B0604020202020204" pitchFamily="34" charset="0"/>
              </a:rPr>
              <a:t>4. Diversification</a:t>
            </a:r>
          </a:p>
        </p:txBody>
      </p:sp>
      <p:sp>
        <p:nvSpPr>
          <p:cNvPr id="30727" name="Rectangle 8"/>
          <p:cNvSpPr>
            <a:spLocks noChangeArrowheads="1"/>
          </p:cNvSpPr>
          <p:nvPr/>
        </p:nvSpPr>
        <p:spPr bwMode="auto">
          <a:xfrm>
            <a:off x="344488" y="3408363"/>
            <a:ext cx="1563687"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2800" b="1">
                <a:solidFill>
                  <a:srgbClr val="000000"/>
                </a:solidFill>
                <a:latin typeface="Arial" panose="020B0604020202020204" pitchFamily="34" charset="0"/>
              </a:rPr>
              <a:t>Existing</a:t>
            </a:r>
          </a:p>
          <a:p>
            <a:pPr algn="ctr">
              <a:lnSpc>
                <a:spcPct val="90000"/>
              </a:lnSpc>
            </a:pPr>
            <a:r>
              <a:rPr lang="en-US" altLang="en-US" sz="2800" b="1">
                <a:solidFill>
                  <a:srgbClr val="000000"/>
                </a:solidFill>
                <a:latin typeface="Arial" panose="020B0604020202020204" pitchFamily="34" charset="0"/>
              </a:rPr>
              <a:t>Markets</a:t>
            </a:r>
          </a:p>
        </p:txBody>
      </p:sp>
      <p:sp>
        <p:nvSpPr>
          <p:cNvPr id="30728" name="Rectangle 9"/>
          <p:cNvSpPr>
            <a:spLocks noChangeArrowheads="1"/>
          </p:cNvSpPr>
          <p:nvPr/>
        </p:nvSpPr>
        <p:spPr bwMode="auto">
          <a:xfrm>
            <a:off x="365125" y="4832350"/>
            <a:ext cx="1525588"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2800" b="1">
                <a:solidFill>
                  <a:srgbClr val="000000"/>
                </a:solidFill>
                <a:latin typeface="Arial" panose="020B0604020202020204" pitchFamily="34" charset="0"/>
              </a:rPr>
              <a:t>New</a:t>
            </a:r>
          </a:p>
          <a:p>
            <a:pPr algn="ctr">
              <a:lnSpc>
                <a:spcPct val="90000"/>
              </a:lnSpc>
            </a:pPr>
            <a:r>
              <a:rPr lang="en-US" altLang="en-US" sz="2800" b="1">
                <a:solidFill>
                  <a:srgbClr val="000000"/>
                </a:solidFill>
                <a:latin typeface="Arial" panose="020B0604020202020204" pitchFamily="34" charset="0"/>
              </a:rPr>
              <a:t>Markets</a:t>
            </a:r>
          </a:p>
        </p:txBody>
      </p:sp>
      <p:sp>
        <p:nvSpPr>
          <p:cNvPr id="30729" name="Rectangle 10"/>
          <p:cNvSpPr>
            <a:spLocks noChangeArrowheads="1"/>
          </p:cNvSpPr>
          <p:nvPr/>
        </p:nvSpPr>
        <p:spPr bwMode="auto">
          <a:xfrm>
            <a:off x="2895600" y="2471738"/>
            <a:ext cx="1722438"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2800" b="1">
                <a:solidFill>
                  <a:srgbClr val="000000"/>
                </a:solidFill>
                <a:latin typeface="Arial" panose="020B0604020202020204" pitchFamily="34" charset="0"/>
              </a:rPr>
              <a:t>Existing</a:t>
            </a:r>
          </a:p>
          <a:p>
            <a:pPr algn="ctr">
              <a:lnSpc>
                <a:spcPct val="90000"/>
              </a:lnSpc>
            </a:pPr>
            <a:r>
              <a:rPr lang="en-US" altLang="en-US" sz="2800" b="1">
                <a:solidFill>
                  <a:srgbClr val="000000"/>
                </a:solidFill>
                <a:latin typeface="Arial" panose="020B0604020202020204" pitchFamily="34" charset="0"/>
              </a:rPr>
              <a:t>Products</a:t>
            </a:r>
          </a:p>
        </p:txBody>
      </p:sp>
      <p:sp>
        <p:nvSpPr>
          <p:cNvPr id="30730" name="Rectangle 11"/>
          <p:cNvSpPr>
            <a:spLocks noChangeArrowheads="1"/>
          </p:cNvSpPr>
          <p:nvPr/>
        </p:nvSpPr>
        <p:spPr bwMode="auto">
          <a:xfrm>
            <a:off x="6370638" y="2471738"/>
            <a:ext cx="1722437"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2800" b="1">
                <a:solidFill>
                  <a:srgbClr val="000000"/>
                </a:solidFill>
                <a:latin typeface="Arial" panose="020B0604020202020204" pitchFamily="34" charset="0"/>
              </a:rPr>
              <a:t>New</a:t>
            </a:r>
          </a:p>
          <a:p>
            <a:pPr algn="ctr">
              <a:lnSpc>
                <a:spcPct val="90000"/>
              </a:lnSpc>
            </a:pPr>
            <a:r>
              <a:rPr lang="en-US" altLang="en-US" sz="2800" b="1">
                <a:solidFill>
                  <a:srgbClr val="000000"/>
                </a:solidFill>
                <a:latin typeface="Arial" panose="020B0604020202020204" pitchFamily="34" charset="0"/>
              </a:rPr>
              <a:t>Products</a:t>
            </a:r>
          </a:p>
        </p:txBody>
      </p:sp>
      <p:sp>
        <p:nvSpPr>
          <p:cNvPr id="30731" name="Rectangle 12"/>
          <p:cNvSpPr>
            <a:spLocks noChangeArrowheads="1"/>
          </p:cNvSpPr>
          <p:nvPr/>
        </p:nvSpPr>
        <p:spPr bwMode="auto">
          <a:xfrm>
            <a:off x="2057400" y="1282700"/>
            <a:ext cx="6400800" cy="749300"/>
          </a:xfrm>
          <a:prstGeom prst="rect">
            <a:avLst/>
          </a:prstGeom>
          <a:solidFill>
            <a:schemeClr val="accent1"/>
          </a:solidFill>
          <a:ln w="12700">
            <a:solidFill>
              <a:schemeClr val="tx1"/>
            </a:solidFill>
            <a:miter lim="800000"/>
            <a:headEnd/>
            <a:tailEnd/>
          </a:ln>
        </p:spPr>
        <p:txBody>
          <a:bodyPr wrap="none" lIns="90488" tIns="44450" rIns="90488" bIns="44450"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3200" b="1">
                <a:latin typeface="Arial" panose="020B0604020202020204" pitchFamily="34" charset="0"/>
              </a:rPr>
              <a:t>Product/ Market Expansion Grid </a:t>
            </a:r>
          </a:p>
        </p:txBody>
      </p:sp>
    </p:spTree>
  </p:cSld>
  <p:clrMapOvr>
    <a:masterClrMapping/>
  </p:clrMapOvr>
  <p:transition spd="slow">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a:xfrm>
            <a:off x="239713" y="-15875"/>
            <a:ext cx="7829550" cy="647700"/>
          </a:xfrm>
        </p:spPr>
        <p:txBody>
          <a:bodyPr/>
          <a:lstStyle/>
          <a:p>
            <a:pPr eaLnBrk="1" hangingPunct="1"/>
            <a:r>
              <a:rPr lang="en-US" altLang="en-US" sz="4000" smtClean="0"/>
              <a:t>Product/ Market Expansion Grid</a:t>
            </a:r>
          </a:p>
        </p:txBody>
      </p:sp>
      <p:sp>
        <p:nvSpPr>
          <p:cNvPr id="14339" name="Rectangle 3"/>
          <p:cNvSpPr>
            <a:spLocks noGrp="1" noChangeArrowheads="1"/>
          </p:cNvSpPr>
          <p:nvPr>
            <p:ph idx="1"/>
          </p:nvPr>
        </p:nvSpPr>
        <p:spPr>
          <a:xfrm>
            <a:off x="228600" y="971550"/>
            <a:ext cx="9353550" cy="5848350"/>
          </a:xfrm>
          <a:ln w="12700">
            <a:miter lim="800000"/>
            <a:headEnd/>
            <a:tailEnd/>
          </a:ln>
        </p:spPr>
        <p:txBody>
          <a:bodyPr lIns="90488" tIns="44450" rIns="90488" bIns="44450" rtlCol="0">
            <a:normAutofit lnSpcReduction="10000"/>
          </a:bodyPr>
          <a:lstStyle/>
          <a:p>
            <a:pPr marL="188595" indent="-188595" defTabSz="754380" eaLnBrk="1" fontAlgn="auto" hangingPunct="1">
              <a:spcAft>
                <a:spcPts val="0"/>
              </a:spcAft>
              <a:buClr>
                <a:schemeClr val="accent1"/>
              </a:buClr>
              <a:defRPr/>
            </a:pPr>
            <a:r>
              <a:rPr lang="en-US" sz="2800" dirty="0">
                <a:effectLst>
                  <a:outerShdw blurRad="38100" dist="38100" dir="2700000" algn="tl">
                    <a:srgbClr val="000000"/>
                  </a:outerShdw>
                </a:effectLst>
              </a:rPr>
              <a:t>Market Penetration</a:t>
            </a:r>
            <a:r>
              <a:rPr lang="en-US" sz="2800" dirty="0"/>
              <a:t>: increase sales to present customers with current products. How? Cut prices, increase advertising, get products into more stores.</a:t>
            </a:r>
          </a:p>
          <a:p>
            <a:pPr marL="188595" indent="-188595" defTabSz="754380" eaLnBrk="1" fontAlgn="auto" hangingPunct="1">
              <a:spcAft>
                <a:spcPts val="0"/>
              </a:spcAft>
              <a:buClr>
                <a:schemeClr val="accent1"/>
              </a:buClr>
              <a:defRPr/>
            </a:pPr>
            <a:endParaRPr lang="en-US" sz="2800" dirty="0"/>
          </a:p>
          <a:p>
            <a:pPr marL="188595" indent="-188595" defTabSz="754380" eaLnBrk="1" fontAlgn="auto" hangingPunct="1">
              <a:spcAft>
                <a:spcPts val="0"/>
              </a:spcAft>
              <a:buClr>
                <a:schemeClr val="accent1"/>
              </a:buClr>
              <a:defRPr/>
            </a:pPr>
            <a:r>
              <a:rPr lang="en-US" sz="2800" dirty="0">
                <a:effectLst>
                  <a:outerShdw blurRad="38100" dist="38100" dir="2700000" algn="tl">
                    <a:srgbClr val="000000"/>
                  </a:outerShdw>
                </a:effectLst>
              </a:rPr>
              <a:t>Market Development</a:t>
            </a:r>
            <a:r>
              <a:rPr lang="en-US" sz="2800" dirty="0"/>
              <a:t>: develop new markets with current products.  How?  Identify new demographic or geographic markets.</a:t>
            </a:r>
          </a:p>
          <a:p>
            <a:pPr marL="188595" indent="-188595" defTabSz="754380" eaLnBrk="1" fontAlgn="auto" hangingPunct="1">
              <a:spcAft>
                <a:spcPts val="0"/>
              </a:spcAft>
              <a:buClr>
                <a:schemeClr val="accent1"/>
              </a:buClr>
              <a:buFontTx/>
              <a:buChar char=" "/>
              <a:defRPr/>
            </a:pPr>
            <a:endParaRPr lang="en-US" sz="2800" dirty="0"/>
          </a:p>
          <a:p>
            <a:pPr marL="188595" indent="-188595" defTabSz="754380" eaLnBrk="1" fontAlgn="auto" hangingPunct="1">
              <a:spcAft>
                <a:spcPts val="0"/>
              </a:spcAft>
              <a:buClr>
                <a:schemeClr val="accent1"/>
              </a:buClr>
              <a:defRPr/>
            </a:pPr>
            <a:r>
              <a:rPr lang="en-US" sz="2800" dirty="0">
                <a:effectLst>
                  <a:outerShdw blurRad="38100" dist="38100" dir="2700000" algn="tl">
                    <a:srgbClr val="000000"/>
                  </a:outerShdw>
                </a:effectLst>
              </a:rPr>
              <a:t>Product Development</a:t>
            </a:r>
            <a:r>
              <a:rPr lang="en-US" sz="2800" dirty="0"/>
              <a:t>: offering modified or new products to current customers. How?  New styles, flavors, colors, or modified products.</a:t>
            </a:r>
          </a:p>
          <a:p>
            <a:pPr marL="188595" indent="-188595" defTabSz="754380" eaLnBrk="1" fontAlgn="auto" hangingPunct="1">
              <a:spcAft>
                <a:spcPts val="0"/>
              </a:spcAft>
              <a:buClr>
                <a:schemeClr val="accent1"/>
              </a:buClr>
              <a:buFontTx/>
              <a:buChar char=" "/>
              <a:defRPr/>
            </a:pPr>
            <a:endParaRPr lang="en-US" sz="2800" dirty="0"/>
          </a:p>
          <a:p>
            <a:pPr marL="188595" indent="-188595" defTabSz="754380" eaLnBrk="1" fontAlgn="auto" hangingPunct="1">
              <a:spcAft>
                <a:spcPts val="0"/>
              </a:spcAft>
              <a:buClr>
                <a:schemeClr val="accent1"/>
              </a:buClr>
              <a:defRPr/>
            </a:pPr>
            <a:r>
              <a:rPr lang="en-US" sz="2800" dirty="0">
                <a:effectLst>
                  <a:outerShdw blurRad="38100" dist="38100" dir="2700000" algn="tl">
                    <a:srgbClr val="000000"/>
                  </a:outerShdw>
                </a:effectLst>
              </a:rPr>
              <a:t>Diversification</a:t>
            </a:r>
            <a:r>
              <a:rPr lang="en-US" sz="2800" dirty="0"/>
              <a:t>: new products for new markets. How?  Start up or buy new businesses. </a:t>
            </a:r>
          </a:p>
        </p:txBody>
      </p:sp>
    </p:spTree>
  </p:cSld>
  <p:clrMapOvr>
    <a:masterClrMapping/>
  </p:clrMapOvr>
  <p:transition spd="slow">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7" name="Content Placeholder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1295400"/>
            <a:ext cx="10058400" cy="6477000"/>
          </a:xfrm>
        </p:spPr>
      </p:pic>
      <p:sp>
        <p:nvSpPr>
          <p:cNvPr id="34818" name="Rectangle 5"/>
          <p:cNvSpPr>
            <a:spLocks noChangeArrowheads="1"/>
          </p:cNvSpPr>
          <p:nvPr/>
        </p:nvSpPr>
        <p:spPr bwMode="auto">
          <a:xfrm>
            <a:off x="381000" y="304800"/>
            <a:ext cx="6858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b="1"/>
              <a:t>Marketing Strategy and Marketing Mix </a:t>
            </a:r>
            <a:endParaRPr lang="en-US" alt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a:xfrm>
            <a:off x="239713" y="-15875"/>
            <a:ext cx="8980487" cy="1257300"/>
          </a:xfrm>
        </p:spPr>
        <p:txBody>
          <a:bodyPr/>
          <a:lstStyle/>
          <a:p>
            <a:pPr eaLnBrk="1" hangingPunct="1"/>
            <a:r>
              <a:rPr lang="en-US" altLang="en-US" sz="4000" b="1" smtClean="0"/>
              <a:t>Marketing Strategy and Marketing Mix </a:t>
            </a:r>
          </a:p>
        </p:txBody>
      </p:sp>
      <p:sp>
        <p:nvSpPr>
          <p:cNvPr id="15363" name="Rectangle 3"/>
          <p:cNvSpPr>
            <a:spLocks noGrp="1" noChangeArrowheads="1"/>
          </p:cNvSpPr>
          <p:nvPr>
            <p:ph idx="1"/>
          </p:nvPr>
        </p:nvSpPr>
        <p:spPr>
          <a:xfrm>
            <a:off x="400050" y="1409700"/>
            <a:ext cx="9277350" cy="5448300"/>
          </a:xfrm>
          <a:ln w="12700">
            <a:miter lim="800000"/>
            <a:headEnd/>
            <a:tailEnd/>
          </a:ln>
        </p:spPr>
        <p:txBody>
          <a:bodyPr lIns="90488" tIns="44450" rIns="90488" bIns="44450" rtlCol="0">
            <a:normAutofit/>
          </a:bodyPr>
          <a:lstStyle/>
          <a:p>
            <a:pPr marL="188595" indent="-188595" defTabSz="754380" eaLnBrk="1" fontAlgn="auto" hangingPunct="1">
              <a:spcAft>
                <a:spcPts val="0"/>
              </a:spcAft>
              <a:buClr>
                <a:schemeClr val="accent1"/>
              </a:buClr>
              <a:defRPr/>
            </a:pPr>
            <a:r>
              <a:rPr lang="en-US" sz="4000" dirty="0"/>
              <a:t>Customer driven marketing strategy</a:t>
            </a:r>
            <a:endParaRPr lang="en-US" sz="3600" dirty="0"/>
          </a:p>
          <a:p>
            <a:pPr marL="1006475" lvl="2" indent="-188595" defTabSz="754380" eaLnBrk="1" fontAlgn="auto" hangingPunct="1">
              <a:spcAft>
                <a:spcPts val="0"/>
              </a:spcAft>
              <a:buClr>
                <a:schemeClr val="accent1"/>
              </a:buClr>
              <a:defRPr/>
            </a:pPr>
            <a:r>
              <a:rPr lang="en-US" sz="2100" dirty="0">
                <a:effectLst>
                  <a:outerShdw blurRad="38100" dist="38100" dir="2700000" algn="tl">
                    <a:srgbClr val="000000"/>
                  </a:outerShdw>
                </a:effectLst>
              </a:rPr>
              <a:t>Market Segmentation</a:t>
            </a:r>
            <a:r>
              <a:rPr lang="en-US" sz="2100" dirty="0"/>
              <a:t>: determining distinct groups of buyers (segments) with different needs.</a:t>
            </a:r>
          </a:p>
          <a:p>
            <a:pPr marL="1006475" lvl="2" indent="-188595" defTabSz="754380" eaLnBrk="1" fontAlgn="auto" hangingPunct="1">
              <a:spcAft>
                <a:spcPts val="0"/>
              </a:spcAft>
              <a:buClr>
                <a:schemeClr val="accent1"/>
              </a:buClr>
              <a:defRPr/>
            </a:pPr>
            <a:r>
              <a:rPr lang="en-US" sz="2100" dirty="0">
                <a:effectLst>
                  <a:outerShdw blurRad="38100" dist="38100" dir="2700000" algn="tl">
                    <a:srgbClr val="000000"/>
                  </a:outerShdw>
                </a:effectLst>
              </a:rPr>
              <a:t>Market Targeting</a:t>
            </a:r>
            <a:r>
              <a:rPr lang="en-US" sz="2100" dirty="0"/>
              <a:t>: evaluating and selecting which target segments to enter.</a:t>
            </a:r>
          </a:p>
          <a:p>
            <a:pPr marL="1006475" lvl="2" indent="-188595" defTabSz="754380" eaLnBrk="1" fontAlgn="auto" hangingPunct="1">
              <a:spcAft>
                <a:spcPts val="0"/>
              </a:spcAft>
              <a:buClr>
                <a:schemeClr val="accent1"/>
              </a:buClr>
              <a:defRPr/>
            </a:pPr>
            <a:r>
              <a:rPr lang="en-US" sz="2100" dirty="0">
                <a:effectLst>
                  <a:outerShdw blurRad="38100" dist="38100" dir="2700000" algn="tl">
                    <a:srgbClr val="000000"/>
                  </a:outerShdw>
                </a:effectLst>
              </a:rPr>
              <a:t>Market Differentiation: </a:t>
            </a:r>
            <a:r>
              <a:rPr lang="en-US" sz="2100" dirty="0"/>
              <a:t>Actually differentiating the market offerings to create superior customer value.  </a:t>
            </a:r>
          </a:p>
          <a:p>
            <a:pPr marL="1006475" lvl="2" indent="-188595" defTabSz="754380" eaLnBrk="1" fontAlgn="auto" hangingPunct="1">
              <a:spcAft>
                <a:spcPts val="0"/>
              </a:spcAft>
              <a:buClr>
                <a:schemeClr val="accent1"/>
              </a:buClr>
              <a:defRPr/>
            </a:pPr>
            <a:r>
              <a:rPr lang="en-US" sz="2100" dirty="0">
                <a:effectLst>
                  <a:outerShdw blurRad="38100" dist="38100" dir="2700000" algn="tl">
                    <a:srgbClr val="000000"/>
                  </a:outerShdw>
                </a:effectLst>
              </a:rPr>
              <a:t>Market Positioning</a:t>
            </a:r>
            <a:r>
              <a:rPr lang="en-US" sz="2100" dirty="0"/>
              <a:t>: products distinctive and desirable place  in the minds of target segments compared to competing products.</a:t>
            </a:r>
          </a:p>
          <a:p>
            <a:pPr marL="188595" indent="-188595" defTabSz="754380" eaLnBrk="1" fontAlgn="auto" hangingPunct="1">
              <a:spcAft>
                <a:spcPts val="0"/>
              </a:spcAft>
              <a:buClr>
                <a:schemeClr val="accent1"/>
              </a:buClr>
              <a:defRPr/>
            </a:pPr>
            <a:r>
              <a:rPr lang="en-US" sz="2600" b="1" dirty="0"/>
              <a:t>Marketing Strategies for Differentiation/Competitive Advantage</a:t>
            </a:r>
          </a:p>
          <a:p>
            <a:pPr marL="1006475" lvl="2" indent="-188595" defTabSz="754380" eaLnBrk="1" fontAlgn="auto" hangingPunct="1">
              <a:spcAft>
                <a:spcPts val="0"/>
              </a:spcAft>
              <a:buClr>
                <a:schemeClr val="accent1"/>
              </a:buClr>
              <a:defRPr/>
            </a:pPr>
            <a:r>
              <a:rPr lang="en-US" sz="2400" dirty="0"/>
              <a:t>Market-Leader</a:t>
            </a:r>
          </a:p>
          <a:p>
            <a:pPr marL="1006475" lvl="2" indent="-188595" defTabSz="754380" eaLnBrk="1" fontAlgn="auto" hangingPunct="1">
              <a:spcAft>
                <a:spcPts val="0"/>
              </a:spcAft>
              <a:buClr>
                <a:schemeClr val="accent1"/>
              </a:buClr>
              <a:defRPr/>
            </a:pPr>
            <a:r>
              <a:rPr lang="en-US" sz="2400" dirty="0"/>
              <a:t>Market Challenger</a:t>
            </a:r>
          </a:p>
          <a:p>
            <a:pPr marL="1006475" lvl="2" indent="-188595" defTabSz="754380" eaLnBrk="1" fontAlgn="auto" hangingPunct="1">
              <a:spcAft>
                <a:spcPts val="0"/>
              </a:spcAft>
              <a:buClr>
                <a:schemeClr val="accent1"/>
              </a:buClr>
              <a:defRPr/>
            </a:pPr>
            <a:r>
              <a:rPr lang="en-US" sz="2400" dirty="0"/>
              <a:t>Market-Follower</a:t>
            </a:r>
          </a:p>
          <a:p>
            <a:pPr marL="1006475" lvl="2" indent="-188595" defTabSz="754380" eaLnBrk="1" fontAlgn="auto" hangingPunct="1">
              <a:spcAft>
                <a:spcPts val="0"/>
              </a:spcAft>
              <a:buClr>
                <a:schemeClr val="accent1"/>
              </a:buClr>
              <a:defRPr/>
            </a:pPr>
            <a:r>
              <a:rPr lang="en-US" sz="2400" dirty="0"/>
              <a:t>Market-Niche </a:t>
            </a:r>
          </a:p>
          <a:p>
            <a:pPr marL="188595" indent="-188595" defTabSz="754380" eaLnBrk="1" fontAlgn="auto" hangingPunct="1">
              <a:spcAft>
                <a:spcPts val="0"/>
              </a:spcAft>
              <a:buClr>
                <a:schemeClr val="accent1"/>
              </a:buClr>
              <a:buFontTx/>
              <a:buChar char="–"/>
              <a:defRPr/>
            </a:pPr>
            <a:endParaRPr lang="en-US" sz="2310" dirty="0"/>
          </a:p>
        </p:txBody>
      </p:sp>
    </p:spTree>
  </p:cSld>
  <p:clrMapOvr>
    <a:masterClrMapping/>
  </p:clrMapOvr>
  <p:transition spd="slow">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a:xfrm>
            <a:off x="239713" y="-15875"/>
            <a:ext cx="7010400" cy="647700"/>
          </a:xfrm>
        </p:spPr>
        <p:txBody>
          <a:bodyPr/>
          <a:lstStyle/>
          <a:p>
            <a:pPr eaLnBrk="1" hangingPunct="1"/>
            <a:r>
              <a:rPr lang="en-US" altLang="en-US" sz="4000" smtClean="0"/>
              <a:t>Marketing Mix- The Four P’s </a:t>
            </a:r>
          </a:p>
        </p:txBody>
      </p:sp>
      <p:sp>
        <p:nvSpPr>
          <p:cNvPr id="37890" name="Oval 3"/>
          <p:cNvSpPr>
            <a:spLocks noChangeArrowheads="1"/>
          </p:cNvSpPr>
          <p:nvPr/>
        </p:nvSpPr>
        <p:spPr bwMode="auto">
          <a:xfrm>
            <a:off x="3594100" y="3321050"/>
            <a:ext cx="3035300" cy="2089150"/>
          </a:xfrm>
          <a:prstGeom prst="ellipse">
            <a:avLst/>
          </a:prstGeom>
          <a:gradFill rotWithShape="0">
            <a:gsLst>
              <a:gs pos="0">
                <a:srgbClr val="FFE4D6"/>
              </a:gs>
              <a:gs pos="100000">
                <a:srgbClr val="FF7A31"/>
              </a:gs>
            </a:gsLst>
            <a:path path="shape">
              <a:fillToRect l="50000" t="50000" r="50000" b="50000"/>
            </a:path>
          </a:gradFill>
          <a:ln w="12700">
            <a:solidFill>
              <a:srgbClr val="000000"/>
            </a:solidFill>
            <a:round/>
            <a:headEnd/>
            <a:tailEnd/>
          </a:ln>
        </p:spPr>
        <p:txBody>
          <a:bodyPr wrap="none" lIns="90488" tIns="44450" rIns="90488" bIns="44450"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b="1">
                <a:solidFill>
                  <a:srgbClr val="000000"/>
                </a:solidFill>
                <a:latin typeface="Arial" panose="020B0604020202020204" pitchFamily="34" charset="0"/>
              </a:rPr>
              <a:t>Target </a:t>
            </a:r>
          </a:p>
          <a:p>
            <a:pPr algn="ctr">
              <a:lnSpc>
                <a:spcPct val="90000"/>
              </a:lnSpc>
            </a:pPr>
            <a:r>
              <a:rPr lang="en-US" altLang="en-US" b="1">
                <a:solidFill>
                  <a:srgbClr val="000000"/>
                </a:solidFill>
                <a:latin typeface="Arial" panose="020B0604020202020204" pitchFamily="34" charset="0"/>
              </a:rPr>
              <a:t>Customers</a:t>
            </a:r>
          </a:p>
          <a:p>
            <a:pPr algn="ctr">
              <a:lnSpc>
                <a:spcPct val="90000"/>
              </a:lnSpc>
            </a:pPr>
            <a:endParaRPr lang="en-US" altLang="en-US" b="1">
              <a:solidFill>
                <a:srgbClr val="000000"/>
              </a:solidFill>
              <a:latin typeface="Arial" panose="020B0604020202020204" pitchFamily="34" charset="0"/>
            </a:endParaRPr>
          </a:p>
          <a:p>
            <a:pPr algn="ctr">
              <a:lnSpc>
                <a:spcPct val="90000"/>
              </a:lnSpc>
            </a:pPr>
            <a:r>
              <a:rPr lang="en-US" altLang="en-US" b="1">
                <a:solidFill>
                  <a:srgbClr val="000000"/>
                </a:solidFill>
                <a:latin typeface="Arial" panose="020B0604020202020204" pitchFamily="34" charset="0"/>
              </a:rPr>
              <a:t>Intended</a:t>
            </a:r>
          </a:p>
          <a:p>
            <a:pPr algn="ctr">
              <a:lnSpc>
                <a:spcPct val="90000"/>
              </a:lnSpc>
            </a:pPr>
            <a:r>
              <a:rPr lang="en-US" altLang="en-US" b="1">
                <a:solidFill>
                  <a:srgbClr val="000000"/>
                </a:solidFill>
                <a:latin typeface="Arial" panose="020B0604020202020204" pitchFamily="34" charset="0"/>
              </a:rPr>
              <a:t>Positioning</a:t>
            </a:r>
          </a:p>
        </p:txBody>
      </p:sp>
      <p:sp>
        <p:nvSpPr>
          <p:cNvPr id="37891" name="Rectangle 4"/>
          <p:cNvSpPr>
            <a:spLocks noChangeArrowheads="1"/>
          </p:cNvSpPr>
          <p:nvPr/>
        </p:nvSpPr>
        <p:spPr bwMode="auto">
          <a:xfrm>
            <a:off x="914400" y="1295400"/>
            <a:ext cx="2578100" cy="1447800"/>
          </a:xfrm>
          <a:prstGeom prst="rect">
            <a:avLst/>
          </a:prstGeom>
          <a:solidFill>
            <a:srgbClr val="FEFF72"/>
          </a:solidFill>
          <a:ln w="12700">
            <a:solidFill>
              <a:srgbClr val="000000"/>
            </a:solidFill>
            <a:miter lim="800000"/>
            <a:headEnd/>
            <a:tailEnd/>
          </a:ln>
        </p:spPr>
        <p:txBody>
          <a:bodyPr wrap="none" lIns="87313" tIns="44450" rIns="87313" bIns="44450" anchor="ctr"/>
          <a:lstStyle>
            <a:lvl1pPr defTabSz="857250">
              <a:defRPr sz="2400">
                <a:solidFill>
                  <a:schemeClr val="tx1"/>
                </a:solidFill>
                <a:latin typeface="Times New Roman" panose="02020603050405020304" pitchFamily="18" charset="0"/>
              </a:defRPr>
            </a:lvl1pPr>
            <a:lvl2pPr marL="742950" indent="-285750" defTabSz="857250">
              <a:defRPr sz="2400">
                <a:solidFill>
                  <a:schemeClr val="tx1"/>
                </a:solidFill>
                <a:latin typeface="Times New Roman" panose="02020603050405020304" pitchFamily="18" charset="0"/>
              </a:defRPr>
            </a:lvl2pPr>
            <a:lvl3pPr marL="1143000" indent="-228600" defTabSz="857250">
              <a:defRPr sz="2400">
                <a:solidFill>
                  <a:schemeClr val="tx1"/>
                </a:solidFill>
                <a:latin typeface="Times New Roman" panose="02020603050405020304" pitchFamily="18" charset="0"/>
              </a:defRPr>
            </a:lvl3pPr>
            <a:lvl4pPr marL="1600200" indent="-228600" defTabSz="857250">
              <a:defRPr sz="2400">
                <a:solidFill>
                  <a:schemeClr val="tx1"/>
                </a:solidFill>
                <a:latin typeface="Times New Roman" panose="02020603050405020304" pitchFamily="18" charset="0"/>
              </a:defRPr>
            </a:lvl4pPr>
            <a:lvl5pPr marL="2057400" indent="-228600" defTabSz="857250">
              <a:defRPr sz="2400">
                <a:solidFill>
                  <a:schemeClr val="tx1"/>
                </a:solidFill>
                <a:latin typeface="Times New Roman" panose="02020603050405020304" pitchFamily="18" charset="0"/>
              </a:defRPr>
            </a:lvl5pPr>
            <a:lvl6pPr marL="2514600" indent="-228600" defTabSz="85725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5725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5725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572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800" b="1">
                <a:solidFill>
                  <a:srgbClr val="000000"/>
                </a:solidFill>
                <a:latin typeface="Arial" panose="020B0604020202020204" pitchFamily="34" charset="0"/>
              </a:rPr>
              <a:t>Product</a:t>
            </a:r>
            <a:endParaRPr lang="en-US" altLang="en-US" sz="2000" b="1">
              <a:solidFill>
                <a:srgbClr val="000000"/>
              </a:solidFill>
              <a:latin typeface="Arial" panose="020B0604020202020204" pitchFamily="34" charset="0"/>
            </a:endParaRPr>
          </a:p>
          <a:p>
            <a:pPr algn="ctr"/>
            <a:r>
              <a:rPr lang="en-US" altLang="en-US" sz="2000" b="1">
                <a:solidFill>
                  <a:srgbClr val="000000"/>
                </a:solidFill>
                <a:latin typeface="Arial" panose="020B0604020202020204" pitchFamily="34" charset="0"/>
              </a:rPr>
              <a:t>“</a:t>
            </a:r>
          </a:p>
          <a:p>
            <a:pPr algn="ctr"/>
            <a:r>
              <a:rPr lang="en-US" altLang="en-US" sz="2000" b="1">
                <a:solidFill>
                  <a:srgbClr val="000000"/>
                </a:solidFill>
                <a:latin typeface="Arial" panose="020B0604020202020204" pitchFamily="34" charset="0"/>
              </a:rPr>
              <a:t>Goods-and-service”</a:t>
            </a:r>
          </a:p>
          <a:p>
            <a:pPr algn="ctr"/>
            <a:r>
              <a:rPr lang="en-US" altLang="en-US" sz="2000" b="1">
                <a:solidFill>
                  <a:srgbClr val="000000"/>
                </a:solidFill>
                <a:latin typeface="Arial" panose="020B0604020202020204" pitchFamily="34" charset="0"/>
              </a:rPr>
              <a:t>combination that a </a:t>
            </a:r>
          </a:p>
          <a:p>
            <a:pPr algn="ctr"/>
            <a:r>
              <a:rPr lang="en-US" altLang="en-US" sz="2000" b="1">
                <a:solidFill>
                  <a:srgbClr val="000000"/>
                </a:solidFill>
                <a:latin typeface="Arial" panose="020B0604020202020204" pitchFamily="34" charset="0"/>
              </a:rPr>
              <a:t>company offers a</a:t>
            </a:r>
          </a:p>
          <a:p>
            <a:pPr algn="ctr"/>
            <a:r>
              <a:rPr lang="en-US" altLang="en-US" sz="2000" b="1">
                <a:solidFill>
                  <a:srgbClr val="000000"/>
                </a:solidFill>
                <a:latin typeface="Arial" panose="020B0604020202020204" pitchFamily="34" charset="0"/>
              </a:rPr>
              <a:t>target market</a:t>
            </a:r>
          </a:p>
          <a:p>
            <a:pPr algn="ctr"/>
            <a:endParaRPr lang="en-US" altLang="en-US" sz="2000" b="1">
              <a:solidFill>
                <a:srgbClr val="000000"/>
              </a:solidFill>
              <a:latin typeface="Arial" panose="020B0604020202020204" pitchFamily="34" charset="0"/>
            </a:endParaRPr>
          </a:p>
          <a:p>
            <a:pPr algn="ctr"/>
            <a:endParaRPr lang="en-US" altLang="en-US" sz="2000" b="1">
              <a:solidFill>
                <a:srgbClr val="000000"/>
              </a:solidFill>
              <a:latin typeface="Arial" panose="020B0604020202020204" pitchFamily="34" charset="0"/>
            </a:endParaRPr>
          </a:p>
          <a:p>
            <a:pPr algn="ctr" latinLnBrk="1"/>
            <a:endParaRPr lang="en-US" altLang="en-US" sz="2000" b="1">
              <a:solidFill>
                <a:srgbClr val="000000"/>
              </a:solidFill>
              <a:latin typeface="Arial" panose="020B0604020202020204" pitchFamily="34" charset="0"/>
            </a:endParaRPr>
          </a:p>
        </p:txBody>
      </p:sp>
      <p:sp>
        <p:nvSpPr>
          <p:cNvPr id="37892" name="Rectangle 5"/>
          <p:cNvSpPr>
            <a:spLocks noChangeArrowheads="1"/>
          </p:cNvSpPr>
          <p:nvPr/>
        </p:nvSpPr>
        <p:spPr bwMode="auto">
          <a:xfrm>
            <a:off x="6959600" y="1244600"/>
            <a:ext cx="2597150" cy="1422400"/>
          </a:xfrm>
          <a:prstGeom prst="rect">
            <a:avLst/>
          </a:prstGeom>
          <a:solidFill>
            <a:srgbClr val="FEFF72"/>
          </a:solidFill>
          <a:ln w="12700">
            <a:solidFill>
              <a:srgbClr val="000000"/>
            </a:solidFill>
            <a:miter lim="800000"/>
            <a:headEnd/>
            <a:tailEnd/>
          </a:ln>
        </p:spPr>
        <p:txBody>
          <a:bodyPr wrap="none" lIns="87313" tIns="44450" rIns="87313" bIns="44450" anchor="ctr"/>
          <a:lstStyle>
            <a:lvl1pPr defTabSz="857250">
              <a:defRPr sz="2400">
                <a:solidFill>
                  <a:schemeClr val="tx1"/>
                </a:solidFill>
                <a:latin typeface="Times New Roman" panose="02020603050405020304" pitchFamily="18" charset="0"/>
              </a:defRPr>
            </a:lvl1pPr>
            <a:lvl2pPr marL="742950" indent="-285750" defTabSz="857250">
              <a:defRPr sz="2400">
                <a:solidFill>
                  <a:schemeClr val="tx1"/>
                </a:solidFill>
                <a:latin typeface="Times New Roman" panose="02020603050405020304" pitchFamily="18" charset="0"/>
              </a:defRPr>
            </a:lvl2pPr>
            <a:lvl3pPr marL="1143000" indent="-228600" defTabSz="857250">
              <a:defRPr sz="2400">
                <a:solidFill>
                  <a:schemeClr val="tx1"/>
                </a:solidFill>
                <a:latin typeface="Times New Roman" panose="02020603050405020304" pitchFamily="18" charset="0"/>
              </a:defRPr>
            </a:lvl3pPr>
            <a:lvl4pPr marL="1600200" indent="-228600" defTabSz="857250">
              <a:defRPr sz="2400">
                <a:solidFill>
                  <a:schemeClr val="tx1"/>
                </a:solidFill>
                <a:latin typeface="Times New Roman" panose="02020603050405020304" pitchFamily="18" charset="0"/>
              </a:defRPr>
            </a:lvl4pPr>
            <a:lvl5pPr marL="2057400" indent="-228600" defTabSz="857250">
              <a:defRPr sz="2400">
                <a:solidFill>
                  <a:schemeClr val="tx1"/>
                </a:solidFill>
                <a:latin typeface="Times New Roman" panose="02020603050405020304" pitchFamily="18" charset="0"/>
              </a:defRPr>
            </a:lvl5pPr>
            <a:lvl6pPr marL="2514600" indent="-228600" defTabSz="85725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5725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5725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572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800" b="1">
                <a:solidFill>
                  <a:srgbClr val="000000"/>
                </a:solidFill>
                <a:latin typeface="Arial" panose="020B0604020202020204" pitchFamily="34" charset="0"/>
              </a:rPr>
              <a:t>Price</a:t>
            </a:r>
            <a:endParaRPr lang="en-US" altLang="en-US" sz="2000" b="1">
              <a:solidFill>
                <a:srgbClr val="000000"/>
              </a:solidFill>
              <a:latin typeface="Arial" panose="020B0604020202020204" pitchFamily="34" charset="0"/>
            </a:endParaRPr>
          </a:p>
          <a:p>
            <a:pPr algn="ctr"/>
            <a:endParaRPr lang="en-US" altLang="en-US" sz="2000" b="1">
              <a:solidFill>
                <a:srgbClr val="000000"/>
              </a:solidFill>
              <a:latin typeface="Arial" panose="020B0604020202020204" pitchFamily="34" charset="0"/>
            </a:endParaRPr>
          </a:p>
          <a:p>
            <a:pPr algn="ctr"/>
            <a:r>
              <a:rPr lang="en-US" altLang="en-US" sz="2000" b="1">
                <a:solidFill>
                  <a:srgbClr val="000000"/>
                </a:solidFill>
                <a:latin typeface="Arial" panose="020B0604020202020204" pitchFamily="34" charset="0"/>
              </a:rPr>
              <a:t>Amount of money</a:t>
            </a:r>
          </a:p>
          <a:p>
            <a:pPr algn="ctr"/>
            <a:r>
              <a:rPr lang="en-US" altLang="en-US" sz="2000" b="1">
                <a:solidFill>
                  <a:srgbClr val="000000"/>
                </a:solidFill>
                <a:latin typeface="Arial" panose="020B0604020202020204" pitchFamily="34" charset="0"/>
              </a:rPr>
              <a:t>that consumers </a:t>
            </a:r>
          </a:p>
          <a:p>
            <a:pPr algn="ctr"/>
            <a:r>
              <a:rPr lang="en-US" altLang="en-US" sz="2000" b="1">
                <a:solidFill>
                  <a:srgbClr val="000000"/>
                </a:solidFill>
                <a:latin typeface="Arial" panose="020B0604020202020204" pitchFamily="34" charset="0"/>
              </a:rPr>
              <a:t>have to pay to obtain</a:t>
            </a:r>
          </a:p>
          <a:p>
            <a:pPr algn="ctr"/>
            <a:r>
              <a:rPr lang="en-US" altLang="en-US" sz="2000" b="1">
                <a:solidFill>
                  <a:srgbClr val="000000"/>
                </a:solidFill>
                <a:latin typeface="Arial" panose="020B0604020202020204" pitchFamily="34" charset="0"/>
              </a:rPr>
              <a:t>the product</a:t>
            </a:r>
          </a:p>
          <a:p>
            <a:pPr algn="ctr"/>
            <a:endParaRPr lang="en-US" altLang="en-US" sz="2000" b="1">
              <a:solidFill>
                <a:srgbClr val="000000"/>
              </a:solidFill>
              <a:latin typeface="Arial" panose="020B0604020202020204" pitchFamily="34" charset="0"/>
            </a:endParaRPr>
          </a:p>
          <a:p>
            <a:pPr algn="ctr" latinLnBrk="1"/>
            <a:endParaRPr lang="en-US" altLang="en-US" sz="2000" b="1">
              <a:solidFill>
                <a:srgbClr val="000000"/>
              </a:solidFill>
              <a:latin typeface="Arial" panose="020B0604020202020204" pitchFamily="34" charset="0"/>
            </a:endParaRPr>
          </a:p>
        </p:txBody>
      </p:sp>
      <p:sp>
        <p:nvSpPr>
          <p:cNvPr id="37893" name="Line 6"/>
          <p:cNvSpPr>
            <a:spLocks noChangeShapeType="1"/>
          </p:cNvSpPr>
          <p:nvPr/>
        </p:nvSpPr>
        <p:spPr bwMode="auto">
          <a:xfrm flipH="1" flipV="1">
            <a:off x="6402388" y="4802188"/>
            <a:ext cx="1985962" cy="1227137"/>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894" name="Line 7"/>
          <p:cNvSpPr>
            <a:spLocks noChangeShapeType="1"/>
          </p:cNvSpPr>
          <p:nvPr/>
        </p:nvSpPr>
        <p:spPr bwMode="auto">
          <a:xfrm flipV="1">
            <a:off x="1716088" y="4802188"/>
            <a:ext cx="2017712" cy="1227137"/>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895" name="Line 8"/>
          <p:cNvSpPr>
            <a:spLocks noChangeShapeType="1"/>
          </p:cNvSpPr>
          <p:nvPr/>
        </p:nvSpPr>
        <p:spPr bwMode="auto">
          <a:xfrm flipH="1">
            <a:off x="6164263" y="2605088"/>
            <a:ext cx="1963737" cy="1058862"/>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896" name="Line 9"/>
          <p:cNvSpPr>
            <a:spLocks noChangeShapeType="1"/>
          </p:cNvSpPr>
          <p:nvPr/>
        </p:nvSpPr>
        <p:spPr bwMode="auto">
          <a:xfrm>
            <a:off x="2128838" y="2624138"/>
            <a:ext cx="1722437" cy="1062037"/>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897" name="Rectangle 10"/>
          <p:cNvSpPr>
            <a:spLocks noChangeArrowheads="1"/>
          </p:cNvSpPr>
          <p:nvPr/>
        </p:nvSpPr>
        <p:spPr bwMode="auto">
          <a:xfrm>
            <a:off x="533400" y="5943600"/>
            <a:ext cx="2674938" cy="1382713"/>
          </a:xfrm>
          <a:prstGeom prst="rect">
            <a:avLst/>
          </a:prstGeom>
          <a:solidFill>
            <a:srgbClr val="FEFF72"/>
          </a:solidFill>
          <a:ln w="12700">
            <a:solidFill>
              <a:srgbClr val="000000"/>
            </a:solidFill>
            <a:miter lim="800000"/>
            <a:headEnd/>
            <a:tailEnd/>
          </a:ln>
        </p:spPr>
        <p:txBody>
          <a:bodyPr wrap="none" lIns="87313" tIns="44450" rIns="87313" bIns="44450" anchor="ctr"/>
          <a:lstStyle>
            <a:lvl1pPr defTabSz="857250">
              <a:defRPr sz="2400">
                <a:solidFill>
                  <a:schemeClr val="tx1"/>
                </a:solidFill>
                <a:latin typeface="Times New Roman" panose="02020603050405020304" pitchFamily="18" charset="0"/>
              </a:defRPr>
            </a:lvl1pPr>
            <a:lvl2pPr marL="742950" indent="-285750" defTabSz="857250">
              <a:defRPr sz="2400">
                <a:solidFill>
                  <a:schemeClr val="tx1"/>
                </a:solidFill>
                <a:latin typeface="Times New Roman" panose="02020603050405020304" pitchFamily="18" charset="0"/>
              </a:defRPr>
            </a:lvl2pPr>
            <a:lvl3pPr marL="1143000" indent="-228600" defTabSz="857250">
              <a:defRPr sz="2400">
                <a:solidFill>
                  <a:schemeClr val="tx1"/>
                </a:solidFill>
                <a:latin typeface="Times New Roman" panose="02020603050405020304" pitchFamily="18" charset="0"/>
              </a:defRPr>
            </a:lvl3pPr>
            <a:lvl4pPr marL="1600200" indent="-228600" defTabSz="857250">
              <a:defRPr sz="2400">
                <a:solidFill>
                  <a:schemeClr val="tx1"/>
                </a:solidFill>
                <a:latin typeface="Times New Roman" panose="02020603050405020304" pitchFamily="18" charset="0"/>
              </a:defRPr>
            </a:lvl4pPr>
            <a:lvl5pPr marL="2057400" indent="-228600" defTabSz="857250">
              <a:defRPr sz="2400">
                <a:solidFill>
                  <a:schemeClr val="tx1"/>
                </a:solidFill>
                <a:latin typeface="Times New Roman" panose="02020603050405020304" pitchFamily="18" charset="0"/>
              </a:defRPr>
            </a:lvl5pPr>
            <a:lvl6pPr marL="2514600" indent="-228600" defTabSz="85725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5725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5725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5725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sz="2000" b="1">
              <a:solidFill>
                <a:srgbClr val="000000"/>
              </a:solidFill>
              <a:latin typeface="Arial" panose="020B0604020202020204" pitchFamily="34" charset="0"/>
            </a:endParaRPr>
          </a:p>
          <a:p>
            <a:pPr algn="ctr"/>
            <a:endParaRPr lang="en-US" altLang="en-US" sz="2000" b="1">
              <a:solidFill>
                <a:srgbClr val="000000"/>
              </a:solidFill>
              <a:latin typeface="Arial" panose="020B0604020202020204" pitchFamily="34" charset="0"/>
            </a:endParaRPr>
          </a:p>
          <a:p>
            <a:pPr algn="ctr"/>
            <a:endParaRPr lang="en-US" altLang="en-US" sz="2000" b="1">
              <a:solidFill>
                <a:srgbClr val="000000"/>
              </a:solidFill>
              <a:latin typeface="Arial" panose="020B0604020202020204" pitchFamily="34" charset="0"/>
            </a:endParaRPr>
          </a:p>
          <a:p>
            <a:pPr algn="ctr"/>
            <a:r>
              <a:rPr lang="en-US" altLang="en-US" sz="2000" b="1">
                <a:solidFill>
                  <a:srgbClr val="000000"/>
                </a:solidFill>
                <a:latin typeface="Arial" panose="020B0604020202020204" pitchFamily="34" charset="0"/>
              </a:rPr>
              <a:t>Activities that </a:t>
            </a:r>
          </a:p>
          <a:p>
            <a:pPr algn="ctr"/>
            <a:r>
              <a:rPr lang="en-US" altLang="en-US" sz="2000" b="1">
                <a:solidFill>
                  <a:srgbClr val="000000"/>
                </a:solidFill>
                <a:latin typeface="Arial" panose="020B0604020202020204" pitchFamily="34" charset="0"/>
              </a:rPr>
              <a:t>persuade target </a:t>
            </a:r>
          </a:p>
          <a:p>
            <a:pPr algn="ctr"/>
            <a:r>
              <a:rPr lang="en-US" altLang="en-US" sz="2000" b="1">
                <a:solidFill>
                  <a:srgbClr val="000000"/>
                </a:solidFill>
                <a:latin typeface="Arial" panose="020B0604020202020204" pitchFamily="34" charset="0"/>
              </a:rPr>
              <a:t>customers to buy</a:t>
            </a:r>
          </a:p>
          <a:p>
            <a:pPr algn="ctr"/>
            <a:r>
              <a:rPr lang="en-US" altLang="en-US" sz="2000" b="1">
                <a:solidFill>
                  <a:srgbClr val="000000"/>
                </a:solidFill>
                <a:latin typeface="Arial" panose="020B0604020202020204" pitchFamily="34" charset="0"/>
              </a:rPr>
              <a:t>the product</a:t>
            </a:r>
          </a:p>
          <a:p>
            <a:pPr algn="ctr"/>
            <a:r>
              <a:rPr lang="en-US" altLang="en-US" sz="2800" b="1">
                <a:solidFill>
                  <a:srgbClr val="000000"/>
                </a:solidFill>
                <a:latin typeface="Arial" panose="020B0604020202020204" pitchFamily="34" charset="0"/>
              </a:rPr>
              <a:t>Promotion</a:t>
            </a:r>
            <a:endParaRPr lang="en-US" altLang="en-US" sz="2000" b="1">
              <a:solidFill>
                <a:srgbClr val="000000"/>
              </a:solidFill>
              <a:latin typeface="Arial" panose="020B0604020202020204" pitchFamily="34" charset="0"/>
            </a:endParaRPr>
          </a:p>
          <a:p>
            <a:pPr algn="ctr" latinLnBrk="1"/>
            <a:endParaRPr lang="en-US" altLang="en-US" sz="2000" b="1">
              <a:solidFill>
                <a:srgbClr val="000000"/>
              </a:solidFill>
              <a:latin typeface="Arial" panose="020B0604020202020204" pitchFamily="34" charset="0"/>
            </a:endParaRPr>
          </a:p>
        </p:txBody>
      </p:sp>
      <p:sp>
        <p:nvSpPr>
          <p:cNvPr id="37898" name="Rectangle 11"/>
          <p:cNvSpPr>
            <a:spLocks noChangeArrowheads="1"/>
          </p:cNvSpPr>
          <p:nvPr/>
        </p:nvSpPr>
        <p:spPr bwMode="auto">
          <a:xfrm>
            <a:off x="6997700" y="6008688"/>
            <a:ext cx="2505075" cy="1276350"/>
          </a:xfrm>
          <a:prstGeom prst="rect">
            <a:avLst/>
          </a:prstGeom>
          <a:solidFill>
            <a:srgbClr val="FEFF72"/>
          </a:solidFill>
          <a:ln w="12700">
            <a:solidFill>
              <a:srgbClr val="000000"/>
            </a:solidFill>
            <a:miter lim="800000"/>
            <a:headEnd/>
            <a:tailEnd/>
          </a:ln>
        </p:spPr>
        <p:txBody>
          <a:bodyPr wrap="none" lIns="87313" tIns="44450" rIns="87313" bIns="44450" anchor="ctr"/>
          <a:lstStyle>
            <a:lvl1pPr defTabSz="857250">
              <a:defRPr sz="2400">
                <a:solidFill>
                  <a:schemeClr val="tx1"/>
                </a:solidFill>
                <a:latin typeface="Times New Roman" panose="02020603050405020304" pitchFamily="18" charset="0"/>
              </a:defRPr>
            </a:lvl1pPr>
            <a:lvl2pPr marL="742950" indent="-285750" defTabSz="857250">
              <a:defRPr sz="2400">
                <a:solidFill>
                  <a:schemeClr val="tx1"/>
                </a:solidFill>
                <a:latin typeface="Times New Roman" panose="02020603050405020304" pitchFamily="18" charset="0"/>
              </a:defRPr>
            </a:lvl2pPr>
            <a:lvl3pPr marL="1143000" indent="-228600" defTabSz="857250">
              <a:defRPr sz="2400">
                <a:solidFill>
                  <a:schemeClr val="tx1"/>
                </a:solidFill>
                <a:latin typeface="Times New Roman" panose="02020603050405020304" pitchFamily="18" charset="0"/>
              </a:defRPr>
            </a:lvl3pPr>
            <a:lvl4pPr marL="1600200" indent="-228600" defTabSz="857250">
              <a:defRPr sz="2400">
                <a:solidFill>
                  <a:schemeClr val="tx1"/>
                </a:solidFill>
                <a:latin typeface="Times New Roman" panose="02020603050405020304" pitchFamily="18" charset="0"/>
              </a:defRPr>
            </a:lvl4pPr>
            <a:lvl5pPr marL="2057400" indent="-228600" defTabSz="857250">
              <a:defRPr sz="2400">
                <a:solidFill>
                  <a:schemeClr val="tx1"/>
                </a:solidFill>
                <a:latin typeface="Times New Roman" panose="02020603050405020304" pitchFamily="18" charset="0"/>
              </a:defRPr>
            </a:lvl5pPr>
            <a:lvl6pPr marL="2514600" indent="-228600" defTabSz="85725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5725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5725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5725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sz="2000" b="1">
              <a:solidFill>
                <a:srgbClr val="000000"/>
              </a:solidFill>
              <a:latin typeface="Arial" panose="020B0604020202020204" pitchFamily="34" charset="0"/>
            </a:endParaRPr>
          </a:p>
          <a:p>
            <a:pPr algn="ctr"/>
            <a:endParaRPr lang="en-US" altLang="en-US" sz="2000" b="1">
              <a:solidFill>
                <a:srgbClr val="000000"/>
              </a:solidFill>
              <a:latin typeface="Arial" panose="020B0604020202020204" pitchFamily="34" charset="0"/>
            </a:endParaRPr>
          </a:p>
          <a:p>
            <a:pPr algn="ctr"/>
            <a:r>
              <a:rPr lang="en-US" altLang="en-US" sz="2000" b="1">
                <a:solidFill>
                  <a:srgbClr val="000000"/>
                </a:solidFill>
                <a:latin typeface="Arial" panose="020B0604020202020204" pitchFamily="34" charset="0"/>
              </a:rPr>
              <a:t>Company activities</a:t>
            </a:r>
          </a:p>
          <a:p>
            <a:pPr algn="ctr"/>
            <a:r>
              <a:rPr lang="en-US" altLang="en-US" sz="2000" b="1">
                <a:solidFill>
                  <a:srgbClr val="000000"/>
                </a:solidFill>
                <a:latin typeface="Arial" panose="020B0604020202020204" pitchFamily="34" charset="0"/>
              </a:rPr>
              <a:t>that make the </a:t>
            </a:r>
          </a:p>
          <a:p>
            <a:pPr algn="ctr"/>
            <a:r>
              <a:rPr lang="en-US" altLang="en-US" sz="2000" b="1">
                <a:solidFill>
                  <a:srgbClr val="000000"/>
                </a:solidFill>
                <a:latin typeface="Arial" panose="020B0604020202020204" pitchFamily="34" charset="0"/>
              </a:rPr>
              <a:t>product available</a:t>
            </a:r>
          </a:p>
          <a:p>
            <a:pPr algn="ctr"/>
            <a:endParaRPr lang="en-US" altLang="en-US" sz="2000" b="1">
              <a:solidFill>
                <a:srgbClr val="000000"/>
              </a:solidFill>
              <a:latin typeface="Arial" panose="020B0604020202020204" pitchFamily="34" charset="0"/>
            </a:endParaRPr>
          </a:p>
          <a:p>
            <a:pPr algn="ctr"/>
            <a:r>
              <a:rPr lang="en-US" altLang="en-US" sz="2800" b="1">
                <a:solidFill>
                  <a:srgbClr val="000000"/>
                </a:solidFill>
                <a:latin typeface="Arial" panose="020B0604020202020204" pitchFamily="34" charset="0"/>
              </a:rPr>
              <a:t>Place</a:t>
            </a:r>
          </a:p>
        </p:txBody>
      </p:sp>
      <p:sp>
        <p:nvSpPr>
          <p:cNvPr id="37899" name="Rectangle 12"/>
          <p:cNvSpPr>
            <a:spLocks noChangeArrowheads="1"/>
          </p:cNvSpPr>
          <p:nvPr/>
        </p:nvSpPr>
        <p:spPr bwMode="auto">
          <a:xfrm>
            <a:off x="1536700" y="6227763"/>
            <a:ext cx="1809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endParaRPr lang="en-US" altLang="en-US" sz="1600" b="1">
              <a:solidFill>
                <a:srgbClr val="FFFFFF"/>
              </a:solidFill>
              <a:latin typeface="Arial" panose="020B0604020202020204" pitchFamily="34" charset="0"/>
            </a:endParaRPr>
          </a:p>
          <a:p>
            <a:pPr algn="ctr">
              <a:lnSpc>
                <a:spcPct val="90000"/>
              </a:lnSpc>
            </a:pPr>
            <a:endParaRPr lang="en-US" altLang="en-US" sz="1600" b="1">
              <a:solidFill>
                <a:srgbClr val="FFFFFF"/>
              </a:solidFill>
              <a:latin typeface="Arial" panose="020B0604020202020204" pitchFamily="34" charset="0"/>
            </a:endParaRPr>
          </a:p>
          <a:p>
            <a:pPr algn="ctr">
              <a:lnSpc>
                <a:spcPct val="90000"/>
              </a:lnSpc>
            </a:pPr>
            <a:endParaRPr lang="en-US" altLang="en-US" sz="1600" b="1">
              <a:solidFill>
                <a:srgbClr val="FFFFFF"/>
              </a:solidFill>
              <a:latin typeface="Arial" panose="020B0604020202020204" pitchFamily="34" charset="0"/>
            </a:endParaRPr>
          </a:p>
          <a:p>
            <a:pPr algn="ctr">
              <a:lnSpc>
                <a:spcPct val="90000"/>
              </a:lnSpc>
            </a:pPr>
            <a:endParaRPr lang="en-US" altLang="en-US" sz="1600" b="1">
              <a:solidFill>
                <a:srgbClr val="FFFFFF"/>
              </a:solidFill>
              <a:latin typeface="Arial" panose="020B0604020202020204" pitchFamily="34" charset="0"/>
            </a:endParaRPr>
          </a:p>
          <a:p>
            <a:pPr algn="ctr" latinLnBrk="1">
              <a:lnSpc>
                <a:spcPct val="90000"/>
              </a:lnSpc>
            </a:pPr>
            <a:endParaRPr lang="en-US" altLang="en-US" sz="1600" b="1">
              <a:solidFill>
                <a:srgbClr val="FFFFFF"/>
              </a:solidFill>
              <a:latin typeface="Arial" panose="020B0604020202020204" pitchFamily="34" charset="0"/>
            </a:endParaRPr>
          </a:p>
        </p:txBody>
      </p:sp>
    </p:spTree>
  </p:cSld>
  <p:clrMapOvr>
    <a:masterClrMapping/>
  </p:clrMapOvr>
  <p:transition spd="slow">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noChangeArrowheads="1"/>
          </p:cNvSpPr>
          <p:nvPr>
            <p:ph type="title"/>
          </p:nvPr>
        </p:nvSpPr>
        <p:spPr/>
        <p:txBody>
          <a:bodyPr/>
          <a:lstStyle/>
          <a:p>
            <a:pPr eaLnBrk="1" hangingPunct="1"/>
            <a:r>
              <a:rPr lang="en-US" altLang="en-US" b="1" smtClean="0"/>
              <a:t>The four C’s</a:t>
            </a:r>
          </a:p>
        </p:txBody>
      </p:sp>
      <p:sp>
        <p:nvSpPr>
          <p:cNvPr id="39938" name="Content Placeholder 2"/>
          <p:cNvSpPr>
            <a:spLocks noGrp="1" noChangeArrowheads="1"/>
          </p:cNvSpPr>
          <p:nvPr>
            <p:ph idx="1"/>
          </p:nvPr>
        </p:nvSpPr>
        <p:spPr/>
        <p:txBody>
          <a:bodyPr/>
          <a:lstStyle/>
          <a:p>
            <a:pPr eaLnBrk="1" hangingPunct="1"/>
            <a:r>
              <a:rPr lang="en-US" altLang="en-US" smtClean="0"/>
              <a:t>The four Ps concept takes the seller's view of the market, not the buyer's view. From the buyer's viewpoint, in this age of customer value and relationships, the four Ps might be better described as the four Cs. </a:t>
            </a:r>
          </a:p>
          <a:p>
            <a:pPr eaLnBrk="1" hangingPunct="1"/>
            <a:r>
              <a:rPr lang="en-US" altLang="en-US" smtClean="0"/>
              <a:t>      </a:t>
            </a:r>
            <a:br>
              <a:rPr lang="en-US" altLang="en-US" smtClean="0"/>
            </a:br>
            <a:r>
              <a:rPr lang="en-US" altLang="en-US" smtClean="0"/>
              <a:t>       Product---&gt; Customer Solution</a:t>
            </a:r>
            <a:br>
              <a:rPr lang="en-US" altLang="en-US" smtClean="0"/>
            </a:br>
            <a:r>
              <a:rPr lang="en-US" altLang="en-US" smtClean="0"/>
              <a:t>       Price---&gt; Customer cost</a:t>
            </a:r>
            <a:br>
              <a:rPr lang="en-US" altLang="en-US" smtClean="0"/>
            </a:br>
            <a:r>
              <a:rPr lang="en-US" altLang="en-US" smtClean="0"/>
              <a:t>       Place---&gt; Convenience</a:t>
            </a:r>
            <a:br>
              <a:rPr lang="en-US" altLang="en-US" smtClean="0"/>
            </a:br>
            <a:r>
              <a:rPr lang="en-US" altLang="en-US" smtClean="0"/>
              <a:t>       Promotion---&gt; Communication</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p:cNvSpPr>
            <a:spLocks noGrp="1" noChangeArrowheads="1"/>
          </p:cNvSpPr>
          <p:nvPr>
            <p:ph type="title"/>
          </p:nvPr>
        </p:nvSpPr>
        <p:spPr/>
        <p:txBody>
          <a:bodyPr/>
          <a:lstStyle/>
          <a:p>
            <a:pPr eaLnBrk="1" hangingPunct="1"/>
            <a:r>
              <a:rPr lang="en-US" altLang="en-US" smtClean="0"/>
              <a:t>`1qqqqqqqqqqq4</a:t>
            </a:r>
          </a:p>
        </p:txBody>
      </p:sp>
      <p:pic>
        <p:nvPicPr>
          <p:cNvPr id="40962" name="Content Placeholder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3053" r="2290" b="3909"/>
          <a:stretch>
            <a:fillRect/>
          </a:stretch>
        </p:blipFill>
        <p:spPr>
          <a:xfrm>
            <a:off x="304800" y="592138"/>
            <a:ext cx="9448800" cy="6781800"/>
          </a:xfr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noChangeArrowheads="1"/>
          </p:cNvSpPr>
          <p:nvPr>
            <p:ph type="title"/>
          </p:nvPr>
        </p:nvSpPr>
        <p:spPr>
          <a:xfrm>
            <a:off x="692150" y="228600"/>
            <a:ext cx="8674100" cy="2568575"/>
          </a:xfrm>
        </p:spPr>
        <p:txBody>
          <a:bodyPr/>
          <a:lstStyle/>
          <a:p>
            <a:pPr eaLnBrk="1" hangingPunct="1"/>
            <a:r>
              <a:rPr lang="en-US" altLang="en-US" sz="4400" b="1" smtClean="0"/>
              <a:t>SWOT analysis</a:t>
            </a:r>
            <a:r>
              <a:rPr lang="en-US" altLang="en-US" b="1" smtClean="0"/>
              <a:t/>
            </a:r>
            <a:br>
              <a:rPr lang="en-US" altLang="en-US" b="1" smtClean="0"/>
            </a:br>
            <a:r>
              <a:rPr lang="en-US" altLang="en-US" sz="2800" b="1" smtClean="0"/>
              <a:t>A</a:t>
            </a:r>
            <a:r>
              <a:rPr lang="en-US" altLang="en-US" sz="2800" smtClean="0"/>
              <a:t> study undertaken by an organization to identify its internal strengths and weaknesses, as well as its external opportunities and </a:t>
            </a:r>
            <a:r>
              <a:rPr lang="en-US" altLang="en-US" smtClean="0"/>
              <a:t>threats.</a:t>
            </a:r>
            <a:r>
              <a:rPr lang="en-US" altLang="en-US" b="1" smtClean="0"/>
              <a:t> </a:t>
            </a:r>
          </a:p>
        </p:txBody>
      </p:sp>
      <p:pic>
        <p:nvPicPr>
          <p:cNvPr id="41986" name="Content Placeholder 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14300" y="3322638"/>
            <a:ext cx="9829800" cy="4408487"/>
          </a:xfr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p:nvPr>
        </p:nvSpPr>
        <p:spPr>
          <a:xfrm>
            <a:off x="461963" y="20638"/>
            <a:ext cx="7153275" cy="647700"/>
          </a:xfrm>
        </p:spPr>
        <p:txBody>
          <a:bodyPr/>
          <a:lstStyle/>
          <a:p>
            <a:pPr eaLnBrk="1" hangingPunct="1"/>
            <a:r>
              <a:rPr lang="en-US" altLang="en-US" sz="4000" smtClean="0"/>
              <a:t>Elements of a Marketing Plan</a:t>
            </a:r>
          </a:p>
        </p:txBody>
      </p:sp>
      <p:sp>
        <p:nvSpPr>
          <p:cNvPr id="43010" name="AutoShape 3"/>
          <p:cNvSpPr>
            <a:spLocks noChangeArrowheads="1"/>
          </p:cNvSpPr>
          <p:nvPr/>
        </p:nvSpPr>
        <p:spPr bwMode="auto">
          <a:xfrm rot="5400000">
            <a:off x="4471988" y="-2724150"/>
            <a:ext cx="857250" cy="8277225"/>
          </a:xfrm>
          <a:prstGeom prst="cube">
            <a:avLst>
              <a:gd name="adj" fmla="val 18241"/>
            </a:avLst>
          </a:prstGeom>
          <a:gradFill rotWithShape="0">
            <a:gsLst>
              <a:gs pos="0">
                <a:srgbClr val="B50069"/>
              </a:gs>
              <a:gs pos="100000">
                <a:srgbClr val="FFFFFF"/>
              </a:gs>
            </a:gsLst>
            <a:lin ang="5400000" scaled="1"/>
          </a:gradFill>
          <a:ln w="12700">
            <a:solidFill>
              <a:srgbClr val="000000"/>
            </a:solidFill>
            <a:miter lim="800000"/>
            <a:headEnd/>
            <a:tailEnd/>
          </a:ln>
        </p:spPr>
        <p:txBody>
          <a:bodyPr rot="10800000" vert="eaVert" wrap="none" lIns="90488" tIns="44450" rIns="90488" bIns="44450"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600" b="1">
                <a:solidFill>
                  <a:srgbClr val="000000"/>
                </a:solidFill>
                <a:latin typeface="Arial" panose="020B0604020202020204" pitchFamily="34" charset="0"/>
              </a:rPr>
              <a:t>Executive Summary</a:t>
            </a:r>
          </a:p>
        </p:txBody>
      </p:sp>
      <p:sp>
        <p:nvSpPr>
          <p:cNvPr id="43011" name="AutoShape 4"/>
          <p:cNvSpPr>
            <a:spLocks noChangeArrowheads="1"/>
          </p:cNvSpPr>
          <p:nvPr/>
        </p:nvSpPr>
        <p:spPr bwMode="auto">
          <a:xfrm rot="5400000">
            <a:off x="4641850" y="-1858962"/>
            <a:ext cx="844550" cy="7950200"/>
          </a:xfrm>
          <a:prstGeom prst="cube">
            <a:avLst>
              <a:gd name="adj" fmla="val 18241"/>
            </a:avLst>
          </a:prstGeom>
          <a:gradFill rotWithShape="0">
            <a:gsLst>
              <a:gs pos="0">
                <a:srgbClr val="B50069"/>
              </a:gs>
              <a:gs pos="100000">
                <a:srgbClr val="F0CCE1"/>
              </a:gs>
            </a:gsLst>
            <a:lin ang="5400000" scaled="1"/>
          </a:gradFill>
          <a:ln w="12700">
            <a:solidFill>
              <a:srgbClr val="000000"/>
            </a:solidFill>
            <a:miter lim="800000"/>
            <a:headEnd/>
            <a:tailEnd/>
          </a:ln>
        </p:spPr>
        <p:txBody>
          <a:bodyPr rot="10800000" vert="eaVert" wrap="none" lIns="90488" tIns="44450" rIns="90488" bIns="44450"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600" b="1">
                <a:solidFill>
                  <a:srgbClr val="000000"/>
                </a:solidFill>
                <a:latin typeface="Arial" panose="020B0604020202020204" pitchFamily="34" charset="0"/>
              </a:rPr>
              <a:t>Current Marketing Situation</a:t>
            </a:r>
          </a:p>
        </p:txBody>
      </p:sp>
      <p:sp>
        <p:nvSpPr>
          <p:cNvPr id="43012" name="AutoShape 5"/>
          <p:cNvSpPr>
            <a:spLocks noChangeArrowheads="1"/>
          </p:cNvSpPr>
          <p:nvPr/>
        </p:nvSpPr>
        <p:spPr bwMode="auto">
          <a:xfrm rot="5400000">
            <a:off x="4776787" y="-1006474"/>
            <a:ext cx="860425" cy="7664450"/>
          </a:xfrm>
          <a:prstGeom prst="cube">
            <a:avLst>
              <a:gd name="adj" fmla="val 17352"/>
            </a:avLst>
          </a:prstGeom>
          <a:gradFill rotWithShape="0">
            <a:gsLst>
              <a:gs pos="0">
                <a:srgbClr val="B50069"/>
              </a:gs>
              <a:gs pos="100000">
                <a:srgbClr val="E199C3"/>
              </a:gs>
            </a:gsLst>
            <a:lin ang="5400000" scaled="1"/>
          </a:gradFill>
          <a:ln w="12700">
            <a:solidFill>
              <a:srgbClr val="000000"/>
            </a:solidFill>
            <a:miter lim="800000"/>
            <a:headEnd/>
            <a:tailEnd/>
          </a:ln>
        </p:spPr>
        <p:txBody>
          <a:bodyPr rot="10800000" vert="eaVert" wrap="none" lIns="90488" tIns="44450" rIns="90488" bIns="44450"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600" b="1">
                <a:solidFill>
                  <a:srgbClr val="000000"/>
                </a:solidFill>
                <a:latin typeface="Arial" panose="020B0604020202020204" pitchFamily="34" charset="0"/>
              </a:rPr>
              <a:t>Threats and Opportunities</a:t>
            </a:r>
          </a:p>
        </p:txBody>
      </p:sp>
      <p:sp>
        <p:nvSpPr>
          <p:cNvPr id="43013" name="AutoShape 6"/>
          <p:cNvSpPr>
            <a:spLocks noChangeArrowheads="1"/>
          </p:cNvSpPr>
          <p:nvPr/>
        </p:nvSpPr>
        <p:spPr bwMode="auto">
          <a:xfrm rot="5400000">
            <a:off x="4968875" y="-112712"/>
            <a:ext cx="844550" cy="7296150"/>
          </a:xfrm>
          <a:prstGeom prst="cube">
            <a:avLst>
              <a:gd name="adj" fmla="val 18241"/>
            </a:avLst>
          </a:prstGeom>
          <a:gradFill rotWithShape="0">
            <a:gsLst>
              <a:gs pos="0">
                <a:srgbClr val="B50069"/>
              </a:gs>
              <a:gs pos="100000">
                <a:srgbClr val="DA7FB4"/>
              </a:gs>
            </a:gsLst>
            <a:lin ang="5400000" scaled="1"/>
          </a:gradFill>
          <a:ln w="12700">
            <a:solidFill>
              <a:srgbClr val="000000"/>
            </a:solidFill>
            <a:miter lim="800000"/>
            <a:headEnd/>
            <a:tailEnd/>
          </a:ln>
        </p:spPr>
        <p:txBody>
          <a:bodyPr rot="10800000" vert="eaVert" wrap="none" lIns="90488" tIns="44450" rIns="90488" bIns="44450"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600" b="1">
                <a:solidFill>
                  <a:srgbClr val="000000"/>
                </a:solidFill>
                <a:latin typeface="Arial" panose="020B0604020202020204" pitchFamily="34" charset="0"/>
              </a:rPr>
              <a:t>Objectives and Issues</a:t>
            </a:r>
          </a:p>
        </p:txBody>
      </p:sp>
      <p:sp>
        <p:nvSpPr>
          <p:cNvPr id="43014" name="AutoShape 7"/>
          <p:cNvSpPr>
            <a:spLocks noChangeArrowheads="1"/>
          </p:cNvSpPr>
          <p:nvPr/>
        </p:nvSpPr>
        <p:spPr bwMode="auto">
          <a:xfrm rot="5400000">
            <a:off x="5092700" y="723900"/>
            <a:ext cx="860425" cy="7032625"/>
          </a:xfrm>
          <a:prstGeom prst="cube">
            <a:avLst>
              <a:gd name="adj" fmla="val 18241"/>
            </a:avLst>
          </a:prstGeom>
          <a:gradFill rotWithShape="0">
            <a:gsLst>
              <a:gs pos="0">
                <a:srgbClr val="B50069"/>
              </a:gs>
              <a:gs pos="100000">
                <a:srgbClr val="D366A5"/>
              </a:gs>
            </a:gsLst>
            <a:lin ang="5400000" scaled="1"/>
          </a:gradFill>
          <a:ln w="12700">
            <a:solidFill>
              <a:srgbClr val="000000"/>
            </a:solidFill>
            <a:miter lim="800000"/>
            <a:headEnd/>
            <a:tailEnd/>
          </a:ln>
        </p:spPr>
        <p:txBody>
          <a:bodyPr rot="10800000" vert="eaVert" wrap="none" lIns="90488" tIns="44450" rIns="90488" bIns="44450"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600" b="1">
                <a:solidFill>
                  <a:srgbClr val="000000"/>
                </a:solidFill>
                <a:latin typeface="Arial" panose="020B0604020202020204" pitchFamily="34" charset="0"/>
              </a:rPr>
              <a:t>Marketing Strategy</a:t>
            </a:r>
          </a:p>
        </p:txBody>
      </p:sp>
      <p:sp>
        <p:nvSpPr>
          <p:cNvPr id="43015" name="AutoShape 8"/>
          <p:cNvSpPr>
            <a:spLocks noChangeArrowheads="1"/>
          </p:cNvSpPr>
          <p:nvPr/>
        </p:nvSpPr>
        <p:spPr bwMode="auto">
          <a:xfrm rot="5400000">
            <a:off x="5257800" y="1597025"/>
            <a:ext cx="857250" cy="6705600"/>
          </a:xfrm>
          <a:prstGeom prst="cube">
            <a:avLst>
              <a:gd name="adj" fmla="val 18241"/>
            </a:avLst>
          </a:prstGeom>
          <a:gradFill rotWithShape="0">
            <a:gsLst>
              <a:gs pos="0">
                <a:srgbClr val="B50069"/>
              </a:gs>
              <a:gs pos="100000">
                <a:srgbClr val="CB4C96"/>
              </a:gs>
            </a:gsLst>
            <a:lin ang="5400000" scaled="1"/>
          </a:gradFill>
          <a:ln w="12700">
            <a:solidFill>
              <a:srgbClr val="000000"/>
            </a:solidFill>
            <a:miter lim="800000"/>
            <a:headEnd/>
            <a:tailEnd/>
          </a:ln>
        </p:spPr>
        <p:txBody>
          <a:bodyPr rot="10800000" vert="eaVert" wrap="none" lIns="90488" tIns="44450" rIns="90488" bIns="44450"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600" b="1">
                <a:solidFill>
                  <a:srgbClr val="000000"/>
                </a:solidFill>
                <a:latin typeface="Arial" panose="020B0604020202020204" pitchFamily="34" charset="0"/>
              </a:rPr>
              <a:t>Action Programs</a:t>
            </a:r>
          </a:p>
        </p:txBody>
      </p:sp>
      <p:sp>
        <p:nvSpPr>
          <p:cNvPr id="43016" name="AutoShape 9"/>
          <p:cNvSpPr>
            <a:spLocks noChangeArrowheads="1"/>
          </p:cNvSpPr>
          <p:nvPr/>
        </p:nvSpPr>
        <p:spPr bwMode="auto">
          <a:xfrm rot="5400000">
            <a:off x="5411788" y="2466975"/>
            <a:ext cx="857250" cy="6400800"/>
          </a:xfrm>
          <a:prstGeom prst="cube">
            <a:avLst>
              <a:gd name="adj" fmla="val 18241"/>
            </a:avLst>
          </a:prstGeom>
          <a:gradFill rotWithShape="0">
            <a:gsLst>
              <a:gs pos="0">
                <a:srgbClr val="B50069"/>
              </a:gs>
              <a:gs pos="100000">
                <a:srgbClr val="C43387"/>
              </a:gs>
            </a:gsLst>
            <a:lin ang="5400000" scaled="1"/>
          </a:gradFill>
          <a:ln w="12700">
            <a:solidFill>
              <a:srgbClr val="000000"/>
            </a:solidFill>
            <a:miter lim="800000"/>
            <a:headEnd/>
            <a:tailEnd/>
          </a:ln>
        </p:spPr>
        <p:txBody>
          <a:bodyPr rot="10800000" vert="eaVert" wrap="none" lIns="90488" tIns="44450" rIns="90488" bIns="44450"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600" b="1">
                <a:solidFill>
                  <a:srgbClr val="000000"/>
                </a:solidFill>
                <a:latin typeface="Arial" panose="020B0604020202020204" pitchFamily="34" charset="0"/>
              </a:rPr>
              <a:t>Budgets</a:t>
            </a:r>
          </a:p>
        </p:txBody>
      </p:sp>
      <p:sp>
        <p:nvSpPr>
          <p:cNvPr id="43017" name="AutoShape 10"/>
          <p:cNvSpPr>
            <a:spLocks noChangeArrowheads="1"/>
          </p:cNvSpPr>
          <p:nvPr/>
        </p:nvSpPr>
        <p:spPr bwMode="auto">
          <a:xfrm rot="5400000">
            <a:off x="5581650" y="3357563"/>
            <a:ext cx="863600" cy="6051550"/>
          </a:xfrm>
          <a:prstGeom prst="cube">
            <a:avLst>
              <a:gd name="adj" fmla="val 18241"/>
            </a:avLst>
          </a:prstGeom>
          <a:gradFill rotWithShape="0">
            <a:gsLst>
              <a:gs pos="0">
                <a:srgbClr val="B50069"/>
              </a:gs>
              <a:gs pos="100000">
                <a:srgbClr val="BD1A78"/>
              </a:gs>
            </a:gsLst>
            <a:lin ang="5400000" scaled="1"/>
          </a:gradFill>
          <a:ln w="12700">
            <a:solidFill>
              <a:srgbClr val="000000"/>
            </a:solidFill>
            <a:miter lim="800000"/>
            <a:headEnd/>
            <a:tailEnd/>
          </a:ln>
        </p:spPr>
        <p:txBody>
          <a:bodyPr rot="10800000" vert="eaVert" wrap="none" lIns="90488" tIns="44450" rIns="90488" bIns="44450"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600" b="1">
                <a:solidFill>
                  <a:srgbClr val="000000"/>
                </a:solidFill>
                <a:latin typeface="Arial" panose="020B0604020202020204" pitchFamily="34" charset="0"/>
              </a:rPr>
              <a:t>Controls</a:t>
            </a:r>
          </a:p>
        </p:txBody>
      </p:sp>
    </p:spTree>
  </p:cSld>
  <p:clrMapOvr>
    <a:masterClrMapping/>
  </p:clrMapOvr>
  <p:transition spd="slow">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AutoShape 2"/>
          <p:cNvSpPr>
            <a:spLocks noChangeArrowheads="1"/>
          </p:cNvSpPr>
          <p:nvPr/>
        </p:nvSpPr>
        <p:spPr bwMode="auto">
          <a:xfrm>
            <a:off x="3149600" y="3152775"/>
            <a:ext cx="3740150" cy="1676400"/>
          </a:xfrm>
          <a:prstGeom prst="triangle">
            <a:avLst>
              <a:gd name="adj" fmla="val 49986"/>
            </a:avLst>
          </a:prstGeom>
          <a:gradFill rotWithShape="0">
            <a:gsLst>
              <a:gs pos="0">
                <a:srgbClr val="063DE8"/>
              </a:gs>
              <a:gs pos="100000">
                <a:srgbClr val="0537D0"/>
              </a:gs>
            </a:gsLst>
            <a:lin ang="5400000" scaled="1"/>
          </a:gradFill>
          <a:ln w="12700">
            <a:solidFill>
              <a:srgbClr val="000000"/>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4579" name="Rectangle 3"/>
          <p:cNvSpPr>
            <a:spLocks noGrp="1" noChangeArrowheads="1"/>
          </p:cNvSpPr>
          <p:nvPr>
            <p:ph type="title"/>
          </p:nvPr>
        </p:nvSpPr>
        <p:spPr>
          <a:xfrm>
            <a:off x="276225" y="87313"/>
            <a:ext cx="9247188" cy="755650"/>
          </a:xfrm>
        </p:spPr>
        <p:txBody>
          <a:bodyPr rtlCol="0">
            <a:normAutofit fontScale="90000"/>
          </a:bodyPr>
          <a:lstStyle/>
          <a:p>
            <a:pPr defTabSz="754380" eaLnBrk="1" fontAlgn="auto" hangingPunct="1">
              <a:spcAft>
                <a:spcPts val="0"/>
              </a:spcAft>
              <a:defRPr/>
            </a:pPr>
            <a:r>
              <a:rPr lang="en-US" sz="3630" dirty="0"/>
              <a:t/>
            </a:r>
            <a:br>
              <a:rPr lang="en-US" sz="3630" dirty="0"/>
            </a:br>
            <a:r>
              <a:rPr lang="en-US" sz="3630" dirty="0"/>
              <a:t/>
            </a:r>
            <a:br>
              <a:rPr lang="en-US" sz="3630" dirty="0"/>
            </a:br>
            <a:r>
              <a:rPr lang="en-US" sz="2700" b="1" dirty="0"/>
              <a:t>Marketing Implementation</a:t>
            </a:r>
            <a:r>
              <a:rPr lang="en-US" sz="2000" dirty="0"/>
              <a:t/>
            </a:r>
            <a:br>
              <a:rPr lang="en-US" sz="2000" dirty="0"/>
            </a:br>
            <a:r>
              <a:rPr lang="en-US" altLang="en-US" sz="2000" dirty="0"/>
              <a:t>The process that turns marketing strategies and plans into marketing actions in order to accomplish strategic marketing objectives</a:t>
            </a:r>
            <a:r>
              <a:rPr lang="en-US" altLang="en-US" sz="2800" dirty="0"/>
              <a:t/>
            </a:r>
            <a:br>
              <a:rPr lang="en-US" altLang="en-US" sz="2800" dirty="0"/>
            </a:br>
            <a:r>
              <a:rPr lang="en-US" altLang="en-US" sz="2800" dirty="0"/>
              <a:t/>
            </a:r>
            <a:br>
              <a:rPr lang="en-US" altLang="en-US" sz="2800" dirty="0"/>
            </a:br>
            <a:endParaRPr lang="en-US" sz="3630" dirty="0"/>
          </a:p>
        </p:txBody>
      </p:sp>
      <p:sp>
        <p:nvSpPr>
          <p:cNvPr id="45059" name="AutoShape 4"/>
          <p:cNvSpPr>
            <a:spLocks noChangeArrowheads="1"/>
          </p:cNvSpPr>
          <p:nvPr/>
        </p:nvSpPr>
        <p:spPr bwMode="auto">
          <a:xfrm rot="5400000">
            <a:off x="4764088" y="-3325813"/>
            <a:ext cx="482600" cy="8988425"/>
          </a:xfrm>
          <a:prstGeom prst="cube">
            <a:avLst>
              <a:gd name="adj" fmla="val 10829"/>
            </a:avLst>
          </a:prstGeom>
          <a:solidFill>
            <a:srgbClr val="FEFF72"/>
          </a:solidFill>
          <a:ln w="12700">
            <a:solidFill>
              <a:srgbClr val="000000"/>
            </a:solidFill>
            <a:miter lim="800000"/>
            <a:headEnd/>
            <a:tailEnd/>
          </a:ln>
          <a:effectLst>
            <a:outerShdw dist="89803" dir="2700000" algn="ctr" rotWithShape="0">
              <a:schemeClr val="bg2">
                <a:alpha val="50000"/>
              </a:schemeClr>
            </a:outerShdw>
          </a:effectLst>
        </p:spPr>
        <p:txBody>
          <a:bodyPr rot="10800000" vert="eaVert" wrap="none" lIns="90488" tIns="44450" rIns="90488" bIns="44450"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b="1">
                <a:solidFill>
                  <a:srgbClr val="000000"/>
                </a:solidFill>
                <a:latin typeface="Arial" panose="020B0604020202020204" pitchFamily="34" charset="0"/>
              </a:rPr>
              <a:t>Marketing Strategy</a:t>
            </a:r>
          </a:p>
        </p:txBody>
      </p:sp>
      <p:sp>
        <p:nvSpPr>
          <p:cNvPr id="45060" name="AutoShape 5"/>
          <p:cNvSpPr>
            <a:spLocks noChangeArrowheads="1"/>
          </p:cNvSpPr>
          <p:nvPr/>
        </p:nvSpPr>
        <p:spPr bwMode="auto">
          <a:xfrm rot="5400000">
            <a:off x="4792662" y="3175001"/>
            <a:ext cx="473075" cy="7639050"/>
          </a:xfrm>
          <a:prstGeom prst="cube">
            <a:avLst>
              <a:gd name="adj" fmla="val 10829"/>
            </a:avLst>
          </a:prstGeom>
          <a:solidFill>
            <a:srgbClr val="FEFF72"/>
          </a:solidFill>
          <a:ln w="12700">
            <a:solidFill>
              <a:srgbClr val="000000"/>
            </a:solidFill>
            <a:miter lim="800000"/>
            <a:headEnd/>
            <a:tailEnd/>
          </a:ln>
          <a:effectLst>
            <a:outerShdw dist="89803" dir="2700000" algn="ctr" rotWithShape="0">
              <a:schemeClr val="bg2">
                <a:alpha val="50000"/>
              </a:schemeClr>
            </a:outerShdw>
          </a:effectLst>
        </p:spPr>
        <p:txBody>
          <a:bodyPr rot="10800000" vert="eaVert" wrap="none" lIns="77788" tIns="39688" rIns="77788" bIns="39688" anchor="ctr"/>
          <a:lstStyle>
            <a:lvl1pPr defTabSz="661988">
              <a:defRPr sz="2400">
                <a:solidFill>
                  <a:schemeClr val="tx1"/>
                </a:solidFill>
                <a:latin typeface="Times New Roman" panose="02020603050405020304" pitchFamily="18" charset="0"/>
              </a:defRPr>
            </a:lvl1pPr>
            <a:lvl2pPr marL="742950" indent="-285750" defTabSz="661988">
              <a:defRPr sz="2400">
                <a:solidFill>
                  <a:schemeClr val="tx1"/>
                </a:solidFill>
                <a:latin typeface="Times New Roman" panose="02020603050405020304" pitchFamily="18" charset="0"/>
              </a:defRPr>
            </a:lvl2pPr>
            <a:lvl3pPr marL="1143000" indent="-228600" defTabSz="661988">
              <a:defRPr sz="2400">
                <a:solidFill>
                  <a:schemeClr val="tx1"/>
                </a:solidFill>
                <a:latin typeface="Times New Roman" panose="02020603050405020304" pitchFamily="18" charset="0"/>
              </a:defRPr>
            </a:lvl3pPr>
            <a:lvl4pPr marL="1600200" indent="-228600" defTabSz="661988">
              <a:defRPr sz="2400">
                <a:solidFill>
                  <a:schemeClr val="tx1"/>
                </a:solidFill>
                <a:latin typeface="Times New Roman" panose="02020603050405020304" pitchFamily="18" charset="0"/>
              </a:defRPr>
            </a:lvl4pPr>
            <a:lvl5pPr marL="2057400" indent="-228600" defTabSz="661988">
              <a:defRPr sz="2400">
                <a:solidFill>
                  <a:schemeClr val="tx1"/>
                </a:solidFill>
                <a:latin typeface="Times New Roman" panose="02020603050405020304" pitchFamily="18" charset="0"/>
              </a:defRPr>
            </a:lvl5pPr>
            <a:lvl6pPr marL="2514600" indent="-228600" defTabSz="6619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6619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6619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661988"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b="1">
                <a:solidFill>
                  <a:srgbClr val="000000"/>
                </a:solidFill>
                <a:latin typeface="Arial" panose="020B0604020202020204" pitchFamily="34" charset="0"/>
              </a:rPr>
              <a:t>Marketing Performance</a:t>
            </a:r>
          </a:p>
        </p:txBody>
      </p:sp>
      <p:sp>
        <p:nvSpPr>
          <p:cNvPr id="45061" name="AutoShape 6"/>
          <p:cNvSpPr>
            <a:spLocks noChangeArrowheads="1"/>
          </p:cNvSpPr>
          <p:nvPr/>
        </p:nvSpPr>
        <p:spPr bwMode="auto">
          <a:xfrm rot="10800000" flipH="1">
            <a:off x="3192463" y="4830763"/>
            <a:ext cx="3673475" cy="1643062"/>
          </a:xfrm>
          <a:prstGeom prst="triangle">
            <a:avLst>
              <a:gd name="adj" fmla="val 49986"/>
            </a:avLst>
          </a:prstGeom>
          <a:gradFill rotWithShape="0">
            <a:gsLst>
              <a:gs pos="0">
                <a:srgbClr val="D49FFF"/>
              </a:gs>
              <a:gs pos="100000">
                <a:srgbClr val="BE8FE5"/>
              </a:gs>
            </a:gsLst>
            <a:lin ang="5400000" scaled="1"/>
          </a:gradFill>
          <a:ln w="12700">
            <a:solidFill>
              <a:srgbClr val="000000"/>
            </a:solidFill>
            <a:miter lim="800000"/>
            <a:headEnd/>
            <a:tailEnd/>
          </a:ln>
        </p:spPr>
        <p:txBody>
          <a:bodyPr rot="10800000" wrap="none" lIns="85725" tIns="41275" rIns="85725" bIns="41275" anchor="ctr"/>
          <a:lstStyle>
            <a:lvl1pPr defTabSz="696913">
              <a:defRPr sz="2400">
                <a:solidFill>
                  <a:schemeClr val="tx1"/>
                </a:solidFill>
                <a:latin typeface="Times New Roman" panose="02020603050405020304" pitchFamily="18" charset="0"/>
              </a:defRPr>
            </a:lvl1pPr>
            <a:lvl2pPr marL="742950" indent="-285750" defTabSz="696913">
              <a:defRPr sz="2400">
                <a:solidFill>
                  <a:schemeClr val="tx1"/>
                </a:solidFill>
                <a:latin typeface="Times New Roman" panose="02020603050405020304" pitchFamily="18" charset="0"/>
              </a:defRPr>
            </a:lvl2pPr>
            <a:lvl3pPr marL="1143000" indent="-228600" defTabSz="696913">
              <a:defRPr sz="2400">
                <a:solidFill>
                  <a:schemeClr val="tx1"/>
                </a:solidFill>
                <a:latin typeface="Times New Roman" panose="02020603050405020304" pitchFamily="18" charset="0"/>
              </a:defRPr>
            </a:lvl3pPr>
            <a:lvl4pPr marL="1600200" indent="-228600" defTabSz="696913">
              <a:defRPr sz="2400">
                <a:solidFill>
                  <a:schemeClr val="tx1"/>
                </a:solidFill>
                <a:latin typeface="Times New Roman" panose="02020603050405020304" pitchFamily="18" charset="0"/>
              </a:defRPr>
            </a:lvl4pPr>
            <a:lvl5pPr marL="2057400" indent="-228600" defTabSz="696913">
              <a:defRPr sz="2400">
                <a:solidFill>
                  <a:schemeClr val="tx1"/>
                </a:solidFill>
                <a:latin typeface="Times New Roman" panose="02020603050405020304" pitchFamily="18" charset="0"/>
              </a:defRPr>
            </a:lvl5pPr>
            <a:lvl6pPr marL="2514600" indent="-228600" defTabSz="69691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69691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69691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696913"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sz="2000" b="1">
              <a:solidFill>
                <a:srgbClr val="000000"/>
              </a:solidFill>
              <a:latin typeface="Arial" panose="020B0604020202020204" pitchFamily="34" charset="0"/>
            </a:endParaRPr>
          </a:p>
          <a:p>
            <a:pPr algn="ctr"/>
            <a:endParaRPr lang="en-US" altLang="en-US" sz="2000" b="1">
              <a:solidFill>
                <a:srgbClr val="000000"/>
              </a:solidFill>
              <a:latin typeface="Arial" panose="020B0604020202020204" pitchFamily="34" charset="0"/>
            </a:endParaRPr>
          </a:p>
          <a:p>
            <a:pPr algn="ctr"/>
            <a:r>
              <a:rPr lang="en-US" altLang="en-US" sz="2200" b="1">
                <a:solidFill>
                  <a:srgbClr val="000000"/>
                </a:solidFill>
                <a:latin typeface="Arial" panose="020B0604020202020204" pitchFamily="34" charset="0"/>
              </a:rPr>
              <a:t>Implementation</a:t>
            </a:r>
          </a:p>
          <a:p>
            <a:pPr algn="ctr"/>
            <a:endParaRPr lang="en-US" altLang="en-US" sz="2000" b="1">
              <a:solidFill>
                <a:srgbClr val="000000"/>
              </a:solidFill>
              <a:latin typeface="Arial" panose="020B0604020202020204" pitchFamily="34" charset="0"/>
            </a:endParaRPr>
          </a:p>
          <a:p>
            <a:pPr algn="ctr" latinLnBrk="1"/>
            <a:endParaRPr lang="en-US" altLang="en-US" sz="2000" b="1">
              <a:solidFill>
                <a:srgbClr val="000000"/>
              </a:solidFill>
              <a:latin typeface="Arial" panose="020B0604020202020204" pitchFamily="34" charset="0"/>
            </a:endParaRPr>
          </a:p>
        </p:txBody>
      </p:sp>
      <p:sp>
        <p:nvSpPr>
          <p:cNvPr id="45062" name="AutoShape 7"/>
          <p:cNvSpPr>
            <a:spLocks noChangeArrowheads="1"/>
          </p:cNvSpPr>
          <p:nvPr/>
        </p:nvSpPr>
        <p:spPr bwMode="auto">
          <a:xfrm rot="10800000" flipH="1">
            <a:off x="5035550" y="3176588"/>
            <a:ext cx="3673475" cy="1641475"/>
          </a:xfrm>
          <a:prstGeom prst="triangle">
            <a:avLst>
              <a:gd name="adj" fmla="val 49986"/>
            </a:avLst>
          </a:prstGeom>
          <a:gradFill rotWithShape="0">
            <a:gsLst>
              <a:gs pos="0">
                <a:srgbClr val="00B7A5"/>
              </a:gs>
              <a:gs pos="100000">
                <a:srgbClr val="66D4C9"/>
              </a:gs>
            </a:gsLst>
            <a:lin ang="5400000" scaled="1"/>
          </a:gradFill>
          <a:ln w="12700">
            <a:solidFill>
              <a:srgbClr val="000000"/>
            </a:solidFill>
            <a:miter lim="800000"/>
            <a:headEnd/>
            <a:tailEnd/>
          </a:ln>
        </p:spPr>
        <p:txBody>
          <a:bodyPr rot="10800000" wrap="none" lIns="85725" tIns="41275" rIns="85725" bIns="41275" anchor="ctr"/>
          <a:lstStyle>
            <a:lvl1pPr defTabSz="696913">
              <a:defRPr sz="2400">
                <a:solidFill>
                  <a:schemeClr val="tx1"/>
                </a:solidFill>
                <a:latin typeface="Times New Roman" panose="02020603050405020304" pitchFamily="18" charset="0"/>
              </a:defRPr>
            </a:lvl1pPr>
            <a:lvl2pPr marL="742950" indent="-285750" defTabSz="696913">
              <a:defRPr sz="2400">
                <a:solidFill>
                  <a:schemeClr val="tx1"/>
                </a:solidFill>
                <a:latin typeface="Times New Roman" panose="02020603050405020304" pitchFamily="18" charset="0"/>
              </a:defRPr>
            </a:lvl2pPr>
            <a:lvl3pPr marL="1143000" indent="-228600" defTabSz="696913">
              <a:defRPr sz="2400">
                <a:solidFill>
                  <a:schemeClr val="tx1"/>
                </a:solidFill>
                <a:latin typeface="Times New Roman" panose="02020603050405020304" pitchFamily="18" charset="0"/>
              </a:defRPr>
            </a:lvl3pPr>
            <a:lvl4pPr marL="1600200" indent="-228600" defTabSz="696913">
              <a:defRPr sz="2400">
                <a:solidFill>
                  <a:schemeClr val="tx1"/>
                </a:solidFill>
                <a:latin typeface="Times New Roman" panose="02020603050405020304" pitchFamily="18" charset="0"/>
              </a:defRPr>
            </a:lvl4pPr>
            <a:lvl5pPr marL="2057400" indent="-228600" defTabSz="696913">
              <a:defRPr sz="2400">
                <a:solidFill>
                  <a:schemeClr val="tx1"/>
                </a:solidFill>
                <a:latin typeface="Times New Roman" panose="02020603050405020304" pitchFamily="18" charset="0"/>
              </a:defRPr>
            </a:lvl5pPr>
            <a:lvl6pPr marL="2514600" indent="-228600" defTabSz="69691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69691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69691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696913"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200" b="1">
                <a:solidFill>
                  <a:srgbClr val="000000"/>
                </a:solidFill>
                <a:latin typeface="Arial" panose="020B0604020202020204" pitchFamily="34" charset="0"/>
              </a:rPr>
              <a:t>Climate and</a:t>
            </a:r>
          </a:p>
          <a:p>
            <a:pPr algn="ctr"/>
            <a:r>
              <a:rPr lang="en-US" altLang="en-US" sz="2200" b="1">
                <a:solidFill>
                  <a:srgbClr val="000000"/>
                </a:solidFill>
                <a:latin typeface="Arial" panose="020B0604020202020204" pitchFamily="34" charset="0"/>
              </a:rPr>
              <a:t>Culture</a:t>
            </a:r>
          </a:p>
        </p:txBody>
      </p:sp>
      <p:sp>
        <p:nvSpPr>
          <p:cNvPr id="45063" name="AutoShape 8"/>
          <p:cNvSpPr>
            <a:spLocks noChangeArrowheads="1"/>
          </p:cNvSpPr>
          <p:nvPr/>
        </p:nvSpPr>
        <p:spPr bwMode="auto">
          <a:xfrm rot="10800000" flipH="1">
            <a:off x="1349375" y="3176588"/>
            <a:ext cx="3673475" cy="1641475"/>
          </a:xfrm>
          <a:prstGeom prst="triangle">
            <a:avLst>
              <a:gd name="adj" fmla="val 49986"/>
            </a:avLst>
          </a:prstGeom>
          <a:gradFill rotWithShape="0">
            <a:gsLst>
              <a:gs pos="0">
                <a:srgbClr val="00B7A5"/>
              </a:gs>
              <a:gs pos="100000">
                <a:srgbClr val="7FDBD2"/>
              </a:gs>
            </a:gsLst>
            <a:lin ang="5400000" scaled="1"/>
          </a:gradFill>
          <a:ln w="12700">
            <a:solidFill>
              <a:srgbClr val="000000"/>
            </a:solidFill>
            <a:miter lim="800000"/>
            <a:headEnd/>
            <a:tailEnd/>
          </a:ln>
        </p:spPr>
        <p:txBody>
          <a:bodyPr rot="10800000" wrap="none" lIns="85725" tIns="41275" rIns="85725" bIns="41275" anchor="ctr"/>
          <a:lstStyle>
            <a:lvl1pPr defTabSz="696913">
              <a:defRPr sz="2400">
                <a:solidFill>
                  <a:schemeClr val="tx1"/>
                </a:solidFill>
                <a:latin typeface="Times New Roman" panose="02020603050405020304" pitchFamily="18" charset="0"/>
              </a:defRPr>
            </a:lvl1pPr>
            <a:lvl2pPr marL="742950" indent="-285750" defTabSz="696913">
              <a:defRPr sz="2400">
                <a:solidFill>
                  <a:schemeClr val="tx1"/>
                </a:solidFill>
                <a:latin typeface="Times New Roman" panose="02020603050405020304" pitchFamily="18" charset="0"/>
              </a:defRPr>
            </a:lvl2pPr>
            <a:lvl3pPr marL="1143000" indent="-228600" defTabSz="696913">
              <a:defRPr sz="2400">
                <a:solidFill>
                  <a:schemeClr val="tx1"/>
                </a:solidFill>
                <a:latin typeface="Times New Roman" panose="02020603050405020304" pitchFamily="18" charset="0"/>
              </a:defRPr>
            </a:lvl3pPr>
            <a:lvl4pPr marL="1600200" indent="-228600" defTabSz="696913">
              <a:defRPr sz="2400">
                <a:solidFill>
                  <a:schemeClr val="tx1"/>
                </a:solidFill>
                <a:latin typeface="Times New Roman" panose="02020603050405020304" pitchFamily="18" charset="0"/>
              </a:defRPr>
            </a:lvl4pPr>
            <a:lvl5pPr marL="2057400" indent="-228600" defTabSz="696913">
              <a:defRPr sz="2400">
                <a:solidFill>
                  <a:schemeClr val="tx1"/>
                </a:solidFill>
                <a:latin typeface="Times New Roman" panose="02020603050405020304" pitchFamily="18" charset="0"/>
              </a:defRPr>
            </a:lvl5pPr>
            <a:lvl6pPr marL="2514600" indent="-228600" defTabSz="69691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69691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69691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696913"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200" b="1">
                <a:solidFill>
                  <a:srgbClr val="000000"/>
                </a:solidFill>
                <a:latin typeface="Arial" panose="020B0604020202020204" pitchFamily="34" charset="0"/>
              </a:rPr>
              <a:t>Action</a:t>
            </a:r>
          </a:p>
          <a:p>
            <a:pPr algn="ctr"/>
            <a:r>
              <a:rPr lang="en-US" altLang="en-US" sz="2200" b="1">
                <a:solidFill>
                  <a:srgbClr val="000000"/>
                </a:solidFill>
                <a:latin typeface="Arial" panose="020B0604020202020204" pitchFamily="34" charset="0"/>
              </a:rPr>
              <a:t>Programs</a:t>
            </a:r>
          </a:p>
        </p:txBody>
      </p:sp>
      <p:sp>
        <p:nvSpPr>
          <p:cNvPr id="45064" name="AutoShape 9"/>
          <p:cNvSpPr>
            <a:spLocks noChangeArrowheads="1"/>
          </p:cNvSpPr>
          <p:nvPr/>
        </p:nvSpPr>
        <p:spPr bwMode="auto">
          <a:xfrm rot="10800000" flipH="1">
            <a:off x="3130550" y="1473200"/>
            <a:ext cx="3797300" cy="1739900"/>
          </a:xfrm>
          <a:prstGeom prst="triangle">
            <a:avLst>
              <a:gd name="adj" fmla="val 49986"/>
            </a:avLst>
          </a:prstGeom>
          <a:gradFill rotWithShape="0">
            <a:gsLst>
              <a:gs pos="0">
                <a:srgbClr val="00B7A5"/>
              </a:gs>
              <a:gs pos="100000">
                <a:srgbClr val="4CCCC0"/>
              </a:gs>
            </a:gsLst>
            <a:lin ang="5400000" scaled="1"/>
          </a:gradFill>
          <a:ln w="12700">
            <a:solidFill>
              <a:srgbClr val="000000"/>
            </a:solidFill>
            <a:miter lim="800000"/>
            <a:headEnd/>
            <a:tailEnd/>
          </a:ln>
        </p:spPr>
        <p:txBody>
          <a:bodyPr rot="10800000" wrap="none" lIns="85725" tIns="41275" rIns="85725" bIns="41275" anchor="ctr"/>
          <a:lstStyle>
            <a:lvl1pPr defTabSz="696913">
              <a:defRPr sz="2400">
                <a:solidFill>
                  <a:schemeClr val="tx1"/>
                </a:solidFill>
                <a:latin typeface="Times New Roman" panose="02020603050405020304" pitchFamily="18" charset="0"/>
              </a:defRPr>
            </a:lvl1pPr>
            <a:lvl2pPr marL="742950" indent="-285750" defTabSz="696913">
              <a:defRPr sz="2400">
                <a:solidFill>
                  <a:schemeClr val="tx1"/>
                </a:solidFill>
                <a:latin typeface="Times New Roman" panose="02020603050405020304" pitchFamily="18" charset="0"/>
              </a:defRPr>
            </a:lvl2pPr>
            <a:lvl3pPr marL="1143000" indent="-228600" defTabSz="696913">
              <a:defRPr sz="2400">
                <a:solidFill>
                  <a:schemeClr val="tx1"/>
                </a:solidFill>
                <a:latin typeface="Times New Roman" panose="02020603050405020304" pitchFamily="18" charset="0"/>
              </a:defRPr>
            </a:lvl3pPr>
            <a:lvl4pPr marL="1600200" indent="-228600" defTabSz="696913">
              <a:defRPr sz="2400">
                <a:solidFill>
                  <a:schemeClr val="tx1"/>
                </a:solidFill>
                <a:latin typeface="Times New Roman" panose="02020603050405020304" pitchFamily="18" charset="0"/>
              </a:defRPr>
            </a:lvl4pPr>
            <a:lvl5pPr marL="2057400" indent="-228600" defTabSz="696913">
              <a:defRPr sz="2400">
                <a:solidFill>
                  <a:schemeClr val="tx1"/>
                </a:solidFill>
                <a:latin typeface="Times New Roman" panose="02020603050405020304" pitchFamily="18" charset="0"/>
              </a:defRPr>
            </a:lvl5pPr>
            <a:lvl6pPr marL="2514600" indent="-228600" defTabSz="69691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69691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69691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696913"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200" b="1">
                <a:solidFill>
                  <a:srgbClr val="000000"/>
                </a:solidFill>
                <a:latin typeface="Arial" panose="020B0604020202020204" pitchFamily="34" charset="0"/>
              </a:rPr>
              <a:t>Decision</a:t>
            </a:r>
          </a:p>
          <a:p>
            <a:pPr algn="ctr"/>
            <a:r>
              <a:rPr lang="en-US" altLang="en-US" sz="2200" b="1">
                <a:solidFill>
                  <a:srgbClr val="000000"/>
                </a:solidFill>
                <a:latin typeface="Arial" panose="020B0604020202020204" pitchFamily="34" charset="0"/>
              </a:rPr>
              <a:t>and</a:t>
            </a:r>
          </a:p>
          <a:p>
            <a:pPr algn="ctr"/>
            <a:r>
              <a:rPr lang="en-US" altLang="en-US" sz="2200" b="1">
                <a:solidFill>
                  <a:srgbClr val="000000"/>
                </a:solidFill>
                <a:latin typeface="Arial" panose="020B0604020202020204" pitchFamily="34" charset="0"/>
              </a:rPr>
              <a:t>Reward</a:t>
            </a:r>
          </a:p>
        </p:txBody>
      </p:sp>
      <p:sp>
        <p:nvSpPr>
          <p:cNvPr id="45065" name="AutoShape 10"/>
          <p:cNvSpPr>
            <a:spLocks noChangeArrowheads="1"/>
          </p:cNvSpPr>
          <p:nvPr/>
        </p:nvSpPr>
        <p:spPr bwMode="auto">
          <a:xfrm>
            <a:off x="1358900" y="1454150"/>
            <a:ext cx="3663950" cy="1709738"/>
          </a:xfrm>
          <a:prstGeom prst="triangle">
            <a:avLst>
              <a:gd name="adj" fmla="val 50755"/>
            </a:avLst>
          </a:prstGeom>
          <a:gradFill rotWithShape="0">
            <a:gsLst>
              <a:gs pos="0">
                <a:srgbClr val="4CCCC0"/>
              </a:gs>
              <a:gs pos="100000">
                <a:srgbClr val="00B7A5"/>
              </a:gs>
            </a:gsLst>
            <a:lin ang="18900000" scaled="1"/>
          </a:gradFill>
          <a:ln w="12700">
            <a:solidFill>
              <a:srgbClr val="000000"/>
            </a:solidFill>
            <a:miter lim="800000"/>
            <a:headEnd/>
            <a:tailEnd/>
          </a:ln>
        </p:spPr>
        <p:txBody>
          <a:bodyPr wrap="none" lIns="85725" tIns="41275" rIns="85725" bIns="41275" anchor="ctr"/>
          <a:lstStyle>
            <a:lvl1pPr defTabSz="696913">
              <a:defRPr sz="2400">
                <a:solidFill>
                  <a:schemeClr val="tx1"/>
                </a:solidFill>
                <a:latin typeface="Times New Roman" panose="02020603050405020304" pitchFamily="18" charset="0"/>
              </a:defRPr>
            </a:lvl1pPr>
            <a:lvl2pPr marL="742950" indent="-285750" defTabSz="696913">
              <a:defRPr sz="2400">
                <a:solidFill>
                  <a:schemeClr val="tx1"/>
                </a:solidFill>
                <a:latin typeface="Times New Roman" panose="02020603050405020304" pitchFamily="18" charset="0"/>
              </a:defRPr>
            </a:lvl2pPr>
            <a:lvl3pPr marL="1143000" indent="-228600" defTabSz="696913">
              <a:defRPr sz="2400">
                <a:solidFill>
                  <a:schemeClr val="tx1"/>
                </a:solidFill>
                <a:latin typeface="Times New Roman" panose="02020603050405020304" pitchFamily="18" charset="0"/>
              </a:defRPr>
            </a:lvl3pPr>
            <a:lvl4pPr marL="1600200" indent="-228600" defTabSz="696913">
              <a:defRPr sz="2400">
                <a:solidFill>
                  <a:schemeClr val="tx1"/>
                </a:solidFill>
                <a:latin typeface="Times New Roman" panose="02020603050405020304" pitchFamily="18" charset="0"/>
              </a:defRPr>
            </a:lvl4pPr>
            <a:lvl5pPr marL="2057400" indent="-228600" defTabSz="696913">
              <a:defRPr sz="2400">
                <a:solidFill>
                  <a:schemeClr val="tx1"/>
                </a:solidFill>
                <a:latin typeface="Times New Roman" panose="02020603050405020304" pitchFamily="18" charset="0"/>
              </a:defRPr>
            </a:lvl5pPr>
            <a:lvl6pPr marL="2514600" indent="-228600" defTabSz="69691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69691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69691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696913"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sz="2200" b="1">
              <a:solidFill>
                <a:srgbClr val="000000"/>
              </a:solidFill>
              <a:latin typeface="Arial" panose="020B0604020202020204" pitchFamily="34" charset="0"/>
            </a:endParaRPr>
          </a:p>
          <a:p>
            <a:pPr algn="ctr"/>
            <a:r>
              <a:rPr lang="en-US" altLang="en-US" sz="2200" b="1">
                <a:solidFill>
                  <a:srgbClr val="000000"/>
                </a:solidFill>
                <a:latin typeface="Arial" panose="020B0604020202020204" pitchFamily="34" charset="0"/>
              </a:rPr>
              <a:t>Organizational</a:t>
            </a:r>
          </a:p>
          <a:p>
            <a:pPr algn="ctr"/>
            <a:r>
              <a:rPr lang="en-US" altLang="en-US" sz="2200" b="1">
                <a:solidFill>
                  <a:srgbClr val="000000"/>
                </a:solidFill>
                <a:latin typeface="Arial" panose="020B0604020202020204" pitchFamily="34" charset="0"/>
              </a:rPr>
              <a:t>Structure</a:t>
            </a:r>
          </a:p>
        </p:txBody>
      </p:sp>
      <p:sp>
        <p:nvSpPr>
          <p:cNvPr id="45066" name="AutoShape 11"/>
          <p:cNvSpPr>
            <a:spLocks noChangeArrowheads="1"/>
          </p:cNvSpPr>
          <p:nvPr/>
        </p:nvSpPr>
        <p:spPr bwMode="auto">
          <a:xfrm>
            <a:off x="5035550" y="1520825"/>
            <a:ext cx="3673475" cy="1643063"/>
          </a:xfrm>
          <a:prstGeom prst="triangle">
            <a:avLst>
              <a:gd name="adj" fmla="val 49986"/>
            </a:avLst>
          </a:prstGeom>
          <a:gradFill rotWithShape="0">
            <a:gsLst>
              <a:gs pos="0">
                <a:srgbClr val="00B7A5"/>
              </a:gs>
              <a:gs pos="100000">
                <a:srgbClr val="33C5B7"/>
              </a:gs>
            </a:gsLst>
            <a:lin ang="2700000" scaled="1"/>
          </a:gradFill>
          <a:ln w="12700">
            <a:solidFill>
              <a:srgbClr val="000000"/>
            </a:solidFill>
            <a:miter lim="800000"/>
            <a:headEnd/>
            <a:tailEnd/>
          </a:ln>
        </p:spPr>
        <p:txBody>
          <a:bodyPr wrap="none" lIns="85725" tIns="41275" rIns="85725" bIns="41275" anchor="ctr"/>
          <a:lstStyle>
            <a:lvl1pPr defTabSz="696913">
              <a:defRPr sz="2400">
                <a:solidFill>
                  <a:schemeClr val="tx1"/>
                </a:solidFill>
                <a:latin typeface="Times New Roman" panose="02020603050405020304" pitchFamily="18" charset="0"/>
              </a:defRPr>
            </a:lvl1pPr>
            <a:lvl2pPr marL="742950" indent="-285750" defTabSz="696913">
              <a:defRPr sz="2400">
                <a:solidFill>
                  <a:schemeClr val="tx1"/>
                </a:solidFill>
                <a:latin typeface="Times New Roman" panose="02020603050405020304" pitchFamily="18" charset="0"/>
              </a:defRPr>
            </a:lvl2pPr>
            <a:lvl3pPr marL="1143000" indent="-228600" defTabSz="696913">
              <a:defRPr sz="2400">
                <a:solidFill>
                  <a:schemeClr val="tx1"/>
                </a:solidFill>
                <a:latin typeface="Times New Roman" panose="02020603050405020304" pitchFamily="18" charset="0"/>
              </a:defRPr>
            </a:lvl3pPr>
            <a:lvl4pPr marL="1600200" indent="-228600" defTabSz="696913">
              <a:defRPr sz="2400">
                <a:solidFill>
                  <a:schemeClr val="tx1"/>
                </a:solidFill>
                <a:latin typeface="Times New Roman" panose="02020603050405020304" pitchFamily="18" charset="0"/>
              </a:defRPr>
            </a:lvl4pPr>
            <a:lvl5pPr marL="2057400" indent="-228600" defTabSz="696913">
              <a:defRPr sz="2400">
                <a:solidFill>
                  <a:schemeClr val="tx1"/>
                </a:solidFill>
                <a:latin typeface="Times New Roman" panose="02020603050405020304" pitchFamily="18" charset="0"/>
              </a:defRPr>
            </a:lvl5pPr>
            <a:lvl6pPr marL="2514600" indent="-228600" defTabSz="696913"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696913"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696913"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696913"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200" b="1">
                <a:solidFill>
                  <a:srgbClr val="000000"/>
                </a:solidFill>
                <a:latin typeface="Arial" panose="020B0604020202020204" pitchFamily="34" charset="0"/>
              </a:rPr>
              <a:t>Human</a:t>
            </a:r>
          </a:p>
          <a:p>
            <a:pPr algn="ctr"/>
            <a:r>
              <a:rPr lang="en-US" altLang="en-US" sz="2200" b="1">
                <a:solidFill>
                  <a:srgbClr val="000000"/>
                </a:solidFill>
                <a:latin typeface="Arial" panose="020B0604020202020204" pitchFamily="34" charset="0"/>
              </a:rPr>
              <a:t>Resources</a:t>
            </a:r>
          </a:p>
        </p:txBody>
      </p:sp>
      <p:sp>
        <p:nvSpPr>
          <p:cNvPr id="45067" name="Arc 12"/>
          <p:cNvSpPr>
            <a:spLocks/>
          </p:cNvSpPr>
          <p:nvPr/>
        </p:nvSpPr>
        <p:spPr bwMode="auto">
          <a:xfrm>
            <a:off x="5227638" y="3713163"/>
            <a:ext cx="857250" cy="1301750"/>
          </a:xfrm>
          <a:custGeom>
            <a:avLst/>
            <a:gdLst>
              <a:gd name="T0" fmla="*/ 0 w 21600"/>
              <a:gd name="T1" fmla="*/ 2147483646 h 21600"/>
              <a:gd name="T2" fmla="*/ 2147483646 w 21600"/>
              <a:gd name="T3" fmla="*/ 0 h 21600"/>
              <a:gd name="T4" fmla="*/ 2147483646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547"/>
                </a:moveTo>
                <a:cubicBezTo>
                  <a:pt x="29" y="9653"/>
                  <a:pt x="9666" y="22"/>
                  <a:pt x="21560" y="0"/>
                </a:cubicBezTo>
              </a:path>
              <a:path w="21600" h="21600" stroke="0" extrusionOk="0">
                <a:moveTo>
                  <a:pt x="0" y="21547"/>
                </a:moveTo>
                <a:cubicBezTo>
                  <a:pt x="29" y="9653"/>
                  <a:pt x="9666" y="22"/>
                  <a:pt x="21560" y="0"/>
                </a:cubicBezTo>
                <a:lnTo>
                  <a:pt x="21600" y="21600"/>
                </a:lnTo>
                <a:lnTo>
                  <a:pt x="0" y="21547"/>
                </a:lnTo>
                <a:close/>
              </a:path>
            </a:pathLst>
          </a:custGeom>
          <a:noFill/>
          <a:ln w="25400" cap="rnd">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68" name="Arc 13"/>
          <p:cNvSpPr>
            <a:spLocks/>
          </p:cNvSpPr>
          <p:nvPr/>
        </p:nvSpPr>
        <p:spPr bwMode="auto">
          <a:xfrm>
            <a:off x="3930650" y="3665538"/>
            <a:ext cx="863600" cy="1349375"/>
          </a:xfrm>
          <a:custGeom>
            <a:avLst/>
            <a:gdLst>
              <a:gd name="T0" fmla="*/ 0 w 21640"/>
              <a:gd name="T1" fmla="*/ 0 h 21600"/>
              <a:gd name="T2" fmla="*/ 2147483646 w 21640"/>
              <a:gd name="T3" fmla="*/ 2147483646 h 21600"/>
              <a:gd name="T4" fmla="*/ 2147483646 w 21640"/>
              <a:gd name="T5" fmla="*/ 2147483646 h 21600"/>
              <a:gd name="T6" fmla="*/ 0 60000 65536"/>
              <a:gd name="T7" fmla="*/ 0 60000 65536"/>
              <a:gd name="T8" fmla="*/ 0 60000 65536"/>
              <a:gd name="T9" fmla="*/ 0 w 21640"/>
              <a:gd name="T10" fmla="*/ 0 h 21600"/>
              <a:gd name="T11" fmla="*/ 21640 w 21640"/>
              <a:gd name="T12" fmla="*/ 21600 h 21600"/>
            </a:gdLst>
            <a:ahLst/>
            <a:cxnLst>
              <a:cxn ang="T6">
                <a:pos x="T0" y="T1"/>
              </a:cxn>
              <a:cxn ang="T7">
                <a:pos x="T2" y="T3"/>
              </a:cxn>
              <a:cxn ang="T8">
                <a:pos x="T4" y="T5"/>
              </a:cxn>
            </a:cxnLst>
            <a:rect l="T9" t="T10" r="T11" b="T12"/>
            <a:pathLst>
              <a:path w="21640" h="21600" fill="none" extrusionOk="0">
                <a:moveTo>
                  <a:pt x="0" y="0"/>
                </a:moveTo>
                <a:cubicBezTo>
                  <a:pt x="13" y="0"/>
                  <a:pt x="26" y="-1"/>
                  <a:pt x="40" y="0"/>
                </a:cubicBezTo>
                <a:cubicBezTo>
                  <a:pt x="11959" y="0"/>
                  <a:pt x="21626" y="9655"/>
                  <a:pt x="21639" y="21575"/>
                </a:cubicBezTo>
              </a:path>
              <a:path w="21640" h="21600" stroke="0" extrusionOk="0">
                <a:moveTo>
                  <a:pt x="0" y="0"/>
                </a:moveTo>
                <a:cubicBezTo>
                  <a:pt x="13" y="0"/>
                  <a:pt x="26" y="-1"/>
                  <a:pt x="40" y="0"/>
                </a:cubicBezTo>
                <a:cubicBezTo>
                  <a:pt x="11959" y="0"/>
                  <a:pt x="21626" y="9655"/>
                  <a:pt x="21639" y="21575"/>
                </a:cubicBezTo>
                <a:lnTo>
                  <a:pt x="40" y="21600"/>
                </a:lnTo>
                <a:lnTo>
                  <a:pt x="0" y="0"/>
                </a:lnTo>
                <a:close/>
              </a:path>
            </a:pathLst>
          </a:custGeom>
          <a:noFill/>
          <a:ln w="25400" cap="rnd">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69" name="Arc 14"/>
          <p:cNvSpPr>
            <a:spLocks/>
          </p:cNvSpPr>
          <p:nvPr/>
        </p:nvSpPr>
        <p:spPr bwMode="auto">
          <a:xfrm>
            <a:off x="3952875" y="2697163"/>
            <a:ext cx="857250" cy="1301750"/>
          </a:xfrm>
          <a:custGeom>
            <a:avLst/>
            <a:gdLst>
              <a:gd name="T0" fmla="*/ 0 w 21640"/>
              <a:gd name="T1" fmla="*/ 0 h 21600"/>
              <a:gd name="T2" fmla="*/ 2147483646 w 21640"/>
              <a:gd name="T3" fmla="*/ 2147483646 h 21600"/>
              <a:gd name="T4" fmla="*/ 2147483646 w 21640"/>
              <a:gd name="T5" fmla="*/ 2147483646 h 21600"/>
              <a:gd name="T6" fmla="*/ 0 60000 65536"/>
              <a:gd name="T7" fmla="*/ 0 60000 65536"/>
              <a:gd name="T8" fmla="*/ 0 60000 65536"/>
              <a:gd name="T9" fmla="*/ 0 w 21640"/>
              <a:gd name="T10" fmla="*/ 0 h 21600"/>
              <a:gd name="T11" fmla="*/ 21640 w 21640"/>
              <a:gd name="T12" fmla="*/ 21600 h 21600"/>
            </a:gdLst>
            <a:ahLst/>
            <a:cxnLst>
              <a:cxn ang="T6">
                <a:pos x="T0" y="T1"/>
              </a:cxn>
              <a:cxn ang="T7">
                <a:pos x="T2" y="T3"/>
              </a:cxn>
              <a:cxn ang="T8">
                <a:pos x="T4" y="T5"/>
              </a:cxn>
            </a:cxnLst>
            <a:rect l="T9" t="T10" r="T11" b="T12"/>
            <a:pathLst>
              <a:path w="21640" h="21600" fill="none" extrusionOk="0">
                <a:moveTo>
                  <a:pt x="0" y="0"/>
                </a:moveTo>
                <a:cubicBezTo>
                  <a:pt x="13" y="0"/>
                  <a:pt x="26" y="-1"/>
                  <a:pt x="40" y="0"/>
                </a:cubicBezTo>
                <a:cubicBezTo>
                  <a:pt x="11959" y="0"/>
                  <a:pt x="21625" y="9654"/>
                  <a:pt x="21639" y="21574"/>
                </a:cubicBezTo>
              </a:path>
              <a:path w="21640" h="21600" stroke="0" extrusionOk="0">
                <a:moveTo>
                  <a:pt x="0" y="0"/>
                </a:moveTo>
                <a:cubicBezTo>
                  <a:pt x="13" y="0"/>
                  <a:pt x="26" y="-1"/>
                  <a:pt x="40" y="0"/>
                </a:cubicBezTo>
                <a:cubicBezTo>
                  <a:pt x="11959" y="0"/>
                  <a:pt x="21625" y="9654"/>
                  <a:pt x="21639" y="21574"/>
                </a:cubicBezTo>
                <a:lnTo>
                  <a:pt x="40" y="21600"/>
                </a:lnTo>
                <a:lnTo>
                  <a:pt x="0" y="0"/>
                </a:lnTo>
                <a:close/>
              </a:path>
            </a:pathLst>
          </a:custGeom>
          <a:noFill/>
          <a:ln w="25400" cap="rnd">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70" name="Arc 15"/>
          <p:cNvSpPr>
            <a:spLocks/>
          </p:cNvSpPr>
          <p:nvPr/>
        </p:nvSpPr>
        <p:spPr bwMode="auto">
          <a:xfrm>
            <a:off x="5210175" y="2708275"/>
            <a:ext cx="746125" cy="1290638"/>
          </a:xfrm>
          <a:custGeom>
            <a:avLst/>
            <a:gdLst>
              <a:gd name="T0" fmla="*/ 0 w 21600"/>
              <a:gd name="T1" fmla="*/ 2147483646 h 21600"/>
              <a:gd name="T2" fmla="*/ 2147483646 w 21600"/>
              <a:gd name="T3" fmla="*/ 0 h 21600"/>
              <a:gd name="T4" fmla="*/ 2147483646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520"/>
                </a:moveTo>
                <a:cubicBezTo>
                  <a:pt x="44" y="9639"/>
                  <a:pt x="9673" y="25"/>
                  <a:pt x="21554" y="0"/>
                </a:cubicBezTo>
              </a:path>
              <a:path w="21600" h="21600" stroke="0" extrusionOk="0">
                <a:moveTo>
                  <a:pt x="0" y="21520"/>
                </a:moveTo>
                <a:cubicBezTo>
                  <a:pt x="44" y="9639"/>
                  <a:pt x="9673" y="25"/>
                  <a:pt x="21554" y="0"/>
                </a:cubicBezTo>
                <a:lnTo>
                  <a:pt x="21600" y="21600"/>
                </a:lnTo>
                <a:lnTo>
                  <a:pt x="0" y="21520"/>
                </a:lnTo>
                <a:close/>
              </a:path>
            </a:pathLst>
          </a:custGeom>
          <a:noFill/>
          <a:ln w="25400" cap="rnd">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71" name="Line 16"/>
          <p:cNvSpPr>
            <a:spLocks noChangeShapeType="1"/>
          </p:cNvSpPr>
          <p:nvPr/>
        </p:nvSpPr>
        <p:spPr bwMode="auto">
          <a:xfrm>
            <a:off x="5010150" y="2543175"/>
            <a:ext cx="0" cy="2687638"/>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072" name="Line 17"/>
          <p:cNvSpPr>
            <a:spLocks noChangeShapeType="1"/>
          </p:cNvSpPr>
          <p:nvPr/>
        </p:nvSpPr>
        <p:spPr bwMode="auto">
          <a:xfrm>
            <a:off x="5010150" y="5511800"/>
            <a:ext cx="0" cy="85725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073" name="Line 18"/>
          <p:cNvSpPr>
            <a:spLocks noChangeShapeType="1"/>
          </p:cNvSpPr>
          <p:nvPr/>
        </p:nvSpPr>
        <p:spPr bwMode="auto">
          <a:xfrm>
            <a:off x="5005388" y="1214438"/>
            <a:ext cx="4762" cy="428625"/>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074" name="Line 19"/>
          <p:cNvSpPr>
            <a:spLocks noChangeShapeType="1"/>
          </p:cNvSpPr>
          <p:nvPr/>
        </p:nvSpPr>
        <p:spPr bwMode="auto">
          <a:xfrm>
            <a:off x="3489325" y="1214438"/>
            <a:ext cx="4763" cy="428625"/>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075" name="Line 20"/>
          <p:cNvSpPr>
            <a:spLocks noChangeShapeType="1"/>
          </p:cNvSpPr>
          <p:nvPr/>
        </p:nvSpPr>
        <p:spPr bwMode="auto">
          <a:xfrm>
            <a:off x="6523038" y="1214438"/>
            <a:ext cx="3175" cy="428625"/>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076" name="Line 21"/>
          <p:cNvSpPr>
            <a:spLocks noChangeShapeType="1"/>
          </p:cNvSpPr>
          <p:nvPr/>
        </p:nvSpPr>
        <p:spPr bwMode="auto">
          <a:xfrm flipH="1">
            <a:off x="7643813" y="1195388"/>
            <a:ext cx="541337" cy="944562"/>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077" name="Line 22"/>
          <p:cNvSpPr>
            <a:spLocks noChangeShapeType="1"/>
          </p:cNvSpPr>
          <p:nvPr/>
        </p:nvSpPr>
        <p:spPr bwMode="auto">
          <a:xfrm>
            <a:off x="1992313" y="1195388"/>
            <a:ext cx="490537" cy="944562"/>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spd="slow">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p:nvPr>
        </p:nvSpPr>
        <p:spPr>
          <a:xfrm>
            <a:off x="412750" y="42863"/>
            <a:ext cx="4441825" cy="647700"/>
          </a:xfrm>
        </p:spPr>
        <p:txBody>
          <a:bodyPr/>
          <a:lstStyle/>
          <a:p>
            <a:pPr eaLnBrk="1" hangingPunct="1"/>
            <a:r>
              <a:rPr lang="en-US" altLang="en-US" sz="4000" smtClean="0"/>
              <a:t>Marketing Control</a:t>
            </a:r>
          </a:p>
        </p:txBody>
      </p:sp>
      <p:sp>
        <p:nvSpPr>
          <p:cNvPr id="47106" name="AutoShape 3"/>
          <p:cNvSpPr>
            <a:spLocks noChangeArrowheads="1"/>
          </p:cNvSpPr>
          <p:nvPr/>
        </p:nvSpPr>
        <p:spPr bwMode="auto">
          <a:xfrm rot="5400000">
            <a:off x="4494212" y="-730249"/>
            <a:ext cx="1069975" cy="4794250"/>
          </a:xfrm>
          <a:prstGeom prst="cube">
            <a:avLst>
              <a:gd name="adj" fmla="val 16065"/>
            </a:avLst>
          </a:prstGeom>
          <a:gradFill rotWithShape="0">
            <a:gsLst>
              <a:gs pos="0">
                <a:srgbClr val="009688"/>
              </a:gs>
              <a:gs pos="100000">
                <a:srgbClr val="FFFFFF"/>
              </a:gs>
            </a:gsLst>
            <a:lin ang="5400000" scaled="1"/>
          </a:gradFill>
          <a:ln w="12700">
            <a:solidFill>
              <a:srgbClr val="000000"/>
            </a:solidFill>
            <a:miter lim="800000"/>
            <a:headEnd/>
            <a:tailEnd/>
          </a:ln>
          <a:effectLst>
            <a:outerShdw dist="89803" dir="2700000" algn="ctr" rotWithShape="0">
              <a:schemeClr val="bg2">
                <a:alpha val="50000"/>
              </a:schemeClr>
            </a:outerShdw>
          </a:effectLst>
        </p:spPr>
        <p:txBody>
          <a:bodyPr rot="10800000" vert="eaVert" wrap="none" lIns="87313" tIns="44450" rIns="87313" bIns="44450" anchor="ctr"/>
          <a:lstStyle>
            <a:lvl1pPr defTabSz="857250">
              <a:defRPr sz="2400">
                <a:solidFill>
                  <a:schemeClr val="tx1"/>
                </a:solidFill>
                <a:latin typeface="Times New Roman" panose="02020603050405020304" pitchFamily="18" charset="0"/>
              </a:defRPr>
            </a:lvl1pPr>
            <a:lvl2pPr marL="742950" indent="-285750" defTabSz="857250">
              <a:defRPr sz="2400">
                <a:solidFill>
                  <a:schemeClr val="tx1"/>
                </a:solidFill>
                <a:latin typeface="Times New Roman" panose="02020603050405020304" pitchFamily="18" charset="0"/>
              </a:defRPr>
            </a:lvl2pPr>
            <a:lvl3pPr marL="1143000" indent="-228600" defTabSz="857250">
              <a:defRPr sz="2400">
                <a:solidFill>
                  <a:schemeClr val="tx1"/>
                </a:solidFill>
                <a:latin typeface="Times New Roman" panose="02020603050405020304" pitchFamily="18" charset="0"/>
              </a:defRPr>
            </a:lvl3pPr>
            <a:lvl4pPr marL="1600200" indent="-228600" defTabSz="857250">
              <a:defRPr sz="2400">
                <a:solidFill>
                  <a:schemeClr val="tx1"/>
                </a:solidFill>
                <a:latin typeface="Times New Roman" panose="02020603050405020304" pitchFamily="18" charset="0"/>
              </a:defRPr>
            </a:lvl4pPr>
            <a:lvl5pPr marL="2057400" indent="-228600" defTabSz="857250">
              <a:defRPr sz="2400">
                <a:solidFill>
                  <a:schemeClr val="tx1"/>
                </a:solidFill>
                <a:latin typeface="Times New Roman" panose="02020603050405020304" pitchFamily="18" charset="0"/>
              </a:defRPr>
            </a:lvl5pPr>
            <a:lvl6pPr marL="2514600" indent="-228600" defTabSz="85725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5725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5725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572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800" b="1">
                <a:solidFill>
                  <a:srgbClr val="000000"/>
                </a:solidFill>
                <a:latin typeface="Arial" panose="020B0604020202020204" pitchFamily="34" charset="0"/>
              </a:rPr>
              <a:t>Set Marketing Goals</a:t>
            </a:r>
          </a:p>
        </p:txBody>
      </p:sp>
      <p:sp>
        <p:nvSpPr>
          <p:cNvPr id="47107" name="AutoShape 4"/>
          <p:cNvSpPr>
            <a:spLocks noChangeArrowheads="1"/>
          </p:cNvSpPr>
          <p:nvPr/>
        </p:nvSpPr>
        <p:spPr bwMode="auto">
          <a:xfrm rot="5400000">
            <a:off x="4495800" y="838200"/>
            <a:ext cx="1066800" cy="4794250"/>
          </a:xfrm>
          <a:prstGeom prst="cube">
            <a:avLst>
              <a:gd name="adj" fmla="val 16065"/>
            </a:avLst>
          </a:prstGeom>
          <a:gradFill rotWithShape="0">
            <a:gsLst>
              <a:gs pos="0">
                <a:srgbClr val="B760F9"/>
              </a:gs>
              <a:gs pos="100000">
                <a:srgbClr val="E2BFFD"/>
              </a:gs>
            </a:gsLst>
            <a:lin ang="5400000" scaled="1"/>
          </a:gradFill>
          <a:ln w="12700">
            <a:solidFill>
              <a:srgbClr val="000000"/>
            </a:solidFill>
            <a:miter lim="800000"/>
            <a:headEnd/>
            <a:tailEnd/>
          </a:ln>
          <a:effectLst>
            <a:outerShdw dist="89803" dir="2700000" algn="ctr" rotWithShape="0">
              <a:schemeClr val="bg2">
                <a:alpha val="50000"/>
              </a:schemeClr>
            </a:outerShdw>
          </a:effectLst>
        </p:spPr>
        <p:txBody>
          <a:bodyPr rot="10800000" vert="eaVert" wrap="none" lIns="87313" tIns="44450" rIns="87313" bIns="44450" anchor="ctr"/>
          <a:lstStyle>
            <a:lvl1pPr defTabSz="857250">
              <a:defRPr sz="2400">
                <a:solidFill>
                  <a:schemeClr val="tx1"/>
                </a:solidFill>
                <a:latin typeface="Times New Roman" panose="02020603050405020304" pitchFamily="18" charset="0"/>
              </a:defRPr>
            </a:lvl1pPr>
            <a:lvl2pPr marL="742950" indent="-285750" defTabSz="857250">
              <a:defRPr sz="2400">
                <a:solidFill>
                  <a:schemeClr val="tx1"/>
                </a:solidFill>
                <a:latin typeface="Times New Roman" panose="02020603050405020304" pitchFamily="18" charset="0"/>
              </a:defRPr>
            </a:lvl2pPr>
            <a:lvl3pPr marL="1143000" indent="-228600" defTabSz="857250">
              <a:defRPr sz="2400">
                <a:solidFill>
                  <a:schemeClr val="tx1"/>
                </a:solidFill>
                <a:latin typeface="Times New Roman" panose="02020603050405020304" pitchFamily="18" charset="0"/>
              </a:defRPr>
            </a:lvl3pPr>
            <a:lvl4pPr marL="1600200" indent="-228600" defTabSz="857250">
              <a:defRPr sz="2400">
                <a:solidFill>
                  <a:schemeClr val="tx1"/>
                </a:solidFill>
                <a:latin typeface="Times New Roman" panose="02020603050405020304" pitchFamily="18" charset="0"/>
              </a:defRPr>
            </a:lvl4pPr>
            <a:lvl5pPr marL="2057400" indent="-228600" defTabSz="857250">
              <a:defRPr sz="2400">
                <a:solidFill>
                  <a:schemeClr val="tx1"/>
                </a:solidFill>
                <a:latin typeface="Times New Roman" panose="02020603050405020304" pitchFamily="18" charset="0"/>
              </a:defRPr>
            </a:lvl5pPr>
            <a:lvl6pPr marL="2514600" indent="-228600" defTabSz="85725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5725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5725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572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800" b="1">
                <a:solidFill>
                  <a:srgbClr val="000000"/>
                </a:solidFill>
                <a:latin typeface="Arial" panose="020B0604020202020204" pitchFamily="34" charset="0"/>
              </a:rPr>
              <a:t>Measure</a:t>
            </a:r>
          </a:p>
          <a:p>
            <a:pPr algn="ctr"/>
            <a:r>
              <a:rPr lang="en-US" altLang="en-US" sz="2800" b="1">
                <a:solidFill>
                  <a:srgbClr val="000000"/>
                </a:solidFill>
                <a:latin typeface="Arial" panose="020B0604020202020204" pitchFamily="34" charset="0"/>
              </a:rPr>
              <a:t>Performance</a:t>
            </a:r>
          </a:p>
        </p:txBody>
      </p:sp>
      <p:sp>
        <p:nvSpPr>
          <p:cNvPr id="47108" name="AutoShape 5"/>
          <p:cNvSpPr>
            <a:spLocks noChangeArrowheads="1"/>
          </p:cNvSpPr>
          <p:nvPr/>
        </p:nvSpPr>
        <p:spPr bwMode="auto">
          <a:xfrm rot="5400000">
            <a:off x="4494212" y="2405063"/>
            <a:ext cx="1069975" cy="4794250"/>
          </a:xfrm>
          <a:prstGeom prst="cube">
            <a:avLst>
              <a:gd name="adj" fmla="val 16065"/>
            </a:avLst>
          </a:prstGeom>
          <a:gradFill rotWithShape="0">
            <a:gsLst>
              <a:gs pos="0">
                <a:srgbClr val="EAEC5E"/>
              </a:gs>
              <a:gs pos="100000">
                <a:srgbClr val="F7F7BF"/>
              </a:gs>
            </a:gsLst>
            <a:path path="rect">
              <a:fillToRect r="100000" b="100000"/>
            </a:path>
          </a:gradFill>
          <a:ln w="12700">
            <a:solidFill>
              <a:srgbClr val="000000"/>
            </a:solidFill>
            <a:miter lim="800000"/>
            <a:headEnd/>
            <a:tailEnd/>
          </a:ln>
          <a:effectLst>
            <a:outerShdw dist="89803" dir="2700000" algn="ctr" rotWithShape="0">
              <a:schemeClr val="bg2">
                <a:alpha val="50000"/>
              </a:schemeClr>
            </a:outerShdw>
          </a:effectLst>
        </p:spPr>
        <p:txBody>
          <a:bodyPr rot="10800000" vert="eaVert" wrap="none" lIns="87313" tIns="44450" rIns="87313" bIns="44450" anchor="ctr"/>
          <a:lstStyle>
            <a:lvl1pPr defTabSz="857250">
              <a:defRPr sz="2400">
                <a:solidFill>
                  <a:schemeClr val="tx1"/>
                </a:solidFill>
                <a:latin typeface="Times New Roman" panose="02020603050405020304" pitchFamily="18" charset="0"/>
              </a:defRPr>
            </a:lvl1pPr>
            <a:lvl2pPr marL="742950" indent="-285750" defTabSz="857250">
              <a:defRPr sz="2400">
                <a:solidFill>
                  <a:schemeClr val="tx1"/>
                </a:solidFill>
                <a:latin typeface="Times New Roman" panose="02020603050405020304" pitchFamily="18" charset="0"/>
              </a:defRPr>
            </a:lvl2pPr>
            <a:lvl3pPr marL="1143000" indent="-228600" defTabSz="857250">
              <a:defRPr sz="2400">
                <a:solidFill>
                  <a:schemeClr val="tx1"/>
                </a:solidFill>
                <a:latin typeface="Times New Roman" panose="02020603050405020304" pitchFamily="18" charset="0"/>
              </a:defRPr>
            </a:lvl3pPr>
            <a:lvl4pPr marL="1600200" indent="-228600" defTabSz="857250">
              <a:defRPr sz="2400">
                <a:solidFill>
                  <a:schemeClr val="tx1"/>
                </a:solidFill>
                <a:latin typeface="Times New Roman" panose="02020603050405020304" pitchFamily="18" charset="0"/>
              </a:defRPr>
            </a:lvl4pPr>
            <a:lvl5pPr marL="2057400" indent="-228600" defTabSz="857250">
              <a:defRPr sz="2400">
                <a:solidFill>
                  <a:schemeClr val="tx1"/>
                </a:solidFill>
                <a:latin typeface="Times New Roman" panose="02020603050405020304" pitchFamily="18" charset="0"/>
              </a:defRPr>
            </a:lvl5pPr>
            <a:lvl6pPr marL="2514600" indent="-228600" defTabSz="85725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5725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5725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572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800" b="1">
                <a:solidFill>
                  <a:srgbClr val="000000"/>
                </a:solidFill>
                <a:latin typeface="Arial" panose="020B0604020202020204" pitchFamily="34" charset="0"/>
              </a:rPr>
              <a:t>Evaluate</a:t>
            </a:r>
          </a:p>
          <a:p>
            <a:pPr algn="ctr"/>
            <a:r>
              <a:rPr lang="en-US" altLang="en-US" sz="2800" b="1">
                <a:solidFill>
                  <a:srgbClr val="000000"/>
                </a:solidFill>
                <a:latin typeface="Arial" panose="020B0604020202020204" pitchFamily="34" charset="0"/>
              </a:rPr>
              <a:t>Performance</a:t>
            </a:r>
          </a:p>
        </p:txBody>
      </p:sp>
      <p:sp>
        <p:nvSpPr>
          <p:cNvPr id="47109" name="AutoShape 6"/>
          <p:cNvSpPr>
            <a:spLocks noChangeArrowheads="1"/>
          </p:cNvSpPr>
          <p:nvPr/>
        </p:nvSpPr>
        <p:spPr bwMode="auto">
          <a:xfrm rot="5400000">
            <a:off x="4495800" y="4027488"/>
            <a:ext cx="1066800" cy="4794250"/>
          </a:xfrm>
          <a:prstGeom prst="cube">
            <a:avLst>
              <a:gd name="adj" fmla="val 16065"/>
            </a:avLst>
          </a:prstGeom>
          <a:gradFill rotWithShape="0">
            <a:gsLst>
              <a:gs pos="0">
                <a:srgbClr val="E5405D"/>
              </a:gs>
              <a:gs pos="100000">
                <a:srgbClr val="FFFFFF"/>
              </a:gs>
            </a:gsLst>
            <a:lin ang="5400000" scaled="1"/>
          </a:gradFill>
          <a:ln w="12700">
            <a:solidFill>
              <a:srgbClr val="000000"/>
            </a:solidFill>
            <a:miter lim="800000"/>
            <a:headEnd/>
            <a:tailEnd/>
          </a:ln>
          <a:effectLst>
            <a:outerShdw dist="89803" dir="2700000" algn="ctr" rotWithShape="0">
              <a:schemeClr val="bg2">
                <a:alpha val="50000"/>
              </a:schemeClr>
            </a:outerShdw>
          </a:effectLst>
        </p:spPr>
        <p:txBody>
          <a:bodyPr rot="10800000" vert="eaVert" wrap="none" lIns="87313" tIns="44450" rIns="87313" bIns="44450" anchor="ctr"/>
          <a:lstStyle>
            <a:lvl1pPr defTabSz="857250">
              <a:defRPr sz="2400">
                <a:solidFill>
                  <a:schemeClr val="tx1"/>
                </a:solidFill>
                <a:latin typeface="Times New Roman" panose="02020603050405020304" pitchFamily="18" charset="0"/>
              </a:defRPr>
            </a:lvl1pPr>
            <a:lvl2pPr marL="742950" indent="-285750" defTabSz="857250">
              <a:defRPr sz="2400">
                <a:solidFill>
                  <a:schemeClr val="tx1"/>
                </a:solidFill>
                <a:latin typeface="Times New Roman" panose="02020603050405020304" pitchFamily="18" charset="0"/>
              </a:defRPr>
            </a:lvl2pPr>
            <a:lvl3pPr marL="1143000" indent="-228600" defTabSz="857250">
              <a:defRPr sz="2400">
                <a:solidFill>
                  <a:schemeClr val="tx1"/>
                </a:solidFill>
                <a:latin typeface="Times New Roman" panose="02020603050405020304" pitchFamily="18" charset="0"/>
              </a:defRPr>
            </a:lvl3pPr>
            <a:lvl4pPr marL="1600200" indent="-228600" defTabSz="857250">
              <a:defRPr sz="2400">
                <a:solidFill>
                  <a:schemeClr val="tx1"/>
                </a:solidFill>
                <a:latin typeface="Times New Roman" panose="02020603050405020304" pitchFamily="18" charset="0"/>
              </a:defRPr>
            </a:lvl4pPr>
            <a:lvl5pPr marL="2057400" indent="-228600" defTabSz="857250">
              <a:defRPr sz="2400">
                <a:solidFill>
                  <a:schemeClr val="tx1"/>
                </a:solidFill>
                <a:latin typeface="Times New Roman" panose="02020603050405020304" pitchFamily="18" charset="0"/>
              </a:defRPr>
            </a:lvl5pPr>
            <a:lvl6pPr marL="2514600" indent="-228600" defTabSz="85725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85725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85725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8572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800" b="1">
                <a:solidFill>
                  <a:srgbClr val="000000"/>
                </a:solidFill>
                <a:latin typeface="Arial" panose="020B0604020202020204" pitchFamily="34" charset="0"/>
              </a:rPr>
              <a:t>Take Corrective</a:t>
            </a:r>
          </a:p>
          <a:p>
            <a:pPr algn="ctr"/>
            <a:r>
              <a:rPr lang="en-US" altLang="en-US" sz="2800" b="1">
                <a:solidFill>
                  <a:srgbClr val="000000"/>
                </a:solidFill>
                <a:latin typeface="Arial" panose="020B0604020202020204" pitchFamily="34" charset="0"/>
              </a:rPr>
              <a:t>Action</a:t>
            </a:r>
          </a:p>
        </p:txBody>
      </p:sp>
      <p:sp>
        <p:nvSpPr>
          <p:cNvPr id="47110" name="Freeform 7"/>
          <p:cNvSpPr>
            <a:spLocks/>
          </p:cNvSpPr>
          <p:nvPr/>
        </p:nvSpPr>
        <p:spPr bwMode="auto">
          <a:xfrm>
            <a:off x="1479550" y="1611313"/>
            <a:ext cx="1111250" cy="4727575"/>
          </a:xfrm>
          <a:custGeom>
            <a:avLst/>
            <a:gdLst>
              <a:gd name="T0" fmla="*/ 2147483646 w 700"/>
              <a:gd name="T1" fmla="*/ 2147483646 h 2978"/>
              <a:gd name="T2" fmla="*/ 0 w 700"/>
              <a:gd name="T3" fmla="*/ 2147483646 h 2978"/>
              <a:gd name="T4" fmla="*/ 0 w 700"/>
              <a:gd name="T5" fmla="*/ 0 h 2978"/>
              <a:gd name="T6" fmla="*/ 2147483646 w 700"/>
              <a:gd name="T7" fmla="*/ 0 h 2978"/>
              <a:gd name="T8" fmla="*/ 0 60000 65536"/>
              <a:gd name="T9" fmla="*/ 0 60000 65536"/>
              <a:gd name="T10" fmla="*/ 0 60000 65536"/>
              <a:gd name="T11" fmla="*/ 0 60000 65536"/>
              <a:gd name="T12" fmla="*/ 0 w 700"/>
              <a:gd name="T13" fmla="*/ 0 h 2978"/>
              <a:gd name="T14" fmla="*/ 700 w 700"/>
              <a:gd name="T15" fmla="*/ 2978 h 2978"/>
            </a:gdLst>
            <a:ahLst/>
            <a:cxnLst>
              <a:cxn ang="T8">
                <a:pos x="T0" y="T1"/>
              </a:cxn>
              <a:cxn ang="T9">
                <a:pos x="T2" y="T3"/>
              </a:cxn>
              <a:cxn ang="T10">
                <a:pos x="T4" y="T5"/>
              </a:cxn>
              <a:cxn ang="T11">
                <a:pos x="T6" y="T7"/>
              </a:cxn>
            </a:cxnLst>
            <a:rect l="T12" t="T13" r="T14" b="T15"/>
            <a:pathLst>
              <a:path w="700" h="2978">
                <a:moveTo>
                  <a:pt x="699" y="2977"/>
                </a:moveTo>
                <a:lnTo>
                  <a:pt x="0" y="2977"/>
                </a:lnTo>
                <a:lnTo>
                  <a:pt x="0" y="0"/>
                </a:lnTo>
                <a:lnTo>
                  <a:pt x="699" y="0"/>
                </a:lnTo>
              </a:path>
            </a:pathLst>
          </a:custGeom>
          <a:noFill/>
          <a:ln w="25400" cap="rnd">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111" name="AutoShape 8"/>
          <p:cNvSpPr>
            <a:spLocks noChangeArrowheads="1"/>
          </p:cNvSpPr>
          <p:nvPr/>
        </p:nvSpPr>
        <p:spPr bwMode="auto">
          <a:xfrm rot="16200000" flipH="1">
            <a:off x="4768850" y="2216150"/>
            <a:ext cx="482600" cy="558800"/>
          </a:xfrm>
          <a:prstGeom prst="rightArrow">
            <a:avLst>
              <a:gd name="adj1" fmla="val 50000"/>
              <a:gd name="adj2" fmla="val 50014"/>
            </a:avLst>
          </a:prstGeom>
          <a:solidFill>
            <a:schemeClr val="tx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47112" name="AutoShape 9"/>
          <p:cNvSpPr>
            <a:spLocks noChangeArrowheads="1"/>
          </p:cNvSpPr>
          <p:nvPr/>
        </p:nvSpPr>
        <p:spPr bwMode="auto">
          <a:xfrm rot="16200000" flipH="1">
            <a:off x="4759325" y="3825875"/>
            <a:ext cx="501650" cy="520700"/>
          </a:xfrm>
          <a:prstGeom prst="rightArrow">
            <a:avLst>
              <a:gd name="adj1" fmla="val 50000"/>
              <a:gd name="adj2" fmla="val 50014"/>
            </a:avLst>
          </a:prstGeom>
          <a:solidFill>
            <a:schemeClr val="tx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47113" name="AutoShape 10"/>
          <p:cNvSpPr>
            <a:spLocks noChangeArrowheads="1"/>
          </p:cNvSpPr>
          <p:nvPr/>
        </p:nvSpPr>
        <p:spPr bwMode="auto">
          <a:xfrm rot="16200000" flipH="1">
            <a:off x="4749800" y="5416550"/>
            <a:ext cx="501650" cy="539750"/>
          </a:xfrm>
          <a:prstGeom prst="rightArrow">
            <a:avLst>
              <a:gd name="adj1" fmla="val 50000"/>
              <a:gd name="adj2" fmla="val 50014"/>
            </a:avLst>
          </a:prstGeom>
          <a:solidFill>
            <a:schemeClr val="tx1"/>
          </a:solidFill>
          <a:ln w="12700">
            <a:solidFill>
              <a:schemeClr val="tx1"/>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Tree>
  </p:cSld>
  <p:clrMapOvr>
    <a:masterClrMapping/>
  </p:clrMapOvr>
  <p:transition spd="slow">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p:cNvSpPr>
            <a:spLocks noGrp="1" noChangeArrowheads="1"/>
          </p:cNvSpPr>
          <p:nvPr>
            <p:ph type="title"/>
          </p:nvPr>
        </p:nvSpPr>
        <p:spPr/>
        <p:txBody>
          <a:bodyPr/>
          <a:lstStyle/>
          <a:p>
            <a:r>
              <a:rPr lang="en-US" altLang="en-US" smtClean="0"/>
              <a:t>Class Activity 2</a:t>
            </a:r>
          </a:p>
        </p:txBody>
      </p:sp>
      <p:sp>
        <p:nvSpPr>
          <p:cNvPr id="49154" name="Content Placeholder 2"/>
          <p:cNvSpPr>
            <a:spLocks noGrp="1" noChangeArrowheads="1"/>
          </p:cNvSpPr>
          <p:nvPr>
            <p:ph idx="1"/>
          </p:nvPr>
        </p:nvSpPr>
        <p:spPr/>
        <p:txBody>
          <a:bodyPr/>
          <a:lstStyle/>
          <a:p>
            <a:r>
              <a:rPr lang="en-US" altLang="en-US" smtClean="0"/>
              <a:t>Identify and select any firm/brand</a:t>
            </a:r>
          </a:p>
          <a:p>
            <a:r>
              <a:rPr lang="en-US" altLang="en-US" smtClean="0"/>
              <a:t>Introduction of the selected firm/brand</a:t>
            </a:r>
          </a:p>
          <a:p>
            <a:r>
              <a:rPr lang="en-US" altLang="en-US" smtClean="0"/>
              <a:t>Enlist SBUs (Strategic Business Units)</a:t>
            </a:r>
          </a:p>
          <a:p>
            <a:r>
              <a:rPr lang="en-US" altLang="en-US" smtClean="0"/>
              <a:t>Analyze each SBU using Boston consulting group technique </a:t>
            </a:r>
          </a:p>
          <a:p>
            <a:r>
              <a:rPr lang="en-US" altLang="en-US" smtClean="0"/>
              <a:t>Suggest a suitable growth strategy</a:t>
            </a:r>
          </a:p>
          <a:p>
            <a:endParaRPr lang="en-US" altLang="en-US"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2143</TotalTime>
  <Pages>16</Pages>
  <Words>2731</Words>
  <Application>Microsoft Office PowerPoint</Application>
  <PresentationFormat>Custom</PresentationFormat>
  <Paragraphs>301</Paragraphs>
  <Slides>23</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Times New Roman</vt:lpstr>
      <vt:lpstr>Arial</vt:lpstr>
      <vt:lpstr>Calibri Light</vt:lpstr>
      <vt:lpstr>Calibri</vt:lpstr>
      <vt:lpstr>Symbol</vt:lpstr>
      <vt:lpstr>Helvetica</vt:lpstr>
      <vt:lpstr>Wingdings</vt:lpstr>
      <vt:lpstr>Office Theme</vt:lpstr>
      <vt:lpstr> Chapter 2  </vt:lpstr>
      <vt:lpstr>PowerPoint Presentation</vt:lpstr>
      <vt:lpstr>Vision Statement</vt:lpstr>
      <vt:lpstr>Strategic Planning Process</vt:lpstr>
      <vt:lpstr>Defining the business purpose or mission</vt:lpstr>
      <vt:lpstr>Mission formulation and statement</vt:lpstr>
      <vt:lpstr>PowerPoint Presentation</vt:lpstr>
      <vt:lpstr>Designing the Business Portfolio</vt:lpstr>
      <vt:lpstr>PowerPoint Presentation</vt:lpstr>
      <vt:lpstr>PowerPoint Presentation</vt:lpstr>
      <vt:lpstr>Analyzing Current SBU’s: Boston Consulting Group Approach</vt:lpstr>
      <vt:lpstr>Developing Growth Strategies</vt:lpstr>
      <vt:lpstr>Product/ Market Expansion Grid</vt:lpstr>
      <vt:lpstr>PowerPoint Presentation</vt:lpstr>
      <vt:lpstr>Marketing Strategy and Marketing Mix </vt:lpstr>
      <vt:lpstr>Marketing Mix- The Four P’s </vt:lpstr>
      <vt:lpstr>The four C’s</vt:lpstr>
      <vt:lpstr>`1qqqqqqqqqqq4</vt:lpstr>
      <vt:lpstr>SWOT analysis A study undertaken by an organization to identify its internal strengths and weaknesses, as well as its external opportunities and threats. </vt:lpstr>
      <vt:lpstr>Elements of a Marketing Plan</vt:lpstr>
      <vt:lpstr>  Marketing Implementation The process that turns marketing strategies and plans into marketing actions in order to accomplish strategic marketing objectives  </vt:lpstr>
      <vt:lpstr>Marketing Control</vt:lpstr>
      <vt:lpstr>Class Activity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subject>Kotler/Armstrong, 8th Edition</dc:subject>
  <dc:creator>Kellye K. Brooks</dc:creator>
  <cp:keywords/>
  <dc:description/>
  <cp:lastModifiedBy>Mahnoor</cp:lastModifiedBy>
  <cp:revision>87</cp:revision>
  <cp:lastPrinted>1998-02-18T18:24:16Z</cp:lastPrinted>
  <dcterms:created xsi:type="dcterms:W3CDTF">1998-05-19T13:04:40Z</dcterms:created>
  <dcterms:modified xsi:type="dcterms:W3CDTF">2025-08-22T06:44:30Z</dcterms:modified>
</cp:coreProperties>
</file>