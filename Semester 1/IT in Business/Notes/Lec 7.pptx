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d5460362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d546036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d54603628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d5460362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d54603628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d5460362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d54603628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d5460362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d54603628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9d5460362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d54603628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d5460362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d54603628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d5460362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d54603628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d5460362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eba9b6817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eba9b681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eba9b6817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9eba9b681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eba9b6817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9eba9b681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eba9b6817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9eba9b681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9eba9b6817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9eba9b681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eba9b6817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9eba9b681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Across the Enterprise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Introduction: Business Across the Enterprise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Traditional departments worked in silos – limited collaboration.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Modern businesses require cross-functional integration.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Enterprise systems enable data sharing and real-time visibility.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Three major systems: CRM, ERP, SCM.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Apple integrates all three for global efficiency.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Business Across the Enterprise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457200" y="1600200"/>
            <a:ext cx="8229600" cy="493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</a:t>
            </a:r>
            <a:r>
              <a:rPr lang="en-US"/>
              <a:t>ntegrating all major business functions across the entire organization.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These systems: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200"/>
              <a:buChar char="●"/>
            </a:pPr>
            <a:r>
              <a:rPr lang="en-US"/>
              <a:t>Facilitate </a:t>
            </a:r>
            <a:r>
              <a:rPr b="1" lang="en-US"/>
              <a:t>data sharing</a:t>
            </a:r>
            <a:r>
              <a:rPr lang="en-US"/>
              <a:t> across departments.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en-US"/>
              <a:t>Provide </a:t>
            </a:r>
            <a:r>
              <a:rPr b="1" lang="en-US"/>
              <a:t>real-time visibility</a:t>
            </a:r>
            <a:r>
              <a:rPr lang="en-US"/>
              <a:t> of operations.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en-US"/>
              <a:t>Support </a:t>
            </a:r>
            <a:r>
              <a:rPr b="1" lang="en-US"/>
              <a:t>strategic decision-making</a:t>
            </a:r>
            <a:r>
              <a:rPr lang="en-US"/>
              <a:t>.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en-US"/>
              <a:t>Enable </a:t>
            </a:r>
            <a:r>
              <a:rPr b="1" lang="en-US"/>
              <a:t>collaboration</a:t>
            </a:r>
            <a:r>
              <a:rPr lang="en-US"/>
              <a:t> with customers, suppliers, and partners.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 Relationship Management (CRM)</a:t>
            </a:r>
            <a:endParaRPr/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CRM manages customer interactions and relationships.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Goal: increase satisfaction, loyalty, and profitability.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Types: Operational, Analytical, Collaborative CRM.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sales, marketing, and customer service.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Objectives of CRM</a:t>
            </a:r>
            <a:endParaRPr/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Build long-term customer relationships.</a:t>
            </a:r>
            <a:br>
              <a:rPr lang="en-U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Increase customer satisfaction and loyalty.</a:t>
            </a:r>
            <a:br>
              <a:rPr lang="en-U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Improve communication and responsiveness.</a:t>
            </a:r>
            <a:br>
              <a:rPr lang="en-U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Enable personalized products and services.</a:t>
            </a:r>
            <a:br>
              <a:rPr lang="en-U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Enhance profitability by focusing on high-value customers.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CRM Components &amp; Benefits</a:t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457200" y="1600200"/>
            <a:ext cx="8229600" cy="51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/>
              <a:t>Operational CRM</a:t>
            </a:r>
            <a:endParaRPr b="1"/>
          </a:p>
          <a:p>
            <a:pPr indent="-431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/>
              <a:t>Automates customer-facing processes such as sales, marketing, and service.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/>
              <a:t>Example: Salesforce automates follow-ups and tracks customer interactions.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/>
              <a:t>Includes:</a:t>
            </a:r>
            <a:endParaRPr/>
          </a:p>
          <a:p>
            <a:pPr indent="-431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○"/>
            </a:pPr>
            <a:r>
              <a:rPr lang="en-US" sz="3200"/>
              <a:t>Sales force automation (SFA)</a:t>
            </a:r>
            <a:endParaRPr sz="3200"/>
          </a:p>
          <a:p>
            <a:pPr indent="-431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○"/>
            </a:pPr>
            <a:r>
              <a:rPr lang="en-US" sz="3200"/>
              <a:t>Marketing automation</a:t>
            </a:r>
            <a:endParaRPr sz="3200"/>
          </a:p>
          <a:p>
            <a:pPr indent="-431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○"/>
            </a:pPr>
            <a:r>
              <a:rPr lang="en-US" sz="3200"/>
              <a:t>Customer service management</a:t>
            </a:r>
            <a:endParaRPr sz="3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Analytical CRM</a:t>
            </a:r>
            <a:endParaRPr b="1"/>
          </a:p>
          <a:p>
            <a:pPr indent="-431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/>
              <a:t>Focuses on data analysis and insights to understand customer behavior.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/>
              <a:t>Uses tools like data mining, predictive analytics, and dashboards.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</a:pPr>
            <a:r>
              <a:rPr lang="en-US"/>
              <a:t>Example: Predicting which customers are likely to churn or buy again.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Collaborative CRM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200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Enables communication between the company and its external stakeholders (partners, distributors, customers).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Example: Shared portals for customer feedback and product updates.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228600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CRM Life Cycle</a:t>
            </a:r>
            <a:endParaRPr/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Customer Acquisition</a:t>
            </a:r>
            <a:r>
              <a:rPr lang="en-US"/>
              <a:t> – attract potential customers through marketing campaigns.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Customer Retention</a:t>
            </a:r>
            <a:r>
              <a:rPr lang="en-US"/>
              <a:t> – keep customers satisfied through personalized service.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Customer Extension</a:t>
            </a:r>
            <a:r>
              <a:rPr lang="en-US"/>
              <a:t> – sell new or upgraded products to existing customers.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CRM Technologies</a:t>
            </a:r>
            <a:endParaRPr/>
          </a:p>
        </p:txBody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Customer Databases</a:t>
            </a:r>
            <a:r>
              <a:rPr lang="en-US"/>
              <a:t> – store profiles, transactions, and preferences.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Call Center Systems</a:t>
            </a:r>
            <a:r>
              <a:rPr lang="en-US"/>
              <a:t> – manage support requests.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Web Portals &amp; Chatbots</a:t>
            </a:r>
            <a:r>
              <a:rPr lang="en-US"/>
              <a:t> – provide self-service options.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Mobile CRM</a:t>
            </a:r>
            <a:r>
              <a:rPr lang="en-US"/>
              <a:t> – access CRM data through smartphones/tablets.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Social CRM</a:t>
            </a:r>
            <a:r>
              <a:rPr lang="en-US"/>
              <a:t> – analyze interactions from social media channels.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Benefits</a:t>
            </a:r>
            <a:endParaRPr/>
          </a:p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Improved customer service &amp; responsiveness.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Enhanced marketing effectiveness through segmentation.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Increased cross-selling and up-selling.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Greater customer loyalty and retention.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Better data-driven decision-making.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</a:t>
            </a:r>
            <a:endParaRPr/>
          </a:p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Data integration across multiple channels.</a:t>
            </a:r>
            <a:endParaRPr/>
          </a:p>
          <a:p>
            <a:pPr indent="-4318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High implementation cost.</a:t>
            </a:r>
            <a:endParaRPr/>
          </a:p>
          <a:p>
            <a:pPr indent="-4318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User adoption and training.</a:t>
            </a:r>
            <a:endParaRPr/>
          </a:p>
          <a:p>
            <a:pPr indent="-4318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Privacy and data protection issues.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Enterprise Resource Planning (ERP)</a:t>
            </a:r>
            <a:endParaRPr/>
          </a:p>
        </p:txBody>
      </p:sp>
      <p:sp>
        <p:nvSpPr>
          <p:cNvPr id="157" name="Google Shape;157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ERP systems are </a:t>
            </a:r>
            <a:r>
              <a:rPr b="1" lang="en-US"/>
              <a:t>integrated management software</a:t>
            </a:r>
            <a:r>
              <a:rPr lang="en-US"/>
              <a:t> that unify all core business processes into a single centralized system.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n-US"/>
              <a:t>They provide one shared database that supports multiple business functions across departments.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modules: Finance, HR, Production, Sales, Inventory.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Characteristics</a:t>
            </a:r>
            <a:endParaRPr/>
          </a:p>
        </p:txBody>
      </p:sp>
      <p:sp>
        <p:nvSpPr>
          <p:cNvPr id="163" name="Google Shape;163;p2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Integration:</a:t>
            </a:r>
            <a:r>
              <a:rPr lang="en-US"/>
              <a:t> All modules share a single source of data.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Automation:</a:t>
            </a:r>
            <a:r>
              <a:rPr lang="en-US"/>
              <a:t> Reduces manual entry and duplication.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Standardization:</a:t>
            </a:r>
            <a:r>
              <a:rPr lang="en-US"/>
              <a:t> Ensures consistency across global operations.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Scalability:</a:t>
            </a:r>
            <a:r>
              <a:rPr lang="en-US"/>
              <a:t> Adapts as the organization grows.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 ERP Modules</a:t>
            </a:r>
            <a:endParaRPr/>
          </a:p>
        </p:txBody>
      </p:sp>
      <p:sp>
        <p:nvSpPr>
          <p:cNvPr id="169" name="Google Shape;169;p2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" y="2331900"/>
            <a:ext cx="8915400" cy="452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ERP Workflow Example</a:t>
            </a:r>
            <a:endParaRPr/>
          </a:p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 sales order is entered (Sales module).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system checks inventory (Inventory module).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If materials are low, it triggers a purchase order (Procurement).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Finance updates accounts payable and receivable automatically.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274320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US"/>
              <a:t>ERP Vendors</a:t>
            </a:r>
            <a:endParaRPr/>
          </a:p>
        </p:txBody>
      </p:sp>
      <p:sp>
        <p:nvSpPr>
          <p:cNvPr id="182" name="Google Shape;182;p29"/>
          <p:cNvSpPr txBox="1"/>
          <p:nvPr>
            <p:ph idx="1" type="body"/>
          </p:nvPr>
        </p:nvSpPr>
        <p:spPr>
          <a:xfrm>
            <a:off x="457200" y="1600200"/>
            <a:ext cx="8229600" cy="535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SAP ERP</a:t>
            </a:r>
            <a:r>
              <a:rPr lang="en-US"/>
              <a:t> – global leader with modular design.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Oracle ERP Cloud</a:t>
            </a:r>
            <a:r>
              <a:rPr lang="en-US"/>
              <a:t> – integrated cloud-based solution.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Microsoft Dynamics 365</a:t>
            </a:r>
            <a:r>
              <a:rPr lang="en-US"/>
              <a:t> – mid-size business solution.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Infor, Workday, Netsuite</a:t>
            </a:r>
            <a:r>
              <a:rPr lang="en-US"/>
              <a:t> – industry-specific ERPs.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ERP Benefits &amp; Challenges</a:t>
            </a:r>
            <a:endParaRPr/>
          </a:p>
        </p:txBody>
      </p:sp>
      <p:sp>
        <p:nvSpPr>
          <p:cNvPr id="188" name="Google Shape;188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Benefits: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Streamlined operations and accurate data.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Better reporting and scalability.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Reduces redundancy and cost.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cost and complexity.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Requires process reengineering.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resistance from staff.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ERP Example: Nestlé Case</a:t>
            </a:r>
            <a:endParaRPr/>
          </a:p>
        </p:txBody>
      </p:sp>
      <p:sp>
        <p:nvSpPr>
          <p:cNvPr id="194" name="Google Shape;194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Before: Over 200 legacy systems globally.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ERP (SAP): unified system for finance &amp; procurement.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Result: Standardized processes, faster reporting, cost savings.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Supply Chain Management (SCM)</a:t>
            </a:r>
            <a:endParaRPr/>
          </a:p>
        </p:txBody>
      </p:sp>
      <p:sp>
        <p:nvSpPr>
          <p:cNvPr id="200" name="Google Shape;200;p3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Manages end-to-end flow of goods and information.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Stages: Planning, Sourcing, Making, Delivering, Returning.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Components: Procurement, Inventory, Logistics, Forecasting.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Goal: Optimize cost, speed, and supplier coordination.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206" name="Google Shape;206;p3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Ensure products are available when and where needed.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Reduce costs and waste.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Enhance supplier collaboration.</a:t>
            </a:r>
            <a:br>
              <a:rPr lang="en-US"/>
            </a:br>
            <a:r>
              <a:rPr lang="en-US"/>
              <a:t>Improve customer satisfaction and delivery performance.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SCM Process Stages</a:t>
            </a:r>
            <a:endParaRPr/>
          </a:p>
        </p:txBody>
      </p:sp>
      <p:sp>
        <p:nvSpPr>
          <p:cNvPr id="212" name="Google Shape;212;p34"/>
          <p:cNvSpPr txBox="1"/>
          <p:nvPr>
            <p:ph idx="1" type="body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Planning:</a:t>
            </a:r>
            <a:r>
              <a:rPr lang="en-US"/>
              <a:t> Forecast demand, plan production, and set inventory levels.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Sourcing:</a:t>
            </a:r>
            <a:r>
              <a:rPr lang="en-US"/>
              <a:t> Select and manage suppliers.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Making:</a:t>
            </a:r>
            <a:r>
              <a:rPr lang="en-US"/>
              <a:t> Schedule production and manage operations.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Delivering:</a:t>
            </a:r>
            <a:r>
              <a:rPr lang="en-US"/>
              <a:t> Manage warehousing, logistics, and transport.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Returning:</a:t>
            </a:r>
            <a:r>
              <a:rPr lang="en-US"/>
              <a:t> Handle customer returns and defective goods.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Major SCM Components</a:t>
            </a:r>
            <a:endParaRPr/>
          </a:p>
        </p:txBody>
      </p:sp>
      <p:sp>
        <p:nvSpPr>
          <p:cNvPr id="218" name="Google Shape;218;p35"/>
          <p:cNvSpPr txBox="1"/>
          <p:nvPr>
            <p:ph idx="1" type="body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Procurement Management</a:t>
            </a:r>
            <a:r>
              <a:rPr lang="en-US"/>
              <a:t> – supplier evaluation, contract management.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Inventory Control</a:t>
            </a:r>
            <a:r>
              <a:rPr lang="en-US"/>
              <a:t> – maintaining optimal stock levels.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Logistics Management</a:t>
            </a:r>
            <a:r>
              <a:rPr lang="en-US"/>
              <a:t> – transportation and warehouse coordination.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Demand Forecasting</a:t>
            </a:r>
            <a:r>
              <a:rPr lang="en-US"/>
              <a:t> – predicting customer demand using analytics.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Supplier Relationship Management</a:t>
            </a:r>
            <a:r>
              <a:rPr lang="en-US"/>
              <a:t> – collaboration and performance evaluation.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SCM Technologies &amp; Example</a:t>
            </a:r>
            <a:endParaRPr/>
          </a:p>
        </p:txBody>
      </p:sp>
      <p:sp>
        <p:nvSpPr>
          <p:cNvPr id="224" name="Google Shape;224;p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Technologies: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RFID, IoT, Blockchain, AI-based forecasting.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EDI for automated document exchange.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Walmart: real-time inventory tracking, automatic restocking.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Integration: CRM + ERP + SCM</a:t>
            </a:r>
            <a:endParaRPr/>
          </a:p>
        </p:txBody>
      </p:sp>
      <p:sp>
        <p:nvSpPr>
          <p:cNvPr id="230" name="Google Shape;230;p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ensures seamless data flow across all systems.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CRM: captures order → ERP: plans production → SCM: manages delivery.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Benefits: Efficiency, accuracy, collaboration, faster response.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Dell’s build-to-order model integrates all systems.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Activity: TechNest Simulation</a:t>
            </a:r>
            <a:endParaRPr/>
          </a:p>
        </p:txBody>
      </p:sp>
      <p:sp>
        <p:nvSpPr>
          <p:cNvPr id="236" name="Google Shape;236;p3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Scenario: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Online smart device company.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 how CRM, ERP, SCM interact for an order.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data flow and integration challenges.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Outcome: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enterprise-wide data coordination.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Lecture Summary</a:t>
            </a:r>
            <a:endParaRPr/>
          </a:p>
        </p:txBody>
      </p:sp>
      <p:sp>
        <p:nvSpPr>
          <p:cNvPr id="242" name="Google Shape;242;p3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CRM – Customer-facing, improves satisfaction.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ERP – Internal operations, enhances efficiency.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SCM – Supplier-customer coordination, reduces cost.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Integrated systems drive total business efficiency.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