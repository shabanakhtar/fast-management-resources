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457200" y="260896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Resource Management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Lecture Overview</a:t>
            </a:r>
            <a:endParaRPr/>
          </a:p>
        </p:txBody>
      </p:sp>
      <p:sp>
        <p:nvSpPr>
          <p:cNvPr id="90" name="Google Shape;90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 to Data Resource Management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Technical Foundations of Database Management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Managing Data Resources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Activity &amp; Case Discussion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Data Resource Management?</a:t>
            </a:r>
            <a:endParaRPr/>
          </a:p>
        </p:txBody>
      </p:sp>
      <p:sp>
        <p:nvSpPr>
          <p:cNvPr id="96" name="Google Shape;96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Strategic approach to managing data as an asset.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Ensures data accuracy, security, accessibility.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Supports decision-making and business goals.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Importance of Data Management</a:t>
            </a:r>
            <a:endParaRPr/>
          </a:p>
        </p:txBody>
      </p:sp>
      <p:sp>
        <p:nvSpPr>
          <p:cNvPr id="102" name="Google Shape;102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Drives informed decisions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Reduces duplication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Improves compliance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Enables competitive advantage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Lifecycle: Collection → Storage → Processing → Usage → Archiving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a Database?</a:t>
            </a:r>
            <a:endParaRPr/>
          </a:p>
        </p:txBody>
      </p:sp>
      <p:sp>
        <p:nvSpPr>
          <p:cNvPr id="108" name="Google Shape;108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Organized collection of related data for efficient access and management.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University storing Students, Courses, Enrollments.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Database Management System (DBMS)</a:t>
            </a:r>
            <a:endParaRPr/>
          </a:p>
        </p:txBody>
      </p:sp>
      <p:sp>
        <p:nvSpPr>
          <p:cNvPr id="114" name="Google Shape;114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to create, read, update, and delete data.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Examples: Oracle, MySQL, SQL Server, PostgreSQL, MongoDB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Components of a Database System</a:t>
            </a:r>
            <a:endParaRPr/>
          </a:p>
        </p:txBody>
      </p:sp>
      <p:sp>
        <p:nvSpPr>
          <p:cNvPr id="120" name="Google Shape;120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Hardware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(DBMS)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Procedures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Database Languages (SQL)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vs Information vs Metadata</a:t>
            </a:r>
            <a:endParaRPr/>
          </a:p>
        </p:txBody>
      </p:sp>
      <p:sp>
        <p:nvSpPr>
          <p:cNvPr id="126" name="Google Shape;126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Data: Raw facts (“Ali”, “90”, “CSE101”)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Info: Processed data (Ali scored 90 in CSE101)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Metadata: Data about data (Column name: StudentName)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Database Models</a:t>
            </a:r>
            <a:endParaRPr/>
          </a:p>
        </p:txBody>
      </p:sp>
      <p:sp>
        <p:nvSpPr>
          <p:cNvPr id="132" name="Google Shape;132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31800" lvl="0" marL="342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3200"/>
              <a:buFont typeface="Calibri"/>
              <a:buChar char="•"/>
            </a:pPr>
            <a:r>
              <a:rPr lang="en-US"/>
              <a:t>Hierarchical: Parent-child tree structure</a:t>
            </a:r>
            <a:endParaRPr/>
          </a:p>
          <a:p>
            <a:pPr indent="-4318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•"/>
            </a:pPr>
            <a:r>
              <a:rPr lang="en-US"/>
              <a:t>Network: Many-to-many relationships</a:t>
            </a:r>
            <a:endParaRPr/>
          </a:p>
          <a:p>
            <a:pPr indent="-4318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•"/>
            </a:pPr>
            <a:r>
              <a:rPr lang="en-US"/>
              <a:t>Relational: Data in tables with keys </a:t>
            </a:r>
            <a:r>
              <a:rPr i="1" lang="en-US"/>
              <a:t>(most common)</a:t>
            </a:r>
            <a:endParaRPr i="1"/>
          </a:p>
          <a:p>
            <a:pPr indent="-4318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•"/>
            </a:pPr>
            <a:r>
              <a:rPr lang="en-US"/>
              <a:t>Object-Oriented: Stores objects</a:t>
            </a:r>
            <a:endParaRPr/>
          </a:p>
          <a:p>
            <a:pPr indent="-4318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•"/>
            </a:pPr>
            <a:r>
              <a:rPr lang="en-US"/>
              <a:t>NoSQL: Handles unstructured data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/>
              <a:t>Example:</a:t>
            </a:r>
            <a:r>
              <a:rPr lang="en-US"/>
              <a:t> MongoDB for social media data.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Three-Level Architecture (ANSI/SPARC)</a:t>
            </a:r>
            <a:endParaRPr/>
          </a:p>
        </p:txBody>
      </p:sp>
      <p:sp>
        <p:nvSpPr>
          <p:cNvPr id="138" name="Google Shape;138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342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3200"/>
              <a:buFont typeface="Calibri"/>
              <a:buChar char="•"/>
            </a:pPr>
            <a:r>
              <a:rPr lang="en-US"/>
              <a:t>External Level – User views</a:t>
            </a:r>
            <a:endParaRPr/>
          </a:p>
          <a:p>
            <a:pPr indent="-4318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•"/>
            </a:pPr>
            <a:r>
              <a:rPr lang="en-US"/>
              <a:t>Conceptual Level – Logical structure</a:t>
            </a:r>
            <a:endParaRPr/>
          </a:p>
          <a:p>
            <a:pPr indent="-4318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•"/>
            </a:pPr>
            <a:r>
              <a:rPr lang="en-US"/>
              <a:t>Internal Level – Physical storage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/>
              <a:t>Benefit:</a:t>
            </a:r>
            <a:r>
              <a:rPr lang="en-US"/>
              <a:t> Data independence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ACID Properties</a:t>
            </a:r>
            <a:endParaRPr/>
          </a:p>
        </p:txBody>
      </p:sp>
      <p:sp>
        <p:nvSpPr>
          <p:cNvPr id="144" name="Google Shape;144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342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3200"/>
              <a:buChar char="•"/>
            </a:pPr>
            <a:r>
              <a:rPr b="1" lang="en-US"/>
              <a:t>Atomicity:</a:t>
            </a:r>
            <a:r>
              <a:rPr lang="en-US"/>
              <a:t> All or nothing</a:t>
            </a:r>
            <a:endParaRPr/>
          </a:p>
          <a:p>
            <a:pPr indent="-4318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b="1" lang="en-US"/>
              <a:t>Consistency:</a:t>
            </a:r>
            <a:r>
              <a:rPr lang="en-US"/>
              <a:t> Data remains valid</a:t>
            </a:r>
            <a:endParaRPr/>
          </a:p>
          <a:p>
            <a:pPr indent="-4318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b="1" lang="en-US"/>
              <a:t>Isolation:</a:t>
            </a:r>
            <a:r>
              <a:rPr lang="en-US"/>
              <a:t> Transactions don't interfere</a:t>
            </a:r>
            <a:endParaRPr/>
          </a:p>
          <a:p>
            <a:pPr indent="-4318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b="1" lang="en-US"/>
              <a:t>Durability:</a:t>
            </a:r>
            <a:r>
              <a:rPr lang="en-US"/>
              <a:t> Data persists after commit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/>
              <a:t>Example:</a:t>
            </a:r>
            <a:r>
              <a:rPr lang="en-US"/>
              <a:t> Bank transfer transaction.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Managing Data Resources</a:t>
            </a:r>
            <a:endParaRPr/>
          </a:p>
        </p:txBody>
      </p:sp>
      <p:sp>
        <p:nvSpPr>
          <p:cNvPr id="150" name="Google Shape;150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DRM = Managing all organizational data assets.</a:t>
            </a:r>
            <a:endParaRPr/>
          </a:p>
          <a:p>
            <a:pPr indent="-4318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Ensures accuracy, availability, and security.</a:t>
            </a:r>
            <a:endParaRPr/>
          </a:p>
          <a:p>
            <a:pPr indent="-4318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Enables better reporting, analytics, and compliance.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Components of Data Resource Management</a:t>
            </a:r>
            <a:endParaRPr/>
          </a:p>
        </p:txBody>
      </p:sp>
      <p:sp>
        <p:nvSpPr>
          <p:cNvPr id="156" name="Google Shape;156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Data Governance</a:t>
            </a:r>
            <a:endParaRPr/>
          </a:p>
          <a:p>
            <a:pPr indent="-4318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Data Quality Management</a:t>
            </a:r>
            <a:endParaRPr/>
          </a:p>
          <a:p>
            <a:pPr indent="-4318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Master Data Management (MDM)</a:t>
            </a:r>
            <a:endParaRPr/>
          </a:p>
          <a:p>
            <a:pPr indent="-4318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Data Integration</a:t>
            </a:r>
            <a:endParaRPr/>
          </a:p>
          <a:p>
            <a:pPr indent="-4318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Data Security and Privacy</a:t>
            </a:r>
            <a:endParaRPr/>
          </a:p>
          <a:p>
            <a:pPr indent="-4318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Data Architecture and Storage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Governance</a:t>
            </a:r>
            <a:endParaRPr/>
          </a:p>
        </p:txBody>
      </p:sp>
      <p:sp>
        <p:nvSpPr>
          <p:cNvPr id="162" name="Google Shape;162;p26"/>
          <p:cNvSpPr txBox="1"/>
          <p:nvPr>
            <p:ph idx="1" type="body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31800" lvl="0" marL="342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3200"/>
              <a:buFont typeface="Calibri"/>
              <a:buChar char="•"/>
            </a:pPr>
            <a:r>
              <a:rPr lang="en-US"/>
              <a:t>Framework of rules, roles, and responsibilities.</a:t>
            </a:r>
            <a:endParaRPr/>
          </a:p>
          <a:p>
            <a:pPr indent="-4318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•"/>
            </a:pPr>
            <a:r>
              <a:rPr lang="en-US"/>
              <a:t>Ensures data consistency and accountability.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/>
              <a:t>Includes:</a:t>
            </a:r>
            <a:endParaRPr b="1"/>
          </a:p>
          <a:p>
            <a:pPr indent="-431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/>
              <a:t>Policies &amp; Standards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/>
              <a:t>Data Stewardship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/>
              <a:t>Compliance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/>
              <a:t>Example:</a:t>
            </a:r>
            <a:r>
              <a:rPr lang="en-US"/>
              <a:t> HR can modify employee records; Finance can view only.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Quality Management</a:t>
            </a:r>
            <a:endParaRPr/>
          </a:p>
        </p:txBody>
      </p:sp>
      <p:sp>
        <p:nvSpPr>
          <p:cNvPr id="168" name="Google Shape;168;p27"/>
          <p:cNvSpPr txBox="1"/>
          <p:nvPr>
            <p:ph idx="1" type="body"/>
          </p:nvPr>
        </p:nvSpPr>
        <p:spPr>
          <a:xfrm>
            <a:off x="457200" y="1600200"/>
            <a:ext cx="8229600" cy="54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31800" lvl="0" marL="342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3200"/>
              <a:buFont typeface="Calibri"/>
              <a:buChar char="•"/>
            </a:pPr>
            <a:r>
              <a:rPr lang="en-US"/>
              <a:t>Ensures data is:</a:t>
            </a:r>
            <a:endParaRPr/>
          </a:p>
          <a:p>
            <a:pPr indent="-3746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–"/>
            </a:pPr>
            <a:r>
              <a:rPr lang="en-US" sz="3200"/>
              <a:t>Accurate</a:t>
            </a:r>
            <a:endParaRPr sz="3200"/>
          </a:p>
          <a:p>
            <a:pPr indent="-3746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–"/>
            </a:pPr>
            <a:r>
              <a:rPr lang="en-US" sz="3200"/>
              <a:t>Complete</a:t>
            </a:r>
            <a:endParaRPr sz="3200"/>
          </a:p>
          <a:p>
            <a:pPr indent="-3746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–"/>
            </a:pPr>
            <a:r>
              <a:rPr lang="en-US" sz="3200"/>
              <a:t>Consistent</a:t>
            </a:r>
            <a:endParaRPr sz="3200"/>
          </a:p>
          <a:p>
            <a:pPr indent="-3746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–"/>
            </a:pPr>
            <a:r>
              <a:rPr lang="en-US" sz="3200"/>
              <a:t>Timely</a:t>
            </a:r>
            <a:endParaRPr sz="3200"/>
          </a:p>
          <a:p>
            <a:pPr indent="-3746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–"/>
            </a:pPr>
            <a:r>
              <a:rPr lang="en-US" sz="3200"/>
              <a:t>Unique</a:t>
            </a:r>
            <a:endParaRPr sz="3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/>
              <a:t>Tools:</a:t>
            </a:r>
            <a:r>
              <a:rPr lang="en-US"/>
              <a:t> Validation, Cleansing, Auditing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/>
              <a:t>Example:</a:t>
            </a:r>
            <a:r>
              <a:rPr lang="en-US"/>
              <a:t> Removing duplicate student records.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Master Data Management (MDM)</a:t>
            </a:r>
            <a:endParaRPr/>
          </a:p>
        </p:txBody>
      </p:sp>
      <p:sp>
        <p:nvSpPr>
          <p:cNvPr id="174" name="Google Shape;174;p2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342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3200"/>
              <a:buFont typeface="Calibri"/>
              <a:buChar char="•"/>
            </a:pPr>
            <a:r>
              <a:rPr lang="en-US"/>
              <a:t>Maintains single, consistent version of core data.</a:t>
            </a:r>
            <a:endParaRPr/>
          </a:p>
          <a:p>
            <a:pPr indent="-4318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•"/>
            </a:pPr>
            <a:r>
              <a:rPr lang="en-US"/>
              <a:t>Reduces duplication across departments.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/>
              <a:t>Example:</a:t>
            </a:r>
            <a:r>
              <a:rPr lang="en-US"/>
              <a:t> One customer profile across CRM, billing, and support systems.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Integration (ETL)</a:t>
            </a:r>
            <a:endParaRPr/>
          </a:p>
        </p:txBody>
      </p:sp>
      <p:sp>
        <p:nvSpPr>
          <p:cNvPr id="180" name="Google Shape;180;p2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342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3200"/>
              <a:buFont typeface="Calibri"/>
              <a:buChar char="•"/>
            </a:pPr>
            <a:r>
              <a:rPr lang="en-US"/>
              <a:t>Combines data from multiple sources.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/>
              <a:t>ETL:</a:t>
            </a:r>
            <a:r>
              <a:rPr lang="en-US"/>
              <a:t> Extract → Transform → Load </a:t>
            </a:r>
            <a:r>
              <a:rPr b="1" lang="en-US"/>
              <a:t>ELT:</a:t>
            </a:r>
            <a:r>
              <a:rPr lang="en-US"/>
              <a:t> Extract → Load → Transform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/>
              <a:t>Example:</a:t>
            </a:r>
            <a:r>
              <a:rPr lang="en-US"/>
              <a:t> Merging sales, marketing, and website data into one report.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"/>
          <p:cNvSpPr txBox="1"/>
          <p:nvPr>
            <p:ph type="title"/>
          </p:nvPr>
        </p:nvSpPr>
        <p:spPr>
          <a:xfrm>
            <a:off x="457200" y="13821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Security &amp; Privacy</a:t>
            </a:r>
            <a:endParaRPr/>
          </a:p>
        </p:txBody>
      </p:sp>
      <p:sp>
        <p:nvSpPr>
          <p:cNvPr id="186" name="Google Shape;186;p30"/>
          <p:cNvSpPr txBox="1"/>
          <p:nvPr>
            <p:ph idx="1" type="body"/>
          </p:nvPr>
        </p:nvSpPr>
        <p:spPr>
          <a:xfrm>
            <a:off x="457200" y="128122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Protect data from unauthorized access or misuse.</a:t>
            </a:r>
            <a:endParaRPr/>
          </a:p>
          <a:p>
            <a:pPr indent="-431800" lvl="0" marL="342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3200"/>
              <a:buFont typeface="Calibri"/>
              <a:buChar char="•"/>
            </a:pPr>
            <a:r>
              <a:rPr b="1" lang="en-US"/>
              <a:t>Methods:</a:t>
            </a:r>
            <a:endParaRPr b="1"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/>
              <a:t>Authentication &amp; Authorization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/>
              <a:t>Encryption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/>
              <a:t>Backups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/>
              <a:t>Data Masking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/>
              <a:t>Privacy:</a:t>
            </a:r>
            <a:r>
              <a:rPr lang="en-US"/>
              <a:t> User consent, compliance with GDPR/HIPAA.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Architecture &amp; Storage</a:t>
            </a:r>
            <a:endParaRPr/>
          </a:p>
        </p:txBody>
      </p:sp>
      <p:sp>
        <p:nvSpPr>
          <p:cNvPr id="192" name="Google Shape;192;p3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Defines structure and flow of data.</a:t>
            </a:r>
            <a:endParaRPr/>
          </a:p>
          <a:p>
            <a:pPr indent="-431800" lvl="0" marL="342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3200"/>
              <a:buChar char="•"/>
            </a:pPr>
            <a:r>
              <a:rPr b="1" lang="en-US"/>
              <a:t>OLTP:</a:t>
            </a:r>
            <a:r>
              <a:rPr lang="en-US"/>
              <a:t> Daily transactions</a:t>
            </a:r>
            <a:endParaRPr/>
          </a:p>
          <a:p>
            <a:pPr indent="-4318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b="1" lang="en-US"/>
              <a:t>OLAP:</a:t>
            </a:r>
            <a:r>
              <a:rPr lang="en-US"/>
              <a:t> Analytics &amp; reporting</a:t>
            </a:r>
            <a:endParaRPr/>
          </a:p>
          <a:p>
            <a:pPr indent="-4318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b="1" lang="en-US"/>
              <a:t>Data Warehouse:</a:t>
            </a:r>
            <a:r>
              <a:rPr lang="en-US"/>
              <a:t> Historical data</a:t>
            </a:r>
            <a:endParaRPr/>
          </a:p>
          <a:p>
            <a:pPr indent="-4318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b="1" lang="en-US"/>
              <a:t>Data Lake:</a:t>
            </a:r>
            <a:r>
              <a:rPr lang="en-US"/>
              <a:t> Raw unstructured data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/>
              <a:t>Trend:</a:t>
            </a:r>
            <a:r>
              <a:rPr lang="en-US"/>
              <a:t> Cloud databases (AWS, Azure, Google Cloud)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Benefits of Effective DRM</a:t>
            </a:r>
            <a:endParaRPr/>
          </a:p>
        </p:txBody>
      </p:sp>
      <p:sp>
        <p:nvSpPr>
          <p:cNvPr id="198" name="Google Shape;198;p3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Reliable and accurate data</a:t>
            </a:r>
            <a:endParaRPr/>
          </a:p>
          <a:p>
            <a:pPr indent="-4318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Faster decision-making</a:t>
            </a:r>
            <a:endParaRPr/>
          </a:p>
          <a:p>
            <a:pPr indent="-4318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Stronger compliance</a:t>
            </a:r>
            <a:endParaRPr/>
          </a:p>
          <a:p>
            <a:pPr indent="-4318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Reduced redundancy</a:t>
            </a:r>
            <a:endParaRPr/>
          </a:p>
          <a:p>
            <a:pPr indent="-4318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Cost efficiency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Activity 1</a:t>
            </a:r>
            <a:endParaRPr/>
          </a:p>
        </p:txBody>
      </p:sp>
      <p:sp>
        <p:nvSpPr>
          <p:cNvPr id="204" name="Google Shape;204;p3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 a Student Data Management Plan: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Identify entities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Choose database type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 backup plan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Assign data steward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 Discussion</a:t>
            </a:r>
            <a:endParaRPr/>
          </a:p>
        </p:txBody>
      </p:sp>
      <p:sp>
        <p:nvSpPr>
          <p:cNvPr id="210" name="Google Shape;210;p3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Scenario: Company lost data due to no backup.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Discuss causes and prevention using DRM principles.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Quick Quiz</a:t>
            </a:r>
            <a:endParaRPr/>
          </a:p>
        </p:txBody>
      </p:sp>
      <p:sp>
        <p:nvSpPr>
          <p:cNvPr id="216" name="Google Shape;216;p3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of DRM?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ACID?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 MDM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Meaning of ETL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data security method.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Summary &amp; Takeaways</a:t>
            </a:r>
            <a:endParaRPr/>
          </a:p>
        </p:txBody>
      </p:sp>
      <p:sp>
        <p:nvSpPr>
          <p:cNvPr id="222" name="Google Shape;222;p3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is a key asset.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DBMS forms the backbone.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Governance, Quality, Security ensure trust.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Integration enables unified data.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DRM supports compliance.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