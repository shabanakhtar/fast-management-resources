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notesMasterIdLst>
    <p:notesMasterId r:id="rId42"/>
  </p:notesMasterIdLst>
  <p:handoutMasterIdLst>
    <p:handoutMasterId r:id="rId43"/>
  </p:handoutMasterIdLst>
  <p:sldIdLst>
    <p:sldId id="265" r:id="rId2"/>
    <p:sldId id="290" r:id="rId3"/>
    <p:sldId id="291" r:id="rId4"/>
    <p:sldId id="268" r:id="rId5"/>
    <p:sldId id="269" r:id="rId6"/>
    <p:sldId id="321" r:id="rId7"/>
    <p:sldId id="270" r:id="rId8"/>
    <p:sldId id="271" r:id="rId9"/>
    <p:sldId id="272" r:id="rId10"/>
    <p:sldId id="274" r:id="rId11"/>
    <p:sldId id="275" r:id="rId12"/>
    <p:sldId id="276" r:id="rId13"/>
    <p:sldId id="277" r:id="rId14"/>
    <p:sldId id="278" r:id="rId15"/>
    <p:sldId id="279" r:id="rId16"/>
    <p:sldId id="280" r:id="rId17"/>
    <p:sldId id="281" r:id="rId18"/>
    <p:sldId id="282" r:id="rId19"/>
    <p:sldId id="283" r:id="rId20"/>
    <p:sldId id="292" r:id="rId21"/>
    <p:sldId id="295" r:id="rId22"/>
    <p:sldId id="296" r:id="rId23"/>
    <p:sldId id="318" r:id="rId24"/>
    <p:sldId id="297" r:id="rId25"/>
    <p:sldId id="319" r:id="rId26"/>
    <p:sldId id="299" r:id="rId27"/>
    <p:sldId id="300" r:id="rId28"/>
    <p:sldId id="301" r:id="rId29"/>
    <p:sldId id="302" r:id="rId30"/>
    <p:sldId id="303" r:id="rId31"/>
    <p:sldId id="304" r:id="rId32"/>
    <p:sldId id="305" r:id="rId33"/>
    <p:sldId id="306" r:id="rId34"/>
    <p:sldId id="307" r:id="rId35"/>
    <p:sldId id="308" r:id="rId36"/>
    <p:sldId id="309" r:id="rId37"/>
    <p:sldId id="310" r:id="rId38"/>
    <p:sldId id="311" r:id="rId39"/>
    <p:sldId id="313" r:id="rId40"/>
    <p:sldId id="288" r:id="rId41"/>
  </p:sldIdLst>
  <p:sldSz cx="9144000" cy="5143500" type="screen16x9"/>
  <p:notesSz cx="7315200" cy="9601200"/>
  <p:defaultTextStyle>
    <a:lvl1pPr marL="0" algn="l" rtl="0" latinLnBrk="0">
      <a:defRPr sz="1800" kern="1200">
        <a:solidFill>
          <a:schemeClr val="tx1"/>
        </a:solidFill>
        <a:latin typeface="+mn-lt"/>
        <a:ea typeface="+mn-ea"/>
        <a:cs typeface="+mn-cs"/>
      </a:defRPr>
    </a:lvl1pPr>
    <a:lvl2pPr marL="457200" algn="l" rtl="0" latinLnBrk="0">
      <a:defRPr sz="1800" kern="1200">
        <a:solidFill>
          <a:schemeClr val="tx1"/>
        </a:solidFill>
        <a:latin typeface="+mn-lt"/>
        <a:ea typeface="+mn-ea"/>
        <a:cs typeface="+mn-cs"/>
      </a:defRPr>
    </a:lvl2pPr>
    <a:lvl3pPr marL="914400" algn="l" rtl="0" latinLnBrk="0">
      <a:defRPr sz="1800" kern="1200">
        <a:solidFill>
          <a:schemeClr val="tx1"/>
        </a:solidFill>
        <a:latin typeface="+mn-lt"/>
        <a:ea typeface="+mn-ea"/>
        <a:cs typeface="+mn-cs"/>
      </a:defRPr>
    </a:lvl3pPr>
    <a:lvl4pPr marL="1371600" algn="l" rtl="0" latinLnBrk="0">
      <a:defRPr sz="1800" kern="1200">
        <a:solidFill>
          <a:schemeClr val="tx1"/>
        </a:solidFill>
        <a:latin typeface="+mn-lt"/>
        <a:ea typeface="+mn-ea"/>
        <a:cs typeface="+mn-cs"/>
      </a:defRPr>
    </a:lvl4pPr>
    <a:lvl5pPr marL="1828800" algn="l" rtl="0" latinLnBrk="0">
      <a:defRPr sz="1800" kern="1200">
        <a:solidFill>
          <a:schemeClr val="tx1"/>
        </a:solidFill>
        <a:latin typeface="+mn-lt"/>
        <a:ea typeface="+mn-ea"/>
        <a:cs typeface="+mn-cs"/>
      </a:defRPr>
    </a:lvl5pPr>
    <a:lvl6pPr marL="2286000" algn="l" rtl="0" latinLnBrk="0">
      <a:defRPr sz="1800" kern="1200">
        <a:solidFill>
          <a:schemeClr val="tx1"/>
        </a:solidFill>
        <a:latin typeface="+mn-lt"/>
        <a:ea typeface="+mn-ea"/>
        <a:cs typeface="+mn-cs"/>
      </a:defRPr>
    </a:lvl6pPr>
    <a:lvl7pPr marL="2743200" algn="l" rtl="0" latinLnBrk="0">
      <a:defRPr sz="1800" kern="1200">
        <a:solidFill>
          <a:schemeClr val="tx1"/>
        </a:solidFill>
        <a:latin typeface="+mn-lt"/>
        <a:ea typeface="+mn-ea"/>
        <a:cs typeface="+mn-cs"/>
      </a:defRPr>
    </a:lvl7pPr>
    <a:lvl8pPr marL="3200400" algn="l" rtl="0" latinLnBrk="0">
      <a:defRPr sz="1800" kern="1200">
        <a:solidFill>
          <a:schemeClr val="tx1"/>
        </a:solidFill>
        <a:latin typeface="+mn-lt"/>
        <a:ea typeface="+mn-ea"/>
        <a:cs typeface="+mn-cs"/>
      </a:defRPr>
    </a:lvl8pPr>
    <a:lvl9pPr marL="3657600" algn="l" rtl="0" latinLnBrk="0">
      <a:defRPr sz="1800" kern="1200">
        <a:solidFill>
          <a:schemeClr val="tx1"/>
        </a:solidFill>
        <a:latin typeface="+mn-lt"/>
        <a:ea typeface="+mn-ea"/>
        <a:cs typeface="+mn-cs"/>
      </a:defRPr>
    </a:lvl9pPr>
    <a:extLst/>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3126" autoAdjust="0"/>
  </p:normalViewPr>
  <p:slideViewPr>
    <p:cSldViewPr>
      <p:cViewPr varScale="1">
        <p:scale>
          <a:sx n="86" d="100"/>
          <a:sy n="86" d="100"/>
        </p:scale>
        <p:origin x="1382" y="62"/>
      </p:cViewPr>
      <p:guideLst>
        <p:guide orient="horz" pos="1620"/>
        <p:guide pos="2880"/>
      </p:guideLst>
    </p:cSldViewPr>
  </p:slideViewPr>
  <p:notesTextViewPr>
    <p:cViewPr>
      <p:scale>
        <a:sx n="100" d="100"/>
        <a:sy n="100" d="100"/>
      </p:scale>
      <p:origin x="0" y="0"/>
    </p:cViewPr>
  </p:notesTextViewPr>
  <p:notesViewPr>
    <p:cSldViewPr>
      <p:cViewPr varScale="1">
        <p:scale>
          <a:sx n="50" d="100"/>
          <a:sy n="50" d="100"/>
        </p:scale>
        <p:origin x="-2862" y="-108"/>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794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4143375" y="0"/>
            <a:ext cx="3170238" cy="479425"/>
          </a:xfrm>
          <a:prstGeom prst="rect">
            <a:avLst/>
          </a:prstGeom>
        </p:spPr>
        <p:txBody>
          <a:bodyPr vert="horz" lIns="91440" tIns="45720" rIns="91440" bIns="45720" rtlCol="0"/>
          <a:lstStyle>
            <a:lvl1pPr algn="r">
              <a:defRPr sz="1200"/>
            </a:lvl1pPr>
          </a:lstStyle>
          <a:p>
            <a:fld id="{B58BDC80-DC7C-43FD-96E5-532427FD5AF6}" type="datetimeFigureOut">
              <a:rPr lang="en-US" smtClean="0"/>
              <a:pPr/>
              <a:t>10/9/2025</a:t>
            </a:fld>
            <a:endParaRPr lang="en-US"/>
          </a:p>
        </p:txBody>
      </p:sp>
      <p:sp>
        <p:nvSpPr>
          <p:cNvPr id="5" name="Slide Number Placeholder 4"/>
          <p:cNvSpPr>
            <a:spLocks noGrp="1"/>
          </p:cNvSpPr>
          <p:nvPr>
            <p:ph type="sldNum" sz="quarter" idx="3"/>
          </p:nvPr>
        </p:nvSpPr>
        <p:spPr>
          <a:xfrm>
            <a:off x="4143375" y="9120188"/>
            <a:ext cx="3170238" cy="479425"/>
          </a:xfrm>
          <a:prstGeom prst="rect">
            <a:avLst/>
          </a:prstGeom>
        </p:spPr>
        <p:txBody>
          <a:bodyPr vert="horz" lIns="91440" tIns="45720" rIns="91440" bIns="45720" rtlCol="0" anchor="b"/>
          <a:lstStyle>
            <a:lvl1pPr algn="r">
              <a:defRPr sz="1200"/>
            </a:lvl1pPr>
          </a:lstStyle>
          <a:p>
            <a:fld id="{6249E867-D716-4FCE-A2D3-C62D6ABAC055}" type="slidenum">
              <a:rPr lang="en-US" smtClean="0"/>
              <a:pPr/>
              <a:t>‹#›</a:t>
            </a:fld>
            <a:endParaRPr lang="en-US"/>
          </a:p>
        </p:txBody>
      </p:sp>
    </p:spTree>
    <p:extLst>
      <p:ext uri="{BB962C8B-B14F-4D97-AF65-F5344CB8AC3E}">
        <p14:creationId xmlns:p14="http://schemas.microsoft.com/office/powerpoint/2010/main" val="1447174118"/>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extLst/>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extLst/>
          </a:lstStyle>
          <a:p>
            <a:fld id="{A8ADFD5B-A66C-449C-B6E8-FB716D07777D}" type="datetimeFigureOut">
              <a:rPr lang="en-US" smtClean="0"/>
              <a:pPr/>
              <a:t>10/9/2025</a:t>
            </a:fld>
            <a:endParaRPr lang="en-US"/>
          </a:p>
        </p:txBody>
      </p:sp>
      <p:sp>
        <p:nvSpPr>
          <p:cNvPr id="4" name="Slide Image Placeholder 3"/>
          <p:cNvSpPr>
            <a:spLocks noGrp="1" noRot="1" noChangeAspect="1"/>
          </p:cNvSpPr>
          <p:nvPr>
            <p:ph type="sldImg" idx="2"/>
          </p:nvPr>
        </p:nvSpPr>
        <p:spPr>
          <a:xfrm>
            <a:off x="457200" y="720725"/>
            <a:ext cx="6400800" cy="360045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extLst/>
          </a:lstStyle>
          <a:p>
            <a:fld id="{CA5D3BF3-D352-46FC-8343-31F56E6730EA}" type="slidenum">
              <a:rPr lang="en-US" smtClean="0"/>
              <a:pPr/>
              <a:t>‹#›</a:t>
            </a:fld>
            <a:endParaRPr lang="en-US"/>
          </a:p>
        </p:txBody>
      </p:sp>
    </p:spTree>
    <p:extLst>
      <p:ext uri="{BB962C8B-B14F-4D97-AF65-F5344CB8AC3E}">
        <p14:creationId xmlns:p14="http://schemas.microsoft.com/office/powerpoint/2010/main" val="1369369957"/>
      </p:ext>
    </p:extLst>
  </p:cSld>
  <p:clrMap bg1="lt1" tx1="dk1" bg2="lt2" tx2="dk2" accent1="accent1" accent2="accent2" accent3="accent3" accent4="accent4" accent5="accent5" accent6="accent6" hlink="hlink" folHlink="folHlink"/>
  <p:hf hdr="0" dt="0"/>
  <p:notesStyle>
    <a:lvl1pPr marL="0" algn="l" rtl="0">
      <a:defRPr sz="1200" kern="1200">
        <a:solidFill>
          <a:schemeClr val="tx1"/>
        </a:solidFill>
        <a:latin typeface="+mn-lt"/>
        <a:ea typeface="+mn-ea"/>
        <a:cs typeface="+mn-cs"/>
      </a:defRPr>
    </a:lvl1pPr>
    <a:lvl2pPr marL="457200" algn="l" rtl="0">
      <a:defRPr sz="1200" kern="1200">
        <a:solidFill>
          <a:schemeClr val="tx1"/>
        </a:solidFill>
        <a:latin typeface="+mn-lt"/>
        <a:ea typeface="+mn-ea"/>
        <a:cs typeface="+mn-cs"/>
      </a:defRPr>
    </a:lvl2pPr>
    <a:lvl3pPr marL="914400" algn="l" rtl="0">
      <a:defRPr sz="1200" kern="1200">
        <a:solidFill>
          <a:schemeClr val="tx1"/>
        </a:solidFill>
        <a:latin typeface="+mn-lt"/>
        <a:ea typeface="+mn-ea"/>
        <a:cs typeface="+mn-cs"/>
      </a:defRPr>
    </a:lvl3pPr>
    <a:lvl4pPr marL="1371600" algn="l" rtl="0">
      <a:defRPr sz="1200" kern="1200">
        <a:solidFill>
          <a:schemeClr val="tx1"/>
        </a:solidFill>
        <a:latin typeface="+mn-lt"/>
        <a:ea typeface="+mn-ea"/>
        <a:cs typeface="+mn-cs"/>
      </a:defRPr>
    </a:lvl4pPr>
    <a:lvl5pPr marL="1828800" algn="l" rtl="0">
      <a:defRPr sz="1200" kern="1200">
        <a:solidFill>
          <a:schemeClr val="tx1"/>
        </a:solidFill>
        <a:latin typeface="+mn-lt"/>
        <a:ea typeface="+mn-ea"/>
        <a:cs typeface="+mn-cs"/>
      </a:defRPr>
    </a:lvl5pPr>
    <a:lvl6pPr marL="2286000" algn="l" rtl="0">
      <a:defRPr sz="1200" kern="1200">
        <a:solidFill>
          <a:schemeClr val="tx1"/>
        </a:solidFill>
        <a:latin typeface="+mn-lt"/>
        <a:ea typeface="+mn-ea"/>
        <a:cs typeface="+mn-cs"/>
      </a:defRPr>
    </a:lvl6pPr>
    <a:lvl7pPr marL="2743200" algn="l" rtl="0">
      <a:defRPr sz="1200" kern="1200">
        <a:solidFill>
          <a:schemeClr val="tx1"/>
        </a:solidFill>
        <a:latin typeface="+mn-lt"/>
        <a:ea typeface="+mn-ea"/>
        <a:cs typeface="+mn-cs"/>
      </a:defRPr>
    </a:lvl7pPr>
    <a:lvl8pPr marL="3200400" algn="l" rtl="0">
      <a:defRPr sz="1200" kern="1200">
        <a:solidFill>
          <a:schemeClr val="tx1"/>
        </a:solidFill>
        <a:latin typeface="+mn-lt"/>
        <a:ea typeface="+mn-ea"/>
        <a:cs typeface="+mn-cs"/>
      </a:defRPr>
    </a:lvl8pPr>
    <a:lvl9pPr marL="3657600" algn="l" rtl="0">
      <a:defRPr sz="1200" kern="1200">
        <a:solidFill>
          <a:schemeClr val="tx1"/>
        </a:solidFill>
        <a:latin typeface="+mn-lt"/>
        <a:ea typeface="+mn-ea"/>
        <a:cs typeface="+mn-cs"/>
      </a:defRPr>
    </a:lvl9pPr>
    <a:extLst/>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www.verywellmind.com/characteristics-of-self-actualized-people-2795963" TargetMode="External"/><Relationship Id="rId2" Type="http://schemas.openxmlformats.org/officeDocument/2006/relationships/slide" Target="../slides/slide5.xml"/><Relationship Id="rId1" Type="http://schemas.openxmlformats.org/officeDocument/2006/relationships/notesMaster" Target="../notesMasters/notesMaster1.xml"/><Relationship Id="rId4" Type="http://schemas.openxmlformats.org/officeDocument/2006/relationships/hyperlink" Target="https://www.verywellmind.com/what-is-self-awareness-2795023" TargetMode="Externa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A5D3BF3-D352-46FC-8343-31F56E6730EA}"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It is easy to see that some individuals are more motivated than others.  However, the reasons for that motivation are more difficult to determine.  When defining motivation it is important to look at the interaction between the individual and the situation.  There are three key elements that help us define motivation.  The first is intensity or how hard the person tries to accomplish the task.  The second element is direction and that is the effort that is channeled toward organizational goals.  The final element is persistency or how long a person can maintain the effort.</a:t>
            </a:r>
          </a:p>
          <a:p>
            <a:endParaRPr lang="en-US" altLang="en-US"/>
          </a:p>
        </p:txBody>
      </p:sp>
      <p:sp>
        <p:nvSpPr>
          <p:cNvPr id="358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defRPr>
            </a:lvl1pPr>
            <a:lvl2pPr marL="769473" indent="-295951">
              <a:defRPr sz="1200">
                <a:solidFill>
                  <a:schemeClr val="tx1"/>
                </a:solidFill>
                <a:latin typeface="Arial" charset="0"/>
              </a:defRPr>
            </a:lvl2pPr>
            <a:lvl3pPr marL="1183805" indent="-236761">
              <a:defRPr sz="1200">
                <a:solidFill>
                  <a:schemeClr val="tx1"/>
                </a:solidFill>
                <a:latin typeface="Arial" charset="0"/>
              </a:defRPr>
            </a:lvl3pPr>
            <a:lvl4pPr marL="1657327" indent="-236761">
              <a:defRPr sz="1200">
                <a:solidFill>
                  <a:schemeClr val="tx1"/>
                </a:solidFill>
                <a:latin typeface="Arial" charset="0"/>
              </a:defRPr>
            </a:lvl4pPr>
            <a:lvl5pPr marL="2130849" indent="-236761">
              <a:defRPr sz="1200">
                <a:solidFill>
                  <a:schemeClr val="tx1"/>
                </a:solidFill>
                <a:latin typeface="Arial" charset="0"/>
              </a:defRPr>
            </a:lvl5pPr>
            <a:lvl6pPr marL="2604371" indent="-236761" eaLnBrk="0" fontAlgn="base" hangingPunct="0">
              <a:spcBef>
                <a:spcPct val="30000"/>
              </a:spcBef>
              <a:spcAft>
                <a:spcPct val="0"/>
              </a:spcAft>
              <a:defRPr sz="1200">
                <a:solidFill>
                  <a:schemeClr val="tx1"/>
                </a:solidFill>
                <a:latin typeface="Arial" charset="0"/>
              </a:defRPr>
            </a:lvl6pPr>
            <a:lvl7pPr marL="3077893" indent="-236761" eaLnBrk="0" fontAlgn="base" hangingPunct="0">
              <a:spcBef>
                <a:spcPct val="30000"/>
              </a:spcBef>
              <a:spcAft>
                <a:spcPct val="0"/>
              </a:spcAft>
              <a:defRPr sz="1200">
                <a:solidFill>
                  <a:schemeClr val="tx1"/>
                </a:solidFill>
                <a:latin typeface="Arial" charset="0"/>
              </a:defRPr>
            </a:lvl7pPr>
            <a:lvl8pPr marL="3551415" indent="-236761" eaLnBrk="0" fontAlgn="base" hangingPunct="0">
              <a:spcBef>
                <a:spcPct val="30000"/>
              </a:spcBef>
              <a:spcAft>
                <a:spcPct val="0"/>
              </a:spcAft>
              <a:defRPr sz="1200">
                <a:solidFill>
                  <a:schemeClr val="tx1"/>
                </a:solidFill>
                <a:latin typeface="Arial" charset="0"/>
              </a:defRPr>
            </a:lvl8pPr>
            <a:lvl9pPr marL="4024937" indent="-236761" eaLnBrk="0" fontAlgn="base" hangingPunct="0">
              <a:spcBef>
                <a:spcPct val="30000"/>
              </a:spcBef>
              <a:spcAft>
                <a:spcPct val="0"/>
              </a:spcAft>
              <a:defRPr sz="1200">
                <a:solidFill>
                  <a:schemeClr val="tx1"/>
                </a:solidFill>
                <a:latin typeface="Arial" charset="0"/>
              </a:defRPr>
            </a:lvl9pPr>
          </a:lstStyle>
          <a:p>
            <a:fld id="{59D110B9-C837-40AB-842A-ED3BB2B95AAD}" type="slidenum">
              <a:rPr lang="en-US" altLang="en-US" smtClean="0">
                <a:cs typeface="Arial" charset="0"/>
              </a:rPr>
              <a:pPr/>
              <a:t>2</a:t>
            </a:fld>
            <a:endParaRPr lang="en-US" altLang="en-US">
              <a:cs typeface="Arial"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a:ln/>
        </p:spPr>
      </p:sp>
      <p:sp>
        <p:nvSpPr>
          <p:cNvPr id="368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There are number of theories of motivation that help us gain a better understanding of the concept.  Some of the earlier theories are not entirely valid anymore but they are still used by many managers.  </a:t>
            </a:r>
          </a:p>
          <a:p>
            <a:endParaRPr lang="en-US" altLang="en-US"/>
          </a:p>
        </p:txBody>
      </p:sp>
      <p:sp>
        <p:nvSpPr>
          <p:cNvPr id="3686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defRPr>
            </a:lvl1pPr>
            <a:lvl2pPr marL="769473" indent="-295951">
              <a:defRPr sz="1200">
                <a:solidFill>
                  <a:schemeClr val="tx1"/>
                </a:solidFill>
                <a:latin typeface="Arial" charset="0"/>
              </a:defRPr>
            </a:lvl2pPr>
            <a:lvl3pPr marL="1183805" indent="-236761">
              <a:defRPr sz="1200">
                <a:solidFill>
                  <a:schemeClr val="tx1"/>
                </a:solidFill>
                <a:latin typeface="Arial" charset="0"/>
              </a:defRPr>
            </a:lvl3pPr>
            <a:lvl4pPr marL="1657327" indent="-236761">
              <a:defRPr sz="1200">
                <a:solidFill>
                  <a:schemeClr val="tx1"/>
                </a:solidFill>
                <a:latin typeface="Arial" charset="0"/>
              </a:defRPr>
            </a:lvl4pPr>
            <a:lvl5pPr marL="2130849" indent="-236761">
              <a:defRPr sz="1200">
                <a:solidFill>
                  <a:schemeClr val="tx1"/>
                </a:solidFill>
                <a:latin typeface="Arial" charset="0"/>
              </a:defRPr>
            </a:lvl5pPr>
            <a:lvl6pPr marL="2604371" indent="-236761" eaLnBrk="0" fontAlgn="base" hangingPunct="0">
              <a:spcBef>
                <a:spcPct val="30000"/>
              </a:spcBef>
              <a:spcAft>
                <a:spcPct val="0"/>
              </a:spcAft>
              <a:defRPr sz="1200">
                <a:solidFill>
                  <a:schemeClr val="tx1"/>
                </a:solidFill>
                <a:latin typeface="Arial" charset="0"/>
              </a:defRPr>
            </a:lvl6pPr>
            <a:lvl7pPr marL="3077893" indent="-236761" eaLnBrk="0" fontAlgn="base" hangingPunct="0">
              <a:spcBef>
                <a:spcPct val="30000"/>
              </a:spcBef>
              <a:spcAft>
                <a:spcPct val="0"/>
              </a:spcAft>
              <a:defRPr sz="1200">
                <a:solidFill>
                  <a:schemeClr val="tx1"/>
                </a:solidFill>
                <a:latin typeface="Arial" charset="0"/>
              </a:defRPr>
            </a:lvl7pPr>
            <a:lvl8pPr marL="3551415" indent="-236761" eaLnBrk="0" fontAlgn="base" hangingPunct="0">
              <a:spcBef>
                <a:spcPct val="30000"/>
              </a:spcBef>
              <a:spcAft>
                <a:spcPct val="0"/>
              </a:spcAft>
              <a:defRPr sz="1200">
                <a:solidFill>
                  <a:schemeClr val="tx1"/>
                </a:solidFill>
                <a:latin typeface="Arial" charset="0"/>
              </a:defRPr>
            </a:lvl8pPr>
            <a:lvl9pPr marL="4024937" indent="-236761" eaLnBrk="0" fontAlgn="base" hangingPunct="0">
              <a:spcBef>
                <a:spcPct val="30000"/>
              </a:spcBef>
              <a:spcAft>
                <a:spcPct val="0"/>
              </a:spcAft>
              <a:defRPr sz="1200">
                <a:solidFill>
                  <a:schemeClr val="tx1"/>
                </a:solidFill>
                <a:latin typeface="Arial" charset="0"/>
              </a:defRPr>
            </a:lvl9pPr>
          </a:lstStyle>
          <a:p>
            <a:fld id="{1E2842A9-4E00-4ACC-B2B8-7B288984A4E4}" type="slidenum">
              <a:rPr lang="en-US" altLang="en-US" smtClean="0">
                <a:cs typeface="Arial" charset="0"/>
              </a:rPr>
              <a:pPr/>
              <a:t>4</a:t>
            </a:fld>
            <a:endParaRPr lang="en-US" altLang="en-US">
              <a:cs typeface="Arial"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ln/>
        </p:spPr>
      </p:sp>
      <p:sp>
        <p:nvSpPr>
          <p:cNvPr id="378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The first theory was developed by Abraham Maslow in the 1950’s.  His theory states that with every individual there is a hierarchy of five needs.  As each need is met or satisfied the next need becomes dominant.  His theory posits that individuals are stuck in their existing need level until it is satisfied and then the can move on to the next level.  For example, until their safety needs are met they will not be able to move on to the social level.</a:t>
            </a:r>
          </a:p>
          <a:p>
            <a:endParaRPr lang="en-US" altLang="en-US" dirty="0"/>
          </a:p>
          <a:p>
            <a:pPr fontAlgn="base"/>
            <a:r>
              <a:rPr lang="en-US" sz="1200" b="0" i="0" kern="1200" dirty="0">
                <a:solidFill>
                  <a:schemeClr val="tx1"/>
                </a:solidFill>
                <a:effectLst/>
                <a:latin typeface="+mn-lt"/>
                <a:ea typeface="+mn-ea"/>
                <a:cs typeface="+mn-cs"/>
              </a:rPr>
              <a:t>According to Maslow’s definition of self-actualization:</a:t>
            </a:r>
          </a:p>
          <a:p>
            <a:pPr fontAlgn="base"/>
            <a:r>
              <a:rPr lang="en-US" sz="1200" b="0" i="0" kern="1200" dirty="0">
                <a:solidFill>
                  <a:schemeClr val="tx1"/>
                </a:solidFill>
                <a:effectLst/>
                <a:latin typeface="+mn-lt"/>
                <a:ea typeface="+mn-ea"/>
                <a:cs typeface="+mn-cs"/>
              </a:rPr>
              <a:t>"It may be loosely described as the full use and exploitation of talents, capabilities, potentialities, etc. Such people seem to be fulfilling themselves and to be doing the best that they are capable of doing... They are people who have developed or are developing to the full stature of which they capable."</a:t>
            </a:r>
          </a:p>
          <a:p>
            <a:pPr fontAlgn="base"/>
            <a:r>
              <a:rPr lang="en-US" sz="1200" b="0" i="0" u="sng" kern="1200" dirty="0">
                <a:solidFill>
                  <a:schemeClr val="tx1"/>
                </a:solidFill>
                <a:effectLst/>
                <a:latin typeface="+mn-lt"/>
                <a:ea typeface="+mn-ea"/>
                <a:cs typeface="+mn-cs"/>
                <a:hlinkClick r:id="rId3"/>
              </a:rPr>
              <a:t>Self-actualizing</a:t>
            </a:r>
            <a:r>
              <a:rPr lang="en-US" sz="1200" b="0" i="0" kern="1200" dirty="0">
                <a:solidFill>
                  <a:schemeClr val="tx1"/>
                </a:solidFill>
                <a:effectLst/>
                <a:latin typeface="+mn-lt"/>
                <a:ea typeface="+mn-ea"/>
                <a:cs typeface="+mn-cs"/>
              </a:rPr>
              <a:t> people are </a:t>
            </a:r>
            <a:r>
              <a:rPr lang="en-US" sz="1200" b="0" i="0" u="sng" kern="1200" dirty="0">
                <a:solidFill>
                  <a:schemeClr val="tx1"/>
                </a:solidFill>
                <a:effectLst/>
                <a:latin typeface="+mn-lt"/>
                <a:ea typeface="+mn-ea"/>
                <a:cs typeface="+mn-cs"/>
                <a:hlinkClick r:id="rId4"/>
              </a:rPr>
              <a:t>self-aware</a:t>
            </a:r>
            <a:r>
              <a:rPr lang="en-US" sz="1200" b="0" i="0" kern="1200" dirty="0">
                <a:solidFill>
                  <a:schemeClr val="tx1"/>
                </a:solidFill>
                <a:effectLst/>
                <a:latin typeface="+mn-lt"/>
                <a:ea typeface="+mn-ea"/>
                <a:cs typeface="+mn-cs"/>
              </a:rPr>
              <a:t>, concerned with personal growth, less concerned with the opinions of others, and interested in fulfilling their potential.</a:t>
            </a:r>
          </a:p>
          <a:p>
            <a:endParaRPr lang="en-US" altLang="en-US" dirty="0"/>
          </a:p>
          <a:p>
            <a:endParaRPr lang="en-US" altLang="en-US" dirty="0"/>
          </a:p>
        </p:txBody>
      </p:sp>
      <p:sp>
        <p:nvSpPr>
          <p:cNvPr id="378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defRPr>
            </a:lvl1pPr>
            <a:lvl2pPr marL="769473" indent="-295951">
              <a:defRPr sz="1200">
                <a:solidFill>
                  <a:schemeClr val="tx1"/>
                </a:solidFill>
                <a:latin typeface="Arial" charset="0"/>
              </a:defRPr>
            </a:lvl2pPr>
            <a:lvl3pPr marL="1183805" indent="-236761">
              <a:defRPr sz="1200">
                <a:solidFill>
                  <a:schemeClr val="tx1"/>
                </a:solidFill>
                <a:latin typeface="Arial" charset="0"/>
              </a:defRPr>
            </a:lvl3pPr>
            <a:lvl4pPr marL="1657327" indent="-236761">
              <a:defRPr sz="1200">
                <a:solidFill>
                  <a:schemeClr val="tx1"/>
                </a:solidFill>
                <a:latin typeface="Arial" charset="0"/>
              </a:defRPr>
            </a:lvl4pPr>
            <a:lvl5pPr marL="2130849" indent="-236761">
              <a:defRPr sz="1200">
                <a:solidFill>
                  <a:schemeClr val="tx1"/>
                </a:solidFill>
                <a:latin typeface="Arial" charset="0"/>
              </a:defRPr>
            </a:lvl5pPr>
            <a:lvl6pPr marL="2604371" indent="-236761" eaLnBrk="0" fontAlgn="base" hangingPunct="0">
              <a:spcBef>
                <a:spcPct val="30000"/>
              </a:spcBef>
              <a:spcAft>
                <a:spcPct val="0"/>
              </a:spcAft>
              <a:defRPr sz="1200">
                <a:solidFill>
                  <a:schemeClr val="tx1"/>
                </a:solidFill>
                <a:latin typeface="Arial" charset="0"/>
              </a:defRPr>
            </a:lvl6pPr>
            <a:lvl7pPr marL="3077893" indent="-236761" eaLnBrk="0" fontAlgn="base" hangingPunct="0">
              <a:spcBef>
                <a:spcPct val="30000"/>
              </a:spcBef>
              <a:spcAft>
                <a:spcPct val="0"/>
              </a:spcAft>
              <a:defRPr sz="1200">
                <a:solidFill>
                  <a:schemeClr val="tx1"/>
                </a:solidFill>
                <a:latin typeface="Arial" charset="0"/>
              </a:defRPr>
            </a:lvl7pPr>
            <a:lvl8pPr marL="3551415" indent="-236761" eaLnBrk="0" fontAlgn="base" hangingPunct="0">
              <a:spcBef>
                <a:spcPct val="30000"/>
              </a:spcBef>
              <a:spcAft>
                <a:spcPct val="0"/>
              </a:spcAft>
              <a:defRPr sz="1200">
                <a:solidFill>
                  <a:schemeClr val="tx1"/>
                </a:solidFill>
                <a:latin typeface="Arial" charset="0"/>
              </a:defRPr>
            </a:lvl8pPr>
            <a:lvl9pPr marL="4024937" indent="-236761" eaLnBrk="0" fontAlgn="base" hangingPunct="0">
              <a:spcBef>
                <a:spcPct val="30000"/>
              </a:spcBef>
              <a:spcAft>
                <a:spcPct val="0"/>
              </a:spcAft>
              <a:defRPr sz="1200">
                <a:solidFill>
                  <a:schemeClr val="tx1"/>
                </a:solidFill>
                <a:latin typeface="Arial" charset="0"/>
              </a:defRPr>
            </a:lvl9pPr>
          </a:lstStyle>
          <a:p>
            <a:fld id="{D2688917-CBAB-4EAA-9585-0EBA07380E2A}" type="slidenum">
              <a:rPr lang="en-US" altLang="en-US" smtClean="0">
                <a:cs typeface="Arial" charset="0"/>
              </a:rPr>
              <a:pPr/>
              <a:t>5</a:t>
            </a:fld>
            <a:endParaRPr lang="en-US" altLang="en-US">
              <a:cs typeface="Arial"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a:ln/>
        </p:spPr>
      </p:sp>
      <p:sp>
        <p:nvSpPr>
          <p:cNvPr id="3891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Douglas McGregor added to the motivation work done in the 1950’s and developed the theory called Theory X, Theory Y.  He believed that there are two distinct views of human beings that managers hold.  The Theory X view is basically negative and holds that workers have little ambition, dislike work and avoid responsibility.  The Theory Y view is in contrast to X and sets forth that workers tend to be self-directed, enjoy work and accept responsibility.  Managers will modify their behavior toward employees based on what view they hold about them.  </a:t>
            </a:r>
          </a:p>
          <a:p>
            <a:endParaRPr lang="en-US" altLang="en-US"/>
          </a:p>
        </p:txBody>
      </p:sp>
      <p:sp>
        <p:nvSpPr>
          <p:cNvPr id="3891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defRPr>
            </a:lvl1pPr>
            <a:lvl2pPr marL="769473" indent="-295951">
              <a:defRPr sz="1200">
                <a:solidFill>
                  <a:schemeClr val="tx1"/>
                </a:solidFill>
                <a:latin typeface="Arial" charset="0"/>
              </a:defRPr>
            </a:lvl2pPr>
            <a:lvl3pPr marL="1183805" indent="-236761">
              <a:defRPr sz="1200">
                <a:solidFill>
                  <a:schemeClr val="tx1"/>
                </a:solidFill>
                <a:latin typeface="Arial" charset="0"/>
              </a:defRPr>
            </a:lvl3pPr>
            <a:lvl4pPr marL="1657327" indent="-236761">
              <a:defRPr sz="1200">
                <a:solidFill>
                  <a:schemeClr val="tx1"/>
                </a:solidFill>
                <a:latin typeface="Arial" charset="0"/>
              </a:defRPr>
            </a:lvl4pPr>
            <a:lvl5pPr marL="2130849" indent="-236761">
              <a:defRPr sz="1200">
                <a:solidFill>
                  <a:schemeClr val="tx1"/>
                </a:solidFill>
                <a:latin typeface="Arial" charset="0"/>
              </a:defRPr>
            </a:lvl5pPr>
            <a:lvl6pPr marL="2604371" indent="-236761" eaLnBrk="0" fontAlgn="base" hangingPunct="0">
              <a:spcBef>
                <a:spcPct val="30000"/>
              </a:spcBef>
              <a:spcAft>
                <a:spcPct val="0"/>
              </a:spcAft>
              <a:defRPr sz="1200">
                <a:solidFill>
                  <a:schemeClr val="tx1"/>
                </a:solidFill>
                <a:latin typeface="Arial" charset="0"/>
              </a:defRPr>
            </a:lvl6pPr>
            <a:lvl7pPr marL="3077893" indent="-236761" eaLnBrk="0" fontAlgn="base" hangingPunct="0">
              <a:spcBef>
                <a:spcPct val="30000"/>
              </a:spcBef>
              <a:spcAft>
                <a:spcPct val="0"/>
              </a:spcAft>
              <a:defRPr sz="1200">
                <a:solidFill>
                  <a:schemeClr val="tx1"/>
                </a:solidFill>
                <a:latin typeface="Arial" charset="0"/>
              </a:defRPr>
            </a:lvl7pPr>
            <a:lvl8pPr marL="3551415" indent="-236761" eaLnBrk="0" fontAlgn="base" hangingPunct="0">
              <a:spcBef>
                <a:spcPct val="30000"/>
              </a:spcBef>
              <a:spcAft>
                <a:spcPct val="0"/>
              </a:spcAft>
              <a:defRPr sz="1200">
                <a:solidFill>
                  <a:schemeClr val="tx1"/>
                </a:solidFill>
                <a:latin typeface="Arial" charset="0"/>
              </a:defRPr>
            </a:lvl8pPr>
            <a:lvl9pPr marL="4024937" indent="-236761" eaLnBrk="0" fontAlgn="base" hangingPunct="0">
              <a:spcBef>
                <a:spcPct val="30000"/>
              </a:spcBef>
              <a:spcAft>
                <a:spcPct val="0"/>
              </a:spcAft>
              <a:defRPr sz="1200">
                <a:solidFill>
                  <a:schemeClr val="tx1"/>
                </a:solidFill>
                <a:latin typeface="Arial" charset="0"/>
              </a:defRPr>
            </a:lvl9pPr>
          </a:lstStyle>
          <a:p>
            <a:fld id="{4EF0B313-B587-49BB-8700-A9BCCE97AE83}" type="slidenum">
              <a:rPr lang="en-US" altLang="en-US" smtClean="0">
                <a:cs typeface="Arial" charset="0"/>
              </a:rPr>
              <a:pPr/>
              <a:t>7</a:t>
            </a:fld>
            <a:endParaRPr lang="en-US" altLang="en-US">
              <a:cs typeface="Arial"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a:ln/>
        </p:spPr>
      </p:sp>
      <p:sp>
        <p:nvSpPr>
          <p:cNvPr id="399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Herzberg’s Two-Factor theory is another one of the earlier developed theories.  This theory sets forth that satisfaction and dissatisfaction are not the opposites, but two separate ideas.  There are a set of factors that when present will help to avoid dissatisfaction in workers.  This group is called the hygiene factors and includes such things as salary, working conditions and company policies.  There is another set of factors that when present will help to cause satisfaction in workers.  This group is called motivators and includes things such as growth, responsibility and achievement.  These sets are distinct and the presence of hygiene factors does not cause satisfaction, it just helps avoid dissatisfaction.  </a:t>
            </a:r>
          </a:p>
          <a:p>
            <a:endParaRPr lang="en-US" altLang="en-US"/>
          </a:p>
        </p:txBody>
      </p:sp>
      <p:sp>
        <p:nvSpPr>
          <p:cNvPr id="399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defRPr>
            </a:lvl1pPr>
            <a:lvl2pPr marL="769473" indent="-295951">
              <a:defRPr sz="1200">
                <a:solidFill>
                  <a:schemeClr val="tx1"/>
                </a:solidFill>
                <a:latin typeface="Arial" charset="0"/>
              </a:defRPr>
            </a:lvl2pPr>
            <a:lvl3pPr marL="1183805" indent="-236761">
              <a:defRPr sz="1200">
                <a:solidFill>
                  <a:schemeClr val="tx1"/>
                </a:solidFill>
                <a:latin typeface="Arial" charset="0"/>
              </a:defRPr>
            </a:lvl3pPr>
            <a:lvl4pPr marL="1657327" indent="-236761">
              <a:defRPr sz="1200">
                <a:solidFill>
                  <a:schemeClr val="tx1"/>
                </a:solidFill>
                <a:latin typeface="Arial" charset="0"/>
              </a:defRPr>
            </a:lvl4pPr>
            <a:lvl5pPr marL="2130849" indent="-236761">
              <a:defRPr sz="1200">
                <a:solidFill>
                  <a:schemeClr val="tx1"/>
                </a:solidFill>
                <a:latin typeface="Arial" charset="0"/>
              </a:defRPr>
            </a:lvl5pPr>
            <a:lvl6pPr marL="2604371" indent="-236761" eaLnBrk="0" fontAlgn="base" hangingPunct="0">
              <a:spcBef>
                <a:spcPct val="30000"/>
              </a:spcBef>
              <a:spcAft>
                <a:spcPct val="0"/>
              </a:spcAft>
              <a:defRPr sz="1200">
                <a:solidFill>
                  <a:schemeClr val="tx1"/>
                </a:solidFill>
                <a:latin typeface="Arial" charset="0"/>
              </a:defRPr>
            </a:lvl6pPr>
            <a:lvl7pPr marL="3077893" indent="-236761" eaLnBrk="0" fontAlgn="base" hangingPunct="0">
              <a:spcBef>
                <a:spcPct val="30000"/>
              </a:spcBef>
              <a:spcAft>
                <a:spcPct val="0"/>
              </a:spcAft>
              <a:defRPr sz="1200">
                <a:solidFill>
                  <a:schemeClr val="tx1"/>
                </a:solidFill>
                <a:latin typeface="Arial" charset="0"/>
              </a:defRPr>
            </a:lvl7pPr>
            <a:lvl8pPr marL="3551415" indent="-236761" eaLnBrk="0" fontAlgn="base" hangingPunct="0">
              <a:spcBef>
                <a:spcPct val="30000"/>
              </a:spcBef>
              <a:spcAft>
                <a:spcPct val="0"/>
              </a:spcAft>
              <a:defRPr sz="1200">
                <a:solidFill>
                  <a:schemeClr val="tx1"/>
                </a:solidFill>
                <a:latin typeface="Arial" charset="0"/>
              </a:defRPr>
            </a:lvl8pPr>
            <a:lvl9pPr marL="4024937" indent="-236761" eaLnBrk="0" fontAlgn="base" hangingPunct="0">
              <a:spcBef>
                <a:spcPct val="30000"/>
              </a:spcBef>
              <a:spcAft>
                <a:spcPct val="0"/>
              </a:spcAft>
              <a:defRPr sz="1200">
                <a:solidFill>
                  <a:schemeClr val="tx1"/>
                </a:solidFill>
                <a:latin typeface="Arial" charset="0"/>
              </a:defRPr>
            </a:lvl9pPr>
          </a:lstStyle>
          <a:p>
            <a:fld id="{87C3D576-E698-4BD8-BE43-F80788201E5F}" type="slidenum">
              <a:rPr lang="en-US" altLang="en-US" smtClean="0">
                <a:cs typeface="Arial" charset="0"/>
              </a:rPr>
              <a:pPr/>
              <a:t>8</a:t>
            </a:fld>
            <a:endParaRPr lang="en-US" altLang="en-US">
              <a:cs typeface="Arial"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The final earlier theory of needs we will look at is McClelland’s need theory.  He bases his theory on the idea that people are motivated in the workplace by three main needs.  The first need is the need for achievement or the drive to excel in relation to a set of defined standards.  The second is the need for power, to make others behave in a way that they would not have behaved otherwise.  The final need addressed in this theory is the need for affiliation.  Affiliation looks at the relationship aspect and the desire for close relationships.  People will have varying levels of these needs which make this theory difficult to measure.</a:t>
            </a:r>
          </a:p>
          <a:p>
            <a:endParaRPr lang="en-US" altLang="en-US"/>
          </a:p>
        </p:txBody>
      </p:sp>
      <p:sp>
        <p:nvSpPr>
          <p:cNvPr id="4096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defRPr>
            </a:lvl1pPr>
            <a:lvl2pPr marL="769473" indent="-295951">
              <a:defRPr sz="1200">
                <a:solidFill>
                  <a:schemeClr val="tx1"/>
                </a:solidFill>
                <a:latin typeface="Arial" charset="0"/>
              </a:defRPr>
            </a:lvl2pPr>
            <a:lvl3pPr marL="1183805" indent="-236761">
              <a:defRPr sz="1200">
                <a:solidFill>
                  <a:schemeClr val="tx1"/>
                </a:solidFill>
                <a:latin typeface="Arial" charset="0"/>
              </a:defRPr>
            </a:lvl3pPr>
            <a:lvl4pPr marL="1657327" indent="-236761">
              <a:defRPr sz="1200">
                <a:solidFill>
                  <a:schemeClr val="tx1"/>
                </a:solidFill>
                <a:latin typeface="Arial" charset="0"/>
              </a:defRPr>
            </a:lvl4pPr>
            <a:lvl5pPr marL="2130849" indent="-236761">
              <a:defRPr sz="1200">
                <a:solidFill>
                  <a:schemeClr val="tx1"/>
                </a:solidFill>
                <a:latin typeface="Arial" charset="0"/>
              </a:defRPr>
            </a:lvl5pPr>
            <a:lvl6pPr marL="2604371" indent="-236761" eaLnBrk="0" fontAlgn="base" hangingPunct="0">
              <a:spcBef>
                <a:spcPct val="30000"/>
              </a:spcBef>
              <a:spcAft>
                <a:spcPct val="0"/>
              </a:spcAft>
              <a:defRPr sz="1200">
                <a:solidFill>
                  <a:schemeClr val="tx1"/>
                </a:solidFill>
                <a:latin typeface="Arial" charset="0"/>
              </a:defRPr>
            </a:lvl6pPr>
            <a:lvl7pPr marL="3077893" indent="-236761" eaLnBrk="0" fontAlgn="base" hangingPunct="0">
              <a:spcBef>
                <a:spcPct val="30000"/>
              </a:spcBef>
              <a:spcAft>
                <a:spcPct val="0"/>
              </a:spcAft>
              <a:defRPr sz="1200">
                <a:solidFill>
                  <a:schemeClr val="tx1"/>
                </a:solidFill>
                <a:latin typeface="Arial" charset="0"/>
              </a:defRPr>
            </a:lvl7pPr>
            <a:lvl8pPr marL="3551415" indent="-236761" eaLnBrk="0" fontAlgn="base" hangingPunct="0">
              <a:spcBef>
                <a:spcPct val="30000"/>
              </a:spcBef>
              <a:spcAft>
                <a:spcPct val="0"/>
              </a:spcAft>
              <a:defRPr sz="1200">
                <a:solidFill>
                  <a:schemeClr val="tx1"/>
                </a:solidFill>
                <a:latin typeface="Arial" charset="0"/>
              </a:defRPr>
            </a:lvl8pPr>
            <a:lvl9pPr marL="4024937" indent="-236761" eaLnBrk="0" fontAlgn="base" hangingPunct="0">
              <a:spcBef>
                <a:spcPct val="30000"/>
              </a:spcBef>
              <a:spcAft>
                <a:spcPct val="0"/>
              </a:spcAft>
              <a:defRPr sz="1200">
                <a:solidFill>
                  <a:schemeClr val="tx1"/>
                </a:solidFill>
                <a:latin typeface="Arial" charset="0"/>
              </a:defRPr>
            </a:lvl9pPr>
          </a:lstStyle>
          <a:p>
            <a:fld id="{DFA01D4D-1ADB-4D17-A24F-68EBBD4B8416}" type="slidenum">
              <a:rPr lang="en-US" altLang="en-US" smtClean="0">
                <a:cs typeface="Arial" charset="0"/>
              </a:rPr>
              <a:pPr/>
              <a:t>9</a:t>
            </a:fld>
            <a:endParaRPr lang="en-US" altLang="en-US">
              <a:cs typeface="Arial"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a:ln/>
        </p:spPr>
      </p:sp>
      <p:sp>
        <p:nvSpPr>
          <p:cNvPr id="4301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There are a number of contemporary theories of motivation that have utilized the older theories to provide us with a deeper understanding of motivation in the workplace.</a:t>
            </a:r>
          </a:p>
          <a:p>
            <a:endParaRPr lang="en-US" altLang="en-US"/>
          </a:p>
        </p:txBody>
      </p:sp>
      <p:sp>
        <p:nvSpPr>
          <p:cNvPr id="4301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defRPr>
            </a:lvl1pPr>
            <a:lvl2pPr marL="769473" indent="-295951">
              <a:defRPr sz="1200">
                <a:solidFill>
                  <a:schemeClr val="tx1"/>
                </a:solidFill>
                <a:latin typeface="Arial" charset="0"/>
              </a:defRPr>
            </a:lvl2pPr>
            <a:lvl3pPr marL="1183805" indent="-236761">
              <a:defRPr sz="1200">
                <a:solidFill>
                  <a:schemeClr val="tx1"/>
                </a:solidFill>
                <a:latin typeface="Arial" charset="0"/>
              </a:defRPr>
            </a:lvl3pPr>
            <a:lvl4pPr marL="1657327" indent="-236761">
              <a:defRPr sz="1200">
                <a:solidFill>
                  <a:schemeClr val="tx1"/>
                </a:solidFill>
                <a:latin typeface="Arial" charset="0"/>
              </a:defRPr>
            </a:lvl4pPr>
            <a:lvl5pPr marL="2130849" indent="-236761">
              <a:defRPr sz="1200">
                <a:solidFill>
                  <a:schemeClr val="tx1"/>
                </a:solidFill>
                <a:latin typeface="Arial" charset="0"/>
              </a:defRPr>
            </a:lvl5pPr>
            <a:lvl6pPr marL="2604371" indent="-236761" eaLnBrk="0" fontAlgn="base" hangingPunct="0">
              <a:spcBef>
                <a:spcPct val="30000"/>
              </a:spcBef>
              <a:spcAft>
                <a:spcPct val="0"/>
              </a:spcAft>
              <a:defRPr sz="1200">
                <a:solidFill>
                  <a:schemeClr val="tx1"/>
                </a:solidFill>
                <a:latin typeface="Arial" charset="0"/>
              </a:defRPr>
            </a:lvl6pPr>
            <a:lvl7pPr marL="3077893" indent="-236761" eaLnBrk="0" fontAlgn="base" hangingPunct="0">
              <a:spcBef>
                <a:spcPct val="30000"/>
              </a:spcBef>
              <a:spcAft>
                <a:spcPct val="0"/>
              </a:spcAft>
              <a:defRPr sz="1200">
                <a:solidFill>
                  <a:schemeClr val="tx1"/>
                </a:solidFill>
                <a:latin typeface="Arial" charset="0"/>
              </a:defRPr>
            </a:lvl7pPr>
            <a:lvl8pPr marL="3551415" indent="-236761" eaLnBrk="0" fontAlgn="base" hangingPunct="0">
              <a:spcBef>
                <a:spcPct val="30000"/>
              </a:spcBef>
              <a:spcAft>
                <a:spcPct val="0"/>
              </a:spcAft>
              <a:defRPr sz="1200">
                <a:solidFill>
                  <a:schemeClr val="tx1"/>
                </a:solidFill>
                <a:latin typeface="Arial" charset="0"/>
              </a:defRPr>
            </a:lvl8pPr>
            <a:lvl9pPr marL="4024937" indent="-236761" eaLnBrk="0" fontAlgn="base" hangingPunct="0">
              <a:spcBef>
                <a:spcPct val="30000"/>
              </a:spcBef>
              <a:spcAft>
                <a:spcPct val="0"/>
              </a:spcAft>
              <a:defRPr sz="1200">
                <a:solidFill>
                  <a:schemeClr val="tx1"/>
                </a:solidFill>
                <a:latin typeface="Arial" charset="0"/>
              </a:defRPr>
            </a:lvl9pPr>
          </a:lstStyle>
          <a:p>
            <a:fld id="{21C4EB1E-8BB9-4A04-88B6-F81F1F2509BA}" type="slidenum">
              <a:rPr lang="en-US" altLang="en-US" smtClean="0">
                <a:cs typeface="Arial" charset="0"/>
              </a:rPr>
              <a:pPr/>
              <a:t>10</a:t>
            </a:fld>
            <a:endParaRPr lang="en-US" altLang="en-US">
              <a:cs typeface="Arial"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a:ln/>
        </p:spPr>
      </p:sp>
      <p:sp>
        <p:nvSpPr>
          <p:cNvPr id="4403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The self-determination theory states that people prefer to have control over their actions.  So when they are required to do something the previously freely chose, it will diminish their motivation.</a:t>
            </a:r>
          </a:p>
          <a:p>
            <a:endParaRPr lang="en-US" altLang="en-US" dirty="0"/>
          </a:p>
          <a:p>
            <a:r>
              <a:rPr lang="en-US" altLang="en-US" dirty="0"/>
              <a:t>An example is the Cognitive Evaluation Theory that sets forth that in the workplace intrinsic and extrinsic rewards are not independent of one another.  In fact, the presence of extrinsic rewards may decrease the intrinsic rewards.  In addition to extrinsic rewards managers need to realize the importance of using goal setting and verbal rewards as a method to increase motivation.  </a:t>
            </a:r>
          </a:p>
          <a:p>
            <a:endParaRPr lang="en-US" altLang="en-US" dirty="0"/>
          </a:p>
        </p:txBody>
      </p:sp>
      <p:sp>
        <p:nvSpPr>
          <p:cNvPr id="4403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defRPr>
            </a:lvl1pPr>
            <a:lvl2pPr marL="769473" indent="-295951">
              <a:defRPr sz="1200">
                <a:solidFill>
                  <a:schemeClr val="tx1"/>
                </a:solidFill>
                <a:latin typeface="Arial" charset="0"/>
              </a:defRPr>
            </a:lvl2pPr>
            <a:lvl3pPr marL="1183805" indent="-236761">
              <a:defRPr sz="1200">
                <a:solidFill>
                  <a:schemeClr val="tx1"/>
                </a:solidFill>
                <a:latin typeface="Arial" charset="0"/>
              </a:defRPr>
            </a:lvl3pPr>
            <a:lvl4pPr marL="1657327" indent="-236761">
              <a:defRPr sz="1200">
                <a:solidFill>
                  <a:schemeClr val="tx1"/>
                </a:solidFill>
                <a:latin typeface="Arial" charset="0"/>
              </a:defRPr>
            </a:lvl4pPr>
            <a:lvl5pPr marL="2130849" indent="-236761">
              <a:defRPr sz="1200">
                <a:solidFill>
                  <a:schemeClr val="tx1"/>
                </a:solidFill>
                <a:latin typeface="Arial" charset="0"/>
              </a:defRPr>
            </a:lvl5pPr>
            <a:lvl6pPr marL="2604371" indent="-236761" eaLnBrk="0" fontAlgn="base" hangingPunct="0">
              <a:spcBef>
                <a:spcPct val="30000"/>
              </a:spcBef>
              <a:spcAft>
                <a:spcPct val="0"/>
              </a:spcAft>
              <a:defRPr sz="1200">
                <a:solidFill>
                  <a:schemeClr val="tx1"/>
                </a:solidFill>
                <a:latin typeface="Arial" charset="0"/>
              </a:defRPr>
            </a:lvl6pPr>
            <a:lvl7pPr marL="3077893" indent="-236761" eaLnBrk="0" fontAlgn="base" hangingPunct="0">
              <a:spcBef>
                <a:spcPct val="30000"/>
              </a:spcBef>
              <a:spcAft>
                <a:spcPct val="0"/>
              </a:spcAft>
              <a:defRPr sz="1200">
                <a:solidFill>
                  <a:schemeClr val="tx1"/>
                </a:solidFill>
                <a:latin typeface="Arial" charset="0"/>
              </a:defRPr>
            </a:lvl7pPr>
            <a:lvl8pPr marL="3551415" indent="-236761" eaLnBrk="0" fontAlgn="base" hangingPunct="0">
              <a:spcBef>
                <a:spcPct val="30000"/>
              </a:spcBef>
              <a:spcAft>
                <a:spcPct val="0"/>
              </a:spcAft>
              <a:defRPr sz="1200">
                <a:solidFill>
                  <a:schemeClr val="tx1"/>
                </a:solidFill>
                <a:latin typeface="Arial" charset="0"/>
              </a:defRPr>
            </a:lvl8pPr>
            <a:lvl9pPr marL="4024937" indent="-236761" eaLnBrk="0" fontAlgn="base" hangingPunct="0">
              <a:spcBef>
                <a:spcPct val="30000"/>
              </a:spcBef>
              <a:spcAft>
                <a:spcPct val="0"/>
              </a:spcAft>
              <a:defRPr sz="1200">
                <a:solidFill>
                  <a:schemeClr val="tx1"/>
                </a:solidFill>
                <a:latin typeface="Arial" charset="0"/>
              </a:defRPr>
            </a:lvl9pPr>
          </a:lstStyle>
          <a:p>
            <a:fld id="{235909AD-FA22-4D05-BAEC-9D6F550E0DAF}" type="slidenum">
              <a:rPr lang="en-US" altLang="en-US" smtClean="0">
                <a:cs typeface="Arial" charset="0"/>
              </a:rPr>
              <a:pPr/>
              <a:t>11</a:t>
            </a:fld>
            <a:endParaRPr lang="en-US" altLang="en-US">
              <a:cs typeface="Arial"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a:ln/>
        </p:spPr>
      </p:sp>
      <p:sp>
        <p:nvSpPr>
          <p:cNvPr id="450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Edwin Locke developed what is called the goal-setting theory.  The idea behind this theory is that goals which are specific and effectively difficult can lead to higher performance if they include self-generated feedback.  A difficult goal will help the individual to focus and direct attention as well as energize them to work harder.  The difficulty of the goal will increase persistence and force people to be more effective and efficient.  </a:t>
            </a:r>
          </a:p>
          <a:p>
            <a:endParaRPr lang="en-US" altLang="en-US" dirty="0"/>
          </a:p>
          <a:p>
            <a:r>
              <a:rPr lang="en-US" altLang="en-US" dirty="0"/>
              <a:t>The relationship between goals and performance depends on how committed the individual is to the goal as well as how specific the tasks are.  Most of the research has been done in the United States so the applicability of this theory to other cultures is suspect.</a:t>
            </a:r>
          </a:p>
          <a:p>
            <a:endParaRPr lang="en-US" altLang="en-US" dirty="0"/>
          </a:p>
        </p:txBody>
      </p:sp>
      <p:sp>
        <p:nvSpPr>
          <p:cNvPr id="4506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defRPr>
            </a:lvl1pPr>
            <a:lvl2pPr marL="769473" indent="-295951">
              <a:defRPr sz="1200">
                <a:solidFill>
                  <a:schemeClr val="tx1"/>
                </a:solidFill>
                <a:latin typeface="Arial" charset="0"/>
              </a:defRPr>
            </a:lvl2pPr>
            <a:lvl3pPr marL="1183805" indent="-236761">
              <a:defRPr sz="1200">
                <a:solidFill>
                  <a:schemeClr val="tx1"/>
                </a:solidFill>
                <a:latin typeface="Arial" charset="0"/>
              </a:defRPr>
            </a:lvl3pPr>
            <a:lvl4pPr marL="1657327" indent="-236761">
              <a:defRPr sz="1200">
                <a:solidFill>
                  <a:schemeClr val="tx1"/>
                </a:solidFill>
                <a:latin typeface="Arial" charset="0"/>
              </a:defRPr>
            </a:lvl4pPr>
            <a:lvl5pPr marL="2130849" indent="-236761">
              <a:defRPr sz="1200">
                <a:solidFill>
                  <a:schemeClr val="tx1"/>
                </a:solidFill>
                <a:latin typeface="Arial" charset="0"/>
              </a:defRPr>
            </a:lvl5pPr>
            <a:lvl6pPr marL="2604371" indent="-236761" eaLnBrk="0" fontAlgn="base" hangingPunct="0">
              <a:spcBef>
                <a:spcPct val="30000"/>
              </a:spcBef>
              <a:spcAft>
                <a:spcPct val="0"/>
              </a:spcAft>
              <a:defRPr sz="1200">
                <a:solidFill>
                  <a:schemeClr val="tx1"/>
                </a:solidFill>
                <a:latin typeface="Arial" charset="0"/>
              </a:defRPr>
            </a:lvl6pPr>
            <a:lvl7pPr marL="3077893" indent="-236761" eaLnBrk="0" fontAlgn="base" hangingPunct="0">
              <a:spcBef>
                <a:spcPct val="30000"/>
              </a:spcBef>
              <a:spcAft>
                <a:spcPct val="0"/>
              </a:spcAft>
              <a:defRPr sz="1200">
                <a:solidFill>
                  <a:schemeClr val="tx1"/>
                </a:solidFill>
                <a:latin typeface="Arial" charset="0"/>
              </a:defRPr>
            </a:lvl7pPr>
            <a:lvl8pPr marL="3551415" indent="-236761" eaLnBrk="0" fontAlgn="base" hangingPunct="0">
              <a:spcBef>
                <a:spcPct val="30000"/>
              </a:spcBef>
              <a:spcAft>
                <a:spcPct val="0"/>
              </a:spcAft>
              <a:defRPr sz="1200">
                <a:solidFill>
                  <a:schemeClr val="tx1"/>
                </a:solidFill>
                <a:latin typeface="Arial" charset="0"/>
              </a:defRPr>
            </a:lvl8pPr>
            <a:lvl9pPr marL="4024937" indent="-236761" eaLnBrk="0" fontAlgn="base" hangingPunct="0">
              <a:spcBef>
                <a:spcPct val="30000"/>
              </a:spcBef>
              <a:spcAft>
                <a:spcPct val="0"/>
              </a:spcAft>
              <a:defRPr sz="1200">
                <a:solidFill>
                  <a:schemeClr val="tx1"/>
                </a:solidFill>
                <a:latin typeface="Arial" charset="0"/>
              </a:defRPr>
            </a:lvl9pPr>
          </a:lstStyle>
          <a:p>
            <a:fld id="{8C26CCFB-6452-4305-906E-A8173B184BCA}" type="slidenum">
              <a:rPr lang="en-US" altLang="en-US" smtClean="0">
                <a:cs typeface="Arial" charset="0"/>
              </a:rPr>
              <a:pPr/>
              <a:t>12</a:t>
            </a:fld>
            <a:endParaRPr lang="en-US" altLang="en-US">
              <a:cs typeface="Arial"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noTextEdit="1"/>
          </p:cNvSpPr>
          <p:nvPr>
            <p:ph type="sldImg"/>
          </p:nvPr>
        </p:nvSpPr>
        <p:spPr>
          <a:ln/>
        </p:spPr>
      </p:sp>
      <p:sp>
        <p:nvSpPr>
          <p:cNvPr id="4608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An implementation of the goal-setting theory is Management by Objectives or better known as MBO.  MBO is a systematic way to utilize goal setting theory in which goals are set jointly by managers and employees.  The goals must be tangible, verifiable and measurable in order to be effective.  The manager helps to break down the organizational goals into smaller more specific goals for the employee.  In order for MBO to be effective the goals must be specific, the employees must participate in the goal setting, there must be a defined time period and feedback must be incorporated into the process.</a:t>
            </a:r>
          </a:p>
          <a:p>
            <a:endParaRPr lang="en-US" altLang="en-US" dirty="0"/>
          </a:p>
        </p:txBody>
      </p:sp>
      <p:sp>
        <p:nvSpPr>
          <p:cNvPr id="4608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defRPr>
            </a:lvl1pPr>
            <a:lvl2pPr marL="769473" indent="-295951">
              <a:defRPr sz="1200">
                <a:solidFill>
                  <a:schemeClr val="tx1"/>
                </a:solidFill>
                <a:latin typeface="Arial" charset="0"/>
              </a:defRPr>
            </a:lvl2pPr>
            <a:lvl3pPr marL="1183805" indent="-236761">
              <a:defRPr sz="1200">
                <a:solidFill>
                  <a:schemeClr val="tx1"/>
                </a:solidFill>
                <a:latin typeface="Arial" charset="0"/>
              </a:defRPr>
            </a:lvl3pPr>
            <a:lvl4pPr marL="1657327" indent="-236761">
              <a:defRPr sz="1200">
                <a:solidFill>
                  <a:schemeClr val="tx1"/>
                </a:solidFill>
                <a:latin typeface="Arial" charset="0"/>
              </a:defRPr>
            </a:lvl4pPr>
            <a:lvl5pPr marL="2130849" indent="-236761">
              <a:defRPr sz="1200">
                <a:solidFill>
                  <a:schemeClr val="tx1"/>
                </a:solidFill>
                <a:latin typeface="Arial" charset="0"/>
              </a:defRPr>
            </a:lvl5pPr>
            <a:lvl6pPr marL="2604371" indent="-236761" eaLnBrk="0" fontAlgn="base" hangingPunct="0">
              <a:spcBef>
                <a:spcPct val="30000"/>
              </a:spcBef>
              <a:spcAft>
                <a:spcPct val="0"/>
              </a:spcAft>
              <a:defRPr sz="1200">
                <a:solidFill>
                  <a:schemeClr val="tx1"/>
                </a:solidFill>
                <a:latin typeface="Arial" charset="0"/>
              </a:defRPr>
            </a:lvl6pPr>
            <a:lvl7pPr marL="3077893" indent="-236761" eaLnBrk="0" fontAlgn="base" hangingPunct="0">
              <a:spcBef>
                <a:spcPct val="30000"/>
              </a:spcBef>
              <a:spcAft>
                <a:spcPct val="0"/>
              </a:spcAft>
              <a:defRPr sz="1200">
                <a:solidFill>
                  <a:schemeClr val="tx1"/>
                </a:solidFill>
                <a:latin typeface="Arial" charset="0"/>
              </a:defRPr>
            </a:lvl7pPr>
            <a:lvl8pPr marL="3551415" indent="-236761" eaLnBrk="0" fontAlgn="base" hangingPunct="0">
              <a:spcBef>
                <a:spcPct val="30000"/>
              </a:spcBef>
              <a:spcAft>
                <a:spcPct val="0"/>
              </a:spcAft>
              <a:defRPr sz="1200">
                <a:solidFill>
                  <a:schemeClr val="tx1"/>
                </a:solidFill>
                <a:latin typeface="Arial" charset="0"/>
              </a:defRPr>
            </a:lvl8pPr>
            <a:lvl9pPr marL="4024937" indent="-236761" eaLnBrk="0" fontAlgn="base" hangingPunct="0">
              <a:spcBef>
                <a:spcPct val="30000"/>
              </a:spcBef>
              <a:spcAft>
                <a:spcPct val="0"/>
              </a:spcAft>
              <a:defRPr sz="1200">
                <a:solidFill>
                  <a:schemeClr val="tx1"/>
                </a:solidFill>
                <a:latin typeface="Arial" charset="0"/>
              </a:defRPr>
            </a:lvl9pPr>
          </a:lstStyle>
          <a:p>
            <a:fld id="{ADD1A830-F96B-471F-AC59-8482E4109449}" type="slidenum">
              <a:rPr lang="en-US" altLang="en-US" smtClean="0">
                <a:cs typeface="Arial" charset="0"/>
              </a:rPr>
              <a:pPr/>
              <a:t>13</a:t>
            </a:fld>
            <a:endParaRPr lang="en-US" altLang="en-US">
              <a:cs typeface="Arial"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a:ln/>
        </p:spPr>
      </p:sp>
      <p:sp>
        <p:nvSpPr>
          <p:cNvPr id="471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Another theory of motivation is the self-efficacy theory developed by Albert Bandura.  This theory is based on an individual’s belief that he or she is capable of performing a task.  This theory is a complement to the goal-setting theory as it incorporates goals into the process.  Higher efficacy is related to greater confidence, greater persistence in the face of  difficulties and responding to negative feedback with working harder, not shutting down.</a:t>
            </a:r>
          </a:p>
          <a:p>
            <a:endParaRPr lang="en-US" altLang="en-US" dirty="0"/>
          </a:p>
        </p:txBody>
      </p:sp>
      <p:sp>
        <p:nvSpPr>
          <p:cNvPr id="471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defRPr>
            </a:lvl1pPr>
            <a:lvl2pPr marL="769473" indent="-295951">
              <a:defRPr sz="1200">
                <a:solidFill>
                  <a:schemeClr val="tx1"/>
                </a:solidFill>
                <a:latin typeface="Arial" charset="0"/>
              </a:defRPr>
            </a:lvl2pPr>
            <a:lvl3pPr marL="1183805" indent="-236761">
              <a:defRPr sz="1200">
                <a:solidFill>
                  <a:schemeClr val="tx1"/>
                </a:solidFill>
                <a:latin typeface="Arial" charset="0"/>
              </a:defRPr>
            </a:lvl3pPr>
            <a:lvl4pPr marL="1657327" indent="-236761">
              <a:defRPr sz="1200">
                <a:solidFill>
                  <a:schemeClr val="tx1"/>
                </a:solidFill>
                <a:latin typeface="Arial" charset="0"/>
              </a:defRPr>
            </a:lvl4pPr>
            <a:lvl5pPr marL="2130849" indent="-236761">
              <a:defRPr sz="1200">
                <a:solidFill>
                  <a:schemeClr val="tx1"/>
                </a:solidFill>
                <a:latin typeface="Arial" charset="0"/>
              </a:defRPr>
            </a:lvl5pPr>
            <a:lvl6pPr marL="2604371" indent="-236761" eaLnBrk="0" fontAlgn="base" hangingPunct="0">
              <a:spcBef>
                <a:spcPct val="30000"/>
              </a:spcBef>
              <a:spcAft>
                <a:spcPct val="0"/>
              </a:spcAft>
              <a:defRPr sz="1200">
                <a:solidFill>
                  <a:schemeClr val="tx1"/>
                </a:solidFill>
                <a:latin typeface="Arial" charset="0"/>
              </a:defRPr>
            </a:lvl6pPr>
            <a:lvl7pPr marL="3077893" indent="-236761" eaLnBrk="0" fontAlgn="base" hangingPunct="0">
              <a:spcBef>
                <a:spcPct val="30000"/>
              </a:spcBef>
              <a:spcAft>
                <a:spcPct val="0"/>
              </a:spcAft>
              <a:defRPr sz="1200">
                <a:solidFill>
                  <a:schemeClr val="tx1"/>
                </a:solidFill>
                <a:latin typeface="Arial" charset="0"/>
              </a:defRPr>
            </a:lvl7pPr>
            <a:lvl8pPr marL="3551415" indent="-236761" eaLnBrk="0" fontAlgn="base" hangingPunct="0">
              <a:spcBef>
                <a:spcPct val="30000"/>
              </a:spcBef>
              <a:spcAft>
                <a:spcPct val="0"/>
              </a:spcAft>
              <a:defRPr sz="1200">
                <a:solidFill>
                  <a:schemeClr val="tx1"/>
                </a:solidFill>
                <a:latin typeface="Arial" charset="0"/>
              </a:defRPr>
            </a:lvl8pPr>
            <a:lvl9pPr marL="4024937" indent="-236761" eaLnBrk="0" fontAlgn="base" hangingPunct="0">
              <a:spcBef>
                <a:spcPct val="30000"/>
              </a:spcBef>
              <a:spcAft>
                <a:spcPct val="0"/>
              </a:spcAft>
              <a:defRPr sz="1200">
                <a:solidFill>
                  <a:schemeClr val="tx1"/>
                </a:solidFill>
                <a:latin typeface="Arial" charset="0"/>
              </a:defRPr>
            </a:lvl9pPr>
          </a:lstStyle>
          <a:p>
            <a:fld id="{5516214A-7671-46F8-94C4-96718C3DA651}" type="slidenum">
              <a:rPr lang="en-US" altLang="en-US" smtClean="0">
                <a:cs typeface="Arial" charset="0"/>
              </a:rPr>
              <a:pPr/>
              <a:t>14</a:t>
            </a:fld>
            <a:endParaRPr lang="en-US" altLang="en-US">
              <a:cs typeface="Arial"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a:ln/>
        </p:spPr>
      </p:sp>
      <p:sp>
        <p:nvSpPr>
          <p:cNvPr id="4813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Adam’s equity theory utilizes perception theory that we looked at in previous chapters.  The idea is that employees compare their ratios of outcomes to inputs of others they see as relevant.  When the see the ratios as equal there is a perceived state of equity and no tension arises.  However, when they perceive the ratios to be unequal they may experience anger or guilt depending on the result of the equity analysis and then tension can arise.  This tension can motivate people to act in a way to bring the situation into a more equitable state.  </a:t>
            </a:r>
          </a:p>
          <a:p>
            <a:endParaRPr lang="en-US" altLang="en-US"/>
          </a:p>
          <a:p>
            <a:endParaRPr lang="en-US" altLang="en-US"/>
          </a:p>
        </p:txBody>
      </p:sp>
      <p:sp>
        <p:nvSpPr>
          <p:cNvPr id="4813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defRPr>
            </a:lvl1pPr>
            <a:lvl2pPr marL="769473" indent="-295951">
              <a:defRPr sz="1200">
                <a:solidFill>
                  <a:schemeClr val="tx1"/>
                </a:solidFill>
                <a:latin typeface="Arial" charset="0"/>
              </a:defRPr>
            </a:lvl2pPr>
            <a:lvl3pPr marL="1183805" indent="-236761">
              <a:defRPr sz="1200">
                <a:solidFill>
                  <a:schemeClr val="tx1"/>
                </a:solidFill>
                <a:latin typeface="Arial" charset="0"/>
              </a:defRPr>
            </a:lvl3pPr>
            <a:lvl4pPr marL="1657327" indent="-236761">
              <a:defRPr sz="1200">
                <a:solidFill>
                  <a:schemeClr val="tx1"/>
                </a:solidFill>
                <a:latin typeface="Arial" charset="0"/>
              </a:defRPr>
            </a:lvl4pPr>
            <a:lvl5pPr marL="2130849" indent="-236761">
              <a:defRPr sz="1200">
                <a:solidFill>
                  <a:schemeClr val="tx1"/>
                </a:solidFill>
                <a:latin typeface="Arial" charset="0"/>
              </a:defRPr>
            </a:lvl5pPr>
            <a:lvl6pPr marL="2604371" indent="-236761" eaLnBrk="0" fontAlgn="base" hangingPunct="0">
              <a:spcBef>
                <a:spcPct val="30000"/>
              </a:spcBef>
              <a:spcAft>
                <a:spcPct val="0"/>
              </a:spcAft>
              <a:defRPr sz="1200">
                <a:solidFill>
                  <a:schemeClr val="tx1"/>
                </a:solidFill>
                <a:latin typeface="Arial" charset="0"/>
              </a:defRPr>
            </a:lvl6pPr>
            <a:lvl7pPr marL="3077893" indent="-236761" eaLnBrk="0" fontAlgn="base" hangingPunct="0">
              <a:spcBef>
                <a:spcPct val="30000"/>
              </a:spcBef>
              <a:spcAft>
                <a:spcPct val="0"/>
              </a:spcAft>
              <a:defRPr sz="1200">
                <a:solidFill>
                  <a:schemeClr val="tx1"/>
                </a:solidFill>
                <a:latin typeface="Arial" charset="0"/>
              </a:defRPr>
            </a:lvl7pPr>
            <a:lvl8pPr marL="3551415" indent="-236761" eaLnBrk="0" fontAlgn="base" hangingPunct="0">
              <a:spcBef>
                <a:spcPct val="30000"/>
              </a:spcBef>
              <a:spcAft>
                <a:spcPct val="0"/>
              </a:spcAft>
              <a:defRPr sz="1200">
                <a:solidFill>
                  <a:schemeClr val="tx1"/>
                </a:solidFill>
                <a:latin typeface="Arial" charset="0"/>
              </a:defRPr>
            </a:lvl8pPr>
            <a:lvl9pPr marL="4024937" indent="-236761" eaLnBrk="0" fontAlgn="base" hangingPunct="0">
              <a:spcBef>
                <a:spcPct val="30000"/>
              </a:spcBef>
              <a:spcAft>
                <a:spcPct val="0"/>
              </a:spcAft>
              <a:defRPr sz="1200">
                <a:solidFill>
                  <a:schemeClr val="tx1"/>
                </a:solidFill>
                <a:latin typeface="Arial" charset="0"/>
              </a:defRPr>
            </a:lvl9pPr>
          </a:lstStyle>
          <a:p>
            <a:fld id="{4537E586-F0A3-4A74-B833-734BB42C407E}" type="slidenum">
              <a:rPr lang="en-US" altLang="en-US" smtClean="0">
                <a:cs typeface="Arial" charset="0"/>
              </a:rPr>
              <a:pPr/>
              <a:t>15</a:t>
            </a:fld>
            <a:endParaRPr lang="en-US" altLang="en-US">
              <a:cs typeface="Arial"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noTextEdit="1"/>
          </p:cNvSpPr>
          <p:nvPr>
            <p:ph type="sldImg"/>
          </p:nvPr>
        </p:nvSpPr>
        <p:spPr>
          <a:ln/>
        </p:spPr>
      </p:sp>
      <p:sp>
        <p:nvSpPr>
          <p:cNvPr id="491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49156" name="Slide Number Placeholder 3"/>
          <p:cNvSpPr txBox="1">
            <a:spLocks noGrp="1"/>
          </p:cNvSpPr>
          <p:nvPr/>
        </p:nvSpPr>
        <p:spPr bwMode="auto">
          <a:xfrm>
            <a:off x="4145391" y="9121469"/>
            <a:ext cx="3169809" cy="479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56" tIns="48328" rIns="96656" bIns="48328" anchor="b"/>
          <a:lstStyle>
            <a:lvl1pPr>
              <a:defRPr sz="1200">
                <a:solidFill>
                  <a:schemeClr val="tx1"/>
                </a:solidFill>
                <a:latin typeface="Arial" charset="0"/>
              </a:defRPr>
            </a:lvl1pPr>
            <a:lvl2pPr marL="742950" indent="-285750">
              <a:defRPr sz="1200">
                <a:solidFill>
                  <a:schemeClr val="tx1"/>
                </a:solidFill>
                <a:latin typeface="Arial" charset="0"/>
              </a:defRPr>
            </a:lvl2pPr>
            <a:lvl3pPr marL="1143000" indent="-228600">
              <a:defRPr sz="1200">
                <a:solidFill>
                  <a:schemeClr val="tx1"/>
                </a:solidFill>
                <a:latin typeface="Arial" charset="0"/>
              </a:defRPr>
            </a:lvl3pPr>
            <a:lvl4pPr marL="1600200" indent="-228600">
              <a:defRPr sz="1200">
                <a:solidFill>
                  <a:schemeClr val="tx1"/>
                </a:solidFill>
                <a:latin typeface="Arial" charset="0"/>
              </a:defRPr>
            </a:lvl4pPr>
            <a:lvl5pPr marL="2057400" indent="-228600">
              <a:defRPr sz="1200">
                <a:solidFill>
                  <a:schemeClr val="tx1"/>
                </a:solidFill>
                <a:latin typeface="Arial" charset="0"/>
              </a:defRPr>
            </a:lvl5pPr>
            <a:lvl6pPr marL="2514600" indent="-228600" eaLnBrk="0" fontAlgn="base" hangingPunct="0">
              <a:spcBef>
                <a:spcPct val="30000"/>
              </a:spcBef>
              <a:spcAft>
                <a:spcPct val="0"/>
              </a:spcAft>
              <a:defRPr sz="1200">
                <a:solidFill>
                  <a:schemeClr val="tx1"/>
                </a:solidFill>
                <a:latin typeface="Arial" charset="0"/>
              </a:defRPr>
            </a:lvl6pPr>
            <a:lvl7pPr marL="2971800" indent="-228600" eaLnBrk="0" fontAlgn="base" hangingPunct="0">
              <a:spcBef>
                <a:spcPct val="30000"/>
              </a:spcBef>
              <a:spcAft>
                <a:spcPct val="0"/>
              </a:spcAft>
              <a:defRPr sz="1200">
                <a:solidFill>
                  <a:schemeClr val="tx1"/>
                </a:solidFill>
                <a:latin typeface="Arial" charset="0"/>
              </a:defRPr>
            </a:lvl7pPr>
            <a:lvl8pPr marL="3429000" indent="-228600" eaLnBrk="0" fontAlgn="base" hangingPunct="0">
              <a:spcBef>
                <a:spcPct val="30000"/>
              </a:spcBef>
              <a:spcAft>
                <a:spcPct val="0"/>
              </a:spcAft>
              <a:defRPr sz="1200">
                <a:solidFill>
                  <a:schemeClr val="tx1"/>
                </a:solidFill>
                <a:latin typeface="Arial" charset="0"/>
              </a:defRPr>
            </a:lvl8pPr>
            <a:lvl9pPr marL="3886200" indent="-228600" eaLnBrk="0" fontAlgn="base" hangingPunct="0">
              <a:spcBef>
                <a:spcPct val="30000"/>
              </a:spcBef>
              <a:spcAft>
                <a:spcPct val="0"/>
              </a:spcAft>
              <a:defRPr sz="1200">
                <a:solidFill>
                  <a:schemeClr val="tx1"/>
                </a:solidFill>
                <a:latin typeface="Arial" charset="0"/>
              </a:defRPr>
            </a:lvl9pPr>
          </a:lstStyle>
          <a:p>
            <a:pPr algn="r"/>
            <a:fld id="{FD2CE47C-A5A4-4CC0-AFD2-DFDEDAE6FE68}" type="slidenum">
              <a:rPr lang="en-US" altLang="en-US"/>
              <a:pPr algn="r"/>
              <a:t>16</a:t>
            </a:fld>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p:cNvSpPr>
            <a:spLocks noGrp="1" noRot="1" noChangeAspect="1" noTextEdit="1"/>
          </p:cNvSpPr>
          <p:nvPr>
            <p:ph type="sldImg"/>
          </p:nvPr>
        </p:nvSpPr>
        <p:spPr>
          <a:ln/>
        </p:spPr>
      </p:sp>
      <p:sp>
        <p:nvSpPr>
          <p:cNvPr id="5017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People behave differently when they are over-rewarded than under-rewarded.  Sensitivity to over-rewarding is less.  The equity theory is often hard to apply because sensitivities differ amongst individuals and it is hard to predict how they will respond to inequities.</a:t>
            </a:r>
          </a:p>
        </p:txBody>
      </p:sp>
      <p:sp>
        <p:nvSpPr>
          <p:cNvPr id="5018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defRPr>
            </a:lvl1pPr>
            <a:lvl2pPr marL="769473" indent="-295951">
              <a:defRPr sz="1200">
                <a:solidFill>
                  <a:schemeClr val="tx1"/>
                </a:solidFill>
                <a:latin typeface="Arial" charset="0"/>
              </a:defRPr>
            </a:lvl2pPr>
            <a:lvl3pPr marL="1183805" indent="-236761">
              <a:defRPr sz="1200">
                <a:solidFill>
                  <a:schemeClr val="tx1"/>
                </a:solidFill>
                <a:latin typeface="Arial" charset="0"/>
              </a:defRPr>
            </a:lvl3pPr>
            <a:lvl4pPr marL="1657327" indent="-236761">
              <a:defRPr sz="1200">
                <a:solidFill>
                  <a:schemeClr val="tx1"/>
                </a:solidFill>
                <a:latin typeface="Arial" charset="0"/>
              </a:defRPr>
            </a:lvl4pPr>
            <a:lvl5pPr marL="2130849" indent="-236761">
              <a:defRPr sz="1200">
                <a:solidFill>
                  <a:schemeClr val="tx1"/>
                </a:solidFill>
                <a:latin typeface="Arial" charset="0"/>
              </a:defRPr>
            </a:lvl5pPr>
            <a:lvl6pPr marL="2604371" indent="-236761" eaLnBrk="0" fontAlgn="base" hangingPunct="0">
              <a:spcBef>
                <a:spcPct val="30000"/>
              </a:spcBef>
              <a:spcAft>
                <a:spcPct val="0"/>
              </a:spcAft>
              <a:defRPr sz="1200">
                <a:solidFill>
                  <a:schemeClr val="tx1"/>
                </a:solidFill>
                <a:latin typeface="Arial" charset="0"/>
              </a:defRPr>
            </a:lvl6pPr>
            <a:lvl7pPr marL="3077893" indent="-236761" eaLnBrk="0" fontAlgn="base" hangingPunct="0">
              <a:spcBef>
                <a:spcPct val="30000"/>
              </a:spcBef>
              <a:spcAft>
                <a:spcPct val="0"/>
              </a:spcAft>
              <a:defRPr sz="1200">
                <a:solidFill>
                  <a:schemeClr val="tx1"/>
                </a:solidFill>
                <a:latin typeface="Arial" charset="0"/>
              </a:defRPr>
            </a:lvl7pPr>
            <a:lvl8pPr marL="3551415" indent="-236761" eaLnBrk="0" fontAlgn="base" hangingPunct="0">
              <a:spcBef>
                <a:spcPct val="30000"/>
              </a:spcBef>
              <a:spcAft>
                <a:spcPct val="0"/>
              </a:spcAft>
              <a:defRPr sz="1200">
                <a:solidFill>
                  <a:schemeClr val="tx1"/>
                </a:solidFill>
                <a:latin typeface="Arial" charset="0"/>
              </a:defRPr>
            </a:lvl8pPr>
            <a:lvl9pPr marL="4024937" indent="-236761" eaLnBrk="0" fontAlgn="base" hangingPunct="0">
              <a:spcBef>
                <a:spcPct val="30000"/>
              </a:spcBef>
              <a:spcAft>
                <a:spcPct val="0"/>
              </a:spcAft>
              <a:defRPr sz="1200">
                <a:solidFill>
                  <a:schemeClr val="tx1"/>
                </a:solidFill>
                <a:latin typeface="Arial" charset="0"/>
              </a:defRPr>
            </a:lvl9pPr>
          </a:lstStyle>
          <a:p>
            <a:fld id="{9414B701-9AF1-481B-8147-FC822491434A}" type="slidenum">
              <a:rPr lang="en-US" altLang="en-US" smtClean="0">
                <a:cs typeface="Arial" charset="0"/>
              </a:rPr>
              <a:pPr/>
              <a:t>17</a:t>
            </a:fld>
            <a:endParaRPr lang="en-US" altLang="en-US">
              <a:cs typeface="Arial"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a:ln/>
        </p:spPr>
      </p:sp>
      <p:sp>
        <p:nvSpPr>
          <p:cNvPr id="5120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Increasingly we think of equity as organizational justice, a larger perception of what is fair in the workplace. Employees perceive their organizations as just when they see that what they receive matches what they have put in. One key element of organizational justice is an individual’s perception of justice. In other words, fairness or equity can be subjective, residing in our perception. What one person sees as unfair, another may see as perfectly appropriate. </a:t>
            </a:r>
          </a:p>
          <a:p>
            <a:endParaRPr lang="en-US" altLang="en-US" dirty="0"/>
          </a:p>
          <a:p>
            <a:r>
              <a:rPr lang="en-US" altLang="en-US" dirty="0"/>
              <a:t>The second component is procedural justice—the perceived fairness of the process used to determine the distribution of rewards.</a:t>
            </a:r>
          </a:p>
          <a:p>
            <a:endParaRPr lang="en-US" altLang="en-US" dirty="0"/>
          </a:p>
          <a:p>
            <a:r>
              <a:rPr lang="en-US" altLang="en-US" dirty="0"/>
              <a:t>The final component is interactional justice, an individual’s perception of the degree to which she is treated with dignity, concern, and respect.</a:t>
            </a:r>
          </a:p>
          <a:p>
            <a:endParaRPr lang="en-US" altLang="en-US" dirty="0"/>
          </a:p>
          <a:p>
            <a:r>
              <a:rPr lang="en-US" altLang="en-US" dirty="0"/>
              <a:t>These three components make up an individuals view of justice within the organization.</a:t>
            </a:r>
          </a:p>
        </p:txBody>
      </p:sp>
      <p:sp>
        <p:nvSpPr>
          <p:cNvPr id="5120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defRPr>
            </a:lvl1pPr>
            <a:lvl2pPr marL="769473" indent="-295951">
              <a:defRPr sz="1200">
                <a:solidFill>
                  <a:schemeClr val="tx1"/>
                </a:solidFill>
                <a:latin typeface="Arial" charset="0"/>
              </a:defRPr>
            </a:lvl2pPr>
            <a:lvl3pPr marL="1183805" indent="-236761">
              <a:defRPr sz="1200">
                <a:solidFill>
                  <a:schemeClr val="tx1"/>
                </a:solidFill>
                <a:latin typeface="Arial" charset="0"/>
              </a:defRPr>
            </a:lvl3pPr>
            <a:lvl4pPr marL="1657327" indent="-236761">
              <a:defRPr sz="1200">
                <a:solidFill>
                  <a:schemeClr val="tx1"/>
                </a:solidFill>
                <a:latin typeface="Arial" charset="0"/>
              </a:defRPr>
            </a:lvl4pPr>
            <a:lvl5pPr marL="2130849" indent="-236761">
              <a:defRPr sz="1200">
                <a:solidFill>
                  <a:schemeClr val="tx1"/>
                </a:solidFill>
                <a:latin typeface="Arial" charset="0"/>
              </a:defRPr>
            </a:lvl5pPr>
            <a:lvl6pPr marL="2604371" indent="-236761" eaLnBrk="0" fontAlgn="base" hangingPunct="0">
              <a:spcBef>
                <a:spcPct val="30000"/>
              </a:spcBef>
              <a:spcAft>
                <a:spcPct val="0"/>
              </a:spcAft>
              <a:defRPr sz="1200">
                <a:solidFill>
                  <a:schemeClr val="tx1"/>
                </a:solidFill>
                <a:latin typeface="Arial" charset="0"/>
              </a:defRPr>
            </a:lvl6pPr>
            <a:lvl7pPr marL="3077893" indent="-236761" eaLnBrk="0" fontAlgn="base" hangingPunct="0">
              <a:spcBef>
                <a:spcPct val="30000"/>
              </a:spcBef>
              <a:spcAft>
                <a:spcPct val="0"/>
              </a:spcAft>
              <a:defRPr sz="1200">
                <a:solidFill>
                  <a:schemeClr val="tx1"/>
                </a:solidFill>
                <a:latin typeface="Arial" charset="0"/>
              </a:defRPr>
            </a:lvl7pPr>
            <a:lvl8pPr marL="3551415" indent="-236761" eaLnBrk="0" fontAlgn="base" hangingPunct="0">
              <a:spcBef>
                <a:spcPct val="30000"/>
              </a:spcBef>
              <a:spcAft>
                <a:spcPct val="0"/>
              </a:spcAft>
              <a:defRPr sz="1200">
                <a:solidFill>
                  <a:schemeClr val="tx1"/>
                </a:solidFill>
                <a:latin typeface="Arial" charset="0"/>
              </a:defRPr>
            </a:lvl8pPr>
            <a:lvl9pPr marL="4024937" indent="-236761" eaLnBrk="0" fontAlgn="base" hangingPunct="0">
              <a:spcBef>
                <a:spcPct val="30000"/>
              </a:spcBef>
              <a:spcAft>
                <a:spcPct val="0"/>
              </a:spcAft>
              <a:defRPr sz="1200">
                <a:solidFill>
                  <a:schemeClr val="tx1"/>
                </a:solidFill>
                <a:latin typeface="Arial" charset="0"/>
              </a:defRPr>
            </a:lvl9pPr>
          </a:lstStyle>
          <a:p>
            <a:fld id="{78E19ADD-ECF9-4DE2-9100-A96527777E13}" type="slidenum">
              <a:rPr lang="en-US" altLang="en-US" smtClean="0">
                <a:cs typeface="Arial" charset="0"/>
              </a:rPr>
              <a:pPr/>
              <a:t>18</a:t>
            </a:fld>
            <a:endParaRPr lang="en-US" altLang="en-US">
              <a:cs typeface="Arial"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The most commonly used and widely accepted theory of motivation is Victor Vroom’s Expectancy Theory.  This theory argues that the strength of a tendency to act in a certain way is dependent on the strength of the expectation that they will receive a given outcome and that the outcome is desired.</a:t>
            </a:r>
          </a:p>
          <a:p>
            <a:endParaRPr lang="en-US" altLang="en-US" dirty="0"/>
          </a:p>
          <a:p>
            <a:r>
              <a:rPr lang="en-US" altLang="en-US" dirty="0"/>
              <a:t>Employees are willing to work harder if they believe that their actions will get them an outcome they desire.  For example, employees are willing to work long and hard hours if they know that they will be rewarded through promotion, recognition or pay in response to their hard work.</a:t>
            </a:r>
          </a:p>
          <a:p>
            <a:endParaRPr lang="en-US" altLang="en-US" dirty="0"/>
          </a:p>
          <a:p>
            <a:endParaRPr lang="en-US" altLang="en-US" dirty="0"/>
          </a:p>
        </p:txBody>
      </p:sp>
      <p:sp>
        <p:nvSpPr>
          <p:cNvPr id="522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defRPr>
            </a:lvl1pPr>
            <a:lvl2pPr marL="769473" indent="-295951">
              <a:defRPr sz="1200">
                <a:solidFill>
                  <a:schemeClr val="tx1"/>
                </a:solidFill>
                <a:latin typeface="Arial" charset="0"/>
              </a:defRPr>
            </a:lvl2pPr>
            <a:lvl3pPr marL="1183805" indent="-236761">
              <a:defRPr sz="1200">
                <a:solidFill>
                  <a:schemeClr val="tx1"/>
                </a:solidFill>
                <a:latin typeface="Arial" charset="0"/>
              </a:defRPr>
            </a:lvl3pPr>
            <a:lvl4pPr marL="1657327" indent="-236761">
              <a:defRPr sz="1200">
                <a:solidFill>
                  <a:schemeClr val="tx1"/>
                </a:solidFill>
                <a:latin typeface="Arial" charset="0"/>
              </a:defRPr>
            </a:lvl4pPr>
            <a:lvl5pPr marL="2130849" indent="-236761">
              <a:defRPr sz="1200">
                <a:solidFill>
                  <a:schemeClr val="tx1"/>
                </a:solidFill>
                <a:latin typeface="Arial" charset="0"/>
              </a:defRPr>
            </a:lvl5pPr>
            <a:lvl6pPr marL="2604371" indent="-236761" eaLnBrk="0" fontAlgn="base" hangingPunct="0">
              <a:spcBef>
                <a:spcPct val="30000"/>
              </a:spcBef>
              <a:spcAft>
                <a:spcPct val="0"/>
              </a:spcAft>
              <a:defRPr sz="1200">
                <a:solidFill>
                  <a:schemeClr val="tx1"/>
                </a:solidFill>
                <a:latin typeface="Arial" charset="0"/>
              </a:defRPr>
            </a:lvl6pPr>
            <a:lvl7pPr marL="3077893" indent="-236761" eaLnBrk="0" fontAlgn="base" hangingPunct="0">
              <a:spcBef>
                <a:spcPct val="30000"/>
              </a:spcBef>
              <a:spcAft>
                <a:spcPct val="0"/>
              </a:spcAft>
              <a:defRPr sz="1200">
                <a:solidFill>
                  <a:schemeClr val="tx1"/>
                </a:solidFill>
                <a:latin typeface="Arial" charset="0"/>
              </a:defRPr>
            </a:lvl7pPr>
            <a:lvl8pPr marL="3551415" indent="-236761" eaLnBrk="0" fontAlgn="base" hangingPunct="0">
              <a:spcBef>
                <a:spcPct val="30000"/>
              </a:spcBef>
              <a:spcAft>
                <a:spcPct val="0"/>
              </a:spcAft>
              <a:defRPr sz="1200">
                <a:solidFill>
                  <a:schemeClr val="tx1"/>
                </a:solidFill>
                <a:latin typeface="Arial" charset="0"/>
              </a:defRPr>
            </a:lvl8pPr>
            <a:lvl9pPr marL="4024937" indent="-236761" eaLnBrk="0" fontAlgn="base" hangingPunct="0">
              <a:spcBef>
                <a:spcPct val="30000"/>
              </a:spcBef>
              <a:spcAft>
                <a:spcPct val="0"/>
              </a:spcAft>
              <a:defRPr sz="1200">
                <a:solidFill>
                  <a:schemeClr val="tx1"/>
                </a:solidFill>
                <a:latin typeface="Arial" charset="0"/>
              </a:defRPr>
            </a:lvl9pPr>
          </a:lstStyle>
          <a:p>
            <a:fld id="{57EB53CE-DCF7-4D8F-97E6-DDE3E36BDE6B}" type="slidenum">
              <a:rPr lang="en-US" altLang="en-US" smtClean="0">
                <a:cs typeface="Arial" charset="0"/>
              </a:rPr>
              <a:pPr/>
              <a:t>19</a:t>
            </a:fld>
            <a:endParaRPr lang="en-US" altLang="en-US">
              <a:cs typeface="Arial"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dirty="0">
                <a:solidFill>
                  <a:srgbClr val="CC6600"/>
                </a:solidFill>
              </a:rPr>
              <a:t>Skill Variety</a:t>
            </a:r>
          </a:p>
          <a:p>
            <a:r>
              <a:rPr lang="en-US" sz="1200" b="0" dirty="0"/>
              <a:t>The degree to which a job requires a variety of different activities (how many different skills are used in a given day, week, month?)</a:t>
            </a:r>
          </a:p>
          <a:p>
            <a:endParaRPr lang="en-US" dirty="0"/>
          </a:p>
          <a:p>
            <a:r>
              <a:rPr lang="en-US" sz="1200" b="0" dirty="0">
                <a:solidFill>
                  <a:srgbClr val="CC6600"/>
                </a:solidFill>
              </a:rPr>
              <a:t>Task Identity</a:t>
            </a:r>
          </a:p>
          <a:p>
            <a:r>
              <a:rPr lang="en-US" sz="1200" b="0" dirty="0"/>
              <a:t>The degree to which the job requires completion of a whole and identifiable piece of work (from beginning to end) </a:t>
            </a:r>
          </a:p>
          <a:p>
            <a:endParaRPr lang="en-US" dirty="0"/>
          </a:p>
          <a:p>
            <a:r>
              <a:rPr lang="en-US" sz="1200" b="0" dirty="0">
                <a:solidFill>
                  <a:srgbClr val="CC6600"/>
                </a:solidFill>
              </a:rPr>
              <a:t>Task Significance</a:t>
            </a:r>
          </a:p>
          <a:p>
            <a:r>
              <a:rPr lang="en-US" sz="1200" b="0" dirty="0"/>
              <a:t>The degree to which the job has a substantial impact on the lives or work of other people</a:t>
            </a:r>
          </a:p>
          <a:p>
            <a:endParaRPr lang="en-US" dirty="0"/>
          </a:p>
          <a:p>
            <a:r>
              <a:rPr lang="en-US" dirty="0"/>
              <a:t>Skill Variety, Task Identity, Task significance – Meaningfulness of work</a:t>
            </a:r>
          </a:p>
          <a:p>
            <a:r>
              <a:rPr lang="en-US" dirty="0"/>
              <a:t>Autonomy – Responsibility</a:t>
            </a:r>
            <a:r>
              <a:rPr lang="en-US" baseline="0" dirty="0"/>
              <a:t> for work outcomes</a:t>
            </a:r>
            <a:endParaRPr lang="en-US" dirty="0"/>
          </a:p>
          <a:p>
            <a:r>
              <a:rPr lang="en-US" dirty="0"/>
              <a:t>Feedback - Knowledge of Results of the work</a:t>
            </a:r>
          </a:p>
        </p:txBody>
      </p:sp>
      <p:sp>
        <p:nvSpPr>
          <p:cNvPr id="4" name="Slide Number Placeholder 3"/>
          <p:cNvSpPr>
            <a:spLocks noGrp="1"/>
          </p:cNvSpPr>
          <p:nvPr>
            <p:ph type="sldNum" sz="quarter" idx="10"/>
          </p:nvPr>
        </p:nvSpPr>
        <p:spPr/>
        <p:txBody>
          <a:bodyPr/>
          <a:lstStyle/>
          <a:p>
            <a:fld id="{CA5D3BF3-D352-46FC-8343-31F56E6730EA}" type="slidenum">
              <a:rPr lang="en-US" smtClean="0"/>
              <a:pPr/>
              <a:t>23</a:t>
            </a:fld>
            <a:endParaRPr lang="en-US"/>
          </a:p>
        </p:txBody>
      </p:sp>
    </p:spTree>
    <p:extLst>
      <p:ext uri="{BB962C8B-B14F-4D97-AF65-F5344CB8AC3E}">
        <p14:creationId xmlns:p14="http://schemas.microsoft.com/office/powerpoint/2010/main" val="38844446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ct val="50000"/>
              </a:spcBef>
            </a:pPr>
            <a:r>
              <a:rPr lang="en-US" sz="1200" b="0" dirty="0">
                <a:solidFill>
                  <a:srgbClr val="CC6600"/>
                </a:solidFill>
              </a:rPr>
              <a:t>Flextime</a:t>
            </a:r>
          </a:p>
          <a:p>
            <a:pPr>
              <a:spcBef>
                <a:spcPct val="50000"/>
              </a:spcBef>
            </a:pPr>
            <a:r>
              <a:rPr lang="en-US" sz="1200" b="0" dirty="0"/>
              <a:t>Employees work during a common core time period each day but have discretion in forming their total workday from a flexible set of hours outside the core.</a:t>
            </a:r>
          </a:p>
          <a:p>
            <a:endParaRPr lang="en-US" dirty="0"/>
          </a:p>
          <a:p>
            <a:pPr>
              <a:spcBef>
                <a:spcPct val="50000"/>
              </a:spcBef>
            </a:pPr>
            <a:r>
              <a:rPr lang="en-US" sz="1200" b="0" dirty="0">
                <a:solidFill>
                  <a:srgbClr val="CC6600"/>
                </a:solidFill>
              </a:rPr>
              <a:t>Job Sharing</a:t>
            </a:r>
          </a:p>
          <a:p>
            <a:pPr>
              <a:spcBef>
                <a:spcPct val="50000"/>
              </a:spcBef>
            </a:pPr>
            <a:r>
              <a:rPr lang="en-US" sz="1200" b="0" dirty="0"/>
              <a:t>The practice of having two or more people split a 40-hour-a-week job</a:t>
            </a:r>
            <a:endParaRPr lang="en-US" sz="1200" dirty="0"/>
          </a:p>
          <a:p>
            <a:endParaRPr lang="en-US" dirty="0"/>
          </a:p>
          <a:p>
            <a:pPr>
              <a:spcBef>
                <a:spcPct val="50000"/>
              </a:spcBef>
            </a:pPr>
            <a:r>
              <a:rPr lang="en-US" sz="1200" b="0" dirty="0">
                <a:solidFill>
                  <a:srgbClr val="CC6600"/>
                </a:solidFill>
              </a:rPr>
              <a:t>Telecommuting</a:t>
            </a:r>
          </a:p>
          <a:p>
            <a:pPr>
              <a:spcBef>
                <a:spcPct val="50000"/>
              </a:spcBef>
            </a:pPr>
            <a:r>
              <a:rPr lang="en-US" sz="1200" b="0" dirty="0"/>
              <a:t>Employees do their work at home on a computer that is linked to their office.</a:t>
            </a:r>
          </a:p>
          <a:p>
            <a:endParaRPr lang="en-US" dirty="0"/>
          </a:p>
        </p:txBody>
      </p:sp>
      <p:sp>
        <p:nvSpPr>
          <p:cNvPr id="4" name="Slide Number Placeholder 3"/>
          <p:cNvSpPr>
            <a:spLocks noGrp="1"/>
          </p:cNvSpPr>
          <p:nvPr>
            <p:ph type="sldNum" sz="quarter" idx="10"/>
          </p:nvPr>
        </p:nvSpPr>
        <p:spPr/>
        <p:txBody>
          <a:bodyPr/>
          <a:lstStyle/>
          <a:p>
            <a:fld id="{CA5D3BF3-D352-46FC-8343-31F56E6730EA}" type="slidenum">
              <a:rPr lang="en-US" smtClean="0"/>
              <a:pPr/>
              <a:t>27</a:t>
            </a:fld>
            <a:endParaRPr lang="en-US"/>
          </a:p>
        </p:txBody>
      </p:sp>
    </p:spTree>
    <p:extLst>
      <p:ext uri="{BB962C8B-B14F-4D97-AF65-F5344CB8AC3E}">
        <p14:creationId xmlns:p14="http://schemas.microsoft.com/office/powerpoint/2010/main" val="40380176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1200"/>
              </a:spcAft>
              <a:buClrTx/>
              <a:buSzTx/>
              <a:buFontTx/>
              <a:buNone/>
              <a:tabLst/>
              <a:defRPr/>
            </a:pPr>
            <a:r>
              <a:rPr lang="en-US" sz="1200" dirty="0">
                <a:solidFill>
                  <a:srgbClr val="CC6600"/>
                </a:solidFill>
              </a:rPr>
              <a:t>Participative Management</a:t>
            </a:r>
          </a:p>
          <a:p>
            <a:pPr>
              <a:spcAft>
                <a:spcPts val="1200"/>
              </a:spcAft>
            </a:pPr>
            <a:endParaRPr lang="en-US" dirty="0"/>
          </a:p>
          <a:p>
            <a:pPr>
              <a:spcAft>
                <a:spcPts val="1200"/>
              </a:spcAft>
            </a:pPr>
            <a:r>
              <a:rPr lang="en-US" dirty="0"/>
              <a:t>Subordinates share a significant degree of decision-making power with superiors</a:t>
            </a:r>
          </a:p>
          <a:p>
            <a:r>
              <a:rPr lang="en-US" dirty="0"/>
              <a:t>Required conditions:</a:t>
            </a:r>
          </a:p>
          <a:p>
            <a:pPr lvl="1"/>
            <a:r>
              <a:rPr lang="en-US" sz="2400" dirty="0"/>
              <a:t>Issues must be relevant</a:t>
            </a:r>
          </a:p>
          <a:p>
            <a:pPr lvl="1"/>
            <a:r>
              <a:rPr lang="en-US" sz="2400" dirty="0"/>
              <a:t>Employees must be competent and knowledgeable</a:t>
            </a:r>
          </a:p>
          <a:p>
            <a:pPr lvl="1">
              <a:spcAft>
                <a:spcPts val="1200"/>
              </a:spcAft>
            </a:pPr>
            <a:r>
              <a:rPr lang="en-US" sz="2400" dirty="0"/>
              <a:t>All parties must act in good faith </a:t>
            </a:r>
          </a:p>
          <a:p>
            <a:r>
              <a:rPr lang="en-US" dirty="0"/>
              <a:t>Only a modest influence on productivity, motivation, and job satisfaction	</a:t>
            </a:r>
          </a:p>
          <a:p>
            <a:endParaRPr lang="en-US" dirty="0"/>
          </a:p>
        </p:txBody>
      </p:sp>
      <p:sp>
        <p:nvSpPr>
          <p:cNvPr id="4" name="Slide Number Placeholder 3"/>
          <p:cNvSpPr>
            <a:spLocks noGrp="1"/>
          </p:cNvSpPr>
          <p:nvPr>
            <p:ph type="sldNum" sz="quarter" idx="10"/>
          </p:nvPr>
        </p:nvSpPr>
        <p:spPr/>
        <p:txBody>
          <a:bodyPr/>
          <a:lstStyle/>
          <a:p>
            <a:fld id="{CA5D3BF3-D352-46FC-8343-31F56E6730EA}" type="slidenum">
              <a:rPr lang="en-US" smtClean="0"/>
              <a:pPr/>
              <a:t>28</a:t>
            </a:fld>
            <a:endParaRPr lang="en-US"/>
          </a:p>
        </p:txBody>
      </p:sp>
    </p:spTree>
    <p:extLst>
      <p:ext uri="{BB962C8B-B14F-4D97-AF65-F5344CB8AC3E}">
        <p14:creationId xmlns:p14="http://schemas.microsoft.com/office/powerpoint/2010/main" val="28469817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1" u="none" strike="noStrike" kern="1200" baseline="0" dirty="0">
                <a:solidFill>
                  <a:schemeClr val="tx1"/>
                </a:solidFill>
                <a:latin typeface="+mn-lt"/>
                <a:ea typeface="+mn-ea"/>
                <a:cs typeface="+mn-cs"/>
              </a:rPr>
              <a:t>A system in which workers participate in organizational decision making through a small group of representative employees.</a:t>
            </a:r>
            <a:endParaRPr lang="en-US" dirty="0"/>
          </a:p>
        </p:txBody>
      </p:sp>
      <p:sp>
        <p:nvSpPr>
          <p:cNvPr id="4" name="Slide Number Placeholder 3"/>
          <p:cNvSpPr>
            <a:spLocks noGrp="1"/>
          </p:cNvSpPr>
          <p:nvPr>
            <p:ph type="sldNum" sz="quarter" idx="10"/>
          </p:nvPr>
        </p:nvSpPr>
        <p:spPr/>
        <p:txBody>
          <a:bodyPr/>
          <a:lstStyle/>
          <a:p>
            <a:fld id="{CA5D3BF3-D352-46FC-8343-31F56E6730EA}" type="slidenum">
              <a:rPr lang="en-US" smtClean="0"/>
              <a:pPr/>
              <a:t>30</a:t>
            </a:fld>
            <a:endParaRPr lang="en-US"/>
          </a:p>
        </p:txBody>
      </p:sp>
    </p:spTree>
    <p:extLst>
      <p:ext uri="{BB962C8B-B14F-4D97-AF65-F5344CB8AC3E}">
        <p14:creationId xmlns:p14="http://schemas.microsoft.com/office/powerpoint/2010/main" val="131316051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A5D3BF3-D352-46FC-8343-31F56E6730EA}" type="slidenum">
              <a:rPr lang="en-US" smtClean="0"/>
              <a:pPr/>
              <a:t>37</a:t>
            </a:fld>
            <a:endParaRPr lang="en-US"/>
          </a:p>
        </p:txBody>
      </p:sp>
    </p:spTree>
    <p:extLst>
      <p:ext uri="{BB962C8B-B14F-4D97-AF65-F5344CB8AC3E}">
        <p14:creationId xmlns:p14="http://schemas.microsoft.com/office/powerpoint/2010/main" val="185089705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a:xfrm>
            <a:off x="0" y="4478274"/>
            <a:ext cx="9144000" cy="665226"/>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10" name="Rectangle 9"/>
          <p:cNvSpPr/>
          <p:nvPr/>
        </p:nvSpPr>
        <p:spPr>
          <a:xfrm>
            <a:off x="-9144" y="4539996"/>
            <a:ext cx="2249424" cy="534924"/>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11" name="Rectangle 10"/>
          <p:cNvSpPr/>
          <p:nvPr/>
        </p:nvSpPr>
        <p:spPr>
          <a:xfrm>
            <a:off x="2359152" y="4533138"/>
            <a:ext cx="6784848" cy="534924"/>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9" name="Subtitle 8"/>
          <p:cNvSpPr>
            <a:spLocks noGrp="1"/>
          </p:cNvSpPr>
          <p:nvPr>
            <p:ph type="subTitle" idx="1"/>
          </p:nvPr>
        </p:nvSpPr>
        <p:spPr>
          <a:xfrm>
            <a:off x="2362200" y="4537528"/>
            <a:ext cx="6515100" cy="514350"/>
          </a:xfrm>
        </p:spPr>
        <p:txBody>
          <a:bodyPr anchor="ctr"/>
          <a:lstStyle>
            <a:lvl1pPr marL="0" indent="0" algn="l">
              <a:buNone/>
              <a:defRPr sz="28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dirty="0"/>
              <a:t>Click to edit Master subtitle style</a:t>
            </a:r>
          </a:p>
        </p:txBody>
      </p:sp>
      <p:sp>
        <p:nvSpPr>
          <p:cNvPr id="28" name="Date Placeholder 27"/>
          <p:cNvSpPr>
            <a:spLocks noGrp="1"/>
          </p:cNvSpPr>
          <p:nvPr>
            <p:ph type="dt" sz="half" idx="10"/>
          </p:nvPr>
        </p:nvSpPr>
        <p:spPr>
          <a:xfrm>
            <a:off x="76200" y="4551524"/>
            <a:ext cx="2057400" cy="514350"/>
          </a:xfrm>
        </p:spPr>
        <p:txBody>
          <a:bodyPr>
            <a:noAutofit/>
          </a:bodyPr>
          <a:lstStyle>
            <a:lvl1pPr algn="ctr">
              <a:defRPr sz="2000">
                <a:solidFill>
                  <a:srgbClr val="FFFFFF"/>
                </a:solidFill>
              </a:defRPr>
            </a:lvl1pPr>
            <a:extLst/>
          </a:lstStyle>
          <a:p>
            <a:pPr algn="ctr"/>
            <a:endParaRPr lang="en-US" sz="2000" dirty="0">
              <a:solidFill>
                <a:srgbClr val="FFFFFF"/>
              </a:solidFill>
            </a:endParaRPr>
          </a:p>
        </p:txBody>
      </p:sp>
      <p:sp>
        <p:nvSpPr>
          <p:cNvPr id="17" name="Footer Placeholder 16"/>
          <p:cNvSpPr>
            <a:spLocks noGrp="1"/>
          </p:cNvSpPr>
          <p:nvPr>
            <p:ph type="ftr" sz="quarter" idx="11"/>
          </p:nvPr>
        </p:nvSpPr>
        <p:spPr>
          <a:xfrm>
            <a:off x="2085393" y="177404"/>
            <a:ext cx="5867400" cy="273844"/>
          </a:xfrm>
        </p:spPr>
        <p:txBody>
          <a:bodyPr/>
          <a:lstStyle>
            <a:lvl1pPr algn="r">
              <a:defRPr>
                <a:solidFill>
                  <a:schemeClr val="tx2"/>
                </a:solidFill>
              </a:defRPr>
            </a:lvl1pPr>
            <a:extLst/>
          </a:lstStyle>
          <a:p>
            <a:pPr algn="r"/>
            <a:endParaRPr lang="en-US" dirty="0">
              <a:solidFill>
                <a:schemeClr val="tx2"/>
              </a:solidFill>
            </a:endParaRPr>
          </a:p>
        </p:txBody>
      </p:sp>
      <p:sp>
        <p:nvSpPr>
          <p:cNvPr id="29" name="Slide Number Placeholder 28"/>
          <p:cNvSpPr>
            <a:spLocks noGrp="1"/>
          </p:cNvSpPr>
          <p:nvPr>
            <p:ph type="sldNum" sz="quarter" idx="12"/>
          </p:nvPr>
        </p:nvSpPr>
        <p:spPr>
          <a:xfrm>
            <a:off x="8001000" y="171450"/>
            <a:ext cx="838200" cy="285750"/>
          </a:xfrm>
        </p:spPr>
        <p:txBody>
          <a:bodyPr/>
          <a:lstStyle>
            <a:lvl1pPr>
              <a:defRPr>
                <a:solidFill>
                  <a:schemeClr val="tx2"/>
                </a:solidFill>
              </a:defRPr>
            </a:lvl1pPr>
            <a:extLst/>
          </a:lstStyle>
          <a:p>
            <a:fld id="{8F82E0A0-C266-4798-8C8F-B9F91E9DA37E}" type="slidenum">
              <a:rPr lang="en-US" smtClean="0">
                <a:solidFill>
                  <a:schemeClr val="tx2"/>
                </a:solidFill>
              </a:rPr>
              <a:pPr/>
              <a:t>‹#›</a:t>
            </a:fld>
            <a:endParaRPr lang="en-US" dirty="0">
              <a:solidFill>
                <a:schemeClr val="tx2"/>
              </a:solidFill>
            </a:endParaRPr>
          </a:p>
        </p:txBody>
      </p:sp>
      <p:sp>
        <p:nvSpPr>
          <p:cNvPr id="12" name="Rectangle 11"/>
          <p:cNvSpPr>
            <a:spLocks noGrp="1"/>
          </p:cNvSpPr>
          <p:nvPr>
            <p:ph type="title"/>
          </p:nvPr>
        </p:nvSpPr>
        <p:spPr>
          <a:xfrm>
            <a:off x="2362200" y="2343150"/>
            <a:ext cx="6477000" cy="2038350"/>
          </a:xfrm>
        </p:spPr>
        <p:txBody>
          <a:bodyPr rtlCol="0" anchor="b"/>
          <a:lstStyle>
            <a:lvl1pPr>
              <a:defRPr cap="all" baseline="0"/>
            </a:lvl1pPr>
            <a:extLst/>
          </a:lstStyle>
          <a:p>
            <a:r>
              <a:rPr lang="en-US"/>
              <a:t>Click to edit Master title style</a:t>
            </a:r>
            <a:endParaRPr lang="en-US" dirty="0"/>
          </a:p>
        </p:txBody>
      </p:sp>
      <p:pic>
        <p:nvPicPr>
          <p:cNvPr id="14" name="Picture 13" descr="FAST logo.png"/>
          <p:cNvPicPr>
            <a:picLocks noChangeAspect="1"/>
          </p:cNvPicPr>
          <p:nvPr userDrawn="1"/>
        </p:nvPicPr>
        <p:blipFill>
          <a:blip r:embed="rId2"/>
          <a:stretch>
            <a:fillRect/>
          </a:stretch>
        </p:blipFill>
        <p:spPr>
          <a:xfrm>
            <a:off x="7723172" y="4550189"/>
            <a:ext cx="1314450" cy="504720"/>
          </a:xfrm>
          <a:prstGeom prst="rect">
            <a:avLst/>
          </a:prstGeom>
        </p:spPr>
      </p:pic>
      <p:pic>
        <p:nvPicPr>
          <p:cNvPr id="18" name="Picture 17" descr="National_University_of_Computer_and_Emerging_Sciences_logo.png"/>
          <p:cNvPicPr>
            <a:picLocks noChangeAspect="1"/>
          </p:cNvPicPr>
          <p:nvPr userDrawn="1"/>
        </p:nvPicPr>
        <p:blipFill>
          <a:blip r:embed="rId3" cstate="print"/>
          <a:stretch>
            <a:fillRect/>
          </a:stretch>
        </p:blipFill>
        <p:spPr>
          <a:xfrm>
            <a:off x="37746" y="68108"/>
            <a:ext cx="816638" cy="819150"/>
          </a:xfrm>
          <a:prstGeom prst="rect">
            <a:avLst/>
          </a:prstGeom>
        </p:spPr>
      </p:pic>
    </p:spTree>
  </p:cSld>
  <p:clrMapOvr>
    <a:overrideClrMapping bg1="dk1" tx1="lt1" bg2="dk2" tx2="lt2" accent1="accent1" accent2="accent2" accent3="accent3" accent4="accent4" accent5="accent5" accent6="accent6" hlink="hlink" folHlink="folHlink"/>
  </p:clrMapOvr>
  <p:transition>
    <p:pull di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Rectangle 1"/>
          <p:cNvSpPr>
            <a:spLocks noGrp="1"/>
          </p:cNvSpPr>
          <p:nvPr>
            <p:ph type="title"/>
          </p:nvPr>
        </p:nvSpPr>
        <p:spPr/>
        <p:txBody>
          <a:bodyPr/>
          <a:lstStyle/>
          <a:p>
            <a:r>
              <a:rPr lang="en-US"/>
              <a:t>Click to edit Master title style</a:t>
            </a:r>
            <a:endParaRPr lang="en-US" dirty="0"/>
          </a:p>
        </p:txBody>
      </p:sp>
      <p:sp>
        <p:nvSpPr>
          <p:cNvPr id="3" name="Rectangle 2"/>
          <p:cNvSpPr>
            <a:spLocks noGrp="1"/>
          </p:cNvSpPr>
          <p:nvPr>
            <p:ph type="dt" sz="half" idx="10"/>
          </p:nvPr>
        </p:nvSpPr>
        <p:spPr/>
        <p:txBody>
          <a:bodyPr/>
          <a:lstStyle/>
          <a:p>
            <a:endParaRPr lang="en-US"/>
          </a:p>
        </p:txBody>
      </p:sp>
      <p:sp>
        <p:nvSpPr>
          <p:cNvPr id="4" name="Rectangle 3"/>
          <p:cNvSpPr>
            <a:spLocks noGrp="1"/>
          </p:cNvSpPr>
          <p:nvPr>
            <p:ph type="ftr" sz="quarter" idx="11"/>
          </p:nvPr>
        </p:nvSpPr>
        <p:spPr/>
        <p:txBody>
          <a:bodyPr/>
          <a:lstStyle/>
          <a:p>
            <a:endParaRPr lang="en-US"/>
          </a:p>
        </p:txBody>
      </p:sp>
      <p:sp>
        <p:nvSpPr>
          <p:cNvPr id="5" name="Rectangle 4"/>
          <p:cNvSpPr>
            <a:spLocks noGrp="1"/>
          </p:cNvSpPr>
          <p:nvPr>
            <p:ph type="sldNum" sz="quarter" idx="12"/>
          </p:nvPr>
        </p:nvSpPr>
        <p:spPr/>
        <p:txBody>
          <a:bodyPr/>
          <a:lstStyle/>
          <a:p>
            <a:pPr algn="ctr"/>
            <a:fld id="{8F82E0A0-C266-4798-8C8F-B9F91E9DA37E}" type="slidenum">
              <a:rPr lang="en-US" sz="1400" b="1" smtClean="0">
                <a:solidFill>
                  <a:srgbClr val="FFFFFF"/>
                </a:solidFill>
              </a:rPr>
              <a:pPr algn="ctr"/>
              <a:t>‹#›</a:t>
            </a:fld>
            <a:endParaRPr lang="en-US"/>
          </a:p>
        </p:txBody>
      </p:sp>
      <p:sp>
        <p:nvSpPr>
          <p:cNvPr id="7" name="Rectangle 6"/>
          <p:cNvSpPr>
            <a:spLocks noGrp="1"/>
          </p:cNvSpPr>
          <p:nvPr>
            <p:ph sz="quarter" idx="13"/>
          </p:nvPr>
        </p:nvSpPr>
        <p:spPr>
          <a:xfrm>
            <a:off x="609600" y="1352550"/>
            <a:ext cx="8153400" cy="3276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Picture 7" descr="FAST logo.png"/>
          <p:cNvPicPr>
            <a:picLocks noChangeAspect="1"/>
          </p:cNvPicPr>
          <p:nvPr userDrawn="1"/>
        </p:nvPicPr>
        <p:blipFill>
          <a:blip r:embed="rId2"/>
          <a:stretch>
            <a:fillRect/>
          </a:stretch>
        </p:blipFill>
        <p:spPr>
          <a:xfrm>
            <a:off x="7771724" y="4606833"/>
            <a:ext cx="1314450" cy="504720"/>
          </a:xfrm>
          <a:prstGeom prst="rect">
            <a:avLst/>
          </a:prstGeom>
        </p:spPr>
      </p:pic>
      <p:pic>
        <p:nvPicPr>
          <p:cNvPr id="9" name="Picture 8" descr="National_University_of_Computer_and_Emerging_Sciences_logo.png"/>
          <p:cNvPicPr>
            <a:picLocks noChangeAspect="1"/>
          </p:cNvPicPr>
          <p:nvPr userDrawn="1"/>
        </p:nvPicPr>
        <p:blipFill>
          <a:blip r:embed="rId3" cstate="print"/>
          <a:stretch>
            <a:fillRect/>
          </a:stretch>
        </p:blipFill>
        <p:spPr>
          <a:xfrm>
            <a:off x="8153400" y="152400"/>
            <a:ext cx="925206" cy="928052"/>
          </a:xfrm>
          <a:prstGeom prst="rect">
            <a:avLst/>
          </a:prstGeom>
        </p:spPr>
      </p:pic>
    </p:spTree>
  </p:cSld>
  <p:clrMapOvr>
    <a:masterClrMapping/>
  </p:clrMapOvr>
  <p:transition>
    <p:pull dir="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057400"/>
            <a:ext cx="7123113" cy="1254919"/>
          </a:xfrm>
        </p:spPr>
        <p:txBody>
          <a:bodyPr anchor="t"/>
          <a:lstStyle>
            <a:lvl1pPr>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a:t>Click to edit Master text styles</a:t>
            </a:r>
          </a:p>
        </p:txBody>
      </p:sp>
      <p:sp>
        <p:nvSpPr>
          <p:cNvPr id="7" name="Rectangle 6"/>
          <p:cNvSpPr/>
          <p:nvPr/>
        </p:nvSpPr>
        <p:spPr>
          <a:xfrm>
            <a:off x="0" y="1143000"/>
            <a:ext cx="9144000" cy="85725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8" name="Rectangle 7"/>
          <p:cNvSpPr/>
          <p:nvPr/>
        </p:nvSpPr>
        <p:spPr>
          <a:xfrm>
            <a:off x="0" y="1200150"/>
            <a:ext cx="1295400" cy="74295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9" name="Rectangle 8"/>
          <p:cNvSpPr/>
          <p:nvPr/>
        </p:nvSpPr>
        <p:spPr>
          <a:xfrm>
            <a:off x="1371600" y="1200150"/>
            <a:ext cx="7772400" cy="74295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2" name="Title 1"/>
          <p:cNvSpPr>
            <a:spLocks noGrp="1"/>
          </p:cNvSpPr>
          <p:nvPr>
            <p:ph type="title" hasCustomPrompt="1"/>
          </p:nvPr>
        </p:nvSpPr>
        <p:spPr>
          <a:xfrm>
            <a:off x="1371600" y="1200150"/>
            <a:ext cx="7620000" cy="742950"/>
          </a:xfrm>
        </p:spPr>
        <p:txBody>
          <a:bodyPr/>
          <a:lstStyle>
            <a:lvl1pPr algn="l">
              <a:buNone/>
              <a:defRPr sz="4400" b="0" cap="none">
                <a:solidFill>
                  <a:srgbClr val="FFFFFF"/>
                </a:solidFill>
              </a:defRPr>
            </a:lvl1pPr>
            <a:extLst/>
          </a:lstStyle>
          <a:p>
            <a:r>
              <a:rPr lang="en-US" dirty="0"/>
              <a:t>Click to edit master title style</a:t>
            </a:r>
          </a:p>
        </p:txBody>
      </p:sp>
      <p:sp>
        <p:nvSpPr>
          <p:cNvPr id="12" name="Date Placeholder 11"/>
          <p:cNvSpPr>
            <a:spLocks noGrp="1"/>
          </p:cNvSpPr>
          <p:nvPr>
            <p:ph type="dt" sz="half" idx="10"/>
          </p:nvPr>
        </p:nvSpPr>
        <p:spPr/>
        <p:txBody>
          <a:bodyPr/>
          <a:lstStyle/>
          <a:p>
            <a:endParaRPr lang="en-US"/>
          </a:p>
        </p:txBody>
      </p:sp>
      <p:sp>
        <p:nvSpPr>
          <p:cNvPr id="13" name="Slide Number Placeholder 12"/>
          <p:cNvSpPr>
            <a:spLocks noGrp="1"/>
          </p:cNvSpPr>
          <p:nvPr>
            <p:ph type="sldNum" sz="quarter" idx="11"/>
          </p:nvPr>
        </p:nvSpPr>
        <p:spPr>
          <a:xfrm>
            <a:off x="0" y="1314450"/>
            <a:ext cx="1295400" cy="526257"/>
          </a:xfrm>
        </p:spPr>
        <p:txBody>
          <a:bodyPr>
            <a:noAutofit/>
          </a:bodyPr>
          <a:lstStyle>
            <a:lvl1pPr>
              <a:defRPr sz="2400">
                <a:solidFill>
                  <a:srgbClr val="FFFFFF"/>
                </a:solidFill>
              </a:defRPr>
            </a:lvl1pPr>
            <a:extLst/>
          </a:lstStyle>
          <a:p>
            <a:pPr algn="ctr"/>
            <a:fld id="{8F82E0A0-C266-4798-8C8F-B9F91E9DA37E}" type="slidenum">
              <a:rPr lang="en-US" sz="2400" b="1" smtClean="0">
                <a:solidFill>
                  <a:srgbClr val="FFFFFF"/>
                </a:solidFill>
              </a:rPr>
              <a:pPr algn="ctr"/>
              <a:t>‹#›</a:t>
            </a:fld>
            <a:endParaRPr lang="en-US" sz="2400" dirty="0">
              <a:solidFill>
                <a:srgbClr val="FFFFFF"/>
              </a:solidFill>
            </a:endParaRPr>
          </a:p>
        </p:txBody>
      </p:sp>
      <p:sp>
        <p:nvSpPr>
          <p:cNvPr id="14" name="Footer Placeholder 13"/>
          <p:cNvSpPr>
            <a:spLocks noGrp="1"/>
          </p:cNvSpPr>
          <p:nvPr>
            <p:ph type="ftr" sz="quarter" idx="12"/>
          </p:nvPr>
        </p:nvSpPr>
        <p:spPr/>
        <p:txBody>
          <a:bodyPr/>
          <a:lstStyle/>
          <a:p>
            <a:endParaRPr lang="en-US"/>
          </a:p>
        </p:txBody>
      </p:sp>
      <p:pic>
        <p:nvPicPr>
          <p:cNvPr id="10" name="Picture 9" descr="FAST logo.png"/>
          <p:cNvPicPr>
            <a:picLocks noChangeAspect="1"/>
          </p:cNvPicPr>
          <p:nvPr userDrawn="1"/>
        </p:nvPicPr>
        <p:blipFill>
          <a:blip r:embed="rId2"/>
          <a:stretch>
            <a:fillRect/>
          </a:stretch>
        </p:blipFill>
        <p:spPr>
          <a:xfrm>
            <a:off x="56644" y="65242"/>
            <a:ext cx="1314450" cy="504720"/>
          </a:xfrm>
          <a:prstGeom prst="rect">
            <a:avLst/>
          </a:prstGeom>
        </p:spPr>
      </p:pic>
      <p:pic>
        <p:nvPicPr>
          <p:cNvPr id="11" name="Picture 10" descr="National_University_of_Computer_and_Emerging_Sciences_logo.png"/>
          <p:cNvPicPr>
            <a:picLocks noChangeAspect="1"/>
          </p:cNvPicPr>
          <p:nvPr userDrawn="1"/>
        </p:nvPicPr>
        <p:blipFill>
          <a:blip r:embed="rId3" cstate="print"/>
          <a:stretch>
            <a:fillRect/>
          </a:stretch>
        </p:blipFill>
        <p:spPr>
          <a:xfrm>
            <a:off x="8161492" y="55296"/>
            <a:ext cx="925206" cy="928052"/>
          </a:xfrm>
          <a:prstGeom prst="rect">
            <a:avLst/>
          </a:prstGeom>
        </p:spPr>
      </p:pic>
    </p:spTree>
  </p:cSld>
  <p:clrMapOvr>
    <a:overrideClrMapping bg1="lt1" tx1="dk1" bg2="lt2" tx2="dk2" accent1="accent1" accent2="accent2" accent3="accent3" accent4="accent4" accent5="accent5" accent6="accent6" hlink="hlink" folHlink="folHlink"/>
  </p:clrMapOvr>
  <p:transition>
    <p:pull dir="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9" name="Content Placeholder 8"/>
          <p:cNvSpPr>
            <a:spLocks noGrp="1"/>
          </p:cNvSpPr>
          <p:nvPr>
            <p:ph sz="quarter" idx="13"/>
          </p:nvPr>
        </p:nvSpPr>
        <p:spPr>
          <a:xfrm>
            <a:off x="609600" y="1352551"/>
            <a:ext cx="3886200" cy="32686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10"/>
          <p:cNvSpPr>
            <a:spLocks noGrp="1"/>
          </p:cNvSpPr>
          <p:nvPr>
            <p:ph sz="quarter" idx="14"/>
          </p:nvPr>
        </p:nvSpPr>
        <p:spPr>
          <a:xfrm>
            <a:off x="4844901" y="1352549"/>
            <a:ext cx="3886200" cy="3268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5"/>
          </p:nvPr>
        </p:nvSpPr>
        <p:spPr/>
        <p:txBody>
          <a:bodyPr rtlCol="0"/>
          <a:lstStyle/>
          <a:p>
            <a:endParaRPr lang="en-US"/>
          </a:p>
        </p:txBody>
      </p:sp>
      <p:sp>
        <p:nvSpPr>
          <p:cNvPr id="10" name="Slide Number Placeholder 9"/>
          <p:cNvSpPr>
            <a:spLocks noGrp="1"/>
          </p:cNvSpPr>
          <p:nvPr>
            <p:ph type="sldNum" sz="quarter" idx="16"/>
          </p:nvPr>
        </p:nvSpPr>
        <p:spPr/>
        <p:txBody>
          <a:bodyPr rtlCol="0"/>
          <a:lstStyle/>
          <a:p>
            <a:pPr algn="ctr"/>
            <a:fld id="{8F82E0A0-C266-4798-8C8F-B9F91E9DA37E}" type="slidenum">
              <a:rPr lang="en-US" sz="1400" b="1" smtClean="0">
                <a:solidFill>
                  <a:srgbClr val="FFFFFF"/>
                </a:solidFill>
              </a:rPr>
              <a:pPr algn="ctr"/>
              <a:t>‹#›</a:t>
            </a:fld>
            <a:endParaRPr lang="en-US"/>
          </a:p>
        </p:txBody>
      </p:sp>
      <p:sp>
        <p:nvSpPr>
          <p:cNvPr id="12" name="Footer Placeholder 11"/>
          <p:cNvSpPr>
            <a:spLocks noGrp="1"/>
          </p:cNvSpPr>
          <p:nvPr>
            <p:ph type="ftr" sz="quarter" idx="17"/>
          </p:nvPr>
        </p:nvSpPr>
        <p:spPr/>
        <p:txBody>
          <a:bodyPr rtlCol="0"/>
          <a:lstStyle/>
          <a:p>
            <a:endParaRPr lang="en-US"/>
          </a:p>
        </p:txBody>
      </p:sp>
      <p:pic>
        <p:nvPicPr>
          <p:cNvPr id="13" name="Picture 12" descr="FAST logo.png"/>
          <p:cNvPicPr>
            <a:picLocks noChangeAspect="1"/>
          </p:cNvPicPr>
          <p:nvPr userDrawn="1"/>
        </p:nvPicPr>
        <p:blipFill>
          <a:blip r:embed="rId2"/>
          <a:stretch>
            <a:fillRect/>
          </a:stretch>
        </p:blipFill>
        <p:spPr>
          <a:xfrm>
            <a:off x="7771724" y="4606833"/>
            <a:ext cx="1314450" cy="504720"/>
          </a:xfrm>
          <a:prstGeom prst="rect">
            <a:avLst/>
          </a:prstGeom>
        </p:spPr>
      </p:pic>
      <p:pic>
        <p:nvPicPr>
          <p:cNvPr id="14" name="Picture 13" descr="National_University_of_Computer_and_Emerging_Sciences_logo.png"/>
          <p:cNvPicPr>
            <a:picLocks noChangeAspect="1"/>
          </p:cNvPicPr>
          <p:nvPr userDrawn="1"/>
        </p:nvPicPr>
        <p:blipFill>
          <a:blip r:embed="rId3" cstate="print"/>
          <a:stretch>
            <a:fillRect/>
          </a:stretch>
        </p:blipFill>
        <p:spPr>
          <a:xfrm>
            <a:off x="8153400" y="152400"/>
            <a:ext cx="925206" cy="928052"/>
          </a:xfrm>
          <a:prstGeom prst="rect">
            <a:avLst/>
          </a:prstGeom>
        </p:spPr>
      </p:pic>
    </p:spTree>
  </p:cSld>
  <p:clrMapOvr>
    <a:masterClrMapping/>
  </p:clrMapOvr>
  <p:transition>
    <p:pull dir="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12648" y="118110"/>
            <a:ext cx="8153400" cy="1005840"/>
          </a:xfrm>
        </p:spPr>
        <p:txBody>
          <a:bodyPr anchor="b"/>
          <a:lstStyle>
            <a:lvl1pPr>
              <a:defRPr/>
            </a:lvl1pPr>
            <a:extLst/>
          </a:lstStyle>
          <a:p>
            <a:r>
              <a:rPr lang="en-US"/>
              <a:t>Click to edit Master title style</a:t>
            </a:r>
            <a:endParaRPr lang="en-US" dirty="0"/>
          </a:p>
        </p:txBody>
      </p:sp>
      <p:sp>
        <p:nvSpPr>
          <p:cNvPr id="11" name="Content Placeholder 10"/>
          <p:cNvSpPr>
            <a:spLocks noGrp="1"/>
          </p:cNvSpPr>
          <p:nvPr>
            <p:ph sz="quarter" idx="13"/>
          </p:nvPr>
        </p:nvSpPr>
        <p:spPr>
          <a:xfrm>
            <a:off x="609600" y="1919818"/>
            <a:ext cx="3886200" cy="2628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4"/>
          </p:nvPr>
        </p:nvSpPr>
        <p:spPr>
          <a:xfrm>
            <a:off x="4800600" y="1919818"/>
            <a:ext cx="3886200" cy="2628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9"/>
          <p:cNvSpPr>
            <a:spLocks noGrp="1"/>
          </p:cNvSpPr>
          <p:nvPr>
            <p:ph type="dt" sz="half" idx="15"/>
          </p:nvPr>
        </p:nvSpPr>
        <p:spPr/>
        <p:txBody>
          <a:bodyPr rtlCol="0"/>
          <a:lstStyle/>
          <a:p>
            <a:endParaRPr lang="en-US"/>
          </a:p>
        </p:txBody>
      </p:sp>
      <p:sp>
        <p:nvSpPr>
          <p:cNvPr id="12" name="Slide Number Placeholder 11"/>
          <p:cNvSpPr>
            <a:spLocks noGrp="1"/>
          </p:cNvSpPr>
          <p:nvPr>
            <p:ph type="sldNum" sz="quarter" idx="16"/>
          </p:nvPr>
        </p:nvSpPr>
        <p:spPr/>
        <p:txBody>
          <a:bodyPr rtlCol="0"/>
          <a:lstStyle/>
          <a:p>
            <a:pPr algn="ctr"/>
            <a:fld id="{8F82E0A0-C266-4798-8C8F-B9F91E9DA37E}" type="slidenum">
              <a:rPr lang="en-US" sz="1400" b="1" smtClean="0">
                <a:solidFill>
                  <a:srgbClr val="FFFFFF"/>
                </a:solidFill>
              </a:rPr>
              <a:pPr algn="ctr"/>
              <a:t>‹#›</a:t>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8"/>
          </p:nvPr>
        </p:nvSpPr>
        <p:spPr>
          <a:xfrm>
            <a:off x="609600" y="1362287"/>
            <a:ext cx="3886200" cy="530352"/>
          </a:xfrm>
          <a:solidFill>
            <a:schemeClr val="accent2"/>
          </a:solidFill>
        </p:spPr>
        <p:txBody>
          <a:bodyPr rtlCol="0" anchor="ctr"/>
          <a:lstStyle>
            <a:lvl1pPr>
              <a:buFontTx/>
              <a:buNone/>
              <a:defRPr sz="2000" b="1">
                <a:solidFill>
                  <a:srgbClr val="FFFFFF"/>
                </a:solidFill>
              </a:defRPr>
            </a:lvl1pPr>
            <a:extLst/>
          </a:lstStyle>
          <a:p>
            <a:pPr lvl="0"/>
            <a:r>
              <a:rPr lang="en-US"/>
              <a:t>Click to edit Master text styles</a:t>
            </a:r>
          </a:p>
        </p:txBody>
      </p:sp>
      <p:sp>
        <p:nvSpPr>
          <p:cNvPr id="15" name="Text Placeholder 14"/>
          <p:cNvSpPr>
            <a:spLocks noGrp="1"/>
          </p:cNvSpPr>
          <p:nvPr>
            <p:ph type="body" sz="quarter" idx="19"/>
          </p:nvPr>
        </p:nvSpPr>
        <p:spPr>
          <a:xfrm>
            <a:off x="4800600" y="1362287"/>
            <a:ext cx="3886200" cy="530352"/>
          </a:xfrm>
          <a:solidFill>
            <a:schemeClr val="accent4"/>
          </a:solidFill>
        </p:spPr>
        <p:txBody>
          <a:bodyPr rtlCol="0" anchor="ctr"/>
          <a:lstStyle>
            <a:lvl1pPr>
              <a:buFontTx/>
              <a:buNone/>
              <a:defRPr sz="2000" b="1">
                <a:solidFill>
                  <a:srgbClr val="FFFFFF"/>
                </a:solidFill>
              </a:defRPr>
            </a:lvl1pPr>
            <a:extLst/>
          </a:lstStyle>
          <a:p>
            <a:pPr lvl="0"/>
            <a:r>
              <a:rPr lang="en-US"/>
              <a:t>Click to edit Master text styles</a:t>
            </a:r>
          </a:p>
        </p:txBody>
      </p:sp>
      <p:pic>
        <p:nvPicPr>
          <p:cNvPr id="17" name="Picture 16" descr="FAST logo.png"/>
          <p:cNvPicPr>
            <a:picLocks noChangeAspect="1"/>
          </p:cNvPicPr>
          <p:nvPr userDrawn="1"/>
        </p:nvPicPr>
        <p:blipFill>
          <a:blip r:embed="rId2"/>
          <a:stretch>
            <a:fillRect/>
          </a:stretch>
        </p:blipFill>
        <p:spPr>
          <a:xfrm>
            <a:off x="7771724" y="4606833"/>
            <a:ext cx="1314450" cy="504720"/>
          </a:xfrm>
          <a:prstGeom prst="rect">
            <a:avLst/>
          </a:prstGeom>
        </p:spPr>
      </p:pic>
      <p:pic>
        <p:nvPicPr>
          <p:cNvPr id="18" name="Picture 17" descr="National_University_of_Computer_and_Emerging_Sciences_logo.png"/>
          <p:cNvPicPr>
            <a:picLocks noChangeAspect="1"/>
          </p:cNvPicPr>
          <p:nvPr userDrawn="1"/>
        </p:nvPicPr>
        <p:blipFill>
          <a:blip r:embed="rId3" cstate="print"/>
          <a:stretch>
            <a:fillRect/>
          </a:stretch>
        </p:blipFill>
        <p:spPr>
          <a:xfrm>
            <a:off x="8153400" y="152400"/>
            <a:ext cx="925206" cy="928052"/>
          </a:xfrm>
          <a:prstGeom prst="rect">
            <a:avLst/>
          </a:prstGeom>
        </p:spPr>
      </p:pic>
    </p:spTree>
  </p:cSld>
  <p:clrMapOvr>
    <a:masterClrMapping/>
  </p:clrMapOvr>
  <p:transition>
    <p:pull di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extLst/>
          </a:lstStyle>
          <a:p>
            <a:fld id="{A3F7CB7D-F184-43C7-B6FD-03D728E1BBFF}" type="slidenum">
              <a:rPr lang="en-US" smtClean="0">
                <a:solidFill>
                  <a:srgbClr val="FFFFFF"/>
                </a:solidFill>
              </a:rPr>
              <a:pPr/>
              <a:t>‹#›</a:t>
            </a:fld>
            <a:endParaRPr lang="en-US" dirty="0">
              <a:solidFill>
                <a:srgbClr val="FFFFFF"/>
              </a:solidFill>
            </a:endParaRPr>
          </a:p>
        </p:txBody>
      </p:sp>
      <p:pic>
        <p:nvPicPr>
          <p:cNvPr id="6" name="Picture 5" descr="FAST logo.png"/>
          <p:cNvPicPr>
            <a:picLocks noChangeAspect="1"/>
          </p:cNvPicPr>
          <p:nvPr userDrawn="1"/>
        </p:nvPicPr>
        <p:blipFill>
          <a:blip r:embed="rId2"/>
          <a:stretch>
            <a:fillRect/>
          </a:stretch>
        </p:blipFill>
        <p:spPr>
          <a:xfrm>
            <a:off x="7771724" y="4606833"/>
            <a:ext cx="1314450" cy="504720"/>
          </a:xfrm>
          <a:prstGeom prst="rect">
            <a:avLst/>
          </a:prstGeom>
        </p:spPr>
      </p:pic>
      <p:pic>
        <p:nvPicPr>
          <p:cNvPr id="7" name="Picture 6" descr="National_University_of_Computer_and_Emerging_Sciences_logo.png"/>
          <p:cNvPicPr>
            <a:picLocks noChangeAspect="1"/>
          </p:cNvPicPr>
          <p:nvPr userDrawn="1"/>
        </p:nvPicPr>
        <p:blipFill>
          <a:blip r:embed="rId3" cstate="print"/>
          <a:stretch>
            <a:fillRect/>
          </a:stretch>
        </p:blipFill>
        <p:spPr>
          <a:xfrm>
            <a:off x="8153400" y="152400"/>
            <a:ext cx="925206" cy="928052"/>
          </a:xfrm>
          <a:prstGeom prst="rect">
            <a:avLst/>
          </a:prstGeom>
        </p:spPr>
      </p:pic>
    </p:spTree>
  </p:cSld>
  <p:clrMapOvr>
    <a:masterClrMapping/>
  </p:clrMapOvr>
  <p:transition>
    <p:pull dir="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a:xfrm>
            <a:off x="0" y="4686300"/>
            <a:ext cx="533400" cy="285750"/>
          </a:xfrm>
        </p:spPr>
        <p:txBody>
          <a:bodyPr/>
          <a:lstStyle>
            <a:lvl1pPr>
              <a:defRPr>
                <a:solidFill>
                  <a:schemeClr val="tx2"/>
                </a:solidFill>
              </a:defRPr>
            </a:lvl1pPr>
            <a:extLst/>
          </a:lstStyle>
          <a:p>
            <a:fld id="{A3F7CB7D-F184-43C7-B6FD-03D728E1BBFF}" type="slidenum">
              <a:rPr lang="en-US" smtClean="0">
                <a:solidFill>
                  <a:schemeClr val="tx2"/>
                </a:solidFill>
              </a:rPr>
              <a:pPr/>
              <a:t>‹#›</a:t>
            </a:fld>
            <a:endParaRPr lang="en-US" dirty="0">
              <a:solidFill>
                <a:schemeClr val="tx2"/>
              </a:solidFill>
            </a:endParaRPr>
          </a:p>
        </p:txBody>
      </p:sp>
      <p:pic>
        <p:nvPicPr>
          <p:cNvPr id="5" name="Picture 4" descr="FAST logo.png"/>
          <p:cNvPicPr>
            <a:picLocks noChangeAspect="1"/>
          </p:cNvPicPr>
          <p:nvPr userDrawn="1"/>
        </p:nvPicPr>
        <p:blipFill>
          <a:blip r:embed="rId2"/>
          <a:stretch>
            <a:fillRect/>
          </a:stretch>
        </p:blipFill>
        <p:spPr>
          <a:xfrm>
            <a:off x="7771724" y="4606833"/>
            <a:ext cx="1314450" cy="504720"/>
          </a:xfrm>
          <a:prstGeom prst="rect">
            <a:avLst/>
          </a:prstGeom>
        </p:spPr>
      </p:pic>
      <p:pic>
        <p:nvPicPr>
          <p:cNvPr id="6" name="Picture 5" descr="National_University_of_Computer_and_Emerging_Sciences_logo.png"/>
          <p:cNvPicPr>
            <a:picLocks noChangeAspect="1"/>
          </p:cNvPicPr>
          <p:nvPr userDrawn="1"/>
        </p:nvPicPr>
        <p:blipFill>
          <a:blip r:embed="rId3" cstate="print"/>
          <a:stretch>
            <a:fillRect/>
          </a:stretch>
        </p:blipFill>
        <p:spPr>
          <a:xfrm>
            <a:off x="8153400" y="152400"/>
            <a:ext cx="925206" cy="928052"/>
          </a:xfrm>
          <a:prstGeom prst="rect">
            <a:avLst/>
          </a:prstGeom>
        </p:spPr>
      </p:pic>
    </p:spTree>
  </p:cSld>
  <p:clrMapOvr>
    <a:masterClrMapping/>
  </p:clrMapOvr>
  <p:transition>
    <p:pull di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118110"/>
            <a:ext cx="8153400" cy="1005840"/>
          </a:xfrm>
        </p:spPr>
        <p:txBody>
          <a:bodyPr anchor="b"/>
          <a:lstStyle>
            <a:lvl1pPr algn="l">
              <a:buNone/>
              <a:defRPr sz="4200" b="0"/>
            </a:lvl1pPr>
            <a:extLst/>
          </a:lstStyle>
          <a:p>
            <a:r>
              <a:rPr lang="en-US"/>
              <a:t>Click to edit Master title style</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extLst/>
          </a:lstStyle>
          <a:p>
            <a:fld id="{A3F7CB7D-F184-43C7-B6FD-03D728E1BBFF}" type="slidenum">
              <a:rPr lang="en-US" smtClean="0">
                <a:solidFill>
                  <a:srgbClr val="FFFFFF"/>
                </a:solidFill>
              </a:rPr>
              <a:pPr/>
              <a:t>‹#›</a:t>
            </a:fld>
            <a:endParaRPr lang="en-US" dirty="0">
              <a:solidFill>
                <a:srgbClr val="FFFFFF"/>
              </a:solidFill>
            </a:endParaRPr>
          </a:p>
        </p:txBody>
      </p:sp>
      <p:sp>
        <p:nvSpPr>
          <p:cNvPr id="3" name="Text Placeholder 2"/>
          <p:cNvSpPr>
            <a:spLocks noGrp="1"/>
          </p:cNvSpPr>
          <p:nvPr>
            <p:ph type="body" idx="1"/>
          </p:nvPr>
        </p:nvSpPr>
        <p:spPr>
          <a:xfrm>
            <a:off x="609600" y="1428750"/>
            <a:ext cx="1600200" cy="31242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extLst/>
          </a:lstStyle>
          <a:p>
            <a:pPr lvl="0"/>
            <a:r>
              <a:rPr lang="en-US"/>
              <a:t>Click to edit Master text styles</a:t>
            </a:r>
          </a:p>
        </p:txBody>
      </p:sp>
      <p:sp>
        <p:nvSpPr>
          <p:cNvPr id="9" name="Content Placeholder 8"/>
          <p:cNvSpPr>
            <a:spLocks noGrp="1"/>
          </p:cNvSpPr>
          <p:nvPr>
            <p:ph sz="quarter" idx="13"/>
          </p:nvPr>
        </p:nvSpPr>
        <p:spPr>
          <a:xfrm>
            <a:off x="2362200" y="1428750"/>
            <a:ext cx="6400800" cy="3200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8" name="Picture 7" descr="FAST logo.png"/>
          <p:cNvPicPr>
            <a:picLocks noChangeAspect="1"/>
          </p:cNvPicPr>
          <p:nvPr userDrawn="1"/>
        </p:nvPicPr>
        <p:blipFill>
          <a:blip r:embed="rId2"/>
          <a:stretch>
            <a:fillRect/>
          </a:stretch>
        </p:blipFill>
        <p:spPr>
          <a:xfrm>
            <a:off x="7771724" y="4606833"/>
            <a:ext cx="1314450" cy="504720"/>
          </a:xfrm>
          <a:prstGeom prst="rect">
            <a:avLst/>
          </a:prstGeom>
        </p:spPr>
      </p:pic>
      <p:pic>
        <p:nvPicPr>
          <p:cNvPr id="10" name="Picture 9" descr="National_University_of_Computer_and_Emerging_Sciences_logo.png"/>
          <p:cNvPicPr>
            <a:picLocks noChangeAspect="1"/>
          </p:cNvPicPr>
          <p:nvPr userDrawn="1"/>
        </p:nvPicPr>
        <p:blipFill>
          <a:blip r:embed="rId3" cstate="print"/>
          <a:stretch>
            <a:fillRect/>
          </a:stretch>
        </p:blipFill>
        <p:spPr>
          <a:xfrm>
            <a:off x="8153400" y="152400"/>
            <a:ext cx="925206" cy="928052"/>
          </a:xfrm>
          <a:prstGeom prst="rect">
            <a:avLst/>
          </a:prstGeom>
        </p:spPr>
      </p:pic>
    </p:spTree>
  </p:cSld>
  <p:clrMapOvr>
    <a:masterClrMapping/>
  </p:clrMapOvr>
  <p:transition>
    <p:pull dir="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557668" y="0"/>
            <a:ext cx="7586332" cy="3419856"/>
          </a:xfrm>
          <a:solidFill>
            <a:schemeClr val="tx2">
              <a:shade val="50000"/>
            </a:schemeClr>
          </a:solidFill>
          <a:ln>
            <a:noFill/>
          </a:ln>
        </p:spPr>
        <p:txBody>
          <a:bodyPr/>
          <a:lstStyle>
            <a:lvl1pPr>
              <a:buNone/>
              <a:defRPr sz="3200"/>
            </a:lvl1pPr>
            <a:extLst/>
          </a:lstStyle>
          <a:p>
            <a:r>
              <a:rPr lang="en-US"/>
              <a:t>Click icon to add picture</a:t>
            </a:r>
            <a:endParaRPr lang="en-US" dirty="0"/>
          </a:p>
        </p:txBody>
      </p:sp>
      <p:sp>
        <p:nvSpPr>
          <p:cNvPr id="4" name="Text Placeholder 3"/>
          <p:cNvSpPr>
            <a:spLocks noGrp="1"/>
          </p:cNvSpPr>
          <p:nvPr>
            <p:ph type="body" sz="half" idx="2"/>
          </p:nvPr>
        </p:nvSpPr>
        <p:spPr>
          <a:xfrm>
            <a:off x="1600200" y="4114800"/>
            <a:ext cx="7315200" cy="51435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extLst/>
          </a:lstStyle>
          <a:p>
            <a:pPr lvl="0"/>
            <a:r>
              <a:rPr lang="en-US"/>
              <a:t>Click to edit Master text styles</a:t>
            </a:r>
          </a:p>
        </p:txBody>
      </p:sp>
      <p:sp>
        <p:nvSpPr>
          <p:cNvPr id="8" name="Rectangle 7"/>
          <p:cNvSpPr/>
          <p:nvPr/>
        </p:nvSpPr>
        <p:spPr>
          <a:xfrm>
            <a:off x="-9144" y="3429000"/>
            <a:ext cx="9144000" cy="665226"/>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9" name="Rectangle 8"/>
          <p:cNvSpPr/>
          <p:nvPr/>
        </p:nvSpPr>
        <p:spPr>
          <a:xfrm>
            <a:off x="-9144" y="3497580"/>
            <a:ext cx="1463040" cy="534924"/>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10" name="Rectangle 9"/>
          <p:cNvSpPr/>
          <p:nvPr/>
        </p:nvSpPr>
        <p:spPr>
          <a:xfrm>
            <a:off x="1545336" y="3490722"/>
            <a:ext cx="7589520" cy="534924"/>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2" name="Title 1"/>
          <p:cNvSpPr>
            <a:spLocks noGrp="1"/>
          </p:cNvSpPr>
          <p:nvPr>
            <p:ph type="title"/>
          </p:nvPr>
        </p:nvSpPr>
        <p:spPr>
          <a:xfrm>
            <a:off x="1600200" y="3543300"/>
            <a:ext cx="7315200" cy="457200"/>
          </a:xfrm>
        </p:spPr>
        <p:txBody>
          <a:bodyPr anchor="ctr"/>
          <a:lstStyle>
            <a:lvl1pPr algn="l">
              <a:buNone/>
              <a:defRPr sz="2800" b="0">
                <a:solidFill>
                  <a:srgbClr val="FFFFFF"/>
                </a:solidFill>
              </a:defRPr>
            </a:lvl1pPr>
            <a:extLst/>
          </a:lstStyle>
          <a:p>
            <a:r>
              <a:rPr lang="en-US"/>
              <a:t>Click to edit Master title style</a:t>
            </a:r>
            <a:endParaRPr lang="en-US" dirty="0"/>
          </a:p>
        </p:txBody>
      </p:sp>
      <p:sp>
        <p:nvSpPr>
          <p:cNvPr id="11" name="Rectangle 10"/>
          <p:cNvSpPr/>
          <p:nvPr/>
        </p:nvSpPr>
        <p:spPr>
          <a:xfrm>
            <a:off x="1447800" y="0"/>
            <a:ext cx="100584" cy="515035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12" name="Date Placeholder 11"/>
          <p:cNvSpPr>
            <a:spLocks noGrp="1"/>
          </p:cNvSpPr>
          <p:nvPr>
            <p:ph type="dt" sz="half" idx="10"/>
          </p:nvPr>
        </p:nvSpPr>
        <p:spPr>
          <a:xfrm>
            <a:off x="6248400" y="4686300"/>
            <a:ext cx="2667000" cy="273844"/>
          </a:xfrm>
        </p:spPr>
        <p:txBody>
          <a:bodyPr rtlCol="0"/>
          <a:lstStyle/>
          <a:p>
            <a:endParaRPr lang="en-US"/>
          </a:p>
        </p:txBody>
      </p:sp>
      <p:sp>
        <p:nvSpPr>
          <p:cNvPr id="13" name="Slide Number Placeholder 12"/>
          <p:cNvSpPr>
            <a:spLocks noGrp="1"/>
          </p:cNvSpPr>
          <p:nvPr>
            <p:ph type="sldNum" sz="quarter" idx="11"/>
          </p:nvPr>
        </p:nvSpPr>
        <p:spPr>
          <a:xfrm>
            <a:off x="0" y="3500437"/>
            <a:ext cx="1447800" cy="497684"/>
          </a:xfrm>
        </p:spPr>
        <p:txBody>
          <a:bodyPr rtlCol="0"/>
          <a:lstStyle>
            <a:lvl1pPr>
              <a:defRPr sz="2800"/>
            </a:lvl1pPr>
            <a:extLst/>
          </a:lstStyle>
          <a:p>
            <a:pPr algn="ctr"/>
            <a:fld id="{8F82E0A0-C266-4798-8C8F-B9F91E9DA37E}" type="slidenum">
              <a:rPr lang="en-US" sz="2800" b="1" smtClean="0">
                <a:solidFill>
                  <a:srgbClr val="FFFFFF"/>
                </a:solidFill>
              </a:rPr>
              <a:pPr algn="ctr"/>
              <a:t>‹#›</a:t>
            </a:fld>
            <a:endParaRPr lang="en-US" sz="2800" dirty="0"/>
          </a:p>
        </p:txBody>
      </p:sp>
      <p:sp>
        <p:nvSpPr>
          <p:cNvPr id="14" name="Footer Placeholder 13"/>
          <p:cNvSpPr>
            <a:spLocks noGrp="1"/>
          </p:cNvSpPr>
          <p:nvPr>
            <p:ph type="ftr" sz="quarter" idx="12"/>
          </p:nvPr>
        </p:nvSpPr>
        <p:spPr>
          <a:xfrm>
            <a:off x="1600200" y="4686155"/>
            <a:ext cx="4572000" cy="273844"/>
          </a:xfrm>
        </p:spPr>
        <p:txBody>
          <a:bodyPr rtlCol="0"/>
          <a:lstStyle/>
          <a:p>
            <a:endParaRPr lang="en-US" dirty="0"/>
          </a:p>
        </p:txBody>
      </p:sp>
      <p:pic>
        <p:nvPicPr>
          <p:cNvPr id="15" name="Picture 14" descr="FAST logo.png"/>
          <p:cNvPicPr>
            <a:picLocks noChangeAspect="1"/>
          </p:cNvPicPr>
          <p:nvPr userDrawn="1"/>
        </p:nvPicPr>
        <p:blipFill>
          <a:blip r:embed="rId2"/>
          <a:stretch>
            <a:fillRect/>
          </a:stretch>
        </p:blipFill>
        <p:spPr>
          <a:xfrm>
            <a:off x="7771724" y="4587783"/>
            <a:ext cx="1314450" cy="504720"/>
          </a:xfrm>
          <a:prstGeom prst="rect">
            <a:avLst/>
          </a:prstGeom>
        </p:spPr>
      </p:pic>
      <p:pic>
        <p:nvPicPr>
          <p:cNvPr id="16" name="Picture 15" descr="National_University_of_Computer_and_Emerging_Sciences_logo.png"/>
          <p:cNvPicPr>
            <a:picLocks noChangeAspect="1"/>
          </p:cNvPicPr>
          <p:nvPr userDrawn="1"/>
        </p:nvPicPr>
        <p:blipFill>
          <a:blip r:embed="rId3" cstate="print"/>
          <a:stretch>
            <a:fillRect/>
          </a:stretch>
        </p:blipFill>
        <p:spPr>
          <a:xfrm>
            <a:off x="8185768" y="43498"/>
            <a:ext cx="925206" cy="928052"/>
          </a:xfrm>
          <a:prstGeom prst="rect">
            <a:avLst/>
          </a:prstGeom>
        </p:spPr>
      </p:pic>
    </p:spTree>
  </p:cSld>
  <p:clrMapOvr>
    <a:overrideClrMapping bg1="dk1" tx1="lt1" bg2="dk2" tx2="lt2" accent1="accent1" accent2="accent2" accent3="accent3" accent4="accent4" accent5="accent5" accent6="accent6" hlink="hlink" folHlink="folHlink"/>
  </p:clrMapOvr>
  <p:transition>
    <p:pull dir="d"/>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4" name="Rectangle 3"/>
          <p:cNvSpPr/>
          <p:nvPr userDrawn="1"/>
        </p:nvSpPr>
        <p:spPr>
          <a:xfrm>
            <a:off x="0" y="0"/>
            <a:ext cx="9144000" cy="5143500"/>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en-US">
              <a:solidFill>
                <a:srgbClr val="FFFFFF"/>
              </a:solidFill>
              <a:latin typeface="Calibri" panose="020F0502020204030204" pitchFamily="34" charset="0"/>
            </a:endParaRPr>
          </a:p>
        </p:txBody>
      </p:sp>
      <p:sp>
        <p:nvSpPr>
          <p:cNvPr id="5" name="Rounded Rectangle 4"/>
          <p:cNvSpPr/>
          <p:nvPr userDrawn="1"/>
        </p:nvSpPr>
        <p:spPr>
          <a:xfrm>
            <a:off x="0" y="914400"/>
            <a:ext cx="9144000" cy="4171950"/>
          </a:xfrm>
          <a:prstGeom prst="roundRect">
            <a:avLst/>
          </a:prstGeom>
          <a:ln/>
        </p:spPr>
        <p:style>
          <a:lnRef idx="2">
            <a:schemeClr val="accent1"/>
          </a:lnRef>
          <a:fillRef idx="1">
            <a:schemeClr val="lt1"/>
          </a:fillRef>
          <a:effectRef idx="0">
            <a:schemeClr val="accent1"/>
          </a:effectRef>
          <a:fontRef idx="minor">
            <a:schemeClr val="dk1"/>
          </a:fontRef>
        </p:style>
        <p:txBody>
          <a:bodyPr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en-US">
              <a:solidFill>
                <a:srgbClr val="000000"/>
              </a:solidFill>
              <a:latin typeface="Calibri" panose="020F0502020204030204" pitchFamily="34" charset="0"/>
            </a:endParaRPr>
          </a:p>
        </p:txBody>
      </p:sp>
      <p:sp>
        <p:nvSpPr>
          <p:cNvPr id="3" name="Content Placeholder 2"/>
          <p:cNvSpPr>
            <a:spLocks noGrp="1"/>
          </p:cNvSpPr>
          <p:nvPr>
            <p:ph idx="1"/>
          </p:nvPr>
        </p:nvSpPr>
        <p:spPr>
          <a:xfrm>
            <a:off x="228600" y="1085851"/>
            <a:ext cx="8686800" cy="345162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itle 8"/>
          <p:cNvSpPr>
            <a:spLocks noGrp="1"/>
          </p:cNvSpPr>
          <p:nvPr>
            <p:ph type="title"/>
          </p:nvPr>
        </p:nvSpPr>
        <p:spPr>
          <a:xfrm>
            <a:off x="914400" y="0"/>
            <a:ext cx="7315200" cy="685800"/>
          </a:xfrm>
        </p:spPr>
        <p:txBody>
          <a:bodyPr>
            <a:normAutofit/>
          </a:bodyPr>
          <a:lstStyle>
            <a:lvl1pPr algn="l">
              <a:defRPr sz="3600" b="1">
                <a:solidFill>
                  <a:schemeClr val="bg1"/>
                </a:solidFill>
                <a:latin typeface="Century Schoolbook" pitchFamily="18" charset="0"/>
              </a:defRPr>
            </a:lvl1pPr>
          </a:lstStyle>
          <a:p>
            <a:r>
              <a:rPr lang="en-US" dirty="0"/>
              <a:t>Click to edit Master title style</a:t>
            </a:r>
          </a:p>
        </p:txBody>
      </p:sp>
      <p:sp>
        <p:nvSpPr>
          <p:cNvPr id="6" name="Footer Placeholder 17"/>
          <p:cNvSpPr>
            <a:spLocks noGrp="1"/>
          </p:cNvSpPr>
          <p:nvPr>
            <p:ph type="ftr" sz="quarter" idx="10"/>
          </p:nvPr>
        </p:nvSpPr>
        <p:spPr>
          <a:xfrm>
            <a:off x="152400" y="4926807"/>
            <a:ext cx="5715000" cy="273844"/>
          </a:xfrm>
        </p:spPr>
        <p:txBody>
          <a:bodyPr wrap="square" numCol="1" anchorCtr="0" compatLnSpc="1">
            <a:prstTxWarp prst="textNoShape">
              <a:avLst/>
            </a:prstTxWarp>
          </a:bodyPr>
          <a:lstStyle>
            <a:lvl1pPr fontAlgn="base">
              <a:spcBef>
                <a:spcPct val="0"/>
              </a:spcBef>
              <a:spcAft>
                <a:spcPct val="0"/>
              </a:spcAft>
              <a:defRPr sz="1000" i="1" smtClean="0">
                <a:solidFill>
                  <a:schemeClr val="tx2"/>
                </a:solidFill>
                <a:cs typeface="Arial" panose="020B0604020202020204" pitchFamily="34" charset="0"/>
              </a:defRPr>
            </a:lvl1pPr>
          </a:lstStyle>
          <a:p>
            <a:pPr>
              <a:defRPr/>
            </a:pPr>
            <a:endParaRPr lang="en-US" altLang="en-US"/>
          </a:p>
        </p:txBody>
      </p:sp>
      <p:sp>
        <p:nvSpPr>
          <p:cNvPr id="7" name="Slide Number Placeholder 16"/>
          <p:cNvSpPr>
            <a:spLocks noGrp="1"/>
          </p:cNvSpPr>
          <p:nvPr>
            <p:ph type="sldNum" sz="quarter" idx="11"/>
          </p:nvPr>
        </p:nvSpPr>
        <p:spPr>
          <a:xfrm>
            <a:off x="6248400" y="4857750"/>
            <a:ext cx="2133600" cy="273844"/>
          </a:xfrm>
        </p:spPr>
        <p:txBody>
          <a:bodyPr/>
          <a:lstStyle>
            <a:lvl1pPr>
              <a:defRPr sz="1000" b="1" i="1">
                <a:solidFill>
                  <a:schemeClr val="tx2"/>
                </a:solidFill>
              </a:defRPr>
            </a:lvl1pPr>
          </a:lstStyle>
          <a:p>
            <a:fld id="{9ECAED0D-5F1E-4136-AD1B-B6C4A1F4BF46}" type="slidenum">
              <a:rPr lang="en-US" altLang="en-US"/>
              <a:pPr/>
              <a:t>‹#›</a:t>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171450"/>
            <a:ext cx="8153400" cy="742950"/>
          </a:xfrm>
        </p:spPr>
        <p:txBody>
          <a:bodyPr/>
          <a:lstStyle/>
          <a:p>
            <a:r>
              <a:rPr lang="en-US"/>
              <a:t>Click to edit Master title style</a:t>
            </a:r>
          </a:p>
        </p:txBody>
      </p:sp>
      <p:sp>
        <p:nvSpPr>
          <p:cNvPr id="8" name="Content Placeholder 7"/>
          <p:cNvSpPr>
            <a:spLocks noGrp="1"/>
          </p:cNvSpPr>
          <p:nvPr>
            <p:ph sz="quarter" idx="1"/>
          </p:nvPr>
        </p:nvSpPr>
        <p:spPr>
          <a:xfrm>
            <a:off x="612648" y="1200150"/>
            <a:ext cx="8153400" cy="33718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p:cNvSpPr>
            <a:spLocks noGrp="1"/>
          </p:cNvSpPr>
          <p:nvPr>
            <p:ph type="dt" sz="half" idx="10"/>
          </p:nvPr>
        </p:nvSpPr>
        <p:spPr/>
        <p:txBody>
          <a:bodyPr/>
          <a:lstStyle>
            <a:lvl1pPr>
              <a:defRPr/>
            </a:lvl1pPr>
          </a:lstStyle>
          <a:p>
            <a:pPr>
              <a:defRPr/>
            </a:pPr>
            <a:fld id="{040198D2-00ED-40D2-BEE8-03E145FF33B8}" type="datetimeFigureOut">
              <a:rPr lang="en-US"/>
              <a:pPr>
                <a:defRPr/>
              </a:pPr>
              <a:t>10/9/2025</a:t>
            </a:fld>
            <a:endParaRPr lang="en-US" dirty="0"/>
          </a:p>
        </p:txBody>
      </p:sp>
      <p:sp>
        <p:nvSpPr>
          <p:cNvPr id="5" name="Footer Placeholder 2"/>
          <p:cNvSpPr>
            <a:spLocks noGrp="1"/>
          </p:cNvSpPr>
          <p:nvPr>
            <p:ph type="ftr" sz="quarter" idx="11"/>
          </p:nvPr>
        </p:nvSpPr>
        <p:spPr/>
        <p:txBody>
          <a:bodyPr/>
          <a:lstStyle>
            <a:lvl1pPr>
              <a:defRPr/>
            </a:lvl1pPr>
          </a:lstStyle>
          <a:p>
            <a:pPr>
              <a:defRPr/>
            </a:pPr>
            <a:endParaRPr lang="en-US"/>
          </a:p>
        </p:txBody>
      </p:sp>
      <p:sp>
        <p:nvSpPr>
          <p:cNvPr id="6" name="Slide Number Placeholder 22"/>
          <p:cNvSpPr>
            <a:spLocks noGrp="1"/>
          </p:cNvSpPr>
          <p:nvPr>
            <p:ph type="sldNum" sz="quarter" idx="12"/>
          </p:nvPr>
        </p:nvSpPr>
        <p:spPr/>
        <p:txBody>
          <a:bodyPr/>
          <a:lstStyle>
            <a:lvl1pPr>
              <a:defRPr/>
            </a:lvl1pPr>
          </a:lstStyle>
          <a:p>
            <a:pPr>
              <a:defRPr/>
            </a:pPr>
            <a:r>
              <a:rPr lang="en-US"/>
              <a:t>6-</a:t>
            </a:r>
            <a:fld id="{910301F4-06BF-432F-A498-88CCD54555B7}" type="slidenum">
              <a:rPr lang="en-US"/>
              <a:pPr>
                <a:defRPr/>
              </a:pPr>
              <a:t>‹#›</a:t>
            </a:fld>
            <a:endParaRPr lang="en-US"/>
          </a:p>
        </p:txBody>
      </p:sp>
    </p:spTree>
    <p:extLst>
      <p:ext uri="{BB962C8B-B14F-4D97-AF65-F5344CB8AC3E}">
        <p14:creationId xmlns:p14="http://schemas.microsoft.com/office/powerpoint/2010/main" val="33051160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Text Placeholder 12"/>
          <p:cNvSpPr>
            <a:spLocks noGrp="1"/>
          </p:cNvSpPr>
          <p:nvPr>
            <p:ph type="body" idx="1"/>
          </p:nvPr>
        </p:nvSpPr>
        <p:spPr>
          <a:xfrm>
            <a:off x="612648" y="1352550"/>
            <a:ext cx="8153400" cy="3242310"/>
          </a:xfrm>
          <a:prstGeom prst="rect">
            <a:avLst/>
          </a:prstGeom>
        </p:spPr>
        <p:txBody>
          <a:bodyPr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Date Placeholder 13"/>
          <p:cNvSpPr>
            <a:spLocks noGrp="1"/>
          </p:cNvSpPr>
          <p:nvPr>
            <p:ph type="dt" sz="half" idx="2"/>
          </p:nvPr>
        </p:nvSpPr>
        <p:spPr>
          <a:xfrm>
            <a:off x="6096000" y="4686300"/>
            <a:ext cx="2667000" cy="273844"/>
          </a:xfrm>
          <a:prstGeom prst="rect">
            <a:avLst/>
          </a:prstGeom>
        </p:spPr>
        <p:txBody>
          <a:bodyPr vert="horz" anchor="ctr" anchorCtr="0"/>
          <a:lstStyle>
            <a:lvl1pPr algn="l">
              <a:defRPr sz="1400">
                <a:solidFill>
                  <a:schemeClr val="tx2"/>
                </a:solidFill>
              </a:defRPr>
            </a:lvl1pPr>
            <a:extLst/>
          </a:lstStyle>
          <a:p>
            <a:endParaRPr lang="en-US" sz="1400" dirty="0">
              <a:solidFill>
                <a:schemeClr val="tx2"/>
              </a:solidFill>
            </a:endParaRPr>
          </a:p>
        </p:txBody>
      </p:sp>
      <p:sp>
        <p:nvSpPr>
          <p:cNvPr id="3" name="Footer Placeholder 2"/>
          <p:cNvSpPr>
            <a:spLocks noGrp="1"/>
          </p:cNvSpPr>
          <p:nvPr>
            <p:ph type="ftr" sz="quarter" idx="3"/>
          </p:nvPr>
        </p:nvSpPr>
        <p:spPr>
          <a:xfrm>
            <a:off x="609601" y="4686155"/>
            <a:ext cx="5421083" cy="273844"/>
          </a:xfrm>
          <a:prstGeom prst="rect">
            <a:avLst/>
          </a:prstGeom>
        </p:spPr>
        <p:txBody>
          <a:bodyPr vert="horz" anchor="ctr"/>
          <a:lstStyle>
            <a:lvl1pPr algn="r">
              <a:defRPr sz="1400">
                <a:solidFill>
                  <a:schemeClr val="tx2"/>
                </a:solidFill>
              </a:defRPr>
            </a:lvl1pPr>
            <a:extLst/>
          </a:lstStyle>
          <a:p>
            <a:pPr algn="r"/>
            <a:endParaRPr lang="en-US" sz="1400" dirty="0">
              <a:solidFill>
                <a:schemeClr val="tx2"/>
              </a:solidFill>
            </a:endParaRPr>
          </a:p>
        </p:txBody>
      </p:sp>
      <p:sp>
        <p:nvSpPr>
          <p:cNvPr id="7" name="Rectangle 6"/>
          <p:cNvSpPr/>
          <p:nvPr/>
        </p:nvSpPr>
        <p:spPr>
          <a:xfrm>
            <a:off x="0" y="1095170"/>
            <a:ext cx="9144000" cy="24003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8" name="Rectangle 7"/>
          <p:cNvSpPr/>
          <p:nvPr/>
        </p:nvSpPr>
        <p:spPr>
          <a:xfrm>
            <a:off x="0" y="1129460"/>
            <a:ext cx="533400" cy="17145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9" name="Rectangle 8"/>
          <p:cNvSpPr/>
          <p:nvPr/>
        </p:nvSpPr>
        <p:spPr>
          <a:xfrm>
            <a:off x="590550" y="1129460"/>
            <a:ext cx="8553450" cy="17145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23" name="Slide Number Placeholder 22"/>
          <p:cNvSpPr>
            <a:spLocks noGrp="1"/>
          </p:cNvSpPr>
          <p:nvPr>
            <p:ph type="sldNum" sz="quarter" idx="4"/>
          </p:nvPr>
        </p:nvSpPr>
        <p:spPr>
          <a:xfrm>
            <a:off x="0" y="1123507"/>
            <a:ext cx="533400" cy="183357"/>
          </a:xfrm>
          <a:prstGeom prst="rect">
            <a:avLst/>
          </a:prstGeom>
        </p:spPr>
        <p:txBody>
          <a:bodyPr vert="horz" anchor="ctr" anchorCtr="0">
            <a:normAutofit/>
          </a:bodyPr>
          <a:lstStyle>
            <a:lvl1pPr algn="ctr">
              <a:defRPr sz="1400" b="1">
                <a:solidFill>
                  <a:srgbClr val="FFFFFF"/>
                </a:solidFill>
              </a:defRPr>
            </a:lvl1pPr>
            <a:extLst/>
          </a:lstStyle>
          <a:p>
            <a:pPr algn="ctr"/>
            <a:fld id="{8F82E0A0-C266-4798-8C8F-B9F91E9DA37E}" type="slidenum">
              <a:rPr lang="en-US" sz="1400" b="1" smtClean="0">
                <a:solidFill>
                  <a:srgbClr val="FFFFFF"/>
                </a:solidFill>
              </a:rPr>
              <a:pPr algn="ctr"/>
              <a:t>‹#›</a:t>
            </a:fld>
            <a:endParaRPr lang="en-US" sz="1400" b="1" dirty="0">
              <a:solidFill>
                <a:srgbClr val="FFFFFF"/>
              </a:solidFill>
            </a:endParaRPr>
          </a:p>
        </p:txBody>
      </p:sp>
      <p:sp>
        <p:nvSpPr>
          <p:cNvPr id="22" name="Title Placeholder 21"/>
          <p:cNvSpPr>
            <a:spLocks noGrp="1"/>
          </p:cNvSpPr>
          <p:nvPr>
            <p:ph type="title"/>
          </p:nvPr>
        </p:nvSpPr>
        <p:spPr>
          <a:xfrm>
            <a:off x="609600" y="118110"/>
            <a:ext cx="8153400" cy="1005840"/>
          </a:xfrm>
          <a:prstGeom prst="rect">
            <a:avLst/>
          </a:prstGeom>
        </p:spPr>
        <p:txBody>
          <a:bodyPr vert="horz" anchor="b">
            <a:normAutofit/>
          </a:bodyPr>
          <a:lstStyle/>
          <a:p>
            <a:r>
              <a:rPr lang="en-US"/>
              <a:t>Click to edit Master title style</a:t>
            </a:r>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8" r:id="rId2"/>
    <p:sldLayoutId id="2147483651" r:id="rId3"/>
    <p:sldLayoutId id="2147483652" r:id="rId4"/>
    <p:sldLayoutId id="2147483653" r:id="rId5"/>
    <p:sldLayoutId id="2147483654" r:id="rId6"/>
    <p:sldLayoutId id="2147483655" r:id="rId7"/>
    <p:sldLayoutId id="2147483656" r:id="rId8"/>
    <p:sldLayoutId id="2147483657" r:id="rId9"/>
    <p:sldLayoutId id="2147483659" r:id="rId10"/>
    <p:sldLayoutId id="2147483660" r:id="rId11"/>
  </p:sldLayoutIdLst>
  <p:transition>
    <p:pull dir="d"/>
  </p:transition>
  <p:hf hdr="0" ftr="0" dt="0"/>
  <p:txStyles>
    <p:titleStyle>
      <a:lvl1pPr algn="l" rtl="0" eaLnBrk="1" latinLnBrk="0" hangingPunct="1">
        <a:spcBef>
          <a:spcPct val="0"/>
        </a:spcBef>
        <a:buNone/>
        <a:defRPr sz="4200" kern="1200">
          <a:solidFill>
            <a:schemeClr val="tx2"/>
          </a:solidFill>
          <a:latin typeface="+mj-lt"/>
          <a:ea typeface="+mj-ea"/>
          <a:cs typeface="+mj-cs"/>
        </a:defRPr>
      </a:lvl1pPr>
      <a:extLst/>
    </p:titleStyle>
    <p:bodyStyle>
      <a:lvl1pPr marL="320040" indent="-320040" algn="l" rtl="0" eaLnBrk="1" latinLnBrk="0" hangingPunct="1">
        <a:spcBef>
          <a:spcPts val="700"/>
        </a:spcBef>
        <a:buClr>
          <a:schemeClr val="accent2"/>
        </a:buClr>
        <a:buSzPct val="60000"/>
        <a:buFont typeface="Wingdings"/>
        <a:buChar char=""/>
        <a:defRPr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None/>
        <a:defRPr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sz="1800" kern="1200" baseline="0">
          <a:solidFill>
            <a:schemeClr val="tx1"/>
          </a:solidFill>
          <a:latin typeface="+mn-lt"/>
          <a:ea typeface="+mn-ea"/>
          <a:cs typeface="+mn-cs"/>
        </a:defRPr>
      </a:lvl9pPr>
      <a:extLst/>
    </p:bodyStyle>
    <p:otherStyle>
      <a:lvl1pPr marL="0" algn="l" rtl="0" eaLnBrk="1" hangingPunct="1">
        <a:defRPr kern="1200">
          <a:solidFill>
            <a:schemeClr val="tx1"/>
          </a:solidFill>
          <a:latin typeface="+mn-lt"/>
          <a:ea typeface="+mn-ea"/>
          <a:cs typeface="+mn-cs"/>
        </a:defRPr>
      </a:lvl1pPr>
      <a:lvl2pPr marL="457200" algn="l" rtl="0" eaLnBrk="1" hangingPunct="1">
        <a:defRPr kern="1200">
          <a:solidFill>
            <a:schemeClr val="tx1"/>
          </a:solidFill>
          <a:latin typeface="+mn-lt"/>
          <a:ea typeface="+mn-ea"/>
          <a:cs typeface="+mn-cs"/>
        </a:defRPr>
      </a:lvl2pPr>
      <a:lvl3pPr marL="914400" algn="l" rtl="0" eaLnBrk="1" hangingPunct="1">
        <a:defRPr kern="1200">
          <a:solidFill>
            <a:schemeClr val="tx1"/>
          </a:solidFill>
          <a:latin typeface="+mn-lt"/>
          <a:ea typeface="+mn-ea"/>
          <a:cs typeface="+mn-cs"/>
        </a:defRPr>
      </a:lvl3pPr>
      <a:lvl4pPr marL="1371600" algn="l" rtl="0" eaLnBrk="1" hangingPunct="1">
        <a:defRPr kern="1200">
          <a:solidFill>
            <a:schemeClr val="tx1"/>
          </a:solidFill>
          <a:latin typeface="+mn-lt"/>
          <a:ea typeface="+mn-ea"/>
          <a:cs typeface="+mn-cs"/>
        </a:defRPr>
      </a:lvl4pPr>
      <a:lvl5pPr marL="1828800" algn="l" rtl="0" eaLnBrk="1" hangingPunct="1">
        <a:defRPr kern="1200">
          <a:solidFill>
            <a:schemeClr val="tx1"/>
          </a:solidFill>
          <a:latin typeface="+mn-lt"/>
          <a:ea typeface="+mn-ea"/>
          <a:cs typeface="+mn-cs"/>
        </a:defRPr>
      </a:lvl5pPr>
      <a:lvl6pPr marL="2286000" algn="l" rtl="0" eaLnBrk="1" hangingPunct="1">
        <a:defRPr kern="1200">
          <a:solidFill>
            <a:schemeClr val="tx1"/>
          </a:solidFill>
          <a:latin typeface="+mn-lt"/>
          <a:ea typeface="+mn-ea"/>
          <a:cs typeface="+mn-cs"/>
        </a:defRPr>
      </a:lvl6pPr>
      <a:lvl7pPr marL="2743200" algn="l" rtl="0" eaLnBrk="1" hangingPunct="1">
        <a:defRPr kern="1200">
          <a:solidFill>
            <a:schemeClr val="tx1"/>
          </a:solidFill>
          <a:latin typeface="+mn-lt"/>
          <a:ea typeface="+mn-ea"/>
          <a:cs typeface="+mn-cs"/>
        </a:defRPr>
      </a:lvl7pPr>
      <a:lvl8pPr marL="3200400" algn="l" rtl="0" eaLnBrk="1" hangingPunct="1">
        <a:defRPr kern="1200">
          <a:solidFill>
            <a:schemeClr val="tx1"/>
          </a:solidFill>
          <a:latin typeface="+mn-lt"/>
          <a:ea typeface="+mn-ea"/>
          <a:cs typeface="+mn-cs"/>
        </a:defRPr>
      </a:lvl8pPr>
      <a:lvl9pPr marL="3657600" algn="l" rtl="0" eaLnBrk="1" hangingPunct="1">
        <a:defRPr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9.xml"/><Relationship Id="rId5" Type="http://schemas.openxmlformats.org/officeDocument/2006/relationships/image" Target="../media/image7.jpe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0.jpeg"/><Relationship Id="rId4" Type="http://schemas.openxmlformats.org/officeDocument/2006/relationships/image" Target="../media/image9.jpeg"/></Relationships>
</file>

<file path=ppt/slides/_rels/slide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6.xml"/><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half" idx="2"/>
          </p:nvPr>
        </p:nvSpPr>
        <p:spPr>
          <a:xfrm>
            <a:off x="1600200" y="4114799"/>
            <a:ext cx="7315200" cy="742951"/>
          </a:xfrm>
        </p:spPr>
        <p:txBody>
          <a:bodyPr>
            <a:normAutofit/>
          </a:bodyPr>
          <a:lstStyle/>
          <a:p>
            <a:r>
              <a:rPr lang="en-US" dirty="0"/>
              <a:t>Instructor: Dr. </a:t>
            </a:r>
            <a:r>
              <a:rPr lang="en-US"/>
              <a:t>Muhammad Rafiq</a:t>
            </a:r>
            <a:endParaRPr lang="en-US" dirty="0"/>
          </a:p>
          <a:p>
            <a:r>
              <a:rPr lang="en-US" b="1" dirty="0"/>
              <a:t>Chapter 7 + 8</a:t>
            </a:r>
            <a:r>
              <a:rPr lang="en-US" dirty="0"/>
              <a:t>: Organizational Behavior – 15</a:t>
            </a:r>
            <a:r>
              <a:rPr lang="en-US" baseline="30000" dirty="0"/>
              <a:t>th</a:t>
            </a:r>
            <a:r>
              <a:rPr lang="en-US" dirty="0"/>
              <a:t> Edition</a:t>
            </a:r>
          </a:p>
        </p:txBody>
      </p:sp>
      <p:sp>
        <p:nvSpPr>
          <p:cNvPr id="4" name="Title 3"/>
          <p:cNvSpPr>
            <a:spLocks noGrp="1"/>
          </p:cNvSpPr>
          <p:nvPr>
            <p:ph type="title"/>
          </p:nvPr>
        </p:nvSpPr>
        <p:spPr/>
        <p:txBody>
          <a:bodyPr>
            <a:normAutofit fontScale="90000"/>
          </a:bodyPr>
          <a:lstStyle/>
          <a:p>
            <a:pPr marL="342900" indent="-342900">
              <a:spcBef>
                <a:spcPct val="20000"/>
              </a:spcBef>
            </a:pPr>
            <a:r>
              <a:rPr lang="en-US" b="1" dirty="0">
                <a:solidFill>
                  <a:schemeClr val="tx1"/>
                </a:solidFill>
              </a:rPr>
              <a:t>Motivation</a:t>
            </a:r>
          </a:p>
        </p:txBody>
      </p:sp>
      <p:pic>
        <p:nvPicPr>
          <p:cNvPr id="15" name="Picture 14" descr="National_University_of_Computer_and_Emerging_Sciences_logo.png"/>
          <p:cNvPicPr>
            <a:picLocks noChangeAspect="1"/>
          </p:cNvPicPr>
          <p:nvPr/>
        </p:nvPicPr>
        <p:blipFill>
          <a:blip r:embed="rId3"/>
          <a:stretch>
            <a:fillRect/>
          </a:stretch>
        </p:blipFill>
        <p:spPr>
          <a:xfrm>
            <a:off x="34072" y="56682"/>
            <a:ext cx="1376020" cy="1380254"/>
          </a:xfrm>
          <a:prstGeom prst="rect">
            <a:avLst/>
          </a:prstGeom>
        </p:spPr>
      </p:pic>
      <p:sp>
        <p:nvSpPr>
          <p:cNvPr id="7" name="Slide Number Placeholder 6"/>
          <p:cNvSpPr>
            <a:spLocks noGrp="1"/>
          </p:cNvSpPr>
          <p:nvPr>
            <p:ph type="sldNum" sz="quarter" idx="11"/>
          </p:nvPr>
        </p:nvSpPr>
        <p:spPr/>
        <p:txBody>
          <a:bodyPr>
            <a:normAutofit lnSpcReduction="10000"/>
          </a:bodyPr>
          <a:lstStyle/>
          <a:p>
            <a:pPr algn="ctr"/>
            <a:r>
              <a:rPr lang="en-US" dirty="0"/>
              <a:t>MG225</a:t>
            </a:r>
            <a:endParaRPr lang="en-US" sz="2800" dirty="0"/>
          </a:p>
        </p:txBody>
      </p:sp>
      <p:sp>
        <p:nvSpPr>
          <p:cNvPr id="50178" name="AutoShape 2" descr="Image result for Management"/>
          <p:cNvSpPr>
            <a:spLocks noChangeAspect="1" noChangeArrowheads="1"/>
          </p:cNvSpPr>
          <p:nvPr/>
        </p:nvSpPr>
        <p:spPr bwMode="auto">
          <a:xfrm>
            <a:off x="63500" y="-136525"/>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2" name="Picture Placeholder 1"/>
          <p:cNvPicPr>
            <a:picLocks noGrp="1" noChangeAspect="1"/>
          </p:cNvPicPr>
          <p:nvPr>
            <p:ph type="pic" idx="1"/>
          </p:nvPr>
        </p:nvPicPr>
        <p:blipFill>
          <a:blip r:embed="rId4">
            <a:extLst>
              <a:ext uri="{28A0092B-C50C-407E-A947-70E740481C1C}">
                <a14:useLocalDpi xmlns:a14="http://schemas.microsoft.com/office/drawing/2010/main" val="0"/>
              </a:ext>
            </a:extLst>
          </a:blip>
          <a:srcRect t="19710" b="19710"/>
          <a:stretch>
            <a:fillRect/>
          </a:stretch>
        </p:blipFill>
        <p:spPr/>
      </p:pic>
      <p:pic>
        <p:nvPicPr>
          <p:cNvPr id="10" name="Picture 9"/>
          <p:cNvPicPr>
            <a:picLocks noChangeAspect="1"/>
          </p:cNvPicPr>
          <p:nvPr/>
        </p:nvPicPr>
        <p:blipFill rotWithShape="1">
          <a:blip r:embed="rId5">
            <a:extLst>
              <a:ext uri="{28A0092B-C50C-407E-A947-70E740481C1C}">
                <a14:useLocalDpi xmlns:a14="http://schemas.microsoft.com/office/drawing/2010/main" val="0"/>
              </a:ext>
            </a:extLst>
          </a:blip>
          <a:srcRect b="19127"/>
          <a:stretch/>
        </p:blipFill>
        <p:spPr>
          <a:xfrm>
            <a:off x="1524000" y="0"/>
            <a:ext cx="7543801" cy="3431768"/>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198" y="4141010"/>
            <a:ext cx="1245767" cy="926851"/>
          </a:xfrm>
          <a:prstGeom prst="rect">
            <a:avLst/>
          </a:prstGeom>
        </p:spPr>
      </p:pic>
    </p:spTree>
  </p:cSld>
  <p:clrMapOvr>
    <a:masterClrMapping/>
  </p:clrMapOvr>
  <p:transition>
    <p:pull dir="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en-US" altLang="en-US">
                <a:cs typeface="Times New Roman" pitchFamily="18" charset="0"/>
              </a:rPr>
              <a:t>What Is Motivation?</a:t>
            </a:r>
            <a:r>
              <a:rPr lang="en-US" altLang="en-US"/>
              <a:t> </a:t>
            </a:r>
          </a:p>
        </p:txBody>
      </p:sp>
      <p:sp>
        <p:nvSpPr>
          <p:cNvPr id="5122" name="Rectangle 6"/>
          <p:cNvSpPr>
            <a:spLocks noGrp="1" noChangeArrowheads="1"/>
          </p:cNvSpPr>
          <p:nvPr>
            <p:ph type="sldNum" sz="quarter" idx="12"/>
          </p:nvPr>
        </p:nvSpPr>
        <p:spPr/>
        <p:txBody>
          <a:bodyPr>
            <a:normAutofit fontScale="47500" lnSpcReduction="20000"/>
          </a:bodyPr>
          <a:lstStyle/>
          <a:p>
            <a:pPr>
              <a:defRPr/>
            </a:pPr>
            <a:r>
              <a:rPr lang="en-US"/>
              <a:t>6-</a:t>
            </a:r>
            <a:fld id="{D19E9F20-9F5E-4A0C-898A-9C3ED8C018C2}" type="slidenum">
              <a:rPr lang="en-US"/>
              <a:pPr>
                <a:defRPr/>
              </a:pPr>
              <a:t>2</a:t>
            </a:fld>
            <a:endParaRPr lang="en-US"/>
          </a:p>
        </p:txBody>
      </p:sp>
      <p:sp>
        <p:nvSpPr>
          <p:cNvPr id="5124" name="Rectangle 3"/>
          <p:cNvSpPr>
            <a:spLocks noGrp="1" noChangeArrowheads="1"/>
          </p:cNvSpPr>
          <p:nvPr>
            <p:ph sz="quarter" idx="13"/>
          </p:nvPr>
        </p:nvSpPr>
        <p:spPr>
          <a:xfrm>
            <a:off x="457200" y="1352550"/>
            <a:ext cx="3810000" cy="3276600"/>
          </a:xfrm>
        </p:spPr>
        <p:txBody>
          <a:bodyPr>
            <a:normAutofit fontScale="70000" lnSpcReduction="20000"/>
          </a:bodyPr>
          <a:lstStyle/>
          <a:p>
            <a:pPr marL="3175" indent="-3175" algn="ctr" eaLnBrk="1" fontAlgn="auto" hangingPunct="1">
              <a:spcAft>
                <a:spcPts val="1800"/>
              </a:spcAft>
              <a:buFontTx/>
              <a:buNone/>
              <a:defRPr/>
            </a:pPr>
            <a:r>
              <a:rPr lang="en-US" sz="2800" dirty="0">
                <a:solidFill>
                  <a:schemeClr val="accent1">
                    <a:lumMod val="50000"/>
                  </a:schemeClr>
                </a:solidFill>
                <a:cs typeface="Times New Roman" pitchFamily="18" charset="0"/>
              </a:rPr>
              <a:t>The processes that accounts for an individual’s intensity, direction, and persistence of effort toward attaining an organizational goal</a:t>
            </a:r>
          </a:p>
          <a:p>
            <a:pPr marL="640080" lvl="1" indent="-274320" eaLnBrk="1" fontAlgn="auto" hangingPunct="1">
              <a:spcAft>
                <a:spcPts val="0"/>
              </a:spcAft>
              <a:buFont typeface="Wingdings 2"/>
              <a:buChar char=""/>
              <a:defRPr/>
            </a:pPr>
            <a:r>
              <a:rPr lang="en-US" dirty="0">
                <a:solidFill>
                  <a:schemeClr val="accent1">
                    <a:lumMod val="50000"/>
                  </a:schemeClr>
                </a:solidFill>
              </a:rPr>
              <a:t>Intensity – the amount of effort put forth to meet the goal</a:t>
            </a:r>
          </a:p>
          <a:p>
            <a:pPr marL="640080" lvl="1" indent="-274320" eaLnBrk="1" fontAlgn="auto" hangingPunct="1">
              <a:spcAft>
                <a:spcPts val="0"/>
              </a:spcAft>
              <a:buFont typeface="Wingdings 2"/>
              <a:buChar char=""/>
              <a:defRPr/>
            </a:pPr>
            <a:r>
              <a:rPr lang="en-US" dirty="0">
                <a:solidFill>
                  <a:schemeClr val="accent1">
                    <a:lumMod val="50000"/>
                  </a:schemeClr>
                </a:solidFill>
              </a:rPr>
              <a:t>Direction – efforts are channeled toward organizational goals</a:t>
            </a:r>
          </a:p>
          <a:p>
            <a:pPr marL="640080" lvl="1" indent="-274320" eaLnBrk="1" fontAlgn="auto" hangingPunct="1">
              <a:spcAft>
                <a:spcPts val="0"/>
              </a:spcAft>
              <a:buFont typeface="Wingdings 2"/>
              <a:buChar char=""/>
              <a:defRPr/>
            </a:pPr>
            <a:r>
              <a:rPr lang="en-US" dirty="0">
                <a:solidFill>
                  <a:schemeClr val="accent1">
                    <a:lumMod val="50000"/>
                  </a:schemeClr>
                </a:solidFill>
              </a:rPr>
              <a:t>Persistence – how long the effort is maintained </a:t>
            </a:r>
          </a:p>
        </p:txBody>
      </p:sp>
      <p:pic>
        <p:nvPicPr>
          <p:cNvPr id="41986" name="Picture 2" descr="Image result for Early theories of motivation"/>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4646"/>
          <a:stretch/>
        </p:blipFill>
        <p:spPr bwMode="auto">
          <a:xfrm>
            <a:off x="4317816" y="1317294"/>
            <a:ext cx="4763632" cy="305169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Image result for motivation state of mind"/>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4434" t="22227" r="14699" b="22467"/>
          <a:stretch/>
        </p:blipFill>
        <p:spPr bwMode="auto">
          <a:xfrm>
            <a:off x="7010400" y="38953"/>
            <a:ext cx="2103467" cy="1376166"/>
          </a:xfrm>
          <a:prstGeom prst="rect">
            <a:avLst/>
          </a:prstGeom>
          <a:noFill/>
          <a:extLst>
            <a:ext uri="{909E8E84-426E-40DD-AFC4-6F175D3DCCD1}">
              <a14:hiddenFill xmlns:a14="http://schemas.microsoft.com/office/drawing/2010/main">
                <a:solidFill>
                  <a:srgbClr val="FFFFFF"/>
                </a:solidFill>
              </a14:hiddenFill>
            </a:ext>
          </a:extLst>
        </p:spPr>
      </p:pic>
      <p:pic>
        <p:nvPicPr>
          <p:cNvPr id="47106" name="Picture 2" descr="Image result for motivation"/>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11834" t="2339" r="10681" b="8490"/>
          <a:stretch/>
        </p:blipFill>
        <p:spPr bwMode="auto">
          <a:xfrm>
            <a:off x="4216096" y="2974072"/>
            <a:ext cx="1076960" cy="12393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0677403"/>
      </p:ext>
    </p:extLst>
  </p:cSld>
  <p:clrMapOvr>
    <a:masterClrMapping/>
  </p:clrMapOvr>
  <p:transition>
    <p:rand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normAutofit fontScale="47500" lnSpcReduction="20000"/>
          </a:bodyPr>
          <a:lstStyle/>
          <a:p>
            <a:fld id="{A3F7CB7D-F184-43C7-B6FD-03D728E1BBFF}" type="slidenum">
              <a:rPr lang="en-US" smtClean="0">
                <a:solidFill>
                  <a:srgbClr val="FFFFFF"/>
                </a:solidFill>
              </a:rPr>
              <a:pPr/>
              <a:t>3</a:t>
            </a:fld>
            <a:endParaRPr lang="en-US" dirty="0">
              <a:solidFill>
                <a:srgbClr val="FFFFFF"/>
              </a:solidFill>
            </a:endParaRPr>
          </a:p>
        </p:txBody>
      </p:sp>
      <p:pic>
        <p:nvPicPr>
          <p:cNvPr id="48130" name="Picture 2" descr="Image result for motiva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50" y="424503"/>
            <a:ext cx="9104679" cy="4678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0024963"/>
      </p:ext>
    </p:extLst>
  </p:cSld>
  <p:clrMapOvr>
    <a:masterClrMapping/>
  </p:clrMapOvr>
  <p:transition>
    <p:pull dir="d"/>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normAutofit/>
          </a:bodyPr>
          <a:lstStyle/>
          <a:p>
            <a:pPr eaLnBrk="1" hangingPunct="1"/>
            <a:r>
              <a:rPr lang="en-US" altLang="en-US" sz="4000" dirty="0"/>
              <a:t>Early Theories of Motivation</a:t>
            </a:r>
          </a:p>
        </p:txBody>
      </p:sp>
      <p:sp>
        <p:nvSpPr>
          <p:cNvPr id="6146" name="Rectangle 6"/>
          <p:cNvSpPr>
            <a:spLocks noGrp="1" noChangeArrowheads="1"/>
          </p:cNvSpPr>
          <p:nvPr>
            <p:ph type="sldNum" sz="quarter" idx="12"/>
          </p:nvPr>
        </p:nvSpPr>
        <p:spPr/>
        <p:txBody>
          <a:bodyPr>
            <a:normAutofit fontScale="47500" lnSpcReduction="20000"/>
          </a:bodyPr>
          <a:lstStyle/>
          <a:p>
            <a:pPr>
              <a:defRPr/>
            </a:pPr>
            <a:r>
              <a:rPr lang="en-US"/>
              <a:t>6-</a:t>
            </a:r>
            <a:fld id="{EEC4E469-DFD0-49D5-AE5F-68095D9D5BE0}" type="slidenum">
              <a:rPr lang="en-US"/>
              <a:pPr>
                <a:defRPr/>
              </a:pPr>
              <a:t>4</a:t>
            </a:fld>
            <a:endParaRPr lang="en-US"/>
          </a:p>
        </p:txBody>
      </p:sp>
      <p:sp>
        <p:nvSpPr>
          <p:cNvPr id="3" name="Content Placeholder 2"/>
          <p:cNvSpPr>
            <a:spLocks noGrp="1"/>
          </p:cNvSpPr>
          <p:nvPr>
            <p:ph sz="quarter" idx="13"/>
          </p:nvPr>
        </p:nvSpPr>
        <p:spPr>
          <a:xfrm>
            <a:off x="609600" y="1352550"/>
            <a:ext cx="6477000" cy="3276600"/>
          </a:xfrm>
        </p:spPr>
        <p:txBody>
          <a:bodyPr>
            <a:normAutofit/>
          </a:bodyPr>
          <a:lstStyle/>
          <a:p>
            <a:pPr marL="320040" indent="-320040" eaLnBrk="1" fontAlgn="auto" hangingPunct="1">
              <a:spcAft>
                <a:spcPts val="0"/>
              </a:spcAft>
              <a:buFont typeface="Wingdings"/>
              <a:buChar char=""/>
              <a:defRPr/>
            </a:pPr>
            <a:r>
              <a:rPr lang="en-US" sz="2400" dirty="0">
                <a:solidFill>
                  <a:schemeClr val="accent1">
                    <a:lumMod val="50000"/>
                  </a:schemeClr>
                </a:solidFill>
              </a:rPr>
              <a:t>Maslow’s Hierarchy of Needs Theory</a:t>
            </a:r>
          </a:p>
          <a:p>
            <a:pPr marL="320040" indent="-320040" eaLnBrk="1" fontAlgn="auto" hangingPunct="1">
              <a:spcAft>
                <a:spcPts val="0"/>
              </a:spcAft>
              <a:buFont typeface="Wingdings"/>
              <a:buChar char=""/>
              <a:defRPr/>
            </a:pPr>
            <a:r>
              <a:rPr lang="en-US" sz="2400" dirty="0">
                <a:solidFill>
                  <a:schemeClr val="accent1">
                    <a:lumMod val="50000"/>
                  </a:schemeClr>
                </a:solidFill>
              </a:rPr>
              <a:t>McGregor’s Theory X and Theory Y</a:t>
            </a:r>
          </a:p>
          <a:p>
            <a:pPr marL="320040" indent="-320040" eaLnBrk="1" fontAlgn="auto" hangingPunct="1">
              <a:spcAft>
                <a:spcPts val="0"/>
              </a:spcAft>
              <a:buFont typeface="Wingdings"/>
              <a:buChar char=""/>
              <a:defRPr/>
            </a:pPr>
            <a:r>
              <a:rPr lang="en-US" sz="2400" dirty="0">
                <a:solidFill>
                  <a:schemeClr val="accent1">
                    <a:lumMod val="50000"/>
                  </a:schemeClr>
                </a:solidFill>
              </a:rPr>
              <a:t>Herzberg’s Two-Factor (Motivation-Hygiene) Theory</a:t>
            </a:r>
          </a:p>
          <a:p>
            <a:pPr marL="320040" indent="-320040" eaLnBrk="1" fontAlgn="auto" hangingPunct="1">
              <a:spcAft>
                <a:spcPts val="0"/>
              </a:spcAft>
              <a:buFont typeface="Wingdings"/>
              <a:buChar char=""/>
              <a:defRPr/>
            </a:pPr>
            <a:r>
              <a:rPr lang="en-US" sz="2400" dirty="0">
                <a:solidFill>
                  <a:schemeClr val="accent1">
                    <a:lumMod val="50000"/>
                  </a:schemeClr>
                </a:solidFill>
              </a:rPr>
              <a:t>McClelland’s Theory of Needs (Three Needs Theory)</a:t>
            </a:r>
          </a:p>
        </p:txBody>
      </p:sp>
      <p:pic>
        <p:nvPicPr>
          <p:cNvPr id="61442" name="Picture 2" descr="C:\Users\Bob Stretch\AppData\Local\Microsoft\Windows\Temporary Internet Files\Content.IE5\SEQ5QILQ\MPPH03252I0000[1].jpg"/>
          <p:cNvPicPr>
            <a:picLocks noChangeAspect="1" noChangeArrowheads="1"/>
          </p:cNvPicPr>
          <p:nvPr/>
        </p:nvPicPr>
        <p:blipFill>
          <a:blip r:embed="rId3"/>
          <a:srcRect l="12035" r="23999"/>
          <a:stretch>
            <a:fillRect/>
          </a:stretch>
        </p:blipFill>
        <p:spPr bwMode="auto">
          <a:xfrm>
            <a:off x="7107401" y="1352550"/>
            <a:ext cx="1960400" cy="3200400"/>
          </a:xfrm>
          <a:prstGeom prst="rect">
            <a:avLst/>
          </a:prstGeom>
          <a:noFill/>
          <a:ln w="15875">
            <a:solidFill>
              <a:schemeClr val="accent4">
                <a:lumMod val="10000"/>
              </a:schemeClr>
            </a:solidFill>
          </a:ln>
          <a:effectLst>
            <a:outerShdw blurRad="50800" dist="76200" dir="8100000" algn="tr" rotWithShape="0">
              <a:prstClr val="black">
                <a:alpha val="40000"/>
              </a:prstClr>
            </a:outerShdw>
          </a:effectLst>
        </p:spPr>
      </p:pic>
      <p:pic>
        <p:nvPicPr>
          <p:cNvPr id="39938" name="Picture 2" descr="Image result for motivation"/>
          <p:cNvPicPr>
            <a:picLocks noChangeAspect="1" noChangeArrowheads="1"/>
          </p:cNvPicPr>
          <p:nvPr/>
        </p:nvPicPr>
        <p:blipFill rotWithShape="1">
          <a:blip r:embed="rId4">
            <a:extLst>
              <a:ext uri="{28A0092B-C50C-407E-A947-70E740481C1C}">
                <a14:useLocalDpi xmlns:a14="http://schemas.microsoft.com/office/drawing/2010/main" val="0"/>
              </a:ext>
            </a:extLst>
          </a:blip>
          <a:srcRect l="6960" t="8610" r="7116" b="13292"/>
          <a:stretch/>
        </p:blipFill>
        <p:spPr bwMode="auto">
          <a:xfrm>
            <a:off x="4267200" y="3572022"/>
            <a:ext cx="2535401" cy="15341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1493789"/>
      </p:ext>
    </p:extLst>
  </p:cSld>
  <p:clrMapOvr>
    <a:masterClrMapping/>
  </p:clrMapOvr>
  <p:transition>
    <p:pull dir="d"/>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13"/>
          <p:cNvSpPr>
            <a:spLocks noGrp="1" noChangeArrowheads="1"/>
          </p:cNvSpPr>
          <p:nvPr>
            <p:ph type="title"/>
          </p:nvPr>
        </p:nvSpPr>
        <p:spPr/>
        <p:txBody>
          <a:bodyPr>
            <a:normAutofit/>
          </a:bodyPr>
          <a:lstStyle/>
          <a:p>
            <a:pPr eaLnBrk="1" fontAlgn="auto" hangingPunct="1">
              <a:spcAft>
                <a:spcPts val="0"/>
              </a:spcAft>
              <a:defRPr/>
            </a:pPr>
            <a:r>
              <a:rPr lang="en-US"/>
              <a:t>Maslow’s Hierarchy of Needs Theory</a:t>
            </a:r>
          </a:p>
        </p:txBody>
      </p:sp>
      <p:sp>
        <p:nvSpPr>
          <p:cNvPr id="7170" name="Rectangle 6"/>
          <p:cNvSpPr>
            <a:spLocks noGrp="1" noChangeArrowheads="1"/>
          </p:cNvSpPr>
          <p:nvPr>
            <p:ph type="sldNum" sz="quarter" idx="12"/>
          </p:nvPr>
        </p:nvSpPr>
        <p:spPr/>
        <p:txBody>
          <a:bodyPr>
            <a:normAutofit fontScale="47500" lnSpcReduction="20000"/>
          </a:bodyPr>
          <a:lstStyle/>
          <a:p>
            <a:pPr>
              <a:defRPr/>
            </a:pPr>
            <a:r>
              <a:rPr lang="en-US"/>
              <a:t>6-</a:t>
            </a:r>
            <a:fld id="{92326006-757A-45AE-95A7-A96BD0081B3F}" type="slidenum">
              <a:rPr lang="en-US"/>
              <a:pPr>
                <a:defRPr/>
              </a:pPr>
              <a:t>5</a:t>
            </a:fld>
            <a:endParaRPr lang="en-US"/>
          </a:p>
        </p:txBody>
      </p:sp>
      <p:pic>
        <p:nvPicPr>
          <p:cNvPr id="37890" name="Picture 2" descr="Image result for theories of motivation"/>
          <p:cNvPicPr>
            <a:picLocks noChangeAspect="1" noChangeArrowheads="1"/>
          </p:cNvPicPr>
          <p:nvPr/>
        </p:nvPicPr>
        <p:blipFill rotWithShape="1">
          <a:blip r:embed="rId3">
            <a:extLst>
              <a:ext uri="{28A0092B-C50C-407E-A947-70E740481C1C}">
                <a14:useLocalDpi xmlns:a14="http://schemas.microsoft.com/office/drawing/2010/main" val="0"/>
              </a:ext>
            </a:extLst>
          </a:blip>
          <a:srcRect t="6151"/>
          <a:stretch/>
        </p:blipFill>
        <p:spPr bwMode="auto">
          <a:xfrm>
            <a:off x="3429000" y="1333784"/>
            <a:ext cx="5679732" cy="3752566"/>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228600" y="1292840"/>
            <a:ext cx="3886200" cy="3754874"/>
          </a:xfrm>
          <a:prstGeom prst="rect">
            <a:avLst/>
          </a:prstGeom>
          <a:noFill/>
        </p:spPr>
        <p:txBody>
          <a:bodyPr wrap="square" rtlCol="0">
            <a:spAutoFit/>
          </a:bodyPr>
          <a:lstStyle/>
          <a:p>
            <a:pPr marL="231775" indent="-231775"/>
            <a:r>
              <a:rPr lang="en-US" sz="1700" b="1" dirty="0"/>
              <a:t>5. Self-actualization: </a:t>
            </a:r>
            <a:r>
              <a:rPr lang="en-US" sz="1700" dirty="0"/>
              <a:t>Drive to become what we are capable of becoming; includes growth, achieving our potential, and self-fulfillment.</a:t>
            </a:r>
          </a:p>
          <a:p>
            <a:pPr marL="231775" indent="-231775"/>
            <a:r>
              <a:rPr lang="en-US" sz="1700" b="1" dirty="0"/>
              <a:t>4. Esteem: </a:t>
            </a:r>
            <a:r>
              <a:rPr lang="en-US" sz="1700" dirty="0"/>
              <a:t>Internal factors such as self-respect, autonomy, and achievement, and external factors such as status, recognition, and attention.</a:t>
            </a:r>
          </a:p>
          <a:p>
            <a:pPr marL="231775" indent="-231775"/>
            <a:r>
              <a:rPr lang="en-US" sz="1700" b="1" dirty="0"/>
              <a:t>3. Social: </a:t>
            </a:r>
            <a:r>
              <a:rPr lang="en-US" sz="1700" dirty="0"/>
              <a:t>Affection, belongingness, acceptance, and friendship.</a:t>
            </a:r>
          </a:p>
          <a:p>
            <a:pPr marL="231775" indent="-231775"/>
            <a:r>
              <a:rPr lang="en-US" sz="1700" b="1" dirty="0"/>
              <a:t>2. Safety: </a:t>
            </a:r>
            <a:r>
              <a:rPr lang="en-US" sz="1700" dirty="0"/>
              <a:t>Security and protection from physical and emotional harm.</a:t>
            </a:r>
          </a:p>
          <a:p>
            <a:pPr marL="231775" indent="-231775"/>
            <a:r>
              <a:rPr lang="en-US" sz="1700" b="1" dirty="0"/>
              <a:t>1. Physiological: </a:t>
            </a:r>
            <a:r>
              <a:rPr lang="en-US" sz="1700" dirty="0"/>
              <a:t>Includes hunger, thirst, shelter, and other physical needs.</a:t>
            </a:r>
          </a:p>
        </p:txBody>
      </p:sp>
    </p:spTree>
    <p:extLst>
      <p:ext uri="{BB962C8B-B14F-4D97-AF65-F5344CB8AC3E}">
        <p14:creationId xmlns:p14="http://schemas.microsoft.com/office/powerpoint/2010/main" val="3581568142"/>
      </p:ext>
    </p:extLst>
  </p:cSld>
  <p:clrMapOvr>
    <a:masterClrMapping/>
  </p:clrMapOvr>
  <p:transition>
    <p:rand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BF658B7-0048-4B5C-B9DB-F1284F9C702D}"/>
              </a:ext>
            </a:extLst>
          </p:cNvPr>
          <p:cNvSpPr>
            <a:spLocks noGrp="1"/>
          </p:cNvSpPr>
          <p:nvPr>
            <p:ph type="sldNum" sz="quarter" idx="12"/>
          </p:nvPr>
        </p:nvSpPr>
        <p:spPr/>
        <p:txBody>
          <a:bodyPr>
            <a:normAutofit lnSpcReduction="10000"/>
          </a:bodyPr>
          <a:lstStyle/>
          <a:p>
            <a:fld id="{A3F7CB7D-F184-43C7-B6FD-03D728E1BBFF}" type="slidenum">
              <a:rPr lang="en-US" smtClean="0">
                <a:solidFill>
                  <a:schemeClr val="tx2"/>
                </a:solidFill>
              </a:rPr>
              <a:pPr/>
              <a:t>6</a:t>
            </a:fld>
            <a:endParaRPr lang="en-US" dirty="0">
              <a:solidFill>
                <a:schemeClr val="tx2"/>
              </a:solidFill>
            </a:endParaRPr>
          </a:p>
        </p:txBody>
      </p:sp>
      <p:pic>
        <p:nvPicPr>
          <p:cNvPr id="6" name="Picture 5" descr="A screenshot of a cell phone&#10;&#10;Description automatically generated">
            <a:extLst>
              <a:ext uri="{FF2B5EF4-FFF2-40B4-BE49-F238E27FC236}">
                <a16:creationId xmlns:a16="http://schemas.microsoft.com/office/drawing/2014/main" id="{0EC86D07-95DD-47C0-91C9-0A4ED5B57D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25060" y="57150"/>
            <a:ext cx="5537740" cy="5143500"/>
          </a:xfrm>
          <a:prstGeom prst="rect">
            <a:avLst/>
          </a:prstGeom>
        </p:spPr>
      </p:pic>
      <p:sp>
        <p:nvSpPr>
          <p:cNvPr id="5" name="TextBox 4">
            <a:extLst>
              <a:ext uri="{FF2B5EF4-FFF2-40B4-BE49-F238E27FC236}">
                <a16:creationId xmlns:a16="http://schemas.microsoft.com/office/drawing/2014/main" id="{A5C1FF67-DF39-40ED-BB91-AB00B761CDE0}"/>
              </a:ext>
            </a:extLst>
          </p:cNvPr>
          <p:cNvSpPr txBox="1"/>
          <p:nvPr/>
        </p:nvSpPr>
        <p:spPr>
          <a:xfrm rot="16200000">
            <a:off x="-1770967" y="2248584"/>
            <a:ext cx="5029201" cy="646331"/>
          </a:xfrm>
          <a:prstGeom prst="rect">
            <a:avLst/>
          </a:prstGeom>
          <a:noFill/>
        </p:spPr>
        <p:txBody>
          <a:bodyPr wrap="square" rtlCol="0">
            <a:spAutoFit/>
          </a:bodyPr>
          <a:lstStyle/>
          <a:p>
            <a:pPr algn="ctr"/>
            <a:r>
              <a:rPr lang="en-US" sz="3600" dirty="0"/>
              <a:t>Newer Generation Needs</a:t>
            </a:r>
          </a:p>
        </p:txBody>
      </p:sp>
    </p:spTree>
    <p:extLst>
      <p:ext uri="{BB962C8B-B14F-4D97-AF65-F5344CB8AC3E}">
        <p14:creationId xmlns:p14="http://schemas.microsoft.com/office/powerpoint/2010/main" val="2955577860"/>
      </p:ext>
    </p:extLst>
  </p:cSld>
  <p:clrMapOvr>
    <a:masterClrMapping/>
  </p:clrMapOvr>
  <p:transition>
    <p:pull dir="d"/>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en-US" altLang="en-US" dirty="0"/>
              <a:t>Douglas McGregor’s X &amp; Y</a:t>
            </a:r>
          </a:p>
        </p:txBody>
      </p:sp>
      <p:sp>
        <p:nvSpPr>
          <p:cNvPr id="8194" name="Rectangle 6"/>
          <p:cNvSpPr>
            <a:spLocks noGrp="1" noChangeArrowheads="1"/>
          </p:cNvSpPr>
          <p:nvPr>
            <p:ph type="sldNum" sz="quarter" idx="12"/>
          </p:nvPr>
        </p:nvSpPr>
        <p:spPr>
          <a:prstGeom prst="rect">
            <a:avLst/>
          </a:prstGeom>
        </p:spPr>
        <p:txBody>
          <a:bodyPr>
            <a:normAutofit fontScale="47500" lnSpcReduction="20000"/>
          </a:bodyPr>
          <a:lstStyle/>
          <a:p>
            <a:pPr>
              <a:defRPr/>
            </a:pPr>
            <a:r>
              <a:rPr lang="en-US"/>
              <a:t>6-</a:t>
            </a:r>
            <a:fld id="{23901B12-17ED-4721-BA37-5BC1B16129B8}" type="slidenum">
              <a:rPr lang="en-US"/>
              <a:pPr>
                <a:defRPr/>
              </a:pPr>
              <a:t>7</a:t>
            </a:fld>
            <a:endParaRPr lang="en-US"/>
          </a:p>
        </p:txBody>
      </p:sp>
      <p:sp>
        <p:nvSpPr>
          <p:cNvPr id="14348" name="AutoShape 12"/>
          <p:cNvSpPr>
            <a:spLocks noChangeArrowheads="1"/>
          </p:cNvSpPr>
          <p:nvPr/>
        </p:nvSpPr>
        <p:spPr bwMode="auto">
          <a:xfrm>
            <a:off x="625475" y="1352550"/>
            <a:ext cx="3886200" cy="3208782"/>
          </a:xfrm>
          <a:prstGeom prst="rightArrowCallout">
            <a:avLst>
              <a:gd name="adj1" fmla="val 31181"/>
              <a:gd name="adj2" fmla="val 28286"/>
              <a:gd name="adj3" fmla="val 14676"/>
              <a:gd name="adj4" fmla="val 80662"/>
            </a:avLst>
          </a:prstGeom>
          <a:solidFill>
            <a:schemeClr val="bg1">
              <a:lumMod val="95000"/>
            </a:schemeClr>
          </a:solidFill>
          <a:ln w="12700" cap="sq">
            <a:solidFill>
              <a:schemeClr val="tx1"/>
            </a:solidFill>
            <a:miter lim="800000"/>
            <a:headEnd type="none" w="sm" len="sm"/>
            <a:tailEnd type="none" w="sm" len="sm"/>
          </a:ln>
          <a:effectLst/>
        </p:spPr>
        <p:txBody>
          <a:bodyPr wrap="none" anchor="ctr"/>
          <a:lstStyle/>
          <a:p>
            <a:pPr algn="ctr" eaLnBrk="0" hangingPunct="0">
              <a:defRPr/>
            </a:pPr>
            <a:endParaRPr lang="en-US" altLang="en-US" sz="1600">
              <a:effectLst>
                <a:outerShdw blurRad="38100" dist="38100" dir="2700000" algn="tl">
                  <a:srgbClr val="FFFFFF"/>
                </a:outerShdw>
              </a:effectLst>
            </a:endParaRPr>
          </a:p>
        </p:txBody>
      </p:sp>
      <p:sp>
        <p:nvSpPr>
          <p:cNvPr id="14342" name="Text Box 13"/>
          <p:cNvSpPr txBox="1">
            <a:spLocks noChangeArrowheads="1"/>
          </p:cNvSpPr>
          <p:nvPr/>
        </p:nvSpPr>
        <p:spPr bwMode="auto">
          <a:xfrm>
            <a:off x="625475" y="1409700"/>
            <a:ext cx="3048000" cy="3151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17961" dir="2700000" algn="ctr" rotWithShape="0">
                    <a:srgbClr val="000066"/>
                  </a:outerShdw>
                </a:effectLst>
              </a14:hiddenEffects>
            </a:ext>
          </a:extLst>
        </p:spPr>
        <p:txBody>
          <a:bodyPr wrap="square">
            <a:spAutoFit/>
          </a:bodyPr>
          <a:lstStyle>
            <a:lvl1pPr marL="173038" indent="-173038">
              <a:defRPr sz="2900">
                <a:solidFill>
                  <a:schemeClr val="tx1"/>
                </a:solidFill>
                <a:latin typeface="Tw Cen MT" pitchFamily="34" charset="0"/>
              </a:defRPr>
            </a:lvl1pPr>
            <a:lvl2pPr>
              <a:defRPr sz="2600">
                <a:solidFill>
                  <a:schemeClr val="tx1"/>
                </a:solidFill>
                <a:latin typeface="Tw Cen MT" pitchFamily="34" charset="0"/>
              </a:defRPr>
            </a:lvl2pPr>
            <a:lvl3pPr>
              <a:defRPr sz="2300">
                <a:solidFill>
                  <a:schemeClr val="tx1"/>
                </a:solidFill>
                <a:latin typeface="Tw Cen MT" pitchFamily="34" charset="0"/>
              </a:defRPr>
            </a:lvl3pPr>
            <a:lvl4pPr>
              <a:defRPr sz="2000">
                <a:solidFill>
                  <a:schemeClr val="tx1"/>
                </a:solidFill>
                <a:latin typeface="Tw Cen MT" pitchFamily="34" charset="0"/>
              </a:defRPr>
            </a:lvl4pPr>
            <a:lvl5pPr>
              <a:defRPr sz="2000">
                <a:solidFill>
                  <a:schemeClr val="tx1"/>
                </a:solidFill>
                <a:latin typeface="Tw Cen MT" pitchFamily="34" charset="0"/>
              </a:defRPr>
            </a:lvl5pPr>
            <a:lvl6pPr marL="2286000" eaLnBrk="0" fontAlgn="base" hangingPunct="0">
              <a:spcBef>
                <a:spcPts val="400"/>
              </a:spcBef>
              <a:spcAft>
                <a:spcPct val="0"/>
              </a:spcAft>
              <a:buClr>
                <a:srgbClr val="C4652D"/>
              </a:buClr>
              <a:buSzPct val="65000"/>
              <a:buFont typeface="Wingdings" pitchFamily="2" charset="2"/>
              <a:buChar char=""/>
              <a:defRPr sz="2000">
                <a:solidFill>
                  <a:schemeClr val="tx1"/>
                </a:solidFill>
                <a:latin typeface="Tw Cen MT" pitchFamily="34" charset="0"/>
              </a:defRPr>
            </a:lvl6pPr>
            <a:lvl7pPr marL="2743200" eaLnBrk="0" fontAlgn="base" hangingPunct="0">
              <a:spcBef>
                <a:spcPts val="400"/>
              </a:spcBef>
              <a:spcAft>
                <a:spcPct val="0"/>
              </a:spcAft>
              <a:buClr>
                <a:srgbClr val="C4652D"/>
              </a:buClr>
              <a:buSzPct val="65000"/>
              <a:buFont typeface="Wingdings" pitchFamily="2" charset="2"/>
              <a:buChar char=""/>
              <a:defRPr sz="2000">
                <a:solidFill>
                  <a:schemeClr val="tx1"/>
                </a:solidFill>
                <a:latin typeface="Tw Cen MT" pitchFamily="34" charset="0"/>
              </a:defRPr>
            </a:lvl7pPr>
            <a:lvl8pPr marL="3200400" eaLnBrk="0" fontAlgn="base" hangingPunct="0">
              <a:spcBef>
                <a:spcPts val="400"/>
              </a:spcBef>
              <a:spcAft>
                <a:spcPct val="0"/>
              </a:spcAft>
              <a:buClr>
                <a:srgbClr val="C4652D"/>
              </a:buClr>
              <a:buSzPct val="65000"/>
              <a:buFont typeface="Wingdings" pitchFamily="2" charset="2"/>
              <a:buChar char=""/>
              <a:defRPr sz="2000">
                <a:solidFill>
                  <a:schemeClr val="tx1"/>
                </a:solidFill>
                <a:latin typeface="Tw Cen MT" pitchFamily="34" charset="0"/>
              </a:defRPr>
            </a:lvl8pPr>
            <a:lvl9pPr marL="3657600" eaLnBrk="0" fontAlgn="base" hangingPunct="0">
              <a:spcBef>
                <a:spcPts val="400"/>
              </a:spcBef>
              <a:spcAft>
                <a:spcPct val="0"/>
              </a:spcAft>
              <a:buClr>
                <a:srgbClr val="C4652D"/>
              </a:buClr>
              <a:buSzPct val="65000"/>
              <a:buFont typeface="Wingdings" pitchFamily="2" charset="2"/>
              <a:buChar char=""/>
              <a:defRPr sz="2000">
                <a:solidFill>
                  <a:schemeClr val="tx1"/>
                </a:solidFill>
                <a:latin typeface="Tw Cen MT" pitchFamily="34" charset="0"/>
              </a:defRPr>
            </a:lvl9pPr>
          </a:lstStyle>
          <a:p>
            <a:pPr algn="ctr" eaLnBrk="0" hangingPunct="0">
              <a:spcBef>
                <a:spcPct val="50000"/>
              </a:spcBef>
            </a:pPr>
            <a:r>
              <a:rPr lang="en-US" altLang="en-US" sz="1800" b="1" dirty="0">
                <a:latin typeface="+mn-lt"/>
              </a:rPr>
              <a:t>Theory X Workers</a:t>
            </a:r>
            <a:endParaRPr lang="en-US" altLang="en-US" sz="1800" dirty="0">
              <a:latin typeface="+mn-lt"/>
            </a:endParaRPr>
          </a:p>
          <a:p>
            <a:pPr>
              <a:lnSpc>
                <a:spcPct val="90000"/>
              </a:lnSpc>
              <a:spcBef>
                <a:spcPts val="700"/>
              </a:spcBef>
              <a:buClr>
                <a:schemeClr val="accent2"/>
              </a:buClr>
              <a:buSzPct val="60000"/>
              <a:buFont typeface="Wingdings" pitchFamily="2" charset="2"/>
              <a:buChar char=""/>
            </a:pPr>
            <a:r>
              <a:rPr lang="en-US" altLang="en-US" sz="1800" dirty="0">
                <a:latin typeface="+mn-lt"/>
              </a:rPr>
              <a:t>Inherent dislike for work and will attempt to avoid it</a:t>
            </a:r>
          </a:p>
          <a:p>
            <a:pPr>
              <a:lnSpc>
                <a:spcPct val="90000"/>
              </a:lnSpc>
              <a:spcBef>
                <a:spcPts val="700"/>
              </a:spcBef>
              <a:buClr>
                <a:schemeClr val="accent2"/>
              </a:buClr>
              <a:buSzPct val="60000"/>
              <a:buFont typeface="Wingdings" pitchFamily="2" charset="2"/>
              <a:buChar char=""/>
            </a:pPr>
            <a:r>
              <a:rPr lang="en-US" altLang="en-US" sz="1800" dirty="0">
                <a:latin typeface="+mn-lt"/>
              </a:rPr>
              <a:t>Must be coerced, controlled or threatened with punishment</a:t>
            </a:r>
          </a:p>
          <a:p>
            <a:pPr>
              <a:lnSpc>
                <a:spcPct val="90000"/>
              </a:lnSpc>
              <a:spcBef>
                <a:spcPts val="700"/>
              </a:spcBef>
              <a:buClr>
                <a:schemeClr val="accent2"/>
              </a:buClr>
              <a:buSzPct val="60000"/>
              <a:buFont typeface="Wingdings" pitchFamily="2" charset="2"/>
              <a:buChar char=""/>
            </a:pPr>
            <a:r>
              <a:rPr lang="en-US" altLang="en-US" sz="1800" dirty="0">
                <a:latin typeface="+mn-lt"/>
              </a:rPr>
              <a:t>Avoid responsibilities</a:t>
            </a:r>
          </a:p>
          <a:p>
            <a:pPr>
              <a:lnSpc>
                <a:spcPct val="90000"/>
              </a:lnSpc>
              <a:spcBef>
                <a:spcPts val="700"/>
              </a:spcBef>
              <a:buClr>
                <a:schemeClr val="accent2"/>
              </a:buClr>
              <a:buSzPct val="60000"/>
              <a:buFont typeface="Wingdings" pitchFamily="2" charset="2"/>
              <a:buChar char=""/>
            </a:pPr>
            <a:r>
              <a:rPr lang="en-US" altLang="en-US" sz="1800" dirty="0">
                <a:latin typeface="+mn-lt"/>
              </a:rPr>
              <a:t>Seek formal direction</a:t>
            </a:r>
          </a:p>
          <a:p>
            <a:pPr>
              <a:lnSpc>
                <a:spcPct val="90000"/>
              </a:lnSpc>
              <a:spcBef>
                <a:spcPts val="700"/>
              </a:spcBef>
              <a:buClr>
                <a:schemeClr val="accent2"/>
              </a:buClr>
              <a:buSzPct val="60000"/>
              <a:buFont typeface="Wingdings" pitchFamily="2" charset="2"/>
              <a:buChar char=""/>
            </a:pPr>
            <a:r>
              <a:rPr lang="en-US" altLang="en-US" sz="1800" dirty="0">
                <a:latin typeface="+mn-lt"/>
              </a:rPr>
              <a:t>Require security</a:t>
            </a:r>
          </a:p>
          <a:p>
            <a:pPr>
              <a:lnSpc>
                <a:spcPct val="90000"/>
              </a:lnSpc>
              <a:spcBef>
                <a:spcPts val="700"/>
              </a:spcBef>
              <a:buClr>
                <a:schemeClr val="accent2"/>
              </a:buClr>
              <a:buSzPct val="60000"/>
              <a:buFont typeface="Wingdings" pitchFamily="2" charset="2"/>
              <a:buChar char=""/>
            </a:pPr>
            <a:r>
              <a:rPr lang="en-US" altLang="en-US" sz="1800" dirty="0">
                <a:latin typeface="+mn-lt"/>
              </a:rPr>
              <a:t>Little ambition</a:t>
            </a:r>
          </a:p>
        </p:txBody>
      </p:sp>
      <p:sp>
        <p:nvSpPr>
          <p:cNvPr id="14350" name="AutoShape 14"/>
          <p:cNvSpPr>
            <a:spLocks noChangeArrowheads="1"/>
          </p:cNvSpPr>
          <p:nvPr/>
        </p:nvSpPr>
        <p:spPr bwMode="auto">
          <a:xfrm flipH="1">
            <a:off x="4648200" y="1409700"/>
            <a:ext cx="3886200" cy="3151632"/>
          </a:xfrm>
          <a:prstGeom prst="rightArrowCallout">
            <a:avLst>
              <a:gd name="adj1" fmla="val 30033"/>
              <a:gd name="adj2" fmla="val 27245"/>
              <a:gd name="adj3" fmla="val 14676"/>
              <a:gd name="adj4" fmla="val 80662"/>
            </a:avLst>
          </a:prstGeom>
          <a:solidFill>
            <a:schemeClr val="bg1">
              <a:lumMod val="95000"/>
            </a:schemeClr>
          </a:solidFill>
          <a:ln w="12700" cap="sq">
            <a:solidFill>
              <a:schemeClr val="tx1"/>
            </a:solidFill>
            <a:miter lim="800000"/>
            <a:headEnd type="none" w="sm" len="sm"/>
            <a:tailEnd type="none" w="sm" len="sm"/>
          </a:ln>
          <a:effectLst/>
        </p:spPr>
        <p:txBody>
          <a:bodyPr wrap="none" anchor="ctr"/>
          <a:lstStyle/>
          <a:p>
            <a:pPr algn="ctr" eaLnBrk="0" hangingPunct="0">
              <a:defRPr/>
            </a:pPr>
            <a:endParaRPr lang="en-US" altLang="en-US" sz="1600">
              <a:effectLst>
                <a:outerShdw blurRad="38100" dist="38100" dir="2700000" algn="tl">
                  <a:srgbClr val="FFFFFF"/>
                </a:outerShdw>
              </a:effectLst>
            </a:endParaRPr>
          </a:p>
        </p:txBody>
      </p:sp>
      <p:sp>
        <p:nvSpPr>
          <p:cNvPr id="14344" name="Text Box 15"/>
          <p:cNvSpPr txBox="1">
            <a:spLocks noChangeArrowheads="1"/>
          </p:cNvSpPr>
          <p:nvPr/>
        </p:nvSpPr>
        <p:spPr bwMode="auto">
          <a:xfrm>
            <a:off x="5483225" y="1510902"/>
            <a:ext cx="2895600" cy="2812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defRPr sz="2900">
                <a:solidFill>
                  <a:schemeClr val="tx1"/>
                </a:solidFill>
                <a:latin typeface="Tw Cen MT" pitchFamily="34" charset="0"/>
              </a:defRPr>
            </a:lvl1pPr>
            <a:lvl2pPr>
              <a:defRPr sz="2600">
                <a:solidFill>
                  <a:schemeClr val="tx1"/>
                </a:solidFill>
                <a:latin typeface="Tw Cen MT" pitchFamily="34" charset="0"/>
              </a:defRPr>
            </a:lvl2pPr>
            <a:lvl3pPr>
              <a:defRPr sz="2300">
                <a:solidFill>
                  <a:schemeClr val="tx1"/>
                </a:solidFill>
                <a:latin typeface="Tw Cen MT" pitchFamily="34" charset="0"/>
              </a:defRPr>
            </a:lvl3pPr>
            <a:lvl4pPr>
              <a:defRPr sz="2000">
                <a:solidFill>
                  <a:schemeClr val="tx1"/>
                </a:solidFill>
                <a:latin typeface="Tw Cen MT" pitchFamily="34" charset="0"/>
              </a:defRPr>
            </a:lvl4pPr>
            <a:lvl5pPr>
              <a:defRPr sz="2000">
                <a:solidFill>
                  <a:schemeClr val="tx1"/>
                </a:solidFill>
                <a:latin typeface="Tw Cen MT" pitchFamily="34" charset="0"/>
              </a:defRPr>
            </a:lvl5pPr>
            <a:lvl6pPr marL="2286000" eaLnBrk="0" fontAlgn="base" hangingPunct="0">
              <a:spcBef>
                <a:spcPts val="400"/>
              </a:spcBef>
              <a:spcAft>
                <a:spcPct val="0"/>
              </a:spcAft>
              <a:buClr>
                <a:srgbClr val="C4652D"/>
              </a:buClr>
              <a:buSzPct val="65000"/>
              <a:buFont typeface="Wingdings" pitchFamily="2" charset="2"/>
              <a:buChar char=""/>
              <a:defRPr sz="2000">
                <a:solidFill>
                  <a:schemeClr val="tx1"/>
                </a:solidFill>
                <a:latin typeface="Tw Cen MT" pitchFamily="34" charset="0"/>
              </a:defRPr>
            </a:lvl6pPr>
            <a:lvl7pPr marL="2743200" eaLnBrk="0" fontAlgn="base" hangingPunct="0">
              <a:spcBef>
                <a:spcPts val="400"/>
              </a:spcBef>
              <a:spcAft>
                <a:spcPct val="0"/>
              </a:spcAft>
              <a:buClr>
                <a:srgbClr val="C4652D"/>
              </a:buClr>
              <a:buSzPct val="65000"/>
              <a:buFont typeface="Wingdings" pitchFamily="2" charset="2"/>
              <a:buChar char=""/>
              <a:defRPr sz="2000">
                <a:solidFill>
                  <a:schemeClr val="tx1"/>
                </a:solidFill>
                <a:latin typeface="Tw Cen MT" pitchFamily="34" charset="0"/>
              </a:defRPr>
            </a:lvl7pPr>
            <a:lvl8pPr marL="3200400" eaLnBrk="0" fontAlgn="base" hangingPunct="0">
              <a:spcBef>
                <a:spcPts val="400"/>
              </a:spcBef>
              <a:spcAft>
                <a:spcPct val="0"/>
              </a:spcAft>
              <a:buClr>
                <a:srgbClr val="C4652D"/>
              </a:buClr>
              <a:buSzPct val="65000"/>
              <a:buFont typeface="Wingdings" pitchFamily="2" charset="2"/>
              <a:buChar char=""/>
              <a:defRPr sz="2000">
                <a:solidFill>
                  <a:schemeClr val="tx1"/>
                </a:solidFill>
                <a:latin typeface="Tw Cen MT" pitchFamily="34" charset="0"/>
              </a:defRPr>
            </a:lvl8pPr>
            <a:lvl9pPr marL="3657600" eaLnBrk="0" fontAlgn="base" hangingPunct="0">
              <a:spcBef>
                <a:spcPts val="400"/>
              </a:spcBef>
              <a:spcAft>
                <a:spcPct val="0"/>
              </a:spcAft>
              <a:buClr>
                <a:srgbClr val="C4652D"/>
              </a:buClr>
              <a:buSzPct val="65000"/>
              <a:buFont typeface="Wingdings" pitchFamily="2" charset="2"/>
              <a:buChar char=""/>
              <a:defRPr sz="2000">
                <a:solidFill>
                  <a:schemeClr val="tx1"/>
                </a:solidFill>
                <a:latin typeface="Tw Cen MT" pitchFamily="34" charset="0"/>
              </a:defRPr>
            </a:lvl9pPr>
          </a:lstStyle>
          <a:p>
            <a:pPr eaLnBrk="0" hangingPunct="0">
              <a:spcBef>
                <a:spcPct val="50000"/>
              </a:spcBef>
            </a:pPr>
            <a:r>
              <a:rPr lang="en-US" altLang="en-US" sz="1800" b="1" dirty="0">
                <a:latin typeface="+mn-lt"/>
              </a:rPr>
              <a:t>Theory Y Workers</a:t>
            </a:r>
            <a:endParaRPr lang="en-US" altLang="en-US" sz="1800" dirty="0">
              <a:latin typeface="+mn-lt"/>
            </a:endParaRPr>
          </a:p>
          <a:p>
            <a:pPr>
              <a:lnSpc>
                <a:spcPct val="90000"/>
              </a:lnSpc>
              <a:spcBef>
                <a:spcPts val="700"/>
              </a:spcBef>
              <a:buClr>
                <a:schemeClr val="accent2"/>
              </a:buClr>
              <a:buSzPct val="60000"/>
              <a:buFont typeface="Wingdings" pitchFamily="2" charset="2"/>
              <a:buChar char=""/>
            </a:pPr>
            <a:r>
              <a:rPr lang="en-US" altLang="en-US" sz="1800" dirty="0">
                <a:latin typeface="+mn-lt"/>
              </a:rPr>
              <a:t>View work as being as natural as rest or play</a:t>
            </a:r>
          </a:p>
          <a:p>
            <a:pPr>
              <a:lnSpc>
                <a:spcPct val="90000"/>
              </a:lnSpc>
              <a:spcBef>
                <a:spcPts val="700"/>
              </a:spcBef>
              <a:buClr>
                <a:schemeClr val="accent2"/>
              </a:buClr>
              <a:buSzPct val="60000"/>
              <a:buFont typeface="Wingdings" pitchFamily="2" charset="2"/>
              <a:buChar char=""/>
            </a:pPr>
            <a:r>
              <a:rPr lang="en-US" altLang="en-US" sz="1800" dirty="0">
                <a:latin typeface="+mn-lt"/>
              </a:rPr>
              <a:t>Will exercise self-direction and self-control if committed to objectives</a:t>
            </a:r>
          </a:p>
          <a:p>
            <a:pPr>
              <a:lnSpc>
                <a:spcPct val="90000"/>
              </a:lnSpc>
              <a:spcBef>
                <a:spcPts val="700"/>
              </a:spcBef>
              <a:buClr>
                <a:schemeClr val="accent2"/>
              </a:buClr>
              <a:buSzPct val="60000"/>
              <a:buFont typeface="Wingdings" pitchFamily="2" charset="2"/>
              <a:buChar char=""/>
            </a:pPr>
            <a:r>
              <a:rPr lang="en-US" altLang="en-US" sz="1800" dirty="0">
                <a:latin typeface="+mn-lt"/>
              </a:rPr>
              <a:t>Accept responsibility</a:t>
            </a:r>
          </a:p>
          <a:p>
            <a:pPr>
              <a:lnSpc>
                <a:spcPct val="90000"/>
              </a:lnSpc>
              <a:spcBef>
                <a:spcPts val="700"/>
              </a:spcBef>
              <a:buClr>
                <a:schemeClr val="accent2"/>
              </a:buClr>
              <a:buSzPct val="60000"/>
              <a:buFont typeface="Wingdings" pitchFamily="2" charset="2"/>
              <a:buChar char=""/>
            </a:pPr>
            <a:r>
              <a:rPr lang="en-US" altLang="en-US" sz="1800" dirty="0">
                <a:latin typeface="+mn-lt"/>
              </a:rPr>
              <a:t>Seek responsibility</a:t>
            </a:r>
          </a:p>
          <a:p>
            <a:pPr>
              <a:lnSpc>
                <a:spcPct val="90000"/>
              </a:lnSpc>
              <a:spcBef>
                <a:spcPts val="700"/>
              </a:spcBef>
              <a:buClr>
                <a:schemeClr val="accent2"/>
              </a:buClr>
              <a:buSzPct val="60000"/>
              <a:buFont typeface="Wingdings" pitchFamily="2" charset="2"/>
              <a:buChar char=""/>
            </a:pPr>
            <a:r>
              <a:rPr lang="en-US" altLang="en-US" sz="1800" dirty="0">
                <a:latin typeface="+mn-lt"/>
              </a:rPr>
              <a:t>Make innovative decisions</a:t>
            </a:r>
          </a:p>
        </p:txBody>
      </p:sp>
    </p:spTree>
    <p:extLst>
      <p:ext uri="{BB962C8B-B14F-4D97-AF65-F5344CB8AC3E}">
        <p14:creationId xmlns:p14="http://schemas.microsoft.com/office/powerpoint/2010/main" val="1006907089"/>
      </p:ext>
    </p:extLst>
  </p:cSld>
  <p:clrMapOvr>
    <a:masterClrMapping/>
  </p:clrMapOvr>
  <p:transition>
    <p:random/>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US" altLang="en-US" dirty="0"/>
              <a:t>Herzberg’s Two-Factor Theory</a:t>
            </a:r>
          </a:p>
        </p:txBody>
      </p:sp>
      <p:sp>
        <p:nvSpPr>
          <p:cNvPr id="9218" name="Rectangle 6"/>
          <p:cNvSpPr>
            <a:spLocks noGrp="1" noChangeArrowheads="1"/>
          </p:cNvSpPr>
          <p:nvPr>
            <p:ph type="sldNum" sz="quarter" idx="12"/>
          </p:nvPr>
        </p:nvSpPr>
        <p:spPr/>
        <p:txBody>
          <a:bodyPr>
            <a:normAutofit fontScale="47500" lnSpcReduction="20000"/>
          </a:bodyPr>
          <a:lstStyle/>
          <a:p>
            <a:pPr>
              <a:defRPr/>
            </a:pPr>
            <a:r>
              <a:rPr lang="en-US"/>
              <a:t>6-</a:t>
            </a:r>
            <a:fld id="{CA5CBA9B-AE5F-4EFE-9FB8-6625B84208CA}" type="slidenum">
              <a:rPr lang="en-US"/>
              <a:pPr>
                <a:defRPr/>
              </a:pPr>
              <a:t>8</a:t>
            </a:fld>
            <a:endParaRPr lang="en-US"/>
          </a:p>
        </p:txBody>
      </p:sp>
      <p:sp>
        <p:nvSpPr>
          <p:cNvPr id="15364" name="Slide Number Placeholder 4"/>
          <p:cNvSpPr txBox="1">
            <a:spLocks noGrp="1"/>
          </p:cNvSpPr>
          <p:nvPr/>
        </p:nvSpPr>
        <p:spPr bwMode="auto">
          <a:xfrm>
            <a:off x="7145338" y="4686300"/>
            <a:ext cx="19050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900">
                <a:solidFill>
                  <a:schemeClr val="tx1"/>
                </a:solidFill>
                <a:latin typeface="Tw Cen MT" pitchFamily="34" charset="0"/>
              </a:defRPr>
            </a:lvl1pPr>
            <a:lvl2pPr marL="742950" indent="-285750">
              <a:defRPr sz="2600">
                <a:solidFill>
                  <a:schemeClr val="tx1"/>
                </a:solidFill>
                <a:latin typeface="Tw Cen MT" pitchFamily="34" charset="0"/>
              </a:defRPr>
            </a:lvl2pPr>
            <a:lvl3pPr marL="1143000">
              <a:defRPr sz="2300">
                <a:solidFill>
                  <a:schemeClr val="tx1"/>
                </a:solidFill>
                <a:latin typeface="Tw Cen MT" pitchFamily="34" charset="0"/>
              </a:defRPr>
            </a:lvl3pPr>
            <a:lvl4pPr marL="1600200">
              <a:defRPr sz="2000">
                <a:solidFill>
                  <a:schemeClr val="tx1"/>
                </a:solidFill>
                <a:latin typeface="Tw Cen MT" pitchFamily="34" charset="0"/>
              </a:defRPr>
            </a:lvl4pPr>
            <a:lvl5pPr marL="2057400">
              <a:defRPr sz="2000">
                <a:solidFill>
                  <a:schemeClr val="tx1"/>
                </a:solidFill>
                <a:latin typeface="Tw Cen MT" pitchFamily="34" charset="0"/>
              </a:defRPr>
            </a:lvl5pPr>
            <a:lvl6pPr marL="2514600" eaLnBrk="0" fontAlgn="base" hangingPunct="0">
              <a:spcBef>
                <a:spcPts val="400"/>
              </a:spcBef>
              <a:spcAft>
                <a:spcPct val="0"/>
              </a:spcAft>
              <a:buClr>
                <a:srgbClr val="C4652D"/>
              </a:buClr>
              <a:buSzPct val="65000"/>
              <a:buFont typeface="Wingdings" pitchFamily="2" charset="2"/>
              <a:buChar char=""/>
              <a:defRPr sz="2000">
                <a:solidFill>
                  <a:schemeClr val="tx1"/>
                </a:solidFill>
                <a:latin typeface="Tw Cen MT" pitchFamily="34" charset="0"/>
              </a:defRPr>
            </a:lvl6pPr>
            <a:lvl7pPr marL="2971800" eaLnBrk="0" fontAlgn="base" hangingPunct="0">
              <a:spcBef>
                <a:spcPts val="400"/>
              </a:spcBef>
              <a:spcAft>
                <a:spcPct val="0"/>
              </a:spcAft>
              <a:buClr>
                <a:srgbClr val="C4652D"/>
              </a:buClr>
              <a:buSzPct val="65000"/>
              <a:buFont typeface="Wingdings" pitchFamily="2" charset="2"/>
              <a:buChar char=""/>
              <a:defRPr sz="2000">
                <a:solidFill>
                  <a:schemeClr val="tx1"/>
                </a:solidFill>
                <a:latin typeface="Tw Cen MT" pitchFamily="34" charset="0"/>
              </a:defRPr>
            </a:lvl7pPr>
            <a:lvl8pPr marL="3429000" eaLnBrk="0" fontAlgn="base" hangingPunct="0">
              <a:spcBef>
                <a:spcPts val="400"/>
              </a:spcBef>
              <a:spcAft>
                <a:spcPct val="0"/>
              </a:spcAft>
              <a:buClr>
                <a:srgbClr val="C4652D"/>
              </a:buClr>
              <a:buSzPct val="65000"/>
              <a:buFont typeface="Wingdings" pitchFamily="2" charset="2"/>
              <a:buChar char=""/>
              <a:defRPr sz="2000">
                <a:solidFill>
                  <a:schemeClr val="tx1"/>
                </a:solidFill>
                <a:latin typeface="Tw Cen MT" pitchFamily="34" charset="0"/>
              </a:defRPr>
            </a:lvl8pPr>
            <a:lvl9pPr marL="3886200" eaLnBrk="0" fontAlgn="base" hangingPunct="0">
              <a:spcBef>
                <a:spcPts val="400"/>
              </a:spcBef>
              <a:spcAft>
                <a:spcPct val="0"/>
              </a:spcAft>
              <a:buClr>
                <a:srgbClr val="C4652D"/>
              </a:buClr>
              <a:buSzPct val="65000"/>
              <a:buFont typeface="Wingdings" pitchFamily="2" charset="2"/>
              <a:buChar char=""/>
              <a:defRPr sz="2000">
                <a:solidFill>
                  <a:schemeClr val="tx1"/>
                </a:solidFill>
                <a:latin typeface="Tw Cen MT" pitchFamily="34" charset="0"/>
              </a:defRPr>
            </a:lvl9pPr>
          </a:lstStyle>
          <a:p>
            <a:pPr algn="r"/>
            <a:endParaRPr lang="en-US" altLang="en-US" sz="1400">
              <a:solidFill>
                <a:srgbClr val="161616"/>
              </a:solidFill>
              <a:latin typeface="Tahoma" pitchFamily="34" charset="0"/>
              <a:cs typeface="Tahoma" pitchFamily="34" charset="0"/>
            </a:endParaRPr>
          </a:p>
        </p:txBody>
      </p:sp>
      <p:grpSp>
        <p:nvGrpSpPr>
          <p:cNvPr id="15365" name="Group 26"/>
          <p:cNvGrpSpPr>
            <a:grpSpLocks/>
          </p:cNvGrpSpPr>
          <p:nvPr/>
        </p:nvGrpSpPr>
        <p:grpSpPr bwMode="auto">
          <a:xfrm>
            <a:off x="152400" y="1211818"/>
            <a:ext cx="4114800" cy="3558066"/>
            <a:chOff x="304800" y="1616042"/>
            <a:chExt cx="4114800" cy="4743500"/>
          </a:xfrm>
        </p:grpSpPr>
        <p:sp>
          <p:nvSpPr>
            <p:cNvPr id="14351" name="Text Box 15"/>
            <p:cNvSpPr txBox="1">
              <a:spLocks noChangeArrowheads="1"/>
            </p:cNvSpPr>
            <p:nvPr/>
          </p:nvSpPr>
          <p:spPr bwMode="auto">
            <a:xfrm>
              <a:off x="1066800" y="2652751"/>
              <a:ext cx="3352800" cy="2590480"/>
            </a:xfrm>
            <a:prstGeom prst="rect">
              <a:avLst/>
            </a:prstGeom>
            <a:solidFill>
              <a:schemeClr val="accent1">
                <a:lumMod val="75000"/>
              </a:schemeClr>
            </a:solidFill>
            <a:ln w="12700" cap="sq">
              <a:noFill/>
              <a:miter lim="800000"/>
              <a:headEnd type="none" w="sm" len="sm"/>
              <a:tailEnd type="none" w="sm" len="sm"/>
            </a:ln>
            <a:effectLst>
              <a:outerShdw blurRad="50800" dist="76200" dir="8100000" algn="tr" rotWithShape="0">
                <a:prstClr val="black">
                  <a:alpha val="40000"/>
                </a:prstClr>
              </a:outerShdw>
            </a:effectLst>
          </p:spPr>
          <p:txBody>
            <a:bodyPr lIns="914400"/>
            <a:lstStyle/>
            <a:p>
              <a:pPr marL="230188" indent="-230188" eaLnBrk="0" hangingPunct="0">
                <a:buFontTx/>
                <a:buChar char="•"/>
                <a:defRPr/>
              </a:pPr>
              <a:r>
                <a:rPr lang="en-US" dirty="0">
                  <a:solidFill>
                    <a:srgbClr val="FFFFCC"/>
                  </a:solidFill>
                  <a:effectLst>
                    <a:outerShdw blurRad="38100" dist="38100" dir="2700000" algn="tl">
                      <a:srgbClr val="000000"/>
                    </a:outerShdw>
                  </a:effectLst>
                  <a:cs typeface="+mn-cs"/>
                </a:rPr>
                <a:t>Quality of supervision</a:t>
              </a:r>
            </a:p>
            <a:p>
              <a:pPr marL="230188" indent="-230188" eaLnBrk="0" hangingPunct="0">
                <a:buFontTx/>
                <a:buChar char="•"/>
                <a:defRPr/>
              </a:pPr>
              <a:r>
                <a:rPr lang="en-US" dirty="0">
                  <a:solidFill>
                    <a:srgbClr val="FFFFCC"/>
                  </a:solidFill>
                  <a:effectLst>
                    <a:outerShdw blurRad="38100" dist="38100" dir="2700000" algn="tl">
                      <a:srgbClr val="000000"/>
                    </a:outerShdw>
                  </a:effectLst>
                  <a:cs typeface="+mn-cs"/>
                </a:rPr>
                <a:t>Pay</a:t>
              </a:r>
            </a:p>
            <a:p>
              <a:pPr marL="230188" indent="-230188" eaLnBrk="0" hangingPunct="0">
                <a:buFontTx/>
                <a:buChar char="•"/>
                <a:defRPr/>
              </a:pPr>
              <a:r>
                <a:rPr lang="en-US" dirty="0">
                  <a:solidFill>
                    <a:srgbClr val="FFFFCC"/>
                  </a:solidFill>
                  <a:effectLst>
                    <a:outerShdw blurRad="38100" dist="38100" dir="2700000" algn="tl">
                      <a:srgbClr val="000000"/>
                    </a:outerShdw>
                  </a:effectLst>
                  <a:cs typeface="+mn-cs"/>
                </a:rPr>
                <a:t>Company policies</a:t>
              </a:r>
            </a:p>
            <a:p>
              <a:pPr marL="230188" indent="-230188" eaLnBrk="0" hangingPunct="0">
                <a:buFontTx/>
                <a:buChar char="•"/>
                <a:defRPr/>
              </a:pPr>
              <a:r>
                <a:rPr lang="en-US" dirty="0">
                  <a:solidFill>
                    <a:srgbClr val="FFFFCC"/>
                  </a:solidFill>
                  <a:effectLst>
                    <a:outerShdw blurRad="38100" dist="38100" dir="2700000" algn="tl">
                      <a:srgbClr val="000000"/>
                    </a:outerShdw>
                  </a:effectLst>
                  <a:cs typeface="+mn-cs"/>
                </a:rPr>
                <a:t>Physical working conditions</a:t>
              </a:r>
            </a:p>
            <a:p>
              <a:pPr marL="230188" indent="-230188" eaLnBrk="0" hangingPunct="0">
                <a:buFontTx/>
                <a:buChar char="•"/>
                <a:defRPr/>
              </a:pPr>
              <a:r>
                <a:rPr lang="en-US" dirty="0">
                  <a:solidFill>
                    <a:srgbClr val="FFFFCC"/>
                  </a:solidFill>
                  <a:effectLst>
                    <a:outerShdw blurRad="38100" dist="38100" dir="2700000" algn="tl">
                      <a:srgbClr val="000000"/>
                    </a:outerShdw>
                  </a:effectLst>
                  <a:cs typeface="+mn-cs"/>
                </a:rPr>
                <a:t>Relationships</a:t>
              </a:r>
            </a:p>
            <a:p>
              <a:pPr marL="230188" indent="-230188" eaLnBrk="0" hangingPunct="0">
                <a:buFontTx/>
                <a:buChar char="•"/>
                <a:defRPr/>
              </a:pPr>
              <a:r>
                <a:rPr lang="en-US" dirty="0">
                  <a:solidFill>
                    <a:srgbClr val="FFFFCC"/>
                  </a:solidFill>
                  <a:effectLst>
                    <a:outerShdw blurRad="38100" dist="38100" dir="2700000" algn="tl">
                      <a:srgbClr val="000000"/>
                    </a:outerShdw>
                  </a:effectLst>
                  <a:cs typeface="+mn-cs"/>
                </a:rPr>
                <a:t>Job security</a:t>
              </a:r>
            </a:p>
          </p:txBody>
        </p:sp>
        <p:sp>
          <p:nvSpPr>
            <p:cNvPr id="20" name="Up-Down Arrow 19"/>
            <p:cNvSpPr/>
            <p:nvPr/>
          </p:nvSpPr>
          <p:spPr bwMode="auto">
            <a:xfrm>
              <a:off x="762000" y="1905000"/>
              <a:ext cx="1219200" cy="4038599"/>
            </a:xfrm>
            <a:prstGeom prst="upDownArrow">
              <a:avLst/>
            </a:prstGeom>
            <a:gradFill rotWithShape="0">
              <a:gsLst>
                <a:gs pos="0">
                  <a:srgbClr val="FFF200"/>
                </a:gs>
                <a:gs pos="45000">
                  <a:srgbClr val="FF7A00"/>
                </a:gs>
                <a:gs pos="70000">
                  <a:srgbClr val="FF0300"/>
                </a:gs>
                <a:gs pos="100000">
                  <a:srgbClr val="4D0808"/>
                </a:gs>
              </a:gsLst>
              <a:lin ang="5400000" scaled="0"/>
            </a:gradFill>
            <a:ln w="15875" cap="flat" cmpd="sng" algn="ctr">
              <a:solidFill>
                <a:schemeClr val="accent4">
                  <a:lumMod val="10000"/>
                </a:schemeClr>
              </a:solidFill>
              <a:prstDash val="solid"/>
              <a:round/>
              <a:headEnd type="none" w="med" len="med"/>
              <a:tailEnd type="none" w="med" len="med"/>
            </a:ln>
            <a:effectLst>
              <a:outerShdw blurRad="50800" dist="76200" dir="8100000" algn="tr" rotWithShape="0">
                <a:prstClr val="black">
                  <a:alpha val="40000"/>
                </a:prstClr>
              </a:outerShdw>
            </a:effectLst>
          </p:spPr>
          <p:txBody>
            <a:bodyPr vert="vert270" wrap="none" anchor="ctr"/>
            <a:lstStyle/>
            <a:p>
              <a:pPr algn="ctr">
                <a:defRPr/>
              </a:pPr>
              <a:r>
                <a:rPr lang="en-US" b="1" dirty="0">
                  <a:cs typeface="+mn-cs"/>
                </a:rPr>
                <a:t>Hygiene Factors</a:t>
              </a:r>
            </a:p>
          </p:txBody>
        </p:sp>
        <p:sp>
          <p:nvSpPr>
            <p:cNvPr id="22" name="TextBox 21"/>
            <p:cNvSpPr txBox="1"/>
            <p:nvPr/>
          </p:nvSpPr>
          <p:spPr>
            <a:xfrm>
              <a:off x="304800" y="5867160"/>
              <a:ext cx="2514600" cy="492382"/>
            </a:xfrm>
            <a:prstGeom prst="rect">
              <a:avLst/>
            </a:prstGeom>
            <a:noFill/>
          </p:spPr>
          <p:txBody>
            <a:bodyPr>
              <a:spAutoFit/>
            </a:bodyPr>
            <a:lstStyle/>
            <a:p>
              <a:pPr algn="ctr">
                <a:defRPr/>
              </a:pPr>
              <a:r>
                <a:rPr lang="en-US" dirty="0">
                  <a:solidFill>
                    <a:schemeClr val="accent4">
                      <a:lumMod val="10000"/>
                    </a:schemeClr>
                  </a:solidFill>
                  <a:cs typeface="+mn-cs"/>
                </a:rPr>
                <a:t>Dissatisfied</a:t>
              </a:r>
            </a:p>
          </p:txBody>
        </p:sp>
        <p:sp>
          <p:nvSpPr>
            <p:cNvPr id="23" name="TextBox 22"/>
            <p:cNvSpPr txBox="1"/>
            <p:nvPr/>
          </p:nvSpPr>
          <p:spPr>
            <a:xfrm>
              <a:off x="381000" y="1616042"/>
              <a:ext cx="2514600" cy="492382"/>
            </a:xfrm>
            <a:prstGeom prst="rect">
              <a:avLst/>
            </a:prstGeom>
            <a:noFill/>
          </p:spPr>
          <p:txBody>
            <a:bodyPr>
              <a:spAutoFit/>
            </a:bodyPr>
            <a:lstStyle/>
            <a:p>
              <a:pPr algn="ctr">
                <a:defRPr/>
              </a:pPr>
              <a:r>
                <a:rPr lang="en-US" dirty="0">
                  <a:solidFill>
                    <a:schemeClr val="accent4">
                      <a:lumMod val="10000"/>
                    </a:schemeClr>
                  </a:solidFill>
                  <a:cs typeface="+mn-cs"/>
                </a:rPr>
                <a:t>Not Dissatisfied</a:t>
              </a:r>
            </a:p>
          </p:txBody>
        </p:sp>
      </p:grpSp>
      <p:grpSp>
        <p:nvGrpSpPr>
          <p:cNvPr id="15366" name="Group 25"/>
          <p:cNvGrpSpPr>
            <a:grpSpLocks/>
          </p:cNvGrpSpPr>
          <p:nvPr/>
        </p:nvGrpSpPr>
        <p:grpSpPr bwMode="auto">
          <a:xfrm>
            <a:off x="4495800" y="1178542"/>
            <a:ext cx="4079544" cy="3591341"/>
            <a:chOff x="4724400" y="1571384"/>
            <a:chExt cx="4079544" cy="4788159"/>
          </a:xfrm>
        </p:grpSpPr>
        <p:sp>
          <p:nvSpPr>
            <p:cNvPr id="14352" name="Text Box 16"/>
            <p:cNvSpPr txBox="1">
              <a:spLocks noChangeArrowheads="1"/>
            </p:cNvSpPr>
            <p:nvPr/>
          </p:nvSpPr>
          <p:spPr bwMode="auto">
            <a:xfrm>
              <a:off x="4724400" y="2666929"/>
              <a:ext cx="3276600" cy="2590639"/>
            </a:xfrm>
            <a:prstGeom prst="rect">
              <a:avLst/>
            </a:prstGeom>
            <a:solidFill>
              <a:schemeClr val="accent1">
                <a:lumMod val="75000"/>
              </a:schemeClr>
            </a:solidFill>
            <a:ln w="12700" cap="sq">
              <a:noFill/>
              <a:miter lim="800000"/>
              <a:headEnd type="none" w="sm" len="sm"/>
              <a:tailEnd type="none" w="sm" len="sm"/>
            </a:ln>
            <a:effectLst>
              <a:outerShdw blurRad="50800" dist="76200" dir="8100000" algn="tr" rotWithShape="0">
                <a:prstClr val="black">
                  <a:alpha val="40000"/>
                </a:prstClr>
              </a:outerShdw>
            </a:effectLst>
          </p:spPr>
          <p:txBody>
            <a:bodyPr rIns="365760"/>
            <a:lstStyle/>
            <a:p>
              <a:pPr marL="230188" indent="-230188" eaLnBrk="0" hangingPunct="0">
                <a:spcAft>
                  <a:spcPts val="600"/>
                </a:spcAft>
                <a:buFontTx/>
                <a:buChar char="•"/>
                <a:defRPr/>
              </a:pPr>
              <a:r>
                <a:rPr lang="en-US" dirty="0">
                  <a:solidFill>
                    <a:srgbClr val="FFFFCC"/>
                  </a:solidFill>
                  <a:effectLst>
                    <a:outerShdw blurRad="38100" dist="38100" dir="2700000" algn="tl">
                      <a:srgbClr val="000000"/>
                    </a:outerShdw>
                  </a:effectLst>
                  <a:cs typeface="+mn-cs"/>
                </a:rPr>
                <a:t>Promotional opportunities</a:t>
              </a:r>
            </a:p>
            <a:p>
              <a:pPr marL="230188" indent="-230188" eaLnBrk="0" hangingPunct="0">
                <a:spcAft>
                  <a:spcPts val="600"/>
                </a:spcAft>
                <a:buFontTx/>
                <a:buChar char="•"/>
                <a:defRPr/>
              </a:pPr>
              <a:r>
                <a:rPr lang="en-US" dirty="0">
                  <a:solidFill>
                    <a:srgbClr val="FFFFCC"/>
                  </a:solidFill>
                  <a:effectLst>
                    <a:outerShdw blurRad="38100" dist="38100" dir="2700000" algn="tl">
                      <a:srgbClr val="000000"/>
                    </a:outerShdw>
                  </a:effectLst>
                  <a:cs typeface="+mn-cs"/>
                </a:rPr>
                <a:t>Opportunities for personal growth</a:t>
              </a:r>
            </a:p>
            <a:p>
              <a:pPr marL="230188" indent="-230188" eaLnBrk="0" hangingPunct="0">
                <a:spcAft>
                  <a:spcPts val="600"/>
                </a:spcAft>
                <a:buFontTx/>
                <a:buChar char="•"/>
                <a:defRPr/>
              </a:pPr>
              <a:r>
                <a:rPr lang="en-US" dirty="0">
                  <a:solidFill>
                    <a:srgbClr val="FFFFCC"/>
                  </a:solidFill>
                  <a:effectLst>
                    <a:outerShdw blurRad="38100" dist="38100" dir="2700000" algn="tl">
                      <a:srgbClr val="000000"/>
                    </a:outerShdw>
                  </a:effectLst>
                  <a:cs typeface="+mn-cs"/>
                </a:rPr>
                <a:t>Recognition</a:t>
              </a:r>
            </a:p>
            <a:p>
              <a:pPr marL="230188" indent="-230188" eaLnBrk="0" hangingPunct="0">
                <a:spcAft>
                  <a:spcPts val="600"/>
                </a:spcAft>
                <a:buFontTx/>
                <a:buChar char="•"/>
                <a:defRPr/>
              </a:pPr>
              <a:r>
                <a:rPr lang="en-US" dirty="0">
                  <a:solidFill>
                    <a:srgbClr val="FFFFCC"/>
                  </a:solidFill>
                  <a:effectLst>
                    <a:outerShdw blurRad="38100" dist="38100" dir="2700000" algn="tl">
                      <a:srgbClr val="000000"/>
                    </a:outerShdw>
                  </a:effectLst>
                  <a:cs typeface="+mn-cs"/>
                </a:rPr>
                <a:t>Responsibility</a:t>
              </a:r>
            </a:p>
            <a:p>
              <a:pPr marL="230188" indent="-230188" eaLnBrk="0" hangingPunct="0">
                <a:spcAft>
                  <a:spcPts val="600"/>
                </a:spcAft>
                <a:buFontTx/>
                <a:buChar char="•"/>
                <a:defRPr/>
              </a:pPr>
              <a:r>
                <a:rPr lang="en-US" dirty="0">
                  <a:solidFill>
                    <a:srgbClr val="FFFFCC"/>
                  </a:solidFill>
                  <a:effectLst>
                    <a:outerShdw blurRad="38100" dist="38100" dir="2700000" algn="tl">
                      <a:srgbClr val="000000"/>
                    </a:outerShdw>
                  </a:effectLst>
                  <a:cs typeface="+mn-cs"/>
                </a:rPr>
                <a:t>Achievement</a:t>
              </a:r>
              <a:endParaRPr lang="en-US" dirty="0">
                <a:effectLst>
                  <a:outerShdw blurRad="38100" dist="38100" dir="2700000" algn="tl">
                    <a:srgbClr val="000000"/>
                  </a:outerShdw>
                </a:effectLst>
                <a:cs typeface="+mn-cs"/>
              </a:endParaRPr>
            </a:p>
          </p:txBody>
        </p:sp>
        <p:sp>
          <p:nvSpPr>
            <p:cNvPr id="21" name="Up-Down Arrow 20"/>
            <p:cNvSpPr/>
            <p:nvPr/>
          </p:nvSpPr>
          <p:spPr bwMode="auto">
            <a:xfrm>
              <a:off x="7239000" y="1904975"/>
              <a:ext cx="1219200" cy="4038351"/>
            </a:xfrm>
            <a:prstGeom prst="upDownArrow">
              <a:avLst/>
            </a:prstGeom>
            <a:gradFill rotWithShape="0">
              <a:gsLst>
                <a:gs pos="0">
                  <a:srgbClr val="FFF200"/>
                </a:gs>
                <a:gs pos="45000">
                  <a:srgbClr val="FF7A00"/>
                </a:gs>
                <a:gs pos="70000">
                  <a:srgbClr val="FF0300"/>
                </a:gs>
                <a:gs pos="100000">
                  <a:srgbClr val="4D0808"/>
                </a:gs>
              </a:gsLst>
              <a:lin ang="5400000" scaled="0"/>
            </a:gradFill>
            <a:ln w="15875" cap="flat" cmpd="sng" algn="ctr">
              <a:solidFill>
                <a:schemeClr val="accent4">
                  <a:lumMod val="10000"/>
                </a:schemeClr>
              </a:solidFill>
              <a:prstDash val="solid"/>
              <a:round/>
              <a:headEnd type="none" w="med" len="med"/>
              <a:tailEnd type="none" w="med" len="med"/>
            </a:ln>
            <a:effectLst>
              <a:outerShdw blurRad="50800" dist="76200" dir="8100000" algn="tr" rotWithShape="0">
                <a:prstClr val="black">
                  <a:alpha val="40000"/>
                </a:prstClr>
              </a:outerShdw>
            </a:effectLst>
          </p:spPr>
          <p:txBody>
            <a:bodyPr vert="vert" wrap="none" anchor="ctr"/>
            <a:lstStyle/>
            <a:p>
              <a:pPr algn="ctr">
                <a:defRPr/>
              </a:pPr>
              <a:r>
                <a:rPr lang="en-US" b="1" dirty="0">
                  <a:cs typeface="+mn-cs"/>
                </a:rPr>
                <a:t>Motivation Factors</a:t>
              </a:r>
            </a:p>
          </p:txBody>
        </p:sp>
        <p:sp>
          <p:nvSpPr>
            <p:cNvPr id="24" name="TextBox 23"/>
            <p:cNvSpPr txBox="1"/>
            <p:nvPr/>
          </p:nvSpPr>
          <p:spPr>
            <a:xfrm>
              <a:off x="6289344" y="1571384"/>
              <a:ext cx="2514600" cy="492412"/>
            </a:xfrm>
            <a:prstGeom prst="rect">
              <a:avLst/>
            </a:prstGeom>
            <a:noFill/>
          </p:spPr>
          <p:txBody>
            <a:bodyPr>
              <a:spAutoFit/>
            </a:bodyPr>
            <a:lstStyle/>
            <a:p>
              <a:pPr algn="ctr">
                <a:defRPr/>
              </a:pPr>
              <a:r>
                <a:rPr lang="en-US" dirty="0">
                  <a:solidFill>
                    <a:schemeClr val="accent4">
                      <a:lumMod val="10000"/>
                    </a:schemeClr>
                  </a:solidFill>
                  <a:cs typeface="+mn-cs"/>
                </a:rPr>
                <a:t>Satisfied</a:t>
              </a:r>
            </a:p>
          </p:txBody>
        </p:sp>
        <p:sp>
          <p:nvSpPr>
            <p:cNvPr id="25" name="TextBox 24"/>
            <p:cNvSpPr txBox="1"/>
            <p:nvPr/>
          </p:nvSpPr>
          <p:spPr>
            <a:xfrm>
              <a:off x="6400800" y="5867131"/>
              <a:ext cx="2362200" cy="492412"/>
            </a:xfrm>
            <a:prstGeom prst="rect">
              <a:avLst/>
            </a:prstGeom>
            <a:noFill/>
          </p:spPr>
          <p:txBody>
            <a:bodyPr>
              <a:spAutoFit/>
            </a:bodyPr>
            <a:lstStyle/>
            <a:p>
              <a:pPr algn="ctr">
                <a:defRPr/>
              </a:pPr>
              <a:r>
                <a:rPr lang="en-US" dirty="0">
                  <a:solidFill>
                    <a:schemeClr val="accent4">
                      <a:lumMod val="10000"/>
                    </a:schemeClr>
                  </a:solidFill>
                  <a:cs typeface="+mn-cs"/>
                </a:rPr>
                <a:t>Not Satisfied</a:t>
              </a:r>
            </a:p>
          </p:txBody>
        </p:sp>
      </p:grpSp>
    </p:spTree>
    <p:extLst>
      <p:ext uri="{BB962C8B-B14F-4D97-AF65-F5344CB8AC3E}">
        <p14:creationId xmlns:p14="http://schemas.microsoft.com/office/powerpoint/2010/main" val="2755249116"/>
      </p:ext>
    </p:extLst>
  </p:cSld>
  <p:clrMapOvr>
    <a:masterClrMapping/>
  </p:clrMapOvr>
  <p:transition>
    <p:random/>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2" descr="Image result for McClellandâs Theory of Needs (Three Needs Theor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19800" y="1303646"/>
            <a:ext cx="3075296" cy="2263418"/>
          </a:xfrm>
          <a:prstGeom prst="rect">
            <a:avLst/>
          </a:prstGeom>
          <a:noFill/>
          <a:extLst>
            <a:ext uri="{909E8E84-426E-40DD-AFC4-6F175D3DCCD1}">
              <a14:hiddenFill xmlns:a14="http://schemas.microsoft.com/office/drawing/2010/main">
                <a:solidFill>
                  <a:srgbClr val="FFFFFF"/>
                </a:solidFill>
              </a14:hiddenFill>
            </a:ext>
          </a:extLst>
        </p:spPr>
      </p:pic>
      <p:sp>
        <p:nvSpPr>
          <p:cNvPr id="16386" name="Rectangle 4"/>
          <p:cNvSpPr>
            <a:spLocks noGrp="1" noChangeArrowheads="1"/>
          </p:cNvSpPr>
          <p:nvPr>
            <p:ph type="title"/>
          </p:nvPr>
        </p:nvSpPr>
        <p:spPr/>
        <p:txBody>
          <a:bodyPr/>
          <a:lstStyle/>
          <a:p>
            <a:pPr eaLnBrk="1" hangingPunct="1"/>
            <a:r>
              <a:rPr lang="en-US" altLang="en-US" dirty="0"/>
              <a:t>McClelland's Theory of Needs </a:t>
            </a:r>
          </a:p>
        </p:txBody>
      </p:sp>
      <p:sp>
        <p:nvSpPr>
          <p:cNvPr id="10242" name="Rectangle 6"/>
          <p:cNvSpPr>
            <a:spLocks noGrp="1" noChangeArrowheads="1"/>
          </p:cNvSpPr>
          <p:nvPr>
            <p:ph type="sldNum" sz="quarter" idx="12"/>
          </p:nvPr>
        </p:nvSpPr>
        <p:spPr/>
        <p:txBody>
          <a:bodyPr>
            <a:normAutofit fontScale="47500" lnSpcReduction="20000"/>
          </a:bodyPr>
          <a:lstStyle/>
          <a:p>
            <a:pPr>
              <a:defRPr/>
            </a:pPr>
            <a:r>
              <a:rPr lang="en-US"/>
              <a:t>6-</a:t>
            </a:r>
            <a:fld id="{6E8ACB9B-FE85-4EB7-AD51-74E807B6B9F3}" type="slidenum">
              <a:rPr lang="en-US"/>
              <a:pPr>
                <a:defRPr/>
              </a:pPr>
              <a:t>9</a:t>
            </a:fld>
            <a:endParaRPr lang="en-US"/>
          </a:p>
        </p:txBody>
      </p:sp>
      <p:sp>
        <p:nvSpPr>
          <p:cNvPr id="16389" name="Rectangle 5"/>
          <p:cNvSpPr>
            <a:spLocks noGrp="1" noChangeArrowheads="1"/>
          </p:cNvSpPr>
          <p:nvPr>
            <p:ph sz="quarter" idx="13"/>
          </p:nvPr>
        </p:nvSpPr>
        <p:spPr/>
        <p:txBody>
          <a:bodyPr>
            <a:normAutofit/>
          </a:bodyPr>
          <a:lstStyle/>
          <a:p>
            <a:pPr marL="320040" indent="-320040" eaLnBrk="1" fontAlgn="auto" hangingPunct="1">
              <a:spcAft>
                <a:spcPts val="0"/>
              </a:spcAft>
              <a:buFont typeface="Wingdings"/>
              <a:buChar char=""/>
              <a:defRPr/>
            </a:pPr>
            <a:r>
              <a:rPr lang="en-US" sz="2400" b="1" dirty="0"/>
              <a:t>Need for Achievement </a:t>
            </a:r>
            <a:r>
              <a:rPr lang="en-US" sz="2400" dirty="0"/>
              <a:t>(nAch) </a:t>
            </a:r>
          </a:p>
          <a:p>
            <a:pPr marL="640080" lvl="1" indent="-274320" eaLnBrk="1" fontAlgn="auto" hangingPunct="1">
              <a:spcAft>
                <a:spcPts val="0"/>
              </a:spcAft>
              <a:buFont typeface="Wingdings" pitchFamily="2" charset="2"/>
              <a:buNone/>
              <a:defRPr/>
            </a:pPr>
            <a:r>
              <a:rPr lang="en-US" sz="2000" dirty="0"/>
              <a:t>The drive to excel </a:t>
            </a:r>
          </a:p>
          <a:p>
            <a:pPr marL="320040" indent="-320040" eaLnBrk="1" fontAlgn="auto" hangingPunct="1">
              <a:spcAft>
                <a:spcPts val="0"/>
              </a:spcAft>
              <a:buFont typeface="Wingdings"/>
              <a:buChar char=""/>
              <a:defRPr/>
            </a:pPr>
            <a:r>
              <a:rPr lang="en-US" sz="2400" b="1" dirty="0"/>
              <a:t>Need for Power </a:t>
            </a:r>
            <a:r>
              <a:rPr lang="en-US" sz="2400" dirty="0"/>
              <a:t>(nPow) </a:t>
            </a:r>
          </a:p>
          <a:p>
            <a:pPr marL="457200" lvl="1" indent="0" eaLnBrk="1" fontAlgn="auto" hangingPunct="1">
              <a:spcAft>
                <a:spcPts val="0"/>
              </a:spcAft>
              <a:buFont typeface="Wingdings" pitchFamily="2" charset="2"/>
              <a:buNone/>
              <a:defRPr/>
            </a:pPr>
            <a:r>
              <a:rPr lang="en-US" sz="2000" dirty="0"/>
              <a:t>The need to make others behave in a way they </a:t>
            </a:r>
          </a:p>
          <a:p>
            <a:pPr marL="457200" lvl="1" indent="0" eaLnBrk="1" fontAlgn="auto" hangingPunct="1">
              <a:spcAft>
                <a:spcPts val="0"/>
              </a:spcAft>
              <a:buFont typeface="Wingdings" pitchFamily="2" charset="2"/>
              <a:buNone/>
              <a:defRPr/>
            </a:pPr>
            <a:r>
              <a:rPr lang="en-US" sz="2000" dirty="0"/>
              <a:t>would not have behaved otherwise</a:t>
            </a:r>
          </a:p>
          <a:p>
            <a:pPr marL="320040" indent="-320040" eaLnBrk="1" fontAlgn="auto" hangingPunct="1">
              <a:spcAft>
                <a:spcPts val="0"/>
              </a:spcAft>
              <a:buFont typeface="Wingdings"/>
              <a:buChar char=""/>
              <a:defRPr/>
            </a:pPr>
            <a:r>
              <a:rPr lang="en-US" sz="2400" b="1" dirty="0"/>
              <a:t>Need for Affiliation </a:t>
            </a:r>
            <a:r>
              <a:rPr lang="en-US" sz="2400" dirty="0"/>
              <a:t>(nAff) </a:t>
            </a:r>
          </a:p>
          <a:p>
            <a:pPr marL="457200" lvl="1" indent="0" eaLnBrk="1" fontAlgn="auto" hangingPunct="1">
              <a:spcAft>
                <a:spcPts val="0"/>
              </a:spcAft>
              <a:buFont typeface="Wingdings" pitchFamily="2" charset="2"/>
              <a:buNone/>
              <a:defRPr/>
            </a:pPr>
            <a:r>
              <a:rPr lang="en-US" sz="2000" dirty="0"/>
              <a:t>The desire for friendly and close interpersonal relationships </a:t>
            </a:r>
          </a:p>
        </p:txBody>
      </p:sp>
    </p:spTree>
    <p:extLst>
      <p:ext uri="{BB962C8B-B14F-4D97-AF65-F5344CB8AC3E}">
        <p14:creationId xmlns:p14="http://schemas.microsoft.com/office/powerpoint/2010/main" val="262557718"/>
      </p:ext>
    </p:extLst>
  </p:cSld>
  <p:clrMapOvr>
    <a:masterClrMapping/>
  </p:clrMapOvr>
  <p:transition>
    <p:random/>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Title 1"/>
          <p:cNvSpPr>
            <a:spLocks noGrp="1"/>
          </p:cNvSpPr>
          <p:nvPr>
            <p:ph type="title"/>
          </p:nvPr>
        </p:nvSpPr>
        <p:spPr/>
        <p:txBody>
          <a:bodyPr>
            <a:normAutofit/>
          </a:bodyPr>
          <a:lstStyle/>
          <a:p>
            <a:pPr eaLnBrk="1" fontAlgn="auto" hangingPunct="1">
              <a:spcAft>
                <a:spcPts val="0"/>
              </a:spcAft>
              <a:defRPr/>
            </a:pPr>
            <a:r>
              <a:rPr lang="en-US" dirty="0"/>
              <a:t>Contemporary Theories of Motivation</a:t>
            </a:r>
          </a:p>
        </p:txBody>
      </p:sp>
      <p:sp>
        <p:nvSpPr>
          <p:cNvPr id="12290" name="Rectangle 6"/>
          <p:cNvSpPr>
            <a:spLocks noGrp="1" noChangeArrowheads="1"/>
          </p:cNvSpPr>
          <p:nvPr>
            <p:ph type="sldNum" sz="quarter" idx="12"/>
          </p:nvPr>
        </p:nvSpPr>
        <p:spPr/>
        <p:txBody>
          <a:bodyPr>
            <a:normAutofit fontScale="47500" lnSpcReduction="20000"/>
          </a:bodyPr>
          <a:lstStyle/>
          <a:p>
            <a:pPr>
              <a:defRPr/>
            </a:pPr>
            <a:r>
              <a:rPr lang="en-US"/>
              <a:t>6-</a:t>
            </a:r>
            <a:fld id="{C373D9A8-42DF-460C-8B8F-70D2C05E834C}" type="slidenum">
              <a:rPr lang="en-US"/>
              <a:pPr>
                <a:defRPr/>
              </a:pPr>
              <a:t>10</a:t>
            </a:fld>
            <a:endParaRPr lang="en-US"/>
          </a:p>
        </p:txBody>
      </p:sp>
      <p:sp>
        <p:nvSpPr>
          <p:cNvPr id="12292" name="Content Placeholder 2"/>
          <p:cNvSpPr>
            <a:spLocks noGrp="1"/>
          </p:cNvSpPr>
          <p:nvPr>
            <p:ph sz="quarter" idx="13"/>
          </p:nvPr>
        </p:nvSpPr>
        <p:spPr/>
        <p:txBody>
          <a:bodyPr>
            <a:normAutofit fontScale="85000" lnSpcReduction="20000"/>
          </a:bodyPr>
          <a:lstStyle/>
          <a:p>
            <a:pPr marL="320040" indent="-320040" eaLnBrk="1" fontAlgn="auto" hangingPunct="1">
              <a:spcAft>
                <a:spcPts val="1200"/>
              </a:spcAft>
              <a:buFont typeface="Wingdings"/>
              <a:buChar char=""/>
              <a:defRPr/>
            </a:pPr>
            <a:r>
              <a:rPr lang="en-US" dirty="0"/>
              <a:t>Self-Determination Theory</a:t>
            </a:r>
          </a:p>
          <a:p>
            <a:pPr marL="320040" indent="-320040" eaLnBrk="1" fontAlgn="auto" hangingPunct="1">
              <a:spcAft>
                <a:spcPts val="1200"/>
              </a:spcAft>
              <a:buFont typeface="Wingdings"/>
              <a:buChar char=""/>
              <a:defRPr/>
            </a:pPr>
            <a:r>
              <a:rPr lang="en-US" dirty="0"/>
              <a:t>Goal-Setting Theory</a:t>
            </a:r>
          </a:p>
          <a:p>
            <a:pPr marL="640080" lvl="1" indent="-274320" eaLnBrk="1" fontAlgn="auto" hangingPunct="1">
              <a:spcAft>
                <a:spcPts val="1200"/>
              </a:spcAft>
              <a:buFont typeface="Wingdings 2"/>
              <a:buChar char=""/>
              <a:defRPr/>
            </a:pPr>
            <a:r>
              <a:rPr lang="en-US" dirty="0"/>
              <a:t>Management by Objectives</a:t>
            </a:r>
          </a:p>
          <a:p>
            <a:pPr marL="320040" indent="-320040" eaLnBrk="1" fontAlgn="auto" hangingPunct="1">
              <a:spcAft>
                <a:spcPts val="1200"/>
              </a:spcAft>
              <a:buFont typeface="Wingdings"/>
              <a:buChar char=""/>
              <a:defRPr/>
            </a:pPr>
            <a:r>
              <a:rPr lang="en-US" dirty="0"/>
              <a:t>Self-Efficacy Theory</a:t>
            </a:r>
          </a:p>
          <a:p>
            <a:pPr marL="320040" indent="-320040" eaLnBrk="1" fontAlgn="auto" hangingPunct="1">
              <a:spcAft>
                <a:spcPts val="1200"/>
              </a:spcAft>
              <a:buFont typeface="Wingdings"/>
              <a:buChar char=""/>
              <a:defRPr/>
            </a:pPr>
            <a:r>
              <a:rPr lang="en-US" dirty="0"/>
              <a:t>Equity Theory</a:t>
            </a:r>
          </a:p>
          <a:p>
            <a:pPr marL="320040" indent="-320040" eaLnBrk="1" fontAlgn="auto" hangingPunct="1">
              <a:spcAft>
                <a:spcPts val="1200"/>
              </a:spcAft>
              <a:buFont typeface="Wingdings"/>
              <a:buChar char=""/>
              <a:defRPr/>
            </a:pPr>
            <a:r>
              <a:rPr lang="en-US" dirty="0"/>
              <a:t>Expectancy Theory</a:t>
            </a:r>
          </a:p>
        </p:txBody>
      </p:sp>
      <p:pic>
        <p:nvPicPr>
          <p:cNvPr id="62469" name="Picture 5" descr="C:\Users\Bob Stretch\AppData\Local\Microsoft\Windows\Temporary Internet Files\Content.IE5\K0JS0KIR\MPPH01959J0000[1].jpg"/>
          <p:cNvPicPr>
            <a:picLocks noChangeAspect="1" noChangeArrowheads="1"/>
          </p:cNvPicPr>
          <p:nvPr/>
        </p:nvPicPr>
        <p:blipFill>
          <a:blip r:embed="rId3"/>
          <a:srcRect l="31125" r="28173"/>
          <a:stretch>
            <a:fillRect/>
          </a:stretch>
        </p:blipFill>
        <p:spPr bwMode="auto">
          <a:xfrm>
            <a:off x="6820456" y="1338902"/>
            <a:ext cx="2239384" cy="3137848"/>
          </a:xfrm>
          <a:prstGeom prst="rect">
            <a:avLst/>
          </a:prstGeom>
          <a:noFill/>
          <a:ln w="15875">
            <a:solidFill>
              <a:schemeClr val="accent4">
                <a:lumMod val="10000"/>
              </a:schemeClr>
            </a:solidFill>
          </a:ln>
          <a:effectLst>
            <a:outerShdw blurRad="50800" dist="76200" dir="8100000" algn="tr" rotWithShape="0">
              <a:prstClr val="black">
                <a:alpha val="40000"/>
              </a:prstClr>
            </a:outerShdw>
          </a:effectLst>
        </p:spPr>
      </p:pic>
    </p:spTree>
    <p:extLst>
      <p:ext uri="{BB962C8B-B14F-4D97-AF65-F5344CB8AC3E}">
        <p14:creationId xmlns:p14="http://schemas.microsoft.com/office/powerpoint/2010/main" val="2123688471"/>
      </p:ext>
    </p:extLst>
  </p:cSld>
  <p:clrMapOvr>
    <a:masterClrMapping/>
  </p:clrMapOvr>
  <p:transition>
    <p:pull dir="d"/>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en-US" altLang="en-US" dirty="0"/>
              <a:t>Self-Determination Theory</a:t>
            </a:r>
          </a:p>
        </p:txBody>
      </p:sp>
      <p:sp>
        <p:nvSpPr>
          <p:cNvPr id="13314" name="Rectangle 6"/>
          <p:cNvSpPr>
            <a:spLocks noGrp="1" noChangeArrowheads="1"/>
          </p:cNvSpPr>
          <p:nvPr>
            <p:ph type="sldNum" sz="quarter" idx="12"/>
          </p:nvPr>
        </p:nvSpPr>
        <p:spPr/>
        <p:txBody>
          <a:bodyPr>
            <a:normAutofit fontScale="47500" lnSpcReduction="20000"/>
          </a:bodyPr>
          <a:lstStyle/>
          <a:p>
            <a:pPr>
              <a:defRPr/>
            </a:pPr>
            <a:r>
              <a:rPr lang="en-US"/>
              <a:t>6-</a:t>
            </a:r>
            <a:fld id="{F1E64A1C-3AB4-493B-98EB-0AF7A6E5886C}" type="slidenum">
              <a:rPr lang="en-US"/>
              <a:pPr>
                <a:defRPr/>
              </a:pPr>
              <a:t>11</a:t>
            </a:fld>
            <a:endParaRPr lang="en-US"/>
          </a:p>
        </p:txBody>
      </p:sp>
      <p:sp>
        <p:nvSpPr>
          <p:cNvPr id="13316" name="Rectangle 3"/>
          <p:cNvSpPr>
            <a:spLocks noGrp="1" noChangeArrowheads="1"/>
          </p:cNvSpPr>
          <p:nvPr>
            <p:ph sz="quarter" idx="13"/>
          </p:nvPr>
        </p:nvSpPr>
        <p:spPr>
          <a:xfrm>
            <a:off x="152400" y="1276350"/>
            <a:ext cx="4953000" cy="3276600"/>
          </a:xfrm>
        </p:spPr>
        <p:txBody>
          <a:bodyPr>
            <a:noAutofit/>
          </a:bodyPr>
          <a:lstStyle/>
          <a:p>
            <a:pPr marL="320040" indent="-320040" eaLnBrk="1" fontAlgn="auto" hangingPunct="1">
              <a:lnSpc>
                <a:spcPct val="120000"/>
              </a:lnSpc>
              <a:spcBef>
                <a:spcPts val="600"/>
              </a:spcBef>
              <a:buFont typeface="Wingdings"/>
              <a:buChar char=""/>
              <a:defRPr/>
            </a:pPr>
            <a:r>
              <a:rPr lang="en-US" sz="1800" dirty="0"/>
              <a:t>People prefer to have control over their actions so when they feel they are forced to do something they previously enjoyed motivation will decrease</a:t>
            </a:r>
          </a:p>
          <a:p>
            <a:pPr marL="320040" indent="-320040" eaLnBrk="1" fontAlgn="auto" hangingPunct="1">
              <a:lnSpc>
                <a:spcPct val="120000"/>
              </a:lnSpc>
              <a:spcBef>
                <a:spcPts val="600"/>
              </a:spcBef>
              <a:buFont typeface="Wingdings"/>
              <a:buChar char=""/>
              <a:defRPr/>
            </a:pPr>
            <a:r>
              <a:rPr lang="en-US" sz="1800" dirty="0"/>
              <a:t>One example is the Cognitive Evaluation Theory proposes that the introduction of extrinsic rewards for work (pay) that was previously intrinsically rewarding tends to decrease overall motivation. </a:t>
            </a:r>
          </a:p>
          <a:p>
            <a:pPr marL="640080" lvl="1" indent="-274320" eaLnBrk="1" fontAlgn="auto" hangingPunct="1">
              <a:lnSpc>
                <a:spcPct val="120000"/>
              </a:lnSpc>
              <a:spcBef>
                <a:spcPts val="600"/>
              </a:spcBef>
              <a:buFont typeface="Wingdings 2"/>
              <a:buChar char=""/>
              <a:defRPr/>
            </a:pPr>
            <a:r>
              <a:rPr lang="en-US" sz="1600" dirty="0"/>
              <a:t>Verbal rewards increase intrinsic motivation, while tangible rewards undermine it</a:t>
            </a:r>
          </a:p>
        </p:txBody>
      </p:sp>
      <p:pic>
        <p:nvPicPr>
          <p:cNvPr id="25602" name="Picture 2" descr="Image result for Self-Determination Theor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91471" y="1371600"/>
            <a:ext cx="4552529" cy="3028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9382982"/>
      </p:ext>
    </p:extLst>
  </p:cSld>
  <p:clrMapOvr>
    <a:masterClrMapping/>
  </p:clrMapOvr>
  <p:transition>
    <p:pull dir="d"/>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title"/>
          </p:nvPr>
        </p:nvSpPr>
        <p:spPr/>
        <p:txBody>
          <a:bodyPr/>
          <a:lstStyle/>
          <a:p>
            <a:pPr eaLnBrk="1" hangingPunct="1"/>
            <a:r>
              <a:rPr lang="en-US" altLang="en-US"/>
              <a:t>Goal-Setting Theory</a:t>
            </a:r>
          </a:p>
        </p:txBody>
      </p:sp>
      <p:sp>
        <p:nvSpPr>
          <p:cNvPr id="14338" name="Rectangle 6"/>
          <p:cNvSpPr>
            <a:spLocks noGrp="1" noChangeArrowheads="1"/>
          </p:cNvSpPr>
          <p:nvPr>
            <p:ph type="sldNum" sz="quarter" idx="12"/>
          </p:nvPr>
        </p:nvSpPr>
        <p:spPr/>
        <p:txBody>
          <a:bodyPr>
            <a:normAutofit fontScale="47500" lnSpcReduction="20000"/>
          </a:bodyPr>
          <a:lstStyle/>
          <a:p>
            <a:pPr>
              <a:defRPr/>
            </a:pPr>
            <a:r>
              <a:rPr lang="en-US"/>
              <a:t>6-</a:t>
            </a:r>
            <a:fld id="{8874AC0B-3698-413A-AC34-980C5ADFB565}" type="slidenum">
              <a:rPr lang="en-US"/>
              <a:pPr>
                <a:defRPr/>
              </a:pPr>
              <a:t>12</a:t>
            </a:fld>
            <a:endParaRPr lang="en-US"/>
          </a:p>
        </p:txBody>
      </p:sp>
      <p:sp>
        <p:nvSpPr>
          <p:cNvPr id="18440" name="Rectangle 8"/>
          <p:cNvSpPr>
            <a:spLocks noGrp="1" noChangeArrowheads="1"/>
          </p:cNvSpPr>
          <p:nvPr>
            <p:ph sz="quarter" idx="13"/>
          </p:nvPr>
        </p:nvSpPr>
        <p:spPr>
          <a:xfrm>
            <a:off x="609600" y="1352550"/>
            <a:ext cx="6705600" cy="3276600"/>
          </a:xfrm>
        </p:spPr>
        <p:txBody>
          <a:bodyPr>
            <a:noAutofit/>
          </a:bodyPr>
          <a:lstStyle/>
          <a:p>
            <a:pPr marL="320040" indent="-320040" eaLnBrk="1" fontAlgn="auto" hangingPunct="1">
              <a:lnSpc>
                <a:spcPct val="90000"/>
              </a:lnSpc>
              <a:spcAft>
                <a:spcPts val="0"/>
              </a:spcAft>
              <a:buFont typeface="Wingdings"/>
              <a:buChar char=""/>
              <a:defRPr/>
            </a:pPr>
            <a:r>
              <a:rPr lang="en-US" sz="2400" dirty="0"/>
              <a:t>Goals increase performance when the goals are:</a:t>
            </a:r>
          </a:p>
          <a:p>
            <a:pPr marL="914400" lvl="1" indent="-450850" eaLnBrk="1" fontAlgn="auto" hangingPunct="1">
              <a:lnSpc>
                <a:spcPct val="90000"/>
              </a:lnSpc>
              <a:spcAft>
                <a:spcPts val="600"/>
              </a:spcAft>
              <a:buFont typeface="Wingdings 2"/>
              <a:buChar char=""/>
              <a:defRPr/>
            </a:pPr>
            <a:r>
              <a:rPr lang="en-US" sz="2000" dirty="0"/>
              <a:t>Specific</a:t>
            </a:r>
          </a:p>
          <a:p>
            <a:pPr marL="914400" lvl="1" indent="-450850" eaLnBrk="1" fontAlgn="auto" hangingPunct="1">
              <a:lnSpc>
                <a:spcPct val="90000"/>
              </a:lnSpc>
              <a:spcAft>
                <a:spcPts val="600"/>
              </a:spcAft>
              <a:buFont typeface="Wingdings 2"/>
              <a:buChar char=""/>
              <a:defRPr/>
            </a:pPr>
            <a:r>
              <a:rPr lang="en-US" sz="2000" dirty="0"/>
              <a:t>Difficult, but accepted by employees</a:t>
            </a:r>
          </a:p>
          <a:p>
            <a:pPr marL="914400" lvl="1" indent="-450850" eaLnBrk="1" fontAlgn="auto" hangingPunct="1">
              <a:lnSpc>
                <a:spcPct val="90000"/>
              </a:lnSpc>
              <a:spcAft>
                <a:spcPts val="600"/>
              </a:spcAft>
              <a:buFont typeface="Wingdings 2"/>
              <a:buChar char=""/>
              <a:defRPr/>
            </a:pPr>
            <a:r>
              <a:rPr lang="en-US" sz="2000" dirty="0"/>
              <a:t>Accompanied by feedback (especially self-generated feedback)</a:t>
            </a:r>
          </a:p>
          <a:p>
            <a:pPr marL="320040" indent="-320040" eaLnBrk="1" fontAlgn="auto" hangingPunct="1">
              <a:lnSpc>
                <a:spcPct val="90000"/>
              </a:lnSpc>
              <a:spcAft>
                <a:spcPts val="0"/>
              </a:spcAft>
              <a:buFont typeface="Wingdings"/>
              <a:buChar char=""/>
              <a:defRPr/>
            </a:pPr>
            <a:r>
              <a:rPr lang="en-US" sz="2400" dirty="0"/>
              <a:t>Contingencies in goal-setting theory:</a:t>
            </a:r>
          </a:p>
          <a:p>
            <a:pPr marL="914400" lvl="1" indent="-450850" eaLnBrk="1" fontAlgn="auto" hangingPunct="1">
              <a:lnSpc>
                <a:spcPct val="90000"/>
              </a:lnSpc>
              <a:spcAft>
                <a:spcPts val="600"/>
              </a:spcAft>
              <a:buFont typeface="Wingdings 2"/>
              <a:buChar char=""/>
              <a:defRPr/>
            </a:pPr>
            <a:r>
              <a:rPr lang="en-US" sz="2000" dirty="0"/>
              <a:t>Goal Commitment – public goals better!</a:t>
            </a:r>
          </a:p>
          <a:p>
            <a:pPr marL="914400" lvl="1" indent="-450850" eaLnBrk="1" fontAlgn="auto" hangingPunct="1">
              <a:lnSpc>
                <a:spcPct val="90000"/>
              </a:lnSpc>
              <a:spcAft>
                <a:spcPts val="600"/>
              </a:spcAft>
              <a:buFont typeface="Wingdings 2"/>
              <a:buChar char=""/>
              <a:defRPr/>
            </a:pPr>
            <a:r>
              <a:rPr lang="en-US" sz="2000" dirty="0"/>
              <a:t>Task Characteristics – simple &amp; familiar better!</a:t>
            </a:r>
          </a:p>
          <a:p>
            <a:pPr marL="914400" lvl="1" indent="-450850" eaLnBrk="1" fontAlgn="auto" hangingPunct="1">
              <a:lnSpc>
                <a:spcPct val="90000"/>
              </a:lnSpc>
              <a:spcAft>
                <a:spcPts val="0"/>
              </a:spcAft>
              <a:buFont typeface="Wingdings 2"/>
              <a:buChar char=""/>
              <a:defRPr/>
            </a:pPr>
            <a:r>
              <a:rPr lang="en-US" sz="2000" dirty="0"/>
              <a:t>National Culture – Western culture suits best!</a:t>
            </a:r>
          </a:p>
        </p:txBody>
      </p:sp>
      <p:sp>
        <p:nvSpPr>
          <p:cNvPr id="2" name="TextBox 1">
            <a:extLst>
              <a:ext uri="{FF2B5EF4-FFF2-40B4-BE49-F238E27FC236}">
                <a16:creationId xmlns:a16="http://schemas.microsoft.com/office/drawing/2014/main" id="{8F7C8622-B9DC-4BF4-8316-B879DB4C4806}"/>
              </a:ext>
            </a:extLst>
          </p:cNvPr>
          <p:cNvSpPr txBox="1"/>
          <p:nvPr/>
        </p:nvSpPr>
        <p:spPr>
          <a:xfrm>
            <a:off x="7315200" y="1358027"/>
            <a:ext cx="1752600" cy="2308324"/>
          </a:xfrm>
          <a:prstGeom prst="rect">
            <a:avLst/>
          </a:prstGeom>
          <a:solidFill>
            <a:schemeClr val="tx2">
              <a:lumMod val="40000"/>
              <a:lumOff val="60000"/>
            </a:schemeClr>
          </a:solidFill>
          <a:ln>
            <a:solidFill>
              <a:schemeClr val="bg2">
                <a:lumMod val="75000"/>
              </a:schemeClr>
            </a:solidFill>
          </a:ln>
        </p:spPr>
        <p:txBody>
          <a:bodyPr wrap="square" rtlCol="0">
            <a:spAutoFit/>
          </a:bodyPr>
          <a:lstStyle/>
          <a:p>
            <a:pPr algn="ctr"/>
            <a:r>
              <a:rPr lang="en-US" dirty="0"/>
              <a:t>“Each one of you is physically ready. Now, get out there and do your best. No one can ever ask more of you than that.”</a:t>
            </a:r>
          </a:p>
        </p:txBody>
      </p:sp>
    </p:spTree>
    <p:extLst>
      <p:ext uri="{BB962C8B-B14F-4D97-AF65-F5344CB8AC3E}">
        <p14:creationId xmlns:p14="http://schemas.microsoft.com/office/powerpoint/2010/main" val="2260458008"/>
      </p:ext>
    </p:extLst>
  </p:cSld>
  <p:clrMapOvr>
    <a:masterClrMapping/>
  </p:clrMapOvr>
  <p:transition>
    <p:rand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US" altLang="en-US" sz="3600"/>
              <a:t>Management by Objectives (MBO)</a:t>
            </a:r>
          </a:p>
        </p:txBody>
      </p:sp>
      <p:sp>
        <p:nvSpPr>
          <p:cNvPr id="15362" name="Rectangle 6"/>
          <p:cNvSpPr>
            <a:spLocks noGrp="1" noChangeArrowheads="1"/>
          </p:cNvSpPr>
          <p:nvPr>
            <p:ph type="sldNum" sz="quarter" idx="12"/>
          </p:nvPr>
        </p:nvSpPr>
        <p:spPr/>
        <p:txBody>
          <a:bodyPr>
            <a:normAutofit fontScale="47500" lnSpcReduction="20000"/>
          </a:bodyPr>
          <a:lstStyle/>
          <a:p>
            <a:pPr>
              <a:defRPr/>
            </a:pPr>
            <a:r>
              <a:rPr lang="en-US"/>
              <a:t>6-</a:t>
            </a:r>
            <a:fld id="{14673114-593A-418E-A4C8-6A80255FB1D3}" type="slidenum">
              <a:rPr lang="en-US"/>
              <a:pPr>
                <a:defRPr/>
              </a:pPr>
              <a:t>13</a:t>
            </a:fld>
            <a:endParaRPr lang="en-US"/>
          </a:p>
        </p:txBody>
      </p:sp>
      <p:sp>
        <p:nvSpPr>
          <p:cNvPr id="15364" name="Rectangle 3"/>
          <p:cNvSpPr>
            <a:spLocks noGrp="1" noChangeArrowheads="1"/>
          </p:cNvSpPr>
          <p:nvPr>
            <p:ph sz="quarter" idx="13"/>
          </p:nvPr>
        </p:nvSpPr>
        <p:spPr/>
        <p:txBody>
          <a:bodyPr>
            <a:normAutofit/>
          </a:bodyPr>
          <a:lstStyle/>
          <a:p>
            <a:pPr marL="320040" indent="-320040" eaLnBrk="1" fontAlgn="auto" hangingPunct="1">
              <a:lnSpc>
                <a:spcPct val="90000"/>
              </a:lnSpc>
              <a:spcAft>
                <a:spcPts val="0"/>
              </a:spcAft>
              <a:buFont typeface="Wingdings"/>
              <a:buChar char=""/>
              <a:defRPr/>
            </a:pPr>
            <a:r>
              <a:rPr lang="en-US" sz="2400" dirty="0"/>
              <a:t>Converts overall organizational objectives into specific objectives for work units and individuals</a:t>
            </a:r>
          </a:p>
          <a:p>
            <a:pPr marL="320040" indent="-320040" eaLnBrk="1" fontAlgn="auto" hangingPunct="1">
              <a:lnSpc>
                <a:spcPct val="90000"/>
              </a:lnSpc>
              <a:spcBef>
                <a:spcPts val="1800"/>
              </a:spcBef>
              <a:spcAft>
                <a:spcPts val="1200"/>
              </a:spcAft>
              <a:buFont typeface="Wingdings"/>
              <a:buChar char=""/>
              <a:defRPr/>
            </a:pPr>
            <a:r>
              <a:rPr lang="en-US" sz="2400" dirty="0"/>
              <a:t>Common ingredients:</a:t>
            </a:r>
          </a:p>
          <a:p>
            <a:pPr marL="640080" lvl="1" indent="-274320" eaLnBrk="1" fontAlgn="auto" hangingPunct="1">
              <a:lnSpc>
                <a:spcPct val="90000"/>
              </a:lnSpc>
              <a:spcAft>
                <a:spcPts val="0"/>
              </a:spcAft>
              <a:buFont typeface="Wingdings 2"/>
              <a:buChar char=""/>
              <a:defRPr/>
            </a:pPr>
            <a:r>
              <a:rPr lang="en-US" sz="2000" dirty="0"/>
              <a:t>Goal specificity</a:t>
            </a:r>
          </a:p>
          <a:p>
            <a:pPr marL="640080" lvl="1" indent="-274320" eaLnBrk="1" fontAlgn="auto" hangingPunct="1">
              <a:lnSpc>
                <a:spcPct val="90000"/>
              </a:lnSpc>
              <a:spcAft>
                <a:spcPts val="0"/>
              </a:spcAft>
              <a:buFont typeface="Wingdings 2"/>
              <a:buChar char=""/>
              <a:defRPr/>
            </a:pPr>
            <a:r>
              <a:rPr lang="en-US" sz="2000" dirty="0"/>
              <a:t>Explicit time period</a:t>
            </a:r>
          </a:p>
          <a:p>
            <a:pPr marL="640080" lvl="1" indent="-274320" eaLnBrk="1" fontAlgn="auto" hangingPunct="1">
              <a:lnSpc>
                <a:spcPct val="90000"/>
              </a:lnSpc>
              <a:spcAft>
                <a:spcPts val="0"/>
              </a:spcAft>
              <a:buFont typeface="Wingdings 2"/>
              <a:buChar char=""/>
              <a:defRPr/>
            </a:pPr>
            <a:r>
              <a:rPr lang="en-US" sz="2000" dirty="0"/>
              <a:t>Performance feedback</a:t>
            </a:r>
          </a:p>
          <a:p>
            <a:pPr marL="640080" lvl="1" indent="-274320" eaLnBrk="1" fontAlgn="auto" hangingPunct="1">
              <a:lnSpc>
                <a:spcPct val="90000"/>
              </a:lnSpc>
              <a:spcAft>
                <a:spcPts val="0"/>
              </a:spcAft>
              <a:buFont typeface="Wingdings 2"/>
              <a:buChar char=""/>
              <a:defRPr/>
            </a:pPr>
            <a:r>
              <a:rPr lang="en-US" sz="2000" dirty="0"/>
              <a:t>Participation in decision making</a:t>
            </a:r>
          </a:p>
        </p:txBody>
      </p:sp>
      <p:pic>
        <p:nvPicPr>
          <p:cNvPr id="21509" name="Picture 7" descr="C:\Users\Bob Stretch\AppData\Local\Microsoft\Windows\Temporary Internet Files\Content.IE5\A7X84Z83\MPj04393280000[1].jpg"/>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601522" y="1657350"/>
            <a:ext cx="3542477" cy="350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44651751"/>
      </p:ext>
    </p:extLst>
  </p:cSld>
  <p:clrMapOvr>
    <a:masterClrMapping/>
  </p:clrMapOvr>
  <p:transition>
    <p:pull dir="d"/>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4"/>
          <p:cNvSpPr>
            <a:spLocks noGrp="1" noChangeArrowheads="1"/>
          </p:cNvSpPr>
          <p:nvPr>
            <p:ph type="title"/>
          </p:nvPr>
        </p:nvSpPr>
        <p:spPr/>
        <p:txBody>
          <a:bodyPr>
            <a:normAutofit fontScale="90000"/>
          </a:bodyPr>
          <a:lstStyle/>
          <a:p>
            <a:pPr eaLnBrk="1" fontAlgn="auto" hangingPunct="1">
              <a:spcAft>
                <a:spcPts val="0"/>
              </a:spcAft>
              <a:defRPr/>
            </a:pPr>
            <a:r>
              <a:rPr lang="en-US"/>
              <a:t>Self-Efficacy or Social Learning Theory</a:t>
            </a:r>
          </a:p>
        </p:txBody>
      </p:sp>
      <p:sp>
        <p:nvSpPr>
          <p:cNvPr id="16386" name="Rectangle 6"/>
          <p:cNvSpPr>
            <a:spLocks noGrp="1" noChangeArrowheads="1"/>
          </p:cNvSpPr>
          <p:nvPr>
            <p:ph type="sldNum" sz="quarter" idx="12"/>
          </p:nvPr>
        </p:nvSpPr>
        <p:spPr/>
        <p:txBody>
          <a:bodyPr>
            <a:normAutofit fontScale="47500" lnSpcReduction="20000"/>
          </a:bodyPr>
          <a:lstStyle/>
          <a:p>
            <a:pPr>
              <a:defRPr/>
            </a:pPr>
            <a:r>
              <a:rPr lang="en-US"/>
              <a:t>6-</a:t>
            </a:r>
            <a:fld id="{E50AF8CA-888F-40AD-8572-D10A86B96A6A}" type="slidenum">
              <a:rPr lang="en-US"/>
              <a:pPr>
                <a:defRPr/>
              </a:pPr>
              <a:t>14</a:t>
            </a:fld>
            <a:endParaRPr lang="en-US"/>
          </a:p>
        </p:txBody>
      </p:sp>
      <p:sp>
        <p:nvSpPr>
          <p:cNvPr id="54277" name="Rectangle 5"/>
          <p:cNvSpPr>
            <a:spLocks noGrp="1" noChangeArrowheads="1"/>
          </p:cNvSpPr>
          <p:nvPr>
            <p:ph sz="quarter" idx="13"/>
          </p:nvPr>
        </p:nvSpPr>
        <p:spPr/>
        <p:txBody>
          <a:bodyPr>
            <a:normAutofit/>
          </a:bodyPr>
          <a:lstStyle/>
          <a:p>
            <a:pPr marL="0" indent="0" algn="ctr">
              <a:spcAft>
                <a:spcPts val="600"/>
              </a:spcAft>
              <a:buFontTx/>
              <a:buNone/>
              <a:defRPr/>
            </a:pPr>
            <a:r>
              <a:rPr lang="en-US" sz="2000" dirty="0"/>
              <a:t>Individual’s belief that he or she is capable of performing a task</a:t>
            </a:r>
          </a:p>
          <a:p>
            <a:pPr marL="320040" indent="-61913" eaLnBrk="1" fontAlgn="auto" hangingPunct="1">
              <a:spcAft>
                <a:spcPts val="0"/>
              </a:spcAft>
              <a:buFontTx/>
              <a:buNone/>
              <a:defRPr/>
            </a:pPr>
            <a:r>
              <a:rPr lang="en-US" sz="2000" dirty="0"/>
              <a:t>Self-efficacy increased by:</a:t>
            </a:r>
          </a:p>
          <a:p>
            <a:pPr marL="640080" lvl="1" indent="-274320" eaLnBrk="1" fontAlgn="auto" hangingPunct="1">
              <a:spcAft>
                <a:spcPts val="0"/>
              </a:spcAft>
              <a:buFont typeface="Wingdings 2"/>
              <a:buChar char=""/>
              <a:defRPr/>
            </a:pPr>
            <a:r>
              <a:rPr lang="en-US" sz="1800" b="1" dirty="0"/>
              <a:t>Enactive mastery </a:t>
            </a:r>
            <a:r>
              <a:rPr lang="en-US" sz="1800" dirty="0"/>
              <a:t>– gain experience</a:t>
            </a:r>
          </a:p>
          <a:p>
            <a:pPr marL="640080" lvl="1" indent="-274320" eaLnBrk="1" fontAlgn="auto" hangingPunct="1">
              <a:spcAft>
                <a:spcPts val="0"/>
              </a:spcAft>
              <a:buFont typeface="Wingdings 2"/>
              <a:buChar char=""/>
              <a:defRPr/>
            </a:pPr>
            <a:r>
              <a:rPr lang="en-US" sz="1800" b="1" dirty="0"/>
              <a:t>Vicarious modeling </a:t>
            </a:r>
            <a:r>
              <a:rPr lang="en-US" sz="1800" dirty="0"/>
              <a:t>– see someone else do the task</a:t>
            </a:r>
          </a:p>
          <a:p>
            <a:pPr marL="640080" lvl="1" indent="-274320" eaLnBrk="1" fontAlgn="auto" hangingPunct="1">
              <a:spcAft>
                <a:spcPts val="0"/>
              </a:spcAft>
              <a:buFont typeface="Wingdings 2"/>
              <a:buChar char=""/>
              <a:defRPr/>
            </a:pPr>
            <a:r>
              <a:rPr lang="en-US" sz="1800" b="1" dirty="0"/>
              <a:t>Verbal persuasion </a:t>
            </a:r>
            <a:r>
              <a:rPr lang="en-US" sz="1800" dirty="0"/>
              <a:t>– someone convinces you that you</a:t>
            </a:r>
          </a:p>
          <a:p>
            <a:pPr marL="365760" lvl="1" indent="0" eaLnBrk="1" fontAlgn="auto" hangingPunct="1">
              <a:spcAft>
                <a:spcPts val="0"/>
              </a:spcAft>
              <a:buNone/>
              <a:defRPr/>
            </a:pPr>
            <a:r>
              <a:rPr lang="en-US" sz="1800" dirty="0"/>
              <a:t>      have the skills</a:t>
            </a:r>
          </a:p>
          <a:p>
            <a:pPr marL="640080" lvl="1" indent="-274320" eaLnBrk="1" fontAlgn="auto" hangingPunct="1">
              <a:spcAft>
                <a:spcPts val="0"/>
              </a:spcAft>
              <a:buFont typeface="Wingdings 2"/>
              <a:buChar char=""/>
              <a:defRPr/>
            </a:pPr>
            <a:r>
              <a:rPr lang="en-US" sz="1800" b="1" dirty="0"/>
              <a:t>Arousal</a:t>
            </a:r>
            <a:r>
              <a:rPr lang="en-US" sz="1800" dirty="0"/>
              <a:t> – get energized</a:t>
            </a:r>
          </a:p>
        </p:txBody>
      </p:sp>
      <p:pic>
        <p:nvPicPr>
          <p:cNvPr id="54284" name="Picture 12" descr="C:\Users\Bob Stretch\AppData\Local\Microsoft\Windows\Temporary Internet Files\Content.IE5\IXMKAPG7\MPj04394420000[1].jpg"/>
          <p:cNvPicPr>
            <a:picLocks noChangeAspect="1" noChangeArrowheads="1"/>
          </p:cNvPicPr>
          <p:nvPr/>
        </p:nvPicPr>
        <p:blipFill>
          <a:blip r:embed="rId3"/>
          <a:srcRect l="17974" r="14265"/>
          <a:stretch>
            <a:fillRect/>
          </a:stretch>
        </p:blipFill>
        <p:spPr bwMode="auto">
          <a:xfrm>
            <a:off x="6417732" y="1809750"/>
            <a:ext cx="2726267" cy="3333750"/>
          </a:xfrm>
          <a:prstGeom prst="rect">
            <a:avLst/>
          </a:prstGeom>
          <a:noFill/>
          <a:ln w="15875">
            <a:solidFill>
              <a:schemeClr val="accent4">
                <a:lumMod val="10000"/>
              </a:schemeClr>
            </a:solidFill>
          </a:ln>
          <a:effectLst>
            <a:outerShdw blurRad="50800" dist="76200" dir="8100000" algn="tr" rotWithShape="0">
              <a:prstClr val="black">
                <a:alpha val="40000"/>
              </a:prstClr>
            </a:outerShdw>
          </a:effectLst>
        </p:spPr>
      </p:pic>
    </p:spTree>
    <p:extLst>
      <p:ext uri="{BB962C8B-B14F-4D97-AF65-F5344CB8AC3E}">
        <p14:creationId xmlns:p14="http://schemas.microsoft.com/office/powerpoint/2010/main" val="19140074"/>
      </p:ext>
    </p:extLst>
  </p:cSld>
  <p:clrMapOvr>
    <a:masterClrMapping/>
  </p:clrMapOvr>
  <p:transition>
    <p:pull dir="d"/>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4"/>
          <p:cNvSpPr>
            <a:spLocks noGrp="1" noChangeArrowheads="1"/>
          </p:cNvSpPr>
          <p:nvPr>
            <p:ph type="title"/>
          </p:nvPr>
        </p:nvSpPr>
        <p:spPr/>
        <p:txBody>
          <a:bodyPr/>
          <a:lstStyle/>
          <a:p>
            <a:pPr eaLnBrk="1" hangingPunct="1"/>
            <a:r>
              <a:rPr lang="en-US" altLang="en-US"/>
              <a:t>Equity Theory</a:t>
            </a:r>
          </a:p>
        </p:txBody>
      </p:sp>
      <p:sp>
        <p:nvSpPr>
          <p:cNvPr id="17410" name="Rectangle 6"/>
          <p:cNvSpPr>
            <a:spLocks noGrp="1" noChangeArrowheads="1"/>
          </p:cNvSpPr>
          <p:nvPr>
            <p:ph type="sldNum" sz="quarter" idx="12"/>
          </p:nvPr>
        </p:nvSpPr>
        <p:spPr/>
        <p:txBody>
          <a:bodyPr>
            <a:normAutofit fontScale="47500" lnSpcReduction="20000"/>
          </a:bodyPr>
          <a:lstStyle/>
          <a:p>
            <a:pPr>
              <a:defRPr/>
            </a:pPr>
            <a:r>
              <a:rPr lang="en-US"/>
              <a:t>6-</a:t>
            </a:r>
            <a:fld id="{216729D5-6FDB-4DE2-8007-76B126603CDB}" type="slidenum">
              <a:rPr lang="en-US"/>
              <a:pPr>
                <a:defRPr/>
              </a:pPr>
              <a:t>15</a:t>
            </a:fld>
            <a:endParaRPr lang="en-US"/>
          </a:p>
        </p:txBody>
      </p:sp>
      <p:sp>
        <p:nvSpPr>
          <p:cNvPr id="29701" name="Rectangle 5"/>
          <p:cNvSpPr>
            <a:spLocks noGrp="1" noChangeArrowheads="1"/>
          </p:cNvSpPr>
          <p:nvPr>
            <p:ph sz="quarter" idx="13"/>
          </p:nvPr>
        </p:nvSpPr>
        <p:spPr/>
        <p:txBody>
          <a:bodyPr>
            <a:normAutofit/>
          </a:bodyPr>
          <a:lstStyle/>
          <a:p>
            <a:pPr eaLnBrk="1" hangingPunct="1">
              <a:defRPr/>
            </a:pPr>
            <a:r>
              <a:rPr lang="en-US" altLang="en-US" sz="2000" dirty="0"/>
              <a:t>Employees weigh what they put into a job situation (input) against what they get from it (outcome).</a:t>
            </a:r>
          </a:p>
          <a:p>
            <a:pPr eaLnBrk="1" hangingPunct="1">
              <a:defRPr/>
            </a:pPr>
            <a:r>
              <a:rPr lang="en-US" altLang="en-US" sz="2000" dirty="0"/>
              <a:t>They compare their input-outcome ratio with the input-outcome ratio of relevant others.</a:t>
            </a:r>
          </a:p>
          <a:p>
            <a:pPr>
              <a:defRPr/>
            </a:pPr>
            <a:r>
              <a:rPr lang="en-US" altLang="en-US" sz="2000" dirty="0"/>
              <a:t>If they </a:t>
            </a:r>
            <a:r>
              <a:rPr lang="en-US" altLang="en-US" sz="2000" dirty="0">
                <a:effectLst>
                  <a:outerShdw blurRad="38100" dist="38100" dir="2700000" algn="tl">
                    <a:srgbClr val="C0C0C0"/>
                  </a:outerShdw>
                </a:effectLst>
              </a:rPr>
              <a:t>perceive</a:t>
            </a:r>
            <a:r>
              <a:rPr lang="en-US" altLang="en-US" sz="2000" dirty="0"/>
              <a:t> their ratio to be </a:t>
            </a:r>
            <a:r>
              <a:rPr lang="en-US" altLang="en-US" sz="2000" i="1" dirty="0"/>
              <a:t>equal</a:t>
            </a:r>
            <a:r>
              <a:rPr lang="en-US" altLang="en-US" sz="2000" dirty="0"/>
              <a:t> to that of  relevant others, a state of </a:t>
            </a:r>
            <a:r>
              <a:rPr lang="en-US" altLang="en-US" sz="2000" dirty="0">
                <a:effectLst>
                  <a:outerShdw blurRad="38100" dist="38100" dir="2700000" algn="tl">
                    <a:srgbClr val="C0C0C0"/>
                  </a:outerShdw>
                </a:effectLst>
              </a:rPr>
              <a:t>equity exists.</a:t>
            </a:r>
            <a:endParaRPr lang="en-US" altLang="en-US" sz="2000" dirty="0"/>
          </a:p>
          <a:p>
            <a:pPr>
              <a:defRPr/>
            </a:pPr>
            <a:r>
              <a:rPr lang="en-US" altLang="en-US" sz="2000" dirty="0"/>
              <a:t>If the ratios are </a:t>
            </a:r>
            <a:r>
              <a:rPr lang="en-US" altLang="en-US" sz="2000" i="1" dirty="0"/>
              <a:t>unequal</a:t>
            </a:r>
            <a:r>
              <a:rPr lang="en-US" altLang="en-US" sz="2000" dirty="0"/>
              <a:t>, </a:t>
            </a:r>
            <a:r>
              <a:rPr lang="en-US" altLang="en-US" sz="2000" dirty="0">
                <a:effectLst>
                  <a:outerShdw blurRad="38100" dist="38100" dir="2700000" algn="tl">
                    <a:srgbClr val="C0C0C0"/>
                  </a:outerShdw>
                </a:effectLst>
              </a:rPr>
              <a:t>inequity</a:t>
            </a:r>
            <a:r>
              <a:rPr lang="en-US" altLang="en-US" sz="2000" dirty="0"/>
              <a:t> exists, either under-reward or over-reward.</a:t>
            </a:r>
          </a:p>
        </p:txBody>
      </p:sp>
      <p:grpSp>
        <p:nvGrpSpPr>
          <p:cNvPr id="23557" name="Group 13"/>
          <p:cNvGrpSpPr>
            <a:grpSpLocks/>
          </p:cNvGrpSpPr>
          <p:nvPr/>
        </p:nvGrpSpPr>
        <p:grpSpPr bwMode="auto">
          <a:xfrm>
            <a:off x="2088585" y="3932932"/>
            <a:ext cx="5074215" cy="1077218"/>
            <a:chOff x="2124054" y="4876800"/>
            <a:chExt cx="5074264" cy="1435364"/>
          </a:xfrm>
        </p:grpSpPr>
        <p:sp>
          <p:nvSpPr>
            <p:cNvPr id="9" name="Equal 8"/>
            <p:cNvSpPr/>
            <p:nvPr/>
          </p:nvSpPr>
          <p:spPr bwMode="auto">
            <a:xfrm>
              <a:off x="4267221" y="5181403"/>
              <a:ext cx="533405" cy="456905"/>
            </a:xfrm>
            <a:prstGeom prst="mathEqual">
              <a:avLst/>
            </a:prstGeom>
            <a:solidFill>
              <a:srgbClr val="C00000"/>
            </a:solidFill>
            <a:ln w="9525" cap="flat" cmpd="sng" algn="ctr">
              <a:noFill/>
              <a:prstDash val="solid"/>
              <a:round/>
              <a:headEnd type="none" w="med" len="med"/>
              <a:tailEnd type="none" w="med" len="med"/>
            </a:ln>
            <a:effectLst/>
            <a:scene3d>
              <a:camera prst="orthographicFront"/>
              <a:lightRig rig="threePt" dir="t"/>
            </a:scene3d>
            <a:sp3d extrusionH="76200" contourW="12700">
              <a:extrusionClr>
                <a:schemeClr val="accent1">
                  <a:lumMod val="75000"/>
                </a:schemeClr>
              </a:extrusionClr>
              <a:contourClr>
                <a:schemeClr val="accent1">
                  <a:lumMod val="50000"/>
                </a:schemeClr>
              </a:contourClr>
            </a:sp3d>
          </p:spPr>
          <p:txBody>
            <a:bodyPr wrap="none" anchor="ctr"/>
            <a:lstStyle/>
            <a:p>
              <a:pPr algn="ctr">
                <a:defRPr/>
              </a:pPr>
              <a:endParaRPr lang="en-US">
                <a:cs typeface="+mn-cs"/>
              </a:endParaRPr>
            </a:p>
          </p:txBody>
        </p:sp>
        <p:sp>
          <p:nvSpPr>
            <p:cNvPr id="12" name="TextBox 11"/>
            <p:cNvSpPr txBox="1"/>
            <p:nvPr/>
          </p:nvSpPr>
          <p:spPr>
            <a:xfrm>
              <a:off x="5063610" y="4876800"/>
              <a:ext cx="2134708" cy="1435364"/>
            </a:xfrm>
            <a:prstGeom prst="rect">
              <a:avLst/>
            </a:prstGeom>
            <a:noFill/>
            <a:scene3d>
              <a:camera prst="orthographicFront"/>
              <a:lightRig rig="threePt" dir="t"/>
            </a:scene3d>
            <a:sp3d extrusionH="76200" contourW="12700">
              <a:extrusionClr>
                <a:schemeClr val="accent1">
                  <a:lumMod val="75000"/>
                </a:schemeClr>
              </a:extrusionClr>
              <a:contourClr>
                <a:schemeClr val="accent1">
                  <a:lumMod val="50000"/>
                </a:schemeClr>
              </a:contourClr>
            </a:sp3d>
          </p:spPr>
          <p:txBody>
            <a:bodyPr wrap="none">
              <a:spAutoFit/>
            </a:bodyPr>
            <a:lstStyle/>
            <a:p>
              <a:pPr algn="ctr">
                <a:defRPr/>
              </a:pPr>
              <a:r>
                <a:rPr lang="en-US" sz="3200" u="sng" dirty="0">
                  <a:solidFill>
                    <a:schemeClr val="accent1">
                      <a:lumMod val="50000"/>
                    </a:schemeClr>
                  </a:solidFill>
                  <a:effectLst>
                    <a:outerShdw blurRad="38100" dist="38100" dir="2700000" algn="tl">
                      <a:srgbClr val="000000">
                        <a:alpha val="43137"/>
                      </a:srgbClr>
                    </a:outerShdw>
                  </a:effectLst>
                  <a:cs typeface="+mn-cs"/>
                </a:rPr>
                <a:t>Your Output</a:t>
              </a:r>
            </a:p>
            <a:p>
              <a:pPr algn="ctr">
                <a:defRPr/>
              </a:pPr>
              <a:r>
                <a:rPr lang="en-US" sz="3200" dirty="0">
                  <a:solidFill>
                    <a:schemeClr val="accent1">
                      <a:lumMod val="50000"/>
                    </a:schemeClr>
                  </a:solidFill>
                  <a:effectLst>
                    <a:outerShdw blurRad="38100" dist="38100" dir="2700000" algn="tl">
                      <a:srgbClr val="000000">
                        <a:alpha val="43137"/>
                      </a:srgbClr>
                    </a:outerShdw>
                  </a:effectLst>
                  <a:cs typeface="+mn-cs"/>
                </a:rPr>
                <a:t>Your Input</a:t>
              </a:r>
            </a:p>
          </p:txBody>
        </p:sp>
        <p:sp>
          <p:nvSpPr>
            <p:cNvPr id="13" name="TextBox 12"/>
            <p:cNvSpPr txBox="1"/>
            <p:nvPr/>
          </p:nvSpPr>
          <p:spPr>
            <a:xfrm>
              <a:off x="2124054" y="4876800"/>
              <a:ext cx="1941576" cy="1435364"/>
            </a:xfrm>
            <a:prstGeom prst="rect">
              <a:avLst/>
            </a:prstGeom>
            <a:noFill/>
            <a:scene3d>
              <a:camera prst="orthographicFront"/>
              <a:lightRig rig="threePt" dir="t"/>
            </a:scene3d>
            <a:sp3d extrusionH="76200" contourW="12700">
              <a:extrusionClr>
                <a:schemeClr val="accent1">
                  <a:lumMod val="75000"/>
                </a:schemeClr>
              </a:extrusionClr>
              <a:contourClr>
                <a:schemeClr val="accent1">
                  <a:lumMod val="50000"/>
                </a:schemeClr>
              </a:contourClr>
            </a:sp3d>
          </p:spPr>
          <p:txBody>
            <a:bodyPr wrap="none">
              <a:spAutoFit/>
            </a:bodyPr>
            <a:lstStyle/>
            <a:p>
              <a:pPr algn="ctr">
                <a:defRPr/>
              </a:pPr>
              <a:r>
                <a:rPr lang="en-US" sz="3200" u="sng" dirty="0">
                  <a:solidFill>
                    <a:schemeClr val="accent2">
                      <a:lumMod val="50000"/>
                    </a:schemeClr>
                  </a:solidFill>
                  <a:effectLst>
                    <a:outerShdw blurRad="38100" dist="38100" dir="2700000" algn="tl">
                      <a:srgbClr val="000000">
                        <a:alpha val="43137"/>
                      </a:srgbClr>
                    </a:outerShdw>
                  </a:effectLst>
                  <a:cs typeface="+mn-cs"/>
                </a:rPr>
                <a:t>My Output</a:t>
              </a:r>
            </a:p>
            <a:p>
              <a:pPr algn="ctr">
                <a:defRPr/>
              </a:pPr>
              <a:r>
                <a:rPr lang="en-US" sz="3200" dirty="0">
                  <a:solidFill>
                    <a:schemeClr val="accent2">
                      <a:lumMod val="50000"/>
                    </a:schemeClr>
                  </a:solidFill>
                  <a:effectLst>
                    <a:outerShdw blurRad="38100" dist="38100" dir="2700000" algn="tl">
                      <a:srgbClr val="000000">
                        <a:alpha val="43137"/>
                      </a:srgbClr>
                    </a:outerShdw>
                  </a:effectLst>
                  <a:cs typeface="+mn-cs"/>
                </a:rPr>
                <a:t>My Input</a:t>
              </a:r>
            </a:p>
          </p:txBody>
        </p:sp>
      </p:grpSp>
    </p:spTree>
    <p:extLst>
      <p:ext uri="{BB962C8B-B14F-4D97-AF65-F5344CB8AC3E}">
        <p14:creationId xmlns:p14="http://schemas.microsoft.com/office/powerpoint/2010/main" val="1498104408"/>
      </p:ext>
    </p:extLst>
  </p:cSld>
  <p:clrMapOvr>
    <a:masterClrMapping/>
  </p:clrMapOvr>
  <p:transition>
    <p:rand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3"/>
          </p:nvPr>
        </p:nvSpPr>
        <p:spPr/>
        <p:txBody>
          <a:bodyPr>
            <a:normAutofit fontScale="85000" lnSpcReduction="20000"/>
          </a:bodyPr>
          <a:lstStyle/>
          <a:p>
            <a:pPr>
              <a:buFont typeface="Wingdings" pitchFamily="2" charset="2"/>
              <a:buChar char=""/>
              <a:defRPr/>
            </a:pPr>
            <a:r>
              <a:rPr lang="en-US" altLang="en-US" sz="2800" dirty="0">
                <a:latin typeface="Tw Cen MT" pitchFamily="34" charset="0"/>
              </a:rPr>
              <a:t> When </a:t>
            </a:r>
            <a:r>
              <a:rPr lang="en-US" altLang="en-US" sz="2800" dirty="0">
                <a:effectLst>
                  <a:outerShdw blurRad="38100" dist="38100" dir="2700000" algn="tl">
                    <a:srgbClr val="C0C0C0"/>
                  </a:outerShdw>
                </a:effectLst>
                <a:latin typeface="Tw Cen MT" pitchFamily="34" charset="0"/>
              </a:rPr>
              <a:t>inequities</a:t>
            </a:r>
            <a:r>
              <a:rPr lang="en-US" altLang="en-US" sz="2800" dirty="0">
                <a:latin typeface="Tw Cen MT" pitchFamily="34" charset="0"/>
              </a:rPr>
              <a:t> occur, employees will attempt to </a:t>
            </a:r>
            <a:r>
              <a:rPr lang="en-US" altLang="en-US" sz="2800" dirty="0">
                <a:effectLst>
                  <a:outerShdw blurRad="38100" dist="38100" dir="2700000" algn="tl">
                    <a:srgbClr val="C0C0C0"/>
                  </a:outerShdw>
                </a:effectLst>
                <a:latin typeface="Tw Cen MT" pitchFamily="34" charset="0"/>
              </a:rPr>
              <a:t>correct</a:t>
            </a:r>
            <a:r>
              <a:rPr lang="en-US" altLang="en-US" sz="2800" dirty="0">
                <a:latin typeface="Tw Cen MT" pitchFamily="34" charset="0"/>
              </a:rPr>
              <a:t> them.</a:t>
            </a:r>
          </a:p>
          <a:p>
            <a:pPr>
              <a:buFont typeface="Wingdings" pitchFamily="2" charset="2"/>
              <a:buChar char=""/>
              <a:defRPr/>
            </a:pPr>
            <a:r>
              <a:rPr lang="en-US" altLang="en-US" sz="2800" dirty="0">
                <a:latin typeface="Tw Cen MT" pitchFamily="34" charset="0"/>
              </a:rPr>
              <a:t> When employees envision an inequity, they may make one or more of six choices:</a:t>
            </a:r>
          </a:p>
          <a:p>
            <a:pPr lvl="2">
              <a:defRPr/>
            </a:pPr>
            <a:r>
              <a:rPr lang="en-US" altLang="en-US" sz="2800" dirty="0">
                <a:latin typeface="Tw Cen MT" pitchFamily="34" charset="0"/>
              </a:rPr>
              <a:t>1-Change their inputs</a:t>
            </a:r>
          </a:p>
          <a:p>
            <a:pPr lvl="2">
              <a:defRPr/>
            </a:pPr>
            <a:r>
              <a:rPr lang="en-US" altLang="en-US" sz="2800" dirty="0">
                <a:latin typeface="Tw Cen MT" pitchFamily="34" charset="0"/>
              </a:rPr>
              <a:t>2-Change their outcomes</a:t>
            </a:r>
          </a:p>
          <a:p>
            <a:pPr lvl="2">
              <a:defRPr/>
            </a:pPr>
            <a:r>
              <a:rPr lang="en-US" altLang="en-US" sz="2800" dirty="0">
                <a:latin typeface="Tw Cen MT" pitchFamily="34" charset="0"/>
              </a:rPr>
              <a:t>3-Distort perceptions of self</a:t>
            </a:r>
          </a:p>
          <a:p>
            <a:pPr lvl="2">
              <a:defRPr/>
            </a:pPr>
            <a:r>
              <a:rPr lang="en-US" altLang="en-US" sz="2800" dirty="0">
                <a:latin typeface="Tw Cen MT" pitchFamily="34" charset="0"/>
              </a:rPr>
              <a:t>4-Distort perceptions of others</a:t>
            </a:r>
          </a:p>
          <a:p>
            <a:pPr lvl="2">
              <a:defRPr/>
            </a:pPr>
            <a:r>
              <a:rPr lang="en-US" altLang="en-US" sz="2800" dirty="0">
                <a:latin typeface="Tw Cen MT" pitchFamily="34" charset="0"/>
              </a:rPr>
              <a:t>5-Choose a different referent.</a:t>
            </a:r>
          </a:p>
          <a:p>
            <a:pPr lvl="2">
              <a:defRPr/>
            </a:pPr>
            <a:r>
              <a:rPr lang="en-US" altLang="en-US" sz="2800" dirty="0">
                <a:latin typeface="Tw Cen MT" pitchFamily="34" charset="0"/>
              </a:rPr>
              <a:t>6-Quit the job.</a:t>
            </a:r>
          </a:p>
        </p:txBody>
      </p:sp>
      <p:sp>
        <p:nvSpPr>
          <p:cNvPr id="19458" name="Rectangle 6"/>
          <p:cNvSpPr txBox="1">
            <a:spLocks noGrp="1" noChangeArrowheads="1"/>
          </p:cNvSpPr>
          <p:nvPr/>
        </p:nvSpPr>
        <p:spPr>
          <a:xfrm>
            <a:off x="0" y="953692"/>
            <a:ext cx="533400" cy="183356"/>
          </a:xfrm>
          <a:prstGeom prst="rect">
            <a:avLst/>
          </a:prstGeom>
          <a:noFill/>
        </p:spPr>
        <p:txBody>
          <a:bodyPr anchor="ctr">
            <a:normAutofit fontScale="47500" lnSpcReduction="20000"/>
          </a:bodyPr>
          <a:lstStyle/>
          <a:p>
            <a:pPr algn="ctr">
              <a:defRPr/>
            </a:pPr>
            <a:r>
              <a:rPr lang="en-US" sz="1400" b="1">
                <a:solidFill>
                  <a:srgbClr val="FFFFFF"/>
                </a:solidFill>
                <a:cs typeface="+mn-cs"/>
              </a:rPr>
              <a:t>6-</a:t>
            </a:r>
            <a:fld id="{F2AAE2E4-E9F3-4EE8-B2C9-CEF7EF13207F}" type="slidenum">
              <a:rPr lang="en-US" sz="1400" b="1">
                <a:solidFill>
                  <a:srgbClr val="FFFFFF"/>
                </a:solidFill>
                <a:cs typeface="+mn-cs"/>
              </a:rPr>
              <a:pPr algn="ctr">
                <a:defRPr/>
              </a:pPr>
              <a:t>16</a:t>
            </a:fld>
            <a:endParaRPr lang="en-US" sz="1400" b="1">
              <a:solidFill>
                <a:srgbClr val="FFFFFF"/>
              </a:solidFill>
              <a:cs typeface="+mn-cs"/>
            </a:endParaRPr>
          </a:p>
        </p:txBody>
      </p:sp>
    </p:spTree>
    <p:extLst>
      <p:ext uri="{BB962C8B-B14F-4D97-AF65-F5344CB8AC3E}">
        <p14:creationId xmlns:p14="http://schemas.microsoft.com/office/powerpoint/2010/main" val="3188294021"/>
      </p:ext>
    </p:extLst>
  </p:cSld>
  <p:clrMapOvr>
    <a:masterClrMapping/>
  </p:clrMapOvr>
  <p:transition>
    <p:pull dir="d"/>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4"/>
          <p:cNvSpPr>
            <a:spLocks noGrp="1" noChangeArrowheads="1"/>
          </p:cNvSpPr>
          <p:nvPr>
            <p:ph type="title"/>
          </p:nvPr>
        </p:nvSpPr>
        <p:spPr/>
        <p:txBody>
          <a:bodyPr>
            <a:normAutofit fontScale="90000"/>
          </a:bodyPr>
          <a:lstStyle/>
          <a:p>
            <a:pPr eaLnBrk="1" fontAlgn="auto" hangingPunct="1">
              <a:spcAft>
                <a:spcPts val="0"/>
              </a:spcAft>
              <a:defRPr/>
            </a:pPr>
            <a:r>
              <a:rPr lang="en-US" sz="3600"/>
              <a:t>Equity Theory and Reactions to Inequitable Pay</a:t>
            </a:r>
          </a:p>
        </p:txBody>
      </p:sp>
      <p:sp>
        <p:nvSpPr>
          <p:cNvPr id="18434" name="Rectangle 6"/>
          <p:cNvSpPr>
            <a:spLocks noGrp="1" noChangeArrowheads="1"/>
          </p:cNvSpPr>
          <p:nvPr>
            <p:ph type="sldNum" sz="quarter" idx="12"/>
          </p:nvPr>
        </p:nvSpPr>
        <p:spPr/>
        <p:txBody>
          <a:bodyPr>
            <a:normAutofit fontScale="47500" lnSpcReduction="20000"/>
          </a:bodyPr>
          <a:lstStyle/>
          <a:p>
            <a:pPr>
              <a:defRPr/>
            </a:pPr>
            <a:r>
              <a:rPr lang="en-US"/>
              <a:t>6-</a:t>
            </a:r>
            <a:fld id="{7FC0E572-69BB-4B73-9CE3-B42E93A82AA5}" type="slidenum">
              <a:rPr lang="en-US"/>
              <a:pPr>
                <a:defRPr/>
              </a:pPr>
              <a:t>17</a:t>
            </a:fld>
            <a:endParaRPr lang="en-US"/>
          </a:p>
        </p:txBody>
      </p:sp>
      <p:graphicFrame>
        <p:nvGraphicFramePr>
          <p:cNvPr id="7" name="Content Placeholder 6"/>
          <p:cNvGraphicFramePr>
            <a:graphicFrameLocks noGrp="1"/>
          </p:cNvGraphicFramePr>
          <p:nvPr>
            <p:ph sz="quarter" idx="13"/>
            <p:extLst>
              <p:ext uri="{D42A27DB-BD31-4B8C-83A1-F6EECF244321}">
                <p14:modId xmlns:p14="http://schemas.microsoft.com/office/powerpoint/2010/main" val="3399478707"/>
              </p:ext>
            </p:extLst>
          </p:nvPr>
        </p:nvGraphicFramePr>
        <p:xfrm>
          <a:off x="609600" y="1733550"/>
          <a:ext cx="8153400" cy="2469356"/>
        </p:xfrm>
        <a:graphic>
          <a:graphicData uri="http://schemas.openxmlformats.org/drawingml/2006/table">
            <a:tbl>
              <a:tblPr firstRow="1" bandRow="1">
                <a:tableStyleId>{93296810-A885-4BE3-A3E7-6D5BEEA58F35}</a:tableStyleId>
              </a:tblPr>
              <a:tblGrid>
                <a:gridCol w="2717800">
                  <a:extLst>
                    <a:ext uri="{9D8B030D-6E8A-4147-A177-3AD203B41FA5}">
                      <a16:colId xmlns:a16="http://schemas.microsoft.com/office/drawing/2014/main" val="20000"/>
                    </a:ext>
                  </a:extLst>
                </a:gridCol>
                <a:gridCol w="2717800">
                  <a:extLst>
                    <a:ext uri="{9D8B030D-6E8A-4147-A177-3AD203B41FA5}">
                      <a16:colId xmlns:a16="http://schemas.microsoft.com/office/drawing/2014/main" val="20001"/>
                    </a:ext>
                  </a:extLst>
                </a:gridCol>
                <a:gridCol w="2717800">
                  <a:extLst>
                    <a:ext uri="{9D8B030D-6E8A-4147-A177-3AD203B41FA5}">
                      <a16:colId xmlns:a16="http://schemas.microsoft.com/office/drawing/2014/main" val="20002"/>
                    </a:ext>
                  </a:extLst>
                </a:gridCol>
              </a:tblGrid>
              <a:tr h="342966">
                <a:tc rowSpan="2">
                  <a:txBody>
                    <a:bodyPr/>
                    <a:lstStyle/>
                    <a:p>
                      <a:r>
                        <a:rPr lang="en-US" sz="1800" b="1" dirty="0"/>
                        <a:t>Employees</a:t>
                      </a:r>
                      <a:r>
                        <a:rPr lang="en-US" sz="1800" b="1" baseline="0" dirty="0"/>
                        <a:t> are:</a:t>
                      </a:r>
                      <a:endParaRPr lang="en-US" sz="1800" b="1" dirty="0"/>
                    </a:p>
                  </a:txBody>
                  <a:tcPr marL="95203" marR="95203" marT="34297" marB="34297" anchor="ctr" anchorCtr="1">
                    <a:lnL w="38100" cap="flat" cmpd="sng" algn="ctr">
                      <a:solidFill>
                        <a:schemeClr val="accent4">
                          <a:lumMod val="10000"/>
                        </a:schemeClr>
                      </a:solidFill>
                      <a:prstDash val="solid"/>
                      <a:round/>
                      <a:headEnd type="none" w="med" len="med"/>
                      <a:tailEnd type="none" w="med" len="med"/>
                    </a:lnL>
                    <a:lnR w="38100" cap="flat" cmpd="sng" algn="ctr">
                      <a:solidFill>
                        <a:schemeClr val="accent4">
                          <a:lumMod val="10000"/>
                        </a:schemeClr>
                      </a:solidFill>
                      <a:prstDash val="solid"/>
                      <a:round/>
                      <a:headEnd type="none" w="med" len="med"/>
                      <a:tailEnd type="none" w="med" len="med"/>
                    </a:lnR>
                    <a:lnT w="38100" cap="flat" cmpd="sng" algn="ctr">
                      <a:solidFill>
                        <a:schemeClr val="accent4">
                          <a:lumMod val="10000"/>
                        </a:schemeClr>
                      </a:solidFill>
                      <a:prstDash val="solid"/>
                      <a:round/>
                      <a:headEnd type="none" w="med" len="med"/>
                      <a:tailEnd type="none" w="med" len="med"/>
                    </a:lnT>
                    <a:lnB w="38100" cap="flat" cmpd="sng" algn="ctr">
                      <a:solidFill>
                        <a:schemeClr val="accent4">
                          <a:lumMod val="10000"/>
                        </a:schemeClr>
                      </a:solidFill>
                      <a:prstDash val="solid"/>
                      <a:round/>
                      <a:headEnd type="none" w="med" len="med"/>
                      <a:tailEnd type="none" w="med" len="med"/>
                    </a:lnB>
                  </a:tcPr>
                </a:tc>
                <a:tc gridSpan="2">
                  <a:txBody>
                    <a:bodyPr/>
                    <a:lstStyle/>
                    <a:p>
                      <a:pPr algn="ctr"/>
                      <a:r>
                        <a:rPr lang="en-US" sz="1800" b="1" dirty="0"/>
                        <a:t>Paid</a:t>
                      </a:r>
                      <a:r>
                        <a:rPr lang="en-US" sz="1800" b="1" baseline="0" dirty="0"/>
                        <a:t> by:</a:t>
                      </a:r>
                      <a:endParaRPr lang="en-US" sz="1800" b="1" dirty="0"/>
                    </a:p>
                  </a:txBody>
                  <a:tcPr marL="95203" marR="95203" marT="34297" marB="34297" anchor="ctr" anchorCtr="1">
                    <a:lnL w="38100" cap="flat" cmpd="sng" algn="ctr">
                      <a:solidFill>
                        <a:schemeClr val="accent4">
                          <a:lumMod val="10000"/>
                        </a:schemeClr>
                      </a:solidFill>
                      <a:prstDash val="solid"/>
                      <a:round/>
                      <a:headEnd type="none" w="med" len="med"/>
                      <a:tailEnd type="none" w="med" len="med"/>
                    </a:lnL>
                    <a:lnR w="38100" cap="flat" cmpd="sng" algn="ctr">
                      <a:solidFill>
                        <a:schemeClr val="accent4">
                          <a:lumMod val="10000"/>
                        </a:schemeClr>
                      </a:solidFill>
                      <a:prstDash val="solid"/>
                      <a:round/>
                      <a:headEnd type="none" w="med" len="med"/>
                      <a:tailEnd type="none" w="med" len="med"/>
                    </a:lnR>
                    <a:lnT w="38100" cap="flat" cmpd="sng" algn="ctr">
                      <a:solidFill>
                        <a:schemeClr val="accent4">
                          <a:lumMod val="10000"/>
                        </a:schemeClr>
                      </a:solidFill>
                      <a:prstDash val="solid"/>
                      <a:round/>
                      <a:headEnd type="none" w="med" len="med"/>
                      <a:tailEnd type="none" w="med" len="med"/>
                    </a:lnT>
                    <a:lnB w="38100" cap="flat" cmpd="sng" algn="ctr">
                      <a:solidFill>
                        <a:schemeClr val="accent4">
                          <a:lumMod val="10000"/>
                        </a:schemeClr>
                      </a:solidFill>
                      <a:prstDash val="solid"/>
                      <a:round/>
                      <a:headEnd type="none" w="med" len="med"/>
                      <a:tailEnd type="none" w="med" len="med"/>
                    </a:lnB>
                  </a:tcPr>
                </a:tc>
                <a:tc hMerge="1">
                  <a:txBody>
                    <a:bodyPr/>
                    <a:lstStyle/>
                    <a:p>
                      <a:endParaRPr lang="en-US" dirty="0"/>
                    </a:p>
                  </a:txBody>
                  <a:tcPr/>
                </a:tc>
                <a:extLst>
                  <a:ext uri="{0D108BD9-81ED-4DB2-BD59-A6C34878D82A}">
                    <a16:rowId xmlns:a16="http://schemas.microsoft.com/office/drawing/2014/main" val="10000"/>
                  </a:ext>
                </a:extLst>
              </a:tr>
              <a:tr h="342966">
                <a:tc vMerge="1">
                  <a:txBody>
                    <a:bodyPr/>
                    <a:lstStyle/>
                    <a:p>
                      <a:endParaRPr lang="en-US" dirty="0"/>
                    </a:p>
                  </a:txBody>
                  <a:tcPr/>
                </a:tc>
                <a:tc>
                  <a:txBody>
                    <a:bodyPr/>
                    <a:lstStyle/>
                    <a:p>
                      <a:pPr algn="ctr"/>
                      <a:r>
                        <a:rPr lang="en-US" sz="1800" b="1" dirty="0">
                          <a:solidFill>
                            <a:schemeClr val="accent4">
                              <a:lumMod val="10000"/>
                            </a:schemeClr>
                          </a:solidFill>
                        </a:rPr>
                        <a:t>Piece</a:t>
                      </a:r>
                    </a:p>
                  </a:txBody>
                  <a:tcPr marL="95203" marR="95203" marT="34297" marB="34297" anchor="ctr" anchorCtr="1">
                    <a:lnL w="38100" cap="flat" cmpd="sng" algn="ctr">
                      <a:solidFill>
                        <a:schemeClr val="accent4">
                          <a:lumMod val="10000"/>
                        </a:schemeClr>
                      </a:solidFill>
                      <a:prstDash val="solid"/>
                      <a:round/>
                      <a:headEnd type="none" w="med" len="med"/>
                      <a:tailEnd type="none" w="med" len="med"/>
                    </a:lnL>
                    <a:lnR w="38100" cap="flat" cmpd="sng" algn="ctr">
                      <a:solidFill>
                        <a:schemeClr val="accent4">
                          <a:lumMod val="10000"/>
                        </a:schemeClr>
                      </a:solidFill>
                      <a:prstDash val="solid"/>
                      <a:round/>
                      <a:headEnd type="none" w="med" len="med"/>
                      <a:tailEnd type="none" w="med" len="med"/>
                    </a:lnR>
                    <a:lnT w="38100" cap="flat" cmpd="sng" algn="ctr">
                      <a:solidFill>
                        <a:schemeClr val="accent4">
                          <a:lumMod val="10000"/>
                        </a:schemeClr>
                      </a:solidFill>
                      <a:prstDash val="solid"/>
                      <a:round/>
                      <a:headEnd type="none" w="med" len="med"/>
                      <a:tailEnd type="none" w="med" len="med"/>
                    </a:lnT>
                    <a:lnB w="38100" cap="flat" cmpd="sng" algn="ctr">
                      <a:solidFill>
                        <a:schemeClr val="accent4">
                          <a:lumMod val="10000"/>
                        </a:schemeClr>
                      </a:solidFill>
                      <a:prstDash val="solid"/>
                      <a:round/>
                      <a:headEnd type="none" w="med" len="med"/>
                      <a:tailEnd type="none" w="med" len="med"/>
                    </a:lnB>
                  </a:tcPr>
                </a:tc>
                <a:tc>
                  <a:txBody>
                    <a:bodyPr/>
                    <a:lstStyle/>
                    <a:p>
                      <a:pPr algn="ctr"/>
                      <a:r>
                        <a:rPr lang="en-US" sz="1800" b="1" dirty="0">
                          <a:solidFill>
                            <a:schemeClr val="accent4">
                              <a:lumMod val="10000"/>
                            </a:schemeClr>
                          </a:solidFill>
                        </a:rPr>
                        <a:t>Time</a:t>
                      </a:r>
                    </a:p>
                  </a:txBody>
                  <a:tcPr marL="95203" marR="95203" marT="34297" marB="34297" anchor="ctr" anchorCtr="1">
                    <a:lnL w="38100" cap="flat" cmpd="sng" algn="ctr">
                      <a:solidFill>
                        <a:schemeClr val="accent4">
                          <a:lumMod val="10000"/>
                        </a:schemeClr>
                      </a:solidFill>
                      <a:prstDash val="solid"/>
                      <a:round/>
                      <a:headEnd type="none" w="med" len="med"/>
                      <a:tailEnd type="none" w="med" len="med"/>
                    </a:lnL>
                    <a:lnR w="38100" cap="flat" cmpd="sng" algn="ctr">
                      <a:solidFill>
                        <a:schemeClr val="accent4">
                          <a:lumMod val="10000"/>
                        </a:schemeClr>
                      </a:solidFill>
                      <a:prstDash val="solid"/>
                      <a:round/>
                      <a:headEnd type="none" w="med" len="med"/>
                      <a:tailEnd type="none" w="med" len="med"/>
                    </a:lnR>
                    <a:lnT w="38100" cap="flat" cmpd="sng" algn="ctr">
                      <a:solidFill>
                        <a:schemeClr val="accent4">
                          <a:lumMod val="10000"/>
                        </a:schemeClr>
                      </a:solidFill>
                      <a:prstDash val="solid"/>
                      <a:round/>
                      <a:headEnd type="none" w="med" len="med"/>
                      <a:tailEnd type="none" w="med" len="med"/>
                    </a:lnT>
                    <a:lnB w="38100" cap="flat" cmpd="sng" algn="ctr">
                      <a:solidFill>
                        <a:schemeClr val="accent4">
                          <a:lumMod val="10000"/>
                        </a:schemeClr>
                      </a:solidFill>
                      <a:prstDash val="solid"/>
                      <a:round/>
                      <a:headEnd type="none" w="med" len="med"/>
                      <a:tailEnd type="none" w="med" len="med"/>
                    </a:lnB>
                  </a:tcPr>
                </a:tc>
                <a:extLst>
                  <a:ext uri="{0D108BD9-81ED-4DB2-BD59-A6C34878D82A}">
                    <a16:rowId xmlns:a16="http://schemas.microsoft.com/office/drawing/2014/main" val="10001"/>
                  </a:ext>
                </a:extLst>
              </a:tr>
              <a:tr h="891712">
                <a:tc>
                  <a:txBody>
                    <a:bodyPr/>
                    <a:lstStyle/>
                    <a:p>
                      <a:r>
                        <a:rPr lang="en-US" sz="1800" b="1" dirty="0">
                          <a:solidFill>
                            <a:schemeClr val="accent4">
                              <a:lumMod val="10000"/>
                            </a:schemeClr>
                          </a:solidFill>
                        </a:rPr>
                        <a:t>Over-Rewarded</a:t>
                      </a:r>
                    </a:p>
                  </a:txBody>
                  <a:tcPr marL="95203" marR="95203" marT="34297" marB="34297" anchor="ctr" anchorCtr="1">
                    <a:lnL w="38100" cap="flat" cmpd="sng" algn="ctr">
                      <a:solidFill>
                        <a:schemeClr val="accent4">
                          <a:lumMod val="10000"/>
                        </a:schemeClr>
                      </a:solidFill>
                      <a:prstDash val="solid"/>
                      <a:round/>
                      <a:headEnd type="none" w="med" len="med"/>
                      <a:tailEnd type="none" w="med" len="med"/>
                    </a:lnL>
                    <a:lnR w="38100" cap="flat" cmpd="sng" algn="ctr">
                      <a:solidFill>
                        <a:schemeClr val="accent4">
                          <a:lumMod val="10000"/>
                        </a:schemeClr>
                      </a:solidFill>
                      <a:prstDash val="solid"/>
                      <a:round/>
                      <a:headEnd type="none" w="med" len="med"/>
                      <a:tailEnd type="none" w="med" len="med"/>
                    </a:lnR>
                    <a:lnT w="38100" cap="flat" cmpd="sng" algn="ctr">
                      <a:solidFill>
                        <a:schemeClr val="accent4">
                          <a:lumMod val="10000"/>
                        </a:schemeClr>
                      </a:solidFill>
                      <a:prstDash val="solid"/>
                      <a:round/>
                      <a:headEnd type="none" w="med" len="med"/>
                      <a:tailEnd type="none" w="med" len="med"/>
                    </a:lnT>
                    <a:lnB w="38100" cap="flat" cmpd="sng" algn="ctr">
                      <a:solidFill>
                        <a:schemeClr val="accent4">
                          <a:lumMod val="10000"/>
                        </a:schemeClr>
                      </a:solidFill>
                      <a:prstDash val="solid"/>
                      <a:round/>
                      <a:headEnd type="none" w="med" len="med"/>
                      <a:tailEnd type="none" w="med" len="med"/>
                    </a:lnB>
                  </a:tcPr>
                </a:tc>
                <a:tc>
                  <a:txBody>
                    <a:bodyPr/>
                    <a:lstStyle/>
                    <a:p>
                      <a:pPr algn="ctr"/>
                      <a:r>
                        <a:rPr lang="en-US" sz="1800" dirty="0">
                          <a:solidFill>
                            <a:schemeClr val="accent4">
                              <a:lumMod val="10000"/>
                            </a:schemeClr>
                          </a:solidFill>
                        </a:rPr>
                        <a:t>Will produce fewer, but higher-quality units</a:t>
                      </a:r>
                    </a:p>
                  </a:txBody>
                  <a:tcPr marL="95203" marR="95203" marT="34297" marB="34297" anchor="ctr" anchorCtr="1">
                    <a:lnL w="38100" cap="flat" cmpd="sng" algn="ctr">
                      <a:solidFill>
                        <a:schemeClr val="accent4">
                          <a:lumMod val="10000"/>
                        </a:schemeClr>
                      </a:solidFill>
                      <a:prstDash val="solid"/>
                      <a:round/>
                      <a:headEnd type="none" w="med" len="med"/>
                      <a:tailEnd type="none" w="med" len="med"/>
                    </a:lnL>
                    <a:lnR w="38100" cap="flat" cmpd="sng" algn="ctr">
                      <a:solidFill>
                        <a:schemeClr val="accent4">
                          <a:lumMod val="10000"/>
                        </a:schemeClr>
                      </a:solidFill>
                      <a:prstDash val="solid"/>
                      <a:round/>
                      <a:headEnd type="none" w="med" len="med"/>
                      <a:tailEnd type="none" w="med" len="med"/>
                    </a:lnR>
                    <a:lnT w="38100" cap="flat" cmpd="sng" algn="ctr">
                      <a:solidFill>
                        <a:schemeClr val="accent4">
                          <a:lumMod val="10000"/>
                        </a:schemeClr>
                      </a:solidFill>
                      <a:prstDash val="solid"/>
                      <a:round/>
                      <a:headEnd type="none" w="med" len="med"/>
                      <a:tailEnd type="none" w="med" len="med"/>
                    </a:lnT>
                    <a:lnB w="38100" cap="flat" cmpd="sng" algn="ctr">
                      <a:solidFill>
                        <a:schemeClr val="accent4">
                          <a:lumMod val="10000"/>
                        </a:schemeClr>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accent4">
                              <a:lumMod val="10000"/>
                            </a:schemeClr>
                          </a:solidFill>
                        </a:rPr>
                        <a:t>Will produce more</a:t>
                      </a:r>
                    </a:p>
                  </a:txBody>
                  <a:tcPr marL="95203" marR="95203" marT="34297" marB="34297" anchor="ctr" anchorCtr="1">
                    <a:lnL w="38100" cap="flat" cmpd="sng" algn="ctr">
                      <a:solidFill>
                        <a:schemeClr val="accent4">
                          <a:lumMod val="10000"/>
                        </a:schemeClr>
                      </a:solidFill>
                      <a:prstDash val="solid"/>
                      <a:round/>
                      <a:headEnd type="none" w="med" len="med"/>
                      <a:tailEnd type="none" w="med" len="med"/>
                    </a:lnL>
                    <a:lnR w="38100" cap="flat" cmpd="sng" algn="ctr">
                      <a:solidFill>
                        <a:schemeClr val="accent4">
                          <a:lumMod val="10000"/>
                        </a:schemeClr>
                      </a:solidFill>
                      <a:prstDash val="solid"/>
                      <a:round/>
                      <a:headEnd type="none" w="med" len="med"/>
                      <a:tailEnd type="none" w="med" len="med"/>
                    </a:lnR>
                    <a:lnT w="38100" cap="flat" cmpd="sng" algn="ctr">
                      <a:solidFill>
                        <a:schemeClr val="accent4">
                          <a:lumMod val="10000"/>
                        </a:schemeClr>
                      </a:solidFill>
                      <a:prstDash val="solid"/>
                      <a:round/>
                      <a:headEnd type="none" w="med" len="med"/>
                      <a:tailEnd type="none" w="med" len="med"/>
                    </a:lnT>
                    <a:lnB w="38100" cap="flat" cmpd="sng" algn="ctr">
                      <a:solidFill>
                        <a:schemeClr val="accent4">
                          <a:lumMod val="10000"/>
                        </a:schemeClr>
                      </a:solidFill>
                      <a:prstDash val="solid"/>
                      <a:round/>
                      <a:headEnd type="none" w="med" len="med"/>
                      <a:tailEnd type="none" w="med" len="med"/>
                    </a:lnB>
                  </a:tcPr>
                </a:tc>
                <a:extLst>
                  <a:ext uri="{0D108BD9-81ED-4DB2-BD59-A6C34878D82A}">
                    <a16:rowId xmlns:a16="http://schemas.microsoft.com/office/drawing/2014/main" val="10002"/>
                  </a:ext>
                </a:extLst>
              </a:tr>
              <a:tr h="891712">
                <a:tc>
                  <a:txBody>
                    <a:bodyPr/>
                    <a:lstStyle/>
                    <a:p>
                      <a:pPr algn="ctr"/>
                      <a:r>
                        <a:rPr lang="en-US" sz="1800" b="1" dirty="0">
                          <a:solidFill>
                            <a:schemeClr val="accent4">
                              <a:lumMod val="10000"/>
                            </a:schemeClr>
                          </a:solidFill>
                        </a:rPr>
                        <a:t>Under-Rewarded</a:t>
                      </a:r>
                    </a:p>
                  </a:txBody>
                  <a:tcPr marL="95203" marR="95203" marT="34297" marB="34297" anchor="ctr" anchorCtr="1">
                    <a:lnL w="38100" cap="flat" cmpd="sng" algn="ctr">
                      <a:solidFill>
                        <a:schemeClr val="accent4">
                          <a:lumMod val="10000"/>
                        </a:schemeClr>
                      </a:solidFill>
                      <a:prstDash val="solid"/>
                      <a:round/>
                      <a:headEnd type="none" w="med" len="med"/>
                      <a:tailEnd type="none" w="med" len="med"/>
                    </a:lnL>
                    <a:lnR w="38100" cap="flat" cmpd="sng" algn="ctr">
                      <a:solidFill>
                        <a:schemeClr val="accent4">
                          <a:lumMod val="10000"/>
                        </a:schemeClr>
                      </a:solidFill>
                      <a:prstDash val="solid"/>
                      <a:round/>
                      <a:headEnd type="none" w="med" len="med"/>
                      <a:tailEnd type="none" w="med" len="med"/>
                    </a:lnR>
                    <a:lnT w="38100" cap="flat" cmpd="sng" algn="ctr">
                      <a:solidFill>
                        <a:schemeClr val="accent4">
                          <a:lumMod val="10000"/>
                        </a:schemeClr>
                      </a:solidFill>
                      <a:prstDash val="solid"/>
                      <a:round/>
                      <a:headEnd type="none" w="med" len="med"/>
                      <a:tailEnd type="none" w="med" len="med"/>
                    </a:lnT>
                    <a:lnB w="38100" cap="flat" cmpd="sng" algn="ctr">
                      <a:solidFill>
                        <a:schemeClr val="accent4">
                          <a:lumMod val="10000"/>
                        </a:schemeClr>
                      </a:solidFill>
                      <a:prstDash val="solid"/>
                      <a:round/>
                      <a:headEnd type="none" w="med" len="med"/>
                      <a:tailEnd type="none" w="med" len="med"/>
                    </a:lnB>
                  </a:tcPr>
                </a:tc>
                <a:tc>
                  <a:txBody>
                    <a:bodyPr/>
                    <a:lstStyle/>
                    <a:p>
                      <a:pPr algn="ctr"/>
                      <a:r>
                        <a:rPr lang="en-US" sz="1800" dirty="0">
                          <a:solidFill>
                            <a:schemeClr val="accent4">
                              <a:lumMod val="10000"/>
                            </a:schemeClr>
                          </a:solidFill>
                        </a:rPr>
                        <a:t>Produce large number of low quality units</a:t>
                      </a:r>
                    </a:p>
                  </a:txBody>
                  <a:tcPr marL="95203" marR="95203" marT="34297" marB="34297" anchor="ctr" anchorCtr="1">
                    <a:lnL w="38100" cap="flat" cmpd="sng" algn="ctr">
                      <a:solidFill>
                        <a:schemeClr val="accent4">
                          <a:lumMod val="10000"/>
                        </a:schemeClr>
                      </a:solidFill>
                      <a:prstDash val="solid"/>
                      <a:round/>
                      <a:headEnd type="none" w="med" len="med"/>
                      <a:tailEnd type="none" w="med" len="med"/>
                    </a:lnL>
                    <a:lnR w="38100" cap="flat" cmpd="sng" algn="ctr">
                      <a:solidFill>
                        <a:schemeClr val="accent4">
                          <a:lumMod val="10000"/>
                        </a:schemeClr>
                      </a:solidFill>
                      <a:prstDash val="solid"/>
                      <a:round/>
                      <a:headEnd type="none" w="med" len="med"/>
                      <a:tailEnd type="none" w="med" len="med"/>
                    </a:lnR>
                    <a:lnT w="38100" cap="flat" cmpd="sng" algn="ctr">
                      <a:solidFill>
                        <a:schemeClr val="accent4">
                          <a:lumMod val="10000"/>
                        </a:schemeClr>
                      </a:solidFill>
                      <a:prstDash val="solid"/>
                      <a:round/>
                      <a:headEnd type="none" w="med" len="med"/>
                      <a:tailEnd type="none" w="med" len="med"/>
                    </a:lnT>
                    <a:lnB w="38100" cap="flat" cmpd="sng" algn="ctr">
                      <a:solidFill>
                        <a:schemeClr val="accent4">
                          <a:lumMod val="10000"/>
                        </a:schemeClr>
                      </a:solidFill>
                      <a:prstDash val="solid"/>
                      <a:round/>
                      <a:headEnd type="none" w="med" len="med"/>
                      <a:tailEnd type="none" w="med" len="med"/>
                    </a:lnB>
                  </a:tcPr>
                </a:tc>
                <a:tc>
                  <a:txBody>
                    <a:bodyPr/>
                    <a:lstStyle/>
                    <a:p>
                      <a:pPr algn="ctr"/>
                      <a:r>
                        <a:rPr lang="en-US" sz="1800" dirty="0">
                          <a:solidFill>
                            <a:schemeClr val="accent4">
                              <a:lumMod val="10000"/>
                            </a:schemeClr>
                          </a:solidFill>
                        </a:rPr>
                        <a:t>Produce less output or output of poorer quality</a:t>
                      </a:r>
                    </a:p>
                  </a:txBody>
                  <a:tcPr marL="95203" marR="95203" marT="34297" marB="34297" anchor="ctr" anchorCtr="1">
                    <a:lnL w="38100" cap="flat" cmpd="sng" algn="ctr">
                      <a:solidFill>
                        <a:schemeClr val="accent4">
                          <a:lumMod val="10000"/>
                        </a:schemeClr>
                      </a:solidFill>
                      <a:prstDash val="solid"/>
                      <a:round/>
                      <a:headEnd type="none" w="med" len="med"/>
                      <a:tailEnd type="none" w="med" len="med"/>
                    </a:lnL>
                    <a:lnR w="38100" cap="flat" cmpd="sng" algn="ctr">
                      <a:solidFill>
                        <a:schemeClr val="accent4">
                          <a:lumMod val="10000"/>
                        </a:schemeClr>
                      </a:solidFill>
                      <a:prstDash val="solid"/>
                      <a:round/>
                      <a:headEnd type="none" w="med" len="med"/>
                      <a:tailEnd type="none" w="med" len="med"/>
                    </a:lnR>
                    <a:lnT w="38100" cap="flat" cmpd="sng" algn="ctr">
                      <a:solidFill>
                        <a:schemeClr val="accent4">
                          <a:lumMod val="10000"/>
                        </a:schemeClr>
                      </a:solidFill>
                      <a:prstDash val="solid"/>
                      <a:round/>
                      <a:headEnd type="none" w="med" len="med"/>
                      <a:tailEnd type="none" w="med" len="med"/>
                    </a:lnT>
                    <a:lnB w="38100" cap="flat" cmpd="sng" algn="ctr">
                      <a:solidFill>
                        <a:schemeClr val="accent4">
                          <a:lumMod val="10000"/>
                        </a:schemeClr>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8" name="TextBox 7"/>
          <p:cNvSpPr txBox="1"/>
          <p:nvPr/>
        </p:nvSpPr>
        <p:spPr>
          <a:xfrm>
            <a:off x="685800" y="1257301"/>
            <a:ext cx="7772400" cy="369332"/>
          </a:xfrm>
          <a:prstGeom prst="rect">
            <a:avLst/>
          </a:prstGeom>
          <a:noFill/>
        </p:spPr>
        <p:txBody>
          <a:bodyPr>
            <a:spAutoFit/>
          </a:bodyPr>
          <a:lstStyle/>
          <a:p>
            <a:pPr algn="ctr">
              <a:defRPr/>
            </a:pPr>
            <a:r>
              <a:rPr lang="en-US" i="1" dirty="0">
                <a:solidFill>
                  <a:schemeClr val="accent4">
                    <a:lumMod val="10000"/>
                  </a:schemeClr>
                </a:solidFill>
                <a:cs typeface="+mn-cs"/>
              </a:rPr>
              <a:t>Employee reactions in comparison to equitably-paid employees</a:t>
            </a:r>
          </a:p>
        </p:txBody>
      </p:sp>
    </p:spTree>
    <p:extLst>
      <p:ext uri="{BB962C8B-B14F-4D97-AF65-F5344CB8AC3E}">
        <p14:creationId xmlns:p14="http://schemas.microsoft.com/office/powerpoint/2010/main" val="1835514991"/>
      </p:ext>
    </p:extLst>
  </p:cSld>
  <p:clrMapOvr>
    <a:masterClrMapping/>
  </p:clrMapOvr>
  <p:transition>
    <p:rand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609600" y="194310"/>
            <a:ext cx="2209800" cy="2225040"/>
          </a:xfrm>
        </p:spPr>
        <p:txBody>
          <a:bodyPr>
            <a:normAutofit fontScale="90000"/>
          </a:bodyPr>
          <a:lstStyle/>
          <a:p>
            <a:pPr eaLnBrk="1" hangingPunct="1"/>
            <a:r>
              <a:rPr lang="en-US" altLang="en-US" dirty="0"/>
              <a:t>Equity Theory:  Forms of Justice</a:t>
            </a:r>
          </a:p>
        </p:txBody>
      </p:sp>
      <p:sp>
        <p:nvSpPr>
          <p:cNvPr id="19458" name="Rectangle 6"/>
          <p:cNvSpPr>
            <a:spLocks noGrp="1" noChangeArrowheads="1"/>
          </p:cNvSpPr>
          <p:nvPr>
            <p:ph type="sldNum" sz="quarter" idx="12"/>
          </p:nvPr>
        </p:nvSpPr>
        <p:spPr/>
        <p:txBody>
          <a:bodyPr>
            <a:normAutofit fontScale="47500" lnSpcReduction="20000"/>
          </a:bodyPr>
          <a:lstStyle/>
          <a:p>
            <a:pPr>
              <a:defRPr/>
            </a:pPr>
            <a:r>
              <a:rPr lang="en-US"/>
              <a:t>6-</a:t>
            </a:r>
            <a:fld id="{9F3E38A3-96C1-47CE-A6A3-2E2A2EDF47F6}" type="slidenum">
              <a:rPr lang="en-US"/>
              <a:pPr>
                <a:defRPr/>
              </a:pPr>
              <a:t>18</a:t>
            </a:fld>
            <a:endParaRPr lang="en-US"/>
          </a:p>
        </p:txBody>
      </p:sp>
      <p:pic>
        <p:nvPicPr>
          <p:cNvPr id="10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3082" t="11564" r="1908" b="5263"/>
          <a:stretch/>
        </p:blipFill>
        <p:spPr bwMode="auto">
          <a:xfrm>
            <a:off x="2667001" y="64989"/>
            <a:ext cx="6455392" cy="50375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18000934"/>
      </p:ext>
    </p:extLst>
  </p:cSld>
  <p:clrMapOvr>
    <a:masterClrMapping/>
  </p:clrMapOvr>
  <p:transition>
    <p:pull dir="d"/>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4"/>
          <p:cNvSpPr>
            <a:spLocks noGrp="1" noChangeArrowheads="1"/>
          </p:cNvSpPr>
          <p:nvPr>
            <p:ph type="title"/>
          </p:nvPr>
        </p:nvSpPr>
        <p:spPr/>
        <p:txBody>
          <a:bodyPr>
            <a:normAutofit fontScale="90000"/>
          </a:bodyPr>
          <a:lstStyle/>
          <a:p>
            <a:pPr eaLnBrk="1" hangingPunct="1"/>
            <a:r>
              <a:rPr lang="en-US" altLang="en-US" dirty="0"/>
              <a:t>Expectancy </a:t>
            </a:r>
            <a:br>
              <a:rPr lang="en-US" altLang="en-US" dirty="0"/>
            </a:br>
            <a:r>
              <a:rPr lang="en-US" altLang="en-US" dirty="0"/>
              <a:t>Theory</a:t>
            </a:r>
          </a:p>
        </p:txBody>
      </p:sp>
      <p:sp>
        <p:nvSpPr>
          <p:cNvPr id="20482" name="Rectangle 6"/>
          <p:cNvSpPr>
            <a:spLocks noGrp="1" noChangeArrowheads="1"/>
          </p:cNvSpPr>
          <p:nvPr>
            <p:ph type="sldNum" sz="quarter" idx="12"/>
          </p:nvPr>
        </p:nvSpPr>
        <p:spPr/>
        <p:txBody>
          <a:bodyPr>
            <a:normAutofit fontScale="47500" lnSpcReduction="20000"/>
          </a:bodyPr>
          <a:lstStyle/>
          <a:p>
            <a:pPr>
              <a:defRPr/>
            </a:pPr>
            <a:r>
              <a:rPr lang="en-US"/>
              <a:t>6-</a:t>
            </a:r>
            <a:fld id="{8B77EA1A-6711-436E-8936-40E16C2408A8}" type="slidenum">
              <a:rPr lang="en-US"/>
              <a:pPr>
                <a:defRPr/>
              </a:pPr>
              <a:t>19</a:t>
            </a:fld>
            <a:endParaRPr lang="en-US"/>
          </a:p>
        </p:txBody>
      </p:sp>
      <p:sp>
        <p:nvSpPr>
          <p:cNvPr id="20484" name="Content Placeholder 6"/>
          <p:cNvSpPr>
            <a:spLocks noGrp="1"/>
          </p:cNvSpPr>
          <p:nvPr>
            <p:ph sz="quarter" idx="13"/>
          </p:nvPr>
        </p:nvSpPr>
        <p:spPr/>
        <p:txBody>
          <a:bodyPr>
            <a:noAutofit/>
          </a:bodyPr>
          <a:lstStyle/>
          <a:p>
            <a:pPr marL="0" indent="0">
              <a:spcBef>
                <a:spcPts val="0"/>
              </a:spcBef>
              <a:defRPr/>
            </a:pPr>
            <a:r>
              <a:rPr lang="en-US" altLang="en-US" sz="1800" b="1" dirty="0"/>
              <a:t> Strength of a tendency to act in a certain way depends on </a:t>
            </a:r>
            <a:r>
              <a:rPr lang="en-US" altLang="en-US" sz="1800" b="1" dirty="0">
                <a:effectLst>
                  <a:outerShdw blurRad="38100" dist="38100" dir="2700000" algn="tl">
                    <a:srgbClr val="C0C0C0"/>
                  </a:outerShdw>
                </a:effectLst>
              </a:rPr>
              <a:t>strength of our expectation</a:t>
            </a:r>
            <a:r>
              <a:rPr lang="en-US" altLang="en-US" sz="1800" b="1" dirty="0"/>
              <a:t> of a given outcome and its </a:t>
            </a:r>
            <a:r>
              <a:rPr lang="en-US" altLang="en-US" sz="1800" b="1" dirty="0">
                <a:effectLst>
                  <a:outerShdw blurRad="38100" dist="38100" dir="2700000" algn="tl">
                    <a:srgbClr val="C0C0C0"/>
                  </a:outerShdw>
                </a:effectLst>
              </a:rPr>
              <a:t>attractiveness</a:t>
            </a:r>
            <a:endParaRPr lang="en-US" altLang="en-US" sz="1800" b="1" dirty="0">
              <a:solidFill>
                <a:srgbClr val="292A45"/>
              </a:solidFill>
            </a:endParaRPr>
          </a:p>
          <a:p>
            <a:pPr marL="0" indent="0">
              <a:spcBef>
                <a:spcPts val="0"/>
              </a:spcBef>
              <a:defRPr/>
            </a:pPr>
            <a:r>
              <a:rPr lang="en-US" altLang="en-US" sz="1800" dirty="0"/>
              <a:t> Suggests that people are motivated to work toward rewards that they want and that they believe they have a reasonable chance—or expectancy—of obtaining</a:t>
            </a:r>
            <a:endParaRPr lang="en-US" altLang="en-US" sz="1800" dirty="0">
              <a:solidFill>
                <a:srgbClr val="292A45"/>
              </a:solidFill>
            </a:endParaRPr>
          </a:p>
          <a:p>
            <a:pPr marL="0" indent="0" algn="ctr" eaLnBrk="1" hangingPunct="1">
              <a:spcBef>
                <a:spcPts val="0"/>
              </a:spcBef>
              <a:buFontTx/>
              <a:buNone/>
              <a:defRPr/>
            </a:pPr>
            <a:r>
              <a:rPr lang="en-US" altLang="en-US" sz="1800" dirty="0">
                <a:solidFill>
                  <a:srgbClr val="292A45"/>
                </a:solidFill>
              </a:rPr>
              <a:t>Three key relationships:</a:t>
            </a:r>
          </a:p>
          <a:p>
            <a:pPr marL="457200" lvl="1" indent="-342900" eaLnBrk="1" hangingPunct="1">
              <a:spcBef>
                <a:spcPts val="0"/>
              </a:spcBef>
              <a:buFont typeface="Arial" charset="0"/>
              <a:buAutoNum type="arabicPeriod"/>
              <a:defRPr/>
            </a:pPr>
            <a:r>
              <a:rPr lang="en-US" altLang="en-US" sz="1800" b="1" dirty="0">
                <a:solidFill>
                  <a:srgbClr val="292A45"/>
                </a:solidFill>
              </a:rPr>
              <a:t>Effort-Performance: </a:t>
            </a:r>
            <a:r>
              <a:rPr lang="en-US" altLang="en-US" sz="1800" dirty="0">
                <a:solidFill>
                  <a:srgbClr val="292A45"/>
                </a:solidFill>
              </a:rPr>
              <a:t>perceived probability that exerting effort leads to successful performance</a:t>
            </a:r>
          </a:p>
          <a:p>
            <a:pPr marL="457200" lvl="1" indent="-342900" eaLnBrk="1" hangingPunct="1">
              <a:spcBef>
                <a:spcPts val="0"/>
              </a:spcBef>
              <a:buFont typeface="Arial" charset="0"/>
              <a:buAutoNum type="arabicPeriod"/>
              <a:defRPr/>
            </a:pPr>
            <a:r>
              <a:rPr lang="en-US" altLang="en-US" sz="1800" b="1" dirty="0">
                <a:solidFill>
                  <a:srgbClr val="292A45"/>
                </a:solidFill>
              </a:rPr>
              <a:t>Performance-Reward: </a:t>
            </a:r>
            <a:r>
              <a:rPr lang="en-US" altLang="en-US" sz="1800" dirty="0">
                <a:solidFill>
                  <a:srgbClr val="292A45"/>
                </a:solidFill>
              </a:rPr>
              <a:t>the belief that successful performance leads to desired outcome</a:t>
            </a:r>
          </a:p>
          <a:p>
            <a:pPr marL="457200" lvl="1" indent="-342900" eaLnBrk="1" hangingPunct="1">
              <a:spcBef>
                <a:spcPts val="0"/>
              </a:spcBef>
              <a:buFont typeface="Arial" charset="0"/>
              <a:buAutoNum type="arabicPeriod"/>
              <a:defRPr/>
            </a:pPr>
            <a:r>
              <a:rPr lang="en-US" altLang="en-US" sz="1800" b="1" dirty="0">
                <a:solidFill>
                  <a:srgbClr val="292A45"/>
                </a:solidFill>
              </a:rPr>
              <a:t>Rewards-Personal Goals: </a:t>
            </a:r>
            <a:r>
              <a:rPr lang="en-US" altLang="en-US" sz="1800" dirty="0">
                <a:solidFill>
                  <a:srgbClr val="292A45"/>
                </a:solidFill>
              </a:rPr>
              <a:t>the attractiveness of organizational outcome (reward) to the individual</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86200" y="152400"/>
            <a:ext cx="5162550" cy="1123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52558827"/>
      </p:ext>
    </p:extLst>
  </p:cSld>
  <p:clrMapOvr>
    <a:masterClrMapping/>
  </p:clrMapOvr>
  <p:transition>
    <p:rand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Motivation Application</a:t>
            </a:r>
          </a:p>
        </p:txBody>
      </p:sp>
      <p:sp>
        <p:nvSpPr>
          <p:cNvPr id="3" name="Slide Number Placeholder 2"/>
          <p:cNvSpPr>
            <a:spLocks noGrp="1"/>
          </p:cNvSpPr>
          <p:nvPr>
            <p:ph type="sldNum" sz="quarter" idx="12"/>
          </p:nvPr>
        </p:nvSpPr>
        <p:spPr/>
        <p:txBody>
          <a:bodyPr>
            <a:normAutofit fontScale="47500" lnSpcReduction="20000"/>
          </a:bodyPr>
          <a:lstStyle/>
          <a:p>
            <a:fld id="{A3F7CB7D-F184-43C7-B6FD-03D728E1BBFF}" type="slidenum">
              <a:rPr lang="en-US" smtClean="0">
                <a:solidFill>
                  <a:srgbClr val="FFFFFF"/>
                </a:solidFill>
              </a:rPr>
              <a:pPr/>
              <a:t>20</a:t>
            </a:fld>
            <a:endParaRPr lang="en-US" dirty="0">
              <a:solidFill>
                <a:srgbClr val="FFFFFF"/>
              </a:solidFill>
            </a:endParaRPr>
          </a:p>
        </p:txBody>
      </p:sp>
      <p:pic>
        <p:nvPicPr>
          <p:cNvPr id="1026" name="Picture 2" descr="Image result for motivation applica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1352550"/>
            <a:ext cx="6286500" cy="35922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011844"/>
      </p:ext>
    </p:extLst>
  </p:cSld>
  <p:clrMapOvr>
    <a:masterClrMapping/>
  </p:clrMapOvr>
  <p:transition>
    <p:pull dir="d"/>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normAutofit fontScale="90000"/>
          </a:bodyPr>
          <a:lstStyle/>
          <a:p>
            <a:r>
              <a:rPr lang="en-US"/>
              <a:t>Motivating by Changing the Work Environment: JCM</a:t>
            </a:r>
          </a:p>
        </p:txBody>
      </p:sp>
      <p:sp>
        <p:nvSpPr>
          <p:cNvPr id="5" name="Rectangle 6"/>
          <p:cNvSpPr>
            <a:spLocks noGrp="1" noChangeArrowheads="1"/>
          </p:cNvSpPr>
          <p:nvPr>
            <p:ph type="sldNum" sz="quarter" idx="12"/>
          </p:nvPr>
        </p:nvSpPr>
        <p:spPr>
          <a:ln/>
        </p:spPr>
        <p:txBody>
          <a:bodyPr>
            <a:normAutofit fontScale="47500" lnSpcReduction="20000"/>
          </a:bodyPr>
          <a:lstStyle/>
          <a:p>
            <a:r>
              <a:rPr lang="en-US"/>
              <a:t>6-</a:t>
            </a:r>
            <a:fld id="{9364E46A-DCF0-4421-9FEA-A72B02954203}" type="slidenum">
              <a:rPr lang="en-US"/>
              <a:pPr/>
              <a:t>21</a:t>
            </a:fld>
            <a:endParaRPr lang="en-US"/>
          </a:p>
        </p:txBody>
      </p:sp>
      <p:sp>
        <p:nvSpPr>
          <p:cNvPr id="52227" name="Rectangle 3"/>
          <p:cNvSpPr>
            <a:spLocks noGrp="1" noChangeArrowheads="1"/>
          </p:cNvSpPr>
          <p:nvPr>
            <p:ph sz="quarter" idx="13"/>
          </p:nvPr>
        </p:nvSpPr>
        <p:spPr/>
        <p:txBody>
          <a:bodyPr>
            <a:normAutofit fontScale="92500" lnSpcReduction="20000"/>
          </a:bodyPr>
          <a:lstStyle/>
          <a:p>
            <a:pPr marL="0" indent="0" algn="ctr">
              <a:spcAft>
                <a:spcPts val="2400"/>
              </a:spcAft>
              <a:buFontTx/>
              <a:buNone/>
            </a:pPr>
            <a:r>
              <a:rPr lang="en-US" dirty="0"/>
              <a:t>The Job Characteristics Model - jobs are described in terms of five core dimensions:</a:t>
            </a:r>
          </a:p>
          <a:p>
            <a:pPr marL="1200150" lvl="1">
              <a:spcAft>
                <a:spcPts val="600"/>
              </a:spcAft>
            </a:pPr>
            <a:r>
              <a:rPr lang="en-US" sz="2400" dirty="0"/>
              <a:t>Skill variety</a:t>
            </a:r>
          </a:p>
          <a:p>
            <a:pPr marL="1200150" lvl="1">
              <a:spcAft>
                <a:spcPts val="600"/>
              </a:spcAft>
            </a:pPr>
            <a:r>
              <a:rPr lang="en-US" sz="2400" dirty="0"/>
              <a:t>Task identity</a:t>
            </a:r>
          </a:p>
          <a:p>
            <a:pPr marL="1200150" lvl="1">
              <a:spcAft>
                <a:spcPts val="600"/>
              </a:spcAft>
            </a:pPr>
            <a:r>
              <a:rPr lang="en-US" sz="2400" dirty="0"/>
              <a:t>Task significance</a:t>
            </a:r>
          </a:p>
          <a:p>
            <a:pPr marL="1200150" lvl="1">
              <a:spcAft>
                <a:spcPts val="600"/>
              </a:spcAft>
            </a:pPr>
            <a:r>
              <a:rPr lang="en-US" sz="2400" dirty="0"/>
              <a:t>Autonomy</a:t>
            </a:r>
          </a:p>
          <a:p>
            <a:pPr marL="1200150" lvl="1">
              <a:spcAft>
                <a:spcPts val="600"/>
              </a:spcAft>
            </a:pPr>
            <a:r>
              <a:rPr lang="en-US" sz="2400" dirty="0"/>
              <a:t>Feedback</a:t>
            </a:r>
          </a:p>
        </p:txBody>
      </p:sp>
      <p:pic>
        <p:nvPicPr>
          <p:cNvPr id="52228" name="Picture 4" descr="MPj04009410000[1]"/>
          <p:cNvPicPr>
            <a:picLocks noChangeAspect="1" noChangeArrowheads="1"/>
          </p:cNvPicPr>
          <p:nvPr/>
        </p:nvPicPr>
        <p:blipFill>
          <a:blip r:embed="rId2"/>
          <a:srcRect/>
          <a:stretch>
            <a:fillRect/>
          </a:stretch>
        </p:blipFill>
        <p:spPr bwMode="auto">
          <a:xfrm>
            <a:off x="4648200" y="2228850"/>
            <a:ext cx="3429000" cy="2324100"/>
          </a:xfrm>
          <a:prstGeom prst="rect">
            <a:avLst/>
          </a:prstGeom>
          <a:noFill/>
          <a:ln w="15875">
            <a:solidFill>
              <a:schemeClr val="accent4">
                <a:lumMod val="10000"/>
              </a:schemeClr>
            </a:solidFill>
          </a:ln>
          <a:effectLst>
            <a:outerShdw blurRad="50800" dist="76200" dir="8100000" algn="tr" rotWithShape="0">
              <a:prstClr val="black">
                <a:alpha val="40000"/>
              </a:prstClr>
            </a:outerShdw>
          </a:effectLst>
        </p:spPr>
      </p:pic>
    </p:spTree>
    <p:extLst>
      <p:ext uri="{BB962C8B-B14F-4D97-AF65-F5344CB8AC3E}">
        <p14:creationId xmlns:p14="http://schemas.microsoft.com/office/powerpoint/2010/main" val="1038920727"/>
      </p:ext>
    </p:extLst>
  </p:cSld>
  <p:clrMapOvr>
    <a:masterClrMapping/>
  </p:clrMapOvr>
  <p:transition>
    <p:pull dir="d"/>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2227">
                                            <p:txEl>
                                              <p:pRg st="0" end="0"/>
                                            </p:txEl>
                                          </p:spTgt>
                                        </p:tgtEl>
                                        <p:attrNameLst>
                                          <p:attrName>style.visibility</p:attrName>
                                        </p:attrNameLst>
                                      </p:cBhvr>
                                      <p:to>
                                        <p:strVal val="visible"/>
                                      </p:to>
                                    </p:set>
                                    <p:animEffect transition="in" filter="wipe(left)">
                                      <p:cBhvr>
                                        <p:cTn id="7" dur="1000"/>
                                        <p:tgtEl>
                                          <p:spTgt spid="52227">
                                            <p:txEl>
                                              <p:pRg st="0" end="0"/>
                                            </p:txEl>
                                          </p:spTgt>
                                        </p:tgtEl>
                                      </p:cBhvr>
                                    </p:animEffect>
                                  </p:childTnLst>
                                </p:cTn>
                              </p:par>
                            </p:childTnLst>
                          </p:cTn>
                        </p:par>
                        <p:par>
                          <p:cTn id="8" fill="hold" nodeType="afterGroup">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52227">
                                            <p:txEl>
                                              <p:pRg st="1" end="1"/>
                                            </p:txEl>
                                          </p:spTgt>
                                        </p:tgtEl>
                                        <p:attrNameLst>
                                          <p:attrName>style.visibility</p:attrName>
                                        </p:attrNameLst>
                                      </p:cBhvr>
                                      <p:to>
                                        <p:strVal val="visible"/>
                                      </p:to>
                                    </p:set>
                                    <p:animEffect transition="in" filter="wipe(left)">
                                      <p:cBhvr>
                                        <p:cTn id="11" dur="1000"/>
                                        <p:tgtEl>
                                          <p:spTgt spid="52227">
                                            <p:txEl>
                                              <p:pRg st="1" end="1"/>
                                            </p:txEl>
                                          </p:spTgt>
                                        </p:tgtEl>
                                      </p:cBhvr>
                                    </p:animEffect>
                                  </p:childTnLst>
                                </p:cTn>
                              </p:par>
                            </p:childTnLst>
                          </p:cTn>
                        </p:par>
                        <p:par>
                          <p:cTn id="12" fill="hold" nodeType="afterGroup">
                            <p:stCondLst>
                              <p:cond delay="2000"/>
                            </p:stCondLst>
                            <p:childTnLst>
                              <p:par>
                                <p:cTn id="13" presetID="22" presetClass="entr" presetSubtype="8" fill="hold" grpId="0" nodeType="afterEffect">
                                  <p:stCondLst>
                                    <p:cond delay="0"/>
                                  </p:stCondLst>
                                  <p:childTnLst>
                                    <p:set>
                                      <p:cBhvr>
                                        <p:cTn id="14" dur="1" fill="hold">
                                          <p:stCondLst>
                                            <p:cond delay="0"/>
                                          </p:stCondLst>
                                        </p:cTn>
                                        <p:tgtEl>
                                          <p:spTgt spid="52227">
                                            <p:txEl>
                                              <p:pRg st="2" end="2"/>
                                            </p:txEl>
                                          </p:spTgt>
                                        </p:tgtEl>
                                        <p:attrNameLst>
                                          <p:attrName>style.visibility</p:attrName>
                                        </p:attrNameLst>
                                      </p:cBhvr>
                                      <p:to>
                                        <p:strVal val="visible"/>
                                      </p:to>
                                    </p:set>
                                    <p:animEffect transition="in" filter="wipe(left)">
                                      <p:cBhvr>
                                        <p:cTn id="15" dur="1000"/>
                                        <p:tgtEl>
                                          <p:spTgt spid="52227">
                                            <p:txEl>
                                              <p:pRg st="2" end="2"/>
                                            </p:txEl>
                                          </p:spTgt>
                                        </p:tgtEl>
                                      </p:cBhvr>
                                    </p:animEffect>
                                  </p:childTnLst>
                                </p:cTn>
                              </p:par>
                            </p:childTnLst>
                          </p:cTn>
                        </p:par>
                        <p:par>
                          <p:cTn id="16" fill="hold" nodeType="afterGroup">
                            <p:stCondLst>
                              <p:cond delay="3000"/>
                            </p:stCondLst>
                            <p:childTnLst>
                              <p:par>
                                <p:cTn id="17" presetID="22" presetClass="entr" presetSubtype="8" fill="hold" grpId="0" nodeType="afterEffect">
                                  <p:stCondLst>
                                    <p:cond delay="0"/>
                                  </p:stCondLst>
                                  <p:childTnLst>
                                    <p:set>
                                      <p:cBhvr>
                                        <p:cTn id="18" dur="1" fill="hold">
                                          <p:stCondLst>
                                            <p:cond delay="0"/>
                                          </p:stCondLst>
                                        </p:cTn>
                                        <p:tgtEl>
                                          <p:spTgt spid="52227">
                                            <p:txEl>
                                              <p:pRg st="3" end="3"/>
                                            </p:txEl>
                                          </p:spTgt>
                                        </p:tgtEl>
                                        <p:attrNameLst>
                                          <p:attrName>style.visibility</p:attrName>
                                        </p:attrNameLst>
                                      </p:cBhvr>
                                      <p:to>
                                        <p:strVal val="visible"/>
                                      </p:to>
                                    </p:set>
                                    <p:animEffect transition="in" filter="wipe(left)">
                                      <p:cBhvr>
                                        <p:cTn id="19" dur="1000"/>
                                        <p:tgtEl>
                                          <p:spTgt spid="52227">
                                            <p:txEl>
                                              <p:pRg st="3" end="3"/>
                                            </p:txEl>
                                          </p:spTgt>
                                        </p:tgtEl>
                                      </p:cBhvr>
                                    </p:animEffect>
                                  </p:childTnLst>
                                </p:cTn>
                              </p:par>
                            </p:childTnLst>
                          </p:cTn>
                        </p:par>
                        <p:par>
                          <p:cTn id="20" fill="hold" nodeType="afterGroup">
                            <p:stCondLst>
                              <p:cond delay="4000"/>
                            </p:stCondLst>
                            <p:childTnLst>
                              <p:par>
                                <p:cTn id="21" presetID="22" presetClass="entr" presetSubtype="8" fill="hold" grpId="0" nodeType="afterEffect">
                                  <p:stCondLst>
                                    <p:cond delay="0"/>
                                  </p:stCondLst>
                                  <p:childTnLst>
                                    <p:set>
                                      <p:cBhvr>
                                        <p:cTn id="22" dur="1" fill="hold">
                                          <p:stCondLst>
                                            <p:cond delay="0"/>
                                          </p:stCondLst>
                                        </p:cTn>
                                        <p:tgtEl>
                                          <p:spTgt spid="52227">
                                            <p:txEl>
                                              <p:pRg st="4" end="4"/>
                                            </p:txEl>
                                          </p:spTgt>
                                        </p:tgtEl>
                                        <p:attrNameLst>
                                          <p:attrName>style.visibility</p:attrName>
                                        </p:attrNameLst>
                                      </p:cBhvr>
                                      <p:to>
                                        <p:strVal val="visible"/>
                                      </p:to>
                                    </p:set>
                                    <p:animEffect transition="in" filter="wipe(left)">
                                      <p:cBhvr>
                                        <p:cTn id="23" dur="1000"/>
                                        <p:tgtEl>
                                          <p:spTgt spid="52227">
                                            <p:txEl>
                                              <p:pRg st="4" end="4"/>
                                            </p:txEl>
                                          </p:spTgt>
                                        </p:tgtEl>
                                      </p:cBhvr>
                                    </p:animEffect>
                                  </p:childTnLst>
                                </p:cTn>
                              </p:par>
                            </p:childTnLst>
                          </p:cTn>
                        </p:par>
                        <p:par>
                          <p:cTn id="24" fill="hold" nodeType="afterGroup">
                            <p:stCondLst>
                              <p:cond delay="5000"/>
                            </p:stCondLst>
                            <p:childTnLst>
                              <p:par>
                                <p:cTn id="25" presetID="22" presetClass="entr" presetSubtype="8" fill="hold" grpId="0" nodeType="afterEffect">
                                  <p:stCondLst>
                                    <p:cond delay="0"/>
                                  </p:stCondLst>
                                  <p:childTnLst>
                                    <p:set>
                                      <p:cBhvr>
                                        <p:cTn id="26" dur="1" fill="hold">
                                          <p:stCondLst>
                                            <p:cond delay="0"/>
                                          </p:stCondLst>
                                        </p:cTn>
                                        <p:tgtEl>
                                          <p:spTgt spid="52227">
                                            <p:txEl>
                                              <p:pRg st="5" end="5"/>
                                            </p:txEl>
                                          </p:spTgt>
                                        </p:tgtEl>
                                        <p:attrNameLst>
                                          <p:attrName>style.visibility</p:attrName>
                                        </p:attrNameLst>
                                      </p:cBhvr>
                                      <p:to>
                                        <p:strVal val="visible"/>
                                      </p:to>
                                    </p:set>
                                    <p:animEffect transition="in" filter="wipe(left)">
                                      <p:cBhvr>
                                        <p:cTn id="27" dur="1000"/>
                                        <p:tgtEl>
                                          <p:spTgt spid="5222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7"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4"/>
          <p:cNvSpPr>
            <a:spLocks noGrp="1" noChangeArrowheads="1"/>
          </p:cNvSpPr>
          <p:nvPr>
            <p:ph type="title"/>
          </p:nvPr>
        </p:nvSpPr>
        <p:spPr/>
        <p:txBody>
          <a:bodyPr/>
          <a:lstStyle/>
          <a:p>
            <a:r>
              <a:rPr lang="en-US"/>
              <a:t>The Job Characteristics Model</a:t>
            </a:r>
          </a:p>
        </p:txBody>
      </p:sp>
      <p:sp>
        <p:nvSpPr>
          <p:cNvPr id="4" name="Rectangle 6"/>
          <p:cNvSpPr>
            <a:spLocks noGrp="1" noChangeArrowheads="1"/>
          </p:cNvSpPr>
          <p:nvPr>
            <p:ph type="sldNum" sz="quarter" idx="12"/>
          </p:nvPr>
        </p:nvSpPr>
        <p:spPr>
          <a:ln/>
        </p:spPr>
        <p:txBody>
          <a:bodyPr>
            <a:normAutofit fontScale="47500" lnSpcReduction="20000"/>
          </a:bodyPr>
          <a:lstStyle/>
          <a:p>
            <a:r>
              <a:rPr lang="en-US"/>
              <a:t>6-</a:t>
            </a:r>
            <a:fld id="{2B2EABB2-F2A4-4C17-BB8F-5A9C2B4D140D}" type="slidenum">
              <a:rPr lang="en-US"/>
              <a:pPr/>
              <a:t>22</a:t>
            </a:fld>
            <a:endParaRPr lang="en-US"/>
          </a:p>
        </p:txBody>
      </p:sp>
      <p:pic>
        <p:nvPicPr>
          <p:cNvPr id="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307616"/>
            <a:ext cx="6357938" cy="38549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5" descr="Chap01Bkgd03"/>
          <p:cNvPicPr>
            <a:picLocks noChangeAspect="1" noChangeArrowheads="1"/>
          </p:cNvPicPr>
          <p:nvPr/>
        </p:nvPicPr>
        <p:blipFill rotWithShape="1">
          <a:blip r:embed="rId3">
            <a:extLst>
              <a:ext uri="{28A0092B-C50C-407E-A947-70E740481C1C}">
                <a14:useLocalDpi xmlns:a14="http://schemas.microsoft.com/office/drawing/2010/main" val="0"/>
              </a:ext>
            </a:extLst>
          </a:blip>
          <a:srcRect t="11115" b="7729"/>
          <a:stretch/>
        </p:blipFill>
        <p:spPr bwMode="auto">
          <a:xfrm rot="18029534">
            <a:off x="5135213" y="2395062"/>
            <a:ext cx="5095928" cy="859895"/>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a:extLst>
            <a:ext uri="{909E8E84-426E-40DD-AFC4-6F175D3DCCD1}">
              <a14:hiddenFill xmlns:a14="http://schemas.microsoft.com/office/drawing/2010/main">
                <a:blipFill dpi="0" rotWithShape="0">
                  <a:blip r:embed="rId4"/>
                  <a:srcRect/>
                  <a:stretch>
                    <a:fillRect/>
                  </a:stretch>
                </a:blipFill>
              </a14:hiddenFill>
            </a:ext>
          </a:extLst>
        </p:spPr>
      </p:pic>
    </p:spTree>
    <p:extLst>
      <p:ext uri="{BB962C8B-B14F-4D97-AF65-F5344CB8AC3E}">
        <p14:creationId xmlns:p14="http://schemas.microsoft.com/office/powerpoint/2010/main" val="1236430321"/>
      </p:ext>
    </p:extLst>
  </p:cSld>
  <p:clrMapOvr>
    <a:masterClrMapping/>
  </p:clrMapOvr>
  <p:transition>
    <p:pull dir="d"/>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400" dirty="0"/>
              <a:t>Job Design Theory</a:t>
            </a:r>
            <a:br>
              <a:rPr lang="en-US" sz="3600" dirty="0"/>
            </a:br>
            <a:r>
              <a:rPr lang="en-US" sz="3600" dirty="0"/>
              <a:t>Five Core Job Characteristics</a:t>
            </a:r>
            <a:endParaRPr lang="en-US" sz="2400" dirty="0"/>
          </a:p>
        </p:txBody>
      </p:sp>
      <p:sp>
        <p:nvSpPr>
          <p:cNvPr id="9" name="Rectangle 8"/>
          <p:cNvSpPr/>
          <p:nvPr/>
        </p:nvSpPr>
        <p:spPr>
          <a:xfrm>
            <a:off x="5257800" y="1809750"/>
            <a:ext cx="3429000" cy="855246"/>
          </a:xfrm>
          <a:prstGeom prst="rect">
            <a:avLst/>
          </a:prstGeom>
          <a:ln w="50800"/>
        </p:spPr>
        <p:style>
          <a:lnRef idx="2">
            <a:schemeClr val="accent2"/>
          </a:lnRef>
          <a:fillRef idx="1">
            <a:schemeClr val="lt1"/>
          </a:fillRef>
          <a:effectRef idx="0">
            <a:schemeClr val="accent2"/>
          </a:effectRef>
          <a:fontRef idx="minor">
            <a:schemeClr val="dk1"/>
          </a:fontRef>
        </p:style>
        <p:txBody>
          <a:bodyPr rtlCol="0" anchor="ctr"/>
          <a:lstStyle/>
          <a:p>
            <a:pPr marL="0" lvl="1" algn="ctr"/>
            <a:r>
              <a:rPr lang="en-US" sz="1600" dirty="0"/>
              <a:t>Extent to which work allows employee to complete whole or identifiable piece of work</a:t>
            </a:r>
            <a:endParaRPr lang="en-US" sz="1600" i="1" dirty="0"/>
          </a:p>
        </p:txBody>
      </p:sp>
      <p:sp>
        <p:nvSpPr>
          <p:cNvPr id="10" name="Rectangle 9"/>
          <p:cNvSpPr/>
          <p:nvPr/>
        </p:nvSpPr>
        <p:spPr>
          <a:xfrm>
            <a:off x="609600" y="1809750"/>
            <a:ext cx="3276600" cy="876300"/>
          </a:xfrm>
          <a:prstGeom prst="rect">
            <a:avLst/>
          </a:prstGeom>
          <a:ln w="50800"/>
        </p:spPr>
        <p:style>
          <a:lnRef idx="2">
            <a:schemeClr val="accent6"/>
          </a:lnRef>
          <a:fillRef idx="1">
            <a:schemeClr val="lt1"/>
          </a:fillRef>
          <a:effectRef idx="0">
            <a:schemeClr val="accent6"/>
          </a:effectRef>
          <a:fontRef idx="minor">
            <a:schemeClr val="dk1"/>
          </a:fontRef>
        </p:style>
        <p:txBody>
          <a:bodyPr rtlCol="0" anchor="ctr"/>
          <a:lstStyle/>
          <a:p>
            <a:pPr marL="0" lvl="1"/>
            <a:r>
              <a:rPr lang="en-US" sz="1600" dirty="0"/>
              <a:t>Extent to which work allows employee to use variety of skills</a:t>
            </a:r>
          </a:p>
        </p:txBody>
      </p:sp>
      <p:sp>
        <p:nvSpPr>
          <p:cNvPr id="11" name="Oval 10"/>
          <p:cNvSpPr/>
          <p:nvPr/>
        </p:nvSpPr>
        <p:spPr>
          <a:xfrm>
            <a:off x="5410200" y="1352550"/>
            <a:ext cx="3124200" cy="5715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b="1" dirty="0"/>
              <a:t>Task Identity</a:t>
            </a:r>
          </a:p>
        </p:txBody>
      </p:sp>
      <p:sp>
        <p:nvSpPr>
          <p:cNvPr id="12" name="Oval 11"/>
          <p:cNvSpPr/>
          <p:nvPr/>
        </p:nvSpPr>
        <p:spPr>
          <a:xfrm>
            <a:off x="685800" y="1352550"/>
            <a:ext cx="3124200" cy="5715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b="1" dirty="0"/>
              <a:t>Skill Variety</a:t>
            </a:r>
          </a:p>
        </p:txBody>
      </p:sp>
      <p:sp>
        <p:nvSpPr>
          <p:cNvPr id="13" name="Rectangle 12"/>
          <p:cNvSpPr/>
          <p:nvPr/>
        </p:nvSpPr>
        <p:spPr>
          <a:xfrm>
            <a:off x="2743200" y="3048000"/>
            <a:ext cx="3429000" cy="971550"/>
          </a:xfrm>
          <a:prstGeom prst="rect">
            <a:avLst/>
          </a:prstGeom>
          <a:ln w="50800"/>
        </p:spPr>
        <p:style>
          <a:lnRef idx="2">
            <a:schemeClr val="accent4"/>
          </a:lnRef>
          <a:fillRef idx="1">
            <a:schemeClr val="lt1"/>
          </a:fillRef>
          <a:effectRef idx="0">
            <a:schemeClr val="accent4"/>
          </a:effectRef>
          <a:fontRef idx="minor">
            <a:schemeClr val="dk1"/>
          </a:fontRef>
        </p:style>
        <p:txBody>
          <a:bodyPr rtlCol="0" anchor="ctr"/>
          <a:lstStyle/>
          <a:p>
            <a:pPr marL="0" lvl="1" algn="ctr"/>
            <a:r>
              <a:rPr lang="en-US" sz="1600" dirty="0"/>
              <a:t>Extent to which employee perceives that work is important &amp; meaningful to those inside or outside organization</a:t>
            </a:r>
          </a:p>
        </p:txBody>
      </p:sp>
      <p:sp>
        <p:nvSpPr>
          <p:cNvPr id="14" name="Oval 13"/>
          <p:cNvSpPr/>
          <p:nvPr/>
        </p:nvSpPr>
        <p:spPr>
          <a:xfrm>
            <a:off x="2895600" y="2724150"/>
            <a:ext cx="3124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b="1" dirty="0"/>
              <a:t>Task Significance</a:t>
            </a:r>
          </a:p>
        </p:txBody>
      </p:sp>
      <p:sp>
        <p:nvSpPr>
          <p:cNvPr id="15" name="Rectangle 14"/>
          <p:cNvSpPr/>
          <p:nvPr/>
        </p:nvSpPr>
        <p:spPr>
          <a:xfrm>
            <a:off x="5638800" y="4248150"/>
            <a:ext cx="3429000" cy="838200"/>
          </a:xfrm>
          <a:prstGeom prst="rect">
            <a:avLst/>
          </a:prstGeom>
          <a:ln w="50800">
            <a:solidFill>
              <a:srgbClr val="FFC000"/>
            </a:solidFill>
          </a:ln>
        </p:spPr>
        <p:style>
          <a:lnRef idx="2">
            <a:schemeClr val="accent4"/>
          </a:lnRef>
          <a:fillRef idx="1">
            <a:schemeClr val="lt1"/>
          </a:fillRef>
          <a:effectRef idx="0">
            <a:schemeClr val="accent4"/>
          </a:effectRef>
          <a:fontRef idx="minor">
            <a:schemeClr val="dk1"/>
          </a:fontRef>
        </p:style>
        <p:txBody>
          <a:bodyPr rtlCol="0" anchor="ctr"/>
          <a:lstStyle/>
          <a:p>
            <a:pPr marL="0" lvl="1" algn="ctr"/>
            <a:r>
              <a:rPr lang="en-US" sz="1600" dirty="0"/>
              <a:t>Extent to which work allows employee to gain sense of how well job responsibilities are met</a:t>
            </a:r>
          </a:p>
        </p:txBody>
      </p:sp>
      <p:sp>
        <p:nvSpPr>
          <p:cNvPr id="16" name="Oval 15"/>
          <p:cNvSpPr/>
          <p:nvPr/>
        </p:nvSpPr>
        <p:spPr>
          <a:xfrm>
            <a:off x="5791200" y="3867150"/>
            <a:ext cx="3124200" cy="4953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b="1" dirty="0"/>
              <a:t>Feedback</a:t>
            </a:r>
          </a:p>
        </p:txBody>
      </p:sp>
      <p:sp>
        <p:nvSpPr>
          <p:cNvPr id="17" name="Rectangle 16"/>
          <p:cNvSpPr/>
          <p:nvPr/>
        </p:nvSpPr>
        <p:spPr>
          <a:xfrm>
            <a:off x="64168" y="4248150"/>
            <a:ext cx="3429000" cy="838200"/>
          </a:xfrm>
          <a:prstGeom prst="rect">
            <a:avLst/>
          </a:prstGeom>
          <a:ln w="50800">
            <a:solidFill>
              <a:srgbClr val="00B050"/>
            </a:solidFill>
          </a:ln>
        </p:spPr>
        <p:style>
          <a:lnRef idx="2">
            <a:schemeClr val="accent4"/>
          </a:lnRef>
          <a:fillRef idx="1">
            <a:schemeClr val="lt1"/>
          </a:fillRef>
          <a:effectRef idx="0">
            <a:schemeClr val="accent4"/>
          </a:effectRef>
          <a:fontRef idx="minor">
            <a:schemeClr val="dk1"/>
          </a:fontRef>
        </p:style>
        <p:txBody>
          <a:bodyPr rtlCol="0" anchor="ctr"/>
          <a:lstStyle/>
          <a:p>
            <a:pPr marL="0" lvl="1" algn="ctr"/>
            <a:r>
              <a:rPr lang="en-US" sz="1600" dirty="0"/>
              <a:t>Extent to which employee is able to work &amp; determine work procedure at  own discretion</a:t>
            </a:r>
          </a:p>
        </p:txBody>
      </p:sp>
      <p:sp>
        <p:nvSpPr>
          <p:cNvPr id="18" name="Oval 17"/>
          <p:cNvSpPr/>
          <p:nvPr/>
        </p:nvSpPr>
        <p:spPr>
          <a:xfrm>
            <a:off x="216568" y="3867150"/>
            <a:ext cx="3124200" cy="4953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b="1" dirty="0"/>
              <a:t>Autonomy</a:t>
            </a:r>
          </a:p>
        </p:txBody>
      </p:sp>
    </p:spTree>
    <p:extLst>
      <p:ext uri="{BB962C8B-B14F-4D97-AF65-F5344CB8AC3E}">
        <p14:creationId xmlns:p14="http://schemas.microsoft.com/office/powerpoint/2010/main" val="4944122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normAutofit/>
          </a:bodyPr>
          <a:lstStyle/>
          <a:p>
            <a:r>
              <a:rPr lang="en-US" sz="3600" dirty="0"/>
              <a:t>JCM: Designing Motivational Jobs</a:t>
            </a:r>
          </a:p>
        </p:txBody>
      </p:sp>
      <p:sp>
        <p:nvSpPr>
          <p:cNvPr id="5" name="Rectangle 6"/>
          <p:cNvSpPr>
            <a:spLocks noGrp="1" noChangeArrowheads="1"/>
          </p:cNvSpPr>
          <p:nvPr>
            <p:ph type="sldNum" sz="quarter" idx="12"/>
          </p:nvPr>
        </p:nvSpPr>
        <p:spPr>
          <a:ln/>
        </p:spPr>
        <p:txBody>
          <a:bodyPr>
            <a:normAutofit fontScale="47500" lnSpcReduction="20000"/>
          </a:bodyPr>
          <a:lstStyle/>
          <a:p>
            <a:r>
              <a:rPr lang="en-US"/>
              <a:t>6-</a:t>
            </a:r>
            <a:fld id="{6B83B4A8-E3A5-4A68-9D8C-065D4A223234}" type="slidenum">
              <a:rPr lang="en-US"/>
              <a:pPr/>
              <a:t>24</a:t>
            </a:fld>
            <a:endParaRPr lang="en-US"/>
          </a:p>
        </p:txBody>
      </p:sp>
      <p:sp>
        <p:nvSpPr>
          <p:cNvPr id="11" name="Content Placeholder 10"/>
          <p:cNvSpPr>
            <a:spLocks noGrp="1"/>
          </p:cNvSpPr>
          <p:nvPr>
            <p:ph sz="quarter" idx="13"/>
          </p:nvPr>
        </p:nvSpPr>
        <p:spPr/>
        <p:txBody>
          <a:bodyPr>
            <a:normAutofit/>
          </a:bodyPr>
          <a:lstStyle/>
          <a:p>
            <a:pPr>
              <a:spcAft>
                <a:spcPts val="1200"/>
              </a:spcAft>
            </a:pPr>
            <a:r>
              <a:rPr lang="en-US" sz="2400" dirty="0"/>
              <a:t>JCM-designed jobs give internal rewards</a:t>
            </a:r>
          </a:p>
          <a:p>
            <a:pPr>
              <a:spcAft>
                <a:spcPts val="1200"/>
              </a:spcAft>
            </a:pPr>
            <a:r>
              <a:rPr lang="en-US" sz="2400" dirty="0"/>
              <a:t>Individual’s growth needs are moderating factors</a:t>
            </a:r>
          </a:p>
          <a:p>
            <a:r>
              <a:rPr lang="en-US" sz="2400" dirty="0"/>
              <a:t>Motivating jobs must be:</a:t>
            </a:r>
          </a:p>
          <a:p>
            <a:pPr lvl="1">
              <a:spcAft>
                <a:spcPts val="600"/>
              </a:spcAft>
            </a:pPr>
            <a:r>
              <a:rPr lang="en-US" sz="2000" dirty="0"/>
              <a:t>Autonomous (Independent/Self-directed)</a:t>
            </a:r>
          </a:p>
          <a:p>
            <a:pPr lvl="1">
              <a:spcAft>
                <a:spcPts val="600"/>
              </a:spcAft>
            </a:pPr>
            <a:r>
              <a:rPr lang="en-US" sz="2000" dirty="0"/>
              <a:t>Provide feedback, and </a:t>
            </a:r>
          </a:p>
          <a:p>
            <a:pPr lvl="1">
              <a:spcAft>
                <a:spcPts val="600"/>
              </a:spcAft>
            </a:pPr>
            <a:r>
              <a:rPr lang="en-US" sz="2000" dirty="0"/>
              <a:t>Have at least one of the three meaningfulness factors</a:t>
            </a:r>
          </a:p>
        </p:txBody>
      </p:sp>
      <p:pic>
        <p:nvPicPr>
          <p:cNvPr id="54285" name="Picture 13" descr="C:\Users\Bob Stretch\AppData\Local\Microsoft\Windows\Temporary Internet Files\Content.IE5\SEQ5QILQ\MPj04094020000[1].jpg"/>
          <p:cNvPicPr>
            <a:picLocks noChangeAspect="1" noChangeArrowheads="1"/>
          </p:cNvPicPr>
          <p:nvPr/>
        </p:nvPicPr>
        <p:blipFill>
          <a:blip r:embed="rId2"/>
          <a:srcRect/>
          <a:stretch>
            <a:fillRect/>
          </a:stretch>
        </p:blipFill>
        <p:spPr bwMode="auto">
          <a:xfrm>
            <a:off x="7010400" y="2533650"/>
            <a:ext cx="1981200" cy="1485900"/>
          </a:xfrm>
          <a:prstGeom prst="rect">
            <a:avLst/>
          </a:prstGeom>
          <a:noFill/>
          <a:ln w="15875">
            <a:solidFill>
              <a:schemeClr val="accent4">
                <a:lumMod val="10000"/>
              </a:schemeClr>
            </a:solidFill>
          </a:ln>
          <a:effectLst>
            <a:outerShdw blurRad="50800" dist="76200" dir="8100000" algn="tr" rotWithShape="0">
              <a:prstClr val="black">
                <a:alpha val="40000"/>
              </a:prstClr>
            </a:outerShdw>
          </a:effectLst>
        </p:spPr>
      </p:pic>
    </p:spTree>
    <p:extLst>
      <p:ext uri="{BB962C8B-B14F-4D97-AF65-F5344CB8AC3E}">
        <p14:creationId xmlns:p14="http://schemas.microsoft.com/office/powerpoint/2010/main" val="4265825849"/>
      </p:ext>
    </p:extLst>
  </p:cSld>
  <p:clrMapOvr>
    <a:masterClrMapping/>
  </p:clrMapOvr>
  <p:transition>
    <p:pull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0" presetClass="entr" presetSubtype="0"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wedge">
                                      <p:cBhvr>
                                        <p:cTn id="7" dur="2000"/>
                                        <p:tgtEl>
                                          <p:spTgt spid="1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0" presetClass="entr" presetSubtype="0" fill="hold" grpId="0" nodeType="clickEffect">
                                  <p:stCondLst>
                                    <p:cond delay="0"/>
                                  </p:stCondLst>
                                  <p:childTnLst>
                                    <p:set>
                                      <p:cBhvr>
                                        <p:cTn id="11" dur="1" fill="hold">
                                          <p:stCondLst>
                                            <p:cond delay="0"/>
                                          </p:stCondLst>
                                        </p:cTn>
                                        <p:tgtEl>
                                          <p:spTgt spid="11">
                                            <p:txEl>
                                              <p:pRg st="1" end="1"/>
                                            </p:txEl>
                                          </p:spTgt>
                                        </p:tgtEl>
                                        <p:attrNameLst>
                                          <p:attrName>style.visibility</p:attrName>
                                        </p:attrNameLst>
                                      </p:cBhvr>
                                      <p:to>
                                        <p:strVal val="visible"/>
                                      </p:to>
                                    </p:set>
                                    <p:animEffect transition="in" filter="wedge">
                                      <p:cBhvr>
                                        <p:cTn id="12" dur="2000"/>
                                        <p:tgtEl>
                                          <p:spTgt spid="1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0" presetClass="entr" presetSubtype="0" fill="hold" grpId="0" nodeType="clickEffect">
                                  <p:stCondLst>
                                    <p:cond delay="0"/>
                                  </p:stCondLst>
                                  <p:childTnLst>
                                    <p:set>
                                      <p:cBhvr>
                                        <p:cTn id="16" dur="1" fill="hold">
                                          <p:stCondLst>
                                            <p:cond delay="0"/>
                                          </p:stCondLst>
                                        </p:cTn>
                                        <p:tgtEl>
                                          <p:spTgt spid="11">
                                            <p:txEl>
                                              <p:pRg st="2" end="2"/>
                                            </p:txEl>
                                          </p:spTgt>
                                        </p:tgtEl>
                                        <p:attrNameLst>
                                          <p:attrName>style.visibility</p:attrName>
                                        </p:attrNameLst>
                                      </p:cBhvr>
                                      <p:to>
                                        <p:strVal val="visible"/>
                                      </p:to>
                                    </p:set>
                                    <p:animEffect transition="in" filter="wedge">
                                      <p:cBhvr>
                                        <p:cTn id="17" dur="2000"/>
                                        <p:tgtEl>
                                          <p:spTgt spid="11">
                                            <p:txEl>
                                              <p:pRg st="2" end="2"/>
                                            </p:txEl>
                                          </p:spTgt>
                                        </p:tgtEl>
                                      </p:cBhvr>
                                    </p:animEffect>
                                  </p:childTnLst>
                                </p:cTn>
                              </p:par>
                              <p:par>
                                <p:cTn id="18" presetID="20" presetClass="entr" presetSubtype="0" fill="hold" grpId="0" nodeType="withEffect">
                                  <p:stCondLst>
                                    <p:cond delay="0"/>
                                  </p:stCondLst>
                                  <p:childTnLst>
                                    <p:set>
                                      <p:cBhvr>
                                        <p:cTn id="19" dur="1" fill="hold">
                                          <p:stCondLst>
                                            <p:cond delay="0"/>
                                          </p:stCondLst>
                                        </p:cTn>
                                        <p:tgtEl>
                                          <p:spTgt spid="11">
                                            <p:txEl>
                                              <p:pRg st="3" end="3"/>
                                            </p:txEl>
                                          </p:spTgt>
                                        </p:tgtEl>
                                        <p:attrNameLst>
                                          <p:attrName>style.visibility</p:attrName>
                                        </p:attrNameLst>
                                      </p:cBhvr>
                                      <p:to>
                                        <p:strVal val="visible"/>
                                      </p:to>
                                    </p:set>
                                    <p:animEffect transition="in" filter="wedge">
                                      <p:cBhvr>
                                        <p:cTn id="20" dur="2000"/>
                                        <p:tgtEl>
                                          <p:spTgt spid="11">
                                            <p:txEl>
                                              <p:pRg st="3" end="3"/>
                                            </p:txEl>
                                          </p:spTgt>
                                        </p:tgtEl>
                                      </p:cBhvr>
                                    </p:animEffect>
                                  </p:childTnLst>
                                </p:cTn>
                              </p:par>
                              <p:par>
                                <p:cTn id="21" presetID="20" presetClass="entr" presetSubtype="0" fill="hold" grpId="0" nodeType="withEffect">
                                  <p:stCondLst>
                                    <p:cond delay="0"/>
                                  </p:stCondLst>
                                  <p:childTnLst>
                                    <p:set>
                                      <p:cBhvr>
                                        <p:cTn id="22" dur="1" fill="hold">
                                          <p:stCondLst>
                                            <p:cond delay="0"/>
                                          </p:stCondLst>
                                        </p:cTn>
                                        <p:tgtEl>
                                          <p:spTgt spid="11">
                                            <p:txEl>
                                              <p:pRg st="4" end="4"/>
                                            </p:txEl>
                                          </p:spTgt>
                                        </p:tgtEl>
                                        <p:attrNameLst>
                                          <p:attrName>style.visibility</p:attrName>
                                        </p:attrNameLst>
                                      </p:cBhvr>
                                      <p:to>
                                        <p:strVal val="visible"/>
                                      </p:to>
                                    </p:set>
                                    <p:animEffect transition="in" filter="wedge">
                                      <p:cBhvr>
                                        <p:cTn id="23" dur="2000"/>
                                        <p:tgtEl>
                                          <p:spTgt spid="11">
                                            <p:txEl>
                                              <p:pRg st="4" end="4"/>
                                            </p:txEl>
                                          </p:spTgt>
                                        </p:tgtEl>
                                      </p:cBhvr>
                                    </p:animEffect>
                                  </p:childTnLst>
                                </p:cTn>
                              </p:par>
                              <p:par>
                                <p:cTn id="24" presetID="20" presetClass="entr" presetSubtype="0" fill="hold" grpId="0" nodeType="withEffect">
                                  <p:stCondLst>
                                    <p:cond delay="0"/>
                                  </p:stCondLst>
                                  <p:childTnLst>
                                    <p:set>
                                      <p:cBhvr>
                                        <p:cTn id="25" dur="1" fill="hold">
                                          <p:stCondLst>
                                            <p:cond delay="0"/>
                                          </p:stCondLst>
                                        </p:cTn>
                                        <p:tgtEl>
                                          <p:spTgt spid="11">
                                            <p:txEl>
                                              <p:pRg st="5" end="5"/>
                                            </p:txEl>
                                          </p:spTgt>
                                        </p:tgtEl>
                                        <p:attrNameLst>
                                          <p:attrName>style.visibility</p:attrName>
                                        </p:attrNameLst>
                                      </p:cBhvr>
                                      <p:to>
                                        <p:strVal val="visible"/>
                                      </p:to>
                                    </p:set>
                                    <p:animEffect transition="in" filter="wedge">
                                      <p:cBhvr>
                                        <p:cTn id="26" dur="2000"/>
                                        <p:tgtEl>
                                          <p:spTgt spid="1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job specialization"/>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r="61770" b="12475"/>
          <a:stretch/>
        </p:blipFill>
        <p:spPr bwMode="auto">
          <a:xfrm>
            <a:off x="-1" y="1352550"/>
            <a:ext cx="1765237" cy="253365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normAutofit/>
          </a:bodyPr>
          <a:lstStyle/>
          <a:p>
            <a:pPr marL="514350" indent="-514350"/>
            <a:r>
              <a:rPr lang="en-US" sz="3600"/>
              <a:t>How Can Jobs be Redesigned?</a:t>
            </a:r>
            <a:endParaRPr lang="en-US" sz="2400" dirty="0"/>
          </a:p>
        </p:txBody>
      </p:sp>
      <p:sp>
        <p:nvSpPr>
          <p:cNvPr id="9" name="Rectangle 8"/>
          <p:cNvSpPr/>
          <p:nvPr/>
        </p:nvSpPr>
        <p:spPr>
          <a:xfrm>
            <a:off x="5486400" y="1851858"/>
            <a:ext cx="3429000" cy="1462842"/>
          </a:xfrm>
          <a:prstGeom prst="rect">
            <a:avLst/>
          </a:prstGeom>
          <a:ln w="50800"/>
        </p:spPr>
        <p:style>
          <a:lnRef idx="2">
            <a:schemeClr val="accent2"/>
          </a:lnRef>
          <a:fillRef idx="1">
            <a:schemeClr val="lt1"/>
          </a:fillRef>
          <a:effectRef idx="0">
            <a:schemeClr val="accent2"/>
          </a:effectRef>
          <a:fontRef idx="minor">
            <a:schemeClr val="dk1"/>
          </a:fontRef>
        </p:style>
        <p:txBody>
          <a:bodyPr rtlCol="0" anchor="ctr"/>
          <a:lstStyle/>
          <a:p>
            <a:pPr marL="0" lvl="1" algn="ctr"/>
            <a:r>
              <a:rPr lang="en-US" dirty="0"/>
              <a:t>Assigning workers additional same level activities, thus increasing the number of activities they perform. </a:t>
            </a:r>
            <a:r>
              <a:rPr lang="en-US" i="1" dirty="0"/>
              <a:t>An increase in task variety to relieve boredom</a:t>
            </a:r>
          </a:p>
        </p:txBody>
      </p:sp>
      <p:sp>
        <p:nvSpPr>
          <p:cNvPr id="10" name="Rectangle 9"/>
          <p:cNvSpPr/>
          <p:nvPr/>
        </p:nvSpPr>
        <p:spPr>
          <a:xfrm>
            <a:off x="1852864" y="1851858"/>
            <a:ext cx="3481136" cy="1485900"/>
          </a:xfrm>
          <a:prstGeom prst="rect">
            <a:avLst/>
          </a:prstGeom>
          <a:ln w="50800"/>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Redesigning jobs in a way that increases the opportunities for the worker to experience feelings of responsibility, achievement, growth, and recognition.</a:t>
            </a:r>
          </a:p>
        </p:txBody>
      </p:sp>
      <p:sp>
        <p:nvSpPr>
          <p:cNvPr id="11" name="Oval 10"/>
          <p:cNvSpPr/>
          <p:nvPr/>
        </p:nvSpPr>
        <p:spPr>
          <a:xfrm>
            <a:off x="5638800" y="1352550"/>
            <a:ext cx="3124200" cy="5715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b="1" dirty="0"/>
              <a:t>JOB ENLARGEMENT</a:t>
            </a:r>
          </a:p>
        </p:txBody>
      </p:sp>
      <p:sp>
        <p:nvSpPr>
          <p:cNvPr id="12" name="Oval 11"/>
          <p:cNvSpPr/>
          <p:nvPr/>
        </p:nvSpPr>
        <p:spPr>
          <a:xfrm>
            <a:off x="1929064" y="1352550"/>
            <a:ext cx="3124200" cy="5715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b="1" dirty="0"/>
              <a:t>JOB ENRICHMENT</a:t>
            </a:r>
          </a:p>
        </p:txBody>
      </p:sp>
      <p:sp>
        <p:nvSpPr>
          <p:cNvPr id="13" name="Rectangle 12"/>
          <p:cNvSpPr/>
          <p:nvPr/>
        </p:nvSpPr>
        <p:spPr>
          <a:xfrm>
            <a:off x="1447800" y="3886200"/>
            <a:ext cx="3429000" cy="1200150"/>
          </a:xfrm>
          <a:prstGeom prst="rect">
            <a:avLst/>
          </a:prstGeom>
          <a:ln w="50800"/>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Systematically moving workers from one job to another to enhance work team performance.</a:t>
            </a:r>
          </a:p>
        </p:txBody>
      </p:sp>
      <p:sp>
        <p:nvSpPr>
          <p:cNvPr id="14" name="Oval 13"/>
          <p:cNvSpPr/>
          <p:nvPr/>
        </p:nvSpPr>
        <p:spPr>
          <a:xfrm>
            <a:off x="1600200" y="3486150"/>
            <a:ext cx="3124200" cy="5715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b="1" dirty="0"/>
              <a:t>JOB ROTATION</a:t>
            </a:r>
          </a:p>
        </p:txBody>
      </p:sp>
      <p:pic>
        <p:nvPicPr>
          <p:cNvPr id="1030" name="Picture 6" descr="Image result for job rotation"/>
          <p:cNvPicPr>
            <a:picLocks noChangeAspect="1" noChangeArrowheads="1"/>
          </p:cNvPicPr>
          <p:nvPr/>
        </p:nvPicPr>
        <p:blipFill rotWithShape="1">
          <a:blip r:embed="rId3">
            <a:extLst>
              <a:ext uri="{28A0092B-C50C-407E-A947-70E740481C1C}">
                <a14:useLocalDpi xmlns:a14="http://schemas.microsoft.com/office/drawing/2010/main" val="0"/>
              </a:ext>
            </a:extLst>
          </a:blip>
          <a:srcRect l="5629" t="2049" r="4467" b="50000"/>
          <a:stretch/>
        </p:blipFill>
        <p:spPr bwMode="auto">
          <a:xfrm>
            <a:off x="4917293" y="3678655"/>
            <a:ext cx="4226707" cy="1447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75080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Grp="1" noChangeArrowheads="1"/>
          </p:cNvSpPr>
          <p:nvPr>
            <p:ph type="title"/>
          </p:nvPr>
        </p:nvSpPr>
        <p:spPr/>
        <p:txBody>
          <a:bodyPr>
            <a:normAutofit fontScale="90000"/>
          </a:bodyPr>
          <a:lstStyle/>
          <a:p>
            <a:r>
              <a:rPr lang="en-US" dirty="0"/>
              <a:t>Guidelines for Enriching a Job Using JCM</a:t>
            </a:r>
          </a:p>
        </p:txBody>
      </p:sp>
      <p:sp>
        <p:nvSpPr>
          <p:cNvPr id="7" name="TextBox 6"/>
          <p:cNvSpPr txBox="1"/>
          <p:nvPr/>
        </p:nvSpPr>
        <p:spPr>
          <a:xfrm>
            <a:off x="838200" y="4717018"/>
            <a:ext cx="7239000" cy="369332"/>
          </a:xfrm>
          <a:prstGeom prst="rect">
            <a:avLst/>
          </a:prstGeom>
          <a:noFill/>
        </p:spPr>
        <p:txBody>
          <a:bodyPr>
            <a:spAutoFit/>
          </a:bodyPr>
          <a:lstStyle/>
          <a:p>
            <a:pPr>
              <a:defRPr/>
            </a:pPr>
            <a:r>
              <a:rPr lang="en-US" dirty="0">
                <a:solidFill>
                  <a:schemeClr val="accent4">
                    <a:lumMod val="10000"/>
                  </a:schemeClr>
                </a:solidFill>
              </a:rPr>
              <a:t>Enrichment reduces turnover and absenteeism while increasing satisfaction.</a:t>
            </a:r>
          </a:p>
        </p:txBody>
      </p:sp>
      <p:pic>
        <p:nvPicPr>
          <p:cNvPr id="6"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333500"/>
            <a:ext cx="7135192" cy="3383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57858148"/>
      </p:ext>
    </p:extLst>
  </p:cSld>
  <p:clrMapOvr>
    <a:masterClrMapping/>
  </p:clrMapOvr>
  <p:transition>
    <p:pull dir="d"/>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normAutofit/>
          </a:bodyPr>
          <a:lstStyle/>
          <a:p>
            <a:r>
              <a:rPr lang="en-US"/>
              <a:t>Alternate Work Arrangements</a:t>
            </a:r>
          </a:p>
        </p:txBody>
      </p:sp>
      <p:sp>
        <p:nvSpPr>
          <p:cNvPr id="5" name="Rectangle 6"/>
          <p:cNvSpPr>
            <a:spLocks noGrp="1" noChangeArrowheads="1"/>
          </p:cNvSpPr>
          <p:nvPr>
            <p:ph type="sldNum" sz="quarter" idx="12"/>
          </p:nvPr>
        </p:nvSpPr>
        <p:spPr>
          <a:ln/>
        </p:spPr>
        <p:txBody>
          <a:bodyPr>
            <a:normAutofit fontScale="47500" lnSpcReduction="20000"/>
          </a:bodyPr>
          <a:lstStyle/>
          <a:p>
            <a:r>
              <a:rPr lang="en-US"/>
              <a:t>6-</a:t>
            </a:r>
            <a:fld id="{BDB0C9EE-7D7E-441C-908D-FD4527AFA7A3}" type="slidenum">
              <a:rPr lang="en-US"/>
              <a:pPr/>
              <a:t>27</a:t>
            </a:fld>
            <a:endParaRPr lang="en-US"/>
          </a:p>
        </p:txBody>
      </p:sp>
      <p:sp>
        <p:nvSpPr>
          <p:cNvPr id="59395" name="Rectangle 3"/>
          <p:cNvSpPr>
            <a:spLocks noGrp="1" noChangeArrowheads="1"/>
          </p:cNvSpPr>
          <p:nvPr>
            <p:ph sz="quarter" idx="13"/>
          </p:nvPr>
        </p:nvSpPr>
        <p:spPr/>
        <p:txBody>
          <a:bodyPr>
            <a:normAutofit/>
          </a:bodyPr>
          <a:lstStyle/>
          <a:p>
            <a:r>
              <a:rPr lang="en-US" sz="2400" b="1" dirty="0"/>
              <a:t>Flextime</a:t>
            </a:r>
            <a:r>
              <a:rPr lang="en-US" sz="2400" dirty="0"/>
              <a:t> </a:t>
            </a:r>
          </a:p>
          <a:p>
            <a:pPr lvl="1"/>
            <a:r>
              <a:rPr lang="en-US" sz="2000" dirty="0"/>
              <a:t>Some discretion over when worker starts and leaves</a:t>
            </a:r>
          </a:p>
          <a:p>
            <a:r>
              <a:rPr lang="en-US" sz="2400" b="1" dirty="0"/>
              <a:t>Job Sharing</a:t>
            </a:r>
          </a:p>
          <a:p>
            <a:pPr lvl="1"/>
            <a:r>
              <a:rPr lang="en-US" sz="2000" dirty="0"/>
              <a:t>Two or more individuals split a traditional job</a:t>
            </a:r>
          </a:p>
          <a:p>
            <a:r>
              <a:rPr lang="en-US" sz="2400" b="1" dirty="0"/>
              <a:t>Telecommuting</a:t>
            </a:r>
            <a:r>
              <a:rPr lang="en-US" sz="2400" dirty="0"/>
              <a:t> </a:t>
            </a:r>
          </a:p>
          <a:p>
            <a:pPr lvl="1"/>
            <a:r>
              <a:rPr lang="en-US" sz="2000" dirty="0"/>
              <a:t>Work remotely at least two days per week</a:t>
            </a:r>
          </a:p>
        </p:txBody>
      </p:sp>
      <p:pic>
        <p:nvPicPr>
          <p:cNvPr id="59396" name="Picture 4" descr="C:\Users\Bob Stretch\AppData\Local\Microsoft\Windows\Temporary Internet Files\Content.IE5\K0JS0KIR\MPj02849390000[1].jpg"/>
          <p:cNvPicPr>
            <a:picLocks noChangeAspect="1" noChangeArrowheads="1"/>
          </p:cNvPicPr>
          <p:nvPr/>
        </p:nvPicPr>
        <p:blipFill>
          <a:blip r:embed="rId3">
            <a:extLst>
              <a:ext uri="{28A0092B-C50C-407E-A947-70E740481C1C}">
                <a14:useLocalDpi xmlns:a14="http://schemas.microsoft.com/office/drawing/2010/main" val="0"/>
              </a:ext>
            </a:extLst>
          </a:blip>
          <a:srcRect l="6889" r="13223"/>
          <a:stretch>
            <a:fillRect/>
          </a:stretch>
        </p:blipFill>
        <p:spPr bwMode="auto">
          <a:xfrm>
            <a:off x="7352270" y="1352550"/>
            <a:ext cx="1715530" cy="2800350"/>
          </a:xfrm>
          <a:prstGeom prst="rect">
            <a:avLst/>
          </a:prstGeom>
          <a:noFill/>
          <a:ln w="15875">
            <a:solidFill>
              <a:srgbClr val="161616"/>
            </a:solidFill>
            <a:miter lim="800000"/>
            <a:headEnd/>
            <a:tailEnd/>
          </a:ln>
          <a:effectLst>
            <a:outerShdw dist="76201" dir="8100000" algn="tr" rotWithShape="0">
              <a:srgbClr val="000000">
                <a:alpha val="39999"/>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0378591"/>
      </p:ext>
    </p:extLst>
  </p:cSld>
  <p:clrMapOvr>
    <a:masterClrMapping/>
  </p:clrMapOvr>
  <p:transition>
    <p:pull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9395">
                                            <p:txEl>
                                              <p:pRg st="0" end="0"/>
                                            </p:txEl>
                                          </p:spTgt>
                                        </p:tgtEl>
                                        <p:attrNameLst>
                                          <p:attrName>style.visibility</p:attrName>
                                        </p:attrNameLst>
                                      </p:cBhvr>
                                      <p:to>
                                        <p:strVal val="visible"/>
                                      </p:to>
                                    </p:set>
                                    <p:animEffect transition="in" filter="wipe(left)">
                                      <p:cBhvr>
                                        <p:cTn id="7" dur="500"/>
                                        <p:tgtEl>
                                          <p:spTgt spid="59395">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9395">
                                            <p:txEl>
                                              <p:pRg st="1" end="1"/>
                                            </p:txEl>
                                          </p:spTgt>
                                        </p:tgtEl>
                                        <p:attrNameLst>
                                          <p:attrName>style.visibility</p:attrName>
                                        </p:attrNameLst>
                                      </p:cBhvr>
                                      <p:to>
                                        <p:strVal val="visible"/>
                                      </p:to>
                                    </p:set>
                                    <p:animEffect transition="in" filter="wipe(left)">
                                      <p:cBhvr>
                                        <p:cTn id="10" dur="500"/>
                                        <p:tgtEl>
                                          <p:spTgt spid="59395">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59395">
                                            <p:txEl>
                                              <p:pRg st="2" end="2"/>
                                            </p:txEl>
                                          </p:spTgt>
                                        </p:tgtEl>
                                        <p:attrNameLst>
                                          <p:attrName>style.visibility</p:attrName>
                                        </p:attrNameLst>
                                      </p:cBhvr>
                                      <p:to>
                                        <p:strVal val="visible"/>
                                      </p:to>
                                    </p:set>
                                    <p:animEffect transition="in" filter="wipe(left)">
                                      <p:cBhvr>
                                        <p:cTn id="15" dur="500"/>
                                        <p:tgtEl>
                                          <p:spTgt spid="59395">
                                            <p:txEl>
                                              <p:pRg st="2" end="2"/>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59395">
                                            <p:txEl>
                                              <p:pRg st="3" end="3"/>
                                            </p:txEl>
                                          </p:spTgt>
                                        </p:tgtEl>
                                        <p:attrNameLst>
                                          <p:attrName>style.visibility</p:attrName>
                                        </p:attrNameLst>
                                      </p:cBhvr>
                                      <p:to>
                                        <p:strVal val="visible"/>
                                      </p:to>
                                    </p:set>
                                    <p:animEffect transition="in" filter="wipe(left)">
                                      <p:cBhvr>
                                        <p:cTn id="18" dur="500"/>
                                        <p:tgtEl>
                                          <p:spTgt spid="59395">
                                            <p:txEl>
                                              <p:pRg st="3" end="3"/>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59395">
                                            <p:txEl>
                                              <p:pRg st="4" end="4"/>
                                            </p:txEl>
                                          </p:spTgt>
                                        </p:tgtEl>
                                        <p:attrNameLst>
                                          <p:attrName>style.visibility</p:attrName>
                                        </p:attrNameLst>
                                      </p:cBhvr>
                                      <p:to>
                                        <p:strVal val="visible"/>
                                      </p:to>
                                    </p:set>
                                    <p:animEffect transition="in" filter="wipe(left)">
                                      <p:cBhvr>
                                        <p:cTn id="23" dur="500"/>
                                        <p:tgtEl>
                                          <p:spTgt spid="59395">
                                            <p:txEl>
                                              <p:pRg st="4" end="4"/>
                                            </p:txEl>
                                          </p:spTgt>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59395">
                                            <p:txEl>
                                              <p:pRg st="5" end="5"/>
                                            </p:txEl>
                                          </p:spTgt>
                                        </p:tgtEl>
                                        <p:attrNameLst>
                                          <p:attrName>style.visibility</p:attrName>
                                        </p:attrNameLst>
                                      </p:cBhvr>
                                      <p:to>
                                        <p:strVal val="visible"/>
                                      </p:to>
                                    </p:set>
                                    <p:animEffect transition="in" filter="wipe(left)">
                                      <p:cBhvr>
                                        <p:cTn id="26" dur="500"/>
                                        <p:tgtEl>
                                          <p:spTgt spid="5939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5"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en-US"/>
              <a:t>Employee Involvement</a:t>
            </a:r>
          </a:p>
        </p:txBody>
      </p:sp>
      <p:sp>
        <p:nvSpPr>
          <p:cNvPr id="5" name="Rectangle 6"/>
          <p:cNvSpPr>
            <a:spLocks noGrp="1" noChangeArrowheads="1"/>
          </p:cNvSpPr>
          <p:nvPr>
            <p:ph type="sldNum" sz="quarter" idx="12"/>
          </p:nvPr>
        </p:nvSpPr>
        <p:spPr>
          <a:ln/>
        </p:spPr>
        <p:txBody>
          <a:bodyPr>
            <a:normAutofit fontScale="47500" lnSpcReduction="20000"/>
          </a:bodyPr>
          <a:lstStyle/>
          <a:p>
            <a:r>
              <a:rPr lang="en-US"/>
              <a:t>6-</a:t>
            </a:r>
            <a:fld id="{411C612F-096D-4760-819F-FB8844EF513A}" type="slidenum">
              <a:rPr lang="en-US"/>
              <a:pPr/>
              <a:t>28</a:t>
            </a:fld>
            <a:endParaRPr lang="en-US"/>
          </a:p>
        </p:txBody>
      </p:sp>
      <p:sp>
        <p:nvSpPr>
          <p:cNvPr id="11267" name="Rectangle 3"/>
          <p:cNvSpPr>
            <a:spLocks noGrp="1" noChangeArrowheads="1"/>
          </p:cNvSpPr>
          <p:nvPr>
            <p:ph sz="quarter" idx="13"/>
          </p:nvPr>
        </p:nvSpPr>
        <p:spPr/>
        <p:txBody>
          <a:bodyPr>
            <a:noAutofit/>
          </a:bodyPr>
          <a:lstStyle/>
          <a:p>
            <a:pPr>
              <a:spcBef>
                <a:spcPct val="50000"/>
              </a:spcBef>
            </a:pPr>
            <a:r>
              <a:rPr lang="en-US" sz="2200" dirty="0"/>
              <a:t>A participative process that uses the entire capacity of employees and is designed to encourage increased commitment to the organization’s success</a:t>
            </a:r>
            <a:endParaRPr lang="en-US" sz="2000" dirty="0"/>
          </a:p>
          <a:p>
            <a:pPr marL="0" indent="0">
              <a:buFontTx/>
              <a:buNone/>
              <a:tabLst>
                <a:tab pos="117475" algn="l"/>
              </a:tabLst>
            </a:pPr>
            <a:r>
              <a:rPr lang="en-US" sz="2000" dirty="0"/>
              <a:t>Two types:</a:t>
            </a:r>
          </a:p>
          <a:p>
            <a:pPr>
              <a:spcBef>
                <a:spcPct val="50000"/>
              </a:spcBef>
            </a:pPr>
            <a:r>
              <a:rPr lang="en-US" sz="2000" dirty="0">
                <a:solidFill>
                  <a:srgbClr val="CC6600"/>
                </a:solidFill>
              </a:rPr>
              <a:t>Participative Management</a:t>
            </a:r>
          </a:p>
          <a:p>
            <a:pPr>
              <a:spcBef>
                <a:spcPct val="50000"/>
              </a:spcBef>
            </a:pPr>
            <a:r>
              <a:rPr lang="en-US" sz="2000" dirty="0">
                <a:solidFill>
                  <a:srgbClr val="CC6600"/>
                </a:solidFill>
              </a:rPr>
              <a:t>Representative Management</a:t>
            </a:r>
          </a:p>
        </p:txBody>
      </p:sp>
      <p:pic>
        <p:nvPicPr>
          <p:cNvPr id="6" name="Picture 5" descr="pe05779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72200" y="2800350"/>
            <a:ext cx="2805630" cy="2343150"/>
          </a:xfrm>
          <a:prstGeom prst="rect">
            <a:avLst/>
          </a:prstGeom>
          <a:solidFill>
            <a:srgbClr val="CC6600"/>
          </a:solidFill>
        </p:spPr>
      </p:pic>
    </p:spTree>
    <p:extLst>
      <p:ext uri="{BB962C8B-B14F-4D97-AF65-F5344CB8AC3E}">
        <p14:creationId xmlns:p14="http://schemas.microsoft.com/office/powerpoint/2010/main" val="1364310786"/>
      </p:ext>
    </p:extLst>
  </p:cSld>
  <p:clrMapOvr>
    <a:masterClrMapping/>
  </p:clrMapOvr>
  <p:transition>
    <p:pull dir="d"/>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en-US" sz="3600"/>
              <a:t>Participative Management</a:t>
            </a:r>
          </a:p>
        </p:txBody>
      </p:sp>
      <p:sp>
        <p:nvSpPr>
          <p:cNvPr id="4" name="Rectangle 6"/>
          <p:cNvSpPr>
            <a:spLocks noGrp="1" noChangeArrowheads="1"/>
          </p:cNvSpPr>
          <p:nvPr>
            <p:ph type="sldNum" sz="quarter" idx="12"/>
          </p:nvPr>
        </p:nvSpPr>
        <p:spPr>
          <a:ln/>
        </p:spPr>
        <p:txBody>
          <a:bodyPr>
            <a:normAutofit fontScale="47500" lnSpcReduction="20000"/>
          </a:bodyPr>
          <a:lstStyle/>
          <a:p>
            <a:r>
              <a:rPr lang="en-US"/>
              <a:t>6-</a:t>
            </a:r>
            <a:fld id="{18D3F421-6909-42F4-9E43-BA4DDBCE6D54}" type="slidenum">
              <a:rPr lang="en-US"/>
              <a:pPr/>
              <a:t>29</a:t>
            </a:fld>
            <a:endParaRPr lang="en-US"/>
          </a:p>
        </p:txBody>
      </p:sp>
      <p:sp>
        <p:nvSpPr>
          <p:cNvPr id="12291" name="Rectangle 3"/>
          <p:cNvSpPr>
            <a:spLocks noGrp="1" noChangeArrowheads="1"/>
          </p:cNvSpPr>
          <p:nvPr>
            <p:ph sz="quarter" idx="13"/>
          </p:nvPr>
        </p:nvSpPr>
        <p:spPr/>
        <p:txBody>
          <a:bodyPr>
            <a:normAutofit fontScale="85000" lnSpcReduction="20000"/>
          </a:bodyPr>
          <a:lstStyle/>
          <a:p>
            <a:r>
              <a:rPr lang="en-US" dirty="0"/>
              <a:t>Joint decision making program, in which subordinates share a significant degree of decision-making power with their immediate superiors.</a:t>
            </a:r>
          </a:p>
          <a:p>
            <a:r>
              <a:rPr lang="en-US" dirty="0"/>
              <a:t>Required conditions:</a:t>
            </a:r>
          </a:p>
          <a:p>
            <a:pPr lvl="1"/>
            <a:r>
              <a:rPr lang="en-US" sz="2400" dirty="0"/>
              <a:t>Issues must be relevant</a:t>
            </a:r>
          </a:p>
          <a:p>
            <a:pPr lvl="1"/>
            <a:r>
              <a:rPr lang="en-US" sz="2400" dirty="0"/>
              <a:t>Employees must be competent and knowledgeable</a:t>
            </a:r>
          </a:p>
          <a:p>
            <a:pPr lvl="1">
              <a:spcAft>
                <a:spcPts val="1200"/>
              </a:spcAft>
            </a:pPr>
            <a:r>
              <a:rPr lang="en-US" sz="2400" dirty="0"/>
              <a:t>All parties must act in a good faith </a:t>
            </a:r>
          </a:p>
          <a:p>
            <a:r>
              <a:rPr lang="en-US" dirty="0"/>
              <a:t>Only a modest influence on productivity, motivation, and job satisfaction	</a:t>
            </a:r>
          </a:p>
        </p:txBody>
      </p:sp>
    </p:spTree>
    <p:extLst>
      <p:ext uri="{BB962C8B-B14F-4D97-AF65-F5344CB8AC3E}">
        <p14:creationId xmlns:p14="http://schemas.microsoft.com/office/powerpoint/2010/main" val="4000866221"/>
      </p:ext>
    </p:extLst>
  </p:cSld>
  <p:clrMapOvr>
    <a:masterClrMapping/>
  </p:clrMapOvr>
  <p:transition>
    <p:pull dir="d"/>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normAutofit/>
          </a:bodyPr>
          <a:lstStyle/>
          <a:p>
            <a:r>
              <a:rPr lang="en-US" sz="3600" dirty="0"/>
              <a:t>Representative Participation</a:t>
            </a:r>
          </a:p>
        </p:txBody>
      </p:sp>
      <p:sp>
        <p:nvSpPr>
          <p:cNvPr id="4" name="Rectangle 6"/>
          <p:cNvSpPr>
            <a:spLocks noGrp="1" noChangeArrowheads="1"/>
          </p:cNvSpPr>
          <p:nvPr>
            <p:ph type="sldNum" sz="quarter" idx="12"/>
          </p:nvPr>
        </p:nvSpPr>
        <p:spPr>
          <a:ln/>
        </p:spPr>
        <p:txBody>
          <a:bodyPr>
            <a:normAutofit fontScale="47500" lnSpcReduction="20000"/>
          </a:bodyPr>
          <a:lstStyle/>
          <a:p>
            <a:r>
              <a:rPr lang="en-US"/>
              <a:t>6-</a:t>
            </a:r>
            <a:fld id="{5987AA71-653C-4B31-AD89-8ED004BF0C7B}" type="slidenum">
              <a:rPr lang="en-US"/>
              <a:pPr/>
              <a:t>30</a:t>
            </a:fld>
            <a:endParaRPr lang="en-US"/>
          </a:p>
        </p:txBody>
      </p:sp>
      <p:sp>
        <p:nvSpPr>
          <p:cNvPr id="13315" name="Content Placeholder 2"/>
          <p:cNvSpPr>
            <a:spLocks noGrp="1"/>
          </p:cNvSpPr>
          <p:nvPr>
            <p:ph sz="quarter" idx="13"/>
          </p:nvPr>
        </p:nvSpPr>
        <p:spPr/>
        <p:txBody>
          <a:bodyPr>
            <a:normAutofit fontScale="85000" lnSpcReduction="20000"/>
          </a:bodyPr>
          <a:lstStyle/>
          <a:p>
            <a:r>
              <a:rPr lang="en-US" sz="3200" i="1" dirty="0"/>
              <a:t>A system in which workers participate in organizational decision making through a small group of representative employees.</a:t>
            </a:r>
            <a:endParaRPr lang="en-US" dirty="0"/>
          </a:p>
          <a:p>
            <a:r>
              <a:rPr lang="en-US" dirty="0"/>
              <a:t>Workers are represented by a small group of employees who participate in decisions affecting personnel</a:t>
            </a:r>
          </a:p>
          <a:p>
            <a:pPr lvl="1"/>
            <a:r>
              <a:rPr lang="en-US" sz="2400" dirty="0"/>
              <a:t>Works Councils</a:t>
            </a:r>
          </a:p>
          <a:p>
            <a:pPr lvl="1"/>
            <a:r>
              <a:rPr lang="en-US" sz="2400" dirty="0"/>
              <a:t>Board membership</a:t>
            </a:r>
          </a:p>
          <a:p>
            <a:r>
              <a:rPr lang="en-US" dirty="0"/>
              <a:t>Desires to redistribute power within an organization</a:t>
            </a:r>
          </a:p>
          <a:p>
            <a:r>
              <a:rPr lang="en-US" dirty="0"/>
              <a:t>Does not appear to be very motivational</a:t>
            </a:r>
          </a:p>
        </p:txBody>
      </p:sp>
    </p:spTree>
    <p:extLst>
      <p:ext uri="{BB962C8B-B14F-4D97-AF65-F5344CB8AC3E}">
        <p14:creationId xmlns:p14="http://schemas.microsoft.com/office/powerpoint/2010/main" val="2744521752"/>
      </p:ext>
    </p:extLst>
  </p:cSld>
  <p:clrMapOvr>
    <a:masterClrMapping/>
  </p:clrMapOvr>
  <p:transition>
    <p:pull dir="d"/>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en-US"/>
              <a:t>Rewarding Employees</a:t>
            </a:r>
          </a:p>
        </p:txBody>
      </p:sp>
      <p:sp>
        <p:nvSpPr>
          <p:cNvPr id="5" name="Rectangle 6"/>
          <p:cNvSpPr>
            <a:spLocks noGrp="1" noChangeArrowheads="1"/>
          </p:cNvSpPr>
          <p:nvPr>
            <p:ph type="sldNum" sz="quarter" idx="12"/>
          </p:nvPr>
        </p:nvSpPr>
        <p:spPr>
          <a:ln/>
        </p:spPr>
        <p:txBody>
          <a:bodyPr>
            <a:normAutofit fontScale="47500" lnSpcReduction="20000"/>
          </a:bodyPr>
          <a:lstStyle/>
          <a:p>
            <a:r>
              <a:rPr lang="en-US"/>
              <a:t>6-</a:t>
            </a:r>
            <a:fld id="{76D5590E-6944-4A55-8CCC-451222B79739}" type="slidenum">
              <a:rPr lang="en-US"/>
              <a:pPr/>
              <a:t>31</a:t>
            </a:fld>
            <a:endParaRPr lang="en-US"/>
          </a:p>
        </p:txBody>
      </p:sp>
      <p:sp>
        <p:nvSpPr>
          <p:cNvPr id="14339" name="Rectangle 3"/>
          <p:cNvSpPr>
            <a:spLocks noGrp="1" noChangeArrowheads="1"/>
          </p:cNvSpPr>
          <p:nvPr>
            <p:ph sz="quarter" idx="13"/>
          </p:nvPr>
        </p:nvSpPr>
        <p:spPr/>
        <p:txBody>
          <a:bodyPr>
            <a:normAutofit/>
          </a:bodyPr>
          <a:lstStyle/>
          <a:p>
            <a:pPr marL="109537" lvl="1" indent="0">
              <a:buNone/>
            </a:pPr>
            <a:r>
              <a:rPr lang="en-US" sz="2400" b="1" dirty="0"/>
              <a:t>Using Rewards to Motivate Employees</a:t>
            </a:r>
            <a:endParaRPr lang="en-US" sz="2400" dirty="0"/>
          </a:p>
          <a:p>
            <a:pPr marL="463550" lvl="1" indent="-354013">
              <a:buFont typeface="+mj-lt"/>
              <a:buAutoNum type="arabicPeriod"/>
            </a:pPr>
            <a:r>
              <a:rPr lang="en-US" sz="2400" dirty="0"/>
              <a:t>What to pay employees</a:t>
            </a:r>
          </a:p>
          <a:p>
            <a:pPr marL="463550" lvl="1" indent="-354013">
              <a:buFont typeface="+mj-lt"/>
              <a:buAutoNum type="arabicPeriod"/>
            </a:pPr>
            <a:r>
              <a:rPr lang="en-US" sz="2400" dirty="0"/>
              <a:t>How to pay individual employees</a:t>
            </a:r>
          </a:p>
          <a:p>
            <a:pPr marL="463550" lvl="1" indent="-354013">
              <a:buFont typeface="+mj-lt"/>
              <a:buAutoNum type="arabicPeriod"/>
            </a:pPr>
            <a:r>
              <a:rPr lang="en-US" sz="2400" dirty="0"/>
              <a:t>What benefits to offer</a:t>
            </a:r>
          </a:p>
          <a:p>
            <a:pPr marL="463550" lvl="1" indent="-354013">
              <a:buFont typeface="+mj-lt"/>
              <a:buAutoNum type="arabicPeriod"/>
            </a:pPr>
            <a:r>
              <a:rPr lang="en-US" sz="2400" dirty="0"/>
              <a:t>How to construct employee </a:t>
            </a:r>
          </a:p>
          <a:p>
            <a:pPr marL="461963" lvl="1" indent="0">
              <a:buNone/>
            </a:pPr>
            <a:r>
              <a:rPr lang="en-US" sz="2400" dirty="0"/>
              <a:t>recognition programs</a:t>
            </a:r>
          </a:p>
        </p:txBody>
      </p:sp>
      <p:pic>
        <p:nvPicPr>
          <p:cNvPr id="62472" name="Picture 8" descr="C:\Users\Bob Stretch\AppData\Local\Microsoft\Windows\Temporary Internet Files\Content.IE5\K0JS0KIR\MPj04251980000[1].jpg"/>
          <p:cNvPicPr>
            <a:picLocks noChangeAspect="1" noChangeArrowheads="1"/>
          </p:cNvPicPr>
          <p:nvPr/>
        </p:nvPicPr>
        <p:blipFill>
          <a:blip r:embed="rId2"/>
          <a:srcRect l="21697" t="3333" r="18867" b="6667"/>
          <a:stretch>
            <a:fillRect/>
          </a:stretch>
        </p:blipFill>
        <p:spPr bwMode="auto">
          <a:xfrm>
            <a:off x="8139579" y="1276350"/>
            <a:ext cx="928221" cy="1524000"/>
          </a:xfrm>
          <a:prstGeom prst="rect">
            <a:avLst/>
          </a:prstGeom>
          <a:noFill/>
          <a:ln w="15875">
            <a:solidFill>
              <a:schemeClr val="accent4">
                <a:lumMod val="10000"/>
              </a:schemeClr>
            </a:solidFill>
          </a:ln>
          <a:effectLst>
            <a:outerShdw blurRad="50800" dist="76200" dir="8100000" algn="tr" rotWithShape="0">
              <a:prstClr val="black">
                <a:alpha val="40000"/>
              </a:prstClr>
            </a:outerShdw>
          </a:effectLst>
        </p:spPr>
      </p:pic>
      <p:pic>
        <p:nvPicPr>
          <p:cNvPr id="3074" name="Picture 2" descr="Image result for motivational rewards in organization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8201" y="2800498"/>
            <a:ext cx="4495800" cy="23620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3629414"/>
      </p:ext>
    </p:extLst>
  </p:cSld>
  <p:clrMapOvr>
    <a:masterClrMapping/>
  </p:clrMapOvr>
  <p:transition>
    <p:pull dir="d"/>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en-US"/>
              <a:t>1. What to Pay</a:t>
            </a:r>
          </a:p>
        </p:txBody>
      </p:sp>
      <p:sp>
        <p:nvSpPr>
          <p:cNvPr id="4" name="Rectangle 6"/>
          <p:cNvSpPr>
            <a:spLocks noGrp="1" noChangeArrowheads="1"/>
          </p:cNvSpPr>
          <p:nvPr>
            <p:ph type="sldNum" sz="quarter" idx="12"/>
          </p:nvPr>
        </p:nvSpPr>
        <p:spPr>
          <a:ln/>
        </p:spPr>
        <p:txBody>
          <a:bodyPr>
            <a:normAutofit fontScale="47500" lnSpcReduction="20000"/>
          </a:bodyPr>
          <a:lstStyle/>
          <a:p>
            <a:r>
              <a:rPr lang="en-US"/>
              <a:t>6-</a:t>
            </a:r>
            <a:fld id="{30842AF1-9859-41DD-B9EA-8FF36F2908CF}" type="slidenum">
              <a:rPr lang="en-US"/>
              <a:pPr/>
              <a:t>32</a:t>
            </a:fld>
            <a:endParaRPr lang="en-US"/>
          </a:p>
        </p:txBody>
      </p:sp>
      <p:sp>
        <p:nvSpPr>
          <p:cNvPr id="15363" name="Rectangle 3"/>
          <p:cNvSpPr>
            <a:spLocks noGrp="1" noChangeArrowheads="1"/>
          </p:cNvSpPr>
          <p:nvPr>
            <p:ph sz="quarter" idx="13"/>
          </p:nvPr>
        </p:nvSpPr>
        <p:spPr/>
        <p:txBody>
          <a:bodyPr/>
          <a:lstStyle/>
          <a:p>
            <a:r>
              <a:rPr lang="en-US"/>
              <a:t>Need to establish a pay structure</a:t>
            </a:r>
          </a:p>
          <a:p>
            <a:r>
              <a:rPr lang="en-US"/>
              <a:t>Balance between:</a:t>
            </a:r>
          </a:p>
          <a:p>
            <a:pPr lvl="1"/>
            <a:r>
              <a:rPr lang="en-US" sz="2400"/>
              <a:t>Internal equity – the worth of the job to the organization</a:t>
            </a:r>
          </a:p>
          <a:p>
            <a:pPr lvl="1"/>
            <a:r>
              <a:rPr lang="en-US" sz="2400"/>
              <a:t>External equity – the external competitiveness of an organization’s pay relative to pay elsewhere in its industry</a:t>
            </a:r>
          </a:p>
          <a:p>
            <a:r>
              <a:rPr lang="en-US"/>
              <a:t>A strategic decision with trade-offs</a:t>
            </a:r>
          </a:p>
        </p:txBody>
      </p:sp>
    </p:spTree>
    <p:extLst>
      <p:ext uri="{BB962C8B-B14F-4D97-AF65-F5344CB8AC3E}">
        <p14:creationId xmlns:p14="http://schemas.microsoft.com/office/powerpoint/2010/main" val="3829910720"/>
      </p:ext>
    </p:extLst>
  </p:cSld>
  <p:clrMapOvr>
    <a:masterClrMapping/>
  </p:clrMapOvr>
  <p:transition>
    <p:pull dir="d"/>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normAutofit/>
          </a:bodyPr>
          <a:lstStyle/>
          <a:p>
            <a:r>
              <a:rPr lang="en-US" sz="3600" dirty="0"/>
              <a:t>2. How to Pay: Variable-Pay Programs</a:t>
            </a:r>
          </a:p>
        </p:txBody>
      </p:sp>
      <p:sp>
        <p:nvSpPr>
          <p:cNvPr id="4" name="Rectangle 6"/>
          <p:cNvSpPr>
            <a:spLocks noGrp="1" noChangeArrowheads="1"/>
          </p:cNvSpPr>
          <p:nvPr>
            <p:ph type="sldNum" sz="quarter" idx="12"/>
          </p:nvPr>
        </p:nvSpPr>
        <p:spPr>
          <a:ln/>
        </p:spPr>
        <p:txBody>
          <a:bodyPr>
            <a:normAutofit fontScale="47500" lnSpcReduction="20000"/>
          </a:bodyPr>
          <a:lstStyle/>
          <a:p>
            <a:r>
              <a:rPr lang="en-US"/>
              <a:t>6-</a:t>
            </a:r>
            <a:fld id="{7797B5BF-E6E4-4A8F-93C2-1A3C56025926}" type="slidenum">
              <a:rPr lang="en-US"/>
              <a:pPr/>
              <a:t>33</a:t>
            </a:fld>
            <a:endParaRPr lang="en-US"/>
          </a:p>
        </p:txBody>
      </p:sp>
      <p:sp>
        <p:nvSpPr>
          <p:cNvPr id="64515" name="Rectangle 3"/>
          <p:cNvSpPr>
            <a:spLocks noGrp="1" noChangeArrowheads="1"/>
          </p:cNvSpPr>
          <p:nvPr>
            <p:ph sz="quarter" idx="13"/>
          </p:nvPr>
        </p:nvSpPr>
        <p:spPr/>
        <p:txBody>
          <a:bodyPr>
            <a:normAutofit fontScale="92500"/>
          </a:bodyPr>
          <a:lstStyle/>
          <a:p>
            <a:pPr marL="58738" indent="-58738">
              <a:buFontTx/>
              <a:buNone/>
            </a:pPr>
            <a:r>
              <a:rPr lang="en-US" sz="2600" dirty="0"/>
              <a:t>Bases a portion of the pay on a given measure of performance</a:t>
            </a:r>
          </a:p>
          <a:p>
            <a:pPr lvl="1"/>
            <a:r>
              <a:rPr lang="en-US" sz="2400" b="1" dirty="0"/>
              <a:t>Piece-Rate Pay </a:t>
            </a:r>
            <a:r>
              <a:rPr lang="en-US" sz="2400" dirty="0"/>
              <a:t>– workers are paid a fixed sum for each unit of production completed</a:t>
            </a:r>
          </a:p>
          <a:p>
            <a:pPr lvl="1"/>
            <a:r>
              <a:rPr lang="en-US" sz="2400" b="1" dirty="0"/>
              <a:t>Merit-Based Pay </a:t>
            </a:r>
            <a:r>
              <a:rPr lang="en-US" sz="2400" dirty="0"/>
              <a:t>– pay is based on individual performance appraisal ratings</a:t>
            </a:r>
          </a:p>
          <a:p>
            <a:pPr lvl="1"/>
            <a:r>
              <a:rPr lang="en-US" sz="2400" b="1" dirty="0"/>
              <a:t>Bonuses</a:t>
            </a:r>
            <a:r>
              <a:rPr lang="en-US" sz="2400" dirty="0"/>
              <a:t> – rewards employees for recent performance</a:t>
            </a:r>
          </a:p>
          <a:p>
            <a:pPr lvl="1"/>
            <a:r>
              <a:rPr lang="en-US" sz="2400" b="1" dirty="0"/>
              <a:t>Skill-Based Pay </a:t>
            </a:r>
            <a:r>
              <a:rPr lang="en-US" sz="2400" dirty="0"/>
              <a:t>– pay is based on skills acquired instead of job title or rank – doesn’t address the level of performance</a:t>
            </a:r>
          </a:p>
          <a:p>
            <a:pPr lvl="1"/>
            <a:endParaRPr lang="en-US" sz="2400" dirty="0"/>
          </a:p>
        </p:txBody>
      </p:sp>
    </p:spTree>
    <p:extLst>
      <p:ext uri="{BB962C8B-B14F-4D97-AF65-F5344CB8AC3E}">
        <p14:creationId xmlns:p14="http://schemas.microsoft.com/office/powerpoint/2010/main" val="935122180"/>
      </p:ext>
    </p:extLst>
  </p:cSld>
  <p:clrMapOvr>
    <a:masterClrMapping/>
  </p:clrMapOvr>
  <p:transition>
    <p:pull dir="d"/>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4515">
                                            <p:txEl>
                                              <p:pRg st="0" end="0"/>
                                            </p:txEl>
                                          </p:spTgt>
                                        </p:tgtEl>
                                        <p:attrNameLst>
                                          <p:attrName>style.visibility</p:attrName>
                                        </p:attrNameLst>
                                      </p:cBhvr>
                                      <p:to>
                                        <p:strVal val="visible"/>
                                      </p:to>
                                    </p:set>
                                    <p:animEffect transition="in" filter="fade">
                                      <p:cBhvr>
                                        <p:cTn id="7" dur="2000"/>
                                        <p:tgtEl>
                                          <p:spTgt spid="6451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4515">
                                            <p:txEl>
                                              <p:pRg st="1" end="1"/>
                                            </p:txEl>
                                          </p:spTgt>
                                        </p:tgtEl>
                                        <p:attrNameLst>
                                          <p:attrName>style.visibility</p:attrName>
                                        </p:attrNameLst>
                                      </p:cBhvr>
                                      <p:to>
                                        <p:strVal val="visible"/>
                                      </p:to>
                                    </p:set>
                                    <p:animEffect transition="in" filter="fade">
                                      <p:cBhvr>
                                        <p:cTn id="12" dur="2000"/>
                                        <p:tgtEl>
                                          <p:spTgt spid="6451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4515">
                                            <p:txEl>
                                              <p:pRg st="2" end="2"/>
                                            </p:txEl>
                                          </p:spTgt>
                                        </p:tgtEl>
                                        <p:attrNameLst>
                                          <p:attrName>style.visibility</p:attrName>
                                        </p:attrNameLst>
                                      </p:cBhvr>
                                      <p:to>
                                        <p:strVal val="visible"/>
                                      </p:to>
                                    </p:set>
                                    <p:animEffect transition="in" filter="fade">
                                      <p:cBhvr>
                                        <p:cTn id="17" dur="2000"/>
                                        <p:tgtEl>
                                          <p:spTgt spid="6451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4515">
                                            <p:txEl>
                                              <p:pRg st="3" end="3"/>
                                            </p:txEl>
                                          </p:spTgt>
                                        </p:tgtEl>
                                        <p:attrNameLst>
                                          <p:attrName>style.visibility</p:attrName>
                                        </p:attrNameLst>
                                      </p:cBhvr>
                                      <p:to>
                                        <p:strVal val="visible"/>
                                      </p:to>
                                    </p:set>
                                    <p:animEffect transition="in" filter="fade">
                                      <p:cBhvr>
                                        <p:cTn id="22" dur="2000"/>
                                        <p:tgtEl>
                                          <p:spTgt spid="6451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4515">
                                            <p:txEl>
                                              <p:pRg st="4" end="4"/>
                                            </p:txEl>
                                          </p:spTgt>
                                        </p:tgtEl>
                                        <p:attrNameLst>
                                          <p:attrName>style.visibility</p:attrName>
                                        </p:attrNameLst>
                                      </p:cBhvr>
                                      <p:to>
                                        <p:strVal val="visible"/>
                                      </p:to>
                                    </p:set>
                                    <p:animEffect transition="in" filter="fade">
                                      <p:cBhvr>
                                        <p:cTn id="27" dur="2000"/>
                                        <p:tgtEl>
                                          <p:spTgt spid="6451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5"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r>
              <a:rPr lang="en-US" dirty="0"/>
              <a:t>More Variable Pay Programs</a:t>
            </a:r>
          </a:p>
        </p:txBody>
      </p:sp>
      <p:sp>
        <p:nvSpPr>
          <p:cNvPr id="5" name="Rectangle 6"/>
          <p:cNvSpPr>
            <a:spLocks noGrp="1" noChangeArrowheads="1"/>
          </p:cNvSpPr>
          <p:nvPr>
            <p:ph type="sldNum" sz="quarter" idx="12"/>
          </p:nvPr>
        </p:nvSpPr>
        <p:spPr>
          <a:ln/>
        </p:spPr>
        <p:txBody>
          <a:bodyPr>
            <a:normAutofit fontScale="47500" lnSpcReduction="20000"/>
          </a:bodyPr>
          <a:lstStyle/>
          <a:p>
            <a:r>
              <a:rPr lang="en-US"/>
              <a:t>6-</a:t>
            </a:r>
            <a:fld id="{1CDCC8CB-93E7-47E9-8F59-99435688B911}" type="slidenum">
              <a:rPr lang="en-US"/>
              <a:pPr/>
              <a:t>34</a:t>
            </a:fld>
            <a:endParaRPr lang="en-US"/>
          </a:p>
        </p:txBody>
      </p:sp>
      <p:sp>
        <p:nvSpPr>
          <p:cNvPr id="65539" name="Rectangle 3"/>
          <p:cNvSpPr>
            <a:spLocks noGrp="1" noChangeArrowheads="1"/>
          </p:cNvSpPr>
          <p:nvPr>
            <p:ph sz="quarter" idx="13"/>
          </p:nvPr>
        </p:nvSpPr>
        <p:spPr/>
        <p:txBody>
          <a:bodyPr>
            <a:normAutofit/>
          </a:bodyPr>
          <a:lstStyle/>
          <a:p>
            <a:r>
              <a:rPr lang="en-US" sz="2400" b="1" dirty="0"/>
              <a:t>Profit-Sharing Plans </a:t>
            </a:r>
            <a:r>
              <a:rPr lang="en-US" sz="2400" dirty="0"/>
              <a:t>– organization-wide programs that distribute compensation based on an established formula designed around profitability</a:t>
            </a:r>
          </a:p>
          <a:p>
            <a:r>
              <a:rPr lang="en-US" sz="2400" b="1" dirty="0" err="1"/>
              <a:t>Gainsharing</a:t>
            </a:r>
            <a:r>
              <a:rPr lang="en-US" sz="2400" dirty="0"/>
              <a:t> – compensation based on sharing of gains from improved productivity</a:t>
            </a:r>
          </a:p>
          <a:p>
            <a:r>
              <a:rPr lang="en-US" sz="2400" b="1" dirty="0"/>
              <a:t>Employee Stock Ownership Plans (ESOPs) </a:t>
            </a:r>
            <a:r>
              <a:rPr lang="en-US" sz="2400" dirty="0"/>
              <a:t>– plans in which employees acquire stock, often at below-market prices</a:t>
            </a:r>
          </a:p>
        </p:txBody>
      </p:sp>
      <p:sp>
        <p:nvSpPr>
          <p:cNvPr id="7" name="TextBox 6"/>
          <p:cNvSpPr txBox="1"/>
          <p:nvPr/>
        </p:nvSpPr>
        <p:spPr>
          <a:xfrm>
            <a:off x="762000" y="4324350"/>
            <a:ext cx="6858000" cy="646331"/>
          </a:xfrm>
          <a:prstGeom prst="rect">
            <a:avLst/>
          </a:prstGeom>
          <a:solidFill>
            <a:schemeClr val="bg1"/>
          </a:solidFill>
          <a:ln w="15875">
            <a:solidFill>
              <a:schemeClr val="accent4">
                <a:lumMod val="10000"/>
              </a:schemeClr>
            </a:solidFill>
          </a:ln>
          <a:effectLst>
            <a:outerShdw blurRad="50800" dist="76200" dir="8100000" algn="tr" rotWithShape="0">
              <a:prstClr val="black">
                <a:alpha val="40000"/>
              </a:prstClr>
            </a:outerShdw>
          </a:effectLst>
        </p:spPr>
        <p:txBody>
          <a:bodyPr>
            <a:spAutoFit/>
          </a:bodyPr>
          <a:lstStyle/>
          <a:p>
            <a:pPr>
              <a:defRPr/>
            </a:pPr>
            <a:r>
              <a:rPr lang="en-US" i="1" dirty="0">
                <a:solidFill>
                  <a:schemeClr val="accent4">
                    <a:lumMod val="10000"/>
                  </a:schemeClr>
                </a:solidFill>
              </a:rPr>
              <a:t>While it appears that pay does increase productivity, it seems that not everyone responds positively to variable-pay plans.</a:t>
            </a:r>
          </a:p>
        </p:txBody>
      </p:sp>
    </p:spTree>
    <p:extLst>
      <p:ext uri="{BB962C8B-B14F-4D97-AF65-F5344CB8AC3E}">
        <p14:creationId xmlns:p14="http://schemas.microsoft.com/office/powerpoint/2010/main" val="131128801"/>
      </p:ext>
    </p:extLst>
  </p:cSld>
  <p:clrMapOvr>
    <a:masterClrMapping/>
  </p:clrMapOvr>
  <p:transition>
    <p:pull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5539">
                                            <p:txEl>
                                              <p:pRg st="0" end="0"/>
                                            </p:txEl>
                                          </p:spTgt>
                                        </p:tgtEl>
                                        <p:attrNameLst>
                                          <p:attrName>style.visibility</p:attrName>
                                        </p:attrNameLst>
                                      </p:cBhvr>
                                      <p:to>
                                        <p:strVal val="visible"/>
                                      </p:to>
                                    </p:set>
                                    <p:animEffect transition="in" filter="fade">
                                      <p:cBhvr>
                                        <p:cTn id="7" dur="2000"/>
                                        <p:tgtEl>
                                          <p:spTgt spid="6553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5539">
                                            <p:txEl>
                                              <p:pRg st="1" end="1"/>
                                            </p:txEl>
                                          </p:spTgt>
                                        </p:tgtEl>
                                        <p:attrNameLst>
                                          <p:attrName>style.visibility</p:attrName>
                                        </p:attrNameLst>
                                      </p:cBhvr>
                                      <p:to>
                                        <p:strVal val="visible"/>
                                      </p:to>
                                    </p:set>
                                    <p:animEffect transition="in" filter="fade">
                                      <p:cBhvr>
                                        <p:cTn id="12" dur="2000"/>
                                        <p:tgtEl>
                                          <p:spTgt spid="6553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5539">
                                            <p:txEl>
                                              <p:pRg st="2" end="2"/>
                                            </p:txEl>
                                          </p:spTgt>
                                        </p:tgtEl>
                                        <p:attrNameLst>
                                          <p:attrName>style.visibility</p:attrName>
                                        </p:attrNameLst>
                                      </p:cBhvr>
                                      <p:to>
                                        <p:strVal val="visible"/>
                                      </p:to>
                                    </p:set>
                                    <p:animEffect transition="in" filter="fade">
                                      <p:cBhvr>
                                        <p:cTn id="17" dur="2000"/>
                                        <p:tgtEl>
                                          <p:spTgt spid="6553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800" decel="100000"/>
                                        <p:tgtEl>
                                          <p:spTgt spid="7"/>
                                        </p:tgtEl>
                                      </p:cBhvr>
                                    </p:animEffect>
                                    <p:anim calcmode="lin" valueType="num">
                                      <p:cBhvr>
                                        <p:cTn id="23" dur="800" decel="100000" fill="hold"/>
                                        <p:tgtEl>
                                          <p:spTgt spid="7"/>
                                        </p:tgtEl>
                                        <p:attrNameLst>
                                          <p:attrName>style.rotation</p:attrName>
                                        </p:attrNameLst>
                                      </p:cBhvr>
                                      <p:tavLst>
                                        <p:tav tm="0">
                                          <p:val>
                                            <p:fltVal val="-90"/>
                                          </p:val>
                                        </p:tav>
                                        <p:tav tm="100000">
                                          <p:val>
                                            <p:fltVal val="0"/>
                                          </p:val>
                                        </p:tav>
                                      </p:tavLst>
                                    </p:anim>
                                    <p:anim calcmode="lin" valueType="num">
                                      <p:cBhvr>
                                        <p:cTn id="24" dur="800" decel="100000" fill="hold"/>
                                        <p:tgtEl>
                                          <p:spTgt spid="7"/>
                                        </p:tgtEl>
                                        <p:attrNameLst>
                                          <p:attrName>ppt_x</p:attrName>
                                        </p:attrNameLst>
                                      </p:cBhvr>
                                      <p:tavLst>
                                        <p:tav tm="0">
                                          <p:val>
                                            <p:strVal val="#ppt_x+0.4"/>
                                          </p:val>
                                        </p:tav>
                                        <p:tav tm="100000">
                                          <p:val>
                                            <p:strVal val="#ppt_x-0.05"/>
                                          </p:val>
                                        </p:tav>
                                      </p:tavLst>
                                    </p:anim>
                                    <p:anim calcmode="lin" valueType="num">
                                      <p:cBhvr>
                                        <p:cTn id="25" dur="800" decel="100000" fill="hold"/>
                                        <p:tgtEl>
                                          <p:spTgt spid="7"/>
                                        </p:tgtEl>
                                        <p:attrNameLst>
                                          <p:attrName>ppt_y</p:attrName>
                                        </p:attrNameLst>
                                      </p:cBhvr>
                                      <p:tavLst>
                                        <p:tav tm="0">
                                          <p:val>
                                            <p:strVal val="#ppt_y-0.4"/>
                                          </p:val>
                                        </p:tav>
                                        <p:tav tm="100000">
                                          <p:val>
                                            <p:strVal val="#ppt_y+0.1"/>
                                          </p:val>
                                        </p:tav>
                                      </p:tavLst>
                                    </p:anim>
                                    <p:anim calcmode="lin" valueType="num">
                                      <p:cBhvr>
                                        <p:cTn id="26" dur="200" accel="100000" fill="hold">
                                          <p:stCondLst>
                                            <p:cond delay="800"/>
                                          </p:stCondLst>
                                        </p:cTn>
                                        <p:tgtEl>
                                          <p:spTgt spid="7"/>
                                        </p:tgtEl>
                                        <p:attrNameLst>
                                          <p:attrName>ppt_x</p:attrName>
                                        </p:attrNameLst>
                                      </p:cBhvr>
                                      <p:tavLst>
                                        <p:tav tm="0">
                                          <p:val>
                                            <p:strVal val="#ppt_x-0.05"/>
                                          </p:val>
                                        </p:tav>
                                        <p:tav tm="100000">
                                          <p:val>
                                            <p:strVal val="#ppt_x"/>
                                          </p:val>
                                        </p:tav>
                                      </p:tavLst>
                                    </p:anim>
                                    <p:anim calcmode="lin" valueType="num">
                                      <p:cBhvr>
                                        <p:cTn id="27" dur="200" accel="100000" fill="hold">
                                          <p:stCondLst>
                                            <p:cond delay="800"/>
                                          </p:stCondLst>
                                        </p:cTn>
                                        <p:tgtEl>
                                          <p:spTgt spid="7"/>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39" grpId="0" build="p"/>
      <p:bldP spid="7"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normAutofit fontScale="90000"/>
          </a:bodyPr>
          <a:lstStyle/>
          <a:p>
            <a:r>
              <a:rPr lang="en-US"/>
              <a:t>3. What Benefit to Offer:</a:t>
            </a:r>
            <a:br>
              <a:rPr lang="en-US"/>
            </a:br>
            <a:r>
              <a:rPr lang="en-US"/>
              <a:t>Flexible Benefits</a:t>
            </a:r>
          </a:p>
        </p:txBody>
      </p:sp>
      <p:sp>
        <p:nvSpPr>
          <p:cNvPr id="5" name="Rectangle 6"/>
          <p:cNvSpPr>
            <a:spLocks noGrp="1" noChangeArrowheads="1"/>
          </p:cNvSpPr>
          <p:nvPr>
            <p:ph type="sldNum" sz="quarter" idx="12"/>
          </p:nvPr>
        </p:nvSpPr>
        <p:spPr>
          <a:ln/>
        </p:spPr>
        <p:txBody>
          <a:bodyPr>
            <a:normAutofit fontScale="47500" lnSpcReduction="20000"/>
          </a:bodyPr>
          <a:lstStyle/>
          <a:p>
            <a:r>
              <a:rPr lang="en-US"/>
              <a:t>6-</a:t>
            </a:r>
            <a:fld id="{41F51859-56C8-4E87-AAD0-3A1B58B22E06}" type="slidenum">
              <a:rPr lang="en-US"/>
              <a:pPr/>
              <a:t>35</a:t>
            </a:fld>
            <a:endParaRPr lang="en-US"/>
          </a:p>
        </p:txBody>
      </p:sp>
      <p:sp>
        <p:nvSpPr>
          <p:cNvPr id="67587" name="Rectangle 3"/>
          <p:cNvSpPr>
            <a:spLocks noGrp="1" noChangeArrowheads="1"/>
          </p:cNvSpPr>
          <p:nvPr>
            <p:ph sz="quarter" idx="13"/>
          </p:nvPr>
        </p:nvSpPr>
        <p:spPr/>
        <p:txBody>
          <a:bodyPr>
            <a:normAutofit/>
          </a:bodyPr>
          <a:lstStyle/>
          <a:p>
            <a:pPr marL="0" indent="0">
              <a:spcAft>
                <a:spcPts val="600"/>
              </a:spcAft>
              <a:buFontTx/>
              <a:buNone/>
            </a:pPr>
            <a:r>
              <a:rPr lang="en-US" sz="2400" dirty="0"/>
              <a:t>Each employee creates a benefit package tailored to their own needs and situation</a:t>
            </a:r>
          </a:p>
          <a:p>
            <a:pPr lvl="1"/>
            <a:r>
              <a:rPr lang="en-US" sz="2000" b="1" dirty="0"/>
              <a:t>Modular plans </a:t>
            </a:r>
            <a:r>
              <a:rPr lang="en-US" sz="2000" dirty="0"/>
              <a:t>– predesigned packages to meet the needs of a specific group</a:t>
            </a:r>
          </a:p>
          <a:p>
            <a:pPr lvl="1"/>
            <a:r>
              <a:rPr lang="en-US" sz="2000" b="1" dirty="0"/>
              <a:t>Core-plus plans </a:t>
            </a:r>
            <a:r>
              <a:rPr lang="en-US" sz="2000" dirty="0"/>
              <a:t>– core of essential benefits and menu of options to choose from</a:t>
            </a:r>
          </a:p>
          <a:p>
            <a:pPr lvl="1"/>
            <a:r>
              <a:rPr lang="en-US" sz="2000" b="1" dirty="0"/>
              <a:t>Flexible spending plans </a:t>
            </a:r>
            <a:r>
              <a:rPr lang="en-US" sz="2000" dirty="0"/>
              <a:t>– full choice from menu of options</a:t>
            </a:r>
          </a:p>
        </p:txBody>
      </p:sp>
      <p:pic>
        <p:nvPicPr>
          <p:cNvPr id="67590" name="Picture 6" descr="C:\Users\Bob Stretch\AppData\Local\Microsoft\Windows\Temporary Internet Files\Content.IE5\IXMKAPG7\MPj04093670000[1].jpg"/>
          <p:cNvPicPr>
            <a:picLocks noChangeAspect="1" noChangeArrowheads="1"/>
          </p:cNvPicPr>
          <p:nvPr/>
        </p:nvPicPr>
        <p:blipFill>
          <a:blip r:embed="rId2"/>
          <a:srcRect/>
          <a:stretch>
            <a:fillRect/>
          </a:stretch>
        </p:blipFill>
        <p:spPr bwMode="auto">
          <a:xfrm>
            <a:off x="7746714" y="3257550"/>
            <a:ext cx="1397286" cy="1885950"/>
          </a:xfrm>
          <a:prstGeom prst="rect">
            <a:avLst/>
          </a:prstGeom>
          <a:noFill/>
          <a:ln w="15875">
            <a:solidFill>
              <a:schemeClr val="accent4">
                <a:lumMod val="10000"/>
              </a:schemeClr>
            </a:solidFill>
          </a:ln>
          <a:effectLst>
            <a:outerShdw blurRad="50800" dist="76200" dir="8100000" algn="tr" rotWithShape="0">
              <a:prstClr val="black">
                <a:alpha val="40000"/>
              </a:prstClr>
            </a:outerShdw>
          </a:effectLst>
        </p:spPr>
      </p:pic>
    </p:spTree>
    <p:extLst>
      <p:ext uri="{BB962C8B-B14F-4D97-AF65-F5344CB8AC3E}">
        <p14:creationId xmlns:p14="http://schemas.microsoft.com/office/powerpoint/2010/main" val="3177793804"/>
      </p:ext>
    </p:extLst>
  </p:cSld>
  <p:clrMapOvr>
    <a:masterClrMapping/>
  </p:clrMapOvr>
  <p:transition>
    <p:pull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7587">
                                            <p:txEl>
                                              <p:pRg st="0" end="0"/>
                                            </p:txEl>
                                          </p:spTgt>
                                        </p:tgtEl>
                                        <p:attrNameLst>
                                          <p:attrName>style.visibility</p:attrName>
                                        </p:attrNameLst>
                                      </p:cBhvr>
                                      <p:to>
                                        <p:strVal val="visible"/>
                                      </p:to>
                                    </p:set>
                                    <p:anim calcmode="lin" valueType="num">
                                      <p:cBhvr additive="base">
                                        <p:cTn id="7" dur="500" fill="hold"/>
                                        <p:tgtEl>
                                          <p:spTgt spid="6758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7587">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7587">
                                            <p:txEl>
                                              <p:pRg st="1" end="1"/>
                                            </p:txEl>
                                          </p:spTgt>
                                        </p:tgtEl>
                                        <p:attrNameLst>
                                          <p:attrName>style.visibility</p:attrName>
                                        </p:attrNameLst>
                                      </p:cBhvr>
                                      <p:to>
                                        <p:strVal val="visible"/>
                                      </p:to>
                                    </p:set>
                                    <p:anim calcmode="lin" valueType="num">
                                      <p:cBhvr additive="base">
                                        <p:cTn id="11" dur="500" fill="hold"/>
                                        <p:tgtEl>
                                          <p:spTgt spid="67587">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7587">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67587">
                                            <p:txEl>
                                              <p:pRg st="2" end="2"/>
                                            </p:txEl>
                                          </p:spTgt>
                                        </p:tgtEl>
                                        <p:attrNameLst>
                                          <p:attrName>style.visibility</p:attrName>
                                        </p:attrNameLst>
                                      </p:cBhvr>
                                      <p:to>
                                        <p:strVal val="visible"/>
                                      </p:to>
                                    </p:set>
                                    <p:anim calcmode="lin" valueType="num">
                                      <p:cBhvr additive="base">
                                        <p:cTn id="15" dur="500" fill="hold"/>
                                        <p:tgtEl>
                                          <p:spTgt spid="67587">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67587">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67587">
                                            <p:txEl>
                                              <p:pRg st="3" end="3"/>
                                            </p:txEl>
                                          </p:spTgt>
                                        </p:tgtEl>
                                        <p:attrNameLst>
                                          <p:attrName>style.visibility</p:attrName>
                                        </p:attrNameLst>
                                      </p:cBhvr>
                                      <p:to>
                                        <p:strVal val="visible"/>
                                      </p:to>
                                    </p:set>
                                    <p:anim calcmode="lin" valueType="num">
                                      <p:cBhvr additive="base">
                                        <p:cTn id="19" dur="500" fill="hold"/>
                                        <p:tgtEl>
                                          <p:spTgt spid="67587">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7587">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7"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noAutofit/>
          </a:bodyPr>
          <a:lstStyle/>
          <a:p>
            <a:r>
              <a:rPr lang="en-US" sz="3600" dirty="0"/>
              <a:t>4. How to Recognize Them:</a:t>
            </a:r>
            <a:br>
              <a:rPr lang="en-US" sz="3600" dirty="0"/>
            </a:br>
            <a:r>
              <a:rPr lang="en-US" sz="3600" dirty="0"/>
              <a:t>Employee Recognition Programs</a:t>
            </a:r>
          </a:p>
        </p:txBody>
      </p:sp>
      <p:sp>
        <p:nvSpPr>
          <p:cNvPr id="7" name="Rectangle 6"/>
          <p:cNvSpPr>
            <a:spLocks noGrp="1" noChangeArrowheads="1"/>
          </p:cNvSpPr>
          <p:nvPr>
            <p:ph type="sldNum" sz="quarter" idx="12"/>
          </p:nvPr>
        </p:nvSpPr>
        <p:spPr>
          <a:ln/>
        </p:spPr>
        <p:txBody>
          <a:bodyPr>
            <a:normAutofit fontScale="47500" lnSpcReduction="20000"/>
          </a:bodyPr>
          <a:lstStyle/>
          <a:p>
            <a:r>
              <a:rPr lang="en-US"/>
              <a:t>6-</a:t>
            </a:r>
            <a:fld id="{345E7768-BA75-4480-8066-357BCCD02E7A}" type="slidenum">
              <a:rPr lang="en-US"/>
              <a:pPr/>
              <a:t>36</a:t>
            </a:fld>
            <a:endParaRPr lang="en-US"/>
          </a:p>
        </p:txBody>
      </p:sp>
      <p:sp>
        <p:nvSpPr>
          <p:cNvPr id="19459" name="Rectangle 3"/>
          <p:cNvSpPr>
            <a:spLocks noGrp="1" noChangeArrowheads="1"/>
          </p:cNvSpPr>
          <p:nvPr>
            <p:ph sz="quarter" idx="13"/>
          </p:nvPr>
        </p:nvSpPr>
        <p:spPr/>
        <p:txBody>
          <a:bodyPr/>
          <a:lstStyle/>
          <a:p>
            <a:r>
              <a:rPr lang="en-US" dirty="0"/>
              <a:t>In addition to pay there are intrinsic rewards</a:t>
            </a:r>
          </a:p>
          <a:p>
            <a:pPr lvl="1"/>
            <a:r>
              <a:rPr lang="en-US" sz="2400" dirty="0"/>
              <a:t>Can be as simple as a spontaneous comment</a:t>
            </a:r>
          </a:p>
          <a:p>
            <a:pPr lvl="1"/>
            <a:r>
              <a:rPr lang="en-US" sz="2400" dirty="0"/>
              <a:t>Can be formalized in a program</a:t>
            </a:r>
          </a:p>
          <a:p>
            <a:r>
              <a:rPr lang="en-US" dirty="0"/>
              <a:t>Recognition is the most powerful workplace motivator – and the least expensive!</a:t>
            </a:r>
          </a:p>
        </p:txBody>
      </p:sp>
    </p:spTree>
    <p:extLst>
      <p:ext uri="{BB962C8B-B14F-4D97-AF65-F5344CB8AC3E}">
        <p14:creationId xmlns:p14="http://schemas.microsoft.com/office/powerpoint/2010/main" val="3563102773"/>
      </p:ext>
    </p:extLst>
  </p:cSld>
  <p:clrMapOvr>
    <a:masterClrMapping/>
  </p:clrMapOvr>
  <p:transition>
    <p:pull dir="d"/>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type="title"/>
          </p:nvPr>
        </p:nvSpPr>
        <p:spPr/>
        <p:txBody>
          <a:bodyPr/>
          <a:lstStyle/>
          <a:p>
            <a:r>
              <a:rPr lang="en-US" sz="3600"/>
              <a:t>Global Implications</a:t>
            </a:r>
          </a:p>
        </p:txBody>
      </p:sp>
      <p:sp>
        <p:nvSpPr>
          <p:cNvPr id="5" name="Rectangle 6"/>
          <p:cNvSpPr>
            <a:spLocks noGrp="1" noChangeArrowheads="1"/>
          </p:cNvSpPr>
          <p:nvPr>
            <p:ph type="sldNum" sz="quarter" idx="12"/>
          </p:nvPr>
        </p:nvSpPr>
        <p:spPr>
          <a:ln/>
        </p:spPr>
        <p:txBody>
          <a:bodyPr>
            <a:normAutofit fontScale="47500" lnSpcReduction="20000"/>
          </a:bodyPr>
          <a:lstStyle/>
          <a:p>
            <a:r>
              <a:rPr lang="en-US"/>
              <a:t>6-</a:t>
            </a:r>
            <a:fld id="{5DE86363-56B4-489C-8AB9-679492CEEC0A}" type="slidenum">
              <a:rPr lang="en-US"/>
              <a:pPr/>
              <a:t>37</a:t>
            </a:fld>
            <a:endParaRPr lang="en-US"/>
          </a:p>
        </p:txBody>
      </p:sp>
      <p:sp>
        <p:nvSpPr>
          <p:cNvPr id="20484" name="Rectangle 3"/>
          <p:cNvSpPr>
            <a:spLocks noGrp="1" noChangeArrowheads="1"/>
          </p:cNvSpPr>
          <p:nvPr>
            <p:ph sz="quarter" idx="13"/>
          </p:nvPr>
        </p:nvSpPr>
        <p:spPr/>
        <p:txBody>
          <a:bodyPr>
            <a:normAutofit fontScale="92500" lnSpcReduction="10000"/>
          </a:bodyPr>
          <a:lstStyle/>
          <a:p>
            <a:pPr marL="463550" indent="-463550">
              <a:spcAft>
                <a:spcPts val="1200"/>
              </a:spcAft>
              <a:buFontTx/>
              <a:buNone/>
            </a:pPr>
            <a:r>
              <a:rPr lang="en-US" dirty="0"/>
              <a:t>Do motivational approaches vary by culture?</a:t>
            </a:r>
          </a:p>
          <a:p>
            <a:pPr marL="863600" lvl="1" indent="-463550">
              <a:spcAft>
                <a:spcPts val="1200"/>
              </a:spcAft>
            </a:pPr>
            <a:r>
              <a:rPr lang="en-US" sz="2400" b="1" dirty="0"/>
              <a:t>Job Characteristics/Enrichment</a:t>
            </a:r>
            <a:r>
              <a:rPr lang="en-US" sz="2400" dirty="0"/>
              <a:t>: may not be the same in collectivist cultures</a:t>
            </a:r>
          </a:p>
          <a:p>
            <a:pPr marL="863600" lvl="1" indent="-463550">
              <a:spcAft>
                <a:spcPts val="1200"/>
              </a:spcAft>
            </a:pPr>
            <a:r>
              <a:rPr lang="en-US" sz="2400" b="1" dirty="0"/>
              <a:t>Telecommuting, variable pay, flexible benefits</a:t>
            </a:r>
            <a:r>
              <a:rPr lang="en-US" sz="2400" dirty="0"/>
              <a:t>: while all of these seem to be on the increase, not enough research has been done to make any conclusions</a:t>
            </a:r>
          </a:p>
          <a:p>
            <a:pPr marL="863600" lvl="1" indent="-463550"/>
            <a:r>
              <a:rPr lang="en-US" sz="2400" b="1" dirty="0"/>
              <a:t>Employee Involvement</a:t>
            </a:r>
            <a:r>
              <a:rPr lang="en-US" sz="2400" dirty="0"/>
              <a:t>: important to modify practices to reflect national culture</a:t>
            </a:r>
            <a:endParaRPr lang="en-US" sz="2400" b="1" dirty="0"/>
          </a:p>
          <a:p>
            <a:pPr marL="463550" indent="-463550">
              <a:spcBef>
                <a:spcPts val="1800"/>
              </a:spcBef>
              <a:buFontTx/>
              <a:buNone/>
            </a:pPr>
            <a:endParaRPr lang="en-US" b="1" dirty="0"/>
          </a:p>
        </p:txBody>
      </p:sp>
      <p:pic>
        <p:nvPicPr>
          <p:cNvPr id="20482" name="Picture 8" descr="C:\Users\Bob Stretch\AppData\Local\Microsoft\Windows\Temporary Internet Files\Content.IE5\A7X84Z83\MPj04330920000[1].jpg"/>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848600" y="1352550"/>
            <a:ext cx="1524000" cy="1120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69393955"/>
      </p:ext>
    </p:extLst>
  </p:cSld>
  <p:clrMapOvr>
    <a:masterClrMapping/>
  </p:clrMapOvr>
  <p:transition>
    <p:pull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484">
                                            <p:txEl>
                                              <p:pRg st="0" end="0"/>
                                            </p:txEl>
                                          </p:spTgt>
                                        </p:tgtEl>
                                        <p:attrNameLst>
                                          <p:attrName>style.visibility</p:attrName>
                                        </p:attrNameLst>
                                      </p:cBhvr>
                                      <p:to>
                                        <p:strVal val="visible"/>
                                      </p:to>
                                    </p:set>
                                    <p:animEffect transition="in" filter="fade">
                                      <p:cBhvr>
                                        <p:cTn id="7" dur="2000"/>
                                        <p:tgtEl>
                                          <p:spTgt spid="2048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0484">
                                            <p:txEl>
                                              <p:pRg st="1" end="1"/>
                                            </p:txEl>
                                          </p:spTgt>
                                        </p:tgtEl>
                                        <p:attrNameLst>
                                          <p:attrName>style.visibility</p:attrName>
                                        </p:attrNameLst>
                                      </p:cBhvr>
                                      <p:to>
                                        <p:strVal val="visible"/>
                                      </p:to>
                                    </p:set>
                                    <p:animEffect transition="in" filter="fade">
                                      <p:cBhvr>
                                        <p:cTn id="12" dur="2000"/>
                                        <p:tgtEl>
                                          <p:spTgt spid="20484">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0484">
                                            <p:txEl>
                                              <p:pRg st="2" end="2"/>
                                            </p:txEl>
                                          </p:spTgt>
                                        </p:tgtEl>
                                        <p:attrNameLst>
                                          <p:attrName>style.visibility</p:attrName>
                                        </p:attrNameLst>
                                      </p:cBhvr>
                                      <p:to>
                                        <p:strVal val="visible"/>
                                      </p:to>
                                    </p:set>
                                    <p:animEffect transition="in" filter="fade">
                                      <p:cBhvr>
                                        <p:cTn id="17" dur="2000"/>
                                        <p:tgtEl>
                                          <p:spTgt spid="20484">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0484">
                                            <p:txEl>
                                              <p:pRg st="3" end="3"/>
                                            </p:txEl>
                                          </p:spTgt>
                                        </p:tgtEl>
                                        <p:attrNameLst>
                                          <p:attrName>style.visibility</p:attrName>
                                        </p:attrNameLst>
                                      </p:cBhvr>
                                      <p:to>
                                        <p:strVal val="visible"/>
                                      </p:to>
                                    </p:set>
                                    <p:animEffect transition="in" filter="fade">
                                      <p:cBhvr>
                                        <p:cTn id="22" dur="2000"/>
                                        <p:tgtEl>
                                          <p:spTgt spid="2048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4"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4"/>
          <p:cNvSpPr>
            <a:spLocks noGrp="1" noChangeArrowheads="1"/>
          </p:cNvSpPr>
          <p:nvPr>
            <p:ph type="title"/>
          </p:nvPr>
        </p:nvSpPr>
        <p:spPr/>
        <p:txBody>
          <a:bodyPr/>
          <a:lstStyle/>
          <a:p>
            <a:r>
              <a:rPr lang="en-US"/>
              <a:t>Implications for Managers</a:t>
            </a:r>
          </a:p>
        </p:txBody>
      </p:sp>
      <p:sp>
        <p:nvSpPr>
          <p:cNvPr id="4" name="Rectangle 6"/>
          <p:cNvSpPr>
            <a:spLocks noGrp="1" noChangeArrowheads="1"/>
          </p:cNvSpPr>
          <p:nvPr>
            <p:ph type="sldNum" sz="quarter" idx="12"/>
          </p:nvPr>
        </p:nvSpPr>
        <p:spPr>
          <a:ln/>
        </p:spPr>
        <p:txBody>
          <a:bodyPr>
            <a:normAutofit fontScale="47500" lnSpcReduction="20000"/>
          </a:bodyPr>
          <a:lstStyle/>
          <a:p>
            <a:r>
              <a:rPr lang="en-US"/>
              <a:t>6-</a:t>
            </a:r>
            <a:fld id="{5CDA04E3-CF92-4E30-BE25-5E9E8281B89B}" type="slidenum">
              <a:rPr lang="en-US"/>
              <a:pPr/>
              <a:t>38</a:t>
            </a:fld>
            <a:endParaRPr lang="en-US"/>
          </a:p>
        </p:txBody>
      </p:sp>
      <p:sp>
        <p:nvSpPr>
          <p:cNvPr id="38917" name="Rectangle 5"/>
          <p:cNvSpPr>
            <a:spLocks noGrp="1" noChangeArrowheads="1"/>
          </p:cNvSpPr>
          <p:nvPr>
            <p:ph sz="quarter" idx="13"/>
          </p:nvPr>
        </p:nvSpPr>
        <p:spPr/>
        <p:txBody>
          <a:bodyPr>
            <a:normAutofit fontScale="92500" lnSpcReduction="20000"/>
          </a:bodyPr>
          <a:lstStyle/>
          <a:p>
            <a:pPr>
              <a:spcAft>
                <a:spcPts val="1200"/>
              </a:spcAft>
            </a:pPr>
            <a:r>
              <a:rPr lang="en-US" dirty="0"/>
              <a:t>Recognize and allow for individual differences</a:t>
            </a:r>
          </a:p>
          <a:p>
            <a:pPr>
              <a:spcAft>
                <a:spcPts val="1200"/>
              </a:spcAft>
            </a:pPr>
            <a:r>
              <a:rPr lang="en-US" dirty="0"/>
              <a:t>Use specific goals and feedback</a:t>
            </a:r>
          </a:p>
          <a:p>
            <a:pPr>
              <a:spcAft>
                <a:spcPts val="1200"/>
              </a:spcAft>
            </a:pPr>
            <a:r>
              <a:rPr lang="en-US" dirty="0"/>
              <a:t>Allow employees to participate in decisions that affect them</a:t>
            </a:r>
          </a:p>
          <a:p>
            <a:pPr>
              <a:spcAft>
                <a:spcPts val="1200"/>
              </a:spcAft>
            </a:pPr>
            <a:r>
              <a:rPr lang="en-US" dirty="0"/>
              <a:t>Link rewards to performance</a:t>
            </a:r>
          </a:p>
          <a:p>
            <a:pPr>
              <a:spcAft>
                <a:spcPts val="1200"/>
              </a:spcAft>
            </a:pPr>
            <a:r>
              <a:rPr lang="en-US" dirty="0"/>
              <a:t>Check the reward system for equity</a:t>
            </a:r>
          </a:p>
        </p:txBody>
      </p:sp>
    </p:spTree>
    <p:extLst>
      <p:ext uri="{BB962C8B-B14F-4D97-AF65-F5344CB8AC3E}">
        <p14:creationId xmlns:p14="http://schemas.microsoft.com/office/powerpoint/2010/main" val="4067818286"/>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8917">
                                            <p:txEl>
                                              <p:pRg st="0" end="0"/>
                                            </p:txEl>
                                          </p:spTgt>
                                        </p:tgtEl>
                                        <p:attrNameLst>
                                          <p:attrName>style.visibility</p:attrName>
                                        </p:attrNameLst>
                                      </p:cBhvr>
                                      <p:to>
                                        <p:strVal val="visible"/>
                                      </p:to>
                                    </p:set>
                                    <p:anim calcmode="lin" valueType="num">
                                      <p:cBhvr additive="base">
                                        <p:cTn id="7" dur="500" fill="hold"/>
                                        <p:tgtEl>
                                          <p:spTgt spid="3891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891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8917">
                                            <p:txEl>
                                              <p:pRg st="1" end="1"/>
                                            </p:txEl>
                                          </p:spTgt>
                                        </p:tgtEl>
                                        <p:attrNameLst>
                                          <p:attrName>style.visibility</p:attrName>
                                        </p:attrNameLst>
                                      </p:cBhvr>
                                      <p:to>
                                        <p:strVal val="visible"/>
                                      </p:to>
                                    </p:set>
                                    <p:anim calcmode="lin" valueType="num">
                                      <p:cBhvr additive="base">
                                        <p:cTn id="13" dur="500" fill="hold"/>
                                        <p:tgtEl>
                                          <p:spTgt spid="3891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891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8917">
                                            <p:txEl>
                                              <p:pRg st="2" end="2"/>
                                            </p:txEl>
                                          </p:spTgt>
                                        </p:tgtEl>
                                        <p:attrNameLst>
                                          <p:attrName>style.visibility</p:attrName>
                                        </p:attrNameLst>
                                      </p:cBhvr>
                                      <p:to>
                                        <p:strVal val="visible"/>
                                      </p:to>
                                    </p:set>
                                    <p:anim calcmode="lin" valueType="num">
                                      <p:cBhvr additive="base">
                                        <p:cTn id="19" dur="500" fill="hold"/>
                                        <p:tgtEl>
                                          <p:spTgt spid="3891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891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8917">
                                            <p:txEl>
                                              <p:pRg st="3" end="3"/>
                                            </p:txEl>
                                          </p:spTgt>
                                        </p:tgtEl>
                                        <p:attrNameLst>
                                          <p:attrName>style.visibility</p:attrName>
                                        </p:attrNameLst>
                                      </p:cBhvr>
                                      <p:to>
                                        <p:strVal val="visible"/>
                                      </p:to>
                                    </p:set>
                                    <p:anim calcmode="lin" valueType="num">
                                      <p:cBhvr additive="base">
                                        <p:cTn id="25" dur="500" fill="hold"/>
                                        <p:tgtEl>
                                          <p:spTgt spid="3891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891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8917">
                                            <p:txEl>
                                              <p:pRg st="4" end="4"/>
                                            </p:txEl>
                                          </p:spTgt>
                                        </p:tgtEl>
                                        <p:attrNameLst>
                                          <p:attrName>style.visibility</p:attrName>
                                        </p:attrNameLst>
                                      </p:cBhvr>
                                      <p:to>
                                        <p:strVal val="visible"/>
                                      </p:to>
                                    </p:set>
                                    <p:anim calcmode="lin" valueType="num">
                                      <p:cBhvr additive="base">
                                        <p:cTn id="31" dur="500" fill="hold"/>
                                        <p:tgtEl>
                                          <p:spTgt spid="38917">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8917">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7"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t>Summary</a:t>
            </a:r>
          </a:p>
        </p:txBody>
      </p:sp>
      <p:sp>
        <p:nvSpPr>
          <p:cNvPr id="4" name="Rectangle 6"/>
          <p:cNvSpPr>
            <a:spLocks noGrp="1" noChangeArrowheads="1"/>
          </p:cNvSpPr>
          <p:nvPr>
            <p:ph type="sldNum" sz="quarter" idx="12"/>
          </p:nvPr>
        </p:nvSpPr>
        <p:spPr>
          <a:ln/>
        </p:spPr>
        <p:txBody>
          <a:bodyPr>
            <a:normAutofit fontScale="47500" lnSpcReduction="20000"/>
          </a:bodyPr>
          <a:lstStyle/>
          <a:p>
            <a:r>
              <a:rPr lang="en-US"/>
              <a:t>6-</a:t>
            </a:r>
            <a:fld id="{317A1ADB-2600-467F-B986-6F37C93560CD}" type="slidenum">
              <a:rPr lang="en-US"/>
              <a:pPr/>
              <a:t>39</a:t>
            </a:fld>
            <a:endParaRPr lang="en-US"/>
          </a:p>
        </p:txBody>
      </p:sp>
      <p:sp>
        <p:nvSpPr>
          <p:cNvPr id="23555" name="Rectangle 3"/>
          <p:cNvSpPr>
            <a:spLocks noGrp="1" noChangeArrowheads="1"/>
          </p:cNvSpPr>
          <p:nvPr>
            <p:ph sz="quarter" idx="13"/>
          </p:nvPr>
        </p:nvSpPr>
        <p:spPr/>
        <p:txBody>
          <a:bodyPr>
            <a:normAutofit fontScale="77500" lnSpcReduction="20000"/>
          </a:bodyPr>
          <a:lstStyle/>
          <a:p>
            <a:pPr marL="609600" indent="-609600">
              <a:lnSpc>
                <a:spcPct val="80000"/>
              </a:lnSpc>
              <a:spcAft>
                <a:spcPts val="1200"/>
              </a:spcAft>
              <a:buFontTx/>
              <a:buAutoNum type="arabicPeriod"/>
            </a:pPr>
            <a:r>
              <a:rPr lang="en-US" sz="2400" dirty="0"/>
              <a:t>Described the way in which employees could be motivated by changing their work environment.</a:t>
            </a:r>
          </a:p>
          <a:p>
            <a:pPr marL="609600" indent="-609600">
              <a:lnSpc>
                <a:spcPct val="80000"/>
              </a:lnSpc>
              <a:spcAft>
                <a:spcPts val="1200"/>
              </a:spcAft>
              <a:buFontTx/>
              <a:buAutoNum type="arabicPeriod"/>
            </a:pPr>
            <a:r>
              <a:rPr lang="en-US" sz="2400" dirty="0"/>
              <a:t>Compared and contrasted the three main ways jobs could be redesigned.</a:t>
            </a:r>
          </a:p>
          <a:p>
            <a:pPr marL="609600" indent="-609600">
              <a:lnSpc>
                <a:spcPct val="80000"/>
              </a:lnSpc>
              <a:spcAft>
                <a:spcPts val="1200"/>
              </a:spcAft>
              <a:buFontTx/>
              <a:buAutoNum type="arabicPeriod"/>
            </a:pPr>
            <a:r>
              <a:rPr lang="en-US" sz="2400" dirty="0"/>
              <a:t>Gave examples of employee involvement measures and how they could motivate employees.</a:t>
            </a:r>
          </a:p>
          <a:p>
            <a:pPr marL="609600" indent="-609600">
              <a:lnSpc>
                <a:spcPct val="80000"/>
              </a:lnSpc>
              <a:spcAft>
                <a:spcPts val="1200"/>
              </a:spcAft>
              <a:buFontTx/>
              <a:buAutoNum type="arabicPeriod"/>
            </a:pPr>
            <a:r>
              <a:rPr lang="en-US" sz="2400" dirty="0"/>
              <a:t>Described the four major strategic rewards decisions.</a:t>
            </a:r>
          </a:p>
          <a:p>
            <a:pPr marL="609600" indent="-609600">
              <a:lnSpc>
                <a:spcPct val="80000"/>
              </a:lnSpc>
              <a:spcAft>
                <a:spcPts val="1200"/>
              </a:spcAft>
              <a:buFontTx/>
              <a:buAutoNum type="arabicPeriod"/>
            </a:pPr>
            <a:r>
              <a:rPr lang="en-US" sz="2400" dirty="0"/>
              <a:t>Demonstrated how the different types of variable-pay programs could increase employee motivation.</a:t>
            </a:r>
          </a:p>
          <a:p>
            <a:pPr marL="609600" indent="-609600">
              <a:lnSpc>
                <a:spcPct val="80000"/>
              </a:lnSpc>
              <a:spcAft>
                <a:spcPts val="1200"/>
              </a:spcAft>
              <a:buFontTx/>
              <a:buAutoNum type="arabicPeriod"/>
            </a:pPr>
            <a:r>
              <a:rPr lang="en-US" sz="2400" dirty="0"/>
              <a:t>Described how the application of motivation theories varied across cultures.</a:t>
            </a:r>
          </a:p>
        </p:txBody>
      </p:sp>
    </p:spTree>
    <p:extLst>
      <p:ext uri="{BB962C8B-B14F-4D97-AF65-F5344CB8AC3E}">
        <p14:creationId xmlns:p14="http://schemas.microsoft.com/office/powerpoint/2010/main" val="1202987737"/>
      </p:ext>
    </p:extLst>
  </p:cSld>
  <p:clrMapOvr>
    <a:masterClrMapping/>
  </p:clrMapOvr>
  <p:transition>
    <p:random/>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normAutofit fontScale="47500" lnSpcReduction="20000"/>
          </a:bodyPr>
          <a:lstStyle/>
          <a:p>
            <a:fld id="{A3F7CB7D-F184-43C7-B6FD-03D728E1BBFF}" type="slidenum">
              <a:rPr lang="en-US" smtClean="0">
                <a:solidFill>
                  <a:srgbClr val="FFFFFF"/>
                </a:solidFill>
              </a:rPr>
              <a:pPr/>
              <a:t>40</a:t>
            </a:fld>
            <a:endParaRPr lang="en-US" dirty="0">
              <a:solidFill>
                <a:srgbClr val="FFFFFF"/>
              </a:solidFill>
            </a:endParaRPr>
          </a:p>
        </p:txBody>
      </p:sp>
      <p:pic>
        <p:nvPicPr>
          <p:cNvPr id="44034" name="Picture 2" descr="Image result for motivation in Urd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123950"/>
            <a:ext cx="6096000" cy="38862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4483314"/>
      </p:ext>
    </p:extLst>
  </p:cSld>
  <p:clrMapOvr>
    <a:masterClrMapping/>
  </p:clrMapOvr>
  <p:transition>
    <p:pull dir="d"/>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idescreenPresentation">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shade val="45000"/>
                <a:satMod val="150000"/>
              </a:schemeClr>
            </a:gs>
            <a:gs pos="35000">
              <a:schemeClr val="phClr">
                <a:shade val="60000"/>
                <a:satMod val="150000"/>
              </a:schemeClr>
            </a:gs>
            <a:gs pos="100000">
              <a:schemeClr val="phClr">
                <a:tint val="97000"/>
                <a:satMod val="200000"/>
              </a:schemeClr>
            </a:gs>
          </a:gsLst>
          <a:lin ang="16200000" scaled="1"/>
        </a:gra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0000"/>
                <a:satMod val="155000"/>
              </a:schemeClr>
            </a:gs>
            <a:gs pos="65000">
              <a:schemeClr val="phClr">
                <a:shade val="85000"/>
                <a:satMod val="155000"/>
              </a:schemeClr>
            </a:gs>
            <a:gs pos="100000">
              <a:schemeClr val="phClr">
                <a:shade val="95000"/>
                <a:satMod val="155000"/>
              </a:schemeClr>
            </a:gs>
          </a:gsLst>
          <a:lin ang="16200000" scaled="0"/>
        </a:gradFill>
      </a:fillStyleLst>
      <a:lnStyleLst>
        <a:ln w="6350" cap="rnd" cmpd="sng" algn="ctr">
          <a:solidFill>
            <a:schemeClr val="phClr">
              <a:shade val="95000"/>
              <a:satMod val="105000"/>
            </a:schemeClr>
          </a:solidFill>
          <a:prstDash val="solid"/>
        </a:ln>
        <a:ln w="25400" cap="rnd" cmpd="sng" algn="ctr">
          <a:solidFill>
            <a:schemeClr val="phClr"/>
          </a:solidFill>
          <a:prstDash val="solid"/>
        </a:ln>
        <a:ln w="34925" cap="rnd" cmpd="sng" algn="ctr">
          <a:solidFill>
            <a:schemeClr val="phClr"/>
          </a:solidFill>
          <a:prstDash val="solid"/>
        </a:ln>
      </a:lnStyleLst>
      <a:effectStyleLst>
        <a:effectStyle>
          <a:effectLst>
            <a:outerShdw blurRad="50800" algn="tl" rotWithShape="0">
              <a:srgbClr val="000000">
                <a:alpha val="64000"/>
              </a:srgbClr>
            </a:outerShdw>
          </a:effectLst>
        </a:effectStyle>
        <a:effectStyle>
          <a:effectLst>
            <a:outerShdw blurRad="39000" dist="25400" dir="5400000">
              <a:srgbClr val="000000">
                <a:alpha val="35000"/>
              </a:srgbClr>
            </a:outerShdw>
          </a:effectLst>
        </a:effectStyle>
        <a:effectStyle>
          <a:effectLst>
            <a:outerShdw blurRad="39000" dist="25400" dir="5400000">
              <a:srgbClr val="000000">
                <a:alpha val="35000"/>
              </a:srgbClr>
            </a:outerShdw>
          </a:effectLst>
          <a:scene3d>
            <a:camera prst="orthographicFront" fov="0">
              <a:rot lat="0" lon="0" rev="0"/>
            </a:camera>
            <a:lightRig rig="threePt" dir="t">
              <a:rot lat="0" lon="0" rev="0"/>
            </a:lightRig>
          </a:scene3d>
          <a:sp3d prstMaterial="matte">
            <a:bevelT h="22225"/>
          </a:sp3d>
        </a:effectStyle>
      </a:effectStyleLst>
      <a:bgFillStyleLst>
        <a:solidFill>
          <a:schemeClr val="phClr"/>
        </a:solidFill>
        <a:gradFill rotWithShape="1">
          <a:gsLst>
            <a:gs pos="0">
              <a:schemeClr val="phClr">
                <a:shade val="50000"/>
                <a:satMod val="155000"/>
              </a:schemeClr>
            </a:gs>
            <a:gs pos="35000">
              <a:schemeClr val="phClr">
                <a:shade val="75000"/>
                <a:satMod val="155000"/>
              </a:schemeClr>
            </a:gs>
            <a:gs pos="100000">
              <a:schemeClr val="phClr">
                <a:tint val="80000"/>
                <a:satMod val="255000"/>
              </a:schemeClr>
            </a:gs>
          </a:gsLst>
          <a:lin ang="16200000" scaled="0"/>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WidescreenPresentation</Template>
  <TotalTime>0</TotalTime>
  <Words>3566</Words>
  <Application>Microsoft Office PowerPoint</Application>
  <PresentationFormat>On-screen Show (16:9)</PresentationFormat>
  <Paragraphs>366</Paragraphs>
  <Slides>40</Slides>
  <Notes>22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40</vt:i4>
      </vt:variant>
    </vt:vector>
  </HeadingPairs>
  <TitlesOfParts>
    <vt:vector size="49" baseType="lpstr">
      <vt:lpstr>Arial</vt:lpstr>
      <vt:lpstr>Calibri</vt:lpstr>
      <vt:lpstr>Century Schoolbook</vt:lpstr>
      <vt:lpstr>Tahoma</vt:lpstr>
      <vt:lpstr>Times New Roman</vt:lpstr>
      <vt:lpstr>Tw Cen MT</vt:lpstr>
      <vt:lpstr>Wingdings</vt:lpstr>
      <vt:lpstr>Wingdings 2</vt:lpstr>
      <vt:lpstr>WidescreenPresentation</vt:lpstr>
      <vt:lpstr>Motivation</vt:lpstr>
      <vt:lpstr>What Is Motivation? </vt:lpstr>
      <vt:lpstr>PowerPoint Presentation</vt:lpstr>
      <vt:lpstr>Early Theories of Motivation</vt:lpstr>
      <vt:lpstr>Maslow’s Hierarchy of Needs Theory</vt:lpstr>
      <vt:lpstr>PowerPoint Presentation</vt:lpstr>
      <vt:lpstr>Douglas McGregor’s X &amp; Y</vt:lpstr>
      <vt:lpstr>Herzberg’s Two-Factor Theory</vt:lpstr>
      <vt:lpstr>McClelland's Theory of Needs </vt:lpstr>
      <vt:lpstr>Contemporary Theories of Motivation</vt:lpstr>
      <vt:lpstr>Self-Determination Theory</vt:lpstr>
      <vt:lpstr>Goal-Setting Theory</vt:lpstr>
      <vt:lpstr>Management by Objectives (MBO)</vt:lpstr>
      <vt:lpstr>Self-Efficacy or Social Learning Theory</vt:lpstr>
      <vt:lpstr>Equity Theory</vt:lpstr>
      <vt:lpstr>PowerPoint Presentation</vt:lpstr>
      <vt:lpstr>Equity Theory and Reactions to Inequitable Pay</vt:lpstr>
      <vt:lpstr>Equity Theory:  Forms of Justice</vt:lpstr>
      <vt:lpstr>Expectancy  Theory</vt:lpstr>
      <vt:lpstr>Motivation Application</vt:lpstr>
      <vt:lpstr>Motivating by Changing the Work Environment: JCM</vt:lpstr>
      <vt:lpstr>The Job Characteristics Model</vt:lpstr>
      <vt:lpstr>Job Design Theory Five Core Job Characteristics</vt:lpstr>
      <vt:lpstr>JCM: Designing Motivational Jobs</vt:lpstr>
      <vt:lpstr>How Can Jobs be Redesigned?</vt:lpstr>
      <vt:lpstr>Guidelines for Enriching a Job Using JCM</vt:lpstr>
      <vt:lpstr>Alternate Work Arrangements</vt:lpstr>
      <vt:lpstr>Employee Involvement</vt:lpstr>
      <vt:lpstr>Participative Management</vt:lpstr>
      <vt:lpstr>Representative Participation</vt:lpstr>
      <vt:lpstr>Rewarding Employees</vt:lpstr>
      <vt:lpstr>1. What to Pay</vt:lpstr>
      <vt:lpstr>2. How to Pay: Variable-Pay Programs</vt:lpstr>
      <vt:lpstr>More Variable Pay Programs</vt:lpstr>
      <vt:lpstr>3. What Benefit to Offer: Flexible Benefits</vt:lpstr>
      <vt:lpstr>4. How to Recognize Them: Employee Recognition Programs</vt:lpstr>
      <vt:lpstr>Global Implications</vt:lpstr>
      <vt:lpstr>Implications for Managers</vt:lpstr>
      <vt:lpstr>Summary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2017-08-17T02:20:37Z</dcterms:created>
  <dcterms:modified xsi:type="dcterms:W3CDTF">2025-10-09T04:38:18Z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LCID">
    <vt:i4>1033</vt:i4>
  </property>
  <property fmtid="{D5CDD505-2E9C-101B-9397-08002B2CF9AE}" pid="3" name="_Version">
    <vt:lpwstr>12.0.4518</vt:lpwstr>
  </property>
</Properties>
</file>