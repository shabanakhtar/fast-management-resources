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9"/>
  </p:notesMasterIdLst>
  <p:handoutMasterIdLst>
    <p:handoutMasterId r:id="rId40"/>
  </p:handoutMasterIdLst>
  <p:sldIdLst>
    <p:sldId id="265" r:id="rId2"/>
    <p:sldId id="342" r:id="rId3"/>
    <p:sldId id="351" r:id="rId4"/>
    <p:sldId id="346" r:id="rId5"/>
    <p:sldId id="352" r:id="rId6"/>
    <p:sldId id="350" r:id="rId7"/>
    <p:sldId id="355" r:id="rId8"/>
    <p:sldId id="356" r:id="rId9"/>
    <p:sldId id="357" r:id="rId10"/>
    <p:sldId id="358" r:id="rId11"/>
    <p:sldId id="274" r:id="rId12"/>
    <p:sldId id="353" r:id="rId13"/>
    <p:sldId id="347" r:id="rId14"/>
    <p:sldId id="359" r:id="rId15"/>
    <p:sldId id="348" r:id="rId16"/>
    <p:sldId id="277" r:id="rId17"/>
    <p:sldId id="362" r:id="rId18"/>
    <p:sldId id="364" r:id="rId19"/>
    <p:sldId id="370" r:id="rId20"/>
    <p:sldId id="371" r:id="rId21"/>
    <p:sldId id="367" r:id="rId22"/>
    <p:sldId id="368" r:id="rId23"/>
    <p:sldId id="369" r:id="rId24"/>
    <p:sldId id="361" r:id="rId25"/>
    <p:sldId id="372" r:id="rId26"/>
    <p:sldId id="373" r:id="rId27"/>
    <p:sldId id="286" r:id="rId28"/>
    <p:sldId id="374" r:id="rId29"/>
    <p:sldId id="375" r:id="rId30"/>
    <p:sldId id="376" r:id="rId31"/>
    <p:sldId id="377" r:id="rId32"/>
    <p:sldId id="297" r:id="rId33"/>
    <p:sldId id="293" r:id="rId34"/>
    <p:sldId id="294" r:id="rId35"/>
    <p:sldId id="295" r:id="rId36"/>
    <p:sldId id="296" r:id="rId37"/>
    <p:sldId id="378" r:id="rId38"/>
  </p:sldIdLst>
  <p:sldSz cx="9144000" cy="5143500" type="screen16x9"/>
  <p:notesSz cx="7315200" cy="96012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B73FC6-81EB-488A-A81D-F90C1D17378C}" v="2" dt="2022-02-15T15:36:55.5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0" autoAdjust="0"/>
    <p:restoredTop sz="83126" autoAdjust="0"/>
  </p:normalViewPr>
  <p:slideViewPr>
    <p:cSldViewPr>
      <p:cViewPr varScale="1">
        <p:scale>
          <a:sx n="90" d="100"/>
          <a:sy n="90" d="100"/>
        </p:scale>
        <p:origin x="1118" y="67"/>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58BDC80-DC7C-43FD-96E5-532427FD5AF6}" type="datetimeFigureOut">
              <a:rPr lang="en-US" smtClean="0"/>
              <a:pPr/>
              <a:t>8/28/2025</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6249E867-D716-4FCE-A2D3-C62D6ABAC055}" type="slidenum">
              <a:rPr lang="en-US" smtClean="0"/>
              <a:pPr/>
              <a:t>‹#›</a:t>
            </a:fld>
            <a:endParaRPr lang="en-US"/>
          </a:p>
        </p:txBody>
      </p:sp>
    </p:spTree>
    <p:extLst>
      <p:ext uri="{BB962C8B-B14F-4D97-AF65-F5344CB8AC3E}">
        <p14:creationId xmlns:p14="http://schemas.microsoft.com/office/powerpoint/2010/main" val="14471741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extLst/>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extLst/>
          </a:lstStyle>
          <a:p>
            <a:fld id="{A8ADFD5B-A66C-449C-B6E8-FB716D07777D}" type="datetimeFigureOut">
              <a:rPr lang="en-US" smtClean="0"/>
              <a:pPr/>
              <a:t>8/28/2025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extLst/>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1369369957"/>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kidshealth.org/en/teens/about-self-esteem.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members.aol.com/AngriesOut/teach9.htm"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a:t>
            </a:fld>
            <a:endParaRPr lang="en-US"/>
          </a:p>
        </p:txBody>
      </p:sp>
    </p:spTree>
    <p:extLst>
      <p:ext uri="{BB962C8B-B14F-4D97-AF65-F5344CB8AC3E}">
        <p14:creationId xmlns:p14="http://schemas.microsoft.com/office/powerpoint/2010/main" val="101052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3</a:t>
            </a:fld>
            <a:endParaRPr lang="en-US"/>
          </a:p>
        </p:txBody>
      </p:sp>
    </p:spTree>
    <p:extLst>
      <p:ext uri="{BB962C8B-B14F-4D97-AF65-F5344CB8AC3E}">
        <p14:creationId xmlns:p14="http://schemas.microsoft.com/office/powerpoint/2010/main" val="3033989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ideas of the Myers-Briggs Type Indicator (MBTI) were created by Carl Gustav Jung in 1921. • The actual test was officially published in 1962. The test was created to help determine which careers would be best for women as they entered the workforce for the first time during WWII. • It is a psychological analysis examination that determines a person’s psychological makeup and how they perceive and make decisions. The test is made of four different dichotomies or personality descriptions. One can either be: 1. Introverted or Extroverted 2. Sensing or Intuitive 3. Thinking or Feeling 4. Judging or Perceptive</a:t>
            </a:r>
          </a:p>
        </p:txBody>
      </p:sp>
      <p:sp>
        <p:nvSpPr>
          <p:cNvPr id="4" name="Slide Number Placeholder 3"/>
          <p:cNvSpPr>
            <a:spLocks noGrp="1"/>
          </p:cNvSpPr>
          <p:nvPr>
            <p:ph type="sldNum" sz="quarter" idx="10"/>
          </p:nvPr>
        </p:nvSpPr>
        <p:spPr/>
        <p:txBody>
          <a:bodyPr/>
          <a:lstStyle/>
          <a:p>
            <a:fld id="{CA5D3BF3-D352-46FC-8343-31F56E6730EA}" type="slidenum">
              <a:rPr lang="en-US" smtClean="0"/>
              <a:pPr/>
              <a:t>4</a:t>
            </a:fld>
            <a:endParaRPr lang="en-US"/>
          </a:p>
        </p:txBody>
      </p:sp>
    </p:spTree>
    <p:extLst>
      <p:ext uri="{BB962C8B-B14F-4D97-AF65-F5344CB8AC3E}">
        <p14:creationId xmlns:p14="http://schemas.microsoft.com/office/powerpoint/2010/main" val="1217659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5</a:t>
            </a:fld>
            <a:endParaRPr lang="en-US"/>
          </a:p>
        </p:txBody>
      </p:sp>
    </p:spTree>
    <p:extLst>
      <p:ext uri="{BB962C8B-B14F-4D97-AF65-F5344CB8AC3E}">
        <p14:creationId xmlns:p14="http://schemas.microsoft.com/office/powerpoint/2010/main" val="170867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lgn="ctr" eaLnBrk="1" hangingPunct="1">
              <a:lnSpc>
                <a:spcPct val="90000"/>
              </a:lnSpc>
            </a:pPr>
            <a:r>
              <a:rPr lang="en-US" sz="1200" dirty="0"/>
              <a:t>These are two different attitudes to the world around us.</a:t>
            </a:r>
          </a:p>
          <a:p>
            <a:pPr eaLnBrk="1" hangingPunct="1">
              <a:lnSpc>
                <a:spcPct val="90000"/>
              </a:lnSpc>
            </a:pPr>
            <a:endParaRPr lang="en-US" sz="1200" dirty="0"/>
          </a:p>
          <a:p>
            <a:pPr eaLnBrk="1" hangingPunct="1">
              <a:lnSpc>
                <a:spcPct val="90000"/>
              </a:lnSpc>
            </a:pPr>
            <a:r>
              <a:rPr lang="en-US" sz="1200" dirty="0"/>
              <a:t>When you are in the </a:t>
            </a:r>
            <a:r>
              <a:rPr lang="en-US" sz="1200" u="sng" dirty="0"/>
              <a:t>extraverted</a:t>
            </a:r>
            <a:r>
              <a:rPr lang="en-US" sz="1200" dirty="0"/>
              <a:t> attitude, you relate more easily to the world of people and things outside of you.</a:t>
            </a:r>
          </a:p>
          <a:p>
            <a:pPr eaLnBrk="1" hangingPunct="1">
              <a:lnSpc>
                <a:spcPct val="90000"/>
              </a:lnSpc>
            </a:pPr>
            <a:r>
              <a:rPr lang="en-US" sz="1200" dirty="0"/>
              <a:t>When you are in the </a:t>
            </a:r>
            <a:r>
              <a:rPr lang="en-US" sz="1200" u="sng" dirty="0"/>
              <a:t>introverted </a:t>
            </a:r>
            <a:r>
              <a:rPr lang="en-US" sz="1200" dirty="0"/>
              <a:t>attitude, you relate more easily to the ideas and concepts in your mind</a:t>
            </a:r>
          </a:p>
          <a:p>
            <a:pPr eaLnBrk="1" hangingPunct="1">
              <a:lnSpc>
                <a:spcPct val="90000"/>
              </a:lnSpc>
            </a:pPr>
            <a:r>
              <a:rPr lang="en-US" sz="1200" dirty="0"/>
              <a:t>Likes variety and action</a:t>
            </a:r>
          </a:p>
          <a:p>
            <a:pPr eaLnBrk="1" hangingPunct="1">
              <a:lnSpc>
                <a:spcPct val="90000"/>
              </a:lnSpc>
              <a:buFontTx/>
              <a:buNone/>
            </a:pPr>
            <a:endParaRPr lang="en-US" sz="1200" dirty="0"/>
          </a:p>
          <a:p>
            <a:pPr eaLnBrk="1" hangingPunct="1">
              <a:lnSpc>
                <a:spcPct val="90000"/>
              </a:lnSpc>
            </a:pPr>
            <a:r>
              <a:rPr lang="en-US" sz="1200" dirty="0"/>
              <a:t>Enjoys talking out loud about ideas</a:t>
            </a:r>
          </a:p>
          <a:p>
            <a:pPr eaLnBrk="1" hangingPunct="1">
              <a:lnSpc>
                <a:spcPct val="90000"/>
              </a:lnSpc>
              <a:buFontTx/>
              <a:buNone/>
            </a:pPr>
            <a:endParaRPr lang="en-US" sz="1200" dirty="0"/>
          </a:p>
          <a:p>
            <a:pPr eaLnBrk="1" hangingPunct="1">
              <a:lnSpc>
                <a:spcPct val="90000"/>
              </a:lnSpc>
            </a:pPr>
            <a:r>
              <a:rPr lang="en-US" sz="1200" dirty="0"/>
              <a:t>Demonstrates energy and enthusiasm</a:t>
            </a:r>
          </a:p>
          <a:p>
            <a:pPr eaLnBrk="1" hangingPunct="1">
              <a:lnSpc>
                <a:spcPct val="90000"/>
              </a:lnSpc>
              <a:buFontTx/>
              <a:buNone/>
            </a:pPr>
            <a:endParaRPr lang="en-US" sz="1200" dirty="0"/>
          </a:p>
          <a:p>
            <a:pPr eaLnBrk="1" hangingPunct="1">
              <a:lnSpc>
                <a:spcPct val="90000"/>
              </a:lnSpc>
            </a:pPr>
            <a:r>
              <a:rPr lang="en-US" sz="1200" dirty="0"/>
              <a:t>Is stimulated by, and responsive to, people and actions in the environment</a:t>
            </a:r>
          </a:p>
          <a:p>
            <a:pPr eaLnBrk="1" hangingPunct="1">
              <a:lnSpc>
                <a:spcPct val="90000"/>
              </a:lnSpc>
            </a:pPr>
            <a:endParaRPr lang="en-US" sz="1200" dirty="0"/>
          </a:p>
          <a:p>
            <a:pPr eaLnBrk="1" hangingPunct="1">
              <a:lnSpc>
                <a:spcPct val="90000"/>
              </a:lnSpc>
            </a:pPr>
            <a:r>
              <a:rPr lang="en-US" sz="1200" dirty="0"/>
              <a:t>May be easily distracted</a:t>
            </a:r>
          </a:p>
          <a:p>
            <a:pPr eaLnBrk="1" hangingPunct="1">
              <a:lnSpc>
                <a:spcPct val="90000"/>
              </a:lnSpc>
            </a:pPr>
            <a:endParaRPr lang="en-US" sz="1200" dirty="0"/>
          </a:p>
          <a:p>
            <a:pPr eaLnBrk="1" hangingPunct="1">
              <a:lnSpc>
                <a:spcPct val="90000"/>
              </a:lnSpc>
            </a:pPr>
            <a:r>
              <a:rPr lang="en-US" sz="1200" dirty="0"/>
              <a:t>Expresses thoughts and feelings openly</a:t>
            </a:r>
          </a:p>
          <a:p>
            <a:pPr eaLnBrk="1" hangingPunct="1">
              <a:lnSpc>
                <a:spcPct val="90000"/>
              </a:lnSpc>
            </a:pPr>
            <a:endParaRPr lang="en-US" sz="1200" dirty="0"/>
          </a:p>
          <a:p>
            <a:pPr eaLnBrk="1" hangingPunct="1">
              <a:lnSpc>
                <a:spcPct val="90000"/>
              </a:lnSpc>
            </a:pPr>
            <a:r>
              <a:rPr lang="en-US" sz="1200" dirty="0"/>
              <a:t>Is energized by being with others</a:t>
            </a:r>
          </a:p>
          <a:p>
            <a:pPr eaLnBrk="1" hangingPunct="1">
              <a:lnSpc>
                <a:spcPct val="90000"/>
              </a:lnSpc>
            </a:pPr>
            <a:endParaRPr lang="en-US" sz="1200" dirty="0"/>
          </a:p>
          <a:p>
            <a:pPr eaLnBrk="1" hangingPunct="1">
              <a:lnSpc>
                <a:spcPct val="90000"/>
              </a:lnSpc>
            </a:pPr>
            <a:r>
              <a:rPr lang="en-US" sz="1200" dirty="0"/>
              <a:t>Acts before thinking</a:t>
            </a:r>
          </a:p>
          <a:p>
            <a:pPr eaLnBrk="1" hangingPunct="1">
              <a:lnSpc>
                <a:spcPct val="90000"/>
              </a:lnSpc>
            </a:pPr>
            <a:endParaRPr lang="en-US" sz="1200" dirty="0"/>
          </a:p>
          <a:p>
            <a:pPr eaLnBrk="1" hangingPunct="1">
              <a:lnSpc>
                <a:spcPct val="90000"/>
              </a:lnSpc>
            </a:pPr>
            <a:r>
              <a:rPr lang="en-US" sz="1200" dirty="0"/>
              <a:t>Is friendly and talkative</a:t>
            </a:r>
          </a:p>
          <a:p>
            <a:pPr eaLnBrk="1" hangingPunct="1">
              <a:lnSpc>
                <a:spcPct val="90000"/>
              </a:lnSpc>
            </a:pPr>
            <a:endParaRPr lang="en-US" sz="1200" dirty="0"/>
          </a:p>
          <a:p>
            <a:pPr eaLnBrk="1" hangingPunct="1">
              <a:lnSpc>
                <a:spcPct val="90000"/>
              </a:lnSpc>
            </a:pPr>
            <a:r>
              <a:rPr lang="en-US" sz="1200" dirty="0"/>
              <a:t>May be Impatient with long, slow projects</a:t>
            </a:r>
          </a:p>
          <a:p>
            <a:pPr eaLnBrk="1" hangingPunct="1">
              <a:lnSpc>
                <a:spcPct val="90000"/>
              </a:lnSpc>
            </a:pPr>
            <a:endParaRPr lang="en-US" sz="1200" dirty="0"/>
          </a:p>
          <a:p>
            <a:pPr eaLnBrk="1" hangingPunct="1">
              <a:lnSpc>
                <a:spcPct val="90000"/>
              </a:lnSpc>
            </a:pPr>
            <a:r>
              <a:rPr lang="en-US" sz="1200" dirty="0"/>
              <a:t>Values friends and relationships</a:t>
            </a:r>
          </a:p>
          <a:p>
            <a:pPr eaLnBrk="1" hangingPunct="1">
              <a:lnSpc>
                <a:spcPct val="90000"/>
              </a:lnSpc>
            </a:pPr>
            <a:endParaRPr lang="en-US" sz="1200"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6</a:t>
            </a:fld>
            <a:endParaRPr lang="en-US"/>
          </a:p>
        </p:txBody>
      </p:sp>
    </p:spTree>
    <p:extLst>
      <p:ext uri="{BB962C8B-B14F-4D97-AF65-F5344CB8AC3E}">
        <p14:creationId xmlns:p14="http://schemas.microsoft.com/office/powerpoint/2010/main" val="883154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eaLnBrk="1" hangingPunct="1"/>
            <a:r>
              <a:rPr lang="en-US" sz="1200" dirty="0"/>
              <a:t>These are 2 different ways of gathering information.</a:t>
            </a:r>
          </a:p>
          <a:p>
            <a:pPr algn="ctr" eaLnBrk="1" hangingPunct="1"/>
            <a:endParaRPr lang="en-US" sz="1200" dirty="0"/>
          </a:p>
          <a:p>
            <a:pPr eaLnBrk="1" hangingPunct="1"/>
            <a:r>
              <a:rPr lang="en-US" sz="1200" dirty="0"/>
              <a:t>When you are perceiving with your </a:t>
            </a:r>
            <a:r>
              <a:rPr lang="en-US" sz="1200" u="sng" dirty="0"/>
              <a:t>sensing </a:t>
            </a:r>
            <a:r>
              <a:rPr lang="en-US" sz="1200" dirty="0"/>
              <a:t>process, you are interested in your 5 senses show you (what exists in the present)</a:t>
            </a:r>
          </a:p>
          <a:p>
            <a:pPr eaLnBrk="1" hangingPunct="1"/>
            <a:endParaRPr lang="en-US" sz="1200" dirty="0"/>
          </a:p>
          <a:p>
            <a:pPr eaLnBrk="1" hangingPunct="1"/>
            <a:r>
              <a:rPr lang="en-US" sz="1200" dirty="0"/>
              <a:t>When you are perceiving with your </a:t>
            </a:r>
            <a:r>
              <a:rPr lang="en-US" sz="1200" u="sng" dirty="0"/>
              <a:t>intuition</a:t>
            </a:r>
            <a:r>
              <a:rPr lang="en-US" sz="1200" dirty="0"/>
              <a:t>, you are using your imagination to see new possibilities and insights hidden from the eye.</a:t>
            </a:r>
          </a:p>
        </p:txBody>
      </p:sp>
      <p:sp>
        <p:nvSpPr>
          <p:cNvPr id="4" name="Slide Number Placeholder 3"/>
          <p:cNvSpPr>
            <a:spLocks noGrp="1"/>
          </p:cNvSpPr>
          <p:nvPr>
            <p:ph type="sldNum" sz="quarter" idx="10"/>
          </p:nvPr>
        </p:nvSpPr>
        <p:spPr/>
        <p:txBody>
          <a:bodyPr/>
          <a:lstStyle/>
          <a:p>
            <a:fld id="{CA5D3BF3-D352-46FC-8343-31F56E6730EA}" type="slidenum">
              <a:rPr lang="en-US" smtClean="0"/>
              <a:pPr/>
              <a:t>7</a:t>
            </a:fld>
            <a:endParaRPr lang="en-US"/>
          </a:p>
        </p:txBody>
      </p:sp>
    </p:spTree>
    <p:extLst>
      <p:ext uri="{BB962C8B-B14F-4D97-AF65-F5344CB8AC3E}">
        <p14:creationId xmlns:p14="http://schemas.microsoft.com/office/powerpoint/2010/main" val="704330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eaLnBrk="1" hangingPunct="1"/>
            <a:r>
              <a:rPr lang="en-US" sz="1200" dirty="0"/>
              <a:t>These reflect 2 kinds of decision making.</a:t>
            </a:r>
          </a:p>
          <a:p>
            <a:pPr eaLnBrk="1" hangingPunct="1"/>
            <a:endParaRPr lang="en-US" sz="1200" dirty="0"/>
          </a:p>
          <a:p>
            <a:pPr eaLnBrk="1" hangingPunct="1"/>
            <a:r>
              <a:rPr lang="en-US" sz="1200" dirty="0"/>
              <a:t>When you make judgments with your </a:t>
            </a:r>
            <a:r>
              <a:rPr lang="en-US" sz="1200" u="sng" dirty="0"/>
              <a:t>thinking</a:t>
            </a:r>
            <a:r>
              <a:rPr lang="en-US" sz="1200" dirty="0"/>
              <a:t>, you base your decisions on impersonal analysis and logic.</a:t>
            </a:r>
          </a:p>
          <a:p>
            <a:pPr eaLnBrk="1" hangingPunct="1"/>
            <a:endParaRPr lang="en-US" sz="1200" dirty="0"/>
          </a:p>
          <a:p>
            <a:pPr eaLnBrk="1" hangingPunct="1"/>
            <a:r>
              <a:rPr lang="en-US" sz="1200" dirty="0"/>
              <a:t>When you make judgments with your </a:t>
            </a:r>
            <a:r>
              <a:rPr lang="en-US" sz="1200" u="sng" dirty="0"/>
              <a:t>feeling</a:t>
            </a:r>
            <a:r>
              <a:rPr lang="en-US" sz="1200" dirty="0"/>
              <a:t>, you base your decisions on your values. </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8</a:t>
            </a:fld>
            <a:endParaRPr lang="en-US"/>
          </a:p>
        </p:txBody>
      </p:sp>
    </p:spTree>
    <p:extLst>
      <p:ext uri="{BB962C8B-B14F-4D97-AF65-F5344CB8AC3E}">
        <p14:creationId xmlns:p14="http://schemas.microsoft.com/office/powerpoint/2010/main" val="2752860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eaLnBrk="1" hangingPunct="1"/>
            <a:r>
              <a:rPr lang="en-US" sz="1200" dirty="0"/>
              <a:t>These are 2 ways of living in the world around us.</a:t>
            </a:r>
          </a:p>
          <a:p>
            <a:pPr algn="ctr" eaLnBrk="1" hangingPunct="1"/>
            <a:endParaRPr lang="en-US" sz="1200" dirty="0"/>
          </a:p>
          <a:p>
            <a:pPr eaLnBrk="1" hangingPunct="1"/>
            <a:r>
              <a:rPr lang="en-US" sz="1200" dirty="0"/>
              <a:t>When you are living by your </a:t>
            </a:r>
            <a:r>
              <a:rPr lang="en-US" sz="1200" u="sng" dirty="0"/>
              <a:t>judgment</a:t>
            </a:r>
            <a:r>
              <a:rPr lang="en-US" sz="1200" dirty="0"/>
              <a:t>, you like to have things decided; your life is likely to be planned and orderly.</a:t>
            </a:r>
          </a:p>
          <a:p>
            <a:pPr eaLnBrk="1" hangingPunct="1"/>
            <a:endParaRPr lang="en-US" sz="1200" dirty="0"/>
          </a:p>
          <a:p>
            <a:pPr eaLnBrk="1" hangingPunct="1"/>
            <a:r>
              <a:rPr lang="en-US" sz="1200" dirty="0"/>
              <a:t>When you are living by your </a:t>
            </a:r>
            <a:r>
              <a:rPr lang="en-US" sz="1200" u="sng" dirty="0"/>
              <a:t>perception</a:t>
            </a:r>
            <a:r>
              <a:rPr lang="en-US" sz="1200" dirty="0"/>
              <a:t>, you don’t want to miss anything; your way of life is likely to be spontaneous and flexible.</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9</a:t>
            </a:fld>
            <a:endParaRPr lang="en-US"/>
          </a:p>
        </p:txBody>
      </p:sp>
    </p:spTree>
    <p:extLst>
      <p:ext uri="{BB962C8B-B14F-4D97-AF65-F5344CB8AC3E}">
        <p14:creationId xmlns:p14="http://schemas.microsoft.com/office/powerpoint/2010/main" val="3512819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10</a:t>
            </a:fld>
            <a:endParaRPr lang="en-US"/>
          </a:p>
        </p:txBody>
      </p:sp>
    </p:spTree>
    <p:extLst>
      <p:ext uri="{BB962C8B-B14F-4D97-AF65-F5344CB8AC3E}">
        <p14:creationId xmlns:p14="http://schemas.microsoft.com/office/powerpoint/2010/main" val="1756658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CCC76D23-7393-4041-A7DE-C04F41C69D34}" type="slidenum">
              <a:rPr lang="en-US" sz="1200" b="0">
                <a:latin typeface="Times New Roman" pitchFamily="18" charset="0"/>
              </a:rPr>
              <a:pPr eaLnBrk="1" hangingPunct="1"/>
              <a:t>11</a:t>
            </a:fld>
            <a:endParaRPr lang="en-US" sz="1200" b="0">
              <a:latin typeface="Times New Roman"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12</a:t>
            </a:fld>
            <a:endParaRPr lang="en-US"/>
          </a:p>
        </p:txBody>
      </p:sp>
    </p:spTree>
    <p:extLst>
      <p:ext uri="{BB962C8B-B14F-4D97-AF65-F5344CB8AC3E}">
        <p14:creationId xmlns:p14="http://schemas.microsoft.com/office/powerpoint/2010/main" val="1860608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85000" lnSpcReduction="10000"/>
          </a:bodyPr>
          <a:lstStyle/>
          <a:p>
            <a:pPr eaLnBrk="1">
              <a:defRPr/>
            </a:pPr>
            <a:r>
              <a:rPr lang="en-US" dirty="0"/>
              <a:t>PERSONALITY AND BEHAVIOR</a:t>
            </a:r>
            <a:endParaRPr lang="en-US" sz="1100" dirty="0"/>
          </a:p>
          <a:p>
            <a:pPr eaLnBrk="1">
              <a:defRPr/>
            </a:pPr>
            <a:endParaRPr lang="en-US" sz="1100" dirty="0"/>
          </a:p>
          <a:p>
            <a:pPr eaLnBrk="1">
              <a:defRPr/>
            </a:pPr>
            <a:r>
              <a:rPr lang="en-US" dirty="0"/>
              <a:t>An individual’s </a:t>
            </a:r>
            <a:r>
              <a:rPr lang="en-US" b="1" dirty="0"/>
              <a:t>personality </a:t>
            </a:r>
            <a:r>
              <a:rPr lang="en-US" dirty="0"/>
              <a:t>is the set of characteristics that underlie a relatively stable pattern of behavior in response to ideas, objects, or people in the environment.  Understanding personality can help managers predict how a person might act in a particular situation.  Managers who appreciate the ways their employees’ personalities differ have insight into what kinds of leadership behavior will be most influential.</a:t>
            </a:r>
            <a:endParaRPr lang="en-US" sz="1100" dirty="0"/>
          </a:p>
          <a:p>
            <a:pPr eaLnBrk="1">
              <a:defRPr/>
            </a:pPr>
            <a:r>
              <a:rPr lang="en-US" dirty="0"/>
              <a:t>  </a:t>
            </a:r>
            <a:endParaRPr lang="en-US" sz="1100" dirty="0"/>
          </a:p>
          <a:p>
            <a:pPr eaLnBrk="1">
              <a:defRPr/>
            </a:pPr>
            <a:r>
              <a:rPr lang="en-US" dirty="0"/>
              <a:t>There are five general dimensions that describe personality, often called the </a:t>
            </a:r>
            <a:r>
              <a:rPr lang="en-US" b="1" dirty="0"/>
              <a:t>Big Five personality factors</a:t>
            </a:r>
            <a:r>
              <a:rPr lang="en-US" dirty="0"/>
              <a:t>.</a:t>
            </a:r>
            <a:endParaRPr lang="en-US" sz="1100" dirty="0"/>
          </a:p>
          <a:p>
            <a:pPr eaLnBrk="1">
              <a:defRPr/>
            </a:pPr>
            <a:r>
              <a:rPr lang="en-US" dirty="0"/>
              <a:t> </a:t>
            </a:r>
            <a:endParaRPr lang="en-US" sz="1100" dirty="0"/>
          </a:p>
          <a:p>
            <a:pPr lvl="1" eaLnBrk="1">
              <a:defRPr/>
            </a:pPr>
            <a:r>
              <a:rPr lang="en-US" i="1" dirty="0"/>
              <a:t>Extroversion</a:t>
            </a:r>
            <a:r>
              <a:rPr lang="en-US" dirty="0"/>
              <a:t> refers to the degree to which a person is sociable, talkative, assertive, and comfortable with interpersonal relationships.</a:t>
            </a:r>
            <a:endParaRPr lang="en-US" sz="1100" dirty="0"/>
          </a:p>
          <a:p>
            <a:pPr eaLnBrk="1">
              <a:defRPr/>
            </a:pPr>
            <a:r>
              <a:rPr lang="en-US" dirty="0"/>
              <a:t> </a:t>
            </a:r>
            <a:endParaRPr lang="en-US" sz="1100" dirty="0"/>
          </a:p>
          <a:p>
            <a:pPr lvl="1" eaLnBrk="1">
              <a:defRPr/>
            </a:pPr>
            <a:r>
              <a:rPr lang="en-US" i="1" dirty="0"/>
              <a:t>Agreeableness</a:t>
            </a:r>
            <a:r>
              <a:rPr lang="en-US" dirty="0"/>
              <a:t> refers to the degree to which a person is able to get along with others by being good-natured, cooperative, forgiving, understanding, and trusting.</a:t>
            </a:r>
            <a:endParaRPr lang="en-US" sz="1100" dirty="0"/>
          </a:p>
          <a:p>
            <a:pPr eaLnBrk="1">
              <a:defRPr/>
            </a:pPr>
            <a:r>
              <a:rPr lang="en-US" dirty="0"/>
              <a:t> </a:t>
            </a:r>
            <a:endParaRPr lang="en-US" sz="1100" dirty="0"/>
          </a:p>
          <a:p>
            <a:pPr lvl="1" eaLnBrk="1">
              <a:defRPr/>
            </a:pPr>
            <a:r>
              <a:rPr lang="en-US" i="1" dirty="0"/>
              <a:t>Conscientiousness</a:t>
            </a:r>
            <a:r>
              <a:rPr lang="en-US" dirty="0"/>
              <a:t> refers to the degree to which a person is focused on a few goals, thus behaving in ways that are responsible, dependable, persistent, and achievement oriented.</a:t>
            </a:r>
            <a:endParaRPr lang="en-US" sz="1100" dirty="0"/>
          </a:p>
          <a:p>
            <a:pPr eaLnBrk="1">
              <a:defRPr/>
            </a:pPr>
            <a:r>
              <a:rPr lang="en-US" dirty="0"/>
              <a:t> </a:t>
            </a:r>
            <a:endParaRPr lang="en-US" sz="1100" dirty="0"/>
          </a:p>
          <a:p>
            <a:pPr lvl="1" eaLnBrk="1">
              <a:defRPr/>
            </a:pPr>
            <a:r>
              <a:rPr lang="en-US" i="1" dirty="0"/>
              <a:t>Emotional</a:t>
            </a:r>
            <a:r>
              <a:rPr lang="en-US" dirty="0"/>
              <a:t> </a:t>
            </a:r>
            <a:r>
              <a:rPr lang="en-US" i="1" dirty="0"/>
              <a:t>stability</a:t>
            </a:r>
            <a:r>
              <a:rPr lang="en-US" dirty="0"/>
              <a:t> refers to the degree to which a person is calm, enthusiastic, and secure, rather than tense, nervous, depressed, moody, or insecure.</a:t>
            </a:r>
            <a:endParaRPr lang="en-US" sz="1100" dirty="0"/>
          </a:p>
          <a:p>
            <a:pPr eaLnBrk="1">
              <a:defRPr/>
            </a:pPr>
            <a:r>
              <a:rPr lang="en-US" dirty="0"/>
              <a:t> </a:t>
            </a:r>
            <a:endParaRPr lang="en-US" sz="1100" dirty="0"/>
          </a:p>
          <a:p>
            <a:pPr lvl="1" eaLnBrk="1">
              <a:defRPr/>
            </a:pPr>
            <a:r>
              <a:rPr lang="en-US" i="1" dirty="0"/>
              <a:t>Openness to experience</a:t>
            </a:r>
            <a:r>
              <a:rPr lang="en-US" dirty="0"/>
              <a:t> refers to the degree to which a person has a broad range of interests and is imaginative, creative, artistically sensitive, and willing to consider new ideas.  </a:t>
            </a:r>
            <a:endParaRPr lang="en-US" sz="1100" dirty="0"/>
          </a:p>
          <a:p>
            <a:pPr eaLnBrk="1">
              <a:defRPr/>
            </a:pPr>
            <a:r>
              <a:rPr lang="en-US" dirty="0"/>
              <a:t> </a:t>
            </a:r>
            <a:endParaRPr lang="en-US" sz="1100" dirty="0"/>
          </a:p>
          <a:p>
            <a:pPr eaLnBrk="1">
              <a:defRPr/>
            </a:pPr>
            <a:r>
              <a:rPr lang="en-US" dirty="0"/>
              <a:t>These factors represent a continuum.  A person may have a low, moderate, or high degree of each quality.  Having a moderate-to-high degree of each personality factor is considered desirable for a wide range of employees, but is not a guarantee for success.  </a:t>
            </a:r>
            <a:endParaRPr lang="en-US" sz="1100" dirty="0"/>
          </a:p>
          <a:p>
            <a:pPr eaLnBrk="1">
              <a:defRPr/>
            </a:pPr>
            <a:r>
              <a:rPr lang="en-US" dirty="0"/>
              <a:t> </a:t>
            </a:r>
            <a:endParaRPr lang="en-US" sz="1100" dirty="0"/>
          </a:p>
          <a:p>
            <a:pPr eaLnBrk="1">
              <a:defRPr/>
            </a:pPr>
            <a:r>
              <a:rPr lang="en-US" dirty="0"/>
              <a:t>Many companies use personality testing to hire, evaluate, or promote employees despite the fact that there is little hard evidence that these personality tests are valid predictors of job or relationship success.</a:t>
            </a:r>
            <a:endParaRPr lang="en-US" sz="1100" dirty="0"/>
          </a:p>
        </p:txBody>
      </p:sp>
      <p:sp>
        <p:nvSpPr>
          <p:cNvPr id="4" name="Slide Number Placeholder 3"/>
          <p:cNvSpPr>
            <a:spLocks noGrp="1"/>
          </p:cNvSpPr>
          <p:nvPr>
            <p:ph type="sldNum" sz="quarter" idx="5"/>
          </p:nvPr>
        </p:nvSpPr>
        <p:spPr/>
        <p:txBody>
          <a:bodyPr/>
          <a:lstStyle/>
          <a:p>
            <a:pPr>
              <a:defRPr/>
            </a:pPr>
            <a:fld id="{35DF3497-EADB-4997-BCBC-6F2B9B2DC90A}" type="slidenum">
              <a:rPr lang="en-US" smtClean="0"/>
              <a:pPr>
                <a:defRPr/>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14</a:t>
            </a:fld>
            <a:endParaRPr lang="en-US"/>
          </a:p>
        </p:txBody>
      </p:sp>
    </p:spTree>
    <p:extLst>
      <p:ext uri="{BB962C8B-B14F-4D97-AF65-F5344CB8AC3E}">
        <p14:creationId xmlns:p14="http://schemas.microsoft.com/office/powerpoint/2010/main" val="2215134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p>
        </p:txBody>
      </p:sp>
      <p:sp>
        <p:nvSpPr>
          <p:cNvPr id="4" name="Slide Number Placeholder 3"/>
          <p:cNvSpPr>
            <a:spLocks noGrp="1"/>
          </p:cNvSpPr>
          <p:nvPr>
            <p:ph type="sldNum" sz="quarter" idx="5"/>
          </p:nvPr>
        </p:nvSpPr>
        <p:spPr/>
        <p:txBody>
          <a:bodyPr/>
          <a:lstStyle/>
          <a:p>
            <a:pPr>
              <a:defRPr/>
            </a:pPr>
            <a:fld id="{95F2C385-9149-445C-B1BA-FC2843CF9F73}" type="slidenum">
              <a:rPr lang="en-US" smtClean="0"/>
              <a:pPr>
                <a:defRPr/>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715EA3DE-DF25-42C0-BB1F-679C429F67D6}" type="slidenum">
              <a:rPr lang="en-US" sz="1200" b="0">
                <a:latin typeface="Times New Roman" pitchFamily="18" charset="0"/>
              </a:rPr>
              <a:pPr eaLnBrk="1" hangingPunct="1"/>
              <a:t>16</a:t>
            </a:fld>
            <a:endParaRPr lang="en-US" sz="1200" b="0">
              <a:latin typeface="Times New Roman"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a:solidFill>
                  <a:schemeClr val="tx1"/>
                </a:solidFill>
                <a:effectLst/>
                <a:latin typeface="+mn-lt"/>
                <a:ea typeface="+mn-ea"/>
                <a:cs typeface="+mn-cs"/>
              </a:rPr>
              <a:t>Self-esteem is made up of the thoughts, feelings, and opinions we have about ourselves. That means self-esteem isn't fixed. It can change, depending on the way we think. Over time, habits of negative thinking about ourselves can lower </a:t>
            </a:r>
            <a:r>
              <a:rPr lang="en-US" sz="1100" b="0" i="0" u="sng" kern="1200" dirty="0">
                <a:solidFill>
                  <a:schemeClr val="tx1"/>
                </a:solidFill>
                <a:effectLst/>
                <a:latin typeface="+mn-lt"/>
                <a:ea typeface="+mn-ea"/>
                <a:cs typeface="+mn-cs"/>
                <a:hlinkClick r:id="rId3"/>
              </a:rPr>
              <a:t>self-esteem</a:t>
            </a:r>
            <a:r>
              <a:rPr lang="en-US" sz="1100" b="0" i="0" kern="1200" dirty="0">
                <a:solidFill>
                  <a:schemeClr val="tx1"/>
                </a:solidFill>
                <a:effectLst/>
                <a:latin typeface="+mn-lt"/>
                <a:ea typeface="+mn-ea"/>
                <a:cs typeface="+mn-cs"/>
              </a:rPr>
              <a:t>.</a:t>
            </a:r>
          </a:p>
          <a:p>
            <a:pPr fontAlgn="base"/>
            <a:endParaRPr lang="en-US" sz="1100" b="0" i="0" kern="1200" dirty="0">
              <a:solidFill>
                <a:schemeClr val="tx1"/>
              </a:solidFill>
              <a:effectLst/>
              <a:latin typeface="+mn-lt"/>
              <a:ea typeface="+mn-ea"/>
              <a:cs typeface="+mn-cs"/>
            </a:endParaRPr>
          </a:p>
          <a:p>
            <a:pPr fontAlgn="base"/>
            <a:r>
              <a:rPr lang="en-US" sz="1100" b="0" i="0" kern="1200" dirty="0">
                <a:solidFill>
                  <a:schemeClr val="tx1"/>
                </a:solidFill>
                <a:effectLst/>
                <a:latin typeface="+mn-lt"/>
                <a:ea typeface="+mn-ea"/>
                <a:cs typeface="+mn-cs"/>
              </a:rPr>
              <a:t>Sometimes, people don't even realize that they're thinking so negatively about themselves. But once you're aware of it, and know that the way you think is up to you, you can begin to change the way you think. And changing the way you think about yourself changes the way you feel about yourself. So if you want to feel better about yourself, try some of these things:</a:t>
            </a:r>
          </a:p>
          <a:p>
            <a:r>
              <a:rPr lang="en-US" sz="1100" b="1" i="0" kern="1200" dirty="0">
                <a:solidFill>
                  <a:schemeClr val="tx1"/>
                </a:solidFill>
                <a:effectLst/>
                <a:latin typeface="+mn-lt"/>
                <a:ea typeface="+mn-ea"/>
                <a:cs typeface="+mn-cs"/>
              </a:rPr>
              <a:t>Manage your inner critic</a:t>
            </a:r>
          </a:p>
          <a:p>
            <a:r>
              <a:rPr lang="en-US" sz="1100" b="1" i="0" kern="1200" dirty="0">
                <a:solidFill>
                  <a:schemeClr val="tx1"/>
                </a:solidFill>
                <a:effectLst/>
                <a:latin typeface="+mn-lt"/>
                <a:ea typeface="+mn-ea"/>
                <a:cs typeface="+mn-cs"/>
              </a:rPr>
              <a:t>Focus on what goes well for you</a:t>
            </a:r>
          </a:p>
          <a:p>
            <a:r>
              <a:rPr lang="en-US" sz="1100" b="1" i="0" kern="1200" dirty="0">
                <a:solidFill>
                  <a:schemeClr val="tx1"/>
                </a:solidFill>
                <a:effectLst/>
                <a:latin typeface="+mn-lt"/>
                <a:ea typeface="+mn-ea"/>
                <a:cs typeface="+mn-cs"/>
              </a:rPr>
              <a:t>Aim for effort rather than perfection</a:t>
            </a:r>
          </a:p>
          <a:p>
            <a:r>
              <a:rPr lang="en-US" sz="1100" b="1" i="0" kern="1200" dirty="0">
                <a:solidFill>
                  <a:schemeClr val="tx1"/>
                </a:solidFill>
                <a:effectLst/>
                <a:latin typeface="+mn-lt"/>
                <a:ea typeface="+mn-ea"/>
                <a:cs typeface="+mn-cs"/>
              </a:rPr>
              <a:t>View mistakes as learning opportunities</a:t>
            </a:r>
          </a:p>
          <a:p>
            <a:r>
              <a:rPr lang="en-US" sz="1100" b="1" i="0" kern="1200" dirty="0">
                <a:solidFill>
                  <a:schemeClr val="tx1"/>
                </a:solidFill>
                <a:effectLst/>
                <a:latin typeface="+mn-lt"/>
                <a:ea typeface="+mn-ea"/>
                <a:cs typeface="+mn-cs"/>
              </a:rPr>
              <a:t>Edit thoughts that get you feeling inferior</a:t>
            </a:r>
          </a:p>
          <a:p>
            <a:r>
              <a:rPr lang="en-US" sz="1100" b="1" i="0" kern="1200" dirty="0">
                <a:solidFill>
                  <a:schemeClr val="tx1"/>
                </a:solidFill>
                <a:effectLst/>
                <a:latin typeface="+mn-lt"/>
                <a:ea typeface="+mn-ea"/>
                <a:cs typeface="+mn-cs"/>
              </a:rPr>
              <a:t>Remind yourself that everyone excels at different things</a:t>
            </a:r>
          </a:p>
          <a:p>
            <a:r>
              <a:rPr lang="en-US" sz="1100" b="1" i="0" kern="1200" dirty="0">
                <a:solidFill>
                  <a:schemeClr val="tx1"/>
                </a:solidFill>
                <a:effectLst/>
                <a:latin typeface="+mn-lt"/>
                <a:ea typeface="+mn-ea"/>
                <a:cs typeface="+mn-cs"/>
              </a:rPr>
              <a:t>Try new things, and give yourself credit.</a:t>
            </a:r>
          </a:p>
          <a:p>
            <a:r>
              <a:rPr lang="en-US" sz="1100" b="1" i="0" kern="1200" dirty="0">
                <a:solidFill>
                  <a:schemeClr val="tx1"/>
                </a:solidFill>
                <a:effectLst/>
                <a:latin typeface="+mn-lt"/>
                <a:ea typeface="+mn-ea"/>
                <a:cs typeface="+mn-cs"/>
              </a:rPr>
              <a:t>Recognize what you can change and what you can't</a:t>
            </a:r>
          </a:p>
          <a:p>
            <a:r>
              <a:rPr lang="en-US" sz="1100" b="1" i="0" kern="1200" dirty="0">
                <a:solidFill>
                  <a:schemeClr val="tx1"/>
                </a:solidFill>
                <a:effectLst/>
                <a:latin typeface="+mn-lt"/>
                <a:ea typeface="+mn-ea"/>
                <a:cs typeface="+mn-cs"/>
              </a:rPr>
              <a:t>Set goals</a:t>
            </a:r>
          </a:p>
          <a:p>
            <a:r>
              <a:rPr lang="en-US" sz="1100" b="1" i="0" kern="1200" dirty="0">
                <a:solidFill>
                  <a:schemeClr val="tx1"/>
                </a:solidFill>
                <a:effectLst/>
                <a:latin typeface="+mn-lt"/>
                <a:ea typeface="+mn-ea"/>
                <a:cs typeface="+mn-cs"/>
              </a:rPr>
              <a:t>Take pride in your opinions and ideas</a:t>
            </a:r>
          </a:p>
          <a:p>
            <a:r>
              <a:rPr lang="en-US" sz="1100" b="1" i="0" kern="1200" dirty="0">
                <a:solidFill>
                  <a:schemeClr val="tx1"/>
                </a:solidFill>
                <a:effectLst/>
                <a:latin typeface="+mn-lt"/>
                <a:ea typeface="+mn-ea"/>
                <a:cs typeface="+mn-cs"/>
              </a:rPr>
              <a:t>Accept compliments</a:t>
            </a:r>
          </a:p>
          <a:p>
            <a:r>
              <a:rPr lang="en-US" sz="1100" b="1" i="0" kern="1200" dirty="0">
                <a:solidFill>
                  <a:schemeClr val="tx1"/>
                </a:solidFill>
                <a:effectLst/>
                <a:latin typeface="+mn-lt"/>
                <a:ea typeface="+mn-ea"/>
                <a:cs typeface="+mn-cs"/>
              </a:rPr>
              <a:t>Make a contribution</a:t>
            </a:r>
          </a:p>
          <a:p>
            <a:endParaRPr lang="en-US" sz="1100"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17</a:t>
            </a:fld>
            <a:endParaRPr lang="en-US"/>
          </a:p>
        </p:txBody>
      </p:sp>
    </p:spTree>
    <p:extLst>
      <p:ext uri="{BB962C8B-B14F-4D97-AF65-F5344CB8AC3E}">
        <p14:creationId xmlns:p14="http://schemas.microsoft.com/office/powerpoint/2010/main" val="2832581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949F448E-EF5B-46BE-AE45-CE69F82B706E}" type="slidenum">
              <a:rPr lang="en-US" sz="1200" b="0">
                <a:latin typeface="Times New Roman" pitchFamily="18" charset="0"/>
              </a:rPr>
              <a:pPr eaLnBrk="1" hangingPunct="1"/>
              <a:t>18</a:t>
            </a:fld>
            <a:endParaRPr lang="en-US" sz="1200" b="0">
              <a:latin typeface="Times New Roman"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mn-lt"/>
                <a:ea typeface="+mn-ea"/>
                <a:cs typeface="+mn-cs"/>
              </a:rPr>
              <a:t>The personality characteristic of </a:t>
            </a:r>
            <a:r>
              <a:rPr lang="en-US" sz="1200" b="1" i="0" u="none" strike="noStrike" kern="1200" baseline="0" dirty="0">
                <a:solidFill>
                  <a:schemeClr val="tx1"/>
                </a:solidFill>
                <a:latin typeface="+mn-lt"/>
                <a:ea typeface="+mn-ea"/>
                <a:cs typeface="+mn-cs"/>
              </a:rPr>
              <a:t>Machiavellianism </a:t>
            </a:r>
            <a:r>
              <a:rPr lang="en-US" sz="1200" b="0" i="0" u="none" strike="noStrike" kern="1200" baseline="0" dirty="0">
                <a:solidFill>
                  <a:schemeClr val="tx1"/>
                </a:solidFill>
                <a:latin typeface="+mn-lt"/>
                <a:ea typeface="+mn-ea"/>
                <a:cs typeface="+mn-cs"/>
              </a:rPr>
              <a:t>(often abbreviated </a:t>
            </a:r>
            <a:r>
              <a:rPr lang="en-US" sz="1200" b="0" i="1" u="none" strike="noStrike" kern="1200" baseline="0" dirty="0">
                <a:solidFill>
                  <a:schemeClr val="tx1"/>
                </a:solidFill>
                <a:latin typeface="+mn-lt"/>
                <a:ea typeface="+mn-ea"/>
                <a:cs typeface="+mn-cs"/>
              </a:rPr>
              <a:t>Mach </a:t>
            </a:r>
            <a:r>
              <a:rPr lang="en-US" sz="1200" b="0" i="0" u="none" strike="noStrike" kern="1200" baseline="0" dirty="0">
                <a:solidFill>
                  <a:schemeClr val="tx1"/>
                </a:solidFill>
                <a:latin typeface="+mn-lt"/>
                <a:ea typeface="+mn-ea"/>
                <a:cs typeface="+mn-cs"/>
              </a:rPr>
              <a:t>) is named after </a:t>
            </a:r>
            <a:r>
              <a:rPr lang="en-US" sz="1200" b="0" i="0" u="none" strike="noStrike" kern="1200" baseline="0" dirty="0" err="1">
                <a:solidFill>
                  <a:schemeClr val="tx1"/>
                </a:solidFill>
                <a:latin typeface="+mn-lt"/>
                <a:ea typeface="+mn-ea"/>
                <a:cs typeface="+mn-cs"/>
              </a:rPr>
              <a:t>Niccolo</a:t>
            </a:r>
            <a:r>
              <a:rPr lang="en-US" sz="1200" b="0" i="0" u="none" strike="noStrike" kern="1200" baseline="0" dirty="0">
                <a:solidFill>
                  <a:schemeClr val="tx1"/>
                </a:solidFill>
                <a:latin typeface="+mn-lt"/>
                <a:ea typeface="+mn-ea"/>
                <a:cs typeface="+mn-cs"/>
              </a:rPr>
              <a:t> Machiavelli, who wrote in the sixteenth century on how to gain and use power. An individual high in Machiavellianism is pragmatic, maintains emotional distance, and believes ends can justify means. “If it works, use it” is consistent with a high-Mach perspective. A considerable amount of research has found high </a:t>
            </a:r>
            <a:r>
              <a:rPr lang="en-US" sz="1200" b="0" i="0" u="none" strike="noStrike" kern="1200" baseline="0" dirty="0" err="1">
                <a:solidFill>
                  <a:schemeClr val="tx1"/>
                </a:solidFill>
                <a:latin typeface="+mn-lt"/>
                <a:ea typeface="+mn-ea"/>
                <a:cs typeface="+mn-cs"/>
              </a:rPr>
              <a:t>Machs</a:t>
            </a:r>
            <a:r>
              <a:rPr lang="en-US" sz="1200" b="0" i="0" u="none" strike="noStrike" kern="1200" baseline="0" dirty="0">
                <a:solidFill>
                  <a:schemeClr val="tx1"/>
                </a:solidFill>
                <a:latin typeface="+mn-lt"/>
                <a:ea typeface="+mn-ea"/>
                <a:cs typeface="+mn-cs"/>
              </a:rPr>
              <a:t> manipulate more, win more, are persuaded less, and persuade others more than do low </a:t>
            </a:r>
            <a:r>
              <a:rPr lang="en-US" sz="1200" b="0" i="0" u="none" strike="noStrike" kern="1200" baseline="0" dirty="0" err="1">
                <a:solidFill>
                  <a:schemeClr val="tx1"/>
                </a:solidFill>
                <a:latin typeface="+mn-lt"/>
                <a:ea typeface="+mn-ea"/>
                <a:cs typeface="+mn-cs"/>
              </a:rPr>
              <a:t>Machs</a:t>
            </a:r>
            <a:r>
              <a:rPr lang="en-US" sz="1200" b="0" i="0" u="none" strike="noStrike" kern="1200" baseline="0" dirty="0">
                <a:solidFill>
                  <a:schemeClr val="tx1"/>
                </a:solidFill>
                <a:latin typeface="+mn-lt"/>
                <a:ea typeface="+mn-ea"/>
                <a:cs typeface="+mn-cs"/>
              </a:rPr>
              <a:t>. They like their jobs less, are more stressed by their work, and engage in more deviant work behaviors. Yet high-Mach outcomes are moderated by situational factors.</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0" i="0" kern="1200" dirty="0">
                <a:solidFill>
                  <a:schemeClr val="tx1"/>
                </a:solidFill>
                <a:effectLst/>
                <a:latin typeface="+mn-lt"/>
                <a:ea typeface="+mn-ea"/>
                <a:cs typeface="+mn-cs"/>
              </a:rPr>
              <a:t>Narcissism: excessive interest in or admiration of oneself and one's physical appearance.</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 clinical list of Narcissistic personality characteristics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hlinkClick r:id="rId3"/>
              </a:rPr>
              <a:t>This article</a:t>
            </a:r>
            <a:r>
              <a:rPr lang="en-US" sz="1200" b="0" i="0" kern="1200" dirty="0">
                <a:solidFill>
                  <a:schemeClr val="tx1"/>
                </a:solidFill>
                <a:effectLst/>
                <a:latin typeface="+mn-lt"/>
                <a:ea typeface="+mn-ea"/>
                <a:cs typeface="+mn-cs"/>
              </a:rPr>
              <a:t> on dealing with narcissistic children has a good list, and has some of the items that I noted.</a:t>
            </a:r>
          </a:p>
          <a:p>
            <a:r>
              <a:rPr lang="en-US" sz="1200" b="1" i="1" dirty="0">
                <a:effectLst/>
              </a:rPr>
              <a:t>Reality distortion and Inability to See and Hear</a:t>
            </a:r>
            <a:r>
              <a:rPr lang="en-US" sz="1200" i="1" dirty="0">
                <a:effectLst/>
              </a:rPr>
              <a:t> -- The child sees situations through his own sense of </a:t>
            </a:r>
            <a:r>
              <a:rPr lang="en-US" sz="1200" i="1" dirty="0" err="1">
                <a:effectLst/>
              </a:rPr>
              <a:t>woundedness</a:t>
            </a:r>
            <a:r>
              <a:rPr lang="en-US" sz="1200" i="1" dirty="0">
                <a:effectLst/>
              </a:rPr>
              <a:t> and neediness. </a:t>
            </a:r>
            <a:r>
              <a:rPr lang="en-US" sz="1200" b="1" i="1" dirty="0">
                <a:effectLst/>
              </a:rPr>
              <a:t> . .</a:t>
            </a:r>
            <a:endParaRPr lang="en-US" dirty="0"/>
          </a:p>
          <a:p>
            <a:r>
              <a:rPr lang="en-US" sz="1200" b="1" i="1" dirty="0">
                <a:effectLst/>
              </a:rPr>
              <a:t>Mood Switching</a:t>
            </a:r>
            <a:r>
              <a:rPr lang="en-US" sz="1200" i="1" dirty="0">
                <a:effectLst/>
              </a:rPr>
              <a:t> --The child's fractured self is caught in mood swings. She may go back and forth between "I'll be good" and pouting or outrage because she isn't getting what she wants.  . .</a:t>
            </a:r>
            <a:endParaRPr lang="en-US" dirty="0"/>
          </a:p>
          <a:p>
            <a:r>
              <a:rPr lang="en-US" sz="1200" b="1" i="1" dirty="0">
                <a:effectLst/>
              </a:rPr>
              <a:t>Poor Impulse Control and Frustration Tolerance</a:t>
            </a:r>
            <a:r>
              <a:rPr lang="en-US" sz="1200" i="1" dirty="0">
                <a:effectLst/>
              </a:rPr>
              <a:t> -- The child is highly reactive to outside stimuli that seem to threaten his sense of self and cannot delay gratification. He wants things NOW!  . . .</a:t>
            </a:r>
            <a:endParaRPr lang="en-US" dirty="0"/>
          </a:p>
          <a:p>
            <a:r>
              <a:rPr lang="en-US" sz="1200" b="1" i="1" dirty="0">
                <a:effectLst/>
              </a:rPr>
              <a:t>Poor Ego Boundaries and Need for Control </a:t>
            </a:r>
            <a:r>
              <a:rPr lang="en-US" sz="1200" i="1" dirty="0">
                <a:effectLst/>
              </a:rPr>
              <a:t>-- The child cannot view things from any other perspective other than his own. He is so caught in his own neediness that he cannot feel empathy for others.</a:t>
            </a:r>
            <a:endParaRPr lang="en-US" dirty="0"/>
          </a:p>
          <a:p>
            <a:r>
              <a:rPr lang="en-US" sz="1200" b="1" i="1" dirty="0">
                <a:effectLst/>
              </a:rPr>
              <a:t>Denial of Uncomfortable Feelings </a:t>
            </a:r>
            <a:r>
              <a:rPr lang="en-US" sz="1200" i="1" dirty="0">
                <a:effectLst/>
              </a:rPr>
              <a:t>--The child keeps the focus on what he wants not how he feels. His constant demanding keeps him from feeling the pain inside.</a:t>
            </a:r>
            <a:endParaRPr lang="en-US" dirty="0"/>
          </a:p>
          <a:p>
            <a:r>
              <a:rPr lang="en-US" sz="1200" b="1" i="1" dirty="0">
                <a:effectLst/>
              </a:rPr>
              <a:t>Frequent Anger and Rage</a:t>
            </a:r>
            <a:r>
              <a:rPr lang="en-US" sz="1200" i="1" dirty="0">
                <a:effectLst/>
              </a:rPr>
              <a:t> --The child substitutes anger and tantrums as a way of keeping her uncomfortable feelings from being experienced. She becomes a master of rationalization and justification of her explosive actions . . .</a:t>
            </a:r>
            <a:endParaRPr lang="en-US" dirty="0"/>
          </a:p>
          <a:p>
            <a:r>
              <a:rPr lang="en-US" sz="1200" b="1" i="1" dirty="0">
                <a:effectLst/>
              </a:rPr>
              <a:t>Need for Admiration</a:t>
            </a:r>
            <a:r>
              <a:rPr lang="en-US" sz="1200" i="1" dirty="0">
                <a:effectLst/>
              </a:rPr>
              <a:t> --The child erroneously believes that he is special and should be given special privileges. . .</a:t>
            </a:r>
            <a:endParaRPr lang="en-US" dirty="0"/>
          </a:p>
          <a:p>
            <a:r>
              <a:rPr lang="en-US" sz="1200" b="1" i="1" dirty="0">
                <a:effectLst/>
              </a:rPr>
              <a:t>Grandiosity and Fantasy</a:t>
            </a:r>
            <a:r>
              <a:rPr lang="en-US" sz="1200" i="1" dirty="0">
                <a:effectLst/>
              </a:rPr>
              <a:t> --The child spins grandiose fantasies to cover up the internal wounds of his fractured self. He sets up elaborate fantasy schemes of winning, becoming powerful or gaining revenge for injustice. Daydreams of becoming rich and famous without talent or hard work are common.</a:t>
            </a:r>
            <a:endParaRPr lang="en-US" dirty="0"/>
          </a:p>
          <a:p>
            <a:r>
              <a:rPr lang="en-US" sz="1200" b="1" i="1" dirty="0">
                <a:effectLst/>
              </a:rPr>
              <a:t>Idealization and Devaluation of Teachers or Therapists </a:t>
            </a:r>
            <a:r>
              <a:rPr lang="en-US" sz="1200" i="1" dirty="0">
                <a:effectLst/>
              </a:rPr>
              <a:t>--The child will make you feel that you are wonderful and special as long as you humor her. "As long as you give me what I want, you are the ideal person for me" . . .</a:t>
            </a:r>
            <a:endParaRPr lang="en-US" dirty="0"/>
          </a:p>
          <a:p>
            <a:r>
              <a:rPr lang="en-US" sz="1200" b="1" i="1" dirty="0">
                <a:effectLst/>
              </a:rPr>
              <a:t>Externalization of Blame</a:t>
            </a:r>
            <a:r>
              <a:rPr lang="en-US" sz="1200" i="1" dirty="0">
                <a:effectLst/>
              </a:rPr>
              <a:t> --The child cannot allow the bad feelings of being at fault for anything. He/she/they/YOU are the problem! He avoids feeling vulnerable by blaming others.</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19</a:t>
            </a:fld>
            <a:endParaRPr lang="en-US"/>
          </a:p>
        </p:txBody>
      </p:sp>
    </p:spTree>
    <p:extLst>
      <p:ext uri="{BB962C8B-B14F-4D97-AF65-F5344CB8AC3E}">
        <p14:creationId xmlns:p14="http://schemas.microsoft.com/office/powerpoint/2010/main" val="2699438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She’s unable to adjust her behavior to fit changing situations. As she puts it, “I’m true to myself. I don’t remake myself to please others.” We would describe Joyce as a low self-monitor.</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Self-monitoring </a:t>
            </a:r>
            <a:r>
              <a:rPr lang="en-US" sz="1200" b="0" i="0" u="none" strike="noStrike" kern="1200" baseline="0" dirty="0">
                <a:solidFill>
                  <a:schemeClr val="tx1"/>
                </a:solidFill>
                <a:latin typeface="+mn-lt"/>
                <a:ea typeface="+mn-ea"/>
                <a:cs typeface="+mn-cs"/>
              </a:rPr>
              <a:t>refers to an individual’s ability to adjust his or her behavior to external, situational factors. Individuals high in self-monitoring show</a:t>
            </a:r>
          </a:p>
          <a:p>
            <a:r>
              <a:rPr lang="en-US" sz="1200" b="0" i="0" u="none" strike="noStrike" kern="1200" baseline="0" dirty="0">
                <a:solidFill>
                  <a:schemeClr val="tx1"/>
                </a:solidFill>
                <a:latin typeface="+mn-lt"/>
                <a:ea typeface="+mn-ea"/>
                <a:cs typeface="+mn-cs"/>
              </a:rPr>
              <a:t>considerable adaptability in adjusting their behavior to external situational factors. They are highly sensitive to external cues and can behave differently</a:t>
            </a:r>
          </a:p>
          <a:p>
            <a:r>
              <a:rPr lang="en-US" sz="1200" b="0" i="0" u="none" strike="noStrike" kern="1200" baseline="0" dirty="0">
                <a:solidFill>
                  <a:schemeClr val="tx1"/>
                </a:solidFill>
                <a:latin typeface="+mn-lt"/>
                <a:ea typeface="+mn-ea"/>
                <a:cs typeface="+mn-cs"/>
              </a:rPr>
              <a:t>in different situations, sometimes presenting striking contradictions between their public persona and their private self. Low self-monitors, like Joyce, can’t disguise themselves in that way. They tend to display their true dispositions and attitudes in every situation; hence, there is high behavioral consistency between who they are and what they do.</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20</a:t>
            </a:fld>
            <a:endParaRPr lang="en-US"/>
          </a:p>
        </p:txBody>
      </p:sp>
    </p:spTree>
    <p:extLst>
      <p:ext uri="{BB962C8B-B14F-4D97-AF65-F5344CB8AC3E}">
        <p14:creationId xmlns:p14="http://schemas.microsoft.com/office/powerpoint/2010/main" val="3404274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7B9B2CB8-7789-47E6-A489-9C7643E5C898}" type="slidenum">
              <a:rPr lang="en-US" sz="1200" b="0">
                <a:latin typeface="Times New Roman" pitchFamily="18" charset="0"/>
              </a:rPr>
              <a:pPr eaLnBrk="1" hangingPunct="1"/>
              <a:t>21</a:t>
            </a:fld>
            <a:endParaRPr lang="en-US" sz="1200" b="0">
              <a:latin typeface="Times New Roman"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mn-lt"/>
                <a:ea typeface="+mn-ea"/>
                <a:cs typeface="+mn-cs"/>
              </a:rPr>
              <a:t>People differ in their willingness to take chances, a quality that affects how much time and information they need to make a decision. For instance, managers worked on simulated exercises that required them to make hiring decisions. High risk-taking managers made more rapid decisions and used less information than did the low risk takers. Interestingly, decision accuracy was the same for both groups.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Previous studies have shown managers in large organizations to be more risk averse than growth-oriented entrepreneurs who actively manage small businesses. The work population as a whole also differs in risk propensity. It makes sense to recognize these differences and even consider aligning them with specific job demands.</a:t>
            </a: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22</a:t>
            </a:fld>
            <a:endParaRPr lang="en-US"/>
          </a:p>
        </p:txBody>
      </p:sp>
    </p:spTree>
    <p:extLst>
      <p:ext uri="{BB962C8B-B14F-4D97-AF65-F5344CB8AC3E}">
        <p14:creationId xmlns:p14="http://schemas.microsoft.com/office/powerpoint/2010/main" val="926590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Did you ever notice that some people actively take the initiative to improve their current circumstances or create new ones? These are proactive personalities. Those with a </a:t>
            </a:r>
            <a:r>
              <a:rPr lang="en-US" sz="1200" b="1" i="0" u="none" strike="noStrike" kern="1200" baseline="0" dirty="0">
                <a:solidFill>
                  <a:schemeClr val="tx1"/>
                </a:solidFill>
                <a:latin typeface="+mn-lt"/>
                <a:ea typeface="+mn-ea"/>
                <a:cs typeface="+mn-cs"/>
              </a:rPr>
              <a:t>proactive personality </a:t>
            </a:r>
            <a:r>
              <a:rPr lang="en-US" sz="1200" b="0" i="0" u="none" strike="noStrike" kern="1200" baseline="0" dirty="0">
                <a:solidFill>
                  <a:schemeClr val="tx1"/>
                </a:solidFill>
                <a:latin typeface="+mn-lt"/>
                <a:ea typeface="+mn-ea"/>
                <a:cs typeface="+mn-cs"/>
              </a:rPr>
              <a:t>identify opportunities, show initiative, take action, and persevere until meaningful change occurs,</a:t>
            </a:r>
          </a:p>
          <a:p>
            <a:r>
              <a:rPr lang="en-US" sz="1200" b="0" i="0" u="none" strike="noStrike" kern="1200" baseline="0" dirty="0">
                <a:solidFill>
                  <a:schemeClr val="tx1"/>
                </a:solidFill>
                <a:latin typeface="+mn-lt"/>
                <a:ea typeface="+mn-ea"/>
                <a:cs typeface="+mn-cs"/>
              </a:rPr>
              <a:t>compared to others who passively react to situations. </a:t>
            </a:r>
            <a:r>
              <a:rPr lang="en-US" sz="1200" b="0" i="0" u="none" strike="noStrike" kern="1200" baseline="0" dirty="0" err="1">
                <a:solidFill>
                  <a:schemeClr val="tx1"/>
                </a:solidFill>
                <a:latin typeface="+mn-lt"/>
                <a:ea typeface="+mn-ea"/>
                <a:cs typeface="+mn-cs"/>
              </a:rPr>
              <a:t>Proactives</a:t>
            </a:r>
            <a:r>
              <a:rPr lang="en-US" sz="1200" b="0" i="0" u="none" strike="noStrike" kern="1200" baseline="0" dirty="0">
                <a:solidFill>
                  <a:schemeClr val="tx1"/>
                </a:solidFill>
                <a:latin typeface="+mn-lt"/>
                <a:ea typeface="+mn-ea"/>
                <a:cs typeface="+mn-cs"/>
              </a:rPr>
              <a:t> create positive change in their environment, regardless of, or even in spite of, constraints or obstacles.</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23</a:t>
            </a:fld>
            <a:endParaRPr lang="en-US"/>
          </a:p>
        </p:txBody>
      </p:sp>
    </p:spTree>
    <p:extLst>
      <p:ext uri="{BB962C8B-B14F-4D97-AF65-F5344CB8AC3E}">
        <p14:creationId xmlns:p14="http://schemas.microsoft.com/office/powerpoint/2010/main" val="22340125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24</a:t>
            </a:fld>
            <a:endParaRPr lang="en-US"/>
          </a:p>
        </p:txBody>
      </p:sp>
    </p:spTree>
    <p:extLst>
      <p:ext uri="{BB962C8B-B14F-4D97-AF65-F5344CB8AC3E}">
        <p14:creationId xmlns:p14="http://schemas.microsoft.com/office/powerpoint/2010/main" val="14750844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Values </a:t>
            </a:r>
            <a:r>
              <a:rPr lang="en-US" sz="1200" b="0" i="0" u="none" strike="noStrike" kern="1200" baseline="0" dirty="0">
                <a:solidFill>
                  <a:schemeClr val="tx1"/>
                </a:solidFill>
                <a:latin typeface="+mn-lt"/>
                <a:ea typeface="+mn-ea"/>
                <a:cs typeface="+mn-cs"/>
              </a:rPr>
              <a:t>represent basic convictions that “a specific mode of conduct or end-state of existence is personally or socially preferable to an opposite or converse mode of conduct or end-state of existence.” They contain a judgmental element in that they carry an individual’s ideas as to what is right, good, or desirable. Values have both content and intensity attributes. The content attribute says a mode of conduct or end-state of existence is </a:t>
            </a:r>
            <a:r>
              <a:rPr lang="en-US" sz="1200" b="0" i="1" u="none" strike="noStrike" kern="1200" baseline="0" dirty="0">
                <a:solidFill>
                  <a:schemeClr val="tx1"/>
                </a:solidFill>
                <a:latin typeface="+mn-lt"/>
                <a:ea typeface="+mn-ea"/>
                <a:cs typeface="+mn-cs"/>
              </a:rPr>
              <a:t>important. </a:t>
            </a:r>
            <a:r>
              <a:rPr lang="en-US" sz="1200" b="0" i="0" u="none" strike="noStrike" kern="1200" baseline="0" dirty="0">
                <a:solidFill>
                  <a:schemeClr val="tx1"/>
                </a:solidFill>
                <a:latin typeface="+mn-lt"/>
                <a:ea typeface="+mn-ea"/>
                <a:cs typeface="+mn-cs"/>
              </a:rPr>
              <a:t>The intensity attribute specifies </a:t>
            </a:r>
            <a:r>
              <a:rPr lang="en-US" sz="1200" b="0" i="1" u="none" strike="noStrike" kern="1200" baseline="0" dirty="0">
                <a:solidFill>
                  <a:schemeClr val="tx1"/>
                </a:solidFill>
                <a:latin typeface="+mn-lt"/>
                <a:ea typeface="+mn-ea"/>
                <a:cs typeface="+mn-cs"/>
              </a:rPr>
              <a:t>how important </a:t>
            </a:r>
            <a:r>
              <a:rPr lang="en-US" sz="1200" b="0" i="0" u="none" strike="noStrike" kern="1200" baseline="0" dirty="0">
                <a:solidFill>
                  <a:schemeClr val="tx1"/>
                </a:solidFill>
                <a:latin typeface="+mn-lt"/>
                <a:ea typeface="+mn-ea"/>
                <a:cs typeface="+mn-cs"/>
              </a:rPr>
              <a:t>it is. When we rank an individual’s values in terms of their intensity, we obtain that person’s </a:t>
            </a:r>
            <a:r>
              <a:rPr lang="en-US" sz="1200" b="1" i="0" u="none" strike="noStrike" kern="1200" baseline="0" dirty="0">
                <a:solidFill>
                  <a:schemeClr val="tx1"/>
                </a:solidFill>
                <a:latin typeface="+mn-lt"/>
                <a:ea typeface="+mn-ea"/>
                <a:cs typeface="+mn-cs"/>
              </a:rPr>
              <a:t>value system </a:t>
            </a:r>
            <a:r>
              <a:rPr lang="en-US" sz="1200" b="0" i="0" u="none" strike="noStrike" kern="1200" baseline="0" dirty="0">
                <a:solidFill>
                  <a:schemeClr val="tx1"/>
                </a:solidFill>
                <a:latin typeface="+mn-lt"/>
                <a:ea typeface="+mn-ea"/>
                <a:cs typeface="+mn-cs"/>
              </a:rPr>
              <a:t>. All of us have a hierarchy of values that forms our value system. We find it in the relative importance we assign to values such as freedom, pleasure, self-respect, honesty, obedience, and equality.</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25</a:t>
            </a:fld>
            <a:endParaRPr lang="en-US"/>
          </a:p>
        </p:txBody>
      </p:sp>
    </p:spTree>
    <p:extLst>
      <p:ext uri="{BB962C8B-B14F-4D97-AF65-F5344CB8AC3E}">
        <p14:creationId xmlns:p14="http://schemas.microsoft.com/office/powerpoint/2010/main" val="39174248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26</a:t>
            </a:fld>
            <a:endParaRPr lang="en-US"/>
          </a:p>
        </p:txBody>
      </p:sp>
    </p:spTree>
    <p:extLst>
      <p:ext uri="{BB962C8B-B14F-4D97-AF65-F5344CB8AC3E}">
        <p14:creationId xmlns:p14="http://schemas.microsoft.com/office/powerpoint/2010/main" val="32785012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4F465D47-E4B5-41F6-B8F4-853A03014D37}" type="slidenum">
              <a:rPr lang="en-US" sz="1200" b="0">
                <a:latin typeface="Times New Roman" pitchFamily="18" charset="0"/>
              </a:rPr>
              <a:pPr eaLnBrk="1" hangingPunct="1"/>
              <a:t>27</a:t>
            </a:fld>
            <a:endParaRPr lang="en-US" sz="1200" b="0">
              <a:latin typeface="Times New Roman"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28</a:t>
            </a:fld>
            <a:endParaRPr lang="en-US"/>
          </a:p>
        </p:txBody>
      </p:sp>
    </p:spTree>
    <p:extLst>
      <p:ext uri="{BB962C8B-B14F-4D97-AF65-F5344CB8AC3E}">
        <p14:creationId xmlns:p14="http://schemas.microsoft.com/office/powerpoint/2010/main" val="2893132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29</a:t>
            </a:fld>
            <a:endParaRPr lang="en-US"/>
          </a:p>
        </p:txBody>
      </p:sp>
    </p:spTree>
    <p:extLst>
      <p:ext uri="{BB962C8B-B14F-4D97-AF65-F5344CB8AC3E}">
        <p14:creationId xmlns:p14="http://schemas.microsoft.com/office/powerpoint/2010/main" val="2725074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60D1673C-A12F-4DC7-86F7-B0FC2921C282}" type="slidenum">
              <a:rPr lang="en-US" sz="1200" b="0">
                <a:latin typeface="Times New Roman" pitchFamily="18" charset="0"/>
              </a:rPr>
              <a:pPr eaLnBrk="1" hangingPunct="1"/>
              <a:t>30</a:t>
            </a:fld>
            <a:endParaRPr lang="en-US" sz="1200" b="0">
              <a:latin typeface="Times New Roman"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60D1673C-A12F-4DC7-86F7-B0FC2921C282}" type="slidenum">
              <a:rPr lang="en-US" sz="1200" b="0">
                <a:latin typeface="Times New Roman" pitchFamily="18" charset="0"/>
              </a:rPr>
              <a:pPr eaLnBrk="1" hangingPunct="1"/>
              <a:t>31</a:t>
            </a:fld>
            <a:endParaRPr lang="en-US" sz="1200" b="0">
              <a:latin typeface="Times New Roman"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60D1673C-A12F-4DC7-86F7-B0FC2921C282}" type="slidenum">
              <a:rPr lang="en-US" sz="1200" b="0">
                <a:latin typeface="Times New Roman" pitchFamily="18" charset="0"/>
              </a:rPr>
              <a:pPr eaLnBrk="1" hangingPunct="1"/>
              <a:t>32</a:t>
            </a:fld>
            <a:endParaRPr lang="en-US" sz="1200" b="0">
              <a:latin typeface="Times New Roman"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99D03212-C94B-492D-A63F-5057F4F98A3B}" type="slidenum">
              <a:rPr lang="en-US" sz="1200" b="0">
                <a:latin typeface="Times New Roman" pitchFamily="18" charset="0"/>
              </a:rPr>
              <a:pPr eaLnBrk="1" hangingPunct="1"/>
              <a:t>33</a:t>
            </a:fld>
            <a:endParaRPr lang="en-US" sz="1200" b="0">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FF3E6754-42BC-4C71-A3C6-0F86DEAB18CF}" type="slidenum">
              <a:rPr lang="en-US" sz="1200" b="0">
                <a:latin typeface="Times New Roman" pitchFamily="18" charset="0"/>
              </a:rPr>
              <a:pPr eaLnBrk="1" hangingPunct="1"/>
              <a:t>34</a:t>
            </a:fld>
            <a:endParaRPr lang="en-US" sz="1200" b="0">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72DCB9D1-0B88-41F2-B107-87415C59823B}" type="slidenum">
              <a:rPr lang="en-US" sz="1200" b="0">
                <a:latin typeface="Times New Roman" pitchFamily="18" charset="0"/>
              </a:rPr>
              <a:pPr eaLnBrk="1" hangingPunct="1"/>
              <a:t>35</a:t>
            </a:fld>
            <a:endParaRPr lang="en-US" sz="1200" b="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9B0AC33B-D31B-4C25-BA99-4C1D0CDB8EAD}" type="slidenum">
              <a:rPr lang="en-US" sz="1200" b="0">
                <a:latin typeface="Times New Roman" pitchFamily="18" charset="0"/>
              </a:rPr>
              <a:pPr eaLnBrk="1" hangingPunct="1"/>
              <a:t>36</a:t>
            </a:fld>
            <a:endParaRPr lang="en-US" sz="1200" b="0">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621" eaLnBrk="0" hangingPunct="0">
              <a:defRPr sz="1000" b="1">
                <a:solidFill>
                  <a:schemeClr val="tx1"/>
                </a:solidFill>
                <a:latin typeface="Arial" charset="0"/>
              </a:defRPr>
            </a:lvl1pPr>
            <a:lvl2pPr marL="770662" indent="-296408" defTabSz="966621" eaLnBrk="0" hangingPunct="0">
              <a:defRPr sz="1000" b="1">
                <a:solidFill>
                  <a:schemeClr val="tx1"/>
                </a:solidFill>
                <a:latin typeface="Arial" charset="0"/>
              </a:defRPr>
            </a:lvl2pPr>
            <a:lvl3pPr marL="1185634" indent="-237127" defTabSz="966621" eaLnBrk="0" hangingPunct="0">
              <a:defRPr sz="1000" b="1">
                <a:solidFill>
                  <a:schemeClr val="tx1"/>
                </a:solidFill>
                <a:latin typeface="Arial" charset="0"/>
              </a:defRPr>
            </a:lvl3pPr>
            <a:lvl4pPr marL="1659887" indent="-237127" defTabSz="966621" eaLnBrk="0" hangingPunct="0">
              <a:defRPr sz="1000" b="1">
                <a:solidFill>
                  <a:schemeClr val="tx1"/>
                </a:solidFill>
                <a:latin typeface="Arial" charset="0"/>
              </a:defRPr>
            </a:lvl4pPr>
            <a:lvl5pPr marL="2134141" indent="-237127" defTabSz="966621" eaLnBrk="0" hangingPunct="0">
              <a:defRPr sz="1000" b="1">
                <a:solidFill>
                  <a:schemeClr val="tx1"/>
                </a:solidFill>
                <a:latin typeface="Arial" charset="0"/>
              </a:defRPr>
            </a:lvl5pPr>
            <a:lvl6pPr marL="2608395" indent="-237127" defTabSz="966621" eaLnBrk="0" fontAlgn="base" hangingPunct="0">
              <a:spcBef>
                <a:spcPct val="0"/>
              </a:spcBef>
              <a:spcAft>
                <a:spcPct val="0"/>
              </a:spcAft>
              <a:defRPr sz="1000" b="1">
                <a:solidFill>
                  <a:schemeClr val="tx1"/>
                </a:solidFill>
                <a:latin typeface="Arial" charset="0"/>
              </a:defRPr>
            </a:lvl6pPr>
            <a:lvl7pPr marL="3082648" indent="-237127" defTabSz="966621" eaLnBrk="0" fontAlgn="base" hangingPunct="0">
              <a:spcBef>
                <a:spcPct val="0"/>
              </a:spcBef>
              <a:spcAft>
                <a:spcPct val="0"/>
              </a:spcAft>
              <a:defRPr sz="1000" b="1">
                <a:solidFill>
                  <a:schemeClr val="tx1"/>
                </a:solidFill>
                <a:latin typeface="Arial" charset="0"/>
              </a:defRPr>
            </a:lvl7pPr>
            <a:lvl8pPr marL="3556902" indent="-237127" defTabSz="966621" eaLnBrk="0" fontAlgn="base" hangingPunct="0">
              <a:spcBef>
                <a:spcPct val="0"/>
              </a:spcBef>
              <a:spcAft>
                <a:spcPct val="0"/>
              </a:spcAft>
              <a:defRPr sz="1000" b="1">
                <a:solidFill>
                  <a:schemeClr val="tx1"/>
                </a:solidFill>
                <a:latin typeface="Arial" charset="0"/>
              </a:defRPr>
            </a:lvl8pPr>
            <a:lvl9pPr marL="4031155" indent="-237127" defTabSz="966621" eaLnBrk="0" fontAlgn="base" hangingPunct="0">
              <a:spcBef>
                <a:spcPct val="0"/>
              </a:spcBef>
              <a:spcAft>
                <a:spcPct val="0"/>
              </a:spcAft>
              <a:defRPr sz="1000" b="1">
                <a:solidFill>
                  <a:schemeClr val="tx1"/>
                </a:solidFill>
                <a:latin typeface="Arial" charset="0"/>
              </a:defRPr>
            </a:lvl9pPr>
          </a:lstStyle>
          <a:p>
            <a:pPr eaLnBrk="1" hangingPunct="1"/>
            <a:fld id="{9B0AC33B-D31B-4C25-BA99-4C1D0CDB8EAD}" type="slidenum">
              <a:rPr lang="en-US" sz="1200" b="0">
                <a:latin typeface="Times New Roman" pitchFamily="18" charset="0"/>
              </a:rPr>
              <a:pPr eaLnBrk="1" hangingPunct="1"/>
              <a:t>37</a:t>
            </a:fld>
            <a:endParaRPr lang="en-US" sz="1200" b="0">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Master subtitle style</a:t>
            </a:r>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pic>
        <p:nvPicPr>
          <p:cNvPr id="14" name="Picture 13" descr="FAST logo.png"/>
          <p:cNvPicPr>
            <a:picLocks noChangeAspect="1"/>
          </p:cNvPicPr>
          <p:nvPr userDrawn="1"/>
        </p:nvPicPr>
        <p:blipFill>
          <a:blip r:embed="rId2"/>
          <a:stretch>
            <a:fillRect/>
          </a:stretch>
        </p:blipFill>
        <p:spPr>
          <a:xfrm>
            <a:off x="7723172" y="4550189"/>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37746" y="68108"/>
            <a:ext cx="816638" cy="819150"/>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9" name="Picture 8"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pic>
        <p:nvPicPr>
          <p:cNvPr id="10" name="Picture 9" descr="FAST logo.png"/>
          <p:cNvPicPr>
            <a:picLocks noChangeAspect="1"/>
          </p:cNvPicPr>
          <p:nvPr userDrawn="1"/>
        </p:nvPicPr>
        <p:blipFill>
          <a:blip r:embed="rId2"/>
          <a:stretch>
            <a:fillRect/>
          </a:stretch>
        </p:blipFill>
        <p:spPr>
          <a:xfrm>
            <a:off x="56644" y="65242"/>
            <a:ext cx="1314450" cy="504720"/>
          </a:xfrm>
          <a:prstGeom prst="rect">
            <a:avLst/>
          </a:prstGeom>
        </p:spPr>
      </p:pic>
      <p:pic>
        <p:nvPicPr>
          <p:cNvPr id="11" name="Picture 10" descr="National_University_of_Computer_and_Emerging_Sciences_logo.png"/>
          <p:cNvPicPr>
            <a:picLocks noChangeAspect="1"/>
          </p:cNvPicPr>
          <p:nvPr userDrawn="1"/>
        </p:nvPicPr>
        <p:blipFill>
          <a:blip r:embed="rId3" cstate="print"/>
          <a:stretch>
            <a:fillRect/>
          </a:stretch>
        </p:blipFill>
        <p:spPr>
          <a:xfrm>
            <a:off x="8161492" y="55296"/>
            <a:ext cx="925206" cy="928052"/>
          </a:xfrm>
          <a:prstGeom prst="rect">
            <a:avLst/>
          </a:prstGeom>
        </p:spPr>
      </p:pic>
    </p:spTree>
  </p:cSld>
  <p:clrMapOvr>
    <a:overrideClrMapping bg1="lt1" tx1="dk1" bg2="lt2" tx2="dk2" accent1="accent1" accent2="accent2" accent3="accent3" accent4="accent4" accent5="accent5" accent6="accent6" hlink="hlink" folHlink="folHlink"/>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pic>
        <p:nvPicPr>
          <p:cNvPr id="13" name="Picture 12"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4" name="Picture 13"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pic>
        <p:nvPicPr>
          <p:cNvPr id="17" name="Picture 16"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pic>
        <p:nvPicPr>
          <p:cNvPr id="6" name="Picture 5"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7" name="Picture 6"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pic>
        <p:nvPicPr>
          <p:cNvPr id="5" name="Picture 4"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6" name="Picture 5"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0" name="Picture 9"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p>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lang="en-US" dirty="0"/>
          </a:p>
        </p:txBody>
      </p:sp>
      <p:pic>
        <p:nvPicPr>
          <p:cNvPr id="15" name="Picture 14" descr="FAST logo.png"/>
          <p:cNvPicPr>
            <a:picLocks noChangeAspect="1"/>
          </p:cNvPicPr>
          <p:nvPr userDrawn="1"/>
        </p:nvPicPr>
        <p:blipFill>
          <a:blip r:embed="rId2"/>
          <a:stretch>
            <a:fillRect/>
          </a:stretch>
        </p:blipFill>
        <p:spPr>
          <a:xfrm>
            <a:off x="7771724" y="4587783"/>
            <a:ext cx="1314450" cy="504720"/>
          </a:xfrm>
          <a:prstGeom prst="rect">
            <a:avLst/>
          </a:prstGeom>
        </p:spPr>
      </p:pic>
      <p:pic>
        <p:nvPicPr>
          <p:cNvPr id="16" name="Picture 15" descr="National_University_of_Computer_and_Emerging_Sciences_logo.png"/>
          <p:cNvPicPr>
            <a:picLocks noChangeAspect="1"/>
          </p:cNvPicPr>
          <p:nvPr userDrawn="1"/>
        </p:nvPicPr>
        <p:blipFill>
          <a:blip r:embed="rId3" cstate="print"/>
          <a:stretch>
            <a:fillRect/>
          </a:stretch>
        </p:blipFill>
        <p:spPr>
          <a:xfrm>
            <a:off x="8185768" y="43498"/>
            <a:ext cx="925206" cy="928052"/>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5" name="Rounded Rectangle 4"/>
          <p:cNvSpPr/>
          <p:nvPr userDrawn="1"/>
        </p:nvSpPr>
        <p:spPr>
          <a:xfrm>
            <a:off x="0" y="914400"/>
            <a:ext cx="9144000" cy="4171950"/>
          </a:xfrm>
          <a:prstGeom prst="roundRect">
            <a:avLst/>
          </a:prstGeom>
          <a:ln/>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000000"/>
              </a:solidFill>
              <a:latin typeface="Calibri" panose="020F0502020204030204" pitchFamily="34" charset="0"/>
            </a:endParaRPr>
          </a:p>
        </p:txBody>
      </p:sp>
      <p:sp>
        <p:nvSpPr>
          <p:cNvPr id="3" name="Content Placeholder 2"/>
          <p:cNvSpPr>
            <a:spLocks noGrp="1"/>
          </p:cNvSpPr>
          <p:nvPr>
            <p:ph idx="1"/>
          </p:nvPr>
        </p:nvSpPr>
        <p:spPr>
          <a:xfrm>
            <a:off x="228600" y="1085851"/>
            <a:ext cx="8686800" cy="3451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914400" y="0"/>
            <a:ext cx="7315200" cy="685800"/>
          </a:xfrm>
        </p:spPr>
        <p:txBody>
          <a:bodyPr>
            <a:normAutofit/>
          </a:bodyPr>
          <a:lstStyle>
            <a:lvl1pPr algn="l">
              <a:defRPr sz="3600" b="1">
                <a:solidFill>
                  <a:schemeClr val="bg1"/>
                </a:solidFill>
                <a:latin typeface="Century Schoolbook" pitchFamily="18" charset="0"/>
              </a:defRPr>
            </a:lvl1pPr>
          </a:lstStyle>
          <a:p>
            <a:r>
              <a:rPr lang="en-US" dirty="0"/>
              <a:t>Click to edit Master title style</a:t>
            </a:r>
          </a:p>
        </p:txBody>
      </p:sp>
      <p:sp>
        <p:nvSpPr>
          <p:cNvPr id="6" name="Footer Placeholder 17"/>
          <p:cNvSpPr>
            <a:spLocks noGrp="1"/>
          </p:cNvSpPr>
          <p:nvPr>
            <p:ph type="ftr" sz="quarter" idx="10"/>
          </p:nvPr>
        </p:nvSpPr>
        <p:spPr>
          <a:xfrm>
            <a:off x="152400" y="4926807"/>
            <a:ext cx="5715000" cy="273844"/>
          </a:xfrm>
        </p:spPr>
        <p:txBody>
          <a:bodyPr wrap="square" numCol="1" anchorCtr="0" compatLnSpc="1">
            <a:prstTxWarp prst="textNoShape">
              <a:avLst/>
            </a:prstTxWarp>
          </a:bodyPr>
          <a:lstStyle>
            <a:lvl1pPr fontAlgn="base">
              <a:spcBef>
                <a:spcPct val="0"/>
              </a:spcBef>
              <a:spcAft>
                <a:spcPct val="0"/>
              </a:spcAft>
              <a:defRPr sz="1000" i="1" smtClean="0">
                <a:solidFill>
                  <a:schemeClr val="tx2"/>
                </a:solidFill>
                <a:cs typeface="Arial" panose="020B0604020202020204" pitchFamily="34" charset="0"/>
              </a:defRPr>
            </a:lvl1pPr>
          </a:lstStyle>
          <a:p>
            <a:pPr>
              <a:defRPr/>
            </a:pPr>
            <a:endParaRPr lang="en-US" altLang="en-US"/>
          </a:p>
        </p:txBody>
      </p:sp>
      <p:sp>
        <p:nvSpPr>
          <p:cNvPr id="7" name="Slide Number Placeholder 16"/>
          <p:cNvSpPr>
            <a:spLocks noGrp="1"/>
          </p:cNvSpPr>
          <p:nvPr>
            <p:ph type="sldNum" sz="quarter" idx="11"/>
          </p:nvPr>
        </p:nvSpPr>
        <p:spPr>
          <a:xfrm>
            <a:off x="6248400" y="4857750"/>
            <a:ext cx="2133600" cy="273844"/>
          </a:xfrm>
        </p:spPr>
        <p:txBody>
          <a:bodyPr/>
          <a:lstStyle>
            <a:lvl1pPr>
              <a:defRPr sz="1000" b="1" i="1">
                <a:solidFill>
                  <a:schemeClr val="tx2"/>
                </a:solidFill>
              </a:defRPr>
            </a:lvl1pPr>
          </a:lstStyle>
          <a:p>
            <a:fld id="{9ECAED0D-5F1E-4136-AD1B-B6C4A1F4BF46}"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r>
              <a:rPr lang="en-US"/>
              <a:t>13 - </a:t>
            </a:r>
            <a:fld id="{0243B14E-2E71-49E8-B830-10FBF1D8D85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Lst>
  <p:transition>
    <p:pull dir="d"/>
  </p:transition>
  <p:hf hdr="0" ftr="0" dt="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7.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1.wmf"/></Relationships>
</file>

<file path=ppt/slides/_rels/slide34.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3.wmf"/></Relationships>
</file>

<file path=ppt/slides/_rels/slide35.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600200" y="4114799"/>
            <a:ext cx="7315200" cy="742951"/>
          </a:xfrm>
        </p:spPr>
        <p:txBody>
          <a:bodyPr>
            <a:normAutofit/>
          </a:bodyPr>
          <a:lstStyle/>
          <a:p>
            <a:r>
              <a:rPr lang="en-US" dirty="0"/>
              <a:t>Instructor: Dr. </a:t>
            </a:r>
            <a:r>
              <a:rPr lang="en-US"/>
              <a:t>Muhammad Rafiq</a:t>
            </a:r>
            <a:endParaRPr lang="en-US" dirty="0"/>
          </a:p>
          <a:p>
            <a:r>
              <a:rPr lang="en-US" dirty="0"/>
              <a:t>Chapter 5: Organizational Behavior – 15</a:t>
            </a:r>
            <a:r>
              <a:rPr lang="en-US" baseline="30000" dirty="0"/>
              <a:t>th</a:t>
            </a:r>
            <a:r>
              <a:rPr lang="en-US" dirty="0"/>
              <a:t> Edition</a:t>
            </a:r>
          </a:p>
        </p:txBody>
      </p:sp>
      <p:sp>
        <p:nvSpPr>
          <p:cNvPr id="4" name="Title 3"/>
          <p:cNvSpPr>
            <a:spLocks noGrp="1"/>
          </p:cNvSpPr>
          <p:nvPr>
            <p:ph type="title"/>
          </p:nvPr>
        </p:nvSpPr>
        <p:spPr/>
        <p:txBody>
          <a:bodyPr>
            <a:normAutofit fontScale="90000"/>
          </a:bodyPr>
          <a:lstStyle/>
          <a:p>
            <a:r>
              <a:rPr lang="en-US" b="1" dirty="0"/>
              <a:t>Personality &amp; Values</a:t>
            </a:r>
          </a:p>
        </p:txBody>
      </p:sp>
      <p:pic>
        <p:nvPicPr>
          <p:cNvPr id="15" name="Picture 14" descr="National_University_of_Computer_and_Emerging_Sciences_logo.png"/>
          <p:cNvPicPr>
            <a:picLocks noChangeAspect="1"/>
          </p:cNvPicPr>
          <p:nvPr/>
        </p:nvPicPr>
        <p:blipFill>
          <a:blip r:embed="rId3"/>
          <a:stretch>
            <a:fillRect/>
          </a:stretch>
        </p:blipFill>
        <p:spPr>
          <a:xfrm>
            <a:off x="34072" y="56682"/>
            <a:ext cx="1376020" cy="1380254"/>
          </a:xfrm>
          <a:prstGeom prst="rect">
            <a:avLst/>
          </a:prstGeom>
        </p:spPr>
      </p:pic>
      <p:sp>
        <p:nvSpPr>
          <p:cNvPr id="7" name="Slide Number Placeholder 6"/>
          <p:cNvSpPr>
            <a:spLocks noGrp="1"/>
          </p:cNvSpPr>
          <p:nvPr>
            <p:ph type="sldNum" sz="quarter" idx="11"/>
          </p:nvPr>
        </p:nvSpPr>
        <p:spPr/>
        <p:txBody>
          <a:bodyPr>
            <a:normAutofit fontScale="92500"/>
          </a:bodyPr>
          <a:lstStyle/>
          <a:p>
            <a:pPr algn="ctr"/>
            <a:r>
              <a:rPr lang="en-US" dirty="0"/>
              <a:t>MG2001</a:t>
            </a:r>
            <a:endParaRPr lang="en-US" sz="2800" dirty="0"/>
          </a:p>
        </p:txBody>
      </p:sp>
      <p:sp>
        <p:nvSpPr>
          <p:cNvPr id="50178" name="AutoShape 2" descr="Image result for Management"/>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Placeholder 1"/>
          <p:cNvPicPr>
            <a:picLocks noGrp="1" noChangeAspect="1"/>
          </p:cNvPicPr>
          <p:nvPr>
            <p:ph type="pic" idx="1"/>
          </p:nvPr>
        </p:nvPicPr>
        <p:blipFill>
          <a:blip r:embed="rId4">
            <a:extLst>
              <a:ext uri="{28A0092B-C50C-407E-A947-70E740481C1C}">
                <a14:useLocalDpi xmlns:a14="http://schemas.microsoft.com/office/drawing/2010/main" val="0"/>
              </a:ext>
            </a:extLst>
          </a:blip>
          <a:srcRect t="19710" b="19710"/>
          <a:stretch>
            <a:fillRect/>
          </a:stretch>
        </p:blipFill>
        <p:spPr/>
      </p:pic>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b="19127"/>
          <a:stretch/>
        </p:blipFill>
        <p:spPr>
          <a:xfrm>
            <a:off x="1524000" y="0"/>
            <a:ext cx="7543801" cy="343176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98" y="4141010"/>
            <a:ext cx="1245767" cy="926851"/>
          </a:xfrm>
          <a:prstGeom prst="rect">
            <a:avLst/>
          </a:prstGeom>
        </p:spPr>
      </p:pic>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Personality</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a:t>
            </a:fld>
            <a:endParaRPr lang="en-US"/>
          </a:p>
        </p:txBody>
      </p:sp>
      <p:sp>
        <p:nvSpPr>
          <p:cNvPr id="4" name="Content Placeholder 3"/>
          <p:cNvSpPr>
            <a:spLocks noGrp="1"/>
          </p:cNvSpPr>
          <p:nvPr>
            <p:ph sz="quarter" idx="13"/>
          </p:nvPr>
        </p:nvSpPr>
        <p:spPr/>
        <p:txBody>
          <a:bodyPr>
            <a:normAutofit/>
          </a:bodyPr>
          <a:lstStyle/>
          <a:p>
            <a:pPr marL="0" indent="0">
              <a:spcBef>
                <a:spcPts val="0"/>
              </a:spcBef>
              <a:buNone/>
            </a:pPr>
            <a:r>
              <a:rPr lang="en-US" sz="2400" b="1" dirty="0"/>
              <a:t>Personality</a:t>
            </a:r>
          </a:p>
          <a:p>
            <a:pPr>
              <a:spcBef>
                <a:spcPts val="0"/>
              </a:spcBef>
            </a:pPr>
            <a:r>
              <a:rPr lang="en-US" sz="2000" i="1" dirty="0"/>
              <a:t>The sum total of ways in which </a:t>
            </a:r>
            <a:r>
              <a:rPr lang="en-US" sz="2000" i="1" dirty="0">
                <a:solidFill>
                  <a:srgbClr val="FF0000"/>
                </a:solidFill>
              </a:rPr>
              <a:t>an individual reacts and interacts</a:t>
            </a:r>
            <a:r>
              <a:rPr lang="en-US" sz="2000" i="1" dirty="0"/>
              <a:t> with others; measurable traits a person exhibits.</a:t>
            </a:r>
          </a:p>
          <a:p>
            <a:pPr>
              <a:spcBef>
                <a:spcPts val="0"/>
              </a:spcBef>
            </a:pPr>
            <a:r>
              <a:rPr lang="en-US" sz="2000" dirty="0"/>
              <a:t>Personality may be understood as characteristic pattern of behavior and modes of thinking that determine a person’s adjustment to the environment.</a:t>
            </a:r>
          </a:p>
          <a:p>
            <a:pPr marL="0" indent="0">
              <a:spcBef>
                <a:spcPts val="0"/>
              </a:spcBef>
              <a:buNone/>
            </a:pPr>
            <a:r>
              <a:rPr lang="en-US" sz="2400" b="1" dirty="0"/>
              <a:t>Personality Traits</a:t>
            </a:r>
          </a:p>
          <a:p>
            <a:pPr>
              <a:spcBef>
                <a:spcPts val="0"/>
              </a:spcBef>
            </a:pPr>
            <a:r>
              <a:rPr lang="en-US" sz="2000" dirty="0"/>
              <a:t>Enduring characteristics that describe an individual’s behavior.</a:t>
            </a:r>
          </a:p>
        </p:txBody>
      </p:sp>
      <p:pic>
        <p:nvPicPr>
          <p:cNvPr id="1026" name="Picture 2" descr="Image result for Personal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679191"/>
            <a:ext cx="3352800" cy="145288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7"/>
          <p:cNvSpPr txBox="1">
            <a:spLocks noChangeArrowheads="1"/>
          </p:cNvSpPr>
          <p:nvPr/>
        </p:nvSpPr>
        <p:spPr bwMode="blackWhite">
          <a:xfrm>
            <a:off x="1066800" y="3714750"/>
            <a:ext cx="3657600" cy="1295400"/>
          </a:xfrm>
          <a:prstGeom prst="rect">
            <a:avLst/>
          </a:prstGeom>
          <a:solidFill>
            <a:srgbClr val="CC6600"/>
          </a:solidFill>
          <a:ln w="12700">
            <a:solidFill>
              <a:schemeClr val="tx1"/>
            </a:solidFill>
            <a:miter lim="800000"/>
            <a:headEnd/>
            <a:tailEnd/>
          </a:ln>
          <a:effectLst>
            <a:outerShdw dist="135003" dir="2471156" algn="ctr" rotWithShape="0">
              <a:srgbClr val="DDDDDD"/>
            </a:outerShdw>
          </a:effectLst>
        </p:spPr>
        <p:txBody>
          <a:bodyPr wrap="none" anchor="ctr"/>
          <a:lstStyle/>
          <a:p>
            <a:pPr marL="395288" indent="-173038">
              <a:defRPr/>
            </a:pPr>
            <a:r>
              <a:rPr lang="en-US" sz="2000" b="1" dirty="0">
                <a:solidFill>
                  <a:srgbClr val="FFFFCC"/>
                </a:solidFill>
              </a:rPr>
              <a:t>Personality Determinants</a:t>
            </a:r>
          </a:p>
          <a:p>
            <a:pPr marL="395288" indent="-173038">
              <a:buFontTx/>
              <a:buChar char="•"/>
              <a:defRPr/>
            </a:pPr>
            <a:r>
              <a:rPr lang="en-US" sz="2000" dirty="0">
                <a:solidFill>
                  <a:schemeClr val="bg1"/>
                </a:solidFill>
              </a:rPr>
              <a:t>Heredity</a:t>
            </a:r>
          </a:p>
          <a:p>
            <a:pPr marL="395288" indent="-173038">
              <a:buFontTx/>
              <a:buChar char="•"/>
              <a:defRPr/>
            </a:pPr>
            <a:r>
              <a:rPr lang="en-US" sz="2000" dirty="0">
                <a:solidFill>
                  <a:schemeClr val="bg1"/>
                </a:solidFill>
              </a:rPr>
              <a:t>Environment</a:t>
            </a:r>
          </a:p>
          <a:p>
            <a:pPr marL="395288" indent="-173038">
              <a:buFontTx/>
              <a:buChar char="•"/>
              <a:defRPr/>
            </a:pPr>
            <a:r>
              <a:rPr lang="en-US" sz="2000" dirty="0">
                <a:solidFill>
                  <a:schemeClr val="bg1"/>
                </a:solidFill>
              </a:rPr>
              <a:t>Situation</a:t>
            </a:r>
          </a:p>
        </p:txBody>
      </p:sp>
      <p:pic>
        <p:nvPicPr>
          <p:cNvPr id="1028" name="Picture 4" descr="Image result for Personality"/>
          <p:cNvPicPr>
            <a:picLocks noChangeAspect="1" noChangeArrowheads="1"/>
          </p:cNvPicPr>
          <p:nvPr/>
        </p:nvPicPr>
        <p:blipFill rotWithShape="1">
          <a:blip r:embed="rId4">
            <a:extLst>
              <a:ext uri="{28A0092B-C50C-407E-A947-70E740481C1C}">
                <a14:useLocalDpi xmlns:a14="http://schemas.microsoft.com/office/drawing/2010/main" val="0"/>
              </a:ext>
            </a:extLst>
          </a:blip>
          <a:srcRect l="24400" r="23200" b="6200"/>
          <a:stretch/>
        </p:blipFill>
        <p:spPr bwMode="auto">
          <a:xfrm>
            <a:off x="8013819" y="3810"/>
            <a:ext cx="1130181" cy="1348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741434"/>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box(in)">
                                      <p:cBhvr>
                                        <p:cTn id="7" dur="5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ox(in)">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box(in)">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box(in)">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box(in)">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Personality?</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3</a:t>
            </a:fld>
            <a:endParaRPr lang="en-US"/>
          </a:p>
        </p:txBody>
      </p:sp>
      <p:sp>
        <p:nvSpPr>
          <p:cNvPr id="4" name="Content Placeholder 3"/>
          <p:cNvSpPr>
            <a:spLocks noGrp="1"/>
          </p:cNvSpPr>
          <p:nvPr>
            <p:ph sz="quarter" idx="13"/>
          </p:nvPr>
        </p:nvSpPr>
        <p:spPr/>
        <p:txBody>
          <a:bodyPr>
            <a:normAutofit/>
          </a:bodyPr>
          <a:lstStyle/>
          <a:p>
            <a:r>
              <a:rPr lang="en-US" sz="2000" dirty="0"/>
              <a:t>Why are some people quite and passive and others are loud and aggressive?</a:t>
            </a:r>
          </a:p>
          <a:p>
            <a:r>
              <a:rPr lang="en-US" sz="2000" dirty="0"/>
              <a:t>Are certain types better adjusted to certain types?</a:t>
            </a:r>
          </a:p>
          <a:p>
            <a:r>
              <a:rPr lang="en-US" sz="2000" dirty="0"/>
              <a:t>Can personality change over time?</a:t>
            </a:r>
          </a:p>
          <a:p>
            <a:r>
              <a:rPr lang="en-US" sz="2000" dirty="0"/>
              <a:t>Do we require all kinds of personalities in a team?</a:t>
            </a:r>
          </a:p>
          <a:p>
            <a:r>
              <a:rPr lang="en-US" sz="2000" dirty="0"/>
              <a:t>How is training and development helpful in Personality grooming?</a:t>
            </a:r>
          </a:p>
          <a:p>
            <a:r>
              <a:rPr lang="en-US" sz="2000" dirty="0"/>
              <a:t>Can we assess/measure personality?</a:t>
            </a:r>
          </a:p>
          <a:p>
            <a:r>
              <a:rPr lang="en-US" sz="2000" dirty="0"/>
              <a:t>What are different kinds of personality traits?</a:t>
            </a:r>
            <a:endParaRPr lang="en-US" dirty="0"/>
          </a:p>
          <a:p>
            <a:endParaRPr lang="en-US" dirty="0"/>
          </a:p>
        </p:txBody>
      </p:sp>
    </p:spTree>
    <p:extLst>
      <p:ext uri="{BB962C8B-B14F-4D97-AF65-F5344CB8AC3E}">
        <p14:creationId xmlns:p14="http://schemas.microsoft.com/office/powerpoint/2010/main" val="2094365562"/>
      </p:ext>
    </p:extLst>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Myers-Briggs Type Indicator</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4</a:t>
            </a:fld>
            <a:endParaRPr lang="en-US"/>
          </a:p>
        </p:txBody>
      </p:sp>
      <p:sp>
        <p:nvSpPr>
          <p:cNvPr id="4" name="Content Placeholder 3"/>
          <p:cNvSpPr>
            <a:spLocks noGrp="1"/>
          </p:cNvSpPr>
          <p:nvPr>
            <p:ph sz="quarter" idx="13"/>
          </p:nvPr>
        </p:nvSpPr>
        <p:spPr/>
        <p:txBody>
          <a:bodyPr>
            <a:normAutofit/>
          </a:bodyPr>
          <a:lstStyle/>
          <a:p>
            <a:pPr>
              <a:spcBef>
                <a:spcPct val="50000"/>
              </a:spcBef>
            </a:pPr>
            <a:r>
              <a:rPr lang="en-US" sz="2400" dirty="0"/>
              <a:t>Myers-Briggs Type Indicator (MBTI)</a:t>
            </a:r>
          </a:p>
          <a:p>
            <a:pPr>
              <a:spcBef>
                <a:spcPct val="50000"/>
              </a:spcBef>
            </a:pPr>
            <a:r>
              <a:rPr lang="en-US" sz="2400" dirty="0"/>
              <a:t>A personality test that taps four characteristics and classifies people into 1 of 16 personality types.</a:t>
            </a:r>
          </a:p>
        </p:txBody>
      </p:sp>
      <p:sp>
        <p:nvSpPr>
          <p:cNvPr id="5" name="Text Box 3"/>
          <p:cNvSpPr txBox="1">
            <a:spLocks noChangeArrowheads="1"/>
          </p:cNvSpPr>
          <p:nvPr/>
        </p:nvSpPr>
        <p:spPr bwMode="blackWhite">
          <a:xfrm>
            <a:off x="2057400" y="2933700"/>
            <a:ext cx="5105400" cy="1847850"/>
          </a:xfrm>
          <a:prstGeom prst="rect">
            <a:avLst/>
          </a:prstGeom>
          <a:solidFill>
            <a:srgbClr val="CC6600"/>
          </a:solidFill>
          <a:ln w="12700">
            <a:solidFill>
              <a:schemeClr val="tx1"/>
            </a:solidFill>
            <a:miter lim="800000"/>
            <a:headEnd/>
            <a:tailEnd/>
          </a:ln>
          <a:effectLst>
            <a:outerShdw dist="135003" dir="2471156" algn="ctr" rotWithShape="0">
              <a:srgbClr val="DDDDDD"/>
            </a:outerShdw>
          </a:effectLst>
        </p:spPr>
        <p:txBody>
          <a:bodyPr anchor="ctr"/>
          <a:lstStyle/>
          <a:p>
            <a:pPr marL="91440" indent="-173038">
              <a:defRPr/>
            </a:pPr>
            <a:r>
              <a:rPr lang="en-US" sz="2000" b="1" dirty="0"/>
              <a:t>Personality Types</a:t>
            </a:r>
          </a:p>
          <a:p>
            <a:pPr marL="91440" indent="-173038">
              <a:buFontTx/>
              <a:buChar char="•"/>
              <a:defRPr/>
            </a:pPr>
            <a:r>
              <a:rPr lang="en-US" sz="2000" dirty="0"/>
              <a:t>Extroverted vs. Introverted (E or I)</a:t>
            </a:r>
          </a:p>
          <a:p>
            <a:pPr marL="91440" indent="-173038">
              <a:buFontTx/>
              <a:buChar char="•"/>
              <a:defRPr/>
            </a:pPr>
            <a:r>
              <a:rPr lang="en-US" sz="2000" dirty="0"/>
              <a:t>Sensing vs. Intuitive (S or N)</a:t>
            </a:r>
          </a:p>
          <a:p>
            <a:pPr marL="91440" indent="-173038">
              <a:buFontTx/>
              <a:buChar char="•"/>
              <a:defRPr/>
            </a:pPr>
            <a:r>
              <a:rPr lang="en-US" sz="2000" dirty="0"/>
              <a:t>Thinking vs. Feeling (T or F)</a:t>
            </a:r>
          </a:p>
          <a:p>
            <a:pPr marL="91440" indent="-173038">
              <a:buFontTx/>
              <a:buChar char="•"/>
              <a:defRPr/>
            </a:pPr>
            <a:r>
              <a:rPr lang="en-US" sz="2000" dirty="0"/>
              <a:t>Judging vs. Perceiving (P or J)</a:t>
            </a:r>
          </a:p>
          <a:p>
            <a:pPr marL="91440" indent="-173038">
              <a:defRPr/>
            </a:pPr>
            <a:r>
              <a:rPr lang="en-US" sz="2000" dirty="0"/>
              <a:t>Score is a combination of all four (e.g., ENTJ)</a:t>
            </a:r>
          </a:p>
        </p:txBody>
      </p:sp>
    </p:spTree>
    <p:extLst>
      <p:ext uri="{BB962C8B-B14F-4D97-AF65-F5344CB8AC3E}">
        <p14:creationId xmlns:p14="http://schemas.microsoft.com/office/powerpoint/2010/main" val="3957788050"/>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Personality Theories / Model</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5</a:t>
            </a:fld>
            <a:endParaRPr lang="en-US"/>
          </a:p>
        </p:txBody>
      </p:sp>
      <p:pic>
        <p:nvPicPr>
          <p:cNvPr id="1026" name="Picture 2" descr="Image result for MBTI"/>
          <p:cNvPicPr>
            <a:picLocks noChangeAspect="1" noChangeArrowheads="1"/>
          </p:cNvPicPr>
          <p:nvPr/>
        </p:nvPicPr>
        <p:blipFill rotWithShape="1">
          <a:blip r:embed="rId3">
            <a:extLst>
              <a:ext uri="{28A0092B-C50C-407E-A947-70E740481C1C}">
                <a14:useLocalDpi xmlns:a14="http://schemas.microsoft.com/office/drawing/2010/main" val="0"/>
              </a:ext>
            </a:extLst>
          </a:blip>
          <a:srcRect t="13399"/>
          <a:stretch/>
        </p:blipFill>
        <p:spPr bwMode="auto">
          <a:xfrm>
            <a:off x="0" y="1352550"/>
            <a:ext cx="7782206" cy="37909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620000" y="2190750"/>
            <a:ext cx="1371600" cy="1569660"/>
          </a:xfrm>
          <a:prstGeom prst="rect">
            <a:avLst/>
          </a:prstGeom>
          <a:noFill/>
        </p:spPr>
        <p:txBody>
          <a:bodyPr wrap="square" rtlCol="0">
            <a:spAutoFit/>
          </a:bodyPr>
          <a:lstStyle/>
          <a:p>
            <a:r>
              <a:rPr lang="en-US" sz="2400" dirty="0"/>
              <a:t>Myers-Briggs Type Indicator</a:t>
            </a:r>
          </a:p>
        </p:txBody>
      </p:sp>
    </p:spTree>
    <p:extLst>
      <p:ext uri="{BB962C8B-B14F-4D97-AF65-F5344CB8AC3E}">
        <p14:creationId xmlns:p14="http://schemas.microsoft.com/office/powerpoint/2010/main" val="3020542746"/>
      </p:ext>
    </p:extLst>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Extraversion/Introversion</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6</a:t>
            </a:fld>
            <a:endParaRPr lang="en-US"/>
          </a:p>
        </p:txBody>
      </p:sp>
      <p:sp>
        <p:nvSpPr>
          <p:cNvPr id="4" name="Content Placeholder 3"/>
          <p:cNvSpPr>
            <a:spLocks noGrp="1"/>
          </p:cNvSpPr>
          <p:nvPr>
            <p:ph sz="quarter" idx="13"/>
          </p:nvPr>
        </p:nvSpPr>
        <p:spPr>
          <a:xfrm>
            <a:off x="609600" y="1276350"/>
            <a:ext cx="5791200" cy="3276600"/>
          </a:xfrm>
        </p:spPr>
        <p:txBody>
          <a:bodyPr>
            <a:normAutofit/>
          </a:bodyPr>
          <a:lstStyle/>
          <a:p>
            <a:pPr>
              <a:spcBef>
                <a:spcPts val="0"/>
              </a:spcBef>
              <a:buNone/>
              <a:defRPr/>
            </a:pPr>
            <a:r>
              <a:rPr lang="en-US" sz="2000" b="1" i="1" dirty="0">
                <a:effectLst>
                  <a:outerShdw blurRad="38100" dist="38100" dir="2700000" algn="tl">
                    <a:srgbClr val="FFFFFF"/>
                  </a:outerShdw>
                </a:effectLst>
              </a:rPr>
              <a:t>Extraversion</a:t>
            </a:r>
            <a:r>
              <a:rPr lang="en-US" sz="2000" b="1" dirty="0">
                <a:effectLst>
                  <a:outerShdw blurRad="38100" dist="38100" dir="2700000" algn="tl">
                    <a:srgbClr val="FFFFFF"/>
                  </a:outerShdw>
                </a:effectLst>
              </a:rPr>
              <a:t>:</a:t>
            </a:r>
          </a:p>
          <a:p>
            <a:pPr>
              <a:spcBef>
                <a:spcPts val="0"/>
              </a:spcBef>
              <a:buNone/>
              <a:defRPr/>
            </a:pPr>
            <a:r>
              <a:rPr lang="en-US" sz="2000" dirty="0">
                <a:effectLst>
                  <a:outerShdw blurRad="38100" dist="38100" dir="2700000" algn="tl">
                    <a:srgbClr val="FFFFFF"/>
                  </a:outerShdw>
                </a:effectLst>
              </a:rPr>
              <a:t>A preference indicating that an individual is energized with other people.</a:t>
            </a:r>
          </a:p>
          <a:p>
            <a:pPr>
              <a:spcBef>
                <a:spcPts val="0"/>
              </a:spcBef>
              <a:buNone/>
              <a:defRPr/>
            </a:pPr>
            <a:r>
              <a:rPr lang="en-US" sz="2000" b="1" i="1" dirty="0">
                <a:effectLst>
                  <a:outerShdw blurRad="38100" dist="38100" dir="2700000" algn="tl">
                    <a:srgbClr val="FFFFFF"/>
                  </a:outerShdw>
                </a:effectLst>
              </a:rPr>
              <a:t>Introversion</a:t>
            </a:r>
            <a:r>
              <a:rPr lang="en-US" sz="2000" b="1" dirty="0">
                <a:effectLst>
                  <a:outerShdw blurRad="38100" dist="38100" dir="2700000" algn="tl">
                    <a:srgbClr val="FFFFFF"/>
                  </a:outerShdw>
                </a:effectLst>
              </a:rPr>
              <a:t>:</a:t>
            </a:r>
          </a:p>
          <a:p>
            <a:pPr>
              <a:spcBef>
                <a:spcPts val="0"/>
              </a:spcBef>
              <a:buNone/>
              <a:defRPr/>
            </a:pPr>
            <a:r>
              <a:rPr lang="en-US" sz="2000" dirty="0">
                <a:effectLst>
                  <a:outerShdw blurRad="38100" dist="38100" dir="2700000" algn="tl">
                    <a:srgbClr val="FFFFFF"/>
                  </a:outerShdw>
                </a:effectLst>
              </a:rPr>
              <a:t>A  preference indicating that an individual is energized by time alone. </a:t>
            </a:r>
          </a:p>
        </p:txBody>
      </p:sp>
      <p:sp>
        <p:nvSpPr>
          <p:cNvPr id="5" name="Rectangle 4"/>
          <p:cNvSpPr>
            <a:spLocks noChangeArrowheads="1"/>
          </p:cNvSpPr>
          <p:nvPr/>
        </p:nvSpPr>
        <p:spPr bwMode="auto">
          <a:xfrm>
            <a:off x="304800" y="3486150"/>
            <a:ext cx="2819400" cy="1428750"/>
          </a:xfrm>
          <a:prstGeom prst="rect">
            <a:avLst/>
          </a:prstGeom>
          <a:solidFill>
            <a:srgbClr val="CC99FF"/>
          </a:solidFill>
          <a:ln>
            <a:noFill/>
          </a:ln>
          <a:effectLst/>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eaLnBrk="0" hangingPunct="0"/>
            <a:r>
              <a:rPr lang="en-US" sz="1600" dirty="0"/>
              <a:t>EXTRAVERSION-(E)</a:t>
            </a:r>
          </a:p>
          <a:p>
            <a:pPr marL="742950" lvl="1" indent="-285750" eaLnBrk="0" hangingPunct="0">
              <a:buFont typeface="Wingdings" pitchFamily="2" charset="2"/>
              <a:buChar char="q"/>
            </a:pPr>
            <a:r>
              <a:rPr lang="en-US" sz="1600" dirty="0"/>
              <a:t>Outgoing</a:t>
            </a:r>
          </a:p>
          <a:p>
            <a:pPr marL="742950" lvl="1" indent="-285750" eaLnBrk="0" hangingPunct="0">
              <a:buFont typeface="Wingdings" pitchFamily="2" charset="2"/>
              <a:buChar char="q"/>
            </a:pPr>
            <a:r>
              <a:rPr lang="en-US" sz="1600" dirty="0"/>
              <a:t>Publicly Expressive</a:t>
            </a:r>
          </a:p>
          <a:p>
            <a:pPr marL="742950" lvl="1" indent="-285750" eaLnBrk="0" hangingPunct="0">
              <a:buFont typeface="Wingdings" pitchFamily="2" charset="2"/>
              <a:buChar char="q"/>
            </a:pPr>
            <a:r>
              <a:rPr lang="en-US" sz="1600" dirty="0"/>
              <a:t>Interacting</a:t>
            </a:r>
          </a:p>
          <a:p>
            <a:pPr marL="742950" lvl="1" indent="-285750" eaLnBrk="0" hangingPunct="0">
              <a:buFont typeface="Wingdings" pitchFamily="2" charset="2"/>
              <a:buChar char="q"/>
            </a:pPr>
            <a:r>
              <a:rPr lang="en-US" sz="1600" dirty="0"/>
              <a:t>Speaks, then thinks</a:t>
            </a:r>
          </a:p>
          <a:p>
            <a:pPr marL="742950" lvl="1" indent="-285750" eaLnBrk="0" hangingPunct="0">
              <a:buFont typeface="Wingdings" pitchFamily="2" charset="2"/>
              <a:buChar char="q"/>
            </a:pPr>
            <a:r>
              <a:rPr lang="en-US" sz="1600" dirty="0"/>
              <a:t>Gregarious</a:t>
            </a:r>
          </a:p>
        </p:txBody>
      </p:sp>
      <p:sp>
        <p:nvSpPr>
          <p:cNvPr id="6" name="Rectangle 5"/>
          <p:cNvSpPr>
            <a:spLocks noChangeArrowheads="1"/>
          </p:cNvSpPr>
          <p:nvPr/>
        </p:nvSpPr>
        <p:spPr bwMode="auto">
          <a:xfrm>
            <a:off x="3200400" y="3474720"/>
            <a:ext cx="2895600" cy="1440180"/>
          </a:xfrm>
          <a:prstGeom prst="rect">
            <a:avLst/>
          </a:prstGeom>
          <a:solidFill>
            <a:srgbClr val="CC99FF"/>
          </a:solidFill>
          <a:ln>
            <a:noFill/>
          </a:ln>
          <a:effectLst/>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eaLnBrk="0" hangingPunct="0"/>
            <a:r>
              <a:rPr lang="en-US" sz="1600" dirty="0"/>
              <a:t>INTROVERSION- (I)</a:t>
            </a:r>
          </a:p>
          <a:p>
            <a:pPr marL="742950" lvl="1" indent="-285750" eaLnBrk="0" hangingPunct="0">
              <a:buFont typeface="Wingdings" pitchFamily="2" charset="2"/>
              <a:buChar char="q"/>
            </a:pPr>
            <a:r>
              <a:rPr lang="en-US" sz="1600" dirty="0"/>
              <a:t>Quiet</a:t>
            </a:r>
          </a:p>
          <a:p>
            <a:pPr marL="742950" lvl="1" indent="-285750" eaLnBrk="0" hangingPunct="0">
              <a:buFont typeface="Wingdings" pitchFamily="2" charset="2"/>
              <a:buChar char="q"/>
            </a:pPr>
            <a:r>
              <a:rPr lang="en-US" sz="1600" dirty="0"/>
              <a:t>Reserved</a:t>
            </a:r>
          </a:p>
          <a:p>
            <a:pPr marL="742950" lvl="1" indent="-285750" eaLnBrk="0" hangingPunct="0">
              <a:buFont typeface="Wingdings" pitchFamily="2" charset="2"/>
              <a:buChar char="q"/>
            </a:pPr>
            <a:r>
              <a:rPr lang="en-US" sz="1600" dirty="0"/>
              <a:t>Concentrating</a:t>
            </a:r>
          </a:p>
          <a:p>
            <a:pPr marL="742950" lvl="1" indent="-285750" eaLnBrk="0" hangingPunct="0">
              <a:buFont typeface="Wingdings" pitchFamily="2" charset="2"/>
              <a:buChar char="q"/>
            </a:pPr>
            <a:r>
              <a:rPr lang="en-US" sz="1600" dirty="0"/>
              <a:t>Thinks, then speaks</a:t>
            </a:r>
          </a:p>
          <a:p>
            <a:pPr marL="742950" lvl="1" indent="-285750" eaLnBrk="0" hangingPunct="0">
              <a:buFont typeface="Wingdings" pitchFamily="2" charset="2"/>
              <a:buChar char="q"/>
            </a:pPr>
            <a:r>
              <a:rPr lang="en-US" sz="1600" dirty="0"/>
              <a:t>Reflective</a:t>
            </a:r>
          </a:p>
        </p:txBody>
      </p:sp>
      <p:pic>
        <p:nvPicPr>
          <p:cNvPr id="7" name="Picture 2" descr="Image result for MBTI"/>
          <p:cNvPicPr>
            <a:picLocks noChangeAspect="1" noChangeArrowheads="1"/>
          </p:cNvPicPr>
          <p:nvPr/>
        </p:nvPicPr>
        <p:blipFill rotWithShape="1">
          <a:blip r:embed="rId3">
            <a:extLst>
              <a:ext uri="{28A0092B-C50C-407E-A947-70E740481C1C}">
                <a14:useLocalDpi xmlns:a14="http://schemas.microsoft.com/office/drawing/2010/main" val="0"/>
              </a:ext>
            </a:extLst>
          </a:blip>
          <a:srcRect l="1818" t="23234" r="72447" b="41255"/>
          <a:stretch/>
        </p:blipFill>
        <p:spPr bwMode="auto">
          <a:xfrm>
            <a:off x="5943600" y="2843420"/>
            <a:ext cx="3200400" cy="236551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2" descr="Image result for extraversion vs introver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37730558"/>
      </p:ext>
    </p:extLst>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2-Sensing/Intuiting</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7</a:t>
            </a:fld>
            <a:endParaRPr lang="en-US"/>
          </a:p>
        </p:txBody>
      </p:sp>
      <p:sp>
        <p:nvSpPr>
          <p:cNvPr id="4" name="Content Placeholder 3"/>
          <p:cNvSpPr>
            <a:spLocks noGrp="1"/>
          </p:cNvSpPr>
          <p:nvPr>
            <p:ph sz="quarter" idx="13"/>
          </p:nvPr>
        </p:nvSpPr>
        <p:spPr>
          <a:xfrm>
            <a:off x="609600" y="1276350"/>
            <a:ext cx="7696200" cy="3276600"/>
          </a:xfrm>
        </p:spPr>
        <p:txBody>
          <a:bodyPr>
            <a:normAutofit/>
          </a:bodyPr>
          <a:lstStyle/>
          <a:p>
            <a:pPr>
              <a:lnSpc>
                <a:spcPct val="80000"/>
              </a:lnSpc>
              <a:buNone/>
              <a:defRPr/>
            </a:pPr>
            <a:r>
              <a:rPr lang="en-US" sz="2000" b="1" i="1" u="sng" dirty="0"/>
              <a:t>Sensing</a:t>
            </a:r>
            <a:r>
              <a:rPr lang="en-US" sz="2000" b="1" dirty="0"/>
              <a:t>:</a:t>
            </a:r>
          </a:p>
          <a:p>
            <a:pPr>
              <a:lnSpc>
                <a:spcPct val="80000"/>
              </a:lnSpc>
              <a:buNone/>
              <a:defRPr/>
            </a:pPr>
            <a:r>
              <a:rPr lang="en-US" sz="2000" dirty="0"/>
              <a:t>	Gathering information through the five senses.</a:t>
            </a:r>
          </a:p>
          <a:p>
            <a:pPr>
              <a:lnSpc>
                <a:spcPct val="80000"/>
              </a:lnSpc>
              <a:buNone/>
              <a:defRPr/>
            </a:pPr>
            <a:r>
              <a:rPr lang="en-US" sz="2000" b="1" i="1" u="sng" dirty="0"/>
              <a:t>Intuiting</a:t>
            </a:r>
            <a:r>
              <a:rPr lang="en-US" sz="2000" b="1" dirty="0"/>
              <a:t>:</a:t>
            </a:r>
          </a:p>
          <a:p>
            <a:pPr>
              <a:lnSpc>
                <a:spcPct val="80000"/>
              </a:lnSpc>
              <a:buNone/>
              <a:defRPr/>
            </a:pPr>
            <a:r>
              <a:rPr lang="en-US" sz="2000" dirty="0"/>
              <a:t>	Gathering information through “sixth sense” and focusing on what could be rather than what actually exists.</a:t>
            </a:r>
          </a:p>
        </p:txBody>
      </p:sp>
      <p:sp>
        <p:nvSpPr>
          <p:cNvPr id="5" name="Rectangle 4"/>
          <p:cNvSpPr>
            <a:spLocks noChangeArrowheads="1"/>
          </p:cNvSpPr>
          <p:nvPr/>
        </p:nvSpPr>
        <p:spPr bwMode="auto">
          <a:xfrm>
            <a:off x="304800" y="3181350"/>
            <a:ext cx="2819400" cy="1733550"/>
          </a:xfrm>
          <a:prstGeom prst="rect">
            <a:avLst/>
          </a:prstGeom>
          <a:solidFill>
            <a:srgbClr val="CC99FF"/>
          </a:solidFill>
          <a:ln>
            <a:noFill/>
          </a:ln>
          <a:effectLst/>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eaLnBrk="0" hangingPunct="0"/>
            <a:r>
              <a:rPr lang="en-US" b="1" dirty="0"/>
              <a:t>SENSING - S</a:t>
            </a:r>
          </a:p>
          <a:p>
            <a:pPr eaLnBrk="0" hangingPunct="0">
              <a:buFont typeface="Wingdings" pitchFamily="2" charset="2"/>
              <a:buChar char="q"/>
            </a:pPr>
            <a:r>
              <a:rPr lang="en-US" dirty="0"/>
              <a:t> Practical</a:t>
            </a:r>
          </a:p>
          <a:p>
            <a:pPr eaLnBrk="0" hangingPunct="0">
              <a:buFont typeface="Wingdings" pitchFamily="2" charset="2"/>
              <a:buChar char="q"/>
            </a:pPr>
            <a:r>
              <a:rPr lang="en-US" dirty="0"/>
              <a:t> Specific</a:t>
            </a:r>
          </a:p>
          <a:p>
            <a:pPr eaLnBrk="0" hangingPunct="0">
              <a:buFont typeface="Wingdings" pitchFamily="2" charset="2"/>
              <a:buChar char="q"/>
            </a:pPr>
            <a:r>
              <a:rPr lang="en-US" dirty="0"/>
              <a:t> Feet on the ground</a:t>
            </a:r>
          </a:p>
          <a:p>
            <a:pPr eaLnBrk="0" hangingPunct="0">
              <a:buFont typeface="Wingdings" pitchFamily="2" charset="2"/>
              <a:buChar char="q"/>
            </a:pPr>
            <a:r>
              <a:rPr lang="en-US" dirty="0"/>
              <a:t> Details</a:t>
            </a:r>
          </a:p>
          <a:p>
            <a:pPr eaLnBrk="0" hangingPunct="0">
              <a:buFont typeface="Wingdings" pitchFamily="2" charset="2"/>
              <a:buChar char="q"/>
            </a:pPr>
            <a:r>
              <a:rPr lang="en-US" dirty="0"/>
              <a:t> Concrete</a:t>
            </a:r>
          </a:p>
        </p:txBody>
      </p:sp>
      <p:sp>
        <p:nvSpPr>
          <p:cNvPr id="6" name="Rectangle 5"/>
          <p:cNvSpPr>
            <a:spLocks noChangeArrowheads="1"/>
          </p:cNvSpPr>
          <p:nvPr/>
        </p:nvSpPr>
        <p:spPr bwMode="auto">
          <a:xfrm>
            <a:off x="3200400" y="3181350"/>
            <a:ext cx="2895600" cy="1733550"/>
          </a:xfrm>
          <a:prstGeom prst="rect">
            <a:avLst/>
          </a:prstGeom>
          <a:solidFill>
            <a:srgbClr val="CC99FF"/>
          </a:solidFill>
          <a:ln>
            <a:noFill/>
          </a:ln>
          <a:effectLst/>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eaLnBrk="0" hangingPunct="0"/>
            <a:r>
              <a:rPr lang="en-US" sz="1600" b="1" dirty="0"/>
              <a:t>INTUITING - N</a:t>
            </a:r>
          </a:p>
          <a:p>
            <a:pPr eaLnBrk="0" hangingPunct="0">
              <a:buFont typeface="Wingdings" pitchFamily="2" charset="2"/>
              <a:buChar char="q"/>
            </a:pPr>
            <a:r>
              <a:rPr lang="en-US" sz="1600" dirty="0"/>
              <a:t> General</a:t>
            </a:r>
          </a:p>
          <a:p>
            <a:pPr eaLnBrk="0" hangingPunct="0">
              <a:buFont typeface="Wingdings" pitchFamily="2" charset="2"/>
              <a:buChar char="q"/>
            </a:pPr>
            <a:r>
              <a:rPr lang="en-US" sz="1600" dirty="0"/>
              <a:t> Abstract</a:t>
            </a:r>
          </a:p>
          <a:p>
            <a:pPr eaLnBrk="0" hangingPunct="0">
              <a:buFont typeface="Wingdings" pitchFamily="2" charset="2"/>
              <a:buChar char="q"/>
            </a:pPr>
            <a:r>
              <a:rPr lang="en-US" sz="1600" dirty="0"/>
              <a:t> Head in the clouds</a:t>
            </a:r>
          </a:p>
          <a:p>
            <a:pPr eaLnBrk="0" hangingPunct="0">
              <a:buFont typeface="Wingdings" pitchFamily="2" charset="2"/>
              <a:buChar char="q"/>
            </a:pPr>
            <a:r>
              <a:rPr lang="en-US" sz="1600" dirty="0"/>
              <a:t> Possibilities</a:t>
            </a:r>
          </a:p>
          <a:p>
            <a:pPr eaLnBrk="0" hangingPunct="0">
              <a:buFont typeface="Wingdings" pitchFamily="2" charset="2"/>
              <a:buChar char="q"/>
            </a:pPr>
            <a:r>
              <a:rPr lang="en-US" sz="1600" dirty="0"/>
              <a:t> Theoretical</a:t>
            </a:r>
          </a:p>
        </p:txBody>
      </p:sp>
      <p:sp>
        <p:nvSpPr>
          <p:cNvPr id="8" name="AutoShape 2" descr="Image result for extraversion vs introver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descr="Image result for MBTI"/>
          <p:cNvPicPr>
            <a:picLocks noChangeAspect="1" noChangeArrowheads="1"/>
          </p:cNvPicPr>
          <p:nvPr/>
        </p:nvPicPr>
        <p:blipFill rotWithShape="1">
          <a:blip r:embed="rId3">
            <a:extLst>
              <a:ext uri="{28A0092B-C50C-407E-A947-70E740481C1C}">
                <a14:useLocalDpi xmlns:a14="http://schemas.microsoft.com/office/drawing/2010/main" val="0"/>
              </a:ext>
            </a:extLst>
          </a:blip>
          <a:srcRect l="1999" t="60572" r="72829" b="5222"/>
          <a:stretch/>
        </p:blipFill>
        <p:spPr bwMode="auto">
          <a:xfrm>
            <a:off x="5791200" y="2616908"/>
            <a:ext cx="3305571" cy="2526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1750691"/>
      </p:ext>
    </p:extLst>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3-Thinking / Feeling </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8</a:t>
            </a:fld>
            <a:endParaRPr lang="en-US"/>
          </a:p>
        </p:txBody>
      </p:sp>
      <p:sp>
        <p:nvSpPr>
          <p:cNvPr id="4" name="Content Placeholder 3"/>
          <p:cNvSpPr>
            <a:spLocks noGrp="1"/>
          </p:cNvSpPr>
          <p:nvPr>
            <p:ph sz="quarter" idx="13"/>
          </p:nvPr>
        </p:nvSpPr>
        <p:spPr>
          <a:xfrm>
            <a:off x="609600" y="1276350"/>
            <a:ext cx="7696200" cy="3276600"/>
          </a:xfrm>
        </p:spPr>
        <p:txBody>
          <a:bodyPr>
            <a:normAutofit/>
          </a:bodyPr>
          <a:lstStyle/>
          <a:p>
            <a:pPr>
              <a:spcBef>
                <a:spcPts val="0"/>
              </a:spcBef>
              <a:buNone/>
              <a:defRPr/>
            </a:pPr>
            <a:r>
              <a:rPr lang="en-US" sz="2000" b="1" i="1" dirty="0"/>
              <a:t>Thinking</a:t>
            </a:r>
            <a:endParaRPr lang="en-US" sz="2000" b="1" dirty="0"/>
          </a:p>
          <a:p>
            <a:pPr>
              <a:spcBef>
                <a:spcPts val="0"/>
              </a:spcBef>
              <a:buNone/>
              <a:defRPr/>
            </a:pPr>
            <a:r>
              <a:rPr lang="en-US" sz="2000" dirty="0">
                <a:effectLst>
                  <a:outerShdw blurRad="38100" dist="38100" dir="2700000" algn="tl">
                    <a:srgbClr val="FFFFFF"/>
                  </a:outerShdw>
                </a:effectLst>
              </a:rPr>
              <a:t>	Making decisions in a logical, objective fashion.</a:t>
            </a:r>
          </a:p>
          <a:p>
            <a:pPr>
              <a:spcBef>
                <a:spcPts val="0"/>
              </a:spcBef>
              <a:buNone/>
              <a:defRPr/>
            </a:pPr>
            <a:r>
              <a:rPr lang="en-US" sz="2000" b="1" i="1" dirty="0">
                <a:effectLst>
                  <a:outerShdw blurRad="38100" dist="38100" dir="2700000" algn="tl">
                    <a:srgbClr val="FFFFFF"/>
                  </a:outerShdw>
                </a:effectLst>
              </a:rPr>
              <a:t>Feeling</a:t>
            </a:r>
            <a:endParaRPr lang="en-US" sz="2000" b="1" dirty="0">
              <a:effectLst>
                <a:outerShdw blurRad="38100" dist="38100" dir="2700000" algn="tl">
                  <a:srgbClr val="FFFFFF"/>
                </a:outerShdw>
              </a:effectLst>
            </a:endParaRPr>
          </a:p>
          <a:p>
            <a:pPr>
              <a:spcBef>
                <a:spcPts val="0"/>
              </a:spcBef>
              <a:buNone/>
              <a:defRPr/>
            </a:pPr>
            <a:r>
              <a:rPr lang="en-US" sz="2000" dirty="0">
                <a:effectLst>
                  <a:outerShdw blurRad="38100" dist="38100" dir="2700000" algn="tl">
                    <a:srgbClr val="FFFFFF"/>
                  </a:outerShdw>
                </a:effectLst>
              </a:rPr>
              <a:t>	Making decisions in a personal, value oriented way.</a:t>
            </a:r>
          </a:p>
        </p:txBody>
      </p:sp>
      <p:sp>
        <p:nvSpPr>
          <p:cNvPr id="5" name="Rectangle 4"/>
          <p:cNvSpPr>
            <a:spLocks noChangeArrowheads="1"/>
          </p:cNvSpPr>
          <p:nvPr/>
        </p:nvSpPr>
        <p:spPr bwMode="auto">
          <a:xfrm>
            <a:off x="304800" y="2952750"/>
            <a:ext cx="2819400" cy="1962150"/>
          </a:xfrm>
          <a:prstGeom prst="rect">
            <a:avLst/>
          </a:prstGeom>
          <a:solidFill>
            <a:srgbClr val="CC99FF"/>
          </a:solidFill>
          <a:ln>
            <a:noFill/>
          </a:ln>
          <a:effectLst/>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eaLnBrk="0" hangingPunct="0"/>
            <a:r>
              <a:rPr lang="en-US" sz="2000" u="sng" dirty="0"/>
              <a:t>THINKING - T</a:t>
            </a:r>
          </a:p>
          <a:p>
            <a:pPr marL="742950" lvl="1" indent="-285750" eaLnBrk="0" hangingPunct="0">
              <a:buFont typeface="Wingdings" pitchFamily="2" charset="2"/>
              <a:buChar char="q"/>
            </a:pPr>
            <a:r>
              <a:rPr lang="en-US" sz="2000" dirty="0"/>
              <a:t>Analytical</a:t>
            </a:r>
          </a:p>
          <a:p>
            <a:pPr marL="742950" lvl="1" indent="-285750" eaLnBrk="0" hangingPunct="0">
              <a:buFont typeface="Wingdings" pitchFamily="2" charset="2"/>
              <a:buChar char="q"/>
            </a:pPr>
            <a:r>
              <a:rPr lang="en-US" sz="2000" dirty="0"/>
              <a:t>Clarity</a:t>
            </a:r>
          </a:p>
          <a:p>
            <a:pPr marL="742950" lvl="1" indent="-285750" eaLnBrk="0" hangingPunct="0">
              <a:buFont typeface="Wingdings" pitchFamily="2" charset="2"/>
              <a:buChar char="q"/>
            </a:pPr>
            <a:r>
              <a:rPr lang="en-US" sz="2000" dirty="0"/>
              <a:t>Head</a:t>
            </a:r>
          </a:p>
          <a:p>
            <a:pPr marL="742950" lvl="1" indent="-285750" eaLnBrk="0" hangingPunct="0">
              <a:buFont typeface="Wingdings" pitchFamily="2" charset="2"/>
              <a:buChar char="q"/>
            </a:pPr>
            <a:r>
              <a:rPr lang="en-US" sz="2000" dirty="0"/>
              <a:t>Justice</a:t>
            </a:r>
          </a:p>
          <a:p>
            <a:pPr marL="742950" lvl="1" indent="-285750" eaLnBrk="0" hangingPunct="0">
              <a:buFont typeface="Wingdings" pitchFamily="2" charset="2"/>
              <a:buChar char="q"/>
            </a:pPr>
            <a:r>
              <a:rPr lang="en-US" sz="2000" dirty="0"/>
              <a:t>Rules</a:t>
            </a:r>
          </a:p>
        </p:txBody>
      </p:sp>
      <p:sp>
        <p:nvSpPr>
          <p:cNvPr id="6" name="Rectangle 5"/>
          <p:cNvSpPr>
            <a:spLocks noChangeArrowheads="1"/>
          </p:cNvSpPr>
          <p:nvPr/>
        </p:nvSpPr>
        <p:spPr bwMode="auto">
          <a:xfrm>
            <a:off x="3200400" y="2952750"/>
            <a:ext cx="2895600" cy="1962150"/>
          </a:xfrm>
          <a:prstGeom prst="rect">
            <a:avLst/>
          </a:prstGeom>
          <a:solidFill>
            <a:srgbClr val="CC99FF"/>
          </a:solidFill>
          <a:ln>
            <a:noFill/>
          </a:ln>
          <a:effectLst/>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eaLnBrk="0" hangingPunct="0"/>
            <a:r>
              <a:rPr lang="en-US" sz="2000" dirty="0"/>
              <a:t> </a:t>
            </a:r>
            <a:r>
              <a:rPr lang="en-US" sz="2000" u="sng" dirty="0"/>
              <a:t>FEELING - F</a:t>
            </a:r>
          </a:p>
          <a:p>
            <a:pPr marL="742950" lvl="1" indent="-285750" eaLnBrk="0" hangingPunct="0">
              <a:buFont typeface="Wingdings" pitchFamily="2" charset="2"/>
              <a:buChar char="q"/>
            </a:pPr>
            <a:r>
              <a:rPr lang="en-US" sz="2000" dirty="0"/>
              <a:t>Subjective</a:t>
            </a:r>
          </a:p>
          <a:p>
            <a:pPr marL="742950" lvl="1" indent="-285750" eaLnBrk="0" hangingPunct="0">
              <a:buFont typeface="Wingdings" pitchFamily="2" charset="2"/>
              <a:buChar char="q"/>
            </a:pPr>
            <a:r>
              <a:rPr lang="en-US" sz="2000" dirty="0"/>
              <a:t>Harmony</a:t>
            </a:r>
          </a:p>
          <a:p>
            <a:pPr marL="742950" lvl="1" indent="-285750" eaLnBrk="0" hangingPunct="0">
              <a:buFont typeface="Wingdings" pitchFamily="2" charset="2"/>
              <a:buChar char="q"/>
            </a:pPr>
            <a:r>
              <a:rPr lang="en-US" sz="2000" dirty="0"/>
              <a:t>Heart</a:t>
            </a:r>
          </a:p>
          <a:p>
            <a:pPr marL="742950" lvl="1" indent="-285750" eaLnBrk="0" hangingPunct="0">
              <a:buFont typeface="Wingdings" pitchFamily="2" charset="2"/>
              <a:buChar char="q"/>
            </a:pPr>
            <a:r>
              <a:rPr lang="en-US" sz="2000" dirty="0"/>
              <a:t>Mercy</a:t>
            </a:r>
          </a:p>
          <a:p>
            <a:pPr marL="742950" lvl="1" indent="-285750" eaLnBrk="0" hangingPunct="0">
              <a:buFont typeface="Wingdings" pitchFamily="2" charset="2"/>
              <a:buChar char="q"/>
            </a:pPr>
            <a:r>
              <a:rPr lang="en-US" sz="2000" dirty="0"/>
              <a:t>Circumstances</a:t>
            </a:r>
          </a:p>
        </p:txBody>
      </p:sp>
      <p:sp>
        <p:nvSpPr>
          <p:cNvPr id="8" name="AutoShape 2" descr="Image result for extraversion vs introver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2" descr="Image result for MBTI"/>
          <p:cNvPicPr>
            <a:picLocks noChangeAspect="1" noChangeArrowheads="1"/>
          </p:cNvPicPr>
          <p:nvPr/>
        </p:nvPicPr>
        <p:blipFill rotWithShape="1">
          <a:blip r:embed="rId3">
            <a:extLst>
              <a:ext uri="{28A0092B-C50C-407E-A947-70E740481C1C}">
                <a14:useLocalDpi xmlns:a14="http://schemas.microsoft.com/office/drawing/2010/main" val="0"/>
              </a:ext>
            </a:extLst>
          </a:blip>
          <a:srcRect l="72996" t="24539" r="2035" b="43301"/>
          <a:stretch/>
        </p:blipFill>
        <p:spPr bwMode="auto">
          <a:xfrm>
            <a:off x="5591461" y="2571751"/>
            <a:ext cx="3560159" cy="257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286576"/>
      </p:ext>
    </p:extLst>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4-Judging / Perceiving</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9</a:t>
            </a:fld>
            <a:endParaRPr lang="en-US"/>
          </a:p>
        </p:txBody>
      </p:sp>
      <p:sp>
        <p:nvSpPr>
          <p:cNvPr id="4" name="Content Placeholder 3"/>
          <p:cNvSpPr>
            <a:spLocks noGrp="1"/>
          </p:cNvSpPr>
          <p:nvPr>
            <p:ph sz="quarter" idx="13"/>
          </p:nvPr>
        </p:nvSpPr>
        <p:spPr>
          <a:xfrm>
            <a:off x="609600" y="1276350"/>
            <a:ext cx="7696200" cy="3276600"/>
          </a:xfrm>
        </p:spPr>
        <p:txBody>
          <a:bodyPr>
            <a:normAutofit/>
          </a:bodyPr>
          <a:lstStyle/>
          <a:p>
            <a:pPr>
              <a:lnSpc>
                <a:spcPct val="80000"/>
              </a:lnSpc>
              <a:buNone/>
              <a:defRPr/>
            </a:pPr>
            <a:r>
              <a:rPr lang="en-US" sz="2000" b="1" i="1" dirty="0">
                <a:effectLst>
                  <a:outerShdw blurRad="38100" dist="38100" dir="2700000" algn="tl">
                    <a:srgbClr val="FFFFFF"/>
                  </a:outerShdw>
                </a:effectLst>
              </a:rPr>
              <a:t>Judging</a:t>
            </a:r>
            <a:endParaRPr lang="en-US" sz="2000" b="1" dirty="0">
              <a:effectLst>
                <a:outerShdw blurRad="38100" dist="38100" dir="2700000" algn="tl">
                  <a:srgbClr val="FFFFFF"/>
                </a:outerShdw>
              </a:effectLst>
            </a:endParaRPr>
          </a:p>
          <a:p>
            <a:pPr>
              <a:lnSpc>
                <a:spcPct val="80000"/>
              </a:lnSpc>
              <a:buNone/>
              <a:defRPr/>
            </a:pPr>
            <a:r>
              <a:rPr lang="en-US" sz="2000" dirty="0">
                <a:effectLst>
                  <a:outerShdw blurRad="38100" dist="38100" dir="2700000" algn="tl">
                    <a:srgbClr val="FFFFFF"/>
                  </a:outerShdw>
                </a:effectLst>
              </a:rPr>
              <a:t>	Preferring closure and completion in making decisions.</a:t>
            </a:r>
          </a:p>
          <a:p>
            <a:pPr>
              <a:lnSpc>
                <a:spcPct val="80000"/>
              </a:lnSpc>
              <a:buNone/>
              <a:defRPr/>
            </a:pPr>
            <a:r>
              <a:rPr lang="en-US" sz="2000" b="1" i="1" dirty="0">
                <a:effectLst>
                  <a:outerShdw blurRad="38100" dist="38100" dir="2700000" algn="tl">
                    <a:srgbClr val="FFFFFF"/>
                  </a:outerShdw>
                </a:effectLst>
              </a:rPr>
              <a:t>Perceiving</a:t>
            </a:r>
            <a:endParaRPr lang="en-US" sz="2000" b="1" dirty="0">
              <a:effectLst>
                <a:outerShdw blurRad="38100" dist="38100" dir="2700000" algn="tl">
                  <a:srgbClr val="FFFFFF"/>
                </a:outerShdw>
              </a:effectLst>
            </a:endParaRPr>
          </a:p>
          <a:p>
            <a:pPr>
              <a:lnSpc>
                <a:spcPct val="80000"/>
              </a:lnSpc>
              <a:buNone/>
              <a:defRPr/>
            </a:pPr>
            <a:r>
              <a:rPr lang="en-US" sz="2000" dirty="0">
                <a:effectLst>
                  <a:outerShdw blurRad="38100" dist="38100" dir="2700000" algn="tl">
                    <a:srgbClr val="FFFFFF"/>
                  </a:outerShdw>
                </a:effectLst>
              </a:rPr>
              <a:t>	Preferring to explore many alternatives and flexibility.</a:t>
            </a:r>
          </a:p>
        </p:txBody>
      </p:sp>
      <p:sp>
        <p:nvSpPr>
          <p:cNvPr id="5" name="Rectangle 4"/>
          <p:cNvSpPr>
            <a:spLocks noChangeArrowheads="1"/>
          </p:cNvSpPr>
          <p:nvPr/>
        </p:nvSpPr>
        <p:spPr bwMode="auto">
          <a:xfrm>
            <a:off x="304800" y="2800350"/>
            <a:ext cx="2819400" cy="2114550"/>
          </a:xfrm>
          <a:prstGeom prst="rect">
            <a:avLst/>
          </a:prstGeom>
          <a:solidFill>
            <a:srgbClr val="CC99FF"/>
          </a:solidFill>
          <a:ln>
            <a:noFill/>
          </a:ln>
          <a:effectLst/>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eaLnBrk="0" hangingPunct="0"/>
            <a:r>
              <a:rPr lang="en-US" sz="2000" dirty="0"/>
              <a:t> </a:t>
            </a:r>
            <a:r>
              <a:rPr lang="en-US" sz="2000" u="sng" dirty="0"/>
              <a:t>JUDGING - J</a:t>
            </a:r>
          </a:p>
          <a:p>
            <a:pPr marL="742950" lvl="1" indent="-285750" eaLnBrk="0" hangingPunct="0">
              <a:buFont typeface="Wingdings" pitchFamily="2" charset="2"/>
              <a:buChar char="q"/>
            </a:pPr>
            <a:r>
              <a:rPr lang="en-US" sz="2000" dirty="0"/>
              <a:t>Structured</a:t>
            </a:r>
          </a:p>
          <a:p>
            <a:pPr marL="742950" lvl="1" indent="-285750" eaLnBrk="0" hangingPunct="0">
              <a:buFont typeface="Wingdings" pitchFamily="2" charset="2"/>
              <a:buChar char="q"/>
            </a:pPr>
            <a:r>
              <a:rPr lang="en-US" sz="2000" dirty="0"/>
              <a:t>Time Oriented</a:t>
            </a:r>
          </a:p>
          <a:p>
            <a:pPr marL="742950" lvl="1" indent="-285750" eaLnBrk="0" hangingPunct="0">
              <a:buFont typeface="Wingdings" pitchFamily="2" charset="2"/>
              <a:buChar char="q"/>
            </a:pPr>
            <a:r>
              <a:rPr lang="en-US" sz="2000" dirty="0"/>
              <a:t>Decisive</a:t>
            </a:r>
          </a:p>
          <a:p>
            <a:pPr marL="742950" lvl="1" indent="-285750" eaLnBrk="0" hangingPunct="0">
              <a:buFont typeface="Wingdings" pitchFamily="2" charset="2"/>
              <a:buChar char="q"/>
            </a:pPr>
            <a:r>
              <a:rPr lang="en-US" sz="2000" dirty="0"/>
              <a:t>Makes lists/</a:t>
            </a:r>
          </a:p>
          <a:p>
            <a:pPr marL="742950" lvl="1" indent="-285750" eaLnBrk="0" hangingPunct="0">
              <a:buFont typeface="Wingdings" pitchFamily="2" charset="2"/>
              <a:buNone/>
            </a:pPr>
            <a:r>
              <a:rPr lang="en-US" sz="2000" dirty="0"/>
              <a:t> uses them</a:t>
            </a:r>
          </a:p>
          <a:p>
            <a:pPr marL="742950" lvl="1" indent="-285750" eaLnBrk="0" hangingPunct="0">
              <a:buFont typeface="Wingdings" pitchFamily="2" charset="2"/>
              <a:buChar char="q"/>
            </a:pPr>
            <a:r>
              <a:rPr lang="en-US" sz="2000" dirty="0"/>
              <a:t>Organized</a:t>
            </a:r>
          </a:p>
        </p:txBody>
      </p:sp>
      <p:sp>
        <p:nvSpPr>
          <p:cNvPr id="6" name="Rectangle 5"/>
          <p:cNvSpPr>
            <a:spLocks noChangeArrowheads="1"/>
          </p:cNvSpPr>
          <p:nvPr/>
        </p:nvSpPr>
        <p:spPr bwMode="auto">
          <a:xfrm>
            <a:off x="3200400" y="2800350"/>
            <a:ext cx="2895600" cy="2114550"/>
          </a:xfrm>
          <a:prstGeom prst="rect">
            <a:avLst/>
          </a:prstGeom>
          <a:solidFill>
            <a:srgbClr val="CC99FF"/>
          </a:solidFill>
          <a:ln>
            <a:noFill/>
          </a:ln>
          <a:effectLst/>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eaLnBrk="0" hangingPunct="0"/>
            <a:r>
              <a:rPr lang="en-US" sz="2000" u="sng" dirty="0"/>
              <a:t>PERCEIVING - P</a:t>
            </a:r>
            <a:endParaRPr lang="en-US" sz="2000" dirty="0"/>
          </a:p>
          <a:p>
            <a:pPr marL="742950" lvl="1" indent="-285750" eaLnBrk="0" hangingPunct="0">
              <a:buFont typeface="Wingdings" pitchFamily="2" charset="2"/>
              <a:buChar char="q"/>
            </a:pPr>
            <a:r>
              <a:rPr lang="en-US" sz="2000" dirty="0"/>
              <a:t>Flexible</a:t>
            </a:r>
          </a:p>
          <a:p>
            <a:pPr marL="742950" lvl="1" indent="-285750" eaLnBrk="0" hangingPunct="0">
              <a:buFont typeface="Wingdings" pitchFamily="2" charset="2"/>
              <a:buChar char="q"/>
            </a:pPr>
            <a:r>
              <a:rPr lang="en-US" sz="2000" dirty="0"/>
              <a:t>Open ended</a:t>
            </a:r>
          </a:p>
          <a:p>
            <a:pPr marL="742950" lvl="1" indent="-285750" eaLnBrk="0" hangingPunct="0">
              <a:buFont typeface="Wingdings" pitchFamily="2" charset="2"/>
              <a:buChar char="q"/>
            </a:pPr>
            <a:r>
              <a:rPr lang="en-US" sz="2000" dirty="0"/>
              <a:t>Exploring</a:t>
            </a:r>
          </a:p>
          <a:p>
            <a:pPr marL="742950" lvl="1" indent="-285750" eaLnBrk="0" hangingPunct="0">
              <a:buFont typeface="Wingdings" pitchFamily="2" charset="2"/>
              <a:buChar char="q"/>
            </a:pPr>
            <a:r>
              <a:rPr lang="en-US" sz="2000" dirty="0"/>
              <a:t>Makes lists/</a:t>
            </a:r>
          </a:p>
          <a:p>
            <a:pPr marL="742950" lvl="1" indent="-285750" eaLnBrk="0" hangingPunct="0">
              <a:buFont typeface="Wingdings" pitchFamily="2" charset="2"/>
              <a:buNone/>
            </a:pPr>
            <a:r>
              <a:rPr lang="en-US" sz="2000" dirty="0"/>
              <a:t>	loses them</a:t>
            </a:r>
          </a:p>
          <a:p>
            <a:pPr marL="742950" lvl="1" indent="-285750" eaLnBrk="0" hangingPunct="0">
              <a:buFont typeface="Wingdings" pitchFamily="2" charset="2"/>
              <a:buChar char="q"/>
            </a:pPr>
            <a:r>
              <a:rPr lang="en-US" sz="2000" dirty="0"/>
              <a:t>Spontaneous</a:t>
            </a:r>
          </a:p>
        </p:txBody>
      </p:sp>
      <p:sp>
        <p:nvSpPr>
          <p:cNvPr id="8" name="AutoShape 2" descr="Image result for extraversion vs introver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descr="Image result for MBTI"/>
          <p:cNvPicPr>
            <a:picLocks noChangeAspect="1" noChangeArrowheads="1"/>
          </p:cNvPicPr>
          <p:nvPr/>
        </p:nvPicPr>
        <p:blipFill rotWithShape="1">
          <a:blip r:embed="rId3">
            <a:extLst>
              <a:ext uri="{28A0092B-C50C-407E-A947-70E740481C1C}">
                <a14:useLocalDpi xmlns:a14="http://schemas.microsoft.com/office/drawing/2010/main" val="0"/>
              </a:ext>
            </a:extLst>
          </a:blip>
          <a:srcRect l="72849" t="62661" r="1742" b="5222"/>
          <a:stretch/>
        </p:blipFill>
        <p:spPr bwMode="auto">
          <a:xfrm>
            <a:off x="5633998" y="2647950"/>
            <a:ext cx="3510001" cy="249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707544"/>
      </p:ext>
    </p:extLst>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lnSpcReduction="10000"/>
          </a:bodyPr>
          <a:lstStyle/>
          <a:p>
            <a:fld id="{A3F7CB7D-F184-43C7-B6FD-03D728E1BBFF}" type="slidenum">
              <a:rPr lang="en-US" smtClean="0">
                <a:solidFill>
                  <a:schemeClr val="tx2"/>
                </a:solidFill>
              </a:rPr>
              <a:pPr/>
              <a:t>10</a:t>
            </a:fld>
            <a:endParaRPr lang="en-US" dirty="0">
              <a:solidFill>
                <a:schemeClr val="tx2"/>
              </a:solidFill>
            </a:endParaRPr>
          </a:p>
        </p:txBody>
      </p:sp>
      <p:pic>
        <p:nvPicPr>
          <p:cNvPr id="3" name="Picture 2" descr="Image result for MBTI"/>
          <p:cNvPicPr>
            <a:picLocks noChangeAspect="1" noChangeArrowheads="1"/>
          </p:cNvPicPr>
          <p:nvPr/>
        </p:nvPicPr>
        <p:blipFill rotWithShape="1">
          <a:blip r:embed="rId3">
            <a:extLst>
              <a:ext uri="{28A0092B-C50C-407E-A947-70E740481C1C}">
                <a14:useLocalDpi xmlns:a14="http://schemas.microsoft.com/office/drawing/2010/main" val="0"/>
              </a:ext>
            </a:extLst>
          </a:blip>
          <a:srcRect l="28037" t="22634" r="28662" b="2600"/>
          <a:stretch/>
        </p:blipFill>
        <p:spPr bwMode="auto">
          <a:xfrm>
            <a:off x="457200" y="60267"/>
            <a:ext cx="7391400" cy="5102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9410958"/>
      </p:ext>
    </p:extLst>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1026"/>
          <p:cNvSpPr>
            <a:spLocks noGrp="1" noChangeArrowheads="1"/>
          </p:cNvSpPr>
          <p:nvPr>
            <p:ph type="title"/>
          </p:nvPr>
        </p:nvSpPr>
        <p:spPr/>
        <p:txBody>
          <a:bodyPr/>
          <a:lstStyle/>
          <a:p>
            <a:pPr eaLnBrk="1" hangingPunct="1">
              <a:defRPr/>
            </a:pPr>
            <a:r>
              <a:rPr lang="en-US"/>
              <a:t>Meyers-Briggs, Continued</a:t>
            </a:r>
          </a:p>
        </p:txBody>
      </p:sp>
      <p:sp>
        <p:nvSpPr>
          <p:cNvPr id="10244" name="Rectangle 1027"/>
          <p:cNvSpPr>
            <a:spLocks noGrp="1" noChangeArrowheads="1"/>
          </p:cNvSpPr>
          <p:nvPr>
            <p:ph sz="quarter" idx="13"/>
          </p:nvPr>
        </p:nvSpPr>
        <p:spPr>
          <a:ln>
            <a:noFill/>
            <a:miter lim="800000"/>
            <a:headEnd/>
            <a:tailEnd/>
          </a:ln>
        </p:spPr>
        <p:txBody>
          <a:bodyPr>
            <a:normAutofit/>
          </a:bodyPr>
          <a:lstStyle/>
          <a:p>
            <a:pPr eaLnBrk="1" hangingPunct="1">
              <a:buFont typeface="Wingdings" pitchFamily="2" charset="2"/>
              <a:buNone/>
            </a:pPr>
            <a:r>
              <a:rPr lang="en-US" dirty="0"/>
              <a:t>A Meyers-Briggs score</a:t>
            </a:r>
          </a:p>
          <a:p>
            <a:pPr lvl="1" eaLnBrk="1" hangingPunct="1"/>
            <a:r>
              <a:rPr lang="en-US" dirty="0"/>
              <a:t>Can be a valuable too for self-awareness and career guidance.</a:t>
            </a:r>
          </a:p>
          <a:p>
            <a:pPr eaLnBrk="1" hangingPunct="1">
              <a:buFont typeface="Wingdings" pitchFamily="2" charset="2"/>
              <a:buNone/>
            </a:pPr>
            <a:r>
              <a:rPr lang="en-US" sz="3200" dirty="0"/>
              <a:t>BUT</a:t>
            </a:r>
          </a:p>
          <a:p>
            <a:pPr lvl="1" eaLnBrk="1" hangingPunct="1"/>
            <a:r>
              <a:rPr lang="en-US" u="sng" dirty="0"/>
              <a:t>Should not</a:t>
            </a:r>
            <a:r>
              <a:rPr lang="en-US" dirty="0"/>
              <a:t> be used as a selection tool because it has not been related to job performance!!!  </a:t>
            </a:r>
          </a:p>
        </p:txBody>
      </p:sp>
    </p:spTree>
    <p:extLst>
      <p:ext uri="{BB962C8B-B14F-4D97-AF65-F5344CB8AC3E}">
        <p14:creationId xmlns:p14="http://schemas.microsoft.com/office/powerpoint/2010/main" val="2011938333"/>
      </p:ext>
    </p:extLst>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Personality Theories / Model</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12</a:t>
            </a:fld>
            <a:endParaRPr lang="en-US"/>
          </a:p>
        </p:txBody>
      </p:sp>
      <p:sp>
        <p:nvSpPr>
          <p:cNvPr id="6" name="TextBox 5"/>
          <p:cNvSpPr txBox="1"/>
          <p:nvPr/>
        </p:nvSpPr>
        <p:spPr>
          <a:xfrm>
            <a:off x="7239000" y="2190750"/>
            <a:ext cx="1752600" cy="1200329"/>
          </a:xfrm>
          <a:prstGeom prst="rect">
            <a:avLst/>
          </a:prstGeom>
          <a:noFill/>
        </p:spPr>
        <p:txBody>
          <a:bodyPr wrap="square" rtlCol="0">
            <a:spAutoFit/>
          </a:bodyPr>
          <a:lstStyle/>
          <a:p>
            <a:r>
              <a:rPr lang="en-US" sz="2400" dirty="0"/>
              <a:t>Big Five Personality Traits Model</a:t>
            </a:r>
          </a:p>
        </p:txBody>
      </p:sp>
      <p:sp>
        <p:nvSpPr>
          <p:cNvPr id="2" name="AutoShape 4" descr="Image result for big five personality trait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1299210"/>
            <a:ext cx="4153401" cy="3769839"/>
          </a:xfrm>
          <a:prstGeom prst="rect">
            <a:avLst/>
          </a:prstGeom>
        </p:spPr>
      </p:pic>
    </p:spTree>
    <p:extLst>
      <p:ext uri="{BB962C8B-B14F-4D97-AF65-F5344CB8AC3E}">
        <p14:creationId xmlns:p14="http://schemas.microsoft.com/office/powerpoint/2010/main" val="2308141554"/>
      </p:ext>
    </p:extLst>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a:t>Big 5 Personality Traits</a:t>
            </a:r>
          </a:p>
        </p:txBody>
      </p:sp>
      <p:sp>
        <p:nvSpPr>
          <p:cNvPr id="18439" name="Slide Number Placeholder 4"/>
          <p:cNvSpPr>
            <a:spLocks noGrp="1"/>
          </p:cNvSpPr>
          <p:nvPr>
            <p:ph type="sldNum" sz="quarter" idx="12"/>
          </p:nvPr>
        </p:nvSpPr>
        <p:spPr bwMode="auto">
          <a:ln>
            <a:miter lim="800000"/>
            <a:headEnd/>
            <a:tailEnd/>
          </a:ln>
        </p:spPr>
        <p:txBody>
          <a:bodyPr wrap="square" numCol="1" anchorCtr="0" compatLnSpc="1">
            <a:prstTxWarp prst="textNoShape">
              <a:avLst/>
            </a:prstTxWarp>
            <a:normAutofit fontScale="47500" lnSpcReduction="20000"/>
          </a:bodyPr>
          <a:lstStyle/>
          <a:p>
            <a:pPr fontAlgn="base">
              <a:spcBef>
                <a:spcPct val="0"/>
              </a:spcBef>
              <a:spcAft>
                <a:spcPct val="0"/>
              </a:spcAft>
              <a:defRPr/>
            </a:pPr>
            <a:fld id="{07941906-797A-4052-81CB-CEDE67383A55}" type="slidenum">
              <a:rPr lang="en-US" smtClean="0"/>
              <a:pPr fontAlgn="base">
                <a:spcBef>
                  <a:spcPct val="0"/>
                </a:spcBef>
                <a:spcAft>
                  <a:spcPct val="0"/>
                </a:spcAft>
                <a:defRPr/>
              </a:pPr>
              <a:t>13</a:t>
            </a:fld>
            <a:endParaRPr lang="en-US"/>
          </a:p>
        </p:txBody>
      </p:sp>
      <p:sp>
        <p:nvSpPr>
          <p:cNvPr id="17412" name="Content Placeholder 7"/>
          <p:cNvSpPr>
            <a:spLocks noGrp="1"/>
          </p:cNvSpPr>
          <p:nvPr>
            <p:ph sz="quarter" idx="13"/>
          </p:nvPr>
        </p:nvSpPr>
        <p:spPr/>
        <p:txBody>
          <a:bodyPr>
            <a:normAutofit fontScale="70000" lnSpcReduction="20000"/>
          </a:bodyPr>
          <a:lstStyle/>
          <a:p>
            <a:pPr marL="457200" indent="-457200">
              <a:buFont typeface="Calibri" pitchFamily="34" charset="0"/>
              <a:buAutoNum type="arabicPeriod"/>
            </a:pPr>
            <a:r>
              <a:rPr lang="en-US" sz="2400" b="1" i="1" dirty="0"/>
              <a:t>Emotional</a:t>
            </a:r>
            <a:r>
              <a:rPr lang="en-US" sz="2400" b="1" dirty="0"/>
              <a:t> </a:t>
            </a:r>
            <a:r>
              <a:rPr lang="en-US" sz="2400" b="1" i="1" dirty="0"/>
              <a:t>stability</a:t>
            </a:r>
            <a:r>
              <a:rPr lang="en-US" sz="2400" b="1" dirty="0"/>
              <a:t> </a:t>
            </a:r>
            <a:r>
              <a:rPr lang="en-US" sz="2400" dirty="0"/>
              <a:t>= the degree to which a person is calm, enthusiastic, and secure, rather than tense, nervous, depressed, moody, or insecure.</a:t>
            </a:r>
            <a:endParaRPr lang="en-US" sz="2400" b="1" i="1" dirty="0"/>
          </a:p>
          <a:p>
            <a:pPr marL="457200" indent="-457200" eaLnBrk="1">
              <a:buFont typeface="Calibri" pitchFamily="34" charset="0"/>
              <a:buAutoNum type="arabicPeriod"/>
            </a:pPr>
            <a:r>
              <a:rPr lang="en-US" sz="2400" b="1" i="1" dirty="0"/>
              <a:t>Extroversion</a:t>
            </a:r>
            <a:r>
              <a:rPr lang="en-US" sz="2400" dirty="0"/>
              <a:t> = the degree to which a person is sociable, talkative, assertive, and comfortable with interpersonal relationships.</a:t>
            </a:r>
          </a:p>
          <a:p>
            <a:pPr marL="457200" indent="-457200">
              <a:buFont typeface="Calibri" pitchFamily="34" charset="0"/>
              <a:buAutoNum type="arabicPeriod"/>
            </a:pPr>
            <a:r>
              <a:rPr lang="en-US" sz="2400" b="1" i="1" dirty="0"/>
              <a:t>Conscientiousness</a:t>
            </a:r>
            <a:r>
              <a:rPr lang="en-US" sz="2400" dirty="0"/>
              <a:t> = the degree to which a person is focused on a few goals, thus behaving in ways that are responsible, dependable, persistent, and achievement oriented.</a:t>
            </a:r>
          </a:p>
          <a:p>
            <a:pPr marL="457200" indent="-457200" eaLnBrk="1">
              <a:buFont typeface="Calibri" pitchFamily="34" charset="0"/>
              <a:buAutoNum type="arabicPeriod"/>
            </a:pPr>
            <a:r>
              <a:rPr lang="en-US" sz="2400" b="1" i="1" dirty="0"/>
              <a:t>Agreeableness</a:t>
            </a:r>
            <a:r>
              <a:rPr lang="en-US" sz="2400" dirty="0"/>
              <a:t> = the degree to which a person is able to get along with others by being good-natured, cooperative, forgiving, understanding, and trusting.</a:t>
            </a:r>
          </a:p>
          <a:p>
            <a:pPr marL="457200" indent="-457200" eaLnBrk="1">
              <a:buFont typeface="Calibri" pitchFamily="34" charset="0"/>
              <a:buAutoNum type="arabicPeriod"/>
            </a:pPr>
            <a:r>
              <a:rPr lang="en-US" sz="2400" b="1" i="1" dirty="0"/>
              <a:t>Openness to experience</a:t>
            </a:r>
            <a:r>
              <a:rPr lang="en-US" sz="2400" dirty="0"/>
              <a:t> = the degree to which a person has a broad range of interests and is imaginative, creative, artistically sensitive, and willing to consider new ideas.  </a:t>
            </a:r>
          </a:p>
        </p:txBody>
      </p:sp>
    </p:spTree>
    <p:extLst>
      <p:ext uri="{BB962C8B-B14F-4D97-AF65-F5344CB8AC3E}">
        <p14:creationId xmlns:p14="http://schemas.microsoft.com/office/powerpoint/2010/main" val="207359572"/>
      </p:ext>
    </p:extLst>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6553200" y="4686300"/>
            <a:ext cx="19050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r"/>
            <a:endParaRPr lang="en-US" sz="1400">
              <a:latin typeface="Arial" charset="0"/>
            </a:endParaRPr>
          </a:p>
        </p:txBody>
      </p:sp>
      <p:sp>
        <p:nvSpPr>
          <p:cNvPr id="8195" name="Rectangle 3"/>
          <p:cNvSpPr>
            <a:spLocks noChangeArrowheads="1"/>
          </p:cNvSpPr>
          <p:nvPr/>
        </p:nvSpPr>
        <p:spPr bwMode="auto">
          <a:xfrm>
            <a:off x="3124200" y="4686300"/>
            <a:ext cx="2895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endParaRPr lang="en-US" sz="1400">
              <a:latin typeface="Arial" charset="0"/>
            </a:endParaRPr>
          </a:p>
        </p:txBody>
      </p:sp>
      <p:sp>
        <p:nvSpPr>
          <p:cNvPr id="8196" name="Rectangle 4"/>
          <p:cNvSpPr>
            <a:spLocks noGrp="1" noChangeArrowheads="1"/>
          </p:cNvSpPr>
          <p:nvPr>
            <p:ph type="title"/>
          </p:nvPr>
        </p:nvSpPr>
        <p:spPr>
          <a:noFill/>
          <a:ln/>
        </p:spPr>
        <p:txBody>
          <a:bodyPr>
            <a:normAutofit fontScale="90000"/>
          </a:bodyPr>
          <a:lstStyle/>
          <a:p>
            <a:r>
              <a:rPr lang="en-US" sz="3600" b="1" dirty="0"/>
              <a:t>The “Big Five” Personality Factors*</a:t>
            </a:r>
            <a:br>
              <a:rPr lang="en-US" sz="2800" b="1" dirty="0"/>
            </a:br>
            <a:r>
              <a:rPr lang="en-US" sz="2000" dirty="0"/>
              <a:t>(Each factor is a </a:t>
            </a:r>
            <a:r>
              <a:rPr lang="en-US" sz="2000" u="sng" dirty="0"/>
              <a:t>continuum</a:t>
            </a:r>
            <a:r>
              <a:rPr lang="en-US" sz="2000" dirty="0"/>
              <a:t> of </a:t>
            </a:r>
            <a:r>
              <a:rPr lang="en-US" sz="2000" u="sng" dirty="0"/>
              <a:t>many</a:t>
            </a:r>
            <a:r>
              <a:rPr lang="en-US" sz="2000" dirty="0"/>
              <a:t> related traits)</a:t>
            </a:r>
            <a:r>
              <a:rPr lang="en-US" sz="2800" b="1" dirty="0"/>
              <a:t> </a:t>
            </a:r>
          </a:p>
        </p:txBody>
      </p:sp>
      <p:sp>
        <p:nvSpPr>
          <p:cNvPr id="8197" name="Line 5"/>
          <p:cNvSpPr>
            <a:spLocks noChangeShapeType="1"/>
          </p:cNvSpPr>
          <p:nvPr/>
        </p:nvSpPr>
        <p:spPr bwMode="auto">
          <a:xfrm>
            <a:off x="1243013" y="1600200"/>
            <a:ext cx="6426200" cy="0"/>
          </a:xfrm>
          <a:prstGeom prst="line">
            <a:avLst/>
          </a:prstGeom>
          <a:noFill/>
          <a:ln w="508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8" name="Line 6"/>
          <p:cNvSpPr>
            <a:spLocks noChangeShapeType="1"/>
          </p:cNvSpPr>
          <p:nvPr/>
        </p:nvSpPr>
        <p:spPr bwMode="auto">
          <a:xfrm>
            <a:off x="1243013" y="2228850"/>
            <a:ext cx="6426200" cy="0"/>
          </a:xfrm>
          <a:prstGeom prst="line">
            <a:avLst/>
          </a:prstGeom>
          <a:noFill/>
          <a:ln w="508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9" name="Line 7"/>
          <p:cNvSpPr>
            <a:spLocks noChangeShapeType="1"/>
          </p:cNvSpPr>
          <p:nvPr/>
        </p:nvSpPr>
        <p:spPr bwMode="auto">
          <a:xfrm>
            <a:off x="1243013" y="2914650"/>
            <a:ext cx="6426200" cy="0"/>
          </a:xfrm>
          <a:prstGeom prst="line">
            <a:avLst/>
          </a:prstGeom>
          <a:noFill/>
          <a:ln w="508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0" name="Line 8"/>
          <p:cNvSpPr>
            <a:spLocks noChangeShapeType="1"/>
          </p:cNvSpPr>
          <p:nvPr/>
        </p:nvSpPr>
        <p:spPr bwMode="auto">
          <a:xfrm>
            <a:off x="1243013" y="3486150"/>
            <a:ext cx="6426200" cy="0"/>
          </a:xfrm>
          <a:prstGeom prst="line">
            <a:avLst/>
          </a:prstGeom>
          <a:noFill/>
          <a:ln w="508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1" name="Line 9"/>
          <p:cNvSpPr>
            <a:spLocks noChangeShapeType="1"/>
          </p:cNvSpPr>
          <p:nvPr/>
        </p:nvSpPr>
        <p:spPr bwMode="auto">
          <a:xfrm>
            <a:off x="1243013" y="4057650"/>
            <a:ext cx="6426200" cy="0"/>
          </a:xfrm>
          <a:prstGeom prst="line">
            <a:avLst/>
          </a:prstGeom>
          <a:noFill/>
          <a:ln w="508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2" name="Rectangle 10"/>
          <p:cNvSpPr>
            <a:spLocks noChangeArrowheads="1"/>
          </p:cNvSpPr>
          <p:nvPr/>
        </p:nvSpPr>
        <p:spPr bwMode="auto">
          <a:xfrm>
            <a:off x="3327401" y="3133725"/>
            <a:ext cx="230981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r>
              <a:rPr lang="en-US" b="1"/>
              <a:t>Agreeableness</a:t>
            </a:r>
          </a:p>
        </p:txBody>
      </p:sp>
      <p:sp>
        <p:nvSpPr>
          <p:cNvPr id="8203" name="Rectangle 11"/>
          <p:cNvSpPr>
            <a:spLocks noChangeArrowheads="1"/>
          </p:cNvSpPr>
          <p:nvPr/>
        </p:nvSpPr>
        <p:spPr bwMode="auto">
          <a:xfrm flipV="1">
            <a:off x="304800" y="4800601"/>
            <a:ext cx="62388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sz="1200" b="1"/>
              <a:t>          </a:t>
            </a:r>
          </a:p>
        </p:txBody>
      </p:sp>
      <p:sp>
        <p:nvSpPr>
          <p:cNvPr id="8204" name="Rectangle 12"/>
          <p:cNvSpPr>
            <a:spLocks noChangeArrowheads="1"/>
          </p:cNvSpPr>
          <p:nvPr/>
        </p:nvSpPr>
        <p:spPr bwMode="auto">
          <a:xfrm>
            <a:off x="2784525" y="1247775"/>
            <a:ext cx="327333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b="1" dirty="0"/>
              <a:t>Emotional Stability (Adjustment)</a:t>
            </a:r>
          </a:p>
        </p:txBody>
      </p:sp>
      <p:sp>
        <p:nvSpPr>
          <p:cNvPr id="8205" name="Rectangle 13"/>
          <p:cNvSpPr>
            <a:spLocks noChangeArrowheads="1"/>
          </p:cNvSpPr>
          <p:nvPr/>
        </p:nvSpPr>
        <p:spPr bwMode="auto">
          <a:xfrm>
            <a:off x="1128714" y="1619250"/>
            <a:ext cx="675146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400" b="1"/>
              <a:t>(Stable, confident, effective)                                           (Nervous, self-doubting, moody)</a:t>
            </a:r>
          </a:p>
        </p:txBody>
      </p:sp>
      <p:sp>
        <p:nvSpPr>
          <p:cNvPr id="8206" name="Rectangle 14"/>
          <p:cNvSpPr>
            <a:spLocks noChangeArrowheads="1"/>
          </p:cNvSpPr>
          <p:nvPr/>
        </p:nvSpPr>
        <p:spPr bwMode="auto">
          <a:xfrm>
            <a:off x="3202610" y="1876425"/>
            <a:ext cx="243874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b="1" i="1" dirty="0"/>
              <a:t>Extroversion (</a:t>
            </a:r>
            <a:r>
              <a:rPr lang="en-US" b="1" dirty="0"/>
              <a:t>Sociability)</a:t>
            </a:r>
          </a:p>
        </p:txBody>
      </p:sp>
      <p:sp>
        <p:nvSpPr>
          <p:cNvPr id="8207" name="Rectangle 15"/>
          <p:cNvSpPr>
            <a:spLocks noChangeArrowheads="1"/>
          </p:cNvSpPr>
          <p:nvPr/>
        </p:nvSpPr>
        <p:spPr bwMode="auto">
          <a:xfrm>
            <a:off x="1128713" y="2247900"/>
            <a:ext cx="67015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400" b="1" dirty="0"/>
              <a:t>(Expressive , energetic, self-dramatizing)                         (Shy, unassertive, reserved)</a:t>
            </a:r>
          </a:p>
        </p:txBody>
      </p:sp>
      <p:sp>
        <p:nvSpPr>
          <p:cNvPr id="8208" name="Rectangle 16"/>
          <p:cNvSpPr>
            <a:spLocks noChangeArrowheads="1"/>
          </p:cNvSpPr>
          <p:nvPr/>
        </p:nvSpPr>
        <p:spPr bwMode="auto">
          <a:xfrm>
            <a:off x="3453791" y="2561035"/>
            <a:ext cx="193162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b="1"/>
              <a:t>Conscientiousness</a:t>
            </a:r>
          </a:p>
        </p:txBody>
      </p:sp>
      <p:sp>
        <p:nvSpPr>
          <p:cNvPr id="8209" name="Rectangle 17"/>
          <p:cNvSpPr>
            <a:spLocks noChangeArrowheads="1"/>
          </p:cNvSpPr>
          <p:nvPr/>
        </p:nvSpPr>
        <p:spPr bwMode="auto">
          <a:xfrm>
            <a:off x="1128713" y="2933700"/>
            <a:ext cx="67222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400" b="1"/>
              <a:t>(Planful, neat, dependable)                                        (Impulsive, careless, irresponsible)</a:t>
            </a:r>
          </a:p>
        </p:txBody>
      </p:sp>
      <p:sp>
        <p:nvSpPr>
          <p:cNvPr id="8210" name="Rectangle 18"/>
          <p:cNvSpPr>
            <a:spLocks noChangeArrowheads="1"/>
          </p:cNvSpPr>
          <p:nvPr/>
        </p:nvSpPr>
        <p:spPr bwMode="auto">
          <a:xfrm>
            <a:off x="1128714" y="3505200"/>
            <a:ext cx="659366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400" b="1"/>
              <a:t>(Warm, tactful, considerate)                                                    (Independent, cold, rude)</a:t>
            </a:r>
          </a:p>
        </p:txBody>
      </p:sp>
      <p:sp>
        <p:nvSpPr>
          <p:cNvPr id="8211" name="Rectangle 19"/>
          <p:cNvSpPr>
            <a:spLocks noChangeArrowheads="1"/>
          </p:cNvSpPr>
          <p:nvPr/>
        </p:nvSpPr>
        <p:spPr bwMode="auto">
          <a:xfrm>
            <a:off x="3303901" y="3704035"/>
            <a:ext cx="223298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b="1"/>
              <a:t>Intellectual Openness</a:t>
            </a:r>
          </a:p>
        </p:txBody>
      </p:sp>
      <p:sp>
        <p:nvSpPr>
          <p:cNvPr id="8212" name="Rectangle 20"/>
          <p:cNvSpPr>
            <a:spLocks noChangeArrowheads="1"/>
          </p:cNvSpPr>
          <p:nvPr/>
        </p:nvSpPr>
        <p:spPr bwMode="auto">
          <a:xfrm>
            <a:off x="1128714" y="4076700"/>
            <a:ext cx="660206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400" b="1"/>
              <a:t>(Imaginative, curious, original)                             (Dull, unimaginative, literal-minded)</a:t>
            </a:r>
          </a:p>
        </p:txBody>
      </p:sp>
      <p:sp>
        <p:nvSpPr>
          <p:cNvPr id="8213" name="Text Box 21"/>
          <p:cNvSpPr txBox="1">
            <a:spLocks noChangeArrowheads="1"/>
          </p:cNvSpPr>
          <p:nvPr/>
        </p:nvSpPr>
        <p:spPr bwMode="auto">
          <a:xfrm>
            <a:off x="288925" y="46029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2" name="TextBox 1">
            <a:extLst>
              <a:ext uri="{FF2B5EF4-FFF2-40B4-BE49-F238E27FC236}">
                <a16:creationId xmlns:a16="http://schemas.microsoft.com/office/drawing/2014/main" id="{89B79133-0834-41AA-B16D-879C7928A549}"/>
              </a:ext>
            </a:extLst>
          </p:cNvPr>
          <p:cNvSpPr txBox="1"/>
          <p:nvPr/>
        </p:nvSpPr>
        <p:spPr>
          <a:xfrm>
            <a:off x="459601" y="1402524"/>
            <a:ext cx="683399" cy="369332"/>
          </a:xfrm>
          <a:prstGeom prst="rect">
            <a:avLst/>
          </a:prstGeom>
          <a:noFill/>
        </p:spPr>
        <p:txBody>
          <a:bodyPr wrap="square" rtlCol="0">
            <a:spAutoFit/>
          </a:bodyPr>
          <a:lstStyle/>
          <a:p>
            <a:r>
              <a:rPr lang="en-US" dirty="0"/>
              <a:t>High</a:t>
            </a:r>
            <a:endParaRPr lang="en-PK" dirty="0"/>
          </a:p>
        </p:txBody>
      </p:sp>
      <p:sp>
        <p:nvSpPr>
          <p:cNvPr id="23" name="TextBox 22">
            <a:extLst>
              <a:ext uri="{FF2B5EF4-FFF2-40B4-BE49-F238E27FC236}">
                <a16:creationId xmlns:a16="http://schemas.microsoft.com/office/drawing/2014/main" id="{72AD513F-91CC-45FB-A930-EA4D2F09DE5D}"/>
              </a:ext>
            </a:extLst>
          </p:cNvPr>
          <p:cNvSpPr txBox="1"/>
          <p:nvPr/>
        </p:nvSpPr>
        <p:spPr>
          <a:xfrm>
            <a:off x="7796701" y="1440418"/>
            <a:ext cx="683399" cy="369332"/>
          </a:xfrm>
          <a:prstGeom prst="rect">
            <a:avLst/>
          </a:prstGeom>
          <a:noFill/>
        </p:spPr>
        <p:txBody>
          <a:bodyPr wrap="square" rtlCol="0">
            <a:spAutoFit/>
          </a:bodyPr>
          <a:lstStyle/>
          <a:p>
            <a:r>
              <a:rPr lang="en-US" dirty="0"/>
              <a:t>Low</a:t>
            </a:r>
            <a:endParaRPr lang="en-PK" dirty="0"/>
          </a:p>
        </p:txBody>
      </p:sp>
    </p:spTree>
    <p:extLst>
      <p:ext uri="{BB962C8B-B14F-4D97-AF65-F5344CB8AC3E}">
        <p14:creationId xmlns:p14="http://schemas.microsoft.com/office/powerpoint/2010/main" val="1963800998"/>
      </p:ext>
    </p:extLst>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33350"/>
            <a:ext cx="8839200" cy="285750"/>
          </a:xfrm>
        </p:spPr>
        <p:txBody>
          <a:bodyPr rtlCol="0">
            <a:normAutofit fontScale="90000"/>
          </a:bodyPr>
          <a:lstStyle/>
          <a:p>
            <a:pPr eaLnBrk="1" fontAlgn="auto" hangingPunct="1">
              <a:spcAft>
                <a:spcPts val="0"/>
              </a:spcAft>
              <a:defRPr/>
            </a:pPr>
            <a:r>
              <a:rPr lang="en-US" sz="2800" dirty="0"/>
              <a:t>The Big Five Personality Traits</a:t>
            </a:r>
          </a:p>
        </p:txBody>
      </p:sp>
      <p:pic>
        <p:nvPicPr>
          <p:cNvPr id="184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42900"/>
            <a:ext cx="9144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2381430"/>
      </p:ext>
    </p:extLst>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4195" name="Rectangle 3"/>
          <p:cNvSpPr>
            <a:spLocks noGrp="1" noChangeArrowheads="1"/>
          </p:cNvSpPr>
          <p:nvPr>
            <p:ph type="title"/>
          </p:nvPr>
        </p:nvSpPr>
        <p:spPr/>
        <p:txBody>
          <a:bodyPr>
            <a:normAutofit/>
          </a:bodyPr>
          <a:lstStyle/>
          <a:p>
            <a:pPr>
              <a:defRPr/>
            </a:pPr>
            <a:r>
              <a:rPr lang="en-US" sz="3800" dirty="0"/>
              <a:t>Other Personality Traits Relevant to OB</a:t>
            </a:r>
          </a:p>
        </p:txBody>
      </p:sp>
      <p:sp>
        <p:nvSpPr>
          <p:cNvPr id="264196" name="Rectangle 4"/>
          <p:cNvSpPr>
            <a:spLocks noGrp="1" noChangeArrowheads="1"/>
          </p:cNvSpPr>
          <p:nvPr>
            <p:ph sz="quarter" idx="13"/>
          </p:nvPr>
        </p:nvSpPr>
        <p:spPr/>
        <p:txBody>
          <a:bodyPr>
            <a:normAutofit fontScale="77500" lnSpcReduction="20000"/>
          </a:bodyPr>
          <a:lstStyle/>
          <a:p>
            <a:pPr eaLnBrk="1" hangingPunct="1">
              <a:lnSpc>
                <a:spcPct val="120000"/>
              </a:lnSpc>
              <a:spcBef>
                <a:spcPts val="0"/>
              </a:spcBef>
            </a:pPr>
            <a:r>
              <a:rPr lang="en-US" dirty="0"/>
              <a:t>Core Self-evaluation</a:t>
            </a:r>
          </a:p>
          <a:p>
            <a:pPr lvl="1" eaLnBrk="1" hangingPunct="1">
              <a:lnSpc>
                <a:spcPct val="120000"/>
              </a:lnSpc>
              <a:spcBef>
                <a:spcPts val="0"/>
              </a:spcBef>
            </a:pPr>
            <a:r>
              <a:rPr lang="en-US" sz="2900" b="1" dirty="0">
                <a:solidFill>
                  <a:srgbClr val="CC6600"/>
                </a:solidFill>
              </a:rPr>
              <a:t>Self-esteem</a:t>
            </a:r>
          </a:p>
          <a:p>
            <a:pPr lvl="1" eaLnBrk="1" hangingPunct="1">
              <a:lnSpc>
                <a:spcPct val="120000"/>
              </a:lnSpc>
              <a:spcBef>
                <a:spcPts val="0"/>
              </a:spcBef>
            </a:pPr>
            <a:r>
              <a:rPr lang="en-US" sz="2900" b="1" dirty="0">
                <a:solidFill>
                  <a:srgbClr val="CC6600"/>
                </a:solidFill>
              </a:rPr>
              <a:t>Locus of Control</a:t>
            </a:r>
          </a:p>
          <a:p>
            <a:pPr eaLnBrk="1" hangingPunct="1">
              <a:lnSpc>
                <a:spcPct val="120000"/>
              </a:lnSpc>
              <a:spcBef>
                <a:spcPts val="0"/>
              </a:spcBef>
            </a:pPr>
            <a:r>
              <a:rPr lang="en-US" dirty="0"/>
              <a:t>Machiavellianism</a:t>
            </a:r>
          </a:p>
          <a:p>
            <a:pPr eaLnBrk="1" hangingPunct="1">
              <a:lnSpc>
                <a:spcPct val="120000"/>
              </a:lnSpc>
              <a:spcBef>
                <a:spcPts val="0"/>
              </a:spcBef>
            </a:pPr>
            <a:r>
              <a:rPr lang="en-US" dirty="0"/>
              <a:t>Narcissism</a:t>
            </a:r>
          </a:p>
          <a:p>
            <a:pPr eaLnBrk="1" hangingPunct="1">
              <a:lnSpc>
                <a:spcPct val="120000"/>
              </a:lnSpc>
              <a:spcBef>
                <a:spcPts val="0"/>
              </a:spcBef>
            </a:pPr>
            <a:r>
              <a:rPr lang="en-US" dirty="0"/>
              <a:t>Self-monitoring</a:t>
            </a:r>
          </a:p>
          <a:p>
            <a:pPr eaLnBrk="1" hangingPunct="1">
              <a:lnSpc>
                <a:spcPct val="120000"/>
              </a:lnSpc>
              <a:spcBef>
                <a:spcPts val="0"/>
              </a:spcBef>
            </a:pPr>
            <a:r>
              <a:rPr lang="en-US" dirty="0"/>
              <a:t>Risk taking</a:t>
            </a:r>
          </a:p>
          <a:p>
            <a:pPr eaLnBrk="1" hangingPunct="1">
              <a:lnSpc>
                <a:spcPct val="120000"/>
              </a:lnSpc>
              <a:spcBef>
                <a:spcPts val="0"/>
              </a:spcBef>
            </a:pPr>
            <a:r>
              <a:rPr lang="en-US" dirty="0"/>
              <a:t>Type A vs. Type B personality</a:t>
            </a:r>
          </a:p>
          <a:p>
            <a:pPr eaLnBrk="1" hangingPunct="1">
              <a:lnSpc>
                <a:spcPct val="120000"/>
              </a:lnSpc>
              <a:spcBef>
                <a:spcPts val="0"/>
              </a:spcBef>
            </a:pPr>
            <a:r>
              <a:rPr lang="en-US" dirty="0"/>
              <a:t>Proactive Personality</a:t>
            </a:r>
          </a:p>
          <a:p>
            <a:pPr eaLnBrk="1" hangingPunct="1">
              <a:spcBef>
                <a:spcPct val="50000"/>
              </a:spcBef>
              <a:buFont typeface="Wingdings" pitchFamily="2" charset="2"/>
              <a:buNone/>
            </a:pPr>
            <a:endParaRPr lang="en-US" dirty="0"/>
          </a:p>
        </p:txBody>
      </p:sp>
      <p:pic>
        <p:nvPicPr>
          <p:cNvPr id="4" name="Picture 1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3308846"/>
            <a:ext cx="1790700" cy="170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Image result for personality measuremen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1373701"/>
            <a:ext cx="3733800" cy="1814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597019"/>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4196">
                                            <p:txEl>
                                              <p:pRg st="0" end="0"/>
                                            </p:txEl>
                                          </p:spTgt>
                                        </p:tgtEl>
                                        <p:attrNameLst>
                                          <p:attrName>style.visibility</p:attrName>
                                        </p:attrNameLst>
                                      </p:cBhvr>
                                      <p:to>
                                        <p:strVal val="visible"/>
                                      </p:to>
                                    </p:set>
                                    <p:animEffect transition="in" filter="wipe(left)">
                                      <p:cBhvr>
                                        <p:cTn id="7" dur="500"/>
                                        <p:tgtEl>
                                          <p:spTgt spid="264196">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4196">
                                            <p:txEl>
                                              <p:pRg st="1" end="1"/>
                                            </p:txEl>
                                          </p:spTgt>
                                        </p:tgtEl>
                                        <p:attrNameLst>
                                          <p:attrName>style.visibility</p:attrName>
                                        </p:attrNameLst>
                                      </p:cBhvr>
                                      <p:to>
                                        <p:strVal val="visible"/>
                                      </p:to>
                                    </p:set>
                                    <p:animEffect transition="in" filter="wipe(left)">
                                      <p:cBhvr>
                                        <p:cTn id="10" dur="500"/>
                                        <p:tgtEl>
                                          <p:spTgt spid="264196">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4196">
                                            <p:txEl>
                                              <p:pRg st="2" end="2"/>
                                            </p:txEl>
                                          </p:spTgt>
                                        </p:tgtEl>
                                        <p:attrNameLst>
                                          <p:attrName>style.visibility</p:attrName>
                                        </p:attrNameLst>
                                      </p:cBhvr>
                                      <p:to>
                                        <p:strVal val="visible"/>
                                      </p:to>
                                    </p:set>
                                    <p:animEffect transition="in" filter="wipe(left)">
                                      <p:cBhvr>
                                        <p:cTn id="13" dur="500"/>
                                        <p:tgtEl>
                                          <p:spTgt spid="264196">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4196">
                                            <p:txEl>
                                              <p:pRg st="3" end="3"/>
                                            </p:txEl>
                                          </p:spTgt>
                                        </p:tgtEl>
                                        <p:attrNameLst>
                                          <p:attrName>style.visibility</p:attrName>
                                        </p:attrNameLst>
                                      </p:cBhvr>
                                      <p:to>
                                        <p:strVal val="visible"/>
                                      </p:to>
                                    </p:set>
                                    <p:animEffect transition="in" filter="wipe(left)">
                                      <p:cBhvr>
                                        <p:cTn id="18" dur="500"/>
                                        <p:tgtEl>
                                          <p:spTgt spid="264196">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64196">
                                            <p:txEl>
                                              <p:pRg st="4" end="4"/>
                                            </p:txEl>
                                          </p:spTgt>
                                        </p:tgtEl>
                                        <p:attrNameLst>
                                          <p:attrName>style.visibility</p:attrName>
                                        </p:attrNameLst>
                                      </p:cBhvr>
                                      <p:to>
                                        <p:strVal val="visible"/>
                                      </p:to>
                                    </p:set>
                                    <p:animEffect transition="in" filter="wipe(left)">
                                      <p:cBhvr>
                                        <p:cTn id="23" dur="500"/>
                                        <p:tgtEl>
                                          <p:spTgt spid="264196">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4196">
                                            <p:txEl>
                                              <p:pRg st="5" end="5"/>
                                            </p:txEl>
                                          </p:spTgt>
                                        </p:tgtEl>
                                        <p:attrNameLst>
                                          <p:attrName>style.visibility</p:attrName>
                                        </p:attrNameLst>
                                      </p:cBhvr>
                                      <p:to>
                                        <p:strVal val="visible"/>
                                      </p:to>
                                    </p:set>
                                    <p:animEffect transition="in" filter="wipe(left)">
                                      <p:cBhvr>
                                        <p:cTn id="28" dur="500"/>
                                        <p:tgtEl>
                                          <p:spTgt spid="264196">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64196">
                                            <p:txEl>
                                              <p:pRg st="6" end="6"/>
                                            </p:txEl>
                                          </p:spTgt>
                                        </p:tgtEl>
                                        <p:attrNameLst>
                                          <p:attrName>style.visibility</p:attrName>
                                        </p:attrNameLst>
                                      </p:cBhvr>
                                      <p:to>
                                        <p:strVal val="visible"/>
                                      </p:to>
                                    </p:set>
                                    <p:animEffect transition="in" filter="wipe(left)">
                                      <p:cBhvr>
                                        <p:cTn id="33" dur="500"/>
                                        <p:tgtEl>
                                          <p:spTgt spid="264196">
                                            <p:txEl>
                                              <p:pRg st="6" end="6"/>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4196">
                                            <p:txEl>
                                              <p:pRg st="7" end="7"/>
                                            </p:txEl>
                                          </p:spTgt>
                                        </p:tgtEl>
                                        <p:attrNameLst>
                                          <p:attrName>style.visibility</p:attrName>
                                        </p:attrNameLst>
                                      </p:cBhvr>
                                      <p:to>
                                        <p:strVal val="visible"/>
                                      </p:to>
                                    </p:set>
                                    <p:animEffect transition="in" filter="wipe(left)">
                                      <p:cBhvr>
                                        <p:cTn id="38" dur="500"/>
                                        <p:tgtEl>
                                          <p:spTgt spid="264196">
                                            <p:txEl>
                                              <p:pRg st="7" end="7"/>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64196">
                                            <p:txEl>
                                              <p:pRg st="8" end="8"/>
                                            </p:txEl>
                                          </p:spTgt>
                                        </p:tgtEl>
                                        <p:attrNameLst>
                                          <p:attrName>style.visibility</p:attrName>
                                        </p:attrNameLst>
                                      </p:cBhvr>
                                      <p:to>
                                        <p:strVal val="visible"/>
                                      </p:to>
                                    </p:set>
                                    <p:animEffect transition="in" filter="wipe(left)">
                                      <p:cBhvr>
                                        <p:cTn id="43" dur="500"/>
                                        <p:tgtEl>
                                          <p:spTgt spid="264196">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6"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Core Self-Evaluation: Two Main Components</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17</a:t>
            </a:fld>
            <a:endParaRPr lang="en-US"/>
          </a:p>
        </p:txBody>
      </p:sp>
      <p:sp>
        <p:nvSpPr>
          <p:cNvPr id="4" name="Content Placeholder 3"/>
          <p:cNvSpPr>
            <a:spLocks noGrp="1"/>
          </p:cNvSpPr>
          <p:nvPr>
            <p:ph sz="quarter" idx="13"/>
          </p:nvPr>
        </p:nvSpPr>
        <p:spPr/>
        <p:txBody>
          <a:bodyPr>
            <a:normAutofit fontScale="62500" lnSpcReduction="20000"/>
          </a:bodyPr>
          <a:lstStyle/>
          <a:p>
            <a:pPr marL="0" indent="0">
              <a:spcBef>
                <a:spcPct val="50000"/>
              </a:spcBef>
              <a:buNone/>
            </a:pPr>
            <a:r>
              <a:rPr lang="en-US" b="1" i="1" u="sng" dirty="0"/>
              <a:t>Self Esteem</a:t>
            </a:r>
          </a:p>
          <a:p>
            <a:pPr>
              <a:spcBef>
                <a:spcPct val="50000"/>
              </a:spcBef>
              <a:buFont typeface="Wingdings" pitchFamily="2" charset="2"/>
              <a:buChar char="q"/>
            </a:pPr>
            <a:r>
              <a:rPr lang="en-US" sz="3200" b="1" dirty="0"/>
              <a:t>Self-esteem </a:t>
            </a:r>
            <a:r>
              <a:rPr lang="en-US" sz="3200" dirty="0"/>
              <a:t>(“self-worth”)</a:t>
            </a:r>
            <a:r>
              <a:rPr lang="en-US" sz="3200" b="1" dirty="0"/>
              <a:t> is part of </a:t>
            </a:r>
            <a:r>
              <a:rPr lang="en-US" sz="3200" b="1" i="1" u="sng" dirty="0"/>
              <a:t>emotional intelligence</a:t>
            </a:r>
            <a:r>
              <a:rPr lang="en-US" sz="3200" b="1" dirty="0"/>
              <a:t> </a:t>
            </a:r>
            <a:endParaRPr lang="en-US" dirty="0"/>
          </a:p>
          <a:p>
            <a:pPr>
              <a:spcBef>
                <a:spcPct val="50000"/>
              </a:spcBef>
              <a:buFont typeface="Wingdings" pitchFamily="2" charset="2"/>
              <a:buChar char="q"/>
            </a:pPr>
            <a:r>
              <a:rPr lang="en-US" dirty="0"/>
              <a:t>Individuals’ degree of liking or disliking themselves.</a:t>
            </a:r>
          </a:p>
          <a:p>
            <a:pPr marL="0" indent="0">
              <a:spcBef>
                <a:spcPct val="50000"/>
              </a:spcBef>
              <a:buNone/>
            </a:pPr>
            <a:r>
              <a:rPr lang="en-US" b="1" i="1" u="sng" dirty="0"/>
              <a:t>Locus of Control </a:t>
            </a:r>
            <a:r>
              <a:rPr lang="en-US" sz="3200" dirty="0"/>
              <a:t>(“fate vs. personal control”)</a:t>
            </a:r>
            <a:r>
              <a:rPr lang="en-US" sz="3200" b="1" dirty="0"/>
              <a:t> is part of </a:t>
            </a:r>
            <a:r>
              <a:rPr lang="en-US" sz="3200" b="1" i="1" u="sng" dirty="0"/>
              <a:t>conscientiousness</a:t>
            </a:r>
            <a:endParaRPr lang="en-US" b="1" i="1" u="sng" dirty="0"/>
          </a:p>
          <a:p>
            <a:pPr>
              <a:spcBef>
                <a:spcPct val="50000"/>
              </a:spcBef>
              <a:buFont typeface="Wingdings" pitchFamily="2" charset="2"/>
              <a:buChar char="q"/>
            </a:pPr>
            <a:r>
              <a:rPr lang="en-US" dirty="0"/>
              <a:t>The degree to which people believe they are masters of their own fate.</a:t>
            </a:r>
          </a:p>
          <a:p>
            <a:pPr>
              <a:spcBef>
                <a:spcPct val="50000"/>
              </a:spcBef>
              <a:buFont typeface="Wingdings" pitchFamily="2" charset="2"/>
              <a:buChar char="q"/>
            </a:pPr>
            <a:r>
              <a:rPr lang="en-US" i="1" u="sng" dirty="0"/>
              <a:t>Internal locus of control </a:t>
            </a:r>
            <a:br>
              <a:rPr lang="en-US" dirty="0"/>
            </a:br>
            <a:r>
              <a:rPr lang="en-US" dirty="0"/>
              <a:t>Individuals who believe that they control what happens to them.</a:t>
            </a:r>
          </a:p>
          <a:p>
            <a:pPr>
              <a:spcBef>
                <a:spcPct val="50000"/>
              </a:spcBef>
              <a:buFont typeface="Wingdings" pitchFamily="2" charset="2"/>
              <a:buChar char="q"/>
            </a:pPr>
            <a:r>
              <a:rPr lang="en-US" i="1" u="sng" dirty="0"/>
              <a:t>External locus of control</a:t>
            </a:r>
            <a:br>
              <a:rPr lang="en-US" dirty="0"/>
            </a:br>
            <a:r>
              <a:rPr lang="en-US" dirty="0"/>
              <a:t>Individuals who believe that what happens to them is controlled by outside forces such as luck or chance.</a:t>
            </a:r>
          </a:p>
        </p:txBody>
      </p:sp>
      <p:pic>
        <p:nvPicPr>
          <p:cNvPr id="3074" name="Picture 2" descr="Image result"/>
          <p:cNvPicPr>
            <a:picLocks noChangeAspect="1" noChangeArrowheads="1"/>
          </p:cNvPicPr>
          <p:nvPr/>
        </p:nvPicPr>
        <p:blipFill rotWithShape="1">
          <a:blip r:embed="rId3">
            <a:extLst>
              <a:ext uri="{28A0092B-C50C-407E-A947-70E740481C1C}">
                <a14:useLocalDpi xmlns:a14="http://schemas.microsoft.com/office/drawing/2010/main" val="0"/>
              </a:ext>
            </a:extLst>
          </a:blip>
          <a:srcRect l="22464" t="16719"/>
          <a:stretch/>
        </p:blipFill>
        <p:spPr bwMode="auto">
          <a:xfrm>
            <a:off x="7191375" y="1300734"/>
            <a:ext cx="1876425" cy="1534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8241872"/>
      </p:ext>
    </p:extLst>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normAutofit/>
          </a:bodyPr>
          <a:lstStyle/>
          <a:p>
            <a:pPr eaLnBrk="1" hangingPunct="1">
              <a:defRPr/>
            </a:pPr>
            <a:r>
              <a:rPr lang="en-US" sz="4000" dirty="0"/>
              <a:t>Machiavellianism</a:t>
            </a:r>
          </a:p>
        </p:txBody>
      </p:sp>
      <p:sp>
        <p:nvSpPr>
          <p:cNvPr id="2" name="Content Placeholder 1"/>
          <p:cNvSpPr>
            <a:spLocks noGrp="1"/>
          </p:cNvSpPr>
          <p:nvPr>
            <p:ph sz="quarter" idx="13"/>
          </p:nvPr>
        </p:nvSpPr>
        <p:spPr>
          <a:xfrm>
            <a:off x="609600" y="1352550"/>
            <a:ext cx="8153400" cy="3276600"/>
          </a:xfrm>
        </p:spPr>
        <p:txBody>
          <a:bodyPr/>
          <a:lstStyle/>
          <a:p>
            <a:pPr marL="492125" indent="-492125">
              <a:spcBef>
                <a:spcPts val="0"/>
              </a:spcBef>
              <a:buFont typeface="Wingdings" pitchFamily="2" charset="2"/>
              <a:buChar char="q"/>
            </a:pPr>
            <a:r>
              <a:rPr lang="en-US" sz="2000" dirty="0"/>
              <a:t>Degree to which an individual is pragmatic, maintains emotional distance, and believes that ends can justify means</a:t>
            </a:r>
            <a:r>
              <a:rPr lang="en-US" sz="3200" dirty="0">
                <a:latin typeface="Tahoma" pitchFamily="34" charset="0"/>
              </a:rPr>
              <a:t>.</a:t>
            </a:r>
          </a:p>
        </p:txBody>
      </p:sp>
      <p:sp>
        <p:nvSpPr>
          <p:cNvPr id="266243" name="Text Box 3"/>
          <p:cNvSpPr txBox="1">
            <a:spLocks noChangeArrowheads="1"/>
          </p:cNvSpPr>
          <p:nvPr/>
        </p:nvSpPr>
        <p:spPr bwMode="blackWhite">
          <a:xfrm>
            <a:off x="3276600" y="2419350"/>
            <a:ext cx="5715000" cy="1981200"/>
          </a:xfrm>
          <a:prstGeom prst="rect">
            <a:avLst/>
          </a:prstGeom>
          <a:solidFill>
            <a:srgbClr val="CC6600"/>
          </a:solidFill>
          <a:ln w="12700">
            <a:solidFill>
              <a:schemeClr val="tx1"/>
            </a:solidFill>
            <a:miter lim="800000"/>
            <a:headEnd/>
            <a:tailEnd/>
          </a:ln>
          <a:effectLst>
            <a:outerShdw dist="135003" dir="2471156" algn="ctr" rotWithShape="0">
              <a:srgbClr val="DDDDDD"/>
            </a:outerShdw>
          </a:effectLst>
        </p:spPr>
        <p:txBody>
          <a:bodyPr anchor="ctr"/>
          <a:lstStyle/>
          <a:p>
            <a:pPr marL="395288" indent="-173038">
              <a:spcBef>
                <a:spcPct val="35000"/>
              </a:spcBef>
              <a:defRPr/>
            </a:pPr>
            <a:r>
              <a:rPr lang="en-US" sz="2400" dirty="0">
                <a:solidFill>
                  <a:srgbClr val="FFFFCC"/>
                </a:solidFill>
              </a:rPr>
              <a:t>Conditions Favoring High </a:t>
            </a:r>
            <a:r>
              <a:rPr lang="en-US" sz="2400" dirty="0" err="1">
                <a:solidFill>
                  <a:srgbClr val="FFFFCC"/>
                </a:solidFill>
              </a:rPr>
              <a:t>Machs</a:t>
            </a:r>
            <a:endParaRPr lang="en-US" sz="2400" dirty="0">
              <a:solidFill>
                <a:srgbClr val="FFFFCC"/>
              </a:solidFill>
            </a:endParaRPr>
          </a:p>
          <a:p>
            <a:pPr marL="395288" indent="-173038">
              <a:spcBef>
                <a:spcPct val="35000"/>
              </a:spcBef>
              <a:buFontTx/>
              <a:buChar char="•"/>
              <a:defRPr/>
            </a:pPr>
            <a:r>
              <a:rPr lang="en-US" sz="2400" dirty="0">
                <a:solidFill>
                  <a:schemeClr val="bg1"/>
                </a:solidFill>
              </a:rPr>
              <a:t>Direct interaction with others</a:t>
            </a:r>
          </a:p>
          <a:p>
            <a:pPr marL="395288" indent="-173038">
              <a:spcBef>
                <a:spcPct val="35000"/>
              </a:spcBef>
              <a:buFontTx/>
              <a:buChar char="•"/>
              <a:defRPr/>
            </a:pPr>
            <a:r>
              <a:rPr lang="en-US" sz="2400" dirty="0">
                <a:solidFill>
                  <a:schemeClr val="bg1"/>
                </a:solidFill>
              </a:rPr>
              <a:t>Minimal rules and regulations</a:t>
            </a:r>
          </a:p>
          <a:p>
            <a:pPr marL="395288" indent="-173038">
              <a:spcBef>
                <a:spcPct val="35000"/>
              </a:spcBef>
              <a:buFontTx/>
              <a:buChar char="•"/>
              <a:defRPr/>
            </a:pPr>
            <a:r>
              <a:rPr lang="en-US" sz="2400" dirty="0">
                <a:solidFill>
                  <a:schemeClr val="bg1"/>
                </a:solidFill>
              </a:rPr>
              <a:t>Emotions distract for others</a:t>
            </a:r>
          </a:p>
        </p:txBody>
      </p:sp>
      <p:pic>
        <p:nvPicPr>
          <p:cNvPr id="2050"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854" y="2393632"/>
            <a:ext cx="2509971" cy="2006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987677"/>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66243">
                                            <p:txEl>
                                              <p:charRg st="4294967295" end="4294967295"/>
                                            </p:txEl>
                                          </p:spTgt>
                                        </p:tgtEl>
                                        <p:attrNameLst>
                                          <p:attrName>style.visibility</p:attrName>
                                        </p:attrNameLst>
                                      </p:cBhvr>
                                      <p:to>
                                        <p:strVal val="visible"/>
                                      </p:to>
                                    </p:set>
                                    <p:animEffect transition="in" filter="box(in)">
                                      <p:cBhvr>
                                        <p:cTn id="7" dur="500"/>
                                        <p:tgtEl>
                                          <p:spTgt spid="266243">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3"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Narcissism</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19</a:t>
            </a:fld>
            <a:endParaRPr lang="en-US"/>
          </a:p>
        </p:txBody>
      </p:sp>
      <p:sp>
        <p:nvSpPr>
          <p:cNvPr id="4" name="Content Placeholder 3"/>
          <p:cNvSpPr>
            <a:spLocks noGrp="1"/>
          </p:cNvSpPr>
          <p:nvPr>
            <p:ph sz="quarter" idx="13"/>
          </p:nvPr>
        </p:nvSpPr>
        <p:spPr>
          <a:xfrm>
            <a:off x="609600" y="1352550"/>
            <a:ext cx="4114800" cy="3276600"/>
          </a:xfrm>
        </p:spPr>
        <p:txBody>
          <a:bodyPr>
            <a:normAutofit/>
          </a:bodyPr>
          <a:lstStyle/>
          <a:p>
            <a:pPr marL="0">
              <a:lnSpc>
                <a:spcPct val="120000"/>
              </a:lnSpc>
              <a:spcBef>
                <a:spcPts val="600"/>
              </a:spcBef>
              <a:buFont typeface="Wingdings" pitchFamily="2" charset="2"/>
              <a:buChar char="q"/>
            </a:pPr>
            <a:r>
              <a:rPr lang="en-US" sz="1800" dirty="0"/>
              <a:t>A magnificent sense of self-importance.</a:t>
            </a:r>
          </a:p>
          <a:p>
            <a:pPr marL="0">
              <a:lnSpc>
                <a:spcPct val="120000"/>
              </a:lnSpc>
              <a:spcBef>
                <a:spcPts val="600"/>
              </a:spcBef>
              <a:buFont typeface="Wingdings" pitchFamily="2" charset="2"/>
              <a:buChar char="q"/>
            </a:pPr>
            <a:r>
              <a:rPr lang="en-US" sz="1800" dirty="0"/>
              <a:t>Requires excessive admiration</a:t>
            </a:r>
          </a:p>
          <a:p>
            <a:pPr marL="0">
              <a:lnSpc>
                <a:spcPct val="120000"/>
              </a:lnSpc>
              <a:spcBef>
                <a:spcPts val="600"/>
              </a:spcBef>
              <a:buFont typeface="Wingdings" pitchFamily="2" charset="2"/>
              <a:buChar char="q"/>
            </a:pPr>
            <a:r>
              <a:rPr lang="en-US" sz="1800" dirty="0"/>
              <a:t>Has a sense of entitlement</a:t>
            </a:r>
          </a:p>
          <a:p>
            <a:pPr marL="0">
              <a:lnSpc>
                <a:spcPct val="120000"/>
              </a:lnSpc>
              <a:spcBef>
                <a:spcPts val="600"/>
              </a:spcBef>
              <a:buFont typeface="Wingdings" pitchFamily="2" charset="2"/>
              <a:buChar char="q"/>
            </a:pPr>
            <a:r>
              <a:rPr lang="en-US" sz="1800" dirty="0"/>
              <a:t>Is arrogant.</a:t>
            </a:r>
          </a:p>
          <a:p>
            <a:pPr marL="0">
              <a:lnSpc>
                <a:spcPct val="120000"/>
              </a:lnSpc>
              <a:spcBef>
                <a:spcPts val="600"/>
              </a:spcBef>
              <a:buFont typeface="Wingdings" pitchFamily="2" charset="2"/>
              <a:buChar char="q"/>
            </a:pPr>
            <a:r>
              <a:rPr lang="en-US" sz="1800" dirty="0"/>
              <a:t>Extreme selfishness and a craving for admiration, as characterizing a personality type.</a:t>
            </a:r>
          </a:p>
          <a:p>
            <a:pPr marL="0">
              <a:lnSpc>
                <a:spcPct val="120000"/>
              </a:lnSpc>
              <a:spcBef>
                <a:spcPts val="600"/>
              </a:spcBef>
              <a:buFont typeface="Wingdings" pitchFamily="2" charset="2"/>
              <a:buChar char="q"/>
            </a:pPr>
            <a:r>
              <a:rPr lang="en-US" sz="1800" dirty="0"/>
              <a:t>Tends to be rated as less effective.</a:t>
            </a:r>
          </a:p>
        </p:txBody>
      </p:sp>
      <p:pic>
        <p:nvPicPr>
          <p:cNvPr id="5" name="Picture 1029" descr="pe0156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9800" y="0"/>
            <a:ext cx="2109788"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Image result for Narcissis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122932"/>
            <a:ext cx="4267200" cy="2447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745928"/>
      </p:ext>
    </p:extLst>
  </p:cSld>
  <p:clrMapOvr>
    <a:masterClrMapping/>
  </p:clrMapOvr>
  <p:transition>
    <p:pull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Self-Monitoring</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20</a:t>
            </a:fld>
            <a:endParaRPr lang="en-US"/>
          </a:p>
        </p:txBody>
      </p:sp>
      <p:sp>
        <p:nvSpPr>
          <p:cNvPr id="4" name="Content Placeholder 3"/>
          <p:cNvSpPr>
            <a:spLocks noGrp="1"/>
          </p:cNvSpPr>
          <p:nvPr>
            <p:ph sz="quarter" idx="13"/>
          </p:nvPr>
        </p:nvSpPr>
        <p:spPr/>
        <p:txBody>
          <a:bodyPr>
            <a:normAutofit/>
          </a:bodyPr>
          <a:lstStyle/>
          <a:p>
            <a:pPr>
              <a:spcBef>
                <a:spcPct val="50000"/>
              </a:spcBef>
            </a:pPr>
            <a:r>
              <a:rPr lang="en-US" sz="2000" dirty="0"/>
              <a:t>A personality trait that measures an individual’s ability to adjust his or her behavior to external, situational factors. </a:t>
            </a:r>
          </a:p>
          <a:p>
            <a:endParaRPr lang="en-US" sz="2000" dirty="0"/>
          </a:p>
        </p:txBody>
      </p:sp>
      <p:sp>
        <p:nvSpPr>
          <p:cNvPr id="5" name="Text Box 7"/>
          <p:cNvSpPr txBox="1">
            <a:spLocks noChangeArrowheads="1"/>
          </p:cNvSpPr>
          <p:nvPr/>
        </p:nvSpPr>
        <p:spPr bwMode="blackWhite">
          <a:xfrm>
            <a:off x="533400" y="2114550"/>
            <a:ext cx="4881391" cy="2590800"/>
          </a:xfrm>
          <a:prstGeom prst="rect">
            <a:avLst/>
          </a:prstGeom>
          <a:solidFill>
            <a:srgbClr val="CC6600"/>
          </a:solidFill>
          <a:ln w="12700">
            <a:solidFill>
              <a:schemeClr val="tx1"/>
            </a:solidFill>
            <a:miter lim="800000"/>
            <a:headEnd/>
            <a:tailEnd/>
          </a:ln>
          <a:effectLst>
            <a:outerShdw dist="135003" dir="2471156" algn="ctr" rotWithShape="0">
              <a:srgbClr val="DDDDDD"/>
            </a:outerShdw>
          </a:effectLst>
        </p:spPr>
        <p:txBody>
          <a:bodyPr anchor="ctr"/>
          <a:lstStyle/>
          <a:p>
            <a:pPr indent="-173038">
              <a:defRPr/>
            </a:pPr>
            <a:r>
              <a:rPr lang="en-US" sz="2000" dirty="0"/>
              <a:t>High Self-Monitors</a:t>
            </a:r>
          </a:p>
          <a:p>
            <a:pPr indent="-173038">
              <a:buFontTx/>
              <a:buChar char="•"/>
              <a:defRPr/>
            </a:pPr>
            <a:r>
              <a:rPr lang="en-US" sz="2000" dirty="0"/>
              <a:t>Receive better performance ratings</a:t>
            </a:r>
          </a:p>
          <a:p>
            <a:pPr indent="-173038">
              <a:buFontTx/>
              <a:buChar char="•"/>
              <a:defRPr/>
            </a:pPr>
            <a:r>
              <a:rPr lang="en-US" sz="2000" dirty="0"/>
              <a:t>Likely to emerge as leaders</a:t>
            </a:r>
          </a:p>
          <a:p>
            <a:pPr indent="-173038">
              <a:buFontTx/>
              <a:buChar char="•"/>
              <a:defRPr/>
            </a:pPr>
            <a:r>
              <a:rPr lang="en-US" sz="2000" dirty="0"/>
              <a:t>In addition, high self- monitoring managers tend to be more mobile in their careers, receive more promotions (both internal and cross-organizational), and are more likely</a:t>
            </a:r>
          </a:p>
          <a:p>
            <a:r>
              <a:rPr lang="en-US" sz="2000" dirty="0"/>
              <a:t>to occupy central positions in an organization.</a:t>
            </a:r>
          </a:p>
        </p:txBody>
      </p:sp>
      <p:pic>
        <p:nvPicPr>
          <p:cNvPr id="7170" name="Picture 2" descr="Image result for self monitoring"/>
          <p:cNvPicPr>
            <a:picLocks noChangeAspect="1" noChangeArrowheads="1"/>
          </p:cNvPicPr>
          <p:nvPr/>
        </p:nvPicPr>
        <p:blipFill rotWithShape="1">
          <a:blip r:embed="rId3">
            <a:extLst>
              <a:ext uri="{28A0092B-C50C-407E-A947-70E740481C1C}">
                <a14:useLocalDpi xmlns:a14="http://schemas.microsoft.com/office/drawing/2010/main" val="0"/>
              </a:ext>
            </a:extLst>
          </a:blip>
          <a:srcRect b="15588"/>
          <a:stretch/>
        </p:blipFill>
        <p:spPr bwMode="auto">
          <a:xfrm>
            <a:off x="5490991" y="2061972"/>
            <a:ext cx="3576809" cy="1792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1156600"/>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normAutofit/>
          </a:bodyPr>
          <a:lstStyle/>
          <a:p>
            <a:pPr eaLnBrk="1" hangingPunct="1">
              <a:defRPr/>
            </a:pPr>
            <a:r>
              <a:rPr lang="en-US" sz="4000" dirty="0"/>
              <a:t>Risk-Taking</a:t>
            </a:r>
          </a:p>
        </p:txBody>
      </p:sp>
      <p:sp>
        <p:nvSpPr>
          <p:cNvPr id="268291" name="Rectangle 3"/>
          <p:cNvSpPr>
            <a:spLocks noGrp="1" noChangeArrowheads="1"/>
          </p:cNvSpPr>
          <p:nvPr>
            <p:ph sz="quarter" idx="13"/>
          </p:nvPr>
        </p:nvSpPr>
        <p:spPr/>
        <p:txBody>
          <a:bodyPr>
            <a:normAutofit/>
          </a:bodyPr>
          <a:lstStyle/>
          <a:p>
            <a:pPr eaLnBrk="1" hangingPunct="1"/>
            <a:r>
              <a:rPr lang="en-US" sz="2000" dirty="0"/>
              <a:t>High Risk-taking Managers</a:t>
            </a:r>
          </a:p>
          <a:p>
            <a:pPr lvl="1" eaLnBrk="1" hangingPunct="1"/>
            <a:r>
              <a:rPr lang="en-US" sz="2000" dirty="0"/>
              <a:t>Make quicker decisions</a:t>
            </a:r>
          </a:p>
          <a:p>
            <a:pPr lvl="1" eaLnBrk="1" hangingPunct="1"/>
            <a:r>
              <a:rPr lang="en-US" sz="2000" dirty="0"/>
              <a:t>Use less information to make decisions</a:t>
            </a:r>
          </a:p>
          <a:p>
            <a:pPr lvl="1" eaLnBrk="1" hangingPunct="1"/>
            <a:r>
              <a:rPr lang="en-US" sz="2000" dirty="0"/>
              <a:t>Operate in smaller and more entrepreneurial organizations</a:t>
            </a:r>
          </a:p>
          <a:p>
            <a:pPr eaLnBrk="1" hangingPunct="1"/>
            <a:r>
              <a:rPr lang="en-US" sz="2000" dirty="0"/>
              <a:t>Low Risk-taking Managers</a:t>
            </a:r>
          </a:p>
          <a:p>
            <a:pPr lvl="1" eaLnBrk="1" hangingPunct="1"/>
            <a:r>
              <a:rPr lang="en-US" sz="2000" dirty="0"/>
              <a:t>Are slower to make decisions</a:t>
            </a:r>
          </a:p>
          <a:p>
            <a:pPr lvl="1" eaLnBrk="1" hangingPunct="1"/>
            <a:r>
              <a:rPr lang="en-US" sz="2000" dirty="0"/>
              <a:t>Require more information before making decisions</a:t>
            </a:r>
          </a:p>
          <a:p>
            <a:pPr lvl="1" eaLnBrk="1" hangingPunct="1"/>
            <a:r>
              <a:rPr lang="en-US" sz="2000" dirty="0"/>
              <a:t>Exist in larger organizations with stable environments</a:t>
            </a:r>
          </a:p>
        </p:txBody>
      </p:sp>
      <p:pic>
        <p:nvPicPr>
          <p:cNvPr id="9218" name="Picture 2" descr="Image result for risk tak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0"/>
            <a:ext cx="2532887" cy="2484641"/>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Image result for risk tak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29772" y="2647950"/>
            <a:ext cx="1838028" cy="1981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458894"/>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8291">
                                            <p:txEl>
                                              <p:pRg st="0" end="0"/>
                                            </p:txEl>
                                          </p:spTgt>
                                        </p:tgtEl>
                                        <p:attrNameLst>
                                          <p:attrName>style.visibility</p:attrName>
                                        </p:attrNameLst>
                                      </p:cBhvr>
                                      <p:to>
                                        <p:strVal val="visible"/>
                                      </p:to>
                                    </p:set>
                                    <p:animEffect transition="in" filter="wipe(left)">
                                      <p:cBhvr>
                                        <p:cTn id="7" dur="500"/>
                                        <p:tgtEl>
                                          <p:spTgt spid="26829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8291">
                                            <p:txEl>
                                              <p:pRg st="1" end="1"/>
                                            </p:txEl>
                                          </p:spTgt>
                                        </p:tgtEl>
                                        <p:attrNameLst>
                                          <p:attrName>style.visibility</p:attrName>
                                        </p:attrNameLst>
                                      </p:cBhvr>
                                      <p:to>
                                        <p:strVal val="visible"/>
                                      </p:to>
                                    </p:set>
                                    <p:animEffect transition="in" filter="wipe(left)">
                                      <p:cBhvr>
                                        <p:cTn id="10" dur="500"/>
                                        <p:tgtEl>
                                          <p:spTgt spid="268291">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8291">
                                            <p:txEl>
                                              <p:pRg st="2" end="2"/>
                                            </p:txEl>
                                          </p:spTgt>
                                        </p:tgtEl>
                                        <p:attrNameLst>
                                          <p:attrName>style.visibility</p:attrName>
                                        </p:attrNameLst>
                                      </p:cBhvr>
                                      <p:to>
                                        <p:strVal val="visible"/>
                                      </p:to>
                                    </p:set>
                                    <p:animEffect transition="in" filter="wipe(left)">
                                      <p:cBhvr>
                                        <p:cTn id="13" dur="500"/>
                                        <p:tgtEl>
                                          <p:spTgt spid="268291">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68291">
                                            <p:txEl>
                                              <p:pRg st="3" end="3"/>
                                            </p:txEl>
                                          </p:spTgt>
                                        </p:tgtEl>
                                        <p:attrNameLst>
                                          <p:attrName>style.visibility</p:attrName>
                                        </p:attrNameLst>
                                      </p:cBhvr>
                                      <p:to>
                                        <p:strVal val="visible"/>
                                      </p:to>
                                    </p:set>
                                    <p:animEffect transition="in" filter="wipe(left)">
                                      <p:cBhvr>
                                        <p:cTn id="16" dur="500"/>
                                        <p:tgtEl>
                                          <p:spTgt spid="268291">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8291">
                                            <p:txEl>
                                              <p:pRg st="4" end="4"/>
                                            </p:txEl>
                                          </p:spTgt>
                                        </p:tgtEl>
                                        <p:attrNameLst>
                                          <p:attrName>style.visibility</p:attrName>
                                        </p:attrNameLst>
                                      </p:cBhvr>
                                      <p:to>
                                        <p:strVal val="visible"/>
                                      </p:to>
                                    </p:set>
                                    <p:animEffect transition="in" filter="wipe(left)">
                                      <p:cBhvr>
                                        <p:cTn id="21" dur="500"/>
                                        <p:tgtEl>
                                          <p:spTgt spid="268291">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68291">
                                            <p:txEl>
                                              <p:pRg st="5" end="5"/>
                                            </p:txEl>
                                          </p:spTgt>
                                        </p:tgtEl>
                                        <p:attrNameLst>
                                          <p:attrName>style.visibility</p:attrName>
                                        </p:attrNameLst>
                                      </p:cBhvr>
                                      <p:to>
                                        <p:strVal val="visible"/>
                                      </p:to>
                                    </p:set>
                                    <p:animEffect transition="in" filter="wipe(left)">
                                      <p:cBhvr>
                                        <p:cTn id="24" dur="500"/>
                                        <p:tgtEl>
                                          <p:spTgt spid="268291">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68291">
                                            <p:txEl>
                                              <p:pRg st="6" end="6"/>
                                            </p:txEl>
                                          </p:spTgt>
                                        </p:tgtEl>
                                        <p:attrNameLst>
                                          <p:attrName>style.visibility</p:attrName>
                                        </p:attrNameLst>
                                      </p:cBhvr>
                                      <p:to>
                                        <p:strVal val="visible"/>
                                      </p:to>
                                    </p:set>
                                    <p:animEffect transition="in" filter="wipe(left)">
                                      <p:cBhvr>
                                        <p:cTn id="27" dur="500"/>
                                        <p:tgtEl>
                                          <p:spTgt spid="268291">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68291">
                                            <p:txEl>
                                              <p:pRg st="7" end="7"/>
                                            </p:txEl>
                                          </p:spTgt>
                                        </p:tgtEl>
                                        <p:attrNameLst>
                                          <p:attrName>style.visibility</p:attrName>
                                        </p:attrNameLst>
                                      </p:cBhvr>
                                      <p:to>
                                        <p:strVal val="visible"/>
                                      </p:to>
                                    </p:set>
                                    <p:animEffect transition="in" filter="wipe(left)">
                                      <p:cBhvr>
                                        <p:cTn id="30" dur="500"/>
                                        <p:tgtEl>
                                          <p:spTgt spid="2682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1"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Personality Type</a:t>
            </a:r>
          </a:p>
        </p:txBody>
      </p:sp>
      <p:sp>
        <p:nvSpPr>
          <p:cNvPr id="3" name="Content Placeholder 2"/>
          <p:cNvSpPr>
            <a:spLocks noGrp="1"/>
          </p:cNvSpPr>
          <p:nvPr>
            <p:ph sz="quarter" idx="13"/>
          </p:nvPr>
        </p:nvSpPr>
        <p:spPr/>
        <p:txBody>
          <a:bodyPr>
            <a:noAutofit/>
          </a:bodyPr>
          <a:lstStyle/>
          <a:p>
            <a:pPr>
              <a:spcBef>
                <a:spcPts val="0"/>
              </a:spcBef>
              <a:buSzPct val="90000"/>
              <a:buFontTx/>
              <a:buAutoNum type="arabicPeriod"/>
            </a:pPr>
            <a:r>
              <a:rPr lang="en-US" sz="1800" dirty="0"/>
              <a:t>Always moving, walking, and eating rapidly;</a:t>
            </a:r>
          </a:p>
          <a:p>
            <a:pPr>
              <a:spcBef>
                <a:spcPts val="0"/>
              </a:spcBef>
              <a:buSzPct val="90000"/>
              <a:buFontTx/>
              <a:buAutoNum type="arabicPeriod"/>
            </a:pPr>
            <a:r>
              <a:rPr lang="en-US" sz="1800" dirty="0"/>
              <a:t>Feel impatient with the rate at which most events take place;</a:t>
            </a:r>
          </a:p>
          <a:p>
            <a:pPr>
              <a:spcBef>
                <a:spcPts val="0"/>
              </a:spcBef>
              <a:buSzPct val="90000"/>
              <a:buFontTx/>
              <a:buAutoNum type="arabicPeriod"/>
            </a:pPr>
            <a:r>
              <a:rPr lang="en-US" sz="1800" dirty="0"/>
              <a:t>Strive to think or do two or more things at once;</a:t>
            </a:r>
          </a:p>
          <a:p>
            <a:pPr>
              <a:spcBef>
                <a:spcPts val="0"/>
              </a:spcBef>
              <a:buSzPct val="90000"/>
              <a:buFontTx/>
              <a:buAutoNum type="arabicPeriod"/>
            </a:pPr>
            <a:r>
              <a:rPr lang="en-US" sz="1800" dirty="0"/>
              <a:t>Cannot cope with leisure time;</a:t>
            </a:r>
          </a:p>
          <a:p>
            <a:pPr>
              <a:spcBef>
                <a:spcPts val="0"/>
              </a:spcBef>
              <a:buSzPct val="90000"/>
              <a:buFontTx/>
              <a:buAutoNum type="arabicPeriod"/>
            </a:pPr>
            <a:r>
              <a:rPr lang="en-US" sz="1800" dirty="0"/>
              <a:t>Are obsessed with numbers, measuring their success in terms of how many or how much of everything they acquire.</a:t>
            </a:r>
          </a:p>
        </p:txBody>
      </p:sp>
      <p:sp>
        <p:nvSpPr>
          <p:cNvPr id="4" name="Content Placeholder 3"/>
          <p:cNvSpPr>
            <a:spLocks noGrp="1"/>
          </p:cNvSpPr>
          <p:nvPr>
            <p:ph sz="quarter" idx="14"/>
          </p:nvPr>
        </p:nvSpPr>
        <p:spPr/>
        <p:txBody>
          <a:bodyPr>
            <a:noAutofit/>
          </a:bodyPr>
          <a:lstStyle/>
          <a:p>
            <a:pPr>
              <a:spcBef>
                <a:spcPts val="0"/>
              </a:spcBef>
              <a:buSzPct val="90000"/>
              <a:buFontTx/>
              <a:buAutoNum type="arabicPeriod"/>
            </a:pPr>
            <a:r>
              <a:rPr lang="en-US" sz="1800" dirty="0"/>
              <a:t>Never suffer from a sense of time urgency with its accompanying impatience;</a:t>
            </a:r>
          </a:p>
          <a:p>
            <a:pPr>
              <a:spcBef>
                <a:spcPts val="0"/>
              </a:spcBef>
              <a:buSzPct val="90000"/>
              <a:buFontTx/>
              <a:buAutoNum type="arabicPeriod"/>
            </a:pPr>
            <a:r>
              <a:rPr lang="en-US" sz="1800" dirty="0"/>
              <a:t>Feel no need to display or discuss either their achievements or accomplishments;</a:t>
            </a:r>
          </a:p>
          <a:p>
            <a:pPr>
              <a:spcBef>
                <a:spcPts val="0"/>
              </a:spcBef>
              <a:buSzPct val="90000"/>
              <a:buFontTx/>
              <a:buAutoNum type="arabicPeriod"/>
            </a:pPr>
            <a:r>
              <a:rPr lang="en-US" sz="1800" dirty="0"/>
              <a:t>Play for fun and relaxation, rather than to exhibit their superiority at any cost;</a:t>
            </a:r>
          </a:p>
          <a:p>
            <a:pPr>
              <a:spcBef>
                <a:spcPts val="0"/>
              </a:spcBef>
              <a:buSzPct val="90000"/>
              <a:buFontTx/>
              <a:buAutoNum type="arabicPeriod"/>
            </a:pPr>
            <a:r>
              <a:rPr lang="en-US" sz="1800" dirty="0"/>
              <a:t>Can relax without guilt.</a:t>
            </a:r>
          </a:p>
        </p:txBody>
      </p:sp>
      <p:sp>
        <p:nvSpPr>
          <p:cNvPr id="5" name="Slide Number Placeholder 4"/>
          <p:cNvSpPr>
            <a:spLocks noGrp="1"/>
          </p:cNvSpPr>
          <p:nvPr>
            <p:ph type="sldNum" sz="quarter" idx="16"/>
          </p:nvPr>
        </p:nvSpPr>
        <p:spPr/>
        <p:txBody>
          <a:bodyPr>
            <a:normAutofit fontScale="47500" lnSpcReduction="20000"/>
          </a:bodyPr>
          <a:lstStyle/>
          <a:p>
            <a:pPr algn="ctr"/>
            <a:fld id="{8F82E0A0-C266-4798-8C8F-B9F91E9DA37E}" type="slidenum">
              <a:rPr lang="en-US" sz="1400" b="1" smtClean="0">
                <a:solidFill>
                  <a:srgbClr val="FFFFFF"/>
                </a:solidFill>
              </a:rPr>
              <a:pPr algn="ctr"/>
              <a:t>22</a:t>
            </a:fld>
            <a:endParaRPr lang="en-US"/>
          </a:p>
        </p:txBody>
      </p:sp>
      <p:sp>
        <p:nvSpPr>
          <p:cNvPr id="6" name="Text Placeholder 5"/>
          <p:cNvSpPr>
            <a:spLocks noGrp="1"/>
          </p:cNvSpPr>
          <p:nvPr>
            <p:ph type="body" sz="quarter" idx="18"/>
          </p:nvPr>
        </p:nvSpPr>
        <p:spPr/>
        <p:txBody>
          <a:bodyPr/>
          <a:lstStyle/>
          <a:p>
            <a:r>
              <a:rPr lang="en-US" dirty="0"/>
              <a:t>Type A</a:t>
            </a:r>
          </a:p>
        </p:txBody>
      </p:sp>
      <p:sp>
        <p:nvSpPr>
          <p:cNvPr id="7" name="Text Placeholder 6"/>
          <p:cNvSpPr>
            <a:spLocks noGrp="1"/>
          </p:cNvSpPr>
          <p:nvPr>
            <p:ph type="body" sz="quarter" idx="19"/>
          </p:nvPr>
        </p:nvSpPr>
        <p:spPr/>
        <p:txBody>
          <a:bodyPr/>
          <a:lstStyle/>
          <a:p>
            <a:pPr algn="r"/>
            <a:r>
              <a:rPr lang="en-US" dirty="0"/>
              <a:t>Type B</a:t>
            </a:r>
          </a:p>
        </p:txBody>
      </p:sp>
      <p:pic>
        <p:nvPicPr>
          <p:cNvPr id="10242" name="Picture 2" descr="Image result for personality type a 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57149"/>
            <a:ext cx="1828800" cy="1930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06867"/>
      </p:ext>
    </p:extLst>
  </p:cSld>
  <p:clrMapOvr>
    <a:masterClrMapping/>
  </p:clrMapOvr>
  <p:transition>
    <p:pull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Proactive Personality</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23</a:t>
            </a:fld>
            <a:endParaRPr lang="en-US"/>
          </a:p>
        </p:txBody>
      </p:sp>
      <p:sp>
        <p:nvSpPr>
          <p:cNvPr id="4" name="Content Placeholder 3"/>
          <p:cNvSpPr>
            <a:spLocks noGrp="1"/>
          </p:cNvSpPr>
          <p:nvPr>
            <p:ph sz="quarter" idx="13"/>
          </p:nvPr>
        </p:nvSpPr>
        <p:spPr>
          <a:xfrm>
            <a:off x="609600" y="1352550"/>
            <a:ext cx="6096000" cy="3276600"/>
          </a:xfrm>
        </p:spPr>
        <p:txBody>
          <a:bodyPr>
            <a:normAutofit lnSpcReduction="10000"/>
          </a:bodyPr>
          <a:lstStyle/>
          <a:p>
            <a:pPr>
              <a:spcBef>
                <a:spcPct val="50000"/>
              </a:spcBef>
            </a:pPr>
            <a:r>
              <a:rPr lang="en-US" sz="2000" dirty="0"/>
              <a:t>Did you ever notice that some people actively take the initiative to improve their current circumstances or create new ones? </a:t>
            </a:r>
          </a:p>
          <a:p>
            <a:pPr>
              <a:spcBef>
                <a:spcPct val="50000"/>
              </a:spcBef>
            </a:pPr>
            <a:endParaRPr lang="en-US" sz="2000" dirty="0"/>
          </a:p>
          <a:p>
            <a:pPr>
              <a:spcBef>
                <a:spcPct val="50000"/>
              </a:spcBef>
            </a:pPr>
            <a:r>
              <a:rPr lang="en-US" sz="2000" dirty="0"/>
              <a:t>These are proactive personalities. </a:t>
            </a:r>
          </a:p>
          <a:p>
            <a:pPr>
              <a:spcBef>
                <a:spcPct val="50000"/>
              </a:spcBef>
            </a:pPr>
            <a:r>
              <a:rPr lang="en-US" sz="2000" dirty="0"/>
              <a:t>Identifies opportunities, shows initiative, takes action, and continues until meaningful change occurs. </a:t>
            </a:r>
          </a:p>
          <a:p>
            <a:pPr>
              <a:spcBef>
                <a:spcPct val="50000"/>
              </a:spcBef>
            </a:pPr>
            <a:r>
              <a:rPr lang="en-US" sz="2000" dirty="0"/>
              <a:t>Creates positive change in the environment, regardless or even in spite of constraints or obstacles.</a:t>
            </a:r>
          </a:p>
        </p:txBody>
      </p:sp>
      <p:pic>
        <p:nvPicPr>
          <p:cNvPr id="5" name="Picture 5" descr="bd0558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1504950"/>
            <a:ext cx="22098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512468"/>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050"/>
          <p:cNvSpPr>
            <a:spLocks noGrp="1" noChangeArrowheads="1"/>
          </p:cNvSpPr>
          <p:nvPr>
            <p:ph type="title"/>
          </p:nvPr>
        </p:nvSpPr>
        <p:spPr/>
        <p:txBody>
          <a:bodyPr>
            <a:noAutofit/>
          </a:bodyPr>
          <a:lstStyle/>
          <a:p>
            <a:r>
              <a:rPr lang="en-US" sz="4000" dirty="0"/>
              <a:t>Goal Orientation as a Personality Trait</a:t>
            </a:r>
          </a:p>
        </p:txBody>
      </p:sp>
      <p:sp>
        <p:nvSpPr>
          <p:cNvPr id="28675" name="Rectangle 2051"/>
          <p:cNvSpPr>
            <a:spLocks noGrp="1" noChangeArrowheads="1"/>
          </p:cNvSpPr>
          <p:nvPr>
            <p:ph sz="quarter" idx="13"/>
          </p:nvPr>
        </p:nvSpPr>
        <p:spPr/>
        <p:txBody>
          <a:bodyPr>
            <a:normAutofit lnSpcReduction="10000"/>
          </a:bodyPr>
          <a:lstStyle/>
          <a:p>
            <a:pPr>
              <a:lnSpc>
                <a:spcPct val="90000"/>
              </a:lnSpc>
            </a:pPr>
            <a:r>
              <a:rPr lang="en-US" sz="1900" b="1" dirty="0"/>
              <a:t>Individuals with this orientation:</a:t>
            </a:r>
          </a:p>
          <a:p>
            <a:pPr marL="463550" lvl="1" indent="-238125">
              <a:lnSpc>
                <a:spcPct val="90000"/>
              </a:lnSpc>
            </a:pPr>
            <a:r>
              <a:rPr lang="en-US" sz="1700" i="1" dirty="0"/>
              <a:t>Focus of increased competence and mastering something new – acquiring new skills</a:t>
            </a:r>
          </a:p>
          <a:p>
            <a:pPr marL="463550" lvl="1" indent="-238125">
              <a:lnSpc>
                <a:spcPct val="90000"/>
              </a:lnSpc>
            </a:pPr>
            <a:r>
              <a:rPr lang="en-US" sz="1700" i="1" dirty="0"/>
              <a:t>Evaluate competence according to whether a task is mastered or a skill developed</a:t>
            </a:r>
          </a:p>
          <a:p>
            <a:pPr marL="463550" lvl="1" indent="-238125">
              <a:lnSpc>
                <a:spcPct val="90000"/>
              </a:lnSpc>
            </a:pPr>
            <a:r>
              <a:rPr lang="en-US" sz="1700" i="1" dirty="0"/>
              <a:t>More likely to choose difficult and challenging tasks that is associated with better individual job performance</a:t>
            </a:r>
          </a:p>
        </p:txBody>
      </p:sp>
      <p:sp>
        <p:nvSpPr>
          <p:cNvPr id="2" name="Content Placeholder 1"/>
          <p:cNvSpPr>
            <a:spLocks noGrp="1"/>
          </p:cNvSpPr>
          <p:nvPr>
            <p:ph sz="quarter" idx="14"/>
          </p:nvPr>
        </p:nvSpPr>
        <p:spPr/>
        <p:txBody>
          <a:bodyPr>
            <a:normAutofit fontScale="85000" lnSpcReduction="20000"/>
          </a:bodyPr>
          <a:lstStyle/>
          <a:p>
            <a:pPr>
              <a:lnSpc>
                <a:spcPct val="90000"/>
              </a:lnSpc>
            </a:pPr>
            <a:r>
              <a:rPr lang="en-US" sz="2200" b="1" dirty="0"/>
              <a:t>Individuals with this orientation:</a:t>
            </a:r>
          </a:p>
          <a:p>
            <a:pPr marL="463550" lvl="1" indent="-238125">
              <a:lnSpc>
                <a:spcPct val="90000"/>
              </a:lnSpc>
            </a:pPr>
            <a:r>
              <a:rPr lang="en-US" sz="2000" i="1" dirty="0"/>
              <a:t>Demonstrate and validate competence by seeking favorable judgments from others (e.g., a supervisor) or avoiding negative judgments</a:t>
            </a:r>
          </a:p>
          <a:p>
            <a:pPr marL="463550" lvl="1" indent="-238125">
              <a:lnSpc>
                <a:spcPct val="90000"/>
              </a:lnSpc>
            </a:pPr>
            <a:r>
              <a:rPr lang="en-US" sz="2000" i="1" dirty="0"/>
              <a:t>Evaluate competence according to how they compare to others</a:t>
            </a:r>
          </a:p>
          <a:p>
            <a:pPr marL="463550" lvl="1" indent="-238125">
              <a:lnSpc>
                <a:spcPct val="90000"/>
              </a:lnSpc>
            </a:pPr>
            <a:r>
              <a:rPr lang="en-US" sz="2000" i="1" dirty="0"/>
              <a:t>Interprets effort and outcomes as diagnostic of their ability (high efforts level </a:t>
            </a:r>
            <a:r>
              <a:rPr lang="en-US" sz="2000" i="1" dirty="0">
                <a:sym typeface="Wingdings" pitchFamily="2" charset="2"/>
              </a:rPr>
              <a:t> indicator of low ability  results in withdrawal from further effort</a:t>
            </a:r>
            <a:r>
              <a:rPr lang="en-US" sz="2000" i="1" dirty="0"/>
              <a:t>)</a:t>
            </a:r>
          </a:p>
        </p:txBody>
      </p:sp>
      <p:sp>
        <p:nvSpPr>
          <p:cNvPr id="3" name="Text Placeholder 2"/>
          <p:cNvSpPr>
            <a:spLocks noGrp="1"/>
          </p:cNvSpPr>
          <p:nvPr>
            <p:ph type="body" sz="quarter" idx="18"/>
          </p:nvPr>
        </p:nvSpPr>
        <p:spPr/>
        <p:txBody>
          <a:bodyPr/>
          <a:lstStyle/>
          <a:p>
            <a:r>
              <a:rPr lang="en-US" dirty="0"/>
              <a:t>Learning Goal Orientation</a:t>
            </a:r>
          </a:p>
        </p:txBody>
      </p:sp>
      <p:sp>
        <p:nvSpPr>
          <p:cNvPr id="4" name="Text Placeholder 3"/>
          <p:cNvSpPr>
            <a:spLocks noGrp="1"/>
          </p:cNvSpPr>
          <p:nvPr>
            <p:ph type="body" sz="quarter" idx="19"/>
          </p:nvPr>
        </p:nvSpPr>
        <p:spPr/>
        <p:txBody>
          <a:bodyPr/>
          <a:lstStyle/>
          <a:p>
            <a:r>
              <a:rPr lang="en-US" dirty="0"/>
              <a:t>Performance Goal Orientation</a:t>
            </a:r>
          </a:p>
        </p:txBody>
      </p:sp>
    </p:spTree>
    <p:extLst>
      <p:ext uri="{BB962C8B-B14F-4D97-AF65-F5344CB8AC3E}">
        <p14:creationId xmlns:p14="http://schemas.microsoft.com/office/powerpoint/2010/main" val="1367192822"/>
      </p:ext>
    </p:extLst>
  </p:cSld>
  <p:clrMapOvr>
    <a:masterClrMapping/>
  </p:clrMapOvr>
  <p:transition>
    <p:pull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Values</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25</a:t>
            </a:fld>
            <a:endParaRPr lang="en-US"/>
          </a:p>
        </p:txBody>
      </p:sp>
      <p:sp>
        <p:nvSpPr>
          <p:cNvPr id="4" name="Content Placeholder 3"/>
          <p:cNvSpPr>
            <a:spLocks noGrp="1"/>
          </p:cNvSpPr>
          <p:nvPr>
            <p:ph sz="quarter" idx="13"/>
          </p:nvPr>
        </p:nvSpPr>
        <p:spPr/>
        <p:txBody>
          <a:bodyPr>
            <a:normAutofit fontScale="92500"/>
          </a:bodyPr>
          <a:lstStyle/>
          <a:p>
            <a:pPr>
              <a:lnSpc>
                <a:spcPct val="90000"/>
              </a:lnSpc>
            </a:pPr>
            <a:r>
              <a:rPr lang="en-US" sz="1900" dirty="0"/>
              <a:t>Definition: Mode of conduct or end state is personally or socially preferable (i.e., what is right, good or desirable?)</a:t>
            </a:r>
          </a:p>
          <a:p>
            <a:pPr>
              <a:lnSpc>
                <a:spcPct val="90000"/>
              </a:lnSpc>
            </a:pPr>
            <a:r>
              <a:rPr lang="en-US" sz="1900" dirty="0"/>
              <a:t>Value System: A hierarchy based on a ranking of an individual’s values in terms of their intensity.</a:t>
            </a:r>
          </a:p>
          <a:p>
            <a:pPr>
              <a:lnSpc>
                <a:spcPct val="90000"/>
              </a:lnSpc>
            </a:pPr>
            <a:r>
              <a:rPr lang="en-US" sz="1900" dirty="0"/>
              <a:t>The relative importance we assign to values such as freedom, pleasure, self-respect, honesty, obedience, and equality.</a:t>
            </a:r>
          </a:p>
          <a:p>
            <a:pPr lvl="1">
              <a:lnSpc>
                <a:spcPct val="90000"/>
              </a:lnSpc>
            </a:pPr>
            <a:r>
              <a:rPr lang="en-US" sz="1900" dirty="0">
                <a:solidFill>
                  <a:srgbClr val="CC6600"/>
                </a:solidFill>
              </a:rPr>
              <a:t>Terminal Values</a:t>
            </a:r>
          </a:p>
          <a:p>
            <a:pPr lvl="2">
              <a:lnSpc>
                <a:spcPct val="90000"/>
              </a:lnSpc>
            </a:pPr>
            <a:r>
              <a:rPr lang="en-US" sz="1900" dirty="0"/>
              <a:t>Desirable end-states of existence; the goals that a person would like to achieve during his or her lifetime</a:t>
            </a:r>
          </a:p>
          <a:p>
            <a:pPr lvl="1">
              <a:lnSpc>
                <a:spcPct val="90000"/>
              </a:lnSpc>
            </a:pPr>
            <a:r>
              <a:rPr lang="en-US" sz="1900" dirty="0">
                <a:solidFill>
                  <a:srgbClr val="CC6600"/>
                </a:solidFill>
              </a:rPr>
              <a:t>Instrumental Values</a:t>
            </a:r>
          </a:p>
          <a:p>
            <a:pPr lvl="2">
              <a:lnSpc>
                <a:spcPct val="90000"/>
              </a:lnSpc>
            </a:pPr>
            <a:r>
              <a:rPr lang="en-US" sz="1900" dirty="0"/>
              <a:t>Preferable modes of behavior or means of achieving one’s terminal values.</a:t>
            </a:r>
          </a:p>
          <a:p>
            <a:endParaRPr lang="en-US" dirty="0"/>
          </a:p>
        </p:txBody>
      </p:sp>
      <p:pic>
        <p:nvPicPr>
          <p:cNvPr id="11266" name="Picture 2" descr="Image result for valu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6601" y="0"/>
            <a:ext cx="2057400" cy="13758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28600" y="4781550"/>
            <a:ext cx="7391400" cy="307777"/>
          </a:xfrm>
          <a:prstGeom prst="rect">
            <a:avLst/>
          </a:prstGeom>
          <a:noFill/>
        </p:spPr>
        <p:txBody>
          <a:bodyPr wrap="square" rtlCol="0">
            <a:spAutoFit/>
          </a:bodyPr>
          <a:lstStyle/>
          <a:p>
            <a:r>
              <a:rPr lang="en-US" sz="1400" dirty="0"/>
              <a:t>Read this article: https://www.mindtools.com/pages/article/newTED_85.htm</a:t>
            </a:r>
          </a:p>
        </p:txBody>
      </p:sp>
    </p:spTree>
    <p:extLst>
      <p:ext uri="{BB962C8B-B14F-4D97-AF65-F5344CB8AC3E}">
        <p14:creationId xmlns:p14="http://schemas.microsoft.com/office/powerpoint/2010/main" val="3643099620"/>
      </p:ext>
    </p:extLst>
  </p:cSld>
  <p:clrMapOvr>
    <a:masterClrMapping/>
  </p:clrMapOvr>
  <p:transition>
    <p:pull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26</a:t>
            </a:fld>
            <a:endParaRPr lang="en-US" dirty="0">
              <a:solidFill>
                <a:srgbClr val="FFFFFF"/>
              </a:solidFill>
            </a:endParaRPr>
          </a:p>
        </p:txBody>
      </p:sp>
      <p:pic>
        <p:nvPicPr>
          <p:cNvPr id="5" name="Picture 3"/>
          <p:cNvPicPr>
            <a:picLocks noChangeAspect="1" noChangeArrowheads="1"/>
          </p:cNvPicPr>
          <p:nvPr/>
        </p:nvPicPr>
        <p:blipFill>
          <a:blip r:embed="rId3"/>
          <a:srcRect/>
          <a:stretch>
            <a:fillRect/>
          </a:stretch>
        </p:blipFill>
        <p:spPr bwMode="auto">
          <a:xfrm>
            <a:off x="463883" y="438150"/>
            <a:ext cx="4240463" cy="4648200"/>
          </a:xfrm>
          <a:prstGeom prst="rect">
            <a:avLst/>
          </a:prstGeom>
          <a:noFill/>
          <a:ln w="12700">
            <a:solidFill>
              <a:schemeClr val="tx1"/>
            </a:solidFill>
            <a:miter lim="800000"/>
            <a:headEnd/>
            <a:tailEnd/>
          </a:ln>
          <a:effectLst>
            <a:outerShdw dist="135003" dir="2471156" algn="ctr" rotWithShape="0">
              <a:srgbClr val="DDDDDD"/>
            </a:outerShdw>
          </a:effectLst>
        </p:spPr>
      </p:pic>
      <p:pic>
        <p:nvPicPr>
          <p:cNvPr id="6" name="Picture 2"/>
          <p:cNvPicPr>
            <a:picLocks noChangeAspect="1" noChangeArrowheads="1"/>
          </p:cNvPicPr>
          <p:nvPr/>
        </p:nvPicPr>
        <p:blipFill>
          <a:blip r:embed="rId4"/>
          <a:srcRect/>
          <a:stretch>
            <a:fillRect/>
          </a:stretch>
        </p:blipFill>
        <p:spPr bwMode="auto">
          <a:xfrm>
            <a:off x="4797631" y="438150"/>
            <a:ext cx="4346369" cy="4648200"/>
          </a:xfrm>
          <a:prstGeom prst="rect">
            <a:avLst/>
          </a:prstGeom>
          <a:noFill/>
          <a:ln w="12700">
            <a:solidFill>
              <a:schemeClr val="tx1"/>
            </a:solidFill>
            <a:miter lim="800000"/>
            <a:headEnd/>
            <a:tailEnd/>
          </a:ln>
          <a:effectLst>
            <a:outerShdw dist="135003" dir="2471156" algn="ctr" rotWithShape="0">
              <a:srgbClr val="DDDDDD"/>
            </a:outerShdw>
          </a:effectLst>
        </p:spPr>
      </p:pic>
    </p:spTree>
    <p:extLst>
      <p:ext uri="{BB962C8B-B14F-4D97-AF65-F5344CB8AC3E}">
        <p14:creationId xmlns:p14="http://schemas.microsoft.com/office/powerpoint/2010/main" val="403733690"/>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normAutofit/>
          </a:bodyPr>
          <a:lstStyle/>
          <a:p>
            <a:pPr eaLnBrk="1" hangingPunct="1">
              <a:defRPr/>
            </a:pPr>
            <a:r>
              <a:rPr lang="en-US" sz="4000" dirty="0"/>
              <a:t>Importance of Values</a:t>
            </a:r>
          </a:p>
        </p:txBody>
      </p:sp>
      <p:sp>
        <p:nvSpPr>
          <p:cNvPr id="22532" name="Rectangle 3"/>
          <p:cNvSpPr>
            <a:spLocks noGrp="1" noChangeArrowheads="1"/>
          </p:cNvSpPr>
          <p:nvPr>
            <p:ph sz="quarter" idx="13"/>
          </p:nvPr>
        </p:nvSpPr>
        <p:spPr/>
        <p:txBody>
          <a:bodyPr>
            <a:normAutofit/>
          </a:bodyPr>
          <a:lstStyle/>
          <a:p>
            <a:pPr eaLnBrk="1" hangingPunct="1">
              <a:spcBef>
                <a:spcPts val="0"/>
              </a:spcBef>
            </a:pPr>
            <a:r>
              <a:rPr lang="en-US" sz="1800" dirty="0"/>
              <a:t>Provide understanding of the attitudes, motivation, and behaviors of individuals and cultures.</a:t>
            </a:r>
          </a:p>
          <a:p>
            <a:pPr eaLnBrk="1" hangingPunct="1">
              <a:spcBef>
                <a:spcPts val="0"/>
              </a:spcBef>
            </a:pPr>
            <a:r>
              <a:rPr lang="en-US" sz="1800" dirty="0"/>
              <a:t>Influence our perception of the world around us.</a:t>
            </a:r>
          </a:p>
          <a:p>
            <a:pPr eaLnBrk="1" hangingPunct="1">
              <a:spcBef>
                <a:spcPts val="0"/>
              </a:spcBef>
            </a:pPr>
            <a:r>
              <a:rPr lang="en-US" sz="1800" dirty="0"/>
              <a:t>Represent interpretations of “right” and “wrong.”</a:t>
            </a:r>
          </a:p>
          <a:p>
            <a:pPr eaLnBrk="1" hangingPunct="1">
              <a:spcBef>
                <a:spcPts val="0"/>
              </a:spcBef>
            </a:pPr>
            <a:r>
              <a:rPr lang="en-US" sz="1800" dirty="0"/>
              <a:t>Imply that some behaviors or outcomes are preferred over others.</a:t>
            </a:r>
          </a:p>
          <a:p>
            <a:pPr>
              <a:spcBef>
                <a:spcPts val="0"/>
              </a:spcBef>
            </a:pPr>
            <a:r>
              <a:rPr lang="en-US" sz="1800" dirty="0"/>
              <a:t>Values often underlie and explain attitudes, behaviors, and perceptions. So knowledge of an individual’s value system can provide insight into what makes the person “tick.”</a:t>
            </a:r>
          </a:p>
        </p:txBody>
      </p:sp>
      <p:sp>
        <p:nvSpPr>
          <p:cNvPr id="2" name="TextBox 1"/>
          <p:cNvSpPr txBox="1"/>
          <p:nvPr/>
        </p:nvSpPr>
        <p:spPr>
          <a:xfrm>
            <a:off x="533400" y="3701355"/>
            <a:ext cx="8305800" cy="1384995"/>
          </a:xfrm>
          <a:prstGeom prst="rect">
            <a:avLst/>
          </a:prstGeom>
          <a:noFill/>
        </p:spPr>
        <p:txBody>
          <a:bodyPr wrap="square" rtlCol="0">
            <a:spAutoFit/>
          </a:bodyPr>
          <a:lstStyle/>
          <a:p>
            <a:r>
              <a:rPr lang="en-US" sz="1400" dirty="0"/>
              <a:t>Suppose you enter an organization with the view that allocating pay on the basis of performance is right, while allocating pay on the basis of seniority is wrong. How will you react if you find the organization you’ve just joined rewards seniority and not performance? </a:t>
            </a:r>
          </a:p>
          <a:p>
            <a:endParaRPr lang="en-US" sz="1400" dirty="0"/>
          </a:p>
          <a:p>
            <a:r>
              <a:rPr lang="en-US" sz="1400" dirty="0"/>
              <a:t>You’re likely to be disappointed—and this can lead to job dissatisfaction and a decision not to exert a high level of effort because “It’s probably not going to lead to more money anyway.</a:t>
            </a:r>
          </a:p>
        </p:txBody>
      </p:sp>
    </p:spTree>
    <p:extLst>
      <p:ext uri="{BB962C8B-B14F-4D97-AF65-F5344CB8AC3E}">
        <p14:creationId xmlns:p14="http://schemas.microsoft.com/office/powerpoint/2010/main" val="2671169184"/>
      </p:ext>
    </p:extLst>
  </p:cSld>
  <p:clrMapOvr>
    <a:masterClrMapping/>
  </p:clrMapOvr>
  <p:transition>
    <p:pull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pPr eaLnBrk="1" hangingPunct="1">
              <a:defRPr/>
            </a:pPr>
            <a:r>
              <a:rPr lang="en-US" sz="4000" dirty="0">
                <a:solidFill>
                  <a:schemeClr val="tx1"/>
                </a:solidFill>
              </a:rPr>
              <a:t>Organizational Values</a:t>
            </a:r>
          </a:p>
        </p:txBody>
      </p:sp>
      <p:sp>
        <p:nvSpPr>
          <p:cNvPr id="37891" name="Rectangle 3"/>
          <p:cNvSpPr>
            <a:spLocks noGrp="1" noChangeArrowheads="1"/>
          </p:cNvSpPr>
          <p:nvPr>
            <p:ph sz="quarter" idx="13"/>
          </p:nvPr>
        </p:nvSpPr>
        <p:spPr/>
        <p:txBody>
          <a:bodyPr>
            <a:normAutofit/>
          </a:bodyPr>
          <a:lstStyle/>
          <a:p>
            <a:pPr eaLnBrk="1" hangingPunct="1">
              <a:lnSpc>
                <a:spcPct val="80000"/>
              </a:lnSpc>
              <a:buFont typeface="Wingdings" pitchFamily="2" charset="2"/>
              <a:buChar char="q"/>
            </a:pPr>
            <a:r>
              <a:rPr lang="en-US" sz="1900" dirty="0"/>
              <a:t>Power</a:t>
            </a:r>
          </a:p>
          <a:p>
            <a:pPr eaLnBrk="1" hangingPunct="1">
              <a:lnSpc>
                <a:spcPct val="80000"/>
              </a:lnSpc>
              <a:buFont typeface="Wingdings" pitchFamily="2" charset="2"/>
              <a:buChar char="q"/>
            </a:pPr>
            <a:r>
              <a:rPr lang="en-US" sz="1900" dirty="0"/>
              <a:t>Rewards</a:t>
            </a:r>
          </a:p>
          <a:p>
            <a:pPr eaLnBrk="1" hangingPunct="1">
              <a:lnSpc>
                <a:spcPct val="80000"/>
              </a:lnSpc>
              <a:buFont typeface="Wingdings" pitchFamily="2" charset="2"/>
              <a:buChar char="q"/>
            </a:pPr>
            <a:r>
              <a:rPr lang="en-US" sz="1900" dirty="0"/>
              <a:t>Effectiveness</a:t>
            </a:r>
          </a:p>
          <a:p>
            <a:pPr eaLnBrk="1" hangingPunct="1">
              <a:lnSpc>
                <a:spcPct val="80000"/>
              </a:lnSpc>
              <a:buFont typeface="Wingdings" pitchFamily="2" charset="2"/>
              <a:buChar char="q"/>
            </a:pPr>
            <a:r>
              <a:rPr lang="en-US" sz="1900" dirty="0"/>
              <a:t>Efficiency</a:t>
            </a:r>
          </a:p>
          <a:p>
            <a:pPr eaLnBrk="1" hangingPunct="1">
              <a:lnSpc>
                <a:spcPct val="80000"/>
              </a:lnSpc>
              <a:buFont typeface="Wingdings" pitchFamily="2" charset="2"/>
              <a:buChar char="q"/>
            </a:pPr>
            <a:r>
              <a:rPr lang="en-US" sz="1900" dirty="0"/>
              <a:t>Fairness</a:t>
            </a:r>
          </a:p>
          <a:p>
            <a:pPr eaLnBrk="1" hangingPunct="1">
              <a:lnSpc>
                <a:spcPct val="80000"/>
              </a:lnSpc>
              <a:buFont typeface="Wingdings" pitchFamily="2" charset="2"/>
              <a:buChar char="q"/>
            </a:pPr>
            <a:r>
              <a:rPr lang="en-US" sz="1900" dirty="0"/>
              <a:t>Teamwork</a:t>
            </a:r>
          </a:p>
          <a:p>
            <a:pPr eaLnBrk="1" hangingPunct="1">
              <a:lnSpc>
                <a:spcPct val="80000"/>
              </a:lnSpc>
              <a:buFont typeface="Wingdings" pitchFamily="2" charset="2"/>
              <a:buChar char="q"/>
            </a:pPr>
            <a:r>
              <a:rPr lang="en-US" sz="1900" dirty="0"/>
              <a:t>Law and Order</a:t>
            </a:r>
          </a:p>
          <a:p>
            <a:pPr eaLnBrk="1" hangingPunct="1">
              <a:lnSpc>
                <a:spcPct val="80000"/>
              </a:lnSpc>
              <a:buFont typeface="Wingdings" pitchFamily="2" charset="2"/>
              <a:buChar char="q"/>
            </a:pPr>
            <a:r>
              <a:rPr lang="en-US" sz="1900" dirty="0"/>
              <a:t>Competitiveness</a:t>
            </a:r>
          </a:p>
          <a:p>
            <a:pPr eaLnBrk="1" hangingPunct="1">
              <a:lnSpc>
                <a:spcPct val="80000"/>
              </a:lnSpc>
              <a:buFont typeface="Wingdings" pitchFamily="2" charset="2"/>
              <a:buChar char="q"/>
            </a:pPr>
            <a:r>
              <a:rPr lang="en-US" sz="1900" dirty="0"/>
              <a:t>Opportunism</a:t>
            </a:r>
          </a:p>
          <a:p>
            <a:pPr eaLnBrk="1" hangingPunct="1">
              <a:lnSpc>
                <a:spcPct val="80000"/>
              </a:lnSpc>
            </a:pPr>
            <a:endParaRPr lang="en-US" sz="1900" dirty="0">
              <a:latin typeface="Times New Roman" pitchFamily="18" charset="0"/>
            </a:endParaRPr>
          </a:p>
        </p:txBody>
      </p:sp>
      <p:pic>
        <p:nvPicPr>
          <p:cNvPr id="1026" name="Picture 2" descr="Image result for Organizational Values">
            <a:extLst>
              <a:ext uri="{FF2B5EF4-FFF2-40B4-BE49-F238E27FC236}">
                <a16:creationId xmlns:a16="http://schemas.microsoft.com/office/drawing/2014/main" id="{1702DF4A-4199-4CD8-B761-28E8465E8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1907" y="1352550"/>
            <a:ext cx="5035893" cy="3731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351108"/>
      </p:ext>
    </p:extLst>
  </p:cSld>
  <p:clrMapOvr>
    <a:masterClrMapping/>
  </p:clrMapOvr>
  <p:transition>
    <p:pull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normAutofit/>
          </a:bodyPr>
          <a:lstStyle/>
          <a:p>
            <a:pPr eaLnBrk="1" hangingPunct="1">
              <a:defRPr/>
            </a:pPr>
            <a:r>
              <a:rPr lang="en-US" sz="4000" dirty="0">
                <a:solidFill>
                  <a:schemeClr val="tx1"/>
                </a:solidFill>
              </a:rPr>
              <a:t>Work Values</a:t>
            </a:r>
          </a:p>
        </p:txBody>
      </p:sp>
      <p:sp>
        <p:nvSpPr>
          <p:cNvPr id="38915" name="Rectangle 3"/>
          <p:cNvSpPr>
            <a:spLocks noGrp="1" noChangeArrowheads="1"/>
          </p:cNvSpPr>
          <p:nvPr>
            <p:ph sz="quarter" idx="13"/>
          </p:nvPr>
        </p:nvSpPr>
        <p:spPr/>
        <p:txBody>
          <a:bodyPr>
            <a:normAutofit/>
          </a:bodyPr>
          <a:lstStyle/>
          <a:p>
            <a:pPr eaLnBrk="1" hangingPunct="1">
              <a:lnSpc>
                <a:spcPct val="90000"/>
              </a:lnSpc>
            </a:pPr>
            <a:r>
              <a:rPr lang="en-US" sz="2000" dirty="0"/>
              <a:t>Commitment</a:t>
            </a:r>
          </a:p>
          <a:p>
            <a:pPr eaLnBrk="1" hangingPunct="1">
              <a:lnSpc>
                <a:spcPct val="90000"/>
              </a:lnSpc>
            </a:pPr>
            <a:r>
              <a:rPr lang="en-US" sz="2000" dirty="0"/>
              <a:t>Self-Motivation</a:t>
            </a:r>
          </a:p>
          <a:p>
            <a:pPr eaLnBrk="1" hangingPunct="1">
              <a:lnSpc>
                <a:spcPct val="90000"/>
              </a:lnSpc>
            </a:pPr>
            <a:r>
              <a:rPr lang="en-US" sz="2000" dirty="0"/>
              <a:t>Integrity</a:t>
            </a:r>
          </a:p>
          <a:p>
            <a:pPr eaLnBrk="1" hangingPunct="1">
              <a:lnSpc>
                <a:spcPct val="90000"/>
              </a:lnSpc>
            </a:pPr>
            <a:r>
              <a:rPr lang="en-US" sz="2000" dirty="0"/>
              <a:t>Hard Work</a:t>
            </a:r>
          </a:p>
          <a:p>
            <a:pPr eaLnBrk="1" hangingPunct="1">
              <a:lnSpc>
                <a:spcPct val="90000"/>
              </a:lnSpc>
            </a:pPr>
            <a:r>
              <a:rPr lang="en-US" sz="2000" dirty="0"/>
              <a:t>Trust</a:t>
            </a:r>
          </a:p>
          <a:p>
            <a:pPr eaLnBrk="1" hangingPunct="1">
              <a:lnSpc>
                <a:spcPct val="90000"/>
              </a:lnSpc>
            </a:pPr>
            <a:r>
              <a:rPr lang="en-US" sz="2000" dirty="0"/>
              <a:t>Achievement</a:t>
            </a:r>
          </a:p>
          <a:p>
            <a:pPr eaLnBrk="1" hangingPunct="1">
              <a:lnSpc>
                <a:spcPct val="90000"/>
              </a:lnSpc>
            </a:pPr>
            <a:r>
              <a:rPr lang="en-US" sz="2000" dirty="0"/>
              <a:t>Contentment</a:t>
            </a:r>
          </a:p>
          <a:p>
            <a:pPr eaLnBrk="1" hangingPunct="1">
              <a:lnSpc>
                <a:spcPct val="90000"/>
              </a:lnSpc>
            </a:pPr>
            <a:r>
              <a:rPr lang="en-US" sz="2000" dirty="0"/>
              <a:t>Career progress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5868" y="1352550"/>
            <a:ext cx="6141298"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2329262"/>
      </p:ext>
    </p:extLst>
  </p:cSld>
  <p:clrMapOvr>
    <a:masterClrMapping/>
  </p:clrMapOvr>
  <p:transition>
    <p:pull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noAutofit/>
          </a:bodyPr>
          <a:lstStyle/>
          <a:p>
            <a:r>
              <a:rPr lang="en-US" sz="3600" dirty="0"/>
              <a:t>Linking an Individual’s Personality and Values to the Workplace</a:t>
            </a:r>
          </a:p>
        </p:txBody>
      </p:sp>
      <p:sp>
        <p:nvSpPr>
          <p:cNvPr id="2" name="Content Placeholder 1"/>
          <p:cNvSpPr>
            <a:spLocks noGrp="1"/>
          </p:cNvSpPr>
          <p:nvPr>
            <p:ph sz="quarter" idx="13"/>
          </p:nvPr>
        </p:nvSpPr>
        <p:spPr>
          <a:xfrm>
            <a:off x="609600" y="1352550"/>
            <a:ext cx="7924800" cy="3276600"/>
          </a:xfrm>
        </p:spPr>
        <p:txBody>
          <a:bodyPr>
            <a:normAutofit/>
          </a:bodyPr>
          <a:lstStyle/>
          <a:p>
            <a:r>
              <a:rPr lang="en-US" sz="2000" dirty="0"/>
              <a:t>Thirty years ago, organizations were concerned only with personality because their primary focus was to match individuals to specific jobs. </a:t>
            </a:r>
          </a:p>
          <a:p>
            <a:r>
              <a:rPr lang="en-US" sz="2000" dirty="0"/>
              <a:t>That concern has expanded to include how well the individual’s personality </a:t>
            </a:r>
            <a:r>
              <a:rPr lang="en-US" sz="2000" i="1" dirty="0"/>
              <a:t>and </a:t>
            </a:r>
            <a:r>
              <a:rPr lang="en-US" sz="2000" dirty="0"/>
              <a:t>values match the organization. </a:t>
            </a:r>
          </a:p>
          <a:p>
            <a:r>
              <a:rPr lang="en-US" sz="2000" dirty="0"/>
              <a:t>Why? </a:t>
            </a:r>
          </a:p>
          <a:p>
            <a:r>
              <a:rPr lang="en-US" sz="2000" dirty="0"/>
              <a:t>Because managers today are less interested in an applicant’s ability to perform a </a:t>
            </a:r>
            <a:r>
              <a:rPr lang="en-US" sz="2000" i="1" dirty="0"/>
              <a:t>specific </a:t>
            </a:r>
            <a:r>
              <a:rPr lang="en-US" sz="2000" dirty="0"/>
              <a:t>job than with his or her </a:t>
            </a:r>
            <a:r>
              <a:rPr lang="en-US" sz="2000" i="1" dirty="0"/>
              <a:t>flexibility </a:t>
            </a:r>
            <a:r>
              <a:rPr lang="en-US" sz="2000" dirty="0"/>
              <a:t>to meet changing situations and commitment to the organization.</a:t>
            </a:r>
          </a:p>
          <a:p>
            <a:r>
              <a:rPr lang="en-US" sz="2000" dirty="0"/>
              <a:t>Person–job fit vs. Person–organization fit</a:t>
            </a:r>
          </a:p>
        </p:txBody>
      </p:sp>
    </p:spTree>
    <p:extLst>
      <p:ext uri="{BB962C8B-B14F-4D97-AF65-F5344CB8AC3E}">
        <p14:creationId xmlns:p14="http://schemas.microsoft.com/office/powerpoint/2010/main" val="1930900939"/>
      </p:ext>
    </p:extLst>
  </p:cSld>
  <p:clrMapOvr>
    <a:masterClrMapping/>
  </p:clrMapOvr>
  <p:transition>
    <p:pull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noAutofit/>
          </a:bodyPr>
          <a:lstStyle/>
          <a:p>
            <a:r>
              <a:rPr lang="en-US" sz="3600" dirty="0"/>
              <a:t>Linking an Individual’s Personality and Values to the Workplace</a:t>
            </a:r>
          </a:p>
        </p:txBody>
      </p:sp>
      <p:sp>
        <p:nvSpPr>
          <p:cNvPr id="2" name="Content Placeholder 1"/>
          <p:cNvSpPr>
            <a:spLocks noGrp="1"/>
          </p:cNvSpPr>
          <p:nvPr>
            <p:ph sz="quarter" idx="13"/>
          </p:nvPr>
        </p:nvSpPr>
        <p:spPr>
          <a:xfrm>
            <a:off x="609600" y="1919818"/>
            <a:ext cx="3886200" cy="3223682"/>
          </a:xfrm>
        </p:spPr>
        <p:txBody>
          <a:bodyPr>
            <a:normAutofit fontScale="85000" lnSpcReduction="20000"/>
          </a:bodyPr>
          <a:lstStyle/>
          <a:p>
            <a:r>
              <a:rPr lang="en-US" sz="2100" dirty="0"/>
              <a:t>The effort to match job requirements with personality characteristics is known as </a:t>
            </a:r>
            <a:r>
              <a:rPr lang="en-US" sz="2100" b="1" dirty="0"/>
              <a:t>personality–job fit theory.</a:t>
            </a:r>
          </a:p>
          <a:p>
            <a:r>
              <a:rPr lang="en-US" sz="2100" dirty="0"/>
              <a:t>John Holland presented six personality types and proposes that satisfaction and the propensity to leave a position depend on how well individuals match their personalities to a job.</a:t>
            </a:r>
          </a:p>
          <a:p>
            <a:r>
              <a:rPr lang="en-US" sz="2100" dirty="0" err="1"/>
              <a:t>E.g</a:t>
            </a:r>
            <a:r>
              <a:rPr lang="en-US" sz="2100" dirty="0"/>
              <a:t>: A realistic person in a realistic job is in a more compatible situation than a realistic person in an investigative job.</a:t>
            </a:r>
          </a:p>
          <a:p>
            <a:endParaRPr lang="en-US" sz="2000" dirty="0"/>
          </a:p>
        </p:txBody>
      </p:sp>
      <p:sp>
        <p:nvSpPr>
          <p:cNvPr id="3" name="Content Placeholder 2"/>
          <p:cNvSpPr>
            <a:spLocks noGrp="1"/>
          </p:cNvSpPr>
          <p:nvPr>
            <p:ph sz="quarter" idx="14"/>
          </p:nvPr>
        </p:nvSpPr>
        <p:spPr/>
        <p:txBody>
          <a:bodyPr>
            <a:normAutofit fontScale="62500" lnSpcReduction="20000"/>
          </a:bodyPr>
          <a:lstStyle/>
          <a:p>
            <a:r>
              <a:rPr lang="en-US" dirty="0"/>
              <a:t>Argues that people are attracted to and selected by organizations that match their values, and they leave organizations that are not compatible with their personalities.</a:t>
            </a:r>
          </a:p>
          <a:p>
            <a:r>
              <a:rPr lang="en-US" dirty="0" err="1"/>
              <a:t>E.g</a:t>
            </a:r>
            <a:r>
              <a:rPr lang="en-US" dirty="0"/>
              <a:t>: People high on openness to experience fit better in organizations that emphasize innovation rather than standardization</a:t>
            </a:r>
          </a:p>
        </p:txBody>
      </p:sp>
      <p:sp>
        <p:nvSpPr>
          <p:cNvPr id="4" name="Text Placeholder 3"/>
          <p:cNvSpPr>
            <a:spLocks noGrp="1"/>
          </p:cNvSpPr>
          <p:nvPr>
            <p:ph type="body" sz="quarter" idx="18"/>
          </p:nvPr>
        </p:nvSpPr>
        <p:spPr/>
        <p:txBody>
          <a:bodyPr/>
          <a:lstStyle/>
          <a:p>
            <a:r>
              <a:rPr lang="en-US" dirty="0"/>
              <a:t>Person-Job Fit</a:t>
            </a:r>
          </a:p>
        </p:txBody>
      </p:sp>
      <p:sp>
        <p:nvSpPr>
          <p:cNvPr id="5" name="Text Placeholder 4"/>
          <p:cNvSpPr>
            <a:spLocks noGrp="1"/>
          </p:cNvSpPr>
          <p:nvPr>
            <p:ph type="body" sz="quarter" idx="19"/>
          </p:nvPr>
        </p:nvSpPr>
        <p:spPr/>
        <p:txBody>
          <a:bodyPr/>
          <a:lstStyle/>
          <a:p>
            <a:r>
              <a:rPr lang="en-US" dirty="0"/>
              <a:t>Person-Organization Fit</a:t>
            </a:r>
          </a:p>
        </p:txBody>
      </p:sp>
    </p:spTree>
    <p:extLst>
      <p:ext uri="{BB962C8B-B14F-4D97-AF65-F5344CB8AC3E}">
        <p14:creationId xmlns:p14="http://schemas.microsoft.com/office/powerpoint/2010/main" val="664376334"/>
      </p:ext>
    </p:extLst>
  </p:cSld>
  <p:clrMapOvr>
    <a:masterClrMapping/>
  </p:clrMapOvr>
  <p:transition>
    <p:pull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normAutofit/>
          </a:bodyPr>
          <a:lstStyle/>
          <a:p>
            <a:pPr eaLnBrk="1" hangingPunct="1">
              <a:defRPr/>
            </a:pPr>
            <a:r>
              <a:rPr lang="en-US" sz="4000" dirty="0"/>
              <a:t>Achieving Person-Job Fit</a:t>
            </a:r>
          </a:p>
        </p:txBody>
      </p:sp>
      <p:sp>
        <p:nvSpPr>
          <p:cNvPr id="2" name="Content Placeholder 1"/>
          <p:cNvSpPr>
            <a:spLocks noGrp="1"/>
          </p:cNvSpPr>
          <p:nvPr>
            <p:ph sz="quarter" idx="13"/>
          </p:nvPr>
        </p:nvSpPr>
        <p:spPr>
          <a:xfrm>
            <a:off x="609600" y="1352550"/>
            <a:ext cx="7924800" cy="3276600"/>
          </a:xfrm>
        </p:spPr>
        <p:txBody>
          <a:bodyPr>
            <a:normAutofit/>
          </a:bodyPr>
          <a:lstStyle/>
          <a:p>
            <a:pPr>
              <a:spcBef>
                <a:spcPct val="50000"/>
              </a:spcBef>
            </a:pPr>
            <a:r>
              <a:rPr lang="en-US" sz="1600" dirty="0"/>
              <a:t>Certain personality types and proposes that the fit between personality type and occupational environment determines satisfaction and turnover.</a:t>
            </a:r>
          </a:p>
          <a:p>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885950"/>
            <a:ext cx="8001000" cy="3416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6943428"/>
      </p:ext>
    </p:extLst>
  </p:cSld>
  <p:clrMapOvr>
    <a:masterClrMapping/>
  </p:clrMapOvr>
  <p:transition>
    <p:pull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1026"/>
          <p:cNvSpPr>
            <a:spLocks noGrp="1" noChangeArrowheads="1"/>
          </p:cNvSpPr>
          <p:nvPr>
            <p:ph type="title"/>
          </p:nvPr>
        </p:nvSpPr>
        <p:spPr/>
        <p:txBody>
          <a:bodyPr>
            <a:normAutofit fontScale="90000"/>
          </a:bodyPr>
          <a:lstStyle/>
          <a:p>
            <a:pPr eaLnBrk="1" hangingPunct="1">
              <a:defRPr/>
            </a:pPr>
            <a:r>
              <a:rPr lang="en-US" sz="4400" dirty="0"/>
              <a:t>Dimensions of Culture</a:t>
            </a:r>
            <a:br>
              <a:rPr lang="en-US" dirty="0"/>
            </a:br>
            <a:r>
              <a:rPr lang="en-US" sz="3600" dirty="0" err="1"/>
              <a:t>Hofstede’s</a:t>
            </a:r>
            <a:r>
              <a:rPr lang="en-US" sz="3600" dirty="0"/>
              <a:t> Framework</a:t>
            </a:r>
            <a:endParaRPr lang="en-US" dirty="0"/>
          </a:p>
        </p:txBody>
      </p:sp>
      <p:sp>
        <p:nvSpPr>
          <p:cNvPr id="2" name="Content Placeholder 1"/>
          <p:cNvSpPr>
            <a:spLocks noGrp="1"/>
          </p:cNvSpPr>
          <p:nvPr>
            <p:ph sz="quarter" idx="13"/>
          </p:nvPr>
        </p:nvSpPr>
        <p:spPr>
          <a:xfrm>
            <a:off x="609600" y="1352550"/>
            <a:ext cx="6629400" cy="3276600"/>
          </a:xfrm>
        </p:spPr>
        <p:txBody>
          <a:bodyPr>
            <a:normAutofit/>
          </a:bodyPr>
          <a:lstStyle/>
          <a:p>
            <a:pPr marL="0" indent="0">
              <a:spcBef>
                <a:spcPct val="50000"/>
              </a:spcBef>
              <a:buNone/>
            </a:pPr>
            <a:r>
              <a:rPr lang="en-US" sz="2000" u="sng" dirty="0"/>
              <a:t>Individualism   </a:t>
            </a:r>
            <a:r>
              <a:rPr lang="en-US" sz="2000" dirty="0"/>
              <a:t>        </a:t>
            </a:r>
            <a:r>
              <a:rPr lang="en-US" sz="2000" i="1" dirty="0"/>
              <a:t>    </a:t>
            </a:r>
          </a:p>
          <a:p>
            <a:pPr>
              <a:spcBef>
                <a:spcPct val="50000"/>
              </a:spcBef>
            </a:pPr>
            <a:r>
              <a:rPr lang="en-US" sz="2000" dirty="0"/>
              <a:t>The degree to which people prefer to act as individuals rather than a member of groups.</a:t>
            </a:r>
          </a:p>
          <a:p>
            <a:pPr marL="0" indent="0">
              <a:spcBef>
                <a:spcPct val="50000"/>
              </a:spcBef>
              <a:buNone/>
            </a:pPr>
            <a:r>
              <a:rPr lang="en-US" sz="2000" u="sng" dirty="0"/>
              <a:t>Collectivism</a:t>
            </a:r>
          </a:p>
          <a:p>
            <a:pPr>
              <a:spcBef>
                <a:spcPct val="50000"/>
              </a:spcBef>
            </a:pPr>
            <a:r>
              <a:rPr lang="en-US" sz="2000" dirty="0"/>
              <a:t>A tight social framework in which people expect others in groups of which they are a part to look after them and protect them.</a:t>
            </a:r>
          </a:p>
        </p:txBody>
      </p:sp>
      <p:pic>
        <p:nvPicPr>
          <p:cNvPr id="29703" name="Picture 1032" descr="pe0209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7800" y="3884247"/>
            <a:ext cx="2096120" cy="1258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Picture 1033" descr="bs01316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91400" y="2669381"/>
            <a:ext cx="1609725" cy="2188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rot="2778448">
            <a:off x="6538443" y="718502"/>
            <a:ext cx="2711530" cy="1077218"/>
          </a:xfrm>
          <a:prstGeom prst="rect">
            <a:avLst/>
          </a:prstGeom>
          <a:solidFill>
            <a:schemeClr val="accent1"/>
          </a:solidFill>
        </p:spPr>
        <p:txBody>
          <a:bodyPr wrap="square" lIns="91440" tIns="45720" rIns="91440" bIns="45720">
            <a:spAutoFit/>
          </a:bodyPr>
          <a:lstStyle/>
          <a:p>
            <a:pPr algn="ctr"/>
            <a:r>
              <a:rPr lang="en-US" sz="3200" b="1" i="1" cap="none" spc="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Bodoni MT" pitchFamily="18" charset="0"/>
              </a:rPr>
              <a:t>International Values</a:t>
            </a:r>
          </a:p>
        </p:txBody>
      </p:sp>
    </p:spTree>
    <p:extLst>
      <p:ext uri="{BB962C8B-B14F-4D97-AF65-F5344CB8AC3E}">
        <p14:creationId xmlns:p14="http://schemas.microsoft.com/office/powerpoint/2010/main" val="3566328109"/>
      </p:ext>
    </p:extLst>
  </p:cSld>
  <p:clrMapOvr>
    <a:masterClrMapping/>
  </p:clrMapOvr>
  <p:transition>
    <p:pull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p:nvPr>
        </p:nvSpPr>
        <p:spPr/>
        <p:txBody>
          <a:bodyPr>
            <a:normAutofit fontScale="90000"/>
          </a:bodyPr>
          <a:lstStyle/>
          <a:p>
            <a:pPr>
              <a:defRPr/>
            </a:pPr>
            <a:r>
              <a:rPr lang="en-US" sz="4400" dirty="0"/>
              <a:t>Dimensions of Culture</a:t>
            </a:r>
            <a:br>
              <a:rPr lang="en-US" dirty="0"/>
            </a:br>
            <a:r>
              <a:rPr lang="en-US" sz="3600" dirty="0" err="1"/>
              <a:t>Hofstede’s</a:t>
            </a:r>
            <a:r>
              <a:rPr lang="en-US" sz="3600" dirty="0"/>
              <a:t> Framework (cont’d)</a:t>
            </a:r>
          </a:p>
        </p:txBody>
      </p:sp>
      <p:sp>
        <p:nvSpPr>
          <p:cNvPr id="2" name="Content Placeholder 1"/>
          <p:cNvSpPr>
            <a:spLocks noGrp="1"/>
          </p:cNvSpPr>
          <p:nvPr>
            <p:ph sz="quarter" idx="13"/>
          </p:nvPr>
        </p:nvSpPr>
        <p:spPr/>
        <p:txBody>
          <a:bodyPr>
            <a:normAutofit/>
          </a:bodyPr>
          <a:lstStyle/>
          <a:p>
            <a:pPr marL="0" indent="0">
              <a:spcBef>
                <a:spcPct val="50000"/>
              </a:spcBef>
              <a:buNone/>
            </a:pPr>
            <a:r>
              <a:rPr lang="en-US" sz="2000" u="sng" dirty="0"/>
              <a:t>Masculinity</a:t>
            </a:r>
          </a:p>
          <a:p>
            <a:r>
              <a:rPr lang="en-US" sz="2000" dirty="0"/>
              <a:t>The extent to which the society values traditional masculine roles such as achievement, power, and control.</a:t>
            </a:r>
          </a:p>
          <a:p>
            <a:pPr marL="0" indent="0">
              <a:spcBef>
                <a:spcPct val="50000"/>
              </a:spcBef>
              <a:buNone/>
            </a:pPr>
            <a:r>
              <a:rPr lang="en-US" sz="2000" u="sng" dirty="0"/>
              <a:t>Femininity</a:t>
            </a:r>
          </a:p>
          <a:p>
            <a:pPr>
              <a:spcBef>
                <a:spcPct val="50000"/>
              </a:spcBef>
            </a:pPr>
            <a:r>
              <a:rPr lang="en-US" sz="2000" dirty="0"/>
              <a:t>The extent to which there is little differentiation between roles for men and women. </a:t>
            </a:r>
          </a:p>
        </p:txBody>
      </p:sp>
      <p:pic>
        <p:nvPicPr>
          <p:cNvPr id="319492" name="Picture 4" descr="bs01579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3668315"/>
            <a:ext cx="1912938" cy="1341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Picture 9" descr="bd06982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67200" y="3774805"/>
            <a:ext cx="3344863" cy="1207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rot="2778448">
            <a:off x="6538443" y="718502"/>
            <a:ext cx="2711530" cy="1077218"/>
          </a:xfrm>
          <a:prstGeom prst="rect">
            <a:avLst/>
          </a:prstGeom>
          <a:solidFill>
            <a:schemeClr val="accent1"/>
          </a:solidFill>
        </p:spPr>
        <p:txBody>
          <a:bodyPr wrap="square" lIns="91440" tIns="45720" rIns="91440" bIns="45720">
            <a:spAutoFit/>
          </a:bodyPr>
          <a:lstStyle/>
          <a:p>
            <a:pPr algn="ctr"/>
            <a:r>
              <a:rPr lang="en-US" sz="3200" b="1" i="1" cap="none" spc="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Bodoni MT" pitchFamily="18" charset="0"/>
              </a:rPr>
              <a:t>International Values</a:t>
            </a:r>
          </a:p>
        </p:txBody>
      </p:sp>
    </p:spTree>
    <p:extLst>
      <p:ext uri="{BB962C8B-B14F-4D97-AF65-F5344CB8AC3E}">
        <p14:creationId xmlns:p14="http://schemas.microsoft.com/office/powerpoint/2010/main" val="517263361"/>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 presetClass="entr" presetSubtype="16" fill="hold" nodeType="afterEffect">
                                  <p:stCondLst>
                                    <p:cond delay="0"/>
                                  </p:stCondLst>
                                  <p:childTnLst>
                                    <p:set>
                                      <p:cBhvr>
                                        <p:cTn id="6" dur="1" fill="hold">
                                          <p:stCondLst>
                                            <p:cond delay="0"/>
                                          </p:stCondLst>
                                        </p:cTn>
                                        <p:tgtEl>
                                          <p:spTgt spid="319492"/>
                                        </p:tgtEl>
                                        <p:attrNameLst>
                                          <p:attrName>style.visibility</p:attrName>
                                        </p:attrNameLst>
                                      </p:cBhvr>
                                      <p:to>
                                        <p:strVal val="visible"/>
                                      </p:to>
                                    </p:set>
                                    <p:animEffect transition="in" filter="box(in)">
                                      <p:cBhvr>
                                        <p:cTn id="7" dur="500"/>
                                        <p:tgtEl>
                                          <p:spTgt spid="319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1026"/>
          <p:cNvSpPr>
            <a:spLocks noGrp="1" noChangeArrowheads="1"/>
          </p:cNvSpPr>
          <p:nvPr>
            <p:ph type="title"/>
          </p:nvPr>
        </p:nvSpPr>
        <p:spPr/>
        <p:txBody>
          <a:bodyPr>
            <a:normAutofit fontScale="90000"/>
          </a:bodyPr>
          <a:lstStyle/>
          <a:p>
            <a:pPr>
              <a:defRPr/>
            </a:pPr>
            <a:r>
              <a:rPr lang="en-US" sz="4400" dirty="0"/>
              <a:t>Dimensions of Culture</a:t>
            </a:r>
            <a:br>
              <a:rPr lang="en-US" dirty="0"/>
            </a:br>
            <a:r>
              <a:rPr lang="en-US" sz="3600" dirty="0" err="1"/>
              <a:t>Hofstede’s</a:t>
            </a:r>
            <a:r>
              <a:rPr lang="en-US" sz="3600" dirty="0"/>
              <a:t> Framework (cont’d)</a:t>
            </a:r>
            <a:endParaRPr lang="en-US" dirty="0"/>
          </a:p>
        </p:txBody>
      </p:sp>
      <p:sp>
        <p:nvSpPr>
          <p:cNvPr id="2" name="Content Placeholder 1"/>
          <p:cNvSpPr>
            <a:spLocks noGrp="1"/>
          </p:cNvSpPr>
          <p:nvPr>
            <p:ph sz="quarter" idx="13"/>
          </p:nvPr>
        </p:nvSpPr>
        <p:spPr/>
        <p:txBody>
          <a:bodyPr>
            <a:normAutofit/>
          </a:bodyPr>
          <a:lstStyle/>
          <a:p>
            <a:pPr marL="0" indent="0">
              <a:spcBef>
                <a:spcPct val="50000"/>
              </a:spcBef>
              <a:buNone/>
            </a:pPr>
            <a:r>
              <a:rPr lang="en-US" sz="2000" dirty="0"/>
              <a:t>Uncertainty Avoidance</a:t>
            </a:r>
          </a:p>
          <a:p>
            <a:pPr>
              <a:spcBef>
                <a:spcPct val="50000"/>
              </a:spcBef>
            </a:pPr>
            <a:r>
              <a:rPr lang="en-US" sz="2000" dirty="0"/>
              <a:t>The extent to which a society feels threatened by uncertain and ambiguous situations and tries to avoid them.</a:t>
            </a:r>
          </a:p>
          <a:p>
            <a:pPr>
              <a:spcBef>
                <a:spcPct val="50000"/>
              </a:spcBef>
            </a:pPr>
            <a:r>
              <a:rPr lang="en-US" sz="2000" dirty="0"/>
              <a:t>High Uncertainty Avoidance:  Society does not like ambiguous situations &amp; tries to avoid them. </a:t>
            </a:r>
          </a:p>
          <a:p>
            <a:pPr>
              <a:spcBef>
                <a:spcPct val="50000"/>
              </a:spcBef>
            </a:pPr>
            <a:r>
              <a:rPr lang="en-US" sz="2000" dirty="0"/>
              <a:t>Low Uncertainty Avoidance:  Society does not mind ambiguous situations &amp; embraces them. </a:t>
            </a:r>
          </a:p>
        </p:txBody>
      </p:sp>
      <p:pic>
        <p:nvPicPr>
          <p:cNvPr id="31750" name="Picture 1030" descr="pe01605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3790950"/>
            <a:ext cx="2174466"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rot="2778448">
            <a:off x="6538443" y="718502"/>
            <a:ext cx="2711530" cy="1077218"/>
          </a:xfrm>
          <a:prstGeom prst="rect">
            <a:avLst/>
          </a:prstGeom>
          <a:solidFill>
            <a:schemeClr val="accent1"/>
          </a:solidFill>
        </p:spPr>
        <p:txBody>
          <a:bodyPr wrap="square" lIns="91440" tIns="45720" rIns="91440" bIns="45720">
            <a:spAutoFit/>
          </a:bodyPr>
          <a:lstStyle/>
          <a:p>
            <a:pPr algn="ctr"/>
            <a:r>
              <a:rPr lang="en-US" sz="3200" b="1" i="1" cap="none" spc="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Bodoni MT" pitchFamily="18" charset="0"/>
              </a:rPr>
              <a:t>International Values</a:t>
            </a:r>
          </a:p>
        </p:txBody>
      </p:sp>
    </p:spTree>
    <p:extLst>
      <p:ext uri="{BB962C8B-B14F-4D97-AF65-F5344CB8AC3E}">
        <p14:creationId xmlns:p14="http://schemas.microsoft.com/office/powerpoint/2010/main" val="2395302901"/>
      </p:ext>
    </p:extLst>
  </p:cSld>
  <p:clrMapOvr>
    <a:masterClrMapping/>
  </p:clrMapOvr>
  <p:transition>
    <p:pull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ChangeArrowheads="1"/>
          </p:cNvSpPr>
          <p:nvPr>
            <p:ph type="title"/>
          </p:nvPr>
        </p:nvSpPr>
        <p:spPr/>
        <p:txBody>
          <a:bodyPr>
            <a:normAutofit fontScale="90000"/>
          </a:bodyPr>
          <a:lstStyle/>
          <a:p>
            <a:pPr>
              <a:defRPr/>
            </a:pPr>
            <a:r>
              <a:rPr lang="en-US" sz="4400" dirty="0"/>
              <a:t>Dimensions of Culture</a:t>
            </a:r>
            <a:br>
              <a:rPr lang="en-US" dirty="0"/>
            </a:br>
            <a:r>
              <a:rPr lang="en-US" sz="3600" dirty="0" err="1"/>
              <a:t>Hofstede’s</a:t>
            </a:r>
            <a:r>
              <a:rPr lang="en-US" sz="3600" dirty="0"/>
              <a:t> Framework (cont’d)</a:t>
            </a:r>
            <a:endParaRPr lang="en-US" dirty="0"/>
          </a:p>
        </p:txBody>
      </p:sp>
      <p:sp>
        <p:nvSpPr>
          <p:cNvPr id="2" name="Content Placeholder 1"/>
          <p:cNvSpPr>
            <a:spLocks noGrp="1"/>
          </p:cNvSpPr>
          <p:nvPr>
            <p:ph sz="quarter" idx="13"/>
          </p:nvPr>
        </p:nvSpPr>
        <p:spPr/>
        <p:txBody>
          <a:bodyPr>
            <a:normAutofit/>
          </a:bodyPr>
          <a:lstStyle/>
          <a:p>
            <a:pPr marL="0" indent="0">
              <a:spcBef>
                <a:spcPct val="50000"/>
              </a:spcBef>
              <a:buNone/>
            </a:pPr>
            <a:r>
              <a:rPr lang="en-US" sz="2000" b="1" dirty="0"/>
              <a:t>Long-term Orientation</a:t>
            </a:r>
          </a:p>
          <a:p>
            <a:pPr>
              <a:spcBef>
                <a:spcPct val="50000"/>
              </a:spcBef>
            </a:pPr>
            <a:r>
              <a:rPr lang="en-US" sz="2000" dirty="0"/>
              <a:t>A national culture attribute that emphasizes the future, thrift, and persistence.</a:t>
            </a:r>
          </a:p>
          <a:p>
            <a:pPr marL="0" indent="0">
              <a:spcBef>
                <a:spcPct val="50000"/>
              </a:spcBef>
              <a:buNone/>
            </a:pPr>
            <a:r>
              <a:rPr lang="en-US" sz="2000" b="1" dirty="0"/>
              <a:t>Short-term Orientation</a:t>
            </a:r>
          </a:p>
          <a:p>
            <a:pPr>
              <a:spcBef>
                <a:spcPct val="50000"/>
              </a:spcBef>
            </a:pPr>
            <a:r>
              <a:rPr lang="en-US" sz="2000" dirty="0"/>
              <a:t>A national culture attribute that emphasizes the present and the here and now. </a:t>
            </a:r>
          </a:p>
        </p:txBody>
      </p:sp>
      <p:pic>
        <p:nvPicPr>
          <p:cNvPr id="32772" name="Picture 3" descr="bs0161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86524" y="3714750"/>
            <a:ext cx="1209676" cy="1080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rot="2778448">
            <a:off x="6538443" y="718502"/>
            <a:ext cx="2711530" cy="1077218"/>
          </a:xfrm>
          <a:prstGeom prst="rect">
            <a:avLst/>
          </a:prstGeom>
          <a:solidFill>
            <a:schemeClr val="accent1"/>
          </a:solidFill>
        </p:spPr>
        <p:txBody>
          <a:bodyPr wrap="square" lIns="91440" tIns="45720" rIns="91440" bIns="45720">
            <a:spAutoFit/>
          </a:bodyPr>
          <a:lstStyle/>
          <a:p>
            <a:pPr algn="ctr"/>
            <a:r>
              <a:rPr lang="en-US" sz="3200" b="1" i="1" cap="none" spc="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Bodoni MT" pitchFamily="18" charset="0"/>
              </a:rPr>
              <a:t>International Values</a:t>
            </a:r>
          </a:p>
        </p:txBody>
      </p:sp>
    </p:spTree>
    <p:extLst>
      <p:ext uri="{BB962C8B-B14F-4D97-AF65-F5344CB8AC3E}">
        <p14:creationId xmlns:p14="http://schemas.microsoft.com/office/powerpoint/2010/main" val="2081797715"/>
      </p:ext>
    </p:extLst>
  </p:cSld>
  <p:clrMapOvr>
    <a:masterClrMapping/>
  </p:clrMapOvr>
  <p:transition>
    <p:pull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ChangeArrowheads="1"/>
          </p:cNvSpPr>
          <p:nvPr>
            <p:ph type="title"/>
          </p:nvPr>
        </p:nvSpPr>
        <p:spPr/>
        <p:txBody>
          <a:bodyPr>
            <a:normAutofit fontScale="90000"/>
          </a:bodyPr>
          <a:lstStyle/>
          <a:p>
            <a:pPr>
              <a:defRPr/>
            </a:pPr>
            <a:r>
              <a:rPr lang="en-US" sz="4400" dirty="0"/>
              <a:t>Dimensions of Culture</a:t>
            </a:r>
            <a:br>
              <a:rPr lang="en-US" dirty="0"/>
            </a:br>
            <a:r>
              <a:rPr lang="en-US" sz="3600" dirty="0" err="1"/>
              <a:t>Hofstede’s</a:t>
            </a:r>
            <a:r>
              <a:rPr lang="en-US" sz="3600" dirty="0"/>
              <a:t> Framework (cont’d)</a:t>
            </a:r>
          </a:p>
        </p:txBody>
      </p:sp>
      <p:sp>
        <p:nvSpPr>
          <p:cNvPr id="2" name="Content Placeholder 1"/>
          <p:cNvSpPr>
            <a:spLocks noGrp="1"/>
          </p:cNvSpPr>
          <p:nvPr>
            <p:ph sz="quarter" idx="13"/>
          </p:nvPr>
        </p:nvSpPr>
        <p:spPr/>
        <p:txBody>
          <a:bodyPr>
            <a:normAutofit/>
          </a:bodyPr>
          <a:lstStyle/>
          <a:p>
            <a:pPr marL="0" indent="0">
              <a:spcBef>
                <a:spcPct val="50000"/>
              </a:spcBef>
              <a:buNone/>
            </a:pPr>
            <a:r>
              <a:rPr lang="en-US" sz="2000" b="1" dirty="0"/>
              <a:t>Power Distance</a:t>
            </a:r>
          </a:p>
          <a:p>
            <a:pPr>
              <a:spcBef>
                <a:spcPct val="50000"/>
              </a:spcBef>
            </a:pPr>
            <a:r>
              <a:rPr lang="en-US" sz="2000" dirty="0"/>
              <a:t>Social distance among people depending upon management style, willingness of subordinates to disagree with superiors, and the educational level and status accruing to particular roles</a:t>
            </a:r>
          </a:p>
          <a:p>
            <a:pPr>
              <a:spcBef>
                <a:spcPct val="50000"/>
              </a:spcBef>
            </a:pPr>
            <a:r>
              <a:rPr lang="en-US" sz="2000" dirty="0"/>
              <a:t>Countries with a high level of power distance include France, Spain, Hong Kong &amp; Iran</a:t>
            </a:r>
          </a:p>
          <a:p>
            <a:pPr>
              <a:spcBef>
                <a:spcPct val="50000"/>
              </a:spcBef>
            </a:pPr>
            <a:r>
              <a:rPr lang="en-US" sz="2000" dirty="0"/>
              <a:t>Countries as diverse as Germany, Italy, Australia &amp; USA characterized as low power distance societies.</a:t>
            </a:r>
          </a:p>
        </p:txBody>
      </p:sp>
      <p:sp>
        <p:nvSpPr>
          <p:cNvPr id="5" name="Rectangle 4"/>
          <p:cNvSpPr/>
          <p:nvPr/>
        </p:nvSpPr>
        <p:spPr>
          <a:xfrm rot="2778448">
            <a:off x="6538443" y="718502"/>
            <a:ext cx="2711530" cy="1077218"/>
          </a:xfrm>
          <a:prstGeom prst="rect">
            <a:avLst/>
          </a:prstGeom>
          <a:solidFill>
            <a:schemeClr val="accent1"/>
          </a:solidFill>
        </p:spPr>
        <p:txBody>
          <a:bodyPr wrap="square" lIns="91440" tIns="45720" rIns="91440" bIns="45720">
            <a:spAutoFit/>
          </a:bodyPr>
          <a:lstStyle/>
          <a:p>
            <a:pPr algn="ctr"/>
            <a:r>
              <a:rPr lang="en-US" sz="3200" b="1" i="1" cap="none" spc="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Bodoni MT" pitchFamily="18" charset="0"/>
              </a:rPr>
              <a:t>International Values</a:t>
            </a:r>
          </a:p>
        </p:txBody>
      </p:sp>
    </p:spTree>
    <p:extLst>
      <p:ext uri="{BB962C8B-B14F-4D97-AF65-F5344CB8AC3E}">
        <p14:creationId xmlns:p14="http://schemas.microsoft.com/office/powerpoint/2010/main" val="362391979"/>
      </p:ext>
    </p:extLst>
  </p:cSld>
  <p:clrMapOvr>
    <a:masterClrMapping/>
  </p:clrMapOvr>
  <p:transition>
    <p:pull dir="d"/>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WidescreenPresentation</Template>
  <TotalTime>0</TotalTime>
  <Words>4171</Words>
  <Application>Microsoft Office PowerPoint</Application>
  <PresentationFormat>On-screen Show (16:9)</PresentationFormat>
  <Paragraphs>446</Paragraphs>
  <Slides>37</Slides>
  <Notes>37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vt:lpstr>
      <vt:lpstr>Bodoni MT</vt:lpstr>
      <vt:lpstr>Calibri</vt:lpstr>
      <vt:lpstr>Century Schoolbook</vt:lpstr>
      <vt:lpstr>Tahoma</vt:lpstr>
      <vt:lpstr>Times New Roman</vt:lpstr>
      <vt:lpstr>Tw Cen MT</vt:lpstr>
      <vt:lpstr>Wingdings</vt:lpstr>
      <vt:lpstr>Wingdings 2</vt:lpstr>
      <vt:lpstr>WidescreenPresentation</vt:lpstr>
      <vt:lpstr>Personality &amp; Values</vt:lpstr>
      <vt:lpstr>Personality</vt:lpstr>
      <vt:lpstr>Personality?</vt:lpstr>
      <vt:lpstr>The Myers-Briggs Type Indicator</vt:lpstr>
      <vt:lpstr>Personality Theories / Model</vt:lpstr>
      <vt:lpstr>Extraversion/Introversion</vt:lpstr>
      <vt:lpstr>2-Sensing/Intuiting</vt:lpstr>
      <vt:lpstr>3-Thinking / Feeling </vt:lpstr>
      <vt:lpstr>4-Judging / Perceiving</vt:lpstr>
      <vt:lpstr>PowerPoint Presentation</vt:lpstr>
      <vt:lpstr>Meyers-Briggs, Continued</vt:lpstr>
      <vt:lpstr>Personality Theories / Model</vt:lpstr>
      <vt:lpstr>Big 5 Personality Traits</vt:lpstr>
      <vt:lpstr>The “Big Five” Personality Factors* (Each factor is a continuum of many related traits) </vt:lpstr>
      <vt:lpstr>The Big Five Personality Traits</vt:lpstr>
      <vt:lpstr>Other Personality Traits Relevant to OB</vt:lpstr>
      <vt:lpstr>Core Self-Evaluation: Two Main Components</vt:lpstr>
      <vt:lpstr>Machiavellianism</vt:lpstr>
      <vt:lpstr>Narcissism</vt:lpstr>
      <vt:lpstr>Self-Monitoring</vt:lpstr>
      <vt:lpstr>Risk-Taking</vt:lpstr>
      <vt:lpstr>Personality Type</vt:lpstr>
      <vt:lpstr>Proactive Personality</vt:lpstr>
      <vt:lpstr>Goal Orientation as a Personality Trait</vt:lpstr>
      <vt:lpstr>Values</vt:lpstr>
      <vt:lpstr>PowerPoint Presentation</vt:lpstr>
      <vt:lpstr>Importance of Values</vt:lpstr>
      <vt:lpstr>Organizational Values</vt:lpstr>
      <vt:lpstr>Work Values</vt:lpstr>
      <vt:lpstr>Linking an Individual’s Personality and Values to the Workplace</vt:lpstr>
      <vt:lpstr>Linking an Individual’s Personality and Values to the Workplace</vt:lpstr>
      <vt:lpstr>Achieving Person-Job Fit</vt:lpstr>
      <vt:lpstr>Dimensions of Culture Hofstede’s Framework</vt:lpstr>
      <vt:lpstr>Dimensions of Culture Hofstede’s Framework (cont’d)</vt:lpstr>
      <vt:lpstr>Dimensions of Culture Hofstede’s Framework (cont’d)</vt:lpstr>
      <vt:lpstr>Dimensions of Culture Hofstede’s Framework (cont’d)</vt:lpstr>
      <vt:lpstr>Dimensions of Culture Hofstede’s Framework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2017-08-17T02:20:37Z</dcterms:created>
  <dcterms:modified xsi:type="dcterms:W3CDTF">2025-08-28T10:12:06Z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