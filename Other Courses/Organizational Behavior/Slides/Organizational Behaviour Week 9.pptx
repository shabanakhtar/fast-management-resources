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8"/>
  </p:notesMasterIdLst>
  <p:handoutMasterIdLst>
    <p:handoutMasterId r:id="rId19"/>
  </p:handoutMasterIdLst>
  <p:sldIdLst>
    <p:sldId id="265" r:id="rId2"/>
    <p:sldId id="272" r:id="rId3"/>
    <p:sldId id="268" r:id="rId4"/>
    <p:sldId id="287" r:id="rId5"/>
    <p:sldId id="288" r:id="rId6"/>
    <p:sldId id="290" r:id="rId7"/>
    <p:sldId id="278" r:id="rId8"/>
    <p:sldId id="279" r:id="rId9"/>
    <p:sldId id="292" r:id="rId10"/>
    <p:sldId id="291" r:id="rId11"/>
    <p:sldId id="293" r:id="rId12"/>
    <p:sldId id="282" r:id="rId13"/>
    <p:sldId id="283" r:id="rId14"/>
    <p:sldId id="284" r:id="rId15"/>
    <p:sldId id="285" r:id="rId16"/>
    <p:sldId id="286" r:id="rId17"/>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4725" autoAdjust="0"/>
  </p:normalViewPr>
  <p:slideViewPr>
    <p:cSldViewPr>
      <p:cViewPr varScale="1">
        <p:scale>
          <a:sx n="92" d="100"/>
          <a:sy n="92" d="100"/>
        </p:scale>
        <p:origin x="1070" y="72"/>
      </p:cViewPr>
      <p:guideLst>
        <p:guide orient="horz" pos="1620"/>
        <p:guide pos="2880"/>
      </p:guideLst>
    </p:cSldViewPr>
  </p:slideViewPr>
  <p:notesTextViewPr>
    <p:cViewPr>
      <p:scale>
        <a:sx n="100" d="100"/>
        <a:sy n="100" d="100"/>
      </p:scale>
      <p:origin x="0" y="0"/>
    </p:cViewPr>
  </p:notesTextViewPr>
  <p:notesViewPr>
    <p:cSldViewPr>
      <p:cViewPr varScale="1">
        <p:scale>
          <a:sx n="50" d="100"/>
          <a:sy n="50" d="100"/>
        </p:scale>
        <p:origin x="-2862"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11/27/2025</a:t>
            </a:fld>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11/27/2025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hf hdr="0"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Organizational culture is an important concept in studying how organizations behave. Culture has significant impact on how individuals interpret the impact of their behavior and make decisions about their actions. Culture is defined as a common perception held by the members of the organization or a sense of shared meaning.</a:t>
            </a:r>
          </a:p>
          <a:p>
            <a:endParaRPr lang="en-US" dirty="0"/>
          </a:p>
          <a:p>
            <a:r>
              <a:rPr lang="en-US" dirty="0"/>
              <a:t>Cultures have 7 primary characteristics that define the organization.  They are:  innovation and risk taking, attention to detail, outcome orientation, people orientation, team orientation, aggressiveness, and stability.</a:t>
            </a:r>
          </a:p>
        </p:txBody>
      </p:sp>
      <p:sp>
        <p:nvSpPr>
          <p:cNvPr id="4" name="Slide Number Placeholder 3"/>
          <p:cNvSpPr>
            <a:spLocks noGrp="1"/>
          </p:cNvSpPr>
          <p:nvPr>
            <p:ph type="sldNum" sz="quarter" idx="10"/>
          </p:nvPr>
        </p:nvSpPr>
        <p:spPr/>
        <p:txBody>
          <a:bodyPr/>
          <a:lstStyle/>
          <a:p>
            <a:fld id="{CA5D3BF3-D352-46FC-8343-31F56E6730EA}" type="slidenum">
              <a:rPr lang="en-US" smtClean="0"/>
              <a:pPr/>
              <a:t>2</a:t>
            </a:fld>
            <a:endParaRPr lang="en-US"/>
          </a:p>
        </p:txBody>
      </p:sp>
    </p:spTree>
    <p:extLst>
      <p:ext uri="{BB962C8B-B14F-4D97-AF65-F5344CB8AC3E}">
        <p14:creationId xmlns:p14="http://schemas.microsoft.com/office/powerpoint/2010/main" val="1825385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There are several different groupings that most cultures fit into.  These groups describe the organization in an effort to help increase the understanding of how an organization works.  There are different aspects of culture that need to be defined to help lay a foundation for understanding what culture is.</a:t>
            </a:r>
          </a:p>
          <a:p>
            <a:pPr>
              <a:defRPr/>
            </a:pPr>
            <a:endParaRPr lang="en-US" dirty="0"/>
          </a:p>
          <a:p>
            <a:pPr>
              <a:defRPr/>
            </a:pPr>
            <a:r>
              <a:rPr lang="en-US" dirty="0"/>
              <a:t>Dominant culture is the core values that are shared by the majority of employees in the organization.</a:t>
            </a:r>
          </a:p>
          <a:p>
            <a:pPr>
              <a:defRPr/>
            </a:pPr>
            <a:endParaRPr lang="en-US" dirty="0"/>
          </a:p>
          <a:p>
            <a:pPr>
              <a:defRPr/>
            </a:pPr>
            <a:r>
              <a:rPr lang="en-US" dirty="0"/>
              <a:t>Subcultures are when there are a variety of different cultures within the organization.  These subcultures typically are divided by department and/or geographical separation.</a:t>
            </a:r>
          </a:p>
          <a:p>
            <a:pPr>
              <a:defRPr/>
            </a:pPr>
            <a:endParaRPr lang="en-US" dirty="0"/>
          </a:p>
          <a:p>
            <a:pPr>
              <a:defRPr/>
            </a:pPr>
            <a:r>
              <a:rPr lang="en-US" dirty="0"/>
              <a:t>Core values are the primary values that most people in the organization accept.</a:t>
            </a:r>
          </a:p>
          <a:p>
            <a:pPr>
              <a:defRPr/>
            </a:pPr>
            <a:endParaRPr lang="en-US" dirty="0"/>
          </a:p>
          <a:p>
            <a:pPr>
              <a:defRPr/>
            </a:pPr>
            <a:r>
              <a:rPr lang="en-US" dirty="0"/>
              <a:t>A strong culture is one in which the core values are intensely held and shared by most.</a:t>
            </a:r>
          </a:p>
          <a:p>
            <a:pPr>
              <a:defRPr/>
            </a:pPr>
            <a:endParaRPr lang="en-US" dirty="0"/>
          </a:p>
          <a:p>
            <a:pPr>
              <a:defRPr/>
            </a:pPr>
            <a:r>
              <a:rPr lang="en-US" dirty="0"/>
              <a:t>These definitions are key components of a culture and will help you further understand organizational culture.</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3</a:t>
            </a:fld>
            <a:endParaRPr lang="en-US"/>
          </a:p>
        </p:txBody>
      </p:sp>
    </p:spTree>
    <p:extLst>
      <p:ext uri="{BB962C8B-B14F-4D97-AF65-F5344CB8AC3E}">
        <p14:creationId xmlns:p14="http://schemas.microsoft.com/office/powerpoint/2010/main" val="1781574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Core values are the primary values that most people in the organization accept.</a:t>
            </a:r>
          </a:p>
          <a:p>
            <a:pPr>
              <a:defRPr/>
            </a:pPr>
            <a:endParaRPr lang="en-US" dirty="0"/>
          </a:p>
          <a:p>
            <a:pPr>
              <a:defRPr/>
            </a:pPr>
            <a:r>
              <a:rPr lang="en-US" dirty="0"/>
              <a:t>A strong culture is one in which the core values are intensely held and shared by most.</a:t>
            </a:r>
          </a:p>
          <a:p>
            <a:pPr>
              <a:defRPr/>
            </a:pPr>
            <a:endParaRPr lang="en-US" dirty="0"/>
          </a:p>
          <a:p>
            <a:pPr>
              <a:defRPr/>
            </a:pPr>
            <a:r>
              <a:rPr lang="en-US" dirty="0"/>
              <a:t>These definitions are key components of a culture and will help you further understand organizational culture.</a:t>
            </a:r>
          </a:p>
        </p:txBody>
      </p:sp>
      <p:sp>
        <p:nvSpPr>
          <p:cNvPr id="4" name="Slide Number Placeholder 3"/>
          <p:cNvSpPr>
            <a:spLocks noGrp="1"/>
          </p:cNvSpPr>
          <p:nvPr>
            <p:ph type="sldNum" sz="quarter" idx="10"/>
          </p:nvPr>
        </p:nvSpPr>
        <p:spPr/>
        <p:txBody>
          <a:bodyPr/>
          <a:lstStyle/>
          <a:p>
            <a:fld id="{CA5D3BF3-D352-46FC-8343-31F56E6730EA}" type="slidenum">
              <a:rPr lang="en-US" smtClean="0"/>
              <a:pPr/>
              <a:t>4</a:t>
            </a:fld>
            <a:endParaRPr lang="en-US"/>
          </a:p>
        </p:txBody>
      </p:sp>
    </p:spTree>
    <p:extLst>
      <p:ext uri="{BB962C8B-B14F-4D97-AF65-F5344CB8AC3E}">
        <p14:creationId xmlns:p14="http://schemas.microsoft.com/office/powerpoint/2010/main" val="1158523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Cultures take on distinct functions. Some of the things that cultures do are defining the boundary between one organization and others.  They also convey a sense of identity for the members of the organization.  If the cultures are strong, they can facilitate a continuous commitment to something larger than self-interest over an extended period of time.  Cultures also help people know what to expect in the organization and can thereby enhance the stability of the social system. Through doing this, it can also serve as a sense-making and control mechanism for fitting employees into the organization.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Culture can also be a hindrance to an organization.  A company can become institutionalized when people value the organization more than what they provide.  When cultures are strong, they can become a barrier to change as their values may not align with the values needed to embrace or facilitate the change.  Cultures that may pressure employees to conform can be a barrier to hiring, developing, and promoting a diverse workforce.  Finally, if a merger or acquisition occurs, one of the most difficult things to do is to merge the two cultures, causing many mergers to fail.</a:t>
            </a:r>
          </a:p>
        </p:txBody>
      </p:sp>
      <p:sp>
        <p:nvSpPr>
          <p:cNvPr id="4" name="Slide Number Placeholder 3"/>
          <p:cNvSpPr>
            <a:spLocks noGrp="1"/>
          </p:cNvSpPr>
          <p:nvPr>
            <p:ph type="sldNum" sz="quarter" idx="10"/>
          </p:nvPr>
        </p:nvSpPr>
        <p:spPr/>
        <p:txBody>
          <a:bodyPr/>
          <a:lstStyle/>
          <a:p>
            <a:fld id="{CA5D3BF3-D352-46FC-8343-31F56E6730EA}" type="slidenum">
              <a:rPr lang="en-US" smtClean="0"/>
              <a:pPr/>
              <a:t>6</a:t>
            </a:fld>
            <a:endParaRPr lang="en-US"/>
          </a:p>
        </p:txBody>
      </p:sp>
    </p:spTree>
    <p:extLst>
      <p:ext uri="{BB962C8B-B14F-4D97-AF65-F5344CB8AC3E}">
        <p14:creationId xmlns:p14="http://schemas.microsoft.com/office/powerpoint/2010/main" val="3260502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Employees learn the organizational culture through a number of avenues.  They can gain an understanding of culture by hearing stories that present the past and provide explanations for current practices.  Rituals, or repetitive sequences of activities, can reinforce the key values of the organization and provide insight into the culture.  Material symbols such as dress codes, formal or informal, office size or style, and perks for key employees can denote who is important in an organization.</a:t>
            </a:r>
          </a:p>
          <a:p>
            <a:r>
              <a:rPr lang="en-US"/>
              <a:t>Language is another way to learn about organizational culture as employees will express themselves in certain ways to indicate membership in the organization.</a:t>
            </a:r>
          </a:p>
        </p:txBody>
      </p:sp>
      <p:sp>
        <p:nvSpPr>
          <p:cNvPr id="41988" name="Footer Placeholder 3"/>
          <p:cNvSpPr>
            <a:spLocks noGrp="1"/>
          </p:cNvSpPr>
          <p:nvPr>
            <p:ph type="ftr" sz="quarter" idx="4"/>
          </p:nvPr>
        </p:nvSpPr>
        <p:spPr>
          <a:xfrm>
            <a:off x="0" y="9119474"/>
            <a:ext cx="3169920" cy="4800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defRPr sz="1100" b="1">
                <a:solidFill>
                  <a:schemeClr val="tx1"/>
                </a:solidFill>
                <a:latin typeface="Arial" pitchFamily="34" charset="0"/>
              </a:defRPr>
            </a:lvl1pPr>
            <a:lvl2pPr marL="785372" indent="-302066" eaLnBrk="0" hangingPunct="0">
              <a:defRPr sz="1100" b="1">
                <a:solidFill>
                  <a:schemeClr val="tx1"/>
                </a:solidFill>
                <a:latin typeface="Arial" pitchFamily="34" charset="0"/>
              </a:defRPr>
            </a:lvl2pPr>
            <a:lvl3pPr marL="1208265" indent="-241653" eaLnBrk="0" hangingPunct="0">
              <a:defRPr sz="1100" b="1">
                <a:solidFill>
                  <a:schemeClr val="tx1"/>
                </a:solidFill>
                <a:latin typeface="Arial" pitchFamily="34" charset="0"/>
              </a:defRPr>
            </a:lvl3pPr>
            <a:lvl4pPr marL="1691571" indent="-241653" eaLnBrk="0" hangingPunct="0">
              <a:defRPr sz="1100" b="1">
                <a:solidFill>
                  <a:schemeClr val="tx1"/>
                </a:solidFill>
                <a:latin typeface="Arial" pitchFamily="34" charset="0"/>
              </a:defRPr>
            </a:lvl4pPr>
            <a:lvl5pPr marL="2174878" indent="-241653" eaLnBrk="0" hangingPunct="0">
              <a:defRPr sz="1100" b="1">
                <a:solidFill>
                  <a:schemeClr val="tx1"/>
                </a:solidFill>
                <a:latin typeface="Arial" pitchFamily="34" charset="0"/>
              </a:defRPr>
            </a:lvl5pPr>
            <a:lvl6pPr marL="2658184" indent="-241653" eaLnBrk="0" fontAlgn="base" hangingPunct="0">
              <a:spcBef>
                <a:spcPct val="0"/>
              </a:spcBef>
              <a:spcAft>
                <a:spcPct val="0"/>
              </a:spcAft>
              <a:defRPr sz="1100" b="1">
                <a:solidFill>
                  <a:schemeClr val="tx1"/>
                </a:solidFill>
                <a:latin typeface="Arial" pitchFamily="34" charset="0"/>
              </a:defRPr>
            </a:lvl6pPr>
            <a:lvl7pPr marL="3141490" indent="-241653" eaLnBrk="0" fontAlgn="base" hangingPunct="0">
              <a:spcBef>
                <a:spcPct val="0"/>
              </a:spcBef>
              <a:spcAft>
                <a:spcPct val="0"/>
              </a:spcAft>
              <a:defRPr sz="1100" b="1">
                <a:solidFill>
                  <a:schemeClr val="tx1"/>
                </a:solidFill>
                <a:latin typeface="Arial" pitchFamily="34" charset="0"/>
              </a:defRPr>
            </a:lvl7pPr>
            <a:lvl8pPr marL="3624796" indent="-241653" eaLnBrk="0" fontAlgn="base" hangingPunct="0">
              <a:spcBef>
                <a:spcPct val="0"/>
              </a:spcBef>
              <a:spcAft>
                <a:spcPct val="0"/>
              </a:spcAft>
              <a:defRPr sz="1100" b="1">
                <a:solidFill>
                  <a:schemeClr val="tx1"/>
                </a:solidFill>
                <a:latin typeface="Arial" pitchFamily="34" charset="0"/>
              </a:defRPr>
            </a:lvl8pPr>
            <a:lvl9pPr marL="4108102" indent="-241653" eaLnBrk="0" fontAlgn="base" hangingPunct="0">
              <a:spcBef>
                <a:spcPct val="0"/>
              </a:spcBef>
              <a:spcAft>
                <a:spcPct val="0"/>
              </a:spcAft>
              <a:defRPr sz="1100" b="1">
                <a:solidFill>
                  <a:schemeClr val="tx1"/>
                </a:solidFill>
                <a:latin typeface="Arial" pitchFamily="34" charset="0"/>
              </a:defRPr>
            </a:lvl9pPr>
          </a:lstStyle>
          <a:p>
            <a:pPr eaLnBrk="1" hangingPunct="1"/>
            <a:r>
              <a:rPr lang="en-US" sz="1300" b="0">
                <a:latin typeface="Times New Roman" pitchFamily="18" charset="0"/>
              </a:rPr>
              <a:t>(c) 2008 Prentice-Hall, All rights reserved.</a:t>
            </a:r>
          </a:p>
        </p:txBody>
      </p:sp>
      <p:sp>
        <p:nvSpPr>
          <p:cNvPr id="4198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100" b="1">
                <a:solidFill>
                  <a:schemeClr val="tx1"/>
                </a:solidFill>
                <a:latin typeface="Arial" pitchFamily="34" charset="0"/>
              </a:defRPr>
            </a:lvl1pPr>
            <a:lvl2pPr marL="785372" indent="-302066" eaLnBrk="0" hangingPunct="0">
              <a:defRPr sz="1100" b="1">
                <a:solidFill>
                  <a:schemeClr val="tx1"/>
                </a:solidFill>
                <a:latin typeface="Arial" pitchFamily="34" charset="0"/>
              </a:defRPr>
            </a:lvl2pPr>
            <a:lvl3pPr marL="1208265" indent="-241653" eaLnBrk="0" hangingPunct="0">
              <a:defRPr sz="1100" b="1">
                <a:solidFill>
                  <a:schemeClr val="tx1"/>
                </a:solidFill>
                <a:latin typeface="Arial" pitchFamily="34" charset="0"/>
              </a:defRPr>
            </a:lvl3pPr>
            <a:lvl4pPr marL="1691571" indent="-241653" eaLnBrk="0" hangingPunct="0">
              <a:defRPr sz="1100" b="1">
                <a:solidFill>
                  <a:schemeClr val="tx1"/>
                </a:solidFill>
                <a:latin typeface="Arial" pitchFamily="34" charset="0"/>
              </a:defRPr>
            </a:lvl4pPr>
            <a:lvl5pPr marL="2174878" indent="-241653" eaLnBrk="0" hangingPunct="0">
              <a:defRPr sz="1100" b="1">
                <a:solidFill>
                  <a:schemeClr val="tx1"/>
                </a:solidFill>
                <a:latin typeface="Arial" pitchFamily="34" charset="0"/>
              </a:defRPr>
            </a:lvl5pPr>
            <a:lvl6pPr marL="2658184" indent="-241653" eaLnBrk="0" fontAlgn="base" hangingPunct="0">
              <a:spcBef>
                <a:spcPct val="0"/>
              </a:spcBef>
              <a:spcAft>
                <a:spcPct val="0"/>
              </a:spcAft>
              <a:defRPr sz="1100" b="1">
                <a:solidFill>
                  <a:schemeClr val="tx1"/>
                </a:solidFill>
                <a:latin typeface="Arial" pitchFamily="34" charset="0"/>
              </a:defRPr>
            </a:lvl6pPr>
            <a:lvl7pPr marL="3141490" indent="-241653" eaLnBrk="0" fontAlgn="base" hangingPunct="0">
              <a:spcBef>
                <a:spcPct val="0"/>
              </a:spcBef>
              <a:spcAft>
                <a:spcPct val="0"/>
              </a:spcAft>
              <a:defRPr sz="1100" b="1">
                <a:solidFill>
                  <a:schemeClr val="tx1"/>
                </a:solidFill>
                <a:latin typeface="Arial" pitchFamily="34" charset="0"/>
              </a:defRPr>
            </a:lvl7pPr>
            <a:lvl8pPr marL="3624796" indent="-241653" eaLnBrk="0" fontAlgn="base" hangingPunct="0">
              <a:spcBef>
                <a:spcPct val="0"/>
              </a:spcBef>
              <a:spcAft>
                <a:spcPct val="0"/>
              </a:spcAft>
              <a:defRPr sz="1100" b="1">
                <a:solidFill>
                  <a:schemeClr val="tx1"/>
                </a:solidFill>
                <a:latin typeface="Arial" pitchFamily="34" charset="0"/>
              </a:defRPr>
            </a:lvl8pPr>
            <a:lvl9pPr marL="4108102" indent="-241653" eaLnBrk="0" fontAlgn="base" hangingPunct="0">
              <a:spcBef>
                <a:spcPct val="0"/>
              </a:spcBef>
              <a:spcAft>
                <a:spcPct val="0"/>
              </a:spcAft>
              <a:defRPr sz="1100" b="1">
                <a:solidFill>
                  <a:schemeClr val="tx1"/>
                </a:solidFill>
                <a:latin typeface="Arial" pitchFamily="34" charset="0"/>
              </a:defRPr>
            </a:lvl9pPr>
          </a:lstStyle>
          <a:p>
            <a:pPr eaLnBrk="1" hangingPunct="1"/>
            <a:fld id="{0A61F0C1-9A52-4AA2-B7E8-98D30419DD13}" type="slidenum">
              <a:rPr lang="en-US" sz="1300" b="0">
                <a:latin typeface="Times New Roman" pitchFamily="18" charset="0"/>
              </a:rPr>
              <a:pPr eaLnBrk="1" hangingPunct="1"/>
              <a:t>11</a:t>
            </a:fld>
            <a:endParaRPr lang="en-US" sz="1300" b="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 2005 Prentice Hall Inc. All rights reserved.</a:t>
            </a:r>
          </a:p>
        </p:txBody>
      </p:sp>
      <p:sp>
        <p:nvSpPr>
          <p:cNvPr id="5" name="Slide Number Placeholder 4"/>
          <p:cNvSpPr>
            <a:spLocks noGrp="1"/>
          </p:cNvSpPr>
          <p:nvPr>
            <p:ph type="sldNum" sz="quarter" idx="11"/>
          </p:nvPr>
        </p:nvSpPr>
        <p:spPr/>
        <p:txBody>
          <a:bodyPr/>
          <a:lstStyle>
            <a:lvl1pPr>
              <a:defRPr/>
            </a:lvl1pPr>
          </a:lstStyle>
          <a:p>
            <a:r>
              <a:rPr lang="en-US"/>
              <a:t>16–</a:t>
            </a:r>
            <a:fld id="{C62A9600-0C16-489C-9384-EEE6CF22B8FB}" type="slidenum">
              <a:rPr lang="en-US"/>
              <a:pPr/>
              <a:t>‹#›</a:t>
            </a:fld>
            <a:endParaRPr lang="en-US"/>
          </a:p>
        </p:txBody>
      </p:sp>
    </p:spTree>
    <p:extLst>
      <p:ext uri="{BB962C8B-B14F-4D97-AF65-F5344CB8AC3E}">
        <p14:creationId xmlns:p14="http://schemas.microsoft.com/office/powerpoint/2010/main" val="168301770"/>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16</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Autofit/>
          </a:bodyPr>
          <a:lstStyle/>
          <a:p>
            <a:pPr marL="342900" indent="-342900">
              <a:spcBef>
                <a:spcPct val="20000"/>
              </a:spcBef>
            </a:pPr>
            <a:r>
              <a:rPr lang="en-US" sz="3600" b="1" dirty="0">
                <a:solidFill>
                  <a:schemeClr val="tx1"/>
                </a:solidFill>
              </a:rPr>
              <a:t>Organizational Culture</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
        <p:nvSpPr>
          <p:cNvPr id="6" name="Picture Placeholder 5"/>
          <p:cNvSpPr>
            <a:spLocks noGrp="1"/>
          </p:cNvSpPr>
          <p:nvPr>
            <p:ph type="pic" idx="1"/>
          </p:nvPr>
        </p:nvSpPr>
        <p:spPr/>
        <p:txBody>
          <a:bodyPr/>
          <a:lstStyle/>
          <a:p>
            <a:endParaRPr lang="en-PK"/>
          </a:p>
        </p:txBody>
      </p:sp>
      <p:sp>
        <p:nvSpPr>
          <p:cNvPr id="9" name="AutoShape 6" descr="Image result for Leadershi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Image result for Leadershi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Image result for Leadership"/>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460" name="Picture 4" descr="Image result for organizational culture"/>
          <p:cNvPicPr>
            <a:picLocks noChangeAspect="1" noChangeArrowheads="1"/>
          </p:cNvPicPr>
          <p:nvPr/>
        </p:nvPicPr>
        <p:blipFill rotWithShape="1">
          <a:blip r:embed="rId5">
            <a:extLst>
              <a:ext uri="{28A0092B-C50C-407E-A947-70E740481C1C}">
                <a14:useLocalDpi xmlns:a14="http://schemas.microsoft.com/office/drawing/2010/main" val="0"/>
              </a:ext>
            </a:extLst>
          </a:blip>
          <a:srcRect t="8311" b="10974"/>
          <a:stretch/>
        </p:blipFill>
        <p:spPr bwMode="auto">
          <a:xfrm>
            <a:off x="1577050" y="15875"/>
            <a:ext cx="7446778" cy="33862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a:ln/>
        </p:spPr>
        <p:txBody>
          <a:bodyPr/>
          <a:lstStyle/>
          <a:p>
            <a:r>
              <a:rPr lang="en-US"/>
              <a:t>What Is Organizational Culture?</a:t>
            </a:r>
          </a:p>
        </p:txBody>
      </p:sp>
      <p:sp>
        <p:nvSpPr>
          <p:cNvPr id="6" name="Slide Number Placeholder 5"/>
          <p:cNvSpPr>
            <a:spLocks noGrp="1"/>
          </p:cNvSpPr>
          <p:nvPr>
            <p:ph type="sldNum" sz="quarter" idx="12"/>
          </p:nvPr>
        </p:nvSpPr>
        <p:spPr/>
        <p:txBody>
          <a:bodyPr>
            <a:normAutofit fontScale="47500" lnSpcReduction="20000"/>
          </a:bodyPr>
          <a:lstStyle/>
          <a:p>
            <a:r>
              <a:rPr lang="en-US"/>
              <a:t>16–</a:t>
            </a:r>
            <a:fld id="{A22484B0-8CC3-4FDB-B525-2DA3B84FD970}" type="slidenum">
              <a:rPr lang="en-US"/>
              <a:pPr/>
              <a:t>2</a:t>
            </a:fld>
            <a:endParaRPr lang="en-US"/>
          </a:p>
        </p:txBody>
      </p:sp>
      <p:sp>
        <p:nvSpPr>
          <p:cNvPr id="2" name="Content Placeholder 1"/>
          <p:cNvSpPr>
            <a:spLocks noGrp="1"/>
          </p:cNvSpPr>
          <p:nvPr>
            <p:ph sz="quarter" idx="13"/>
          </p:nvPr>
        </p:nvSpPr>
        <p:spPr>
          <a:xfrm>
            <a:off x="609600" y="1352550"/>
            <a:ext cx="4114800" cy="3276600"/>
          </a:xfrm>
        </p:spPr>
        <p:txBody>
          <a:bodyPr>
            <a:normAutofit/>
          </a:bodyPr>
          <a:lstStyle/>
          <a:p>
            <a:pPr>
              <a:spcBef>
                <a:spcPct val="50000"/>
              </a:spcBef>
            </a:pPr>
            <a:r>
              <a:rPr lang="en-US" sz="2000" b="1" dirty="0"/>
              <a:t>Organizational Culture</a:t>
            </a:r>
          </a:p>
          <a:p>
            <a:pPr marL="347663" indent="0">
              <a:spcBef>
                <a:spcPct val="50000"/>
              </a:spcBef>
              <a:buNone/>
            </a:pPr>
            <a:r>
              <a:rPr lang="en-US" sz="2000" dirty="0"/>
              <a:t>A common perception held by the organization’s members; a system of shared meaning.</a:t>
            </a:r>
          </a:p>
          <a:p>
            <a:endParaRPr lang="en-US" sz="2000" dirty="0"/>
          </a:p>
        </p:txBody>
      </p:sp>
      <p:sp>
        <p:nvSpPr>
          <p:cNvPr id="261123" name="Text Box 3" descr="Chap01Bkgd03"/>
          <p:cNvSpPr txBox="1">
            <a:spLocks noChangeArrowheads="1"/>
          </p:cNvSpPr>
          <p:nvPr/>
        </p:nvSpPr>
        <p:spPr bwMode="blackWhite">
          <a:xfrm>
            <a:off x="4724400" y="1352550"/>
            <a:ext cx="3657600" cy="3276600"/>
          </a:xfrm>
          <a:prstGeom prst="rect">
            <a:avLst/>
          </a:prstGeom>
          <a:blipFill dpi="0" rotWithShape="0">
            <a:blip r:embed="rId3"/>
            <a:srcRect/>
            <a:stretch>
              <a:fillRect/>
            </a:stretch>
          </a:blipFill>
          <a:ln w="12700">
            <a:solidFill>
              <a:schemeClr val="tx1"/>
            </a:solidFill>
            <a:miter lim="800000"/>
            <a:headEnd/>
            <a:tailEnd/>
          </a:ln>
          <a:effectLst>
            <a:outerShdw dist="135003" dir="2471156" algn="ctr" rotWithShape="0">
              <a:srgbClr val="DDDDDD"/>
            </a:outerShdw>
          </a:effectLst>
        </p:spPr>
        <p:txBody>
          <a:bodyPr lIns="182880" rIns="182880" anchor="ctr" anchorCtr="1"/>
          <a:lstStyle>
            <a:lvl1pPr marL="395288" indent="-395288">
              <a:defRPr sz="2400">
                <a:solidFill>
                  <a:schemeClr val="tx1"/>
                </a:solidFill>
                <a:latin typeface="Times New Roman" pitchFamily="18" charset="0"/>
              </a:defRPr>
            </a:lvl1pPr>
            <a:lvl2pPr marL="1028700" indent="-457200">
              <a:defRPr sz="2400">
                <a:solidFill>
                  <a:schemeClr val="tx1"/>
                </a:solidFill>
                <a:latin typeface="Times New Roman" pitchFamily="18" charset="0"/>
              </a:defRPr>
            </a:lvl2pPr>
            <a:lvl3pPr marL="1538288" indent="-457200">
              <a:defRPr sz="2400">
                <a:solidFill>
                  <a:schemeClr val="tx1"/>
                </a:solidFill>
                <a:latin typeface="Times New Roman" pitchFamily="18" charset="0"/>
              </a:defRPr>
            </a:lvl3pPr>
            <a:lvl4pPr marL="2109788" indent="-457200">
              <a:defRPr sz="2400">
                <a:solidFill>
                  <a:schemeClr val="tx1"/>
                </a:solidFill>
                <a:latin typeface="Times New Roman" pitchFamily="18" charset="0"/>
              </a:defRPr>
            </a:lvl4pPr>
            <a:lvl5pPr marL="2681288" indent="-457200">
              <a:defRPr sz="2400">
                <a:solidFill>
                  <a:schemeClr val="tx1"/>
                </a:solidFill>
                <a:latin typeface="Times New Roman" pitchFamily="18" charset="0"/>
              </a:defRPr>
            </a:lvl5pPr>
            <a:lvl6pPr marL="3138488" indent="-457200" fontAlgn="base">
              <a:spcBef>
                <a:spcPct val="0"/>
              </a:spcBef>
              <a:spcAft>
                <a:spcPct val="0"/>
              </a:spcAft>
              <a:defRPr sz="2400">
                <a:solidFill>
                  <a:schemeClr val="tx1"/>
                </a:solidFill>
                <a:latin typeface="Times New Roman" pitchFamily="18" charset="0"/>
              </a:defRPr>
            </a:lvl6pPr>
            <a:lvl7pPr marL="3595688" indent="-457200" fontAlgn="base">
              <a:spcBef>
                <a:spcPct val="0"/>
              </a:spcBef>
              <a:spcAft>
                <a:spcPct val="0"/>
              </a:spcAft>
              <a:defRPr sz="2400">
                <a:solidFill>
                  <a:schemeClr val="tx1"/>
                </a:solidFill>
                <a:latin typeface="Times New Roman" pitchFamily="18" charset="0"/>
              </a:defRPr>
            </a:lvl7pPr>
            <a:lvl8pPr marL="4052888" indent="-457200" fontAlgn="base">
              <a:spcBef>
                <a:spcPct val="0"/>
              </a:spcBef>
              <a:spcAft>
                <a:spcPct val="0"/>
              </a:spcAft>
              <a:defRPr sz="2400">
                <a:solidFill>
                  <a:schemeClr val="tx1"/>
                </a:solidFill>
                <a:latin typeface="Times New Roman" pitchFamily="18" charset="0"/>
              </a:defRPr>
            </a:lvl8pPr>
            <a:lvl9pPr marL="4510088" indent="-457200" fontAlgn="base">
              <a:spcBef>
                <a:spcPct val="0"/>
              </a:spcBef>
              <a:spcAft>
                <a:spcPct val="0"/>
              </a:spcAft>
              <a:defRPr sz="2400">
                <a:solidFill>
                  <a:schemeClr val="tx1"/>
                </a:solidFill>
                <a:latin typeface="Times New Roman" pitchFamily="18" charset="0"/>
              </a:defRPr>
            </a:lvl9pPr>
          </a:lstStyle>
          <a:p>
            <a:pPr>
              <a:lnSpc>
                <a:spcPct val="80000"/>
              </a:lnSpc>
              <a:spcBef>
                <a:spcPct val="50000"/>
              </a:spcBef>
            </a:pPr>
            <a:r>
              <a:rPr lang="en-US" sz="2000" b="1" dirty="0">
                <a:latin typeface="+mn-lt"/>
              </a:rPr>
              <a:t>Characteristics:</a:t>
            </a:r>
          </a:p>
          <a:p>
            <a:pPr>
              <a:lnSpc>
                <a:spcPct val="80000"/>
              </a:lnSpc>
              <a:spcBef>
                <a:spcPct val="50000"/>
              </a:spcBef>
              <a:buFontTx/>
              <a:buAutoNum type="arabicPeriod"/>
            </a:pPr>
            <a:r>
              <a:rPr lang="en-US" sz="2000" dirty="0">
                <a:solidFill>
                  <a:schemeClr val="bg1"/>
                </a:solidFill>
                <a:latin typeface="+mn-lt"/>
              </a:rPr>
              <a:t>Innovation and risk taking</a:t>
            </a:r>
          </a:p>
          <a:p>
            <a:pPr>
              <a:lnSpc>
                <a:spcPct val="80000"/>
              </a:lnSpc>
              <a:spcBef>
                <a:spcPct val="50000"/>
              </a:spcBef>
              <a:buFontTx/>
              <a:buAutoNum type="arabicPeriod"/>
            </a:pPr>
            <a:r>
              <a:rPr lang="en-US" sz="2000" dirty="0">
                <a:solidFill>
                  <a:schemeClr val="bg1"/>
                </a:solidFill>
                <a:latin typeface="+mn-lt"/>
              </a:rPr>
              <a:t>Attention to detail</a:t>
            </a:r>
          </a:p>
          <a:p>
            <a:pPr>
              <a:lnSpc>
                <a:spcPct val="80000"/>
              </a:lnSpc>
              <a:spcBef>
                <a:spcPct val="50000"/>
              </a:spcBef>
              <a:buFontTx/>
              <a:buAutoNum type="arabicPeriod"/>
            </a:pPr>
            <a:r>
              <a:rPr lang="en-US" sz="2000" dirty="0">
                <a:solidFill>
                  <a:schemeClr val="bg1"/>
                </a:solidFill>
                <a:latin typeface="+mn-lt"/>
              </a:rPr>
              <a:t>Outcome orientation</a:t>
            </a:r>
          </a:p>
          <a:p>
            <a:pPr>
              <a:lnSpc>
                <a:spcPct val="80000"/>
              </a:lnSpc>
              <a:spcBef>
                <a:spcPct val="50000"/>
              </a:spcBef>
              <a:buFontTx/>
              <a:buAutoNum type="arabicPeriod"/>
            </a:pPr>
            <a:r>
              <a:rPr lang="en-US" sz="2000" dirty="0">
                <a:solidFill>
                  <a:schemeClr val="bg1"/>
                </a:solidFill>
                <a:latin typeface="+mn-lt"/>
              </a:rPr>
              <a:t>People orientation</a:t>
            </a:r>
          </a:p>
          <a:p>
            <a:pPr>
              <a:lnSpc>
                <a:spcPct val="80000"/>
              </a:lnSpc>
              <a:spcBef>
                <a:spcPct val="50000"/>
              </a:spcBef>
              <a:buFontTx/>
              <a:buAutoNum type="arabicPeriod"/>
            </a:pPr>
            <a:r>
              <a:rPr lang="en-US" sz="2000" dirty="0">
                <a:solidFill>
                  <a:schemeClr val="bg1"/>
                </a:solidFill>
                <a:latin typeface="+mn-lt"/>
              </a:rPr>
              <a:t>Team orientation</a:t>
            </a:r>
          </a:p>
          <a:p>
            <a:pPr>
              <a:lnSpc>
                <a:spcPct val="80000"/>
              </a:lnSpc>
              <a:spcBef>
                <a:spcPct val="50000"/>
              </a:spcBef>
              <a:buFontTx/>
              <a:buAutoNum type="arabicPeriod"/>
            </a:pPr>
            <a:r>
              <a:rPr lang="en-US" sz="2000" dirty="0">
                <a:solidFill>
                  <a:schemeClr val="bg1"/>
                </a:solidFill>
                <a:latin typeface="+mn-lt"/>
              </a:rPr>
              <a:t>Aggressiveness</a:t>
            </a:r>
          </a:p>
          <a:p>
            <a:pPr>
              <a:lnSpc>
                <a:spcPct val="80000"/>
              </a:lnSpc>
              <a:spcBef>
                <a:spcPct val="50000"/>
              </a:spcBef>
              <a:buFontTx/>
              <a:buAutoNum type="arabicPeriod"/>
            </a:pPr>
            <a:r>
              <a:rPr lang="en-US" sz="2000" dirty="0">
                <a:solidFill>
                  <a:schemeClr val="bg1"/>
                </a:solidFill>
                <a:latin typeface="+mn-lt"/>
              </a:rPr>
              <a:t>Stability</a:t>
            </a:r>
          </a:p>
        </p:txBody>
      </p:sp>
      <p:sp>
        <p:nvSpPr>
          <p:cNvPr id="3" name="Rounded Rectangle 2"/>
          <p:cNvSpPr/>
          <p:nvPr/>
        </p:nvSpPr>
        <p:spPr>
          <a:xfrm>
            <a:off x="762000" y="3181350"/>
            <a:ext cx="37338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shared social knowledge within an organization regarding the rules, norms, and values that shape the attitudes and behaviors of its employees.</a:t>
            </a:r>
          </a:p>
        </p:txBody>
      </p:sp>
    </p:spTree>
    <p:extLst>
      <p:ext uri="{BB962C8B-B14F-4D97-AF65-F5344CB8AC3E}">
        <p14:creationId xmlns:p14="http://schemas.microsoft.com/office/powerpoint/2010/main" val="4131325313"/>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1123"/>
                                        </p:tgtEl>
                                        <p:attrNameLst>
                                          <p:attrName>style.visibility</p:attrName>
                                        </p:attrNameLst>
                                      </p:cBhvr>
                                      <p:to>
                                        <p:strVal val="visible"/>
                                      </p:to>
                                    </p:set>
                                    <p:animEffect transition="in" filter="box(in)">
                                      <p:cBhvr>
                                        <p:cTn id="7" dur="500"/>
                                        <p:tgtEl>
                                          <p:spTgt spid="261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Do Organizations Have Uniform Cultures?</a:t>
            </a:r>
          </a:p>
        </p:txBody>
      </p:sp>
      <p:sp>
        <p:nvSpPr>
          <p:cNvPr id="3" name="Content Placeholder 2"/>
          <p:cNvSpPr>
            <a:spLocks noGrp="1"/>
          </p:cNvSpPr>
          <p:nvPr>
            <p:ph sz="quarter" idx="13"/>
          </p:nvPr>
        </p:nvSpPr>
        <p:spPr/>
        <p:txBody>
          <a:bodyPr>
            <a:normAutofit/>
          </a:bodyPr>
          <a:lstStyle/>
          <a:p>
            <a:pPr>
              <a:spcBef>
                <a:spcPct val="50000"/>
              </a:spcBef>
            </a:pPr>
            <a:r>
              <a:rPr lang="en-US" sz="2000" dirty="0"/>
              <a:t>Expresses the core values that are shared by a majority of the organization’s members.</a:t>
            </a:r>
          </a:p>
        </p:txBody>
      </p:sp>
      <p:sp>
        <p:nvSpPr>
          <p:cNvPr id="4" name="Content Placeholder 3"/>
          <p:cNvSpPr>
            <a:spLocks noGrp="1"/>
          </p:cNvSpPr>
          <p:nvPr>
            <p:ph sz="quarter" idx="14"/>
          </p:nvPr>
        </p:nvSpPr>
        <p:spPr/>
        <p:txBody>
          <a:bodyPr>
            <a:normAutofit/>
          </a:bodyPr>
          <a:lstStyle/>
          <a:p>
            <a:pPr marL="463550" lvl="1" indent="-341313">
              <a:spcBef>
                <a:spcPct val="40000"/>
              </a:spcBef>
              <a:buFont typeface="Wingdings" pitchFamily="2" charset="2"/>
              <a:buChar char="q"/>
            </a:pPr>
            <a:r>
              <a:rPr lang="en-US" sz="2000" dirty="0" err="1"/>
              <a:t>Minicultures</a:t>
            </a:r>
            <a:r>
              <a:rPr lang="en-US" sz="2000" dirty="0"/>
              <a:t> within an organization, typically defined by department designations and geographical separation.</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3</a:t>
            </a:fld>
            <a:endParaRPr lang="en-US"/>
          </a:p>
        </p:txBody>
      </p:sp>
      <p:sp>
        <p:nvSpPr>
          <p:cNvPr id="6" name="Text Placeholder 5"/>
          <p:cNvSpPr>
            <a:spLocks noGrp="1"/>
          </p:cNvSpPr>
          <p:nvPr>
            <p:ph type="body" sz="quarter" idx="18"/>
          </p:nvPr>
        </p:nvSpPr>
        <p:spPr/>
        <p:txBody>
          <a:bodyPr>
            <a:normAutofit/>
          </a:bodyPr>
          <a:lstStyle/>
          <a:p>
            <a:r>
              <a:rPr lang="en-US" dirty="0"/>
              <a:t>Dominant Culture</a:t>
            </a:r>
          </a:p>
        </p:txBody>
      </p:sp>
      <p:sp>
        <p:nvSpPr>
          <p:cNvPr id="7" name="Text Placeholder 6"/>
          <p:cNvSpPr>
            <a:spLocks noGrp="1"/>
          </p:cNvSpPr>
          <p:nvPr>
            <p:ph type="body" sz="quarter" idx="19"/>
          </p:nvPr>
        </p:nvSpPr>
        <p:spPr/>
        <p:txBody>
          <a:bodyPr/>
          <a:lstStyle/>
          <a:p>
            <a:pPr>
              <a:spcBef>
                <a:spcPct val="50000"/>
              </a:spcBef>
            </a:pPr>
            <a:r>
              <a:rPr lang="en-US" dirty="0"/>
              <a:t>Subculture</a:t>
            </a:r>
          </a:p>
        </p:txBody>
      </p:sp>
    </p:spTree>
    <p:extLst>
      <p:ext uri="{BB962C8B-B14F-4D97-AF65-F5344CB8AC3E}">
        <p14:creationId xmlns:p14="http://schemas.microsoft.com/office/powerpoint/2010/main" val="3510491356"/>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Do Organizations Have Uniform Cultures?</a:t>
            </a:r>
          </a:p>
        </p:txBody>
      </p:sp>
      <p:sp>
        <p:nvSpPr>
          <p:cNvPr id="3" name="Content Placeholder 2"/>
          <p:cNvSpPr>
            <a:spLocks noGrp="1"/>
          </p:cNvSpPr>
          <p:nvPr>
            <p:ph sz="quarter" idx="13"/>
          </p:nvPr>
        </p:nvSpPr>
        <p:spPr/>
        <p:txBody>
          <a:bodyPr>
            <a:normAutofit/>
          </a:bodyPr>
          <a:lstStyle/>
          <a:p>
            <a:pPr>
              <a:spcBef>
                <a:spcPct val="50000"/>
              </a:spcBef>
            </a:pPr>
            <a:r>
              <a:rPr lang="en-US" sz="2000" dirty="0"/>
              <a:t>The primary or dominant values that are accepted throughout the organization.</a:t>
            </a:r>
          </a:p>
        </p:txBody>
      </p:sp>
      <p:sp>
        <p:nvSpPr>
          <p:cNvPr id="4" name="Content Placeholder 3"/>
          <p:cNvSpPr>
            <a:spLocks noGrp="1"/>
          </p:cNvSpPr>
          <p:nvPr>
            <p:ph sz="quarter" idx="14"/>
          </p:nvPr>
        </p:nvSpPr>
        <p:spPr/>
        <p:txBody>
          <a:bodyPr>
            <a:normAutofit/>
          </a:bodyPr>
          <a:lstStyle/>
          <a:p>
            <a:pPr marL="463550" lvl="1" indent="-341313">
              <a:spcBef>
                <a:spcPct val="40000"/>
              </a:spcBef>
              <a:buFont typeface="Wingdings" pitchFamily="2" charset="2"/>
              <a:buChar char="q"/>
            </a:pPr>
            <a:r>
              <a:rPr lang="en-US" sz="2000" dirty="0"/>
              <a:t>A culture in which the core values are intensely held and widely shared.</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4</a:t>
            </a:fld>
            <a:endParaRPr lang="en-US"/>
          </a:p>
        </p:txBody>
      </p:sp>
      <p:sp>
        <p:nvSpPr>
          <p:cNvPr id="6" name="Text Placeholder 5"/>
          <p:cNvSpPr>
            <a:spLocks noGrp="1"/>
          </p:cNvSpPr>
          <p:nvPr>
            <p:ph type="body" sz="quarter" idx="18"/>
          </p:nvPr>
        </p:nvSpPr>
        <p:spPr/>
        <p:txBody>
          <a:bodyPr>
            <a:normAutofit/>
          </a:bodyPr>
          <a:lstStyle/>
          <a:p>
            <a:r>
              <a:rPr lang="en-US" dirty="0"/>
              <a:t>Core Values</a:t>
            </a:r>
          </a:p>
        </p:txBody>
      </p:sp>
      <p:sp>
        <p:nvSpPr>
          <p:cNvPr id="7" name="Text Placeholder 6"/>
          <p:cNvSpPr>
            <a:spLocks noGrp="1"/>
          </p:cNvSpPr>
          <p:nvPr>
            <p:ph type="body" sz="quarter" idx="19"/>
          </p:nvPr>
        </p:nvSpPr>
        <p:spPr/>
        <p:txBody>
          <a:bodyPr/>
          <a:lstStyle/>
          <a:p>
            <a:pPr>
              <a:spcBef>
                <a:spcPct val="50000"/>
              </a:spcBef>
            </a:pPr>
            <a:r>
              <a:rPr lang="en-US" dirty="0"/>
              <a:t>Strong Culture</a:t>
            </a:r>
          </a:p>
        </p:txBody>
      </p:sp>
    </p:spTree>
    <p:extLst>
      <p:ext uri="{BB962C8B-B14F-4D97-AF65-F5344CB8AC3E}">
        <p14:creationId xmlns:p14="http://schemas.microsoft.com/office/powerpoint/2010/main" val="2187109845"/>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Organizational Culture?</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5</a:t>
            </a:fld>
            <a:endParaRPr lang="en-US"/>
          </a:p>
        </p:txBody>
      </p:sp>
      <p:sp>
        <p:nvSpPr>
          <p:cNvPr id="4" name="Content Placeholder 3"/>
          <p:cNvSpPr>
            <a:spLocks noGrp="1"/>
          </p:cNvSpPr>
          <p:nvPr>
            <p:ph sz="quarter" idx="13"/>
          </p:nvPr>
        </p:nvSpPr>
        <p:spPr/>
        <p:txBody>
          <a:bodyPr>
            <a:normAutofit/>
          </a:bodyPr>
          <a:lstStyle/>
          <a:p>
            <a:pPr>
              <a:spcBef>
                <a:spcPct val="50000"/>
              </a:spcBef>
            </a:pPr>
            <a:r>
              <a:rPr lang="en-US" sz="2000" b="1" dirty="0"/>
              <a:t>Culture Versus Formalization</a:t>
            </a:r>
          </a:p>
          <a:p>
            <a:pPr lvl="1">
              <a:spcBef>
                <a:spcPct val="50000"/>
              </a:spcBef>
            </a:pPr>
            <a:r>
              <a:rPr lang="en-US" sz="2000" dirty="0"/>
              <a:t>A strong culture increases behavioral consistency and can act as a substitute for formalization.</a:t>
            </a:r>
          </a:p>
          <a:p>
            <a:pPr>
              <a:spcBef>
                <a:spcPct val="50000"/>
              </a:spcBef>
            </a:pPr>
            <a:r>
              <a:rPr lang="en-US" sz="2000" b="1" dirty="0"/>
              <a:t>Organizational Culture Versus National Culture</a:t>
            </a:r>
          </a:p>
          <a:p>
            <a:pPr lvl="1">
              <a:spcBef>
                <a:spcPct val="50000"/>
              </a:spcBef>
            </a:pPr>
            <a:r>
              <a:rPr lang="en-US" sz="2000" dirty="0"/>
              <a:t>National culture has a greater impact on employees than does their organization’s culture.</a:t>
            </a:r>
          </a:p>
          <a:p>
            <a:pPr lvl="1">
              <a:spcBef>
                <a:spcPct val="50000"/>
              </a:spcBef>
            </a:pPr>
            <a:r>
              <a:rPr lang="en-US" sz="2000" dirty="0"/>
              <a:t>Nationals selected to work for foreign companies may be atypical of the local/native population.</a:t>
            </a:r>
          </a:p>
        </p:txBody>
      </p:sp>
    </p:spTree>
    <p:extLst>
      <p:ext uri="{BB962C8B-B14F-4D97-AF65-F5344CB8AC3E}">
        <p14:creationId xmlns:p14="http://schemas.microsoft.com/office/powerpoint/2010/main" val="1318261077"/>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What Do Cultures Do?</a:t>
            </a:r>
            <a:endParaRPr lang="en-US" sz="4400" dirty="0"/>
          </a:p>
        </p:txBody>
      </p:sp>
      <p:sp>
        <p:nvSpPr>
          <p:cNvPr id="3" name="Content Placeholder 2"/>
          <p:cNvSpPr>
            <a:spLocks noGrp="1"/>
          </p:cNvSpPr>
          <p:nvPr>
            <p:ph sz="quarter" idx="13"/>
          </p:nvPr>
        </p:nvSpPr>
        <p:spPr>
          <a:xfrm>
            <a:off x="609600" y="1919818"/>
            <a:ext cx="4343400" cy="2628900"/>
          </a:xfrm>
        </p:spPr>
        <p:txBody>
          <a:bodyPr>
            <a:noAutofit/>
          </a:bodyPr>
          <a:lstStyle/>
          <a:p>
            <a:pPr>
              <a:spcBef>
                <a:spcPts val="0"/>
              </a:spcBef>
              <a:buFontTx/>
              <a:buAutoNum type="arabicPeriod"/>
            </a:pPr>
            <a:r>
              <a:rPr lang="en-US" sz="1800" dirty="0"/>
              <a:t>Defines the boundary between one organization and others.</a:t>
            </a:r>
          </a:p>
          <a:p>
            <a:pPr>
              <a:spcBef>
                <a:spcPts val="0"/>
              </a:spcBef>
              <a:buFontTx/>
              <a:buAutoNum type="arabicPeriod"/>
            </a:pPr>
            <a:r>
              <a:rPr lang="en-US" sz="1800" dirty="0"/>
              <a:t>Conveys a sense of identity for its members.</a:t>
            </a:r>
          </a:p>
          <a:p>
            <a:pPr>
              <a:spcBef>
                <a:spcPts val="0"/>
              </a:spcBef>
              <a:buFontTx/>
              <a:buAutoNum type="arabicPeriod"/>
            </a:pPr>
            <a:r>
              <a:rPr lang="en-US" sz="1800" dirty="0"/>
              <a:t>Facilitates the generation of commitment to something larger than self-interest.</a:t>
            </a:r>
          </a:p>
          <a:p>
            <a:pPr>
              <a:spcBef>
                <a:spcPts val="0"/>
              </a:spcBef>
              <a:buFontTx/>
              <a:buAutoNum type="arabicPeriod"/>
            </a:pPr>
            <a:r>
              <a:rPr lang="en-US" sz="1800" dirty="0"/>
              <a:t>Enhances the stability of the social system.</a:t>
            </a:r>
          </a:p>
          <a:p>
            <a:pPr>
              <a:spcBef>
                <a:spcPts val="0"/>
              </a:spcBef>
              <a:buFontTx/>
              <a:buAutoNum type="arabicPeriod"/>
            </a:pPr>
            <a:r>
              <a:rPr lang="en-US" sz="1800" dirty="0"/>
              <a:t>Serves as a sense-making and control mechanism  for fitting employees in the organization.</a:t>
            </a:r>
          </a:p>
        </p:txBody>
      </p:sp>
      <p:sp>
        <p:nvSpPr>
          <p:cNvPr id="4" name="Content Placeholder 3"/>
          <p:cNvSpPr>
            <a:spLocks noGrp="1"/>
          </p:cNvSpPr>
          <p:nvPr>
            <p:ph sz="quarter" idx="14"/>
          </p:nvPr>
        </p:nvSpPr>
        <p:spPr>
          <a:xfrm>
            <a:off x="5257800" y="1919818"/>
            <a:ext cx="3429000" cy="2628900"/>
          </a:xfrm>
        </p:spPr>
        <p:txBody>
          <a:bodyPr>
            <a:normAutofit/>
          </a:bodyPr>
          <a:lstStyle/>
          <a:p>
            <a:pPr>
              <a:spcBef>
                <a:spcPct val="50000"/>
              </a:spcBef>
              <a:buFontTx/>
              <a:buAutoNum type="arabicPeriod"/>
            </a:pPr>
            <a:r>
              <a:rPr lang="en-US" sz="2000" dirty="0"/>
              <a:t>Institutionalization</a:t>
            </a:r>
          </a:p>
          <a:p>
            <a:pPr>
              <a:spcBef>
                <a:spcPct val="50000"/>
              </a:spcBef>
              <a:buFontTx/>
              <a:buAutoNum type="arabicPeriod"/>
            </a:pPr>
            <a:r>
              <a:rPr lang="en-US" sz="2000" dirty="0"/>
              <a:t>Barrier to change.</a:t>
            </a:r>
          </a:p>
          <a:p>
            <a:pPr>
              <a:spcBef>
                <a:spcPct val="50000"/>
              </a:spcBef>
              <a:buFontTx/>
              <a:buAutoNum type="arabicPeriod"/>
            </a:pPr>
            <a:r>
              <a:rPr lang="en-US" sz="2000" dirty="0"/>
              <a:t>Barrier to diversity</a:t>
            </a:r>
          </a:p>
          <a:p>
            <a:pPr>
              <a:spcBef>
                <a:spcPct val="50000"/>
              </a:spcBef>
              <a:buFontTx/>
              <a:buAutoNum type="arabicPeriod"/>
            </a:pPr>
            <a:r>
              <a:rPr lang="en-US" sz="2000" dirty="0"/>
              <a:t>Barrier to acquisitions and mergers</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6</a:t>
            </a:fld>
            <a:endParaRPr lang="en-US"/>
          </a:p>
        </p:txBody>
      </p:sp>
      <p:sp>
        <p:nvSpPr>
          <p:cNvPr id="6" name="Text Placeholder 5"/>
          <p:cNvSpPr>
            <a:spLocks noGrp="1"/>
          </p:cNvSpPr>
          <p:nvPr>
            <p:ph type="body" sz="quarter" idx="18"/>
          </p:nvPr>
        </p:nvSpPr>
        <p:spPr>
          <a:xfrm>
            <a:off x="609600" y="1362287"/>
            <a:ext cx="4343400" cy="530352"/>
          </a:xfrm>
        </p:spPr>
        <p:txBody>
          <a:bodyPr>
            <a:normAutofit/>
          </a:bodyPr>
          <a:lstStyle/>
          <a:p>
            <a:pPr>
              <a:lnSpc>
                <a:spcPct val="110000"/>
              </a:lnSpc>
              <a:spcBef>
                <a:spcPct val="50000"/>
              </a:spcBef>
            </a:pPr>
            <a:r>
              <a:rPr lang="en-US" dirty="0">
                <a:solidFill>
                  <a:srgbClr val="FFFFCC"/>
                </a:solidFill>
              </a:rPr>
              <a:t>Culture’s Functions</a:t>
            </a:r>
          </a:p>
        </p:txBody>
      </p:sp>
      <p:sp>
        <p:nvSpPr>
          <p:cNvPr id="7" name="Text Placeholder 6"/>
          <p:cNvSpPr>
            <a:spLocks noGrp="1"/>
          </p:cNvSpPr>
          <p:nvPr>
            <p:ph type="body" sz="quarter" idx="19"/>
          </p:nvPr>
        </p:nvSpPr>
        <p:spPr>
          <a:xfrm>
            <a:off x="5257800" y="1362287"/>
            <a:ext cx="3429000" cy="530352"/>
          </a:xfrm>
        </p:spPr>
        <p:txBody>
          <a:bodyPr/>
          <a:lstStyle/>
          <a:p>
            <a:pPr>
              <a:spcBef>
                <a:spcPct val="50000"/>
              </a:spcBef>
            </a:pPr>
            <a:r>
              <a:rPr lang="en-US" dirty="0">
                <a:solidFill>
                  <a:srgbClr val="FFFFCC"/>
                </a:solidFill>
              </a:rPr>
              <a:t>Culture as a Liability</a:t>
            </a:r>
          </a:p>
        </p:txBody>
      </p:sp>
      <p:cxnSp>
        <p:nvCxnSpPr>
          <p:cNvPr id="11" name="Straight Connector 10"/>
          <p:cNvCxnSpPr/>
          <p:nvPr/>
        </p:nvCxnSpPr>
        <p:spPr>
          <a:xfrm>
            <a:off x="5105400" y="1352550"/>
            <a:ext cx="0" cy="3429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312984"/>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ln/>
        </p:spPr>
        <p:txBody>
          <a:bodyPr/>
          <a:lstStyle/>
          <a:p>
            <a:r>
              <a:rPr lang="en-US"/>
              <a:t>How Culture Begins</a:t>
            </a:r>
          </a:p>
        </p:txBody>
      </p:sp>
      <p:sp>
        <p:nvSpPr>
          <p:cNvPr id="268291" name="Rectangle 3"/>
          <p:cNvSpPr>
            <a:spLocks noGrp="1" noChangeArrowheads="1"/>
          </p:cNvSpPr>
          <p:nvPr>
            <p:ph sz="quarter" idx="13"/>
          </p:nvPr>
        </p:nvSpPr>
        <p:spPr/>
        <p:txBody>
          <a:bodyPr>
            <a:normAutofit/>
          </a:bodyPr>
          <a:lstStyle/>
          <a:p>
            <a:pPr>
              <a:spcBef>
                <a:spcPct val="50000"/>
              </a:spcBef>
            </a:pPr>
            <a:r>
              <a:rPr lang="en-US" sz="2000" b="1" i="1" dirty="0"/>
              <a:t>Stems from the actions of the founders:</a:t>
            </a:r>
          </a:p>
          <a:p>
            <a:pPr lvl="1">
              <a:spcBef>
                <a:spcPct val="50000"/>
              </a:spcBef>
            </a:pPr>
            <a:r>
              <a:rPr lang="en-US" sz="2000" dirty="0"/>
              <a:t>Founders hire and keep only  employees who think and feel the same way they do.</a:t>
            </a:r>
          </a:p>
          <a:p>
            <a:pPr lvl="1">
              <a:spcBef>
                <a:spcPct val="50000"/>
              </a:spcBef>
            </a:pPr>
            <a:r>
              <a:rPr lang="en-US" sz="2000" dirty="0"/>
              <a:t>Founders train and socialize these employees to their way of thinking and feeling.</a:t>
            </a:r>
          </a:p>
          <a:p>
            <a:pPr lvl="1">
              <a:spcBef>
                <a:spcPct val="50000"/>
              </a:spcBef>
            </a:pPr>
            <a:r>
              <a:rPr lang="en-US" sz="2000" dirty="0"/>
              <a:t>The founders’ own behavior acts as a role model that encourages employees to identify with them and thereby internalize their beliefs, values, and assumptions.</a:t>
            </a:r>
          </a:p>
        </p:txBody>
      </p:sp>
    </p:spTree>
    <p:extLst>
      <p:ext uri="{BB962C8B-B14F-4D97-AF65-F5344CB8AC3E}">
        <p14:creationId xmlns:p14="http://schemas.microsoft.com/office/powerpoint/2010/main" val="3374156739"/>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ln/>
        </p:spPr>
        <p:txBody>
          <a:bodyPr>
            <a:normAutofit/>
          </a:bodyPr>
          <a:lstStyle/>
          <a:p>
            <a:r>
              <a:rPr lang="en-US" sz="4000" dirty="0"/>
              <a:t>Keeping Culture Alive</a:t>
            </a:r>
          </a:p>
        </p:txBody>
      </p:sp>
      <p:sp>
        <p:nvSpPr>
          <p:cNvPr id="269315" name="Rectangle 3"/>
          <p:cNvSpPr>
            <a:spLocks noGrp="1" noChangeArrowheads="1"/>
          </p:cNvSpPr>
          <p:nvPr>
            <p:ph sz="quarter" idx="13"/>
          </p:nvPr>
        </p:nvSpPr>
        <p:spPr/>
        <p:txBody>
          <a:bodyPr>
            <a:normAutofit fontScale="77500" lnSpcReduction="20000"/>
          </a:bodyPr>
          <a:lstStyle/>
          <a:p>
            <a:r>
              <a:rPr lang="en-US" dirty="0"/>
              <a:t>Selection</a:t>
            </a:r>
          </a:p>
          <a:p>
            <a:pPr lvl="1"/>
            <a:r>
              <a:rPr lang="en-US" dirty="0"/>
              <a:t>Concern with how well the candidates will fit into the organization.</a:t>
            </a:r>
          </a:p>
          <a:p>
            <a:pPr lvl="1"/>
            <a:r>
              <a:rPr lang="en-US" dirty="0"/>
              <a:t>Provides information to candidates about the organization.</a:t>
            </a:r>
          </a:p>
          <a:p>
            <a:r>
              <a:rPr lang="en-US" dirty="0"/>
              <a:t>Top Management</a:t>
            </a:r>
          </a:p>
          <a:p>
            <a:pPr lvl="1"/>
            <a:r>
              <a:rPr lang="en-US" dirty="0"/>
              <a:t>Senior executives help establish behavioral norms that are adopted by the organization.</a:t>
            </a:r>
          </a:p>
          <a:p>
            <a:r>
              <a:rPr lang="en-US" dirty="0"/>
              <a:t>Socialization</a:t>
            </a:r>
          </a:p>
          <a:p>
            <a:pPr lvl="1"/>
            <a:r>
              <a:rPr lang="en-US" dirty="0"/>
              <a:t>The process that helps new employees adapt to the organization’s culture.</a:t>
            </a:r>
          </a:p>
        </p:txBody>
      </p:sp>
    </p:spTree>
    <p:extLst>
      <p:ext uri="{BB962C8B-B14F-4D97-AF65-F5344CB8AC3E}">
        <p14:creationId xmlns:p14="http://schemas.microsoft.com/office/powerpoint/2010/main" val="42666708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Effect transition="in" filter="wipe(left)">
                                      <p:cBhvr>
                                        <p:cTn id="7" dur="500"/>
                                        <p:tgtEl>
                                          <p:spTgt spid="2693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9315">
                                            <p:txEl>
                                              <p:pRg st="1" end="1"/>
                                            </p:txEl>
                                          </p:spTgt>
                                        </p:tgtEl>
                                        <p:attrNameLst>
                                          <p:attrName>style.visibility</p:attrName>
                                        </p:attrNameLst>
                                      </p:cBhvr>
                                      <p:to>
                                        <p:strVal val="visible"/>
                                      </p:to>
                                    </p:set>
                                    <p:animEffect transition="in" filter="wipe(left)">
                                      <p:cBhvr>
                                        <p:cTn id="10" dur="500"/>
                                        <p:tgtEl>
                                          <p:spTgt spid="26931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9315">
                                            <p:txEl>
                                              <p:pRg st="2" end="2"/>
                                            </p:txEl>
                                          </p:spTgt>
                                        </p:tgtEl>
                                        <p:attrNameLst>
                                          <p:attrName>style.visibility</p:attrName>
                                        </p:attrNameLst>
                                      </p:cBhvr>
                                      <p:to>
                                        <p:strVal val="visible"/>
                                      </p:to>
                                    </p:set>
                                    <p:animEffect transition="in" filter="wipe(left)">
                                      <p:cBhvr>
                                        <p:cTn id="13" dur="500"/>
                                        <p:tgtEl>
                                          <p:spTgt spid="26931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9315">
                                            <p:txEl>
                                              <p:pRg st="3" end="3"/>
                                            </p:txEl>
                                          </p:spTgt>
                                        </p:tgtEl>
                                        <p:attrNameLst>
                                          <p:attrName>style.visibility</p:attrName>
                                        </p:attrNameLst>
                                      </p:cBhvr>
                                      <p:to>
                                        <p:strVal val="visible"/>
                                      </p:to>
                                    </p:set>
                                    <p:animEffect transition="in" filter="wipe(left)">
                                      <p:cBhvr>
                                        <p:cTn id="18" dur="500"/>
                                        <p:tgtEl>
                                          <p:spTgt spid="269315">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69315">
                                            <p:txEl>
                                              <p:pRg st="4" end="4"/>
                                            </p:txEl>
                                          </p:spTgt>
                                        </p:tgtEl>
                                        <p:attrNameLst>
                                          <p:attrName>style.visibility</p:attrName>
                                        </p:attrNameLst>
                                      </p:cBhvr>
                                      <p:to>
                                        <p:strVal val="visible"/>
                                      </p:to>
                                    </p:set>
                                    <p:animEffect transition="in" filter="wipe(left)">
                                      <p:cBhvr>
                                        <p:cTn id="21" dur="500"/>
                                        <p:tgtEl>
                                          <p:spTgt spid="269315">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9315">
                                            <p:txEl>
                                              <p:pRg st="5" end="5"/>
                                            </p:txEl>
                                          </p:spTgt>
                                        </p:tgtEl>
                                        <p:attrNameLst>
                                          <p:attrName>style.visibility</p:attrName>
                                        </p:attrNameLst>
                                      </p:cBhvr>
                                      <p:to>
                                        <p:strVal val="visible"/>
                                      </p:to>
                                    </p:set>
                                    <p:animEffect transition="in" filter="wipe(left)">
                                      <p:cBhvr>
                                        <p:cTn id="26" dur="500"/>
                                        <p:tgtEl>
                                          <p:spTgt spid="269315">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69315">
                                            <p:txEl>
                                              <p:pRg st="6" end="6"/>
                                            </p:txEl>
                                          </p:spTgt>
                                        </p:tgtEl>
                                        <p:attrNameLst>
                                          <p:attrName>style.visibility</p:attrName>
                                        </p:attrNameLst>
                                      </p:cBhvr>
                                      <p:to>
                                        <p:strVal val="visible"/>
                                      </p:to>
                                    </p:set>
                                    <p:animEffect transition="in" filter="wipe(left)">
                                      <p:cBhvr>
                                        <p:cTn id="29" dur="500"/>
                                        <p:tgtEl>
                                          <p:spTgt spid="269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Stages in the Socialization Process</a:t>
            </a:r>
            <a:endParaRPr lang="en-US" dirty="0"/>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9</a:t>
            </a:fld>
            <a:endParaRPr lang="en-US" dirty="0">
              <a:solidFill>
                <a:srgbClr val="FFFFFF"/>
              </a:solidFill>
            </a:endParaRPr>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54" t="17187" r="22304" b="48264"/>
          <a:stretch/>
        </p:blipFill>
        <p:spPr bwMode="auto">
          <a:xfrm>
            <a:off x="609600" y="1352551"/>
            <a:ext cx="7783887"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2279097"/>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Stages in the Socialization Process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10</a:t>
            </a:fld>
            <a:endParaRPr lang="en-US"/>
          </a:p>
        </p:txBody>
      </p:sp>
      <p:sp>
        <p:nvSpPr>
          <p:cNvPr id="4" name="Content Placeholder 3"/>
          <p:cNvSpPr>
            <a:spLocks noGrp="1"/>
          </p:cNvSpPr>
          <p:nvPr>
            <p:ph sz="quarter" idx="13"/>
          </p:nvPr>
        </p:nvSpPr>
        <p:spPr/>
        <p:txBody>
          <a:bodyPr>
            <a:noAutofit/>
          </a:bodyPr>
          <a:lstStyle/>
          <a:p>
            <a:pPr>
              <a:spcBef>
                <a:spcPts val="600"/>
              </a:spcBef>
            </a:pPr>
            <a:r>
              <a:rPr lang="en-US" sz="2000" b="1" dirty="0" err="1"/>
              <a:t>Prearrival</a:t>
            </a:r>
            <a:r>
              <a:rPr lang="en-US" sz="2000" b="1" dirty="0"/>
              <a:t> Stage</a:t>
            </a:r>
          </a:p>
          <a:p>
            <a:pPr marL="346075" indent="0">
              <a:spcBef>
                <a:spcPts val="600"/>
              </a:spcBef>
              <a:buNone/>
            </a:pPr>
            <a:r>
              <a:rPr lang="en-US" sz="2000" dirty="0"/>
              <a:t>The period of learning in the socialization process that occurs before a new employee joins the organization.</a:t>
            </a:r>
          </a:p>
          <a:p>
            <a:pPr>
              <a:spcBef>
                <a:spcPts val="600"/>
              </a:spcBef>
            </a:pPr>
            <a:r>
              <a:rPr lang="en-US" sz="2000" b="1" dirty="0"/>
              <a:t>Encounter Stage</a:t>
            </a:r>
          </a:p>
          <a:p>
            <a:pPr marL="346075" indent="0">
              <a:spcBef>
                <a:spcPts val="600"/>
              </a:spcBef>
              <a:buNone/>
            </a:pPr>
            <a:r>
              <a:rPr lang="en-US" sz="2000" dirty="0"/>
              <a:t>The stage in the socialization process in which a new employee sees what the organization is really like and confronts the possibility that expectations and reality may diverge.</a:t>
            </a:r>
          </a:p>
          <a:p>
            <a:pPr>
              <a:spcBef>
                <a:spcPts val="600"/>
              </a:spcBef>
            </a:pPr>
            <a:r>
              <a:rPr lang="en-US" sz="2000" b="1" dirty="0"/>
              <a:t>Metamorphosis Stage</a:t>
            </a:r>
          </a:p>
          <a:p>
            <a:pPr marL="346075" indent="0">
              <a:spcBef>
                <a:spcPts val="600"/>
              </a:spcBef>
              <a:buNone/>
            </a:pPr>
            <a:r>
              <a:rPr lang="en-US" sz="2000" dirty="0"/>
              <a:t>The stage in the socialization process in which a new employee changes and adjusts to the work, work group, and organization.</a:t>
            </a:r>
          </a:p>
        </p:txBody>
      </p:sp>
    </p:spTree>
    <p:extLst>
      <p:ext uri="{BB962C8B-B14F-4D97-AF65-F5344CB8AC3E}">
        <p14:creationId xmlns:p14="http://schemas.microsoft.com/office/powerpoint/2010/main" val="3395124177"/>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dirty="0">
                <a:solidFill>
                  <a:schemeClr val="tx1"/>
                </a:solidFill>
              </a:rPr>
              <a:t>How Employees Learn Culture</a:t>
            </a:r>
          </a:p>
        </p:txBody>
      </p:sp>
      <p:sp>
        <p:nvSpPr>
          <p:cNvPr id="5" name="Slide Number Placeholder 4"/>
          <p:cNvSpPr>
            <a:spLocks noGrp="1"/>
          </p:cNvSpPr>
          <p:nvPr>
            <p:ph type="sldNum" sz="quarter" idx="12"/>
          </p:nvPr>
        </p:nvSpPr>
        <p:spPr/>
        <p:txBody>
          <a:bodyPr>
            <a:normAutofit fontScale="47500" lnSpcReduction="20000"/>
          </a:bodyPr>
          <a:lstStyle/>
          <a:p>
            <a:pPr>
              <a:defRPr/>
            </a:pPr>
            <a:r>
              <a:rPr lang="en-US"/>
              <a:t>16-</a:t>
            </a:r>
            <a:fld id="{8015AE41-19AD-42B3-9861-45CDE349087F}" type="slidenum">
              <a:rPr lang="en-US" smtClean="0"/>
              <a:pPr>
                <a:defRPr/>
              </a:pPr>
              <a:t>11</a:t>
            </a:fld>
            <a:endParaRPr lang="en-US"/>
          </a:p>
        </p:txBody>
      </p:sp>
      <p:sp>
        <p:nvSpPr>
          <p:cNvPr id="22531" name="Content Placeholder 2"/>
          <p:cNvSpPr>
            <a:spLocks noGrp="1"/>
          </p:cNvSpPr>
          <p:nvPr>
            <p:ph sz="quarter" idx="13"/>
          </p:nvPr>
        </p:nvSpPr>
        <p:spPr/>
        <p:txBody>
          <a:bodyPr>
            <a:noAutofit/>
          </a:bodyPr>
          <a:lstStyle/>
          <a:p>
            <a:pPr eaLnBrk="1" hangingPunct="1">
              <a:spcBef>
                <a:spcPts val="0"/>
              </a:spcBef>
            </a:pPr>
            <a:r>
              <a:rPr lang="en-US" sz="2000" dirty="0"/>
              <a:t>Stories</a:t>
            </a:r>
          </a:p>
          <a:p>
            <a:pPr lvl="1" eaLnBrk="1" hangingPunct="1">
              <a:spcBef>
                <a:spcPts val="0"/>
              </a:spcBef>
            </a:pPr>
            <a:r>
              <a:rPr lang="en-US" sz="1800" dirty="0"/>
              <a:t>Anchor the present into the past and provide explanations and legitimacy for current practices</a:t>
            </a:r>
          </a:p>
          <a:p>
            <a:pPr eaLnBrk="1" hangingPunct="1">
              <a:spcBef>
                <a:spcPts val="0"/>
              </a:spcBef>
            </a:pPr>
            <a:r>
              <a:rPr lang="en-US" sz="2000" dirty="0"/>
              <a:t>Rituals</a:t>
            </a:r>
          </a:p>
          <a:p>
            <a:pPr lvl="1" eaLnBrk="1" hangingPunct="1">
              <a:spcBef>
                <a:spcPts val="0"/>
              </a:spcBef>
            </a:pPr>
            <a:r>
              <a:rPr lang="en-US" sz="1800" dirty="0"/>
              <a:t>Repetitive sequences of activities that express and reinforce the key values of the organization</a:t>
            </a:r>
          </a:p>
          <a:p>
            <a:pPr eaLnBrk="1" hangingPunct="1">
              <a:spcBef>
                <a:spcPts val="0"/>
              </a:spcBef>
            </a:pPr>
            <a:r>
              <a:rPr lang="en-US" sz="2000" dirty="0"/>
              <a:t>Material Symbols</a:t>
            </a:r>
          </a:p>
          <a:p>
            <a:pPr lvl="1" eaLnBrk="1" hangingPunct="1">
              <a:spcBef>
                <a:spcPts val="0"/>
              </a:spcBef>
            </a:pPr>
            <a:r>
              <a:rPr lang="en-US" sz="1800" dirty="0"/>
              <a:t>Acceptable attire, office size, opulence of the office furnishings, and executive perks that convey to employees who is important in the organization</a:t>
            </a:r>
          </a:p>
          <a:p>
            <a:pPr eaLnBrk="1" hangingPunct="1">
              <a:spcBef>
                <a:spcPts val="0"/>
              </a:spcBef>
            </a:pPr>
            <a:r>
              <a:rPr lang="en-US" sz="2000" dirty="0"/>
              <a:t>Language</a:t>
            </a:r>
          </a:p>
          <a:p>
            <a:pPr lvl="1" eaLnBrk="1" hangingPunct="1">
              <a:spcBef>
                <a:spcPts val="0"/>
              </a:spcBef>
            </a:pPr>
            <a:r>
              <a:rPr lang="en-US" sz="1800" dirty="0"/>
              <a:t>Jargon and special ways of expressing one’s self to indicate membership in the organization</a:t>
            </a:r>
          </a:p>
        </p:txBody>
      </p:sp>
    </p:spTree>
    <p:extLst>
      <p:ext uri="{BB962C8B-B14F-4D97-AF65-F5344CB8AC3E}">
        <p14:creationId xmlns:p14="http://schemas.microsoft.com/office/powerpoint/2010/main" val="4191201044"/>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normAutofit fontScale="47500" lnSpcReduction="20000"/>
          </a:bodyPr>
          <a:lstStyle/>
          <a:p>
            <a:r>
              <a:rPr lang="en-US"/>
              <a:t>16–</a:t>
            </a:r>
            <a:fld id="{2D12D549-5202-4A0B-AD7C-CCFC937E6D19}" type="slidenum">
              <a:rPr lang="en-US"/>
              <a:pPr/>
              <a:t>12</a:t>
            </a:fld>
            <a:endParaRPr lang="en-US"/>
          </a:p>
        </p:txBody>
      </p:sp>
      <p:sp>
        <p:nvSpPr>
          <p:cNvPr id="275458" name="Rectangle 2"/>
          <p:cNvSpPr>
            <a:spLocks noGrp="1" noChangeArrowheads="1"/>
          </p:cNvSpPr>
          <p:nvPr>
            <p:ph type="title"/>
          </p:nvPr>
        </p:nvSpPr>
        <p:spPr>
          <a:ln/>
        </p:spPr>
        <p:txBody>
          <a:bodyPr>
            <a:normAutofit fontScale="90000"/>
          </a:bodyPr>
          <a:lstStyle/>
          <a:p>
            <a:r>
              <a:rPr lang="en-US"/>
              <a:t>Creating An Ethical Organizational Culture</a:t>
            </a:r>
          </a:p>
        </p:txBody>
      </p:sp>
      <p:sp>
        <p:nvSpPr>
          <p:cNvPr id="275459" name="Rectangle 3"/>
          <p:cNvSpPr>
            <a:spLocks noGrp="1" noChangeArrowheads="1"/>
          </p:cNvSpPr>
          <p:nvPr>
            <p:ph type="body" idx="1"/>
          </p:nvPr>
        </p:nvSpPr>
        <p:spPr/>
        <p:txBody>
          <a:bodyPr>
            <a:normAutofit fontScale="70000" lnSpcReduction="20000"/>
          </a:bodyPr>
          <a:lstStyle/>
          <a:p>
            <a:r>
              <a:rPr lang="en-US"/>
              <a:t>Characteristics of Organizations that Develop  High Ethical Standards</a:t>
            </a:r>
          </a:p>
          <a:p>
            <a:pPr lvl="1"/>
            <a:r>
              <a:rPr lang="en-US"/>
              <a:t>High tolerance for risk</a:t>
            </a:r>
          </a:p>
          <a:p>
            <a:pPr lvl="1"/>
            <a:r>
              <a:rPr lang="en-US"/>
              <a:t>Low to moderate in aggressiveness</a:t>
            </a:r>
          </a:p>
          <a:p>
            <a:pPr lvl="1"/>
            <a:r>
              <a:rPr lang="en-US"/>
              <a:t>Focus on means as well as outcomes</a:t>
            </a:r>
          </a:p>
          <a:p>
            <a:r>
              <a:rPr lang="en-US"/>
              <a:t>Managerial Practices Promoting an Ethical Culture</a:t>
            </a:r>
          </a:p>
          <a:p>
            <a:pPr lvl="1"/>
            <a:r>
              <a:rPr lang="en-US"/>
              <a:t>Being a visible role model.</a:t>
            </a:r>
          </a:p>
          <a:p>
            <a:pPr lvl="1"/>
            <a:r>
              <a:rPr lang="en-US"/>
              <a:t>Communicating ethical expectations.</a:t>
            </a:r>
          </a:p>
          <a:p>
            <a:pPr lvl="1"/>
            <a:r>
              <a:rPr lang="en-US"/>
              <a:t>Providing ethical training.</a:t>
            </a:r>
          </a:p>
          <a:p>
            <a:pPr lvl="1"/>
            <a:r>
              <a:rPr lang="en-US"/>
              <a:t>Rewarding ethical acts and punishing unethical ones.</a:t>
            </a:r>
          </a:p>
          <a:p>
            <a:pPr lvl="1"/>
            <a:r>
              <a:rPr lang="en-US"/>
              <a:t>Providing protective mechanisms.</a:t>
            </a:r>
          </a:p>
        </p:txBody>
      </p:sp>
    </p:spTree>
    <p:extLst>
      <p:ext uri="{BB962C8B-B14F-4D97-AF65-F5344CB8AC3E}">
        <p14:creationId xmlns:p14="http://schemas.microsoft.com/office/powerpoint/2010/main" val="1097080687"/>
      </p:ext>
    </p:extLst>
  </p:cSld>
  <p:clrMapOvr>
    <a:masterClrMapping/>
  </p:clrMapOvr>
  <p:transition>
    <p:cut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normAutofit fontScale="47500" lnSpcReduction="20000"/>
          </a:bodyPr>
          <a:lstStyle/>
          <a:p>
            <a:r>
              <a:rPr lang="en-US"/>
              <a:t>16–</a:t>
            </a:r>
            <a:fld id="{10843B88-503D-4D09-A82C-28F9BE59E959}" type="slidenum">
              <a:rPr lang="en-US"/>
              <a:pPr/>
              <a:t>13</a:t>
            </a:fld>
            <a:endParaRPr lang="en-US"/>
          </a:p>
        </p:txBody>
      </p:sp>
      <p:sp>
        <p:nvSpPr>
          <p:cNvPr id="276482" name="Rectangle 2"/>
          <p:cNvSpPr>
            <a:spLocks noGrp="1" noChangeArrowheads="1"/>
          </p:cNvSpPr>
          <p:nvPr>
            <p:ph type="title"/>
          </p:nvPr>
        </p:nvSpPr>
        <p:spPr>
          <a:ln/>
        </p:spPr>
        <p:txBody>
          <a:bodyPr>
            <a:normAutofit fontScale="90000"/>
          </a:bodyPr>
          <a:lstStyle/>
          <a:p>
            <a:r>
              <a:rPr lang="en-US"/>
              <a:t>Creating a Customer-Responsive Culture</a:t>
            </a:r>
          </a:p>
        </p:txBody>
      </p:sp>
      <p:sp>
        <p:nvSpPr>
          <p:cNvPr id="276483" name="Rectangle 3"/>
          <p:cNvSpPr>
            <a:spLocks noGrp="1" noChangeArrowheads="1"/>
          </p:cNvSpPr>
          <p:nvPr>
            <p:ph type="body" idx="1"/>
          </p:nvPr>
        </p:nvSpPr>
        <p:spPr/>
        <p:txBody>
          <a:bodyPr>
            <a:normAutofit fontScale="77500" lnSpcReduction="20000"/>
          </a:bodyPr>
          <a:lstStyle/>
          <a:p>
            <a:pPr marL="457200" indent="-457200"/>
            <a:r>
              <a:rPr lang="en-US"/>
              <a:t>Key Variables Shaping Customer-Responsive Cultures</a:t>
            </a:r>
          </a:p>
          <a:p>
            <a:pPr marL="876300" lvl="1" indent="-419100">
              <a:buFontTx/>
              <a:buAutoNum type="arabicPeriod"/>
            </a:pPr>
            <a:r>
              <a:rPr lang="en-US"/>
              <a:t>The types of employees hired by the organization.</a:t>
            </a:r>
          </a:p>
          <a:p>
            <a:pPr marL="876300" lvl="1" indent="-419100">
              <a:buFontTx/>
              <a:buAutoNum type="arabicPeriod"/>
            </a:pPr>
            <a:r>
              <a:rPr lang="en-US"/>
              <a:t>Low formalization: the freedom to meet customer service requirements.</a:t>
            </a:r>
          </a:p>
          <a:p>
            <a:pPr marL="876300" lvl="1" indent="-419100">
              <a:buFontTx/>
              <a:buAutoNum type="arabicPeriod"/>
            </a:pPr>
            <a:r>
              <a:rPr lang="en-US"/>
              <a:t>Empowering employees with decision-making discretion to please the customer.</a:t>
            </a:r>
          </a:p>
          <a:p>
            <a:pPr marL="876300" lvl="1" indent="-419100">
              <a:buFontTx/>
              <a:buAutoNum type="arabicPeriod"/>
            </a:pPr>
            <a:r>
              <a:rPr lang="en-US"/>
              <a:t>Good listening skills to understand customer messages.</a:t>
            </a:r>
          </a:p>
          <a:p>
            <a:pPr marL="876300" lvl="1" indent="-419100">
              <a:buFontTx/>
              <a:buAutoNum type="arabicPeriod"/>
            </a:pPr>
            <a:r>
              <a:rPr lang="en-US"/>
              <a:t>Role clarity that allows service employees to act as “boundary spanners.”</a:t>
            </a:r>
          </a:p>
          <a:p>
            <a:pPr marL="876300" lvl="1" indent="-419100">
              <a:buFontTx/>
              <a:buAutoNum type="arabicPeriod"/>
            </a:pPr>
            <a:r>
              <a:rPr lang="en-US"/>
              <a:t>Employees who engage in organizational citizenship behaviors.</a:t>
            </a:r>
          </a:p>
        </p:txBody>
      </p:sp>
    </p:spTree>
    <p:extLst>
      <p:ext uri="{BB962C8B-B14F-4D97-AF65-F5344CB8AC3E}">
        <p14:creationId xmlns:p14="http://schemas.microsoft.com/office/powerpoint/2010/main" val="2214532937"/>
      </p:ext>
    </p:extLst>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ln/>
        </p:spPr>
        <p:txBody>
          <a:bodyPr/>
          <a:lstStyle/>
          <a:p>
            <a:r>
              <a:rPr lang="en-US" sz="2400"/>
              <a:t>Creating a Customer-Responsive Culture (cont’d)</a:t>
            </a:r>
          </a:p>
        </p:txBody>
      </p:sp>
      <p:sp>
        <p:nvSpPr>
          <p:cNvPr id="277507" name="Text Box 3" descr="Chap01Bkgd03"/>
          <p:cNvSpPr txBox="1">
            <a:spLocks noChangeArrowheads="1"/>
          </p:cNvSpPr>
          <p:nvPr/>
        </p:nvSpPr>
        <p:spPr bwMode="blackWhite">
          <a:xfrm>
            <a:off x="685800" y="1352550"/>
            <a:ext cx="7772400" cy="3600450"/>
          </a:xfrm>
          <a:prstGeom prst="rect">
            <a:avLst/>
          </a:prstGeom>
          <a:blipFill dpi="0" rotWithShape="0">
            <a:blip r:embed="rId2"/>
            <a:srcRect/>
            <a:stretch>
              <a:fillRect/>
            </a:stretch>
          </a:blipFill>
          <a:ln w="12700">
            <a:solidFill>
              <a:schemeClr val="tx1"/>
            </a:solidFill>
            <a:miter lim="800000"/>
            <a:headEnd/>
            <a:tailEnd/>
          </a:ln>
          <a:effectLst>
            <a:outerShdw dist="135003" dir="2471156" algn="ctr" rotWithShape="0">
              <a:srgbClr val="DDDDDD"/>
            </a:outerShdw>
          </a:effectLst>
        </p:spPr>
        <p:txBody>
          <a:bodyPr lIns="182880" rIns="182880" anchor="ctr" anchorCtr="1"/>
          <a:lstStyle>
            <a:lvl1pPr marL="284163" indent="-284163">
              <a:defRPr sz="2400">
                <a:solidFill>
                  <a:schemeClr val="tx1"/>
                </a:solidFill>
                <a:latin typeface="Times New Roman" pitchFamily="18" charset="0"/>
              </a:defRPr>
            </a:lvl1pPr>
            <a:lvl2pPr marL="1028700" indent="-457200">
              <a:defRPr sz="2400">
                <a:solidFill>
                  <a:schemeClr val="tx1"/>
                </a:solidFill>
                <a:latin typeface="Times New Roman" pitchFamily="18" charset="0"/>
              </a:defRPr>
            </a:lvl2pPr>
            <a:lvl3pPr marL="1538288" indent="-457200">
              <a:defRPr sz="2400">
                <a:solidFill>
                  <a:schemeClr val="tx1"/>
                </a:solidFill>
                <a:latin typeface="Times New Roman" pitchFamily="18" charset="0"/>
              </a:defRPr>
            </a:lvl3pPr>
            <a:lvl4pPr marL="2109788" indent="-457200">
              <a:defRPr sz="2400">
                <a:solidFill>
                  <a:schemeClr val="tx1"/>
                </a:solidFill>
                <a:latin typeface="Times New Roman" pitchFamily="18" charset="0"/>
              </a:defRPr>
            </a:lvl4pPr>
            <a:lvl5pPr marL="2681288" indent="-457200">
              <a:defRPr sz="2400">
                <a:solidFill>
                  <a:schemeClr val="tx1"/>
                </a:solidFill>
                <a:latin typeface="Times New Roman" pitchFamily="18" charset="0"/>
              </a:defRPr>
            </a:lvl5pPr>
            <a:lvl6pPr marL="3138488" indent="-457200" fontAlgn="base">
              <a:spcBef>
                <a:spcPct val="0"/>
              </a:spcBef>
              <a:spcAft>
                <a:spcPct val="0"/>
              </a:spcAft>
              <a:defRPr sz="2400">
                <a:solidFill>
                  <a:schemeClr val="tx1"/>
                </a:solidFill>
                <a:latin typeface="Times New Roman" pitchFamily="18" charset="0"/>
              </a:defRPr>
            </a:lvl6pPr>
            <a:lvl7pPr marL="3595688" indent="-457200" fontAlgn="base">
              <a:spcBef>
                <a:spcPct val="0"/>
              </a:spcBef>
              <a:spcAft>
                <a:spcPct val="0"/>
              </a:spcAft>
              <a:defRPr sz="2400">
                <a:solidFill>
                  <a:schemeClr val="tx1"/>
                </a:solidFill>
                <a:latin typeface="Times New Roman" pitchFamily="18" charset="0"/>
              </a:defRPr>
            </a:lvl7pPr>
            <a:lvl8pPr marL="4052888" indent="-457200" fontAlgn="base">
              <a:spcBef>
                <a:spcPct val="0"/>
              </a:spcBef>
              <a:spcAft>
                <a:spcPct val="0"/>
              </a:spcAft>
              <a:defRPr sz="2400">
                <a:solidFill>
                  <a:schemeClr val="tx1"/>
                </a:solidFill>
                <a:latin typeface="Times New Roman" pitchFamily="18" charset="0"/>
              </a:defRPr>
            </a:lvl8pPr>
            <a:lvl9pPr marL="4510088" indent="-457200" fontAlgn="base">
              <a:spcBef>
                <a:spcPct val="0"/>
              </a:spcBef>
              <a:spcAft>
                <a:spcPct val="0"/>
              </a:spcAft>
              <a:defRPr sz="2400">
                <a:solidFill>
                  <a:schemeClr val="tx1"/>
                </a:solidFill>
                <a:latin typeface="Times New Roman" pitchFamily="18" charset="0"/>
              </a:defRPr>
            </a:lvl9pPr>
          </a:lstStyle>
          <a:p>
            <a:pPr>
              <a:spcBef>
                <a:spcPct val="50000"/>
              </a:spcBef>
            </a:pPr>
            <a:r>
              <a:rPr lang="en-US" sz="2000" dirty="0">
                <a:solidFill>
                  <a:srgbClr val="FFFFCC"/>
                </a:solidFill>
                <a:latin typeface="Arial" charset="0"/>
              </a:rPr>
              <a:t>Managerial Actions :</a:t>
            </a:r>
          </a:p>
          <a:p>
            <a:pPr>
              <a:spcBef>
                <a:spcPct val="50000"/>
              </a:spcBef>
              <a:buFontTx/>
              <a:buChar char="•"/>
            </a:pPr>
            <a:r>
              <a:rPr lang="en-US" sz="2000" dirty="0">
                <a:solidFill>
                  <a:schemeClr val="bg1"/>
                </a:solidFill>
                <a:latin typeface="Arial" charset="0"/>
              </a:rPr>
              <a:t>Select new employees with personality and attitudes consistent with high service orientation.</a:t>
            </a:r>
          </a:p>
          <a:p>
            <a:pPr>
              <a:spcBef>
                <a:spcPct val="50000"/>
              </a:spcBef>
              <a:buFontTx/>
              <a:buChar char="•"/>
            </a:pPr>
            <a:r>
              <a:rPr lang="en-US" sz="2000" dirty="0">
                <a:solidFill>
                  <a:schemeClr val="bg1"/>
                </a:solidFill>
                <a:latin typeface="Arial" charset="0"/>
              </a:rPr>
              <a:t>Train and socialize current employees to be more customer focused.</a:t>
            </a:r>
          </a:p>
          <a:p>
            <a:pPr>
              <a:spcBef>
                <a:spcPct val="50000"/>
              </a:spcBef>
              <a:buFontTx/>
              <a:buChar char="•"/>
            </a:pPr>
            <a:r>
              <a:rPr lang="en-US" sz="2000" dirty="0">
                <a:solidFill>
                  <a:schemeClr val="bg1"/>
                </a:solidFill>
                <a:latin typeface="Arial" charset="0"/>
              </a:rPr>
              <a:t>Change organizational structure to give employees more control.</a:t>
            </a:r>
          </a:p>
          <a:p>
            <a:pPr>
              <a:spcBef>
                <a:spcPct val="50000"/>
              </a:spcBef>
              <a:buFontTx/>
              <a:buChar char="•"/>
            </a:pPr>
            <a:r>
              <a:rPr lang="en-US" sz="2000" dirty="0">
                <a:solidFill>
                  <a:schemeClr val="bg1"/>
                </a:solidFill>
                <a:latin typeface="Arial" charset="0"/>
              </a:rPr>
              <a:t>Empower employees to make decision about their jobs.</a:t>
            </a:r>
          </a:p>
        </p:txBody>
      </p:sp>
    </p:spTree>
    <p:extLst>
      <p:ext uri="{BB962C8B-B14F-4D97-AF65-F5344CB8AC3E}">
        <p14:creationId xmlns:p14="http://schemas.microsoft.com/office/powerpoint/2010/main" val="2364918427"/>
      </p:ext>
    </p:extLst>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77507"/>
                                        </p:tgtEl>
                                        <p:attrNameLst>
                                          <p:attrName>style.visibility</p:attrName>
                                        </p:attrNameLst>
                                      </p:cBhvr>
                                      <p:to>
                                        <p:strVal val="visible"/>
                                      </p:to>
                                    </p:set>
                                    <p:animEffect transition="in" filter="box(in)">
                                      <p:cBhvr>
                                        <p:cTn id="7" dur="500"/>
                                        <p:tgtEl>
                                          <p:spTgt spid="277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7"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ln/>
        </p:spPr>
        <p:txBody>
          <a:bodyPr/>
          <a:lstStyle/>
          <a:p>
            <a:r>
              <a:rPr lang="en-US" sz="2400"/>
              <a:t>Creating a Customer-Responsive Culture (cont’d)</a:t>
            </a:r>
          </a:p>
        </p:txBody>
      </p:sp>
      <p:sp>
        <p:nvSpPr>
          <p:cNvPr id="278531" name="Text Box 3" descr="Chap01Bkgd03"/>
          <p:cNvSpPr txBox="1">
            <a:spLocks noChangeArrowheads="1"/>
          </p:cNvSpPr>
          <p:nvPr/>
        </p:nvSpPr>
        <p:spPr bwMode="blackWhite">
          <a:xfrm>
            <a:off x="675846" y="1352550"/>
            <a:ext cx="7772400" cy="3352800"/>
          </a:xfrm>
          <a:prstGeom prst="rect">
            <a:avLst/>
          </a:prstGeom>
          <a:blipFill dpi="0" rotWithShape="0">
            <a:blip r:embed="rId2"/>
            <a:srcRect/>
            <a:stretch>
              <a:fillRect/>
            </a:stretch>
          </a:blipFill>
          <a:ln w="12700">
            <a:solidFill>
              <a:schemeClr val="tx1"/>
            </a:solidFill>
            <a:miter lim="800000"/>
            <a:headEnd/>
            <a:tailEnd/>
          </a:ln>
          <a:effectLst>
            <a:outerShdw dist="135003" dir="2471156" algn="ctr" rotWithShape="0">
              <a:srgbClr val="DDDDDD"/>
            </a:outerShdw>
          </a:effectLst>
        </p:spPr>
        <p:txBody>
          <a:bodyPr lIns="182880" rIns="182880" anchor="ctr" anchorCtr="1"/>
          <a:lstStyle>
            <a:lvl1pPr marL="284163" indent="-284163">
              <a:defRPr sz="2400">
                <a:solidFill>
                  <a:schemeClr val="tx1"/>
                </a:solidFill>
                <a:latin typeface="Times New Roman" pitchFamily="18" charset="0"/>
              </a:defRPr>
            </a:lvl1pPr>
            <a:lvl2pPr marL="1028700" indent="-457200">
              <a:defRPr sz="2400">
                <a:solidFill>
                  <a:schemeClr val="tx1"/>
                </a:solidFill>
                <a:latin typeface="Times New Roman" pitchFamily="18" charset="0"/>
              </a:defRPr>
            </a:lvl2pPr>
            <a:lvl3pPr marL="1538288" indent="-457200">
              <a:defRPr sz="2400">
                <a:solidFill>
                  <a:schemeClr val="tx1"/>
                </a:solidFill>
                <a:latin typeface="Times New Roman" pitchFamily="18" charset="0"/>
              </a:defRPr>
            </a:lvl3pPr>
            <a:lvl4pPr marL="2109788" indent="-457200">
              <a:defRPr sz="2400">
                <a:solidFill>
                  <a:schemeClr val="tx1"/>
                </a:solidFill>
                <a:latin typeface="Times New Roman" pitchFamily="18" charset="0"/>
              </a:defRPr>
            </a:lvl4pPr>
            <a:lvl5pPr marL="2681288" indent="-457200">
              <a:defRPr sz="2400">
                <a:solidFill>
                  <a:schemeClr val="tx1"/>
                </a:solidFill>
                <a:latin typeface="Times New Roman" pitchFamily="18" charset="0"/>
              </a:defRPr>
            </a:lvl5pPr>
            <a:lvl6pPr marL="3138488" indent="-457200" fontAlgn="base">
              <a:spcBef>
                <a:spcPct val="0"/>
              </a:spcBef>
              <a:spcAft>
                <a:spcPct val="0"/>
              </a:spcAft>
              <a:defRPr sz="2400">
                <a:solidFill>
                  <a:schemeClr val="tx1"/>
                </a:solidFill>
                <a:latin typeface="Times New Roman" pitchFamily="18" charset="0"/>
              </a:defRPr>
            </a:lvl6pPr>
            <a:lvl7pPr marL="3595688" indent="-457200" fontAlgn="base">
              <a:spcBef>
                <a:spcPct val="0"/>
              </a:spcBef>
              <a:spcAft>
                <a:spcPct val="0"/>
              </a:spcAft>
              <a:defRPr sz="2400">
                <a:solidFill>
                  <a:schemeClr val="tx1"/>
                </a:solidFill>
                <a:latin typeface="Times New Roman" pitchFamily="18" charset="0"/>
              </a:defRPr>
            </a:lvl7pPr>
            <a:lvl8pPr marL="4052888" indent="-457200" fontAlgn="base">
              <a:spcBef>
                <a:spcPct val="0"/>
              </a:spcBef>
              <a:spcAft>
                <a:spcPct val="0"/>
              </a:spcAft>
              <a:defRPr sz="2400">
                <a:solidFill>
                  <a:schemeClr val="tx1"/>
                </a:solidFill>
                <a:latin typeface="Times New Roman" pitchFamily="18" charset="0"/>
              </a:defRPr>
            </a:lvl8pPr>
            <a:lvl9pPr marL="4510088" indent="-457200" fontAlgn="base">
              <a:spcBef>
                <a:spcPct val="0"/>
              </a:spcBef>
              <a:spcAft>
                <a:spcPct val="0"/>
              </a:spcAft>
              <a:defRPr sz="2400">
                <a:solidFill>
                  <a:schemeClr val="tx1"/>
                </a:solidFill>
                <a:latin typeface="Times New Roman" pitchFamily="18" charset="0"/>
              </a:defRPr>
            </a:lvl9pPr>
          </a:lstStyle>
          <a:p>
            <a:pPr>
              <a:lnSpc>
                <a:spcPct val="110000"/>
              </a:lnSpc>
              <a:spcBef>
                <a:spcPct val="50000"/>
              </a:spcBef>
            </a:pPr>
            <a:r>
              <a:rPr lang="en-US" dirty="0">
                <a:solidFill>
                  <a:srgbClr val="FFFFCC"/>
                </a:solidFill>
                <a:latin typeface="Arial" charset="0"/>
              </a:rPr>
              <a:t>Managerial Actions (cont’d) :</a:t>
            </a:r>
          </a:p>
          <a:p>
            <a:pPr>
              <a:lnSpc>
                <a:spcPct val="110000"/>
              </a:lnSpc>
              <a:spcBef>
                <a:spcPct val="50000"/>
              </a:spcBef>
              <a:buFontTx/>
              <a:buChar char="•"/>
            </a:pPr>
            <a:r>
              <a:rPr lang="en-US" dirty="0">
                <a:solidFill>
                  <a:schemeClr val="bg1"/>
                </a:solidFill>
                <a:latin typeface="Arial" charset="0"/>
              </a:rPr>
              <a:t>Lead by conveying a customer-focused vision and demonstrating commitment to customers.</a:t>
            </a:r>
          </a:p>
          <a:p>
            <a:pPr>
              <a:lnSpc>
                <a:spcPct val="110000"/>
              </a:lnSpc>
              <a:spcBef>
                <a:spcPct val="50000"/>
              </a:spcBef>
              <a:buFontTx/>
              <a:buChar char="•"/>
            </a:pPr>
            <a:r>
              <a:rPr lang="en-US" dirty="0">
                <a:solidFill>
                  <a:schemeClr val="bg1"/>
                </a:solidFill>
                <a:latin typeface="Arial" charset="0"/>
              </a:rPr>
              <a:t>Conduct performance appraisals based on customer-focused employee behaviors.</a:t>
            </a:r>
          </a:p>
          <a:p>
            <a:pPr>
              <a:lnSpc>
                <a:spcPct val="110000"/>
              </a:lnSpc>
              <a:spcBef>
                <a:spcPct val="50000"/>
              </a:spcBef>
              <a:buFontTx/>
              <a:buChar char="•"/>
            </a:pPr>
            <a:r>
              <a:rPr lang="en-US" dirty="0">
                <a:solidFill>
                  <a:schemeClr val="bg1"/>
                </a:solidFill>
                <a:latin typeface="Arial" charset="0"/>
              </a:rPr>
              <a:t>Provide ongoing recognition for employees who make special efforts to please customers.</a:t>
            </a:r>
          </a:p>
        </p:txBody>
      </p:sp>
    </p:spTree>
    <p:extLst>
      <p:ext uri="{BB962C8B-B14F-4D97-AF65-F5344CB8AC3E}">
        <p14:creationId xmlns:p14="http://schemas.microsoft.com/office/powerpoint/2010/main" val="721719110"/>
      </p:ext>
    </p:extLst>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78531"/>
                                        </p:tgtEl>
                                        <p:attrNameLst>
                                          <p:attrName>style.visibility</p:attrName>
                                        </p:attrNameLst>
                                      </p:cBhvr>
                                      <p:to>
                                        <p:strVal val="visible"/>
                                      </p:to>
                                    </p:set>
                                    <p:animEffect transition="in" filter="box(in)">
                                      <p:cBhvr>
                                        <p:cTn id="7" dur="500"/>
                                        <p:tgtEl>
                                          <p:spTgt spid="278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ln/>
        </p:spPr>
        <p:txBody>
          <a:bodyPr>
            <a:normAutofit fontScale="90000"/>
          </a:bodyPr>
          <a:lstStyle/>
          <a:p>
            <a:r>
              <a:rPr lang="en-US"/>
              <a:t>Spirituality and Organizational Culture</a:t>
            </a:r>
          </a:p>
        </p:txBody>
      </p:sp>
      <p:sp>
        <p:nvSpPr>
          <p:cNvPr id="279555" name="Text Box 3"/>
          <p:cNvSpPr txBox="1">
            <a:spLocks noChangeArrowheads="1"/>
          </p:cNvSpPr>
          <p:nvPr/>
        </p:nvSpPr>
        <p:spPr bwMode="auto">
          <a:xfrm>
            <a:off x="914400" y="984648"/>
            <a:ext cx="7848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Workplace Spirituality</a:t>
            </a:r>
          </a:p>
          <a:p>
            <a:pPr>
              <a:spcBef>
                <a:spcPct val="50000"/>
              </a:spcBef>
            </a:pPr>
            <a:r>
              <a:rPr lang="en-US" sz="2400" b="0">
                <a:latin typeface="Tahoma" pitchFamily="34" charset="0"/>
              </a:rPr>
              <a:t>The recognition that people have an inner life that nourishes and is nourished by meaningful work that takes place in the context of the community.</a:t>
            </a:r>
          </a:p>
        </p:txBody>
      </p:sp>
      <p:sp>
        <p:nvSpPr>
          <p:cNvPr id="279556" name="Text Box 4" descr="Chap01Bkgd03"/>
          <p:cNvSpPr txBox="1">
            <a:spLocks noChangeArrowheads="1"/>
          </p:cNvSpPr>
          <p:nvPr/>
        </p:nvSpPr>
        <p:spPr bwMode="blackWhite">
          <a:xfrm>
            <a:off x="1828800" y="2571750"/>
            <a:ext cx="5486400" cy="2114550"/>
          </a:xfrm>
          <a:prstGeom prst="rect">
            <a:avLst/>
          </a:prstGeom>
          <a:blipFill dpi="0" rotWithShape="0">
            <a:blip r:embed="rId2"/>
            <a:srcRect/>
            <a:stretch>
              <a:fillRect/>
            </a:stretch>
          </a:blipFill>
          <a:ln w="12700">
            <a:solidFill>
              <a:schemeClr val="tx1"/>
            </a:solidFill>
            <a:miter lim="800000"/>
            <a:headEnd/>
            <a:tailEnd/>
          </a:ln>
          <a:effectLst>
            <a:outerShdw dist="135003" dir="2471156" algn="ctr" rotWithShape="0">
              <a:srgbClr val="DDDDDD"/>
            </a:outerShdw>
          </a:effectLst>
        </p:spPr>
        <p:txBody>
          <a:bodyPr lIns="182880" rIns="182880" anchor="ctr" anchorCtr="1"/>
          <a:lstStyle>
            <a:lvl1pPr marL="284163" indent="-284163">
              <a:defRPr sz="2400">
                <a:solidFill>
                  <a:schemeClr val="tx1"/>
                </a:solidFill>
                <a:latin typeface="Times New Roman" pitchFamily="18" charset="0"/>
              </a:defRPr>
            </a:lvl1pPr>
            <a:lvl2pPr marL="1028700" indent="-457200">
              <a:defRPr sz="2400">
                <a:solidFill>
                  <a:schemeClr val="tx1"/>
                </a:solidFill>
                <a:latin typeface="Times New Roman" pitchFamily="18" charset="0"/>
              </a:defRPr>
            </a:lvl2pPr>
            <a:lvl3pPr marL="1538288" indent="-457200">
              <a:defRPr sz="2400">
                <a:solidFill>
                  <a:schemeClr val="tx1"/>
                </a:solidFill>
                <a:latin typeface="Times New Roman" pitchFamily="18" charset="0"/>
              </a:defRPr>
            </a:lvl3pPr>
            <a:lvl4pPr marL="2109788" indent="-457200">
              <a:defRPr sz="2400">
                <a:solidFill>
                  <a:schemeClr val="tx1"/>
                </a:solidFill>
                <a:latin typeface="Times New Roman" pitchFamily="18" charset="0"/>
              </a:defRPr>
            </a:lvl4pPr>
            <a:lvl5pPr marL="2681288" indent="-457200">
              <a:defRPr sz="2400">
                <a:solidFill>
                  <a:schemeClr val="tx1"/>
                </a:solidFill>
                <a:latin typeface="Times New Roman" pitchFamily="18" charset="0"/>
              </a:defRPr>
            </a:lvl5pPr>
            <a:lvl6pPr marL="3138488" indent="-457200" fontAlgn="base">
              <a:spcBef>
                <a:spcPct val="0"/>
              </a:spcBef>
              <a:spcAft>
                <a:spcPct val="0"/>
              </a:spcAft>
              <a:defRPr sz="2400">
                <a:solidFill>
                  <a:schemeClr val="tx1"/>
                </a:solidFill>
                <a:latin typeface="Times New Roman" pitchFamily="18" charset="0"/>
              </a:defRPr>
            </a:lvl6pPr>
            <a:lvl7pPr marL="3595688" indent="-457200" fontAlgn="base">
              <a:spcBef>
                <a:spcPct val="0"/>
              </a:spcBef>
              <a:spcAft>
                <a:spcPct val="0"/>
              </a:spcAft>
              <a:defRPr sz="2400">
                <a:solidFill>
                  <a:schemeClr val="tx1"/>
                </a:solidFill>
                <a:latin typeface="Times New Roman" pitchFamily="18" charset="0"/>
              </a:defRPr>
            </a:lvl7pPr>
            <a:lvl8pPr marL="4052888" indent="-457200" fontAlgn="base">
              <a:spcBef>
                <a:spcPct val="0"/>
              </a:spcBef>
              <a:spcAft>
                <a:spcPct val="0"/>
              </a:spcAft>
              <a:defRPr sz="2400">
                <a:solidFill>
                  <a:schemeClr val="tx1"/>
                </a:solidFill>
                <a:latin typeface="Times New Roman" pitchFamily="18" charset="0"/>
              </a:defRPr>
            </a:lvl8pPr>
            <a:lvl9pPr marL="4510088" indent="-457200" fontAlgn="base">
              <a:spcBef>
                <a:spcPct val="0"/>
              </a:spcBef>
              <a:spcAft>
                <a:spcPct val="0"/>
              </a:spcAft>
              <a:defRPr sz="2400">
                <a:solidFill>
                  <a:schemeClr val="tx1"/>
                </a:solidFill>
                <a:latin typeface="Times New Roman" pitchFamily="18" charset="0"/>
              </a:defRPr>
            </a:lvl9pPr>
          </a:lstStyle>
          <a:p>
            <a:pPr>
              <a:lnSpc>
                <a:spcPct val="80000"/>
              </a:lnSpc>
              <a:spcBef>
                <a:spcPct val="50000"/>
              </a:spcBef>
            </a:pPr>
            <a:r>
              <a:rPr lang="en-US">
                <a:solidFill>
                  <a:srgbClr val="FFFFCC"/>
                </a:solidFill>
                <a:latin typeface="Arial" charset="0"/>
              </a:rPr>
              <a:t>Characteristics:</a:t>
            </a:r>
          </a:p>
          <a:p>
            <a:pPr>
              <a:lnSpc>
                <a:spcPct val="80000"/>
              </a:lnSpc>
              <a:spcBef>
                <a:spcPct val="50000"/>
              </a:spcBef>
              <a:buFontTx/>
              <a:buChar char="•"/>
            </a:pPr>
            <a:r>
              <a:rPr lang="en-US" sz="2000">
                <a:solidFill>
                  <a:schemeClr val="bg1"/>
                </a:solidFill>
                <a:latin typeface="Arial" charset="0"/>
              </a:rPr>
              <a:t>Strong sense of purpose</a:t>
            </a:r>
          </a:p>
          <a:p>
            <a:pPr>
              <a:lnSpc>
                <a:spcPct val="80000"/>
              </a:lnSpc>
              <a:spcBef>
                <a:spcPct val="50000"/>
              </a:spcBef>
              <a:buFontTx/>
              <a:buChar char="•"/>
            </a:pPr>
            <a:r>
              <a:rPr lang="en-US" sz="2000">
                <a:solidFill>
                  <a:schemeClr val="bg1"/>
                </a:solidFill>
                <a:latin typeface="Arial" charset="0"/>
              </a:rPr>
              <a:t>Focus on individual development</a:t>
            </a:r>
          </a:p>
          <a:p>
            <a:pPr>
              <a:lnSpc>
                <a:spcPct val="80000"/>
              </a:lnSpc>
              <a:spcBef>
                <a:spcPct val="50000"/>
              </a:spcBef>
              <a:buFontTx/>
              <a:buChar char="•"/>
            </a:pPr>
            <a:r>
              <a:rPr lang="en-US" sz="2000">
                <a:solidFill>
                  <a:schemeClr val="bg1"/>
                </a:solidFill>
                <a:latin typeface="Arial" charset="0"/>
              </a:rPr>
              <a:t>Trust and openness</a:t>
            </a:r>
          </a:p>
          <a:p>
            <a:pPr>
              <a:lnSpc>
                <a:spcPct val="80000"/>
              </a:lnSpc>
              <a:spcBef>
                <a:spcPct val="50000"/>
              </a:spcBef>
              <a:buFontTx/>
              <a:buChar char="•"/>
            </a:pPr>
            <a:r>
              <a:rPr lang="en-US" sz="2000">
                <a:solidFill>
                  <a:schemeClr val="bg1"/>
                </a:solidFill>
                <a:latin typeface="Arial" charset="0"/>
              </a:rPr>
              <a:t>Employee empowerment</a:t>
            </a:r>
          </a:p>
          <a:p>
            <a:pPr>
              <a:lnSpc>
                <a:spcPct val="80000"/>
              </a:lnSpc>
              <a:spcBef>
                <a:spcPct val="50000"/>
              </a:spcBef>
              <a:buFontTx/>
              <a:buChar char="•"/>
            </a:pPr>
            <a:r>
              <a:rPr lang="en-US" sz="2000">
                <a:solidFill>
                  <a:schemeClr val="bg1"/>
                </a:solidFill>
                <a:latin typeface="Arial" charset="0"/>
              </a:rPr>
              <a:t>Toleration of employee expression</a:t>
            </a:r>
          </a:p>
        </p:txBody>
      </p:sp>
    </p:spTree>
    <p:extLst>
      <p:ext uri="{BB962C8B-B14F-4D97-AF65-F5344CB8AC3E}">
        <p14:creationId xmlns:p14="http://schemas.microsoft.com/office/powerpoint/2010/main" val="807798134"/>
      </p:ext>
    </p:extLst>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79556"/>
                                        </p:tgtEl>
                                        <p:attrNameLst>
                                          <p:attrName>style.visibility</p:attrName>
                                        </p:attrNameLst>
                                      </p:cBhvr>
                                      <p:to>
                                        <p:strVal val="visible"/>
                                      </p:to>
                                    </p:set>
                                    <p:animEffect transition="in" filter="box(in)">
                                      <p:cBhvr>
                                        <p:cTn id="7" dur="500"/>
                                        <p:tgtEl>
                                          <p:spTgt spid="279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6" grpId="0" animBg="1"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1482</Words>
  <Application>Microsoft Office PowerPoint</Application>
  <PresentationFormat>On-screen Show (16:9)</PresentationFormat>
  <Paragraphs>154</Paragraphs>
  <Slides>16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Century Schoolbook</vt:lpstr>
      <vt:lpstr>Tahoma</vt:lpstr>
      <vt:lpstr>Times New Roman</vt:lpstr>
      <vt:lpstr>Tw Cen MT</vt:lpstr>
      <vt:lpstr>Wingdings</vt:lpstr>
      <vt:lpstr>Wingdings 2</vt:lpstr>
      <vt:lpstr>WidescreenPresentation</vt:lpstr>
      <vt:lpstr>Organizational Culture</vt:lpstr>
      <vt:lpstr>What Is Organizational Culture?</vt:lpstr>
      <vt:lpstr>Do Organizations Have Uniform Cultures?</vt:lpstr>
      <vt:lpstr>Do Organizations Have Uniform Cultures?</vt:lpstr>
      <vt:lpstr>What Is Organizational Culture?</vt:lpstr>
      <vt:lpstr>What Do Cultures Do?</vt:lpstr>
      <vt:lpstr>How Culture Begins</vt:lpstr>
      <vt:lpstr>Keeping Culture Alive</vt:lpstr>
      <vt:lpstr>Stages in the Socialization Process</vt:lpstr>
      <vt:lpstr>Stages in the Socialization Process</vt:lpstr>
      <vt:lpstr>How Employees Learn Culture</vt:lpstr>
      <vt:lpstr>Creating An Ethical Organizational Culture</vt:lpstr>
      <vt:lpstr>Creating a Customer-Responsive Culture</vt:lpstr>
      <vt:lpstr>Creating a Customer-Responsive Culture (cont’d)</vt:lpstr>
      <vt:lpstr>Creating a Customer-Responsive Culture (cont’d)</vt:lpstr>
      <vt:lpstr>Spirituality and Organizational Culture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2025-11-27T08:17:51Z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