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1"/>
  </p:notesMasterIdLst>
  <p:handoutMasterIdLst>
    <p:handoutMasterId r:id="rId32"/>
  </p:handoutMasterIdLst>
  <p:sldIdLst>
    <p:sldId id="265" r:id="rId2"/>
    <p:sldId id="384" r:id="rId3"/>
    <p:sldId id="386" r:id="rId4"/>
    <p:sldId id="387" r:id="rId5"/>
    <p:sldId id="373" r:id="rId6"/>
    <p:sldId id="406" r:id="rId7"/>
    <p:sldId id="383" r:id="rId8"/>
    <p:sldId id="374" r:id="rId9"/>
    <p:sldId id="375" r:id="rId10"/>
    <p:sldId id="376" r:id="rId11"/>
    <p:sldId id="377" r:id="rId12"/>
    <p:sldId id="378" r:id="rId13"/>
    <p:sldId id="379" r:id="rId14"/>
    <p:sldId id="380" r:id="rId15"/>
    <p:sldId id="381" r:id="rId16"/>
    <p:sldId id="382" r:id="rId17"/>
    <p:sldId id="407" r:id="rId18"/>
    <p:sldId id="391" r:id="rId19"/>
    <p:sldId id="395" r:id="rId20"/>
    <p:sldId id="393" r:id="rId21"/>
    <p:sldId id="394" r:id="rId22"/>
    <p:sldId id="401" r:id="rId23"/>
    <p:sldId id="397" r:id="rId24"/>
    <p:sldId id="403" r:id="rId25"/>
    <p:sldId id="398" r:id="rId26"/>
    <p:sldId id="399" r:id="rId27"/>
    <p:sldId id="400" r:id="rId28"/>
    <p:sldId id="402" r:id="rId29"/>
    <p:sldId id="368" r:id="rId30"/>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943" autoAdjust="0"/>
  </p:normalViewPr>
  <p:slideViewPr>
    <p:cSldViewPr>
      <p:cViewPr varScale="1">
        <p:scale>
          <a:sx n="84" d="100"/>
          <a:sy n="84" d="100"/>
        </p:scale>
        <p:origin x="1454" y="8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9/12/2025</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9/12/2025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extLst/>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bwMode="auto">
          <a:xfrm>
            <a:off x="457200" y="720725"/>
            <a:ext cx="6400800" cy="36004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3" name="Rectangle 3"/>
          <p:cNvSpPr>
            <a:spLocks noGrp="1" noChangeArrowheads="1"/>
          </p:cNvSpPr>
          <p:nvPr>
            <p:ph type="body" idx="1"/>
          </p:nvPr>
        </p:nvSpPr>
        <p:spPr bwMode="auto">
          <a:xfrm>
            <a:off x="731520" y="4560570"/>
            <a:ext cx="5852160" cy="432054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200" b="0" i="0" u="none" strike="noStrike" kern="1200" dirty="0">
                <a:solidFill>
                  <a:schemeClr val="tx1"/>
                </a:solidFill>
                <a:effectLst/>
                <a:latin typeface="+mn-lt"/>
                <a:ea typeface="+mn-ea"/>
                <a:cs typeface="+mn-cs"/>
              </a:rPr>
              <a:t>Amazing Illusion, isn't it? Most people count three of them, so much for perception, but it does not say anything about your IQ. Whoever counts the six 'F' the first time is a genius, four is rather frequent, five is rather rare, three is normal. Less than three, and you must change glasses ; -) </a:t>
            </a:r>
            <a:br>
              <a:rPr lang="en-US" dirty="0"/>
            </a:br>
            <a:br>
              <a:rPr lang="en-US" dirty="0"/>
            </a:br>
            <a:r>
              <a:rPr lang="en-US" sz="1200" b="0" i="0" u="none" strike="noStrike" kern="1200" dirty="0">
                <a:solidFill>
                  <a:schemeClr val="tx1"/>
                </a:solidFill>
                <a:effectLst/>
                <a:latin typeface="+mn-lt"/>
                <a:ea typeface="+mn-ea"/>
                <a:cs typeface="+mn-cs"/>
              </a:rPr>
              <a:t>For some obscure </a:t>
            </a:r>
            <a:r>
              <a:rPr lang="en-US" sz="1200" b="0" i="0" u="none" strike="noStrike" kern="1200" dirty="0" err="1">
                <a:solidFill>
                  <a:schemeClr val="tx1"/>
                </a:solidFill>
                <a:effectLst/>
                <a:latin typeface="+mn-lt"/>
                <a:ea typeface="+mn-ea"/>
                <a:cs typeface="+mn-cs"/>
              </a:rPr>
              <a:t>resaons</a:t>
            </a:r>
            <a:r>
              <a:rPr lang="en-US" sz="1200" b="0" i="0" u="none" strike="noStrike" kern="1200" dirty="0">
                <a:solidFill>
                  <a:schemeClr val="tx1"/>
                </a:solidFill>
                <a:effectLst/>
                <a:latin typeface="+mn-lt"/>
                <a:ea typeface="+mn-ea"/>
                <a:cs typeface="+mn-cs"/>
              </a:rPr>
              <a:t>, we (or our brain) do not count the "f" in "of", maybe because the phonetic is similar to "</a:t>
            </a:r>
            <a:r>
              <a:rPr lang="en-US" sz="1200" b="0" i="0" u="none" strike="noStrike" kern="1200" dirty="0" err="1">
                <a:solidFill>
                  <a:schemeClr val="tx1"/>
                </a:solidFill>
                <a:effectLst/>
                <a:latin typeface="+mn-lt"/>
                <a:ea typeface="+mn-ea"/>
                <a:cs typeface="+mn-cs"/>
              </a:rPr>
              <a:t>ov</a:t>
            </a:r>
            <a:r>
              <a:rPr lang="en-US" sz="1200" b="0" i="0" u="none" strike="noStrike" kern="1200" dirty="0">
                <a:solidFill>
                  <a:schemeClr val="tx1"/>
                </a:solidFill>
                <a:effectLst/>
                <a:latin typeface="+mn-lt"/>
                <a:ea typeface="+mn-ea"/>
                <a:cs typeface="+mn-cs"/>
              </a:rPr>
              <a:t>", or because during (quick) reading the brain focus on "lexical" words, and not so much on "grammatical" words.</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xfrm>
            <a:off x="457200" y="720725"/>
            <a:ext cx="6400800" cy="36004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651" name="Rectangle 3"/>
          <p:cNvSpPr>
            <a:spLocks noGrp="1" noChangeArrowheads="1"/>
          </p:cNvSpPr>
          <p:nvPr>
            <p:ph type="body" idx="1"/>
          </p:nvPr>
        </p:nvSpPr>
        <p:spPr bwMode="auto">
          <a:xfrm>
            <a:off x="731520" y="4560570"/>
            <a:ext cx="5852160" cy="432054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200" b="0" i="0" u="none" strike="noStrike" kern="1200" dirty="0">
                <a:solidFill>
                  <a:schemeClr val="tx1"/>
                </a:solidFill>
                <a:effectLst/>
                <a:latin typeface="+mn-lt"/>
                <a:ea typeface="+mn-ea"/>
                <a:cs typeface="+mn-cs"/>
              </a:rPr>
              <a:t>Look carefully at this image and count the black dots that you can see on the grid. You will notice that when you focus on a single dot, it turns white. The black dots appear around your area of focus, not within it. This is because the brain is affected by the dominance of the black squares and thinks that the dots must be negative. In fact, none of the dots are black, they are all white. This optical illusion is used sometimes in schools, to see how effectively children cope with focus and concentration skills in a learning environment. </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bwMode="auto">
          <a:xfrm>
            <a:off x="457200" y="720725"/>
            <a:ext cx="6400800" cy="36004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p:cNvSpPr>
            <a:spLocks noGrp="1" noChangeArrowheads="1"/>
          </p:cNvSpPr>
          <p:nvPr>
            <p:ph type="body" idx="1"/>
          </p:nvPr>
        </p:nvSpPr>
        <p:spPr bwMode="auto">
          <a:xfrm>
            <a:off x="731520" y="4560570"/>
            <a:ext cx="5852160" cy="432054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200" b="0" i="0" u="none" strike="noStrike" kern="1200" dirty="0">
                <a:solidFill>
                  <a:schemeClr val="tx1"/>
                </a:solidFill>
                <a:effectLst/>
                <a:latin typeface="+mn-lt"/>
                <a:ea typeface="+mn-ea"/>
                <a:cs typeface="+mn-cs"/>
              </a:rPr>
              <a:t>Are the horizontal lines in this image parallel or do they slope down? This is a popular, simple optical illusion that uses black and white effectively to confuse our perceptions of what we are seeing. Because we are trying to </a:t>
            </a:r>
            <a:r>
              <a:rPr lang="en-US" sz="1200" b="0" i="0" u="none" strike="noStrike" kern="1200" dirty="0" err="1">
                <a:solidFill>
                  <a:schemeClr val="tx1"/>
                </a:solidFill>
                <a:effectLst/>
                <a:latin typeface="+mn-lt"/>
                <a:ea typeface="+mn-ea"/>
                <a:cs typeface="+mn-cs"/>
              </a:rPr>
              <a:t>rationalise</a:t>
            </a:r>
            <a:r>
              <a:rPr lang="en-US" sz="1200" b="0" i="0" u="none" strike="noStrike" kern="1200" dirty="0">
                <a:solidFill>
                  <a:schemeClr val="tx1"/>
                </a:solidFill>
                <a:effectLst/>
                <a:latin typeface="+mn-lt"/>
                <a:ea typeface="+mn-ea"/>
                <a:cs typeface="+mn-cs"/>
              </a:rPr>
              <a:t> either the black vertical lines or white vertical lines, we cannot make sense of the untidiness of the columns and, to our eyes, the horizontal lines are sloping downwards. Our eyes naturally follow the powerful vertical lines. In fact, the horizontal lines themselves are perfectly straight and measuring them would prove that they do not slope down at all. </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i="0" u="none" strike="noStrike" kern="1200" baseline="0" dirty="0">
                <a:solidFill>
                  <a:schemeClr val="tx1"/>
                </a:solidFill>
                <a:latin typeface="+mn-lt"/>
                <a:ea typeface="+mn-ea"/>
                <a:cs typeface="+mn-cs"/>
              </a:rPr>
              <a:t>“ The study of perception is concerned with identifying the process through which we interpret and organize sensory information to produce our conscious experience of objects and object relationship.”</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Perception is an intellectual process of transforming sensory stimuli to meaningful information. It is the process of interpreting something that we see or hear in our mind and use it later to judge and give a verdict on a situation, person, group etc.</a:t>
            </a:r>
          </a:p>
          <a:p>
            <a:r>
              <a:rPr lang="en-US" sz="1200" b="0" i="0" kern="1200" dirty="0">
                <a:solidFill>
                  <a:schemeClr val="tx1"/>
                </a:solidFill>
                <a:effectLst/>
                <a:latin typeface="+mn-lt"/>
                <a:ea typeface="+mn-ea"/>
                <a:cs typeface="+mn-cs"/>
              </a:rPr>
              <a:t>It can be divided into six types −</a:t>
            </a:r>
          </a:p>
          <a:p>
            <a:r>
              <a:rPr lang="en-US" sz="1200" b="1" i="0" kern="1200" dirty="0">
                <a:solidFill>
                  <a:schemeClr val="tx1"/>
                </a:solidFill>
                <a:effectLst/>
                <a:latin typeface="+mn-lt"/>
                <a:ea typeface="+mn-ea"/>
                <a:cs typeface="+mn-cs"/>
              </a:rPr>
              <a:t>Of sound</a:t>
            </a:r>
            <a:r>
              <a:rPr lang="en-US" sz="1200" b="0" i="0" kern="1200" dirty="0">
                <a:solidFill>
                  <a:schemeClr val="tx1"/>
                </a:solidFill>
                <a:effectLst/>
                <a:latin typeface="+mn-lt"/>
                <a:ea typeface="+mn-ea"/>
                <a:cs typeface="+mn-cs"/>
              </a:rPr>
              <a:t> − The ability to receive sound by identifying vibrations.</a:t>
            </a:r>
          </a:p>
          <a:p>
            <a:r>
              <a:rPr lang="en-US" sz="1200" b="1" i="0" kern="1200" dirty="0">
                <a:solidFill>
                  <a:schemeClr val="tx1"/>
                </a:solidFill>
                <a:effectLst/>
                <a:latin typeface="+mn-lt"/>
                <a:ea typeface="+mn-ea"/>
                <a:cs typeface="+mn-cs"/>
              </a:rPr>
              <a:t>Of speech</a:t>
            </a:r>
            <a:r>
              <a:rPr lang="en-US" sz="1200" b="0" i="0" kern="1200" dirty="0">
                <a:solidFill>
                  <a:schemeClr val="tx1"/>
                </a:solidFill>
                <a:effectLst/>
                <a:latin typeface="+mn-lt"/>
                <a:ea typeface="+mn-ea"/>
                <a:cs typeface="+mn-cs"/>
              </a:rPr>
              <a:t> − The competence of interpreting and understanding the sounds of language heard.</a:t>
            </a:r>
          </a:p>
          <a:p>
            <a:r>
              <a:rPr lang="en-US" sz="1200" b="1" i="0" kern="1200" dirty="0">
                <a:solidFill>
                  <a:schemeClr val="tx1"/>
                </a:solidFill>
                <a:effectLst/>
                <a:latin typeface="+mn-lt"/>
                <a:ea typeface="+mn-ea"/>
                <a:cs typeface="+mn-cs"/>
              </a:rPr>
              <a:t>Touch</a:t>
            </a:r>
            <a:r>
              <a:rPr lang="en-US" sz="1200" b="0" i="0" kern="1200" dirty="0">
                <a:solidFill>
                  <a:schemeClr val="tx1"/>
                </a:solidFill>
                <a:effectLst/>
                <a:latin typeface="+mn-lt"/>
                <a:ea typeface="+mn-ea"/>
                <a:cs typeface="+mn-cs"/>
              </a:rPr>
              <a:t> − Identifying objects through patterns of its surface by touching it.</a:t>
            </a:r>
          </a:p>
          <a:p>
            <a:r>
              <a:rPr lang="en-US" sz="1200" b="1" i="0" kern="1200" dirty="0">
                <a:solidFill>
                  <a:schemeClr val="tx1"/>
                </a:solidFill>
                <a:effectLst/>
                <a:latin typeface="+mn-lt"/>
                <a:ea typeface="+mn-ea"/>
                <a:cs typeface="+mn-cs"/>
              </a:rPr>
              <a:t>Taste</a:t>
            </a:r>
            <a:r>
              <a:rPr lang="en-US" sz="1200" b="0" i="0" kern="1200" dirty="0">
                <a:solidFill>
                  <a:schemeClr val="tx1"/>
                </a:solidFill>
                <a:effectLst/>
                <a:latin typeface="+mn-lt"/>
                <a:ea typeface="+mn-ea"/>
                <a:cs typeface="+mn-cs"/>
              </a:rPr>
              <a:t> − The ability to receive flavor of substances by tasting it through sensory organs known as taste buds.</a:t>
            </a:r>
          </a:p>
          <a:p>
            <a:r>
              <a:rPr lang="en-US" sz="1200" b="1" i="0" kern="1200" dirty="0">
                <a:solidFill>
                  <a:schemeClr val="tx1"/>
                </a:solidFill>
                <a:effectLst/>
                <a:latin typeface="+mn-lt"/>
                <a:ea typeface="+mn-ea"/>
                <a:cs typeface="+mn-cs"/>
              </a:rPr>
              <a:t>Other senses</a:t>
            </a:r>
            <a:r>
              <a:rPr lang="en-US" sz="1200" b="0" i="0" kern="1200" dirty="0">
                <a:solidFill>
                  <a:schemeClr val="tx1"/>
                </a:solidFill>
                <a:effectLst/>
                <a:latin typeface="+mn-lt"/>
                <a:ea typeface="+mn-ea"/>
                <a:cs typeface="+mn-cs"/>
              </a:rPr>
              <a:t> − They approve perception through body, like balance, acceleration, pain, time, sensation felt in throat and lungs etc.</a:t>
            </a:r>
          </a:p>
          <a:p>
            <a:r>
              <a:rPr lang="en-US" sz="1200" b="1" i="0" kern="1200" dirty="0">
                <a:solidFill>
                  <a:schemeClr val="tx1"/>
                </a:solidFill>
                <a:effectLst/>
                <a:latin typeface="+mn-lt"/>
                <a:ea typeface="+mn-ea"/>
                <a:cs typeface="+mn-cs"/>
              </a:rPr>
              <a:t>Of the social world</a:t>
            </a:r>
            <a:r>
              <a:rPr lang="en-US" sz="1200" b="0" i="0" kern="1200" dirty="0">
                <a:solidFill>
                  <a:schemeClr val="tx1"/>
                </a:solidFill>
                <a:effectLst/>
                <a:latin typeface="+mn-lt"/>
                <a:ea typeface="+mn-ea"/>
                <a:cs typeface="+mn-cs"/>
              </a:rPr>
              <a:t> − It permits people to understand other individuals and groups of their social world. </a:t>
            </a: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Yasir</a:t>
            </a:r>
            <a:r>
              <a:rPr lang="en-US" sz="1200" b="0" i="0" kern="1200" dirty="0">
                <a:solidFill>
                  <a:schemeClr val="tx1"/>
                </a:solidFill>
                <a:effectLst/>
                <a:latin typeface="+mn-lt"/>
                <a:ea typeface="+mn-ea"/>
                <a:cs typeface="+mn-cs"/>
              </a:rPr>
              <a:t> goes to a restaurant and likes their customer service, so he will perceive that it is a good place to hang out and will recommend it to his friends, who may or may not like it. </a:t>
            </a:r>
            <a:r>
              <a:rPr lang="en-US" sz="1200" b="0" i="0" kern="1200" dirty="0" err="1">
                <a:solidFill>
                  <a:schemeClr val="tx1"/>
                </a:solidFill>
                <a:effectLst/>
                <a:latin typeface="+mn-lt"/>
                <a:ea typeface="+mn-ea"/>
                <a:cs typeface="+mn-cs"/>
              </a:rPr>
              <a:t>Yasir’s</a:t>
            </a:r>
            <a:r>
              <a:rPr lang="en-US" sz="1200" b="0" i="0" kern="1200" dirty="0">
                <a:solidFill>
                  <a:schemeClr val="tx1"/>
                </a:solidFill>
                <a:effectLst/>
                <a:latin typeface="+mn-lt"/>
                <a:ea typeface="+mn-ea"/>
                <a:cs typeface="+mn-cs"/>
              </a:rPr>
              <a:t> perception about the restaurant is good.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Importance of Perception in OB</a:t>
            </a:r>
          </a:p>
          <a:p>
            <a:r>
              <a:rPr lang="en-US" sz="1200" b="0" i="0" kern="1200" dirty="0">
                <a:solidFill>
                  <a:schemeClr val="tx1"/>
                </a:solidFill>
                <a:effectLst/>
                <a:latin typeface="+mn-lt"/>
                <a:ea typeface="+mn-ea"/>
                <a:cs typeface="+mn-cs"/>
              </a:rPr>
              <a:t>We need to understand what the role of perception in an organization is. It is very important in establishing different role of perceptions like −</a:t>
            </a:r>
          </a:p>
          <a:p>
            <a:r>
              <a:rPr lang="en-US" sz="1200" b="0" i="0" kern="1200" dirty="0">
                <a:solidFill>
                  <a:schemeClr val="tx1"/>
                </a:solidFill>
                <a:effectLst/>
                <a:latin typeface="+mn-lt"/>
                <a:ea typeface="+mn-ea"/>
                <a:cs typeface="+mn-cs"/>
              </a:rPr>
              <a:t>Understanding the tasks to be performed.</a:t>
            </a:r>
          </a:p>
          <a:p>
            <a:r>
              <a:rPr lang="en-US" sz="1200" b="0" i="0" kern="1200" dirty="0">
                <a:solidFill>
                  <a:schemeClr val="tx1"/>
                </a:solidFill>
                <a:effectLst/>
                <a:latin typeface="+mn-lt"/>
                <a:ea typeface="+mn-ea"/>
                <a:cs typeface="+mn-cs"/>
              </a:rPr>
              <a:t>Understanding associated importance of tasks allotted.</a:t>
            </a:r>
          </a:p>
          <a:p>
            <a:r>
              <a:rPr lang="en-US" sz="1200" b="0" i="0" kern="1200" dirty="0">
                <a:solidFill>
                  <a:schemeClr val="tx1"/>
                </a:solidFill>
                <a:effectLst/>
                <a:latin typeface="+mn-lt"/>
                <a:ea typeface="+mn-ea"/>
                <a:cs typeface="+mn-cs"/>
              </a:rPr>
              <a:t>Understanding preferred behavior to complete respective tasks.</a:t>
            </a:r>
          </a:p>
          <a:p>
            <a:r>
              <a:rPr lang="en-US" sz="1200" b="0" i="0" kern="1200" dirty="0">
                <a:solidFill>
                  <a:schemeClr val="tx1"/>
                </a:solidFill>
                <a:effectLst/>
                <a:latin typeface="+mn-lt"/>
                <a:ea typeface="+mn-ea"/>
                <a:cs typeface="+mn-cs"/>
              </a:rPr>
              <a:t>Clarifying role perceptions.</a:t>
            </a:r>
          </a:p>
          <a:p>
            <a:r>
              <a:rPr lang="en-US" sz="1200" b="0" i="0" kern="1200" dirty="0">
                <a:solidFill>
                  <a:schemeClr val="tx1"/>
                </a:solidFill>
                <a:effectLst/>
                <a:latin typeface="+mn-lt"/>
                <a:ea typeface="+mn-ea"/>
                <a:cs typeface="+mn-cs"/>
              </a:rPr>
              <a:t>For example, every member in a group has to be clear regarding the role allotted to them. Programmer writes the code, tester checks it, etc.</a:t>
            </a:r>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1864278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i="0" u="none" strike="noStrike" kern="1200" baseline="0" dirty="0">
                <a:solidFill>
                  <a:schemeClr val="tx1"/>
                </a:solidFill>
                <a:latin typeface="+mn-lt"/>
                <a:ea typeface="+mn-ea"/>
                <a:cs typeface="+mn-cs"/>
              </a:rPr>
              <a:t>“ The study of perception is concerned with identifying the process through which we interpret and organize sensory information to produce our conscious experience of objects and object relationship.”</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Perception is an intellectual process of transforming sensory stimuli to meaningful information. It is the process of interpreting something that we see or hear in our mind and use it later to judge and give a verdict on a situation, person, group etc.</a:t>
            </a:r>
          </a:p>
          <a:p>
            <a:r>
              <a:rPr lang="en-US" sz="1200" b="0" i="0" kern="1200" dirty="0">
                <a:solidFill>
                  <a:schemeClr val="tx1"/>
                </a:solidFill>
                <a:effectLst/>
                <a:latin typeface="+mn-lt"/>
                <a:ea typeface="+mn-ea"/>
                <a:cs typeface="+mn-cs"/>
              </a:rPr>
              <a:t>It can be divided into six types −</a:t>
            </a:r>
          </a:p>
          <a:p>
            <a:r>
              <a:rPr lang="en-US" sz="1200" b="1" i="0" kern="1200" dirty="0">
                <a:solidFill>
                  <a:schemeClr val="tx1"/>
                </a:solidFill>
                <a:effectLst/>
                <a:latin typeface="+mn-lt"/>
                <a:ea typeface="+mn-ea"/>
                <a:cs typeface="+mn-cs"/>
              </a:rPr>
              <a:t>Of sound</a:t>
            </a:r>
            <a:r>
              <a:rPr lang="en-US" sz="1200" b="0" i="0" kern="1200" dirty="0">
                <a:solidFill>
                  <a:schemeClr val="tx1"/>
                </a:solidFill>
                <a:effectLst/>
                <a:latin typeface="+mn-lt"/>
                <a:ea typeface="+mn-ea"/>
                <a:cs typeface="+mn-cs"/>
              </a:rPr>
              <a:t> − The ability to receive sound by identifying vibrations.</a:t>
            </a:r>
          </a:p>
          <a:p>
            <a:r>
              <a:rPr lang="en-US" sz="1200" b="1" i="0" kern="1200" dirty="0">
                <a:solidFill>
                  <a:schemeClr val="tx1"/>
                </a:solidFill>
                <a:effectLst/>
                <a:latin typeface="+mn-lt"/>
                <a:ea typeface="+mn-ea"/>
                <a:cs typeface="+mn-cs"/>
              </a:rPr>
              <a:t>Of speech</a:t>
            </a:r>
            <a:r>
              <a:rPr lang="en-US" sz="1200" b="0" i="0" kern="1200" dirty="0">
                <a:solidFill>
                  <a:schemeClr val="tx1"/>
                </a:solidFill>
                <a:effectLst/>
                <a:latin typeface="+mn-lt"/>
                <a:ea typeface="+mn-ea"/>
                <a:cs typeface="+mn-cs"/>
              </a:rPr>
              <a:t> − The competence of interpreting and understanding the sounds of language heard.</a:t>
            </a:r>
          </a:p>
          <a:p>
            <a:r>
              <a:rPr lang="en-US" sz="1200" b="1" i="0" kern="1200" dirty="0">
                <a:solidFill>
                  <a:schemeClr val="tx1"/>
                </a:solidFill>
                <a:effectLst/>
                <a:latin typeface="+mn-lt"/>
                <a:ea typeface="+mn-ea"/>
                <a:cs typeface="+mn-cs"/>
              </a:rPr>
              <a:t>Touch</a:t>
            </a:r>
            <a:r>
              <a:rPr lang="en-US" sz="1200" b="0" i="0" kern="1200" dirty="0">
                <a:solidFill>
                  <a:schemeClr val="tx1"/>
                </a:solidFill>
                <a:effectLst/>
                <a:latin typeface="+mn-lt"/>
                <a:ea typeface="+mn-ea"/>
                <a:cs typeface="+mn-cs"/>
              </a:rPr>
              <a:t> − Identifying objects through patterns of its surface by touching it.</a:t>
            </a:r>
          </a:p>
          <a:p>
            <a:r>
              <a:rPr lang="en-US" sz="1200" b="1" i="0" kern="1200" dirty="0">
                <a:solidFill>
                  <a:schemeClr val="tx1"/>
                </a:solidFill>
                <a:effectLst/>
                <a:latin typeface="+mn-lt"/>
                <a:ea typeface="+mn-ea"/>
                <a:cs typeface="+mn-cs"/>
              </a:rPr>
              <a:t>Taste</a:t>
            </a:r>
            <a:r>
              <a:rPr lang="en-US" sz="1200" b="0" i="0" kern="1200" dirty="0">
                <a:solidFill>
                  <a:schemeClr val="tx1"/>
                </a:solidFill>
                <a:effectLst/>
                <a:latin typeface="+mn-lt"/>
                <a:ea typeface="+mn-ea"/>
                <a:cs typeface="+mn-cs"/>
              </a:rPr>
              <a:t> − The ability to receive flavor of substances by tasting it through sensory organs known as taste buds.</a:t>
            </a:r>
          </a:p>
          <a:p>
            <a:r>
              <a:rPr lang="en-US" sz="1200" b="1" i="0" kern="1200" dirty="0">
                <a:solidFill>
                  <a:schemeClr val="tx1"/>
                </a:solidFill>
                <a:effectLst/>
                <a:latin typeface="+mn-lt"/>
                <a:ea typeface="+mn-ea"/>
                <a:cs typeface="+mn-cs"/>
              </a:rPr>
              <a:t>Other senses</a:t>
            </a:r>
            <a:r>
              <a:rPr lang="en-US" sz="1200" b="0" i="0" kern="1200" dirty="0">
                <a:solidFill>
                  <a:schemeClr val="tx1"/>
                </a:solidFill>
                <a:effectLst/>
                <a:latin typeface="+mn-lt"/>
                <a:ea typeface="+mn-ea"/>
                <a:cs typeface="+mn-cs"/>
              </a:rPr>
              <a:t> − They approve perception through body, like balance, acceleration, pain, time, sensation felt in throat and lungs etc.</a:t>
            </a:r>
          </a:p>
          <a:p>
            <a:r>
              <a:rPr lang="en-US" sz="1200" b="1" i="0" kern="1200" dirty="0">
                <a:solidFill>
                  <a:schemeClr val="tx1"/>
                </a:solidFill>
                <a:effectLst/>
                <a:latin typeface="+mn-lt"/>
                <a:ea typeface="+mn-ea"/>
                <a:cs typeface="+mn-cs"/>
              </a:rPr>
              <a:t>Of the social world</a:t>
            </a:r>
            <a:r>
              <a:rPr lang="en-US" sz="1200" b="0" i="0" kern="1200" dirty="0">
                <a:solidFill>
                  <a:schemeClr val="tx1"/>
                </a:solidFill>
                <a:effectLst/>
                <a:latin typeface="+mn-lt"/>
                <a:ea typeface="+mn-ea"/>
                <a:cs typeface="+mn-cs"/>
              </a:rPr>
              <a:t> − It permits people to understand other individuals and groups of their social world. </a:t>
            </a:r>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Yasir</a:t>
            </a:r>
            <a:r>
              <a:rPr lang="en-US" sz="1200" b="0" i="0" kern="1200" dirty="0">
                <a:solidFill>
                  <a:schemeClr val="tx1"/>
                </a:solidFill>
                <a:effectLst/>
                <a:latin typeface="+mn-lt"/>
                <a:ea typeface="+mn-ea"/>
                <a:cs typeface="+mn-cs"/>
              </a:rPr>
              <a:t> goes to a restaurant and likes their customer service, so he will perceive that it is a good place to hang out and will recommend it to his friends, who may or may not like it. </a:t>
            </a:r>
            <a:r>
              <a:rPr lang="en-US" sz="1200" b="0" i="0" kern="1200" dirty="0" err="1">
                <a:solidFill>
                  <a:schemeClr val="tx1"/>
                </a:solidFill>
                <a:effectLst/>
                <a:latin typeface="+mn-lt"/>
                <a:ea typeface="+mn-ea"/>
                <a:cs typeface="+mn-cs"/>
              </a:rPr>
              <a:t>Yasir’s</a:t>
            </a:r>
            <a:r>
              <a:rPr lang="en-US" sz="1200" b="0" i="0" kern="1200" dirty="0">
                <a:solidFill>
                  <a:schemeClr val="tx1"/>
                </a:solidFill>
                <a:effectLst/>
                <a:latin typeface="+mn-lt"/>
                <a:ea typeface="+mn-ea"/>
                <a:cs typeface="+mn-cs"/>
              </a:rPr>
              <a:t> perception about the restaurant is good.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Importance of Perception in OB</a:t>
            </a:r>
          </a:p>
          <a:p>
            <a:r>
              <a:rPr lang="en-US" sz="1200" b="0" i="0" kern="1200" dirty="0">
                <a:solidFill>
                  <a:schemeClr val="tx1"/>
                </a:solidFill>
                <a:effectLst/>
                <a:latin typeface="+mn-lt"/>
                <a:ea typeface="+mn-ea"/>
                <a:cs typeface="+mn-cs"/>
              </a:rPr>
              <a:t>We need to understand what the role of perception in an organization is. It is very important in establishing different role of perceptions like −</a:t>
            </a:r>
          </a:p>
          <a:p>
            <a:r>
              <a:rPr lang="en-US" sz="1200" b="0" i="0" kern="1200" dirty="0">
                <a:solidFill>
                  <a:schemeClr val="tx1"/>
                </a:solidFill>
                <a:effectLst/>
                <a:latin typeface="+mn-lt"/>
                <a:ea typeface="+mn-ea"/>
                <a:cs typeface="+mn-cs"/>
              </a:rPr>
              <a:t>Understanding the tasks to be performed.</a:t>
            </a:r>
          </a:p>
          <a:p>
            <a:r>
              <a:rPr lang="en-US" sz="1200" b="0" i="0" kern="1200" dirty="0">
                <a:solidFill>
                  <a:schemeClr val="tx1"/>
                </a:solidFill>
                <a:effectLst/>
                <a:latin typeface="+mn-lt"/>
                <a:ea typeface="+mn-ea"/>
                <a:cs typeface="+mn-cs"/>
              </a:rPr>
              <a:t>Understanding associated importance of tasks allotted.</a:t>
            </a:r>
          </a:p>
          <a:p>
            <a:r>
              <a:rPr lang="en-US" sz="1200" b="0" i="0" kern="1200" dirty="0">
                <a:solidFill>
                  <a:schemeClr val="tx1"/>
                </a:solidFill>
                <a:effectLst/>
                <a:latin typeface="+mn-lt"/>
                <a:ea typeface="+mn-ea"/>
                <a:cs typeface="+mn-cs"/>
              </a:rPr>
              <a:t>Understanding preferred behavior to complete respective tasks.</a:t>
            </a:r>
          </a:p>
          <a:p>
            <a:r>
              <a:rPr lang="en-US" sz="1200" b="0" i="0" kern="1200" dirty="0">
                <a:solidFill>
                  <a:schemeClr val="tx1"/>
                </a:solidFill>
                <a:effectLst/>
                <a:latin typeface="+mn-lt"/>
                <a:ea typeface="+mn-ea"/>
                <a:cs typeface="+mn-cs"/>
              </a:rPr>
              <a:t>Clarifying role perceptions.</a:t>
            </a:r>
          </a:p>
          <a:p>
            <a:r>
              <a:rPr lang="en-US" sz="1200" b="0" i="0" kern="1200" dirty="0">
                <a:solidFill>
                  <a:schemeClr val="tx1"/>
                </a:solidFill>
                <a:effectLst/>
                <a:latin typeface="+mn-lt"/>
                <a:ea typeface="+mn-ea"/>
                <a:cs typeface="+mn-cs"/>
              </a:rPr>
              <a:t>For example, every member in a group has to be clear regarding the role allotted to them. Programmer writes the code, tester checks it, etc.</a:t>
            </a:r>
          </a:p>
        </p:txBody>
      </p:sp>
      <p:sp>
        <p:nvSpPr>
          <p:cNvPr id="4" name="Slide Number Placeholder 3"/>
          <p:cNvSpPr>
            <a:spLocks noGrp="1"/>
          </p:cNvSpPr>
          <p:nvPr>
            <p:ph type="sldNum" sz="quarter" idx="10"/>
          </p:nvPr>
        </p:nvSpPr>
        <p:spPr/>
        <p:txBody>
          <a:bodyPr/>
          <a:lstStyle/>
          <a:p>
            <a:fld id="{CA5D3BF3-D352-46FC-8343-31F56E6730EA}" type="slidenum">
              <a:rPr lang="en-US" smtClean="0"/>
              <a:pPr/>
              <a:t>6</a:t>
            </a:fld>
            <a:endParaRPr lang="en-US"/>
          </a:p>
        </p:txBody>
      </p:sp>
    </p:spTree>
    <p:extLst>
      <p:ext uri="{BB962C8B-B14F-4D97-AF65-F5344CB8AC3E}">
        <p14:creationId xmlns:p14="http://schemas.microsoft.com/office/powerpoint/2010/main" val="1864278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2800" b="1" i="0" kern="1200" dirty="0">
                <a:solidFill>
                  <a:schemeClr val="tx1"/>
                </a:solidFill>
                <a:effectLst/>
                <a:latin typeface="+mn-lt"/>
                <a:ea typeface="+mn-ea"/>
                <a:cs typeface="+mn-cs"/>
              </a:rPr>
              <a:t>Receiving</a:t>
            </a:r>
            <a:r>
              <a:rPr lang="en-US" sz="2800" b="0" i="0" kern="1200" dirty="0">
                <a:solidFill>
                  <a:schemeClr val="tx1"/>
                </a:solidFill>
                <a:effectLst/>
                <a:latin typeface="+mn-lt"/>
                <a:ea typeface="+mn-ea"/>
                <a:cs typeface="+mn-cs"/>
              </a:rPr>
              <a:t> is the first and most important stage in the process of perception. It is the initial stage in which a person collects all information and receives the information through the sense organs.</a:t>
            </a:r>
          </a:p>
          <a:p>
            <a:r>
              <a:rPr lang="en-US" sz="2800" b="1" i="0" kern="1200" dirty="0">
                <a:solidFill>
                  <a:schemeClr val="tx1"/>
                </a:solidFill>
                <a:effectLst/>
                <a:latin typeface="+mn-lt"/>
                <a:ea typeface="+mn-ea"/>
                <a:cs typeface="+mn-cs"/>
              </a:rPr>
              <a:t>Selecting</a:t>
            </a:r>
            <a:r>
              <a:rPr lang="en-US" sz="2800" b="0" i="0" kern="1200" dirty="0">
                <a:solidFill>
                  <a:schemeClr val="tx1"/>
                </a:solidFill>
                <a:effectLst/>
                <a:latin typeface="+mn-lt"/>
                <a:ea typeface="+mn-ea"/>
                <a:cs typeface="+mn-cs"/>
              </a:rPr>
              <a:t> is the second stage in the process. Here a person doesn’t receive the data randomly but selectively. A person selects some information out of all in accordance with his interest or needs. The selection of data is dominated by various external and internal factors.</a:t>
            </a:r>
          </a:p>
          <a:p>
            <a:r>
              <a:rPr lang="en-US" sz="2800" b="1" i="0" kern="1200" dirty="0">
                <a:solidFill>
                  <a:schemeClr val="tx1"/>
                </a:solidFill>
                <a:effectLst/>
                <a:latin typeface="+mn-lt"/>
                <a:ea typeface="+mn-ea"/>
                <a:cs typeface="+mn-cs"/>
              </a:rPr>
              <a:t>External factors</a:t>
            </a:r>
            <a:r>
              <a:rPr lang="en-US" sz="2800" b="0" i="0" kern="1200" dirty="0">
                <a:solidFill>
                  <a:schemeClr val="tx1"/>
                </a:solidFill>
                <a:effectLst/>
                <a:latin typeface="+mn-lt"/>
                <a:ea typeface="+mn-ea"/>
                <a:cs typeface="+mn-cs"/>
              </a:rPr>
              <a:t> − The factors that influence the perception of an individual externally are intensity, size, contrast, movement, repetition, familiarity, and novelty.</a:t>
            </a:r>
          </a:p>
          <a:p>
            <a:r>
              <a:rPr lang="en-US" sz="2800" b="1" i="0" kern="1200" dirty="0">
                <a:solidFill>
                  <a:schemeClr val="tx1"/>
                </a:solidFill>
                <a:effectLst/>
                <a:latin typeface="+mn-lt"/>
                <a:ea typeface="+mn-ea"/>
                <a:cs typeface="+mn-cs"/>
              </a:rPr>
              <a:t>Internal factors</a:t>
            </a:r>
            <a:r>
              <a:rPr lang="en-US" sz="2800" b="0" i="0" kern="1200" dirty="0">
                <a:solidFill>
                  <a:schemeClr val="tx1"/>
                </a:solidFill>
                <a:effectLst/>
                <a:latin typeface="+mn-lt"/>
                <a:ea typeface="+mn-ea"/>
                <a:cs typeface="+mn-cs"/>
              </a:rPr>
              <a:t> − The factors that influence the perception of an individual internally are psychological requirements, learning, background, experience, self-acceptance, and interest.</a:t>
            </a:r>
          </a:p>
          <a:p>
            <a:r>
              <a:rPr lang="en-US" sz="2800" b="1" i="0" kern="1200" dirty="0">
                <a:solidFill>
                  <a:schemeClr val="tx1"/>
                </a:solidFill>
                <a:effectLst/>
                <a:latin typeface="+mn-lt"/>
                <a:ea typeface="+mn-ea"/>
                <a:cs typeface="+mn-cs"/>
              </a:rPr>
              <a:t>Organizing</a:t>
            </a:r>
          </a:p>
          <a:p>
            <a:r>
              <a:rPr lang="en-US" sz="2800" b="0" i="0" kern="1200" dirty="0">
                <a:solidFill>
                  <a:schemeClr val="tx1"/>
                </a:solidFill>
                <a:effectLst/>
                <a:latin typeface="+mn-lt"/>
                <a:ea typeface="+mn-ea"/>
                <a:cs typeface="+mn-cs"/>
              </a:rPr>
              <a:t>Keeping things in order or say in a synchronized way is organizing. In order to make sense of the data received, it is important to organize them.</a:t>
            </a:r>
          </a:p>
          <a:p>
            <a:r>
              <a:rPr lang="en-US" sz="2800" b="0" i="0" kern="1200" dirty="0">
                <a:solidFill>
                  <a:schemeClr val="tx1"/>
                </a:solidFill>
                <a:effectLst/>
                <a:latin typeface="+mn-lt"/>
                <a:ea typeface="+mn-ea"/>
                <a:cs typeface="+mn-cs"/>
              </a:rPr>
              <a:t>We can organize the data by −</a:t>
            </a:r>
          </a:p>
          <a:p>
            <a:r>
              <a:rPr lang="en-US" sz="2800" b="0" i="0" kern="1200" dirty="0">
                <a:solidFill>
                  <a:schemeClr val="tx1"/>
                </a:solidFill>
                <a:effectLst/>
                <a:latin typeface="+mn-lt"/>
                <a:ea typeface="+mn-ea"/>
                <a:cs typeface="+mn-cs"/>
              </a:rPr>
              <a:t>Grouping them on the basis of their similarity, proximity, closure, continuity.</a:t>
            </a:r>
          </a:p>
          <a:p>
            <a:r>
              <a:rPr lang="en-US" sz="2800" b="0" i="0" kern="1200" dirty="0">
                <a:solidFill>
                  <a:schemeClr val="tx1"/>
                </a:solidFill>
                <a:effectLst/>
                <a:latin typeface="+mn-lt"/>
                <a:ea typeface="+mn-ea"/>
                <a:cs typeface="+mn-cs"/>
              </a:rPr>
              <a:t>Establishing a figure ground is the basic process in perception. Here by figure we mean what is kept as main focus and by ground we mean background stimuli, which are not given attention.</a:t>
            </a:r>
          </a:p>
          <a:p>
            <a:r>
              <a:rPr lang="en-US" sz="2800" b="0" i="0" kern="1200" dirty="0">
                <a:solidFill>
                  <a:schemeClr val="tx1"/>
                </a:solidFill>
                <a:effectLst/>
                <a:latin typeface="+mn-lt"/>
                <a:ea typeface="+mn-ea"/>
                <a:cs typeface="+mn-cs"/>
              </a:rPr>
              <a:t>Perceptual constancy that is the tendency to stabilize perception so that contextual changes don’t affect them.</a:t>
            </a:r>
          </a:p>
          <a:p>
            <a:r>
              <a:rPr lang="en-US" sz="2800" b="0" i="0" kern="1200" dirty="0">
                <a:solidFill>
                  <a:schemeClr val="tx1"/>
                </a:solidFill>
                <a:effectLst/>
                <a:latin typeface="+mn-lt"/>
                <a:ea typeface="+mn-ea"/>
                <a:cs typeface="+mn-cs"/>
              </a:rPr>
              <a:t>Interpreting</a:t>
            </a:r>
          </a:p>
          <a:p>
            <a:r>
              <a:rPr lang="en-US" sz="2800" b="0" i="0" kern="1200" dirty="0">
                <a:solidFill>
                  <a:schemeClr val="tx1"/>
                </a:solidFill>
                <a:effectLst/>
                <a:latin typeface="+mn-lt"/>
                <a:ea typeface="+mn-ea"/>
                <a:cs typeface="+mn-cs"/>
              </a:rPr>
              <a:t>Finally, we have the process of </a:t>
            </a:r>
            <a:r>
              <a:rPr lang="en-US" sz="2800" b="1" i="0" kern="1200" dirty="0">
                <a:solidFill>
                  <a:schemeClr val="tx1"/>
                </a:solidFill>
                <a:effectLst/>
                <a:latin typeface="+mn-lt"/>
                <a:ea typeface="+mn-ea"/>
                <a:cs typeface="+mn-cs"/>
              </a:rPr>
              <a:t>interpreting</a:t>
            </a:r>
            <a:r>
              <a:rPr lang="en-US" sz="2800" b="0" i="0" kern="1200" dirty="0">
                <a:solidFill>
                  <a:schemeClr val="tx1"/>
                </a:solidFill>
                <a:effectLst/>
                <a:latin typeface="+mn-lt"/>
                <a:ea typeface="+mn-ea"/>
                <a:cs typeface="+mn-cs"/>
              </a:rPr>
              <a:t> which means forming an idea about a particular object depending upon the need or interest. Interpretation means that the information we have sensed and organized, is finally given a meaning by turning it into something that can be categorized. It includes stereotyping, halo effect etc.</a:t>
            </a:r>
          </a:p>
          <a:p>
            <a:pPr>
              <a:lnSpc>
                <a:spcPct val="80000"/>
              </a:lnSpc>
            </a:pPr>
            <a:endParaRPr lang="en-US" sz="2700" dirty="0"/>
          </a:p>
          <a:p>
            <a:pPr>
              <a:lnSpc>
                <a:spcPct val="80000"/>
              </a:lnSpc>
            </a:pPr>
            <a:r>
              <a:rPr lang="en-US" sz="2700" dirty="0"/>
              <a:t>Sensation:</a:t>
            </a:r>
          </a:p>
          <a:p>
            <a:pPr lvl="1">
              <a:lnSpc>
                <a:spcPct val="80000"/>
              </a:lnSpc>
            </a:pPr>
            <a:r>
              <a:rPr lang="en-US" sz="2400" dirty="0"/>
              <a:t>The immediate response of our sensory receptors to basic stimuli such as light, color, sound, scent, touch, taste…</a:t>
            </a:r>
          </a:p>
          <a:p>
            <a:pPr lvl="1">
              <a:lnSpc>
                <a:spcPct val="80000"/>
              </a:lnSpc>
            </a:pPr>
            <a:r>
              <a:rPr lang="en-US" sz="2400" dirty="0"/>
              <a:t>Sensation is physical </a:t>
            </a:r>
          </a:p>
          <a:p>
            <a:pPr>
              <a:lnSpc>
                <a:spcPct val="80000"/>
              </a:lnSpc>
            </a:pPr>
            <a:r>
              <a:rPr lang="en-US" sz="2700" dirty="0"/>
              <a:t>Perception</a:t>
            </a:r>
          </a:p>
          <a:p>
            <a:pPr lvl="1">
              <a:lnSpc>
                <a:spcPct val="80000"/>
              </a:lnSpc>
            </a:pPr>
            <a:r>
              <a:rPr lang="en-US" sz="2400" dirty="0"/>
              <a:t>The process by which sensations are selected and organized</a:t>
            </a:r>
          </a:p>
          <a:p>
            <a:pPr lvl="1">
              <a:lnSpc>
                <a:spcPct val="80000"/>
              </a:lnSpc>
            </a:pPr>
            <a:r>
              <a:rPr lang="en-US" sz="2400" dirty="0"/>
              <a:t>Perception is what we add to raw sensations so that we can be interpreted</a:t>
            </a:r>
          </a:p>
          <a:p>
            <a:pPr lvl="1">
              <a:lnSpc>
                <a:spcPct val="80000"/>
              </a:lnSpc>
            </a:pPr>
            <a:r>
              <a:rPr lang="en-US" sz="2400" dirty="0"/>
              <a:t>Perception is psychological</a:t>
            </a:r>
          </a:p>
          <a:p>
            <a:pPr lvl="2">
              <a:lnSpc>
                <a:spcPct val="80000"/>
              </a:lnSpc>
            </a:pPr>
            <a:r>
              <a:rPr lang="en-US" sz="2000" dirty="0"/>
              <a:t>It</a:t>
            </a:r>
            <a:r>
              <a:rPr lang="en-US" altLang="en-US" sz="2000" dirty="0"/>
              <a:t>’</a:t>
            </a:r>
            <a:r>
              <a:rPr lang="en-US" sz="2000" dirty="0"/>
              <a:t>s active</a:t>
            </a:r>
          </a:p>
          <a:p>
            <a:pPr lvl="2">
              <a:lnSpc>
                <a:spcPct val="80000"/>
              </a:lnSpc>
            </a:pPr>
            <a:r>
              <a:rPr lang="en-US" sz="2000" dirty="0"/>
              <a:t>It</a:t>
            </a:r>
            <a:r>
              <a:rPr lang="en-US" altLang="en-US" sz="2000" dirty="0"/>
              <a:t>’</a:t>
            </a:r>
            <a:r>
              <a:rPr lang="en-US" sz="2000" dirty="0"/>
              <a:t>s relative</a:t>
            </a:r>
          </a:p>
        </p:txBody>
      </p:sp>
      <p:sp>
        <p:nvSpPr>
          <p:cNvPr id="4" name="Slide Number Placeholder 3"/>
          <p:cNvSpPr>
            <a:spLocks noGrp="1"/>
          </p:cNvSpPr>
          <p:nvPr>
            <p:ph type="sldNum" sz="quarter" idx="10"/>
          </p:nvPr>
        </p:nvSpPr>
        <p:spPr/>
        <p:txBody>
          <a:bodyPr/>
          <a:lstStyle/>
          <a:p>
            <a:fld id="{CA5D3BF3-D352-46FC-8343-31F56E6730EA}" type="slidenum">
              <a:rPr lang="en-US" smtClean="0"/>
              <a:pPr/>
              <a:t>7</a:t>
            </a:fld>
            <a:endParaRPr lang="en-US"/>
          </a:p>
        </p:txBody>
      </p:sp>
    </p:spTree>
    <p:extLst>
      <p:ext uri="{BB962C8B-B14F-4D97-AF65-F5344CB8AC3E}">
        <p14:creationId xmlns:p14="http://schemas.microsoft.com/office/powerpoint/2010/main" val="1926713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mn-lt"/>
                <a:ea typeface="+mn-ea"/>
                <a:cs typeface="+mn-cs"/>
              </a:rPr>
              <a:t>External factors</a:t>
            </a:r>
            <a:r>
              <a:rPr lang="en-US" sz="1200" b="0" i="0" kern="1200" dirty="0">
                <a:solidFill>
                  <a:schemeClr val="tx1"/>
                </a:solidFill>
                <a:effectLst/>
                <a:latin typeface="+mn-lt"/>
                <a:ea typeface="+mn-ea"/>
                <a:cs typeface="+mn-cs"/>
              </a:rPr>
              <a:t> − The factors that influence the perception of an individual externally are intensity, size, contrast, movement, repetition, familiarity, and novelty.</a:t>
            </a:r>
          </a:p>
          <a:p>
            <a:r>
              <a:rPr lang="en-US" sz="1200" b="1" i="0" kern="1200" dirty="0">
                <a:solidFill>
                  <a:schemeClr val="tx1"/>
                </a:solidFill>
                <a:effectLst/>
                <a:latin typeface="+mn-lt"/>
                <a:ea typeface="+mn-ea"/>
                <a:cs typeface="+mn-cs"/>
              </a:rPr>
              <a:t>Internal factors</a:t>
            </a:r>
            <a:r>
              <a:rPr lang="en-US" sz="1200" b="0" i="0" kern="1200" dirty="0">
                <a:solidFill>
                  <a:schemeClr val="tx1"/>
                </a:solidFill>
                <a:effectLst/>
                <a:latin typeface="+mn-lt"/>
                <a:ea typeface="+mn-ea"/>
                <a:cs typeface="+mn-cs"/>
              </a:rPr>
              <a:t> − The factors that influence the perception of an individual internally are psychological requirements, learning, background, experience, self-acceptance, and interest.</a:t>
            </a:r>
          </a:p>
        </p:txBody>
      </p:sp>
      <p:sp>
        <p:nvSpPr>
          <p:cNvPr id="4" name="Slide Number Placeholder 3"/>
          <p:cNvSpPr>
            <a:spLocks noGrp="1"/>
          </p:cNvSpPr>
          <p:nvPr>
            <p:ph type="sldNum" sz="quarter" idx="10"/>
          </p:nvPr>
        </p:nvSpPr>
        <p:spPr/>
        <p:txBody>
          <a:bodyPr/>
          <a:lstStyle/>
          <a:p>
            <a:fld id="{CA5D3BF3-D352-46FC-8343-31F56E6730EA}" type="slidenum">
              <a:rPr lang="en-US" smtClean="0"/>
              <a:pPr/>
              <a:t>8</a:t>
            </a:fld>
            <a:endParaRPr lang="en-US"/>
          </a:p>
        </p:txBody>
      </p:sp>
    </p:spTree>
    <p:extLst>
      <p:ext uri="{BB962C8B-B14F-4D97-AF65-F5344CB8AC3E}">
        <p14:creationId xmlns:p14="http://schemas.microsoft.com/office/powerpoint/2010/main" val="2213890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How do we attach meaning to other's behavior or our own?  This is called attribution theory. For example, is someone angry because they are bad-tempered or because something bad happened.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Attribution theory is concerned with how and why ordinary people explain events as they do.</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Heider</a:t>
            </a:r>
            <a:r>
              <a:rPr lang="en-US" sz="1200" b="0" i="0" kern="1200" dirty="0">
                <a:solidFill>
                  <a:schemeClr val="tx1"/>
                </a:solidFill>
                <a:effectLst/>
                <a:latin typeface="+mn-lt"/>
                <a:ea typeface="+mn-ea"/>
                <a:cs typeface="+mn-cs"/>
              </a:rPr>
              <a:t> (1958) believed that people are naive psychologists trying to make sense of the social world.  People tend to see cause and effect relationships, even where there is none!.</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Heider</a:t>
            </a:r>
            <a:r>
              <a:rPr lang="en-US" sz="1200" b="0" i="0" kern="1200" dirty="0">
                <a:solidFill>
                  <a:schemeClr val="tx1"/>
                </a:solidFill>
                <a:effectLst/>
                <a:latin typeface="+mn-lt"/>
                <a:ea typeface="+mn-ea"/>
                <a:cs typeface="+mn-cs"/>
              </a:rPr>
              <a:t> didn’t so much develop a theory himself as emphasize certain themes that others took up.  There were two main ideas that he put forward that became influential.</a:t>
            </a:r>
          </a:p>
          <a:p>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Internal Attribution</a:t>
            </a:r>
          </a:p>
          <a:p>
            <a:r>
              <a:rPr lang="en-US" sz="1200" b="0" i="0" kern="1200" dirty="0">
                <a:solidFill>
                  <a:schemeClr val="tx1"/>
                </a:solidFill>
                <a:effectLst/>
                <a:latin typeface="+mn-lt"/>
                <a:ea typeface="+mn-ea"/>
                <a:cs typeface="+mn-cs"/>
              </a:rPr>
              <a:t>The process of assigning the cause of behavior to some internal characteristic, rather than to outside forces. When we explain the behavior of others we look for enduring internal attributions, such as personality traits. </a:t>
            </a:r>
          </a:p>
          <a:p>
            <a:r>
              <a:rPr lang="en-US" sz="1200" b="0" i="0" kern="1200" dirty="0">
                <a:solidFill>
                  <a:schemeClr val="tx1"/>
                </a:solidFill>
                <a:effectLst/>
                <a:latin typeface="+mn-lt"/>
                <a:ea typeface="+mn-ea"/>
                <a:cs typeface="+mn-cs"/>
              </a:rPr>
              <a:t>For example, we attribute the behavior of a person to their personality, motives or beliefs.</a:t>
            </a:r>
          </a:p>
          <a:p>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 External Attribution</a:t>
            </a:r>
          </a:p>
          <a:p>
            <a:r>
              <a:rPr lang="en-US" sz="1200" b="0" i="0" kern="1200" dirty="0">
                <a:solidFill>
                  <a:schemeClr val="tx1"/>
                </a:solidFill>
                <a:effectLst/>
                <a:latin typeface="+mn-lt"/>
                <a:ea typeface="+mn-ea"/>
                <a:cs typeface="+mn-cs"/>
              </a:rPr>
              <a:t>The process of assigning the cause of behavior to some situation or event outside a person's control rather than to some internal characteristic.</a:t>
            </a:r>
          </a:p>
          <a:p>
            <a:r>
              <a:rPr lang="en-US" sz="1200" b="0" i="0" kern="1200" dirty="0">
                <a:solidFill>
                  <a:schemeClr val="tx1"/>
                </a:solidFill>
                <a:effectLst/>
                <a:latin typeface="+mn-lt"/>
                <a:ea typeface="+mn-ea"/>
                <a:cs typeface="+mn-cs"/>
              </a:rPr>
              <a:t>When we try to explain our own behavior we tend to make external attributions, such as situational or environment features.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9</a:t>
            </a:fld>
            <a:endParaRPr lang="en-US"/>
          </a:p>
        </p:txBody>
      </p:sp>
    </p:spTree>
    <p:extLst>
      <p:ext uri="{BB962C8B-B14F-4D97-AF65-F5344CB8AC3E}">
        <p14:creationId xmlns:p14="http://schemas.microsoft.com/office/powerpoint/2010/main" val="2922440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Internal Attribution</a:t>
            </a:r>
          </a:p>
          <a:p>
            <a:r>
              <a:rPr lang="en-US" sz="1200" b="0" i="0" kern="1200" dirty="0">
                <a:solidFill>
                  <a:schemeClr val="tx1"/>
                </a:solidFill>
                <a:effectLst/>
                <a:latin typeface="+mn-lt"/>
                <a:ea typeface="+mn-ea"/>
                <a:cs typeface="+mn-cs"/>
              </a:rPr>
              <a:t>The process of assigning the cause of behavior to some internal characteristic, rather than to outside forces. When we explain the behavior of others we look for enduring internal attributions, such as personality traits. </a:t>
            </a:r>
          </a:p>
          <a:p>
            <a:r>
              <a:rPr lang="en-US" sz="1200" b="0" i="0" kern="1200" dirty="0">
                <a:solidFill>
                  <a:schemeClr val="tx1"/>
                </a:solidFill>
                <a:effectLst/>
                <a:latin typeface="+mn-lt"/>
                <a:ea typeface="+mn-ea"/>
                <a:cs typeface="+mn-cs"/>
              </a:rPr>
              <a:t>For example, we attribute the behavior of a person to their personality, motives or beliefs.</a:t>
            </a:r>
          </a:p>
          <a:p>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 External Attribution</a:t>
            </a:r>
          </a:p>
          <a:p>
            <a:r>
              <a:rPr lang="en-US" sz="1200" b="0" i="0" kern="1200" dirty="0">
                <a:solidFill>
                  <a:schemeClr val="tx1"/>
                </a:solidFill>
                <a:effectLst/>
                <a:latin typeface="+mn-lt"/>
                <a:ea typeface="+mn-ea"/>
                <a:cs typeface="+mn-cs"/>
              </a:rPr>
              <a:t>The process of assigning the cause of behavior to some situation or event outside a person's control rather than to some internal characteristic.</a:t>
            </a:r>
          </a:p>
          <a:p>
            <a:r>
              <a:rPr lang="en-US" sz="1200" b="0" i="0" kern="1200" dirty="0">
                <a:solidFill>
                  <a:schemeClr val="tx1"/>
                </a:solidFill>
                <a:effectLst/>
                <a:latin typeface="+mn-lt"/>
                <a:ea typeface="+mn-ea"/>
                <a:cs typeface="+mn-cs"/>
              </a:rPr>
              <a:t>When we try to explain our own behavior we tend to make external attributions, such as situational or environment features.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10</a:t>
            </a:fld>
            <a:endParaRPr lang="en-US"/>
          </a:p>
        </p:txBody>
      </p:sp>
    </p:spTree>
    <p:extLst>
      <p:ext uri="{BB962C8B-B14F-4D97-AF65-F5344CB8AC3E}">
        <p14:creationId xmlns:p14="http://schemas.microsoft.com/office/powerpoint/2010/main" val="1091276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This is a psychological prejudice where the impression of a person in any one area makes you believe that he/she is equally good in other areas.</a:t>
            </a:r>
          </a:p>
          <a:p>
            <a:pPr fontAlgn="base"/>
            <a:r>
              <a:rPr lang="en-US" sz="1200" b="0" i="0" kern="1200" dirty="0">
                <a:solidFill>
                  <a:schemeClr val="tx1"/>
                </a:solidFill>
                <a:effectLst/>
                <a:latin typeface="+mn-lt"/>
                <a:ea typeface="+mn-ea"/>
                <a:cs typeface="+mn-cs"/>
              </a:rPr>
              <a:t>This was first acknowledged and named by psychologist Edward Thorndike in1920 and in his research he observed people who are perceived to have a positive image in one area tend to be anticipated to have same positive talents and qualities in other areas.</a:t>
            </a:r>
          </a:p>
          <a:p>
            <a:endParaRPr lang="en-US" b="0" dirty="0"/>
          </a:p>
          <a:p>
            <a:pPr fontAlgn="base"/>
            <a:r>
              <a:rPr lang="en-US" sz="1200" b="0" i="0" kern="1200" dirty="0">
                <a:solidFill>
                  <a:schemeClr val="tx1"/>
                </a:solidFill>
                <a:effectLst/>
                <a:latin typeface="+mn-lt"/>
                <a:ea typeface="+mn-ea"/>
                <a:cs typeface="+mn-cs"/>
              </a:rPr>
              <a:t>A tall good looking man is mostly always perceived to be smarter than average - even if you have just met for the first time.</a:t>
            </a:r>
          </a:p>
          <a:p>
            <a:pPr fontAlgn="base"/>
            <a:r>
              <a:rPr lang="en-US" sz="1200" b="0" i="0" kern="1200" dirty="0">
                <a:solidFill>
                  <a:schemeClr val="tx1"/>
                </a:solidFill>
                <a:effectLst/>
                <a:latin typeface="+mn-lt"/>
                <a:ea typeface="+mn-ea"/>
                <a:cs typeface="+mn-cs"/>
              </a:rPr>
              <a:t>Anyone who just showed some good qualities at your office in one specific task is simply taken for granted that he/she will perform equally good at other tasks and will always be preferred to someone who is a bit quieter or shy.</a:t>
            </a:r>
          </a:p>
          <a:p>
            <a:pPr fontAlgn="base"/>
            <a:r>
              <a:rPr lang="en-US" sz="1200" b="0" i="0" kern="1200" dirty="0">
                <a:solidFill>
                  <a:schemeClr val="tx1"/>
                </a:solidFill>
                <a:effectLst/>
                <a:latin typeface="+mn-lt"/>
                <a:ea typeface="+mn-ea"/>
                <a:cs typeface="+mn-cs"/>
              </a:rPr>
              <a:t>In many cultures women or a colleague from a minority cluster is often perceived to be less intelligent, less accomplished and less skilled.</a:t>
            </a:r>
          </a:p>
          <a:p>
            <a:pPr fontAlgn="base"/>
            <a:r>
              <a:rPr lang="en-US" sz="1200" b="0" i="0" kern="1200" dirty="0">
                <a:solidFill>
                  <a:schemeClr val="tx1"/>
                </a:solidFill>
                <a:effectLst/>
                <a:latin typeface="+mn-lt"/>
                <a:ea typeface="+mn-ea"/>
                <a:cs typeface="+mn-cs"/>
              </a:rPr>
              <a:t>This is the “negative” Halo Effect, which imposes if you are (deceitfully) observed or stated to be less capable in any one area, you are then repeatedly and unfairly understood to be less skilled in other areas too.</a:t>
            </a:r>
          </a:p>
          <a:p>
            <a:pPr fontAlgn="base"/>
            <a:r>
              <a:rPr lang="en-US" sz="1200" b="0" i="0" kern="1200" dirty="0">
                <a:solidFill>
                  <a:schemeClr val="tx1"/>
                </a:solidFill>
                <a:effectLst/>
                <a:latin typeface="+mn-lt"/>
                <a:ea typeface="+mn-ea"/>
                <a:cs typeface="+mn-cs"/>
              </a:rPr>
              <a:t>If you have made a mistake at one point in one junction at your work, you are often perceived to be prone to mistakes in all areas of your work.</a:t>
            </a:r>
          </a:p>
        </p:txBody>
      </p:sp>
      <p:sp>
        <p:nvSpPr>
          <p:cNvPr id="4" name="Slide Number Placeholder 3"/>
          <p:cNvSpPr>
            <a:spLocks noGrp="1"/>
          </p:cNvSpPr>
          <p:nvPr>
            <p:ph type="sldNum" sz="quarter" idx="10"/>
          </p:nvPr>
        </p:nvSpPr>
        <p:spPr/>
        <p:txBody>
          <a:bodyPr/>
          <a:lstStyle/>
          <a:p>
            <a:fld id="{CA5D3BF3-D352-46FC-8343-31F56E6730EA}" type="slidenum">
              <a:rPr lang="en-US" smtClean="0"/>
              <a:pPr/>
              <a:t>14</a:t>
            </a:fld>
            <a:endParaRPr lang="en-US"/>
          </a:p>
        </p:txBody>
      </p:sp>
    </p:spTree>
    <p:extLst>
      <p:ext uri="{BB962C8B-B14F-4D97-AF65-F5344CB8AC3E}">
        <p14:creationId xmlns:p14="http://schemas.microsoft.com/office/powerpoint/2010/main" val="2161339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This is a psychological prejudice where the impression of a person in any one area makes you believe that he/she is equally good in other areas.</a:t>
            </a:r>
          </a:p>
          <a:p>
            <a:pPr fontAlgn="base"/>
            <a:r>
              <a:rPr lang="en-US" sz="1200" b="0" i="0" kern="1200" dirty="0">
                <a:solidFill>
                  <a:schemeClr val="tx1"/>
                </a:solidFill>
                <a:effectLst/>
                <a:latin typeface="+mn-lt"/>
                <a:ea typeface="+mn-ea"/>
                <a:cs typeface="+mn-cs"/>
              </a:rPr>
              <a:t>This was first acknowledged and named by psychologist Edward Thorndike in1920 and in his research he observed people who are perceived to have a positive image in one area tend to be anticipated to have same positive talents and qualities in other areas.</a:t>
            </a:r>
          </a:p>
          <a:p>
            <a:endParaRPr lang="en-US" b="0" dirty="0"/>
          </a:p>
          <a:p>
            <a:pPr fontAlgn="base"/>
            <a:r>
              <a:rPr lang="en-US" sz="1200" b="0" i="0" kern="1200" dirty="0">
                <a:solidFill>
                  <a:schemeClr val="tx1"/>
                </a:solidFill>
                <a:effectLst/>
                <a:latin typeface="+mn-lt"/>
                <a:ea typeface="+mn-ea"/>
                <a:cs typeface="+mn-cs"/>
              </a:rPr>
              <a:t>A tall good looking man is mostly always perceived to be smarter than average - even if you have just met for the first time.</a:t>
            </a:r>
          </a:p>
          <a:p>
            <a:pPr fontAlgn="base"/>
            <a:r>
              <a:rPr lang="en-US" sz="1200" b="0" i="0" kern="1200" dirty="0">
                <a:solidFill>
                  <a:schemeClr val="tx1"/>
                </a:solidFill>
                <a:effectLst/>
                <a:latin typeface="+mn-lt"/>
                <a:ea typeface="+mn-ea"/>
                <a:cs typeface="+mn-cs"/>
              </a:rPr>
              <a:t>Anyone who just showed some good qualities at your office in one specific task is simply taken for granted that he/she will perform equally good at other tasks and will always be preferred to someone who is a bit quieter or shy.</a:t>
            </a:r>
          </a:p>
          <a:p>
            <a:pPr fontAlgn="base"/>
            <a:r>
              <a:rPr lang="en-US" sz="1200" b="0" i="0" kern="1200" dirty="0">
                <a:solidFill>
                  <a:schemeClr val="tx1"/>
                </a:solidFill>
                <a:effectLst/>
                <a:latin typeface="+mn-lt"/>
                <a:ea typeface="+mn-ea"/>
                <a:cs typeface="+mn-cs"/>
              </a:rPr>
              <a:t>In many cultures women or a colleague from a minority cluster is often perceived to be less intelligent, less accomplished and less skilled.</a:t>
            </a:r>
          </a:p>
          <a:p>
            <a:pPr fontAlgn="base"/>
            <a:r>
              <a:rPr lang="en-US" sz="1200" b="0" i="0" kern="1200" dirty="0">
                <a:solidFill>
                  <a:schemeClr val="tx1"/>
                </a:solidFill>
                <a:effectLst/>
                <a:latin typeface="+mn-lt"/>
                <a:ea typeface="+mn-ea"/>
                <a:cs typeface="+mn-cs"/>
              </a:rPr>
              <a:t>This is the “negative” Halo Effect, which imposes if you are (deceitfully) observed or stated to be less capable in any one area, you are then repeatedly and unfairly understood to be less skilled in other areas too.</a:t>
            </a:r>
          </a:p>
          <a:p>
            <a:pPr fontAlgn="base"/>
            <a:r>
              <a:rPr lang="en-US" sz="1200" b="0" i="0" kern="1200" dirty="0">
                <a:solidFill>
                  <a:schemeClr val="tx1"/>
                </a:solidFill>
                <a:effectLst/>
                <a:latin typeface="+mn-lt"/>
                <a:ea typeface="+mn-ea"/>
                <a:cs typeface="+mn-cs"/>
              </a:rPr>
              <a:t>If you have made a mistake at one point in one junction at your work, you are often perceived to be prone to mistakes in all areas of your work.</a:t>
            </a:r>
          </a:p>
        </p:txBody>
      </p:sp>
      <p:sp>
        <p:nvSpPr>
          <p:cNvPr id="4" name="Slide Number Placeholder 3"/>
          <p:cNvSpPr>
            <a:spLocks noGrp="1"/>
          </p:cNvSpPr>
          <p:nvPr>
            <p:ph type="sldNum" sz="quarter" idx="10"/>
          </p:nvPr>
        </p:nvSpPr>
        <p:spPr/>
        <p:txBody>
          <a:bodyPr/>
          <a:lstStyle/>
          <a:p>
            <a:fld id="{CA5D3BF3-D352-46FC-8343-31F56E6730EA}" type="slidenum">
              <a:rPr lang="en-US" smtClean="0"/>
              <a:pPr/>
              <a:t>15</a:t>
            </a:fld>
            <a:endParaRPr lang="en-US"/>
          </a:p>
        </p:txBody>
      </p:sp>
    </p:spTree>
    <p:extLst>
      <p:ext uri="{BB962C8B-B14F-4D97-AF65-F5344CB8AC3E}">
        <p14:creationId xmlns:p14="http://schemas.microsoft.com/office/powerpoint/2010/main" val="2161339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i="0" kern="1200" dirty="0">
                <a:solidFill>
                  <a:schemeClr val="tx1"/>
                </a:solidFill>
                <a:effectLst/>
                <a:latin typeface="+mn-lt"/>
                <a:ea typeface="+mn-ea"/>
                <a:cs typeface="+mn-cs"/>
              </a:rPr>
              <a:t>Prejudice: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attitude (usually negative) shown towards individuals based on his/her religious, cultural, ethnic, political or other affiliation without having prior knowledge about the group. Such attitudes are based on assumptions far from objective reality. Prejudice has cognitive, affective, and behavioral components. Based on </a:t>
            </a:r>
            <a:r>
              <a:rPr lang="en-US" sz="1200" b="0" i="1" kern="1200" dirty="0">
                <a:solidFill>
                  <a:schemeClr val="tx1"/>
                </a:solidFill>
                <a:effectLst/>
                <a:latin typeface="+mn-lt"/>
                <a:ea typeface="+mn-ea"/>
                <a:cs typeface="+mn-cs"/>
              </a:rPr>
              <a:t>beliefs</a:t>
            </a:r>
            <a:r>
              <a:rPr lang="en-US" sz="1200" b="0" i="0" kern="1200" dirty="0">
                <a:solidFill>
                  <a:schemeClr val="tx1"/>
                </a:solidFill>
                <a:effectLst/>
                <a:latin typeface="+mn-lt"/>
                <a:ea typeface="+mn-ea"/>
                <a:cs typeface="+mn-cs"/>
              </a:rPr>
              <a:t>, it can affect one's emotions and </a:t>
            </a:r>
            <a:r>
              <a:rPr lang="en-US" sz="1200" b="0" i="1" kern="1200" dirty="0">
                <a:solidFill>
                  <a:schemeClr val="tx1"/>
                </a:solidFill>
                <a:effectLst/>
                <a:latin typeface="+mn-lt"/>
                <a:ea typeface="+mn-ea"/>
                <a:cs typeface="+mn-cs"/>
              </a:rPr>
              <a:t>behavior</a:t>
            </a:r>
            <a:r>
              <a:rPr lang="en-US" sz="1200" b="0" i="0" kern="1200" dirty="0">
                <a:solidFill>
                  <a:schemeClr val="tx1"/>
                </a:solidFill>
                <a:effectLst/>
                <a:latin typeface="+mn-lt"/>
                <a:ea typeface="+mn-ea"/>
                <a:cs typeface="+mn-cs"/>
              </a:rPr>
              <a:t>, sometimes leading to discrimination. Prejudiced beliefs primarily take the form of stereotypes, overall impressions based on the assumption that all members of a group possess similar attributes. Prejudices can both negative and positive.</a:t>
            </a:r>
          </a:p>
          <a:p>
            <a:r>
              <a:rPr lang="en-US" sz="1200" b="0" i="0" kern="1200" dirty="0" err="1">
                <a:solidFill>
                  <a:schemeClr val="tx1"/>
                </a:solidFill>
                <a:effectLst/>
                <a:latin typeface="+mn-lt"/>
                <a:ea typeface="+mn-ea"/>
                <a:cs typeface="+mn-cs"/>
              </a:rPr>
              <a:t>Eg</a:t>
            </a:r>
            <a:r>
              <a:rPr lang="en-US" sz="1200" b="0" i="0" kern="1200" dirty="0">
                <a:solidFill>
                  <a:schemeClr val="tx1"/>
                </a:solidFill>
                <a:effectLst/>
                <a:latin typeface="+mn-lt"/>
                <a:ea typeface="+mn-ea"/>
                <a:cs typeface="+mn-cs"/>
              </a:rPr>
              <a:t>.       Women are weak. (Negative)</a:t>
            </a:r>
          </a:p>
          <a:p>
            <a:r>
              <a:rPr lang="en-US" sz="1200" b="0" i="0" kern="1200" dirty="0">
                <a:solidFill>
                  <a:schemeClr val="tx1"/>
                </a:solidFill>
                <a:effectLst/>
                <a:latin typeface="+mn-lt"/>
                <a:ea typeface="+mn-ea"/>
                <a:cs typeface="+mn-cs"/>
              </a:rPr>
              <a:t>            Europeans are educated and intelligent. (Positive)</a:t>
            </a: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Stereotype:</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Stereotype is defined as an “oversimplified, usually pejorative, attitude people hold towards those outside one’s own experience who are different. They are a result of incomplete or distorted information accepted as fact without question. A stereotype is simply a widely held belief that an individual of certain group holds distinct characteristics. Due to the process of overgeneralization within social perception, stereotyping leads to a great deal of inaccuracy in social perception. Sex, race, age, religion, sexual orientation and physical ability are various categories which exist in stereotyping. The most prevalent and controversial forms are sex and race.</a:t>
            </a:r>
          </a:p>
          <a:p>
            <a:r>
              <a:rPr lang="en-US" sz="1200" b="0" i="0" kern="1200" dirty="0">
                <a:solidFill>
                  <a:schemeClr val="tx1"/>
                </a:solidFill>
                <a:effectLst/>
                <a:latin typeface="+mn-lt"/>
                <a:ea typeface="+mn-ea"/>
                <a:cs typeface="+mn-cs"/>
              </a:rPr>
              <a:t>When prejudice becomes a belief then it is termed as stereotype. Such belief may or may not be real. Prejudices are reproduced time and again due to conformity biases in individuals which embeds into the belief system. E.g. Muslims are stereotyped as terrorists.</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Discrimination: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Discrimination is a behavioral aspect just opposite to generalization. In psychology discrimination is neither negative nor positive. Discrimination is the tendency to react against different stimuli in different ways. For example: if a person encounters a tiger in the wild, he/she tries to flee but the same person may not flee if he/she encounters a peacock.</a:t>
            </a:r>
          </a:p>
          <a:p>
            <a:r>
              <a:rPr lang="en-US" sz="1200" b="0" i="0" kern="1200" dirty="0">
                <a:solidFill>
                  <a:schemeClr val="tx1"/>
                </a:solidFill>
                <a:effectLst/>
                <a:latin typeface="+mn-lt"/>
                <a:ea typeface="+mn-ea"/>
                <a:cs typeface="+mn-cs"/>
              </a:rPr>
              <a:t>However, if the discrimination is resulted by prejudice or stereotype then such discriminations are usually negative. Usually negative discriminations are studied in the social sciences. </a:t>
            </a:r>
            <a:r>
              <a:rPr lang="en-US" sz="1200" b="0" i="0" kern="1200" dirty="0" err="1">
                <a:solidFill>
                  <a:schemeClr val="tx1"/>
                </a:solidFill>
                <a:effectLst/>
                <a:latin typeface="+mn-lt"/>
                <a:ea typeface="+mn-ea"/>
                <a:cs typeface="+mn-cs"/>
              </a:rPr>
              <a:t>Eg</a:t>
            </a:r>
            <a:r>
              <a:rPr lang="en-US" sz="1200" b="0" i="0" kern="1200" dirty="0">
                <a:solidFill>
                  <a:schemeClr val="tx1"/>
                </a:solidFill>
                <a:effectLst/>
                <a:latin typeface="+mn-lt"/>
                <a:ea typeface="+mn-ea"/>
                <a:cs typeface="+mn-cs"/>
              </a:rPr>
              <a:t>. Racial discrimination, caste based discrimination, religious discrimination, gender discrimination etc.</a:t>
            </a:r>
          </a:p>
        </p:txBody>
      </p:sp>
      <p:sp>
        <p:nvSpPr>
          <p:cNvPr id="4" name="Slide Number Placeholder 3"/>
          <p:cNvSpPr>
            <a:spLocks noGrp="1"/>
          </p:cNvSpPr>
          <p:nvPr>
            <p:ph type="sldNum" sz="quarter" idx="10"/>
          </p:nvPr>
        </p:nvSpPr>
        <p:spPr/>
        <p:txBody>
          <a:bodyPr/>
          <a:lstStyle/>
          <a:p>
            <a:fld id="{CA5D3BF3-D352-46FC-8343-31F56E6730EA}" type="slidenum">
              <a:rPr lang="en-US" smtClean="0"/>
              <a:pPr/>
              <a:t>16</a:t>
            </a:fld>
            <a:endParaRPr lang="en-US"/>
          </a:p>
        </p:txBody>
      </p:sp>
    </p:spTree>
    <p:extLst>
      <p:ext uri="{BB962C8B-B14F-4D97-AF65-F5344CB8AC3E}">
        <p14:creationId xmlns:p14="http://schemas.microsoft.com/office/powerpoint/2010/main" val="4064189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Ethnic profiling</a:t>
            </a:r>
            <a:r>
              <a:rPr lang="en-US" sz="1200" b="0" i="0" kern="1200" dirty="0">
                <a:solidFill>
                  <a:schemeClr val="tx1"/>
                </a:solidFill>
                <a:effectLst/>
                <a:latin typeface="+mn-lt"/>
                <a:ea typeface="+mn-ea"/>
                <a:cs typeface="+mn-cs"/>
              </a:rPr>
              <a:t> is the use of racial, </a:t>
            </a:r>
            <a:r>
              <a:rPr lang="en-US" sz="1200" b="1" i="0" kern="1200" dirty="0">
                <a:solidFill>
                  <a:schemeClr val="tx1"/>
                </a:solidFill>
                <a:effectLst/>
                <a:latin typeface="+mn-lt"/>
                <a:ea typeface="+mn-ea"/>
                <a:cs typeface="+mn-cs"/>
              </a:rPr>
              <a:t>ethnic</a:t>
            </a:r>
            <a:r>
              <a:rPr lang="en-US" sz="1200" b="0" i="0" kern="1200" dirty="0">
                <a:solidFill>
                  <a:schemeClr val="tx1"/>
                </a:solidFill>
                <a:effectLst/>
                <a:latin typeface="+mn-lt"/>
                <a:ea typeface="+mn-ea"/>
                <a:cs typeface="+mn-cs"/>
              </a:rPr>
              <a:t>, national, or religious characteristics as a way of singling out people for identity or security checks.</a:t>
            </a:r>
          </a:p>
          <a:p>
            <a:endParaRPr lang="en-US" sz="1200" b="0" i="0" kern="1200" dirty="0">
              <a:solidFill>
                <a:schemeClr val="tx1"/>
              </a:solidFill>
              <a:effectLst/>
              <a:latin typeface="+mn-lt"/>
              <a:ea typeface="+mn-ea"/>
              <a:cs typeface="+mn-cs"/>
            </a:endParaRPr>
          </a:p>
          <a:p>
            <a:r>
              <a:rPr lang="en-US" b="1" dirty="0"/>
              <a:t>Employment Interview</a:t>
            </a:r>
          </a:p>
          <a:p>
            <a:pPr lvl="1"/>
            <a:r>
              <a:rPr lang="en-US" dirty="0"/>
              <a:t>Perceptual biases of raters affect the accuracy of interviewers’ judgments of applicants.</a:t>
            </a:r>
          </a:p>
          <a:p>
            <a:r>
              <a:rPr lang="en-US" b="1" dirty="0"/>
              <a:t>Performance Expectations</a:t>
            </a:r>
          </a:p>
          <a:p>
            <a:pPr lvl="1"/>
            <a:r>
              <a:rPr lang="en-US" dirty="0"/>
              <a:t>Self-fulfilling prophecy (</a:t>
            </a:r>
            <a:r>
              <a:rPr lang="en-US" i="1" dirty="0"/>
              <a:t>Pygmalion effect</a:t>
            </a:r>
            <a:r>
              <a:rPr lang="en-US" dirty="0"/>
              <a:t>): The lower or higher performance of employees reflects preconceived leader expectations about employee capabilities.</a:t>
            </a:r>
          </a:p>
          <a:p>
            <a:r>
              <a:rPr lang="en-US" b="1" dirty="0"/>
              <a:t>Ethnic Profiling</a:t>
            </a:r>
          </a:p>
          <a:p>
            <a:pPr lvl="1"/>
            <a:r>
              <a:rPr lang="en-US" dirty="0"/>
              <a:t>A form of stereotyping in which a group of individuals is singled out—typically on the basis of race or ethnicity—for intensive inquiry, scrutinizing, or investigation.</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17</a:t>
            </a:fld>
            <a:endParaRPr lang="en-US"/>
          </a:p>
        </p:txBody>
      </p:sp>
    </p:spTree>
    <p:extLst>
      <p:ext uri="{BB962C8B-B14F-4D97-AF65-F5344CB8AC3E}">
        <p14:creationId xmlns:p14="http://schemas.microsoft.com/office/powerpoint/2010/main" val="1972407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10000"/>
          </a:bodyPr>
          <a:lstStyle/>
          <a:p>
            <a:pPr>
              <a:defRPr/>
            </a:pPr>
            <a:r>
              <a:rPr lang="en-US" sz="1100" b="1" dirty="0"/>
              <a:t>DECISION-MAKING MODELS</a:t>
            </a:r>
            <a:endParaRPr lang="en-US" sz="1100" b="1" i="1" dirty="0"/>
          </a:p>
          <a:p>
            <a:pPr>
              <a:defRPr/>
            </a:pPr>
            <a:r>
              <a:rPr lang="en-US" sz="1100" dirty="0"/>
              <a:t>Decisions are usually made using the classical, the administrative, or the political decision making model. The choice of model used depends on the manager’s personal preference, whether the decision is programmed or non-programmed, and the degree of uncertainty associated with the decision.</a:t>
            </a:r>
            <a:endParaRPr lang="en-US" sz="1100" i="1" dirty="0"/>
          </a:p>
          <a:p>
            <a:pPr>
              <a:defRPr/>
            </a:pPr>
            <a:endParaRPr lang="en-US" sz="1100" i="1" dirty="0"/>
          </a:p>
          <a:p>
            <a:pPr>
              <a:defRPr/>
            </a:pPr>
            <a:r>
              <a:rPr lang="en-US" sz="1100" dirty="0"/>
              <a:t>The Ideal, Rational Model</a:t>
            </a:r>
            <a:endParaRPr lang="en-US" sz="1100" i="1" dirty="0"/>
          </a:p>
          <a:p>
            <a:pPr>
              <a:defRPr/>
            </a:pPr>
            <a:r>
              <a:rPr lang="en-US" sz="1100" dirty="0"/>
              <a:t> </a:t>
            </a:r>
            <a:endParaRPr lang="en-US" sz="1100" i="1" dirty="0"/>
          </a:p>
          <a:p>
            <a:pPr>
              <a:defRPr/>
            </a:pPr>
            <a:r>
              <a:rPr lang="en-US" sz="1100" dirty="0"/>
              <a:t>The</a:t>
            </a:r>
            <a:r>
              <a:rPr lang="en-US" sz="1100" b="1" dirty="0"/>
              <a:t> classical model</a:t>
            </a:r>
            <a:r>
              <a:rPr lang="en-US" sz="1100" dirty="0"/>
              <a:t> of decision making is based on assumptions that managers should make logical decisions that will be in the organization’s best economic interests. </a:t>
            </a:r>
            <a:r>
              <a:rPr lang="en-US" sz="1100" kern="1200" dirty="0">
                <a:solidFill>
                  <a:schemeClr val="tx1"/>
                </a:solidFill>
                <a:latin typeface="+mn-lt"/>
                <a:ea typeface="+mn-ea"/>
                <a:cs typeface="+mn-cs"/>
              </a:rPr>
              <a:t>According to the </a:t>
            </a:r>
            <a:r>
              <a:rPr lang="en-US" sz="1100" b="1" kern="1200" dirty="0">
                <a:solidFill>
                  <a:schemeClr val="tx1"/>
                </a:solidFill>
                <a:latin typeface="+mn-lt"/>
                <a:ea typeface="+mn-ea"/>
                <a:cs typeface="+mn-cs"/>
              </a:rPr>
              <a:t>rational model </a:t>
            </a:r>
            <a:r>
              <a:rPr lang="en-US" sz="1100" kern="1200" dirty="0">
                <a:solidFill>
                  <a:schemeClr val="tx1"/>
                </a:solidFill>
                <a:latin typeface="+mn-lt"/>
                <a:ea typeface="+mn-ea"/>
                <a:cs typeface="+mn-cs"/>
              </a:rPr>
              <a:t>of decision making, managers define problems, evaluate alternative and choose optimal decision that provide maximum benefits to the organization</a:t>
            </a:r>
            <a:r>
              <a:rPr lang="en-US" sz="1100" b="1" kern="1200" dirty="0">
                <a:solidFill>
                  <a:schemeClr val="tx1"/>
                </a:solidFill>
                <a:latin typeface="+mn-lt"/>
                <a:ea typeface="+mn-ea"/>
                <a:cs typeface="+mn-cs"/>
              </a:rPr>
              <a:t>. </a:t>
            </a:r>
            <a:r>
              <a:rPr lang="en-US" sz="1100" kern="1200" dirty="0">
                <a:solidFill>
                  <a:schemeClr val="tx1"/>
                </a:solidFill>
                <a:latin typeface="+mn-lt"/>
                <a:ea typeface="+mn-ea"/>
                <a:cs typeface="+mn-cs"/>
              </a:rPr>
              <a:t>However, it’s highly doubtful that rational decision making can help managers choose optimal solutions that provide maximum benefits to their organizations. The term “optimal” and “maximum” suggests rational decision making leads to perfect or near –perfect decisions. Of course, for managers to make perfect decisions, they have to operate in perfect world with no real-world constraints.</a:t>
            </a:r>
          </a:p>
          <a:p>
            <a:pPr>
              <a:defRPr/>
            </a:pPr>
            <a:r>
              <a:rPr lang="en-US" sz="1100" dirty="0"/>
              <a:t>The four assumptions include: </a:t>
            </a:r>
            <a:endParaRPr lang="en-US" sz="1100" i="1" dirty="0"/>
          </a:p>
          <a:p>
            <a:pPr marL="228600" indent="-228600">
              <a:buAutoNum type="arabicPeriod"/>
              <a:defRPr/>
            </a:pPr>
            <a:r>
              <a:rPr lang="en-US" sz="1100" dirty="0"/>
              <a:t>The decision maker operates to accomplish goals that are known and agreed upon.</a:t>
            </a:r>
            <a:endParaRPr lang="en-US" sz="1100" i="1" dirty="0"/>
          </a:p>
          <a:p>
            <a:pPr marL="228600" indent="-228600">
              <a:buAutoNum type="arabicPeriod"/>
              <a:defRPr/>
            </a:pPr>
            <a:r>
              <a:rPr lang="en-US" sz="1100" dirty="0"/>
              <a:t>The decision maker strives for conditions of certainty, gathering complete information.</a:t>
            </a:r>
            <a:endParaRPr lang="en-US" sz="1100" i="1" dirty="0"/>
          </a:p>
          <a:p>
            <a:pPr marL="228600" indent="-228600">
              <a:buAutoNum type="arabicPeriod"/>
              <a:defRPr/>
            </a:pPr>
            <a:r>
              <a:rPr lang="en-US" sz="1100" dirty="0"/>
              <a:t>Criteria for evaluating alternatives are known. </a:t>
            </a:r>
            <a:endParaRPr lang="en-US" sz="1100" i="1" dirty="0"/>
          </a:p>
          <a:p>
            <a:pPr marL="228600" indent="-228600">
              <a:buAutoNum type="arabicPeriod"/>
              <a:defRPr/>
            </a:pPr>
            <a:r>
              <a:rPr lang="en-US" sz="1100" dirty="0"/>
              <a:t>The decision maker is rational and uses logic to assign values, order preferences, evaluate alternatives, and make the decision to maximize goals.</a:t>
            </a:r>
            <a:endParaRPr lang="en-US" sz="1100" i="1" dirty="0"/>
          </a:p>
          <a:p>
            <a:pPr>
              <a:defRPr/>
            </a:pPr>
            <a:r>
              <a:rPr lang="en-US" sz="1100" dirty="0"/>
              <a:t> </a:t>
            </a:r>
            <a:endParaRPr lang="en-US" sz="1100" i="1" dirty="0"/>
          </a:p>
          <a:p>
            <a:pPr>
              <a:defRPr/>
            </a:pPr>
            <a:r>
              <a:rPr lang="en-US" sz="1100" dirty="0"/>
              <a:t>The classical model is </a:t>
            </a:r>
            <a:r>
              <a:rPr lang="en-US" sz="1100" b="1" dirty="0"/>
              <a:t>normative</a:t>
            </a:r>
            <a:r>
              <a:rPr lang="en-US" sz="1100" dirty="0"/>
              <a:t>, defining how a decision maker should make decisions, and providing guidelines for reaching an ideal outcome for the organization.  The value of the classical model has been to help decision makers be more rational.  </a:t>
            </a:r>
            <a:endParaRPr lang="en-US" sz="1100" i="1" dirty="0"/>
          </a:p>
          <a:p>
            <a:pPr>
              <a:defRPr/>
            </a:pPr>
            <a:r>
              <a:rPr lang="en-US" sz="1100" dirty="0"/>
              <a:t> </a:t>
            </a:r>
          </a:p>
          <a:p>
            <a:pPr>
              <a:defRPr/>
            </a:pPr>
            <a:r>
              <a:rPr lang="en-US" sz="1100" dirty="0"/>
              <a:t>The classical model represents an “ideal” model of decision making that is often unattainable by real people in real organizations. It works best when applied to programmed decisions and to decisions characterized by uncertainty or risk because relevant information is available and probabilities can be calculated.</a:t>
            </a:r>
            <a:endParaRPr lang="en-US" sz="1100" i="1" dirty="0"/>
          </a:p>
        </p:txBody>
      </p:sp>
      <p:sp>
        <p:nvSpPr>
          <p:cNvPr id="4" name="Slide Number Placeholder 3"/>
          <p:cNvSpPr>
            <a:spLocks noGrp="1"/>
          </p:cNvSpPr>
          <p:nvPr>
            <p:ph type="sldNum" sz="quarter" idx="5"/>
          </p:nvPr>
        </p:nvSpPr>
        <p:spPr/>
        <p:txBody>
          <a:bodyPr/>
          <a:lstStyle/>
          <a:p>
            <a:pPr>
              <a:defRPr/>
            </a:pPr>
            <a:fld id="{1F8B8121-0CC2-4295-B28E-E2C067AC9AF5}" type="slidenum">
              <a:rPr lang="en-US" smtClean="0"/>
              <a:pPr>
                <a:defRPr/>
              </a:pPr>
              <a:t>19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How/Why problems are Identified</a:t>
            </a:r>
          </a:p>
          <a:p>
            <a:pPr lvl="1" eaLnBrk="1" hangingPunct="1"/>
            <a:r>
              <a:rPr lang="en-US" dirty="0"/>
              <a:t>Visibility over importance of problem</a:t>
            </a:r>
          </a:p>
          <a:p>
            <a:pPr lvl="2" eaLnBrk="1" hangingPunct="1"/>
            <a:r>
              <a:rPr lang="en-US" dirty="0"/>
              <a:t>Attention-catching, high profile problems</a:t>
            </a:r>
          </a:p>
          <a:p>
            <a:pPr lvl="2" eaLnBrk="1" hangingPunct="1"/>
            <a:r>
              <a:rPr lang="en-US" dirty="0"/>
              <a:t>Desire to “solve problems”</a:t>
            </a:r>
          </a:p>
          <a:p>
            <a:pPr lvl="1" eaLnBrk="1" hangingPunct="1"/>
            <a:r>
              <a:rPr lang="en-US" dirty="0"/>
              <a:t>Self-interest (if problem concerns decision maker)</a:t>
            </a:r>
          </a:p>
          <a:p>
            <a:pPr eaLnBrk="1" hangingPunct="1"/>
            <a:r>
              <a:rPr lang="en-US" dirty="0"/>
              <a:t>Alternative Development</a:t>
            </a:r>
          </a:p>
          <a:p>
            <a:pPr lvl="1" eaLnBrk="1" hangingPunct="1"/>
            <a:r>
              <a:rPr lang="en-US" dirty="0"/>
              <a:t>Satisficing: seeking the first alternative that solves problem.</a:t>
            </a:r>
          </a:p>
          <a:p>
            <a:pPr lvl="1" eaLnBrk="1" hangingPunct="1"/>
            <a:r>
              <a:rPr lang="en-US" dirty="0"/>
              <a:t>Engaging in incremental rather than unique problem solving through successive limited comparison of alternatives to the current alternative in effect.</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21</a:t>
            </a:fld>
            <a:endParaRPr lang="en-US"/>
          </a:p>
        </p:txBody>
      </p:sp>
    </p:spTree>
    <p:extLst>
      <p:ext uri="{BB962C8B-B14F-4D97-AF65-F5344CB8AC3E}">
        <p14:creationId xmlns:p14="http://schemas.microsoft.com/office/powerpoint/2010/main" val="120953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F77E09D-C470-4FE6-ABD8-D41A127BA376}" type="slidenum">
              <a:rPr lang="en-US" smtClean="0"/>
              <a:pPr/>
              <a:t>23</a:t>
            </a:fld>
            <a:endParaRPr lang="en-US"/>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4516" name="Rectangle 3"/>
          <p:cNvSpPr>
            <a:spLocks noGrp="1" noChangeArrowheads="1"/>
          </p:cNvSpPr>
          <p:nvPr>
            <p:ph type="body" idx="1"/>
          </p:nvPr>
        </p:nvSpPr>
        <p:spPr bwMode="auto">
          <a:noFill/>
        </p:spPr>
        <p:txBody>
          <a:bodyPr wrap="square" numCol="1" anchor="t" anchorCtr="0" compatLnSpc="1">
            <a:prstTxWarp prst="textNoShape">
              <a:avLst/>
            </a:prstTxWarp>
            <a:normAutofit lnSpcReduction="10000"/>
          </a:bodyPr>
          <a:lstStyle/>
          <a:p>
            <a:r>
              <a:rPr lang="en-US" sz="1100" b="0" i="0" kern="1200" dirty="0">
                <a:solidFill>
                  <a:schemeClr val="tx1"/>
                </a:solidFill>
                <a:latin typeface="+mn-lt"/>
                <a:ea typeface="+mn-ea"/>
                <a:cs typeface="+mn-cs"/>
              </a:rPr>
              <a:t>Intuition is the ability to understand something instinctively, without the need for conscious reasoning.</a:t>
            </a:r>
          </a:p>
          <a:p>
            <a:endParaRPr lang="en-US" sz="1100" b="0" i="0" kern="1200" dirty="0">
              <a:solidFill>
                <a:schemeClr val="tx1"/>
              </a:solidFill>
              <a:latin typeface="+mn-lt"/>
              <a:ea typeface="+mn-ea"/>
              <a:cs typeface="+mn-cs"/>
            </a:endParaRPr>
          </a:p>
          <a:p>
            <a:r>
              <a:rPr lang="en-US" sz="1100" b="1" kern="1200" dirty="0">
                <a:solidFill>
                  <a:schemeClr val="tx1"/>
                </a:solidFill>
                <a:latin typeface="+mn-lt"/>
                <a:ea typeface="+mn-ea"/>
                <a:cs typeface="+mn-cs"/>
              </a:rPr>
              <a:t>The Role of Intuition</a:t>
            </a:r>
            <a:endParaRPr lang="en-US" sz="1100" kern="1200" dirty="0">
              <a:solidFill>
                <a:schemeClr val="tx1"/>
              </a:solidFill>
              <a:latin typeface="+mn-lt"/>
              <a:ea typeface="+mn-ea"/>
              <a:cs typeface="+mn-cs"/>
            </a:endParaRPr>
          </a:p>
          <a:p>
            <a:r>
              <a:rPr lang="en-US" sz="1100" kern="1200" dirty="0">
                <a:solidFill>
                  <a:schemeClr val="tx1"/>
                </a:solidFill>
                <a:latin typeface="+mn-lt"/>
                <a:ea typeface="+mn-ea"/>
                <a:cs typeface="+mn-cs"/>
              </a:rPr>
              <a:t>Intuition decision making can complement both rational and bounded rational decision making.</a:t>
            </a:r>
          </a:p>
          <a:p>
            <a:r>
              <a:rPr lang="en-US" sz="1100" kern="1200" dirty="0">
                <a:solidFill>
                  <a:schemeClr val="tx1"/>
                </a:solidFill>
                <a:latin typeface="+mn-lt"/>
                <a:ea typeface="+mn-ea"/>
                <a:cs typeface="+mn-cs"/>
              </a:rPr>
              <a:t>What is intuitional decision making? Its dimensions are as follows:</a:t>
            </a:r>
          </a:p>
          <a:p>
            <a:endParaRPr lang="en-US" sz="1100" kern="1200" dirty="0">
              <a:solidFill>
                <a:schemeClr val="tx1"/>
              </a:solidFill>
              <a:latin typeface="+mn-lt"/>
              <a:ea typeface="+mn-ea"/>
              <a:cs typeface="+mn-cs"/>
            </a:endParaRPr>
          </a:p>
          <a:p>
            <a:pPr lvl="0"/>
            <a:r>
              <a:rPr lang="en-US" sz="1100" b="1" kern="1200" dirty="0">
                <a:solidFill>
                  <a:schemeClr val="tx1"/>
                </a:solidFill>
                <a:latin typeface="+mn-lt"/>
                <a:ea typeface="+mn-ea"/>
                <a:cs typeface="+mn-cs"/>
              </a:rPr>
              <a:t>1. Managers make decisions based on their past experiences:</a:t>
            </a:r>
            <a:r>
              <a:rPr lang="en-US" sz="1100" b="0" kern="1200" baseline="0" dirty="0">
                <a:solidFill>
                  <a:schemeClr val="tx1"/>
                </a:solidFill>
                <a:latin typeface="+mn-lt"/>
                <a:ea typeface="+mn-ea"/>
                <a:cs typeface="+mn-cs"/>
              </a:rPr>
              <a:t> They make decision based on </a:t>
            </a:r>
            <a:r>
              <a:rPr lang="en-US" sz="1100" kern="1200" dirty="0">
                <a:solidFill>
                  <a:schemeClr val="tx1"/>
                </a:solidFill>
                <a:latin typeface="+mn-lt"/>
                <a:ea typeface="+mn-ea"/>
                <a:cs typeface="+mn-cs"/>
              </a:rPr>
              <a:t>what were the outcomes of their decisions in the past such as failure or success? Now he/she try to make decisions accordingly.</a:t>
            </a:r>
          </a:p>
          <a:p>
            <a:pPr lvl="0"/>
            <a:r>
              <a:rPr lang="en-US" sz="1100" b="1" kern="1200" dirty="0">
                <a:solidFill>
                  <a:schemeClr val="tx1"/>
                </a:solidFill>
                <a:latin typeface="+mn-lt"/>
                <a:ea typeface="+mn-ea"/>
                <a:cs typeface="+mn-cs"/>
              </a:rPr>
              <a:t>2.</a:t>
            </a:r>
            <a:r>
              <a:rPr lang="en-US" sz="1100" b="1" kern="1200" baseline="0" dirty="0">
                <a:solidFill>
                  <a:schemeClr val="tx1"/>
                </a:solidFill>
                <a:latin typeface="+mn-lt"/>
                <a:ea typeface="+mn-ea"/>
                <a:cs typeface="+mn-cs"/>
              </a:rPr>
              <a:t> </a:t>
            </a:r>
            <a:r>
              <a:rPr lang="en-US" sz="1100" b="1" kern="1200" dirty="0">
                <a:solidFill>
                  <a:schemeClr val="tx1"/>
                </a:solidFill>
                <a:latin typeface="+mn-lt"/>
                <a:ea typeface="+mn-ea"/>
                <a:cs typeface="+mn-cs"/>
              </a:rPr>
              <a:t>Managers make decisions based on feelings or emotions</a:t>
            </a:r>
            <a:r>
              <a:rPr lang="en-US" sz="1100" kern="1200" dirty="0">
                <a:solidFill>
                  <a:schemeClr val="tx1"/>
                </a:solidFill>
                <a:latin typeface="+mn-lt"/>
                <a:ea typeface="+mn-ea"/>
                <a:cs typeface="+mn-cs"/>
              </a:rPr>
              <a:t> .i.e. managers are human beings so have gut feelings and emotions which play very important role in decision making. The old belief that manager should ignore emotions when making decisions may not be the best advice because a recent study found that individual who experienced intense feelings and emotions when making decisions actually achieved higher decision making performance.</a:t>
            </a:r>
          </a:p>
          <a:p>
            <a:pPr lvl="0"/>
            <a:r>
              <a:rPr lang="en-US" sz="1100" b="1" kern="1200" dirty="0">
                <a:solidFill>
                  <a:schemeClr val="tx1"/>
                </a:solidFill>
                <a:latin typeface="+mn-lt"/>
                <a:ea typeface="+mn-ea"/>
                <a:cs typeface="+mn-cs"/>
              </a:rPr>
              <a:t>3. Managers make decisions based on skills knowledge and training</a:t>
            </a:r>
            <a:r>
              <a:rPr lang="en-US" sz="1100" kern="1200" dirty="0">
                <a:solidFill>
                  <a:schemeClr val="tx1"/>
                </a:solidFill>
                <a:latin typeface="+mn-lt"/>
                <a:ea typeface="+mn-ea"/>
                <a:cs typeface="+mn-cs"/>
              </a:rPr>
              <a:t> means the manager’s education, family back-ground,  personality and their mental skills also effect when they make decisions.</a:t>
            </a:r>
          </a:p>
          <a:p>
            <a:pPr lvl="0"/>
            <a:r>
              <a:rPr lang="en-US" sz="1100" b="1" kern="1200" dirty="0">
                <a:solidFill>
                  <a:schemeClr val="tx1"/>
                </a:solidFill>
                <a:latin typeface="+mn-lt"/>
                <a:ea typeface="+mn-ea"/>
                <a:cs typeface="+mn-cs"/>
              </a:rPr>
              <a:t>4. Managers use data from subconscious mind to help them make decisions </a:t>
            </a:r>
            <a:r>
              <a:rPr lang="en-US" sz="1100" kern="1200" dirty="0">
                <a:solidFill>
                  <a:schemeClr val="tx1"/>
                </a:solidFill>
                <a:latin typeface="+mn-lt"/>
                <a:ea typeface="+mn-ea"/>
                <a:cs typeface="+mn-cs"/>
              </a:rPr>
              <a:t>.One familiar example of the operation of the unconscious is the phenomenon where one fails to immediately solve a given problem and then suddenly has a flash of insight that provides a solution.</a:t>
            </a:r>
          </a:p>
          <a:p>
            <a:pPr lvl="0"/>
            <a:r>
              <a:rPr lang="en-US" sz="1100" b="1" kern="1200" dirty="0">
                <a:solidFill>
                  <a:schemeClr val="tx1"/>
                </a:solidFill>
                <a:latin typeface="+mn-lt"/>
                <a:ea typeface="+mn-ea"/>
                <a:cs typeface="+mn-cs"/>
              </a:rPr>
              <a:t>5. Managers make decisions based on ethical values or culture</a:t>
            </a:r>
            <a:r>
              <a:rPr lang="en-US" sz="1100" kern="1200" dirty="0">
                <a:solidFill>
                  <a:schemeClr val="tx1"/>
                </a:solidFill>
                <a:latin typeface="+mn-lt"/>
                <a:ea typeface="+mn-ea"/>
                <a:cs typeface="+mn-cs"/>
              </a:rPr>
              <a:t>. The culture of that country where they are working and making decisions as well as the ethical values of the </a:t>
            </a:r>
            <a:r>
              <a:rPr lang="en-US" sz="1200" kern="1200" dirty="0">
                <a:solidFill>
                  <a:schemeClr val="tx1"/>
                </a:solidFill>
                <a:latin typeface="+mn-lt"/>
                <a:ea typeface="+mn-ea"/>
                <a:cs typeface="+mn-cs"/>
              </a:rPr>
              <a:t>country something ethical for us may not be ethical for others, their personal strong beliefs  values and the culture where they belong, have important role in decision making.</a:t>
            </a:r>
            <a:endParaRPr lang="en-US" sz="11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Escalation of Commitment Defined</a:t>
            </a:r>
          </a:p>
          <a:p>
            <a:r>
              <a:rPr lang="en-US" sz="1200" b="0" i="0" kern="1200" dirty="0">
                <a:solidFill>
                  <a:schemeClr val="tx1"/>
                </a:solidFill>
                <a:effectLst/>
                <a:latin typeface="+mn-lt"/>
                <a:ea typeface="+mn-ea"/>
                <a:cs typeface="+mn-cs"/>
              </a:rPr>
              <a:t>In 1966 a project to build a nuclear power plant in Long Island, New York began. It was anticipated it would cost $75 million and be able to generate power for the growing city by 1973. No one anticipated the pushback from local citizens, and because of that resistance the project wasn't completed until 1986 at a cost of more than $6 billion. In the end, the plant never opened.</a:t>
            </a:r>
          </a:p>
          <a:p>
            <a:r>
              <a:rPr lang="en-US" sz="1200" b="0" i="0" kern="1200" dirty="0">
                <a:solidFill>
                  <a:schemeClr val="tx1"/>
                </a:solidFill>
                <a:effectLst/>
                <a:latin typeface="+mn-lt"/>
                <a:ea typeface="+mn-ea"/>
                <a:cs typeface="+mn-cs"/>
              </a:rPr>
              <a:t>Why was management at the Long Island Lighting Company so willing to stick to their project even as the cost skyrocketed and the completion date was pushed back by more than two decades? The answer is escalation of commitment.</a:t>
            </a:r>
          </a:p>
          <a:p>
            <a:endParaRPr lang="en-US" dirty="0"/>
          </a:p>
          <a:p>
            <a:r>
              <a:rPr lang="en-US" sz="1200" b="1" i="0" kern="1200" dirty="0">
                <a:solidFill>
                  <a:schemeClr val="tx1"/>
                </a:solidFill>
                <a:effectLst/>
                <a:latin typeface="+mn-lt"/>
                <a:ea typeface="+mn-ea"/>
                <a:cs typeface="+mn-cs"/>
              </a:rPr>
              <a:t>Escalation of commitment</a:t>
            </a:r>
            <a:r>
              <a:rPr lang="en-US" sz="1200" b="0" i="0" kern="1200" dirty="0">
                <a:solidFill>
                  <a:schemeClr val="tx1"/>
                </a:solidFill>
                <a:effectLst/>
                <a:latin typeface="+mn-lt"/>
                <a:ea typeface="+mn-ea"/>
                <a:cs typeface="+mn-cs"/>
              </a:rPr>
              <a:t> happens when someone continues to dedicate resources, including time and money, to a failing course of action. Like management at the Long Island Lighting Company, it is sometimes easy to feel that if we give up on a course of action, then we lose the money and time already committed to that decision.</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27</a:t>
            </a:fld>
            <a:endParaRPr lang="en-US"/>
          </a:p>
        </p:txBody>
      </p:sp>
    </p:spTree>
    <p:extLst>
      <p:ext uri="{BB962C8B-B14F-4D97-AF65-F5344CB8AC3E}">
        <p14:creationId xmlns:p14="http://schemas.microsoft.com/office/powerpoint/2010/main" val="2037674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A8BD64B9-FE40-4331-869C-D321AAF266F2}" type="slidenum">
              <a:rPr lang="en-US" sz="1300" b="0">
                <a:latin typeface="Times New Roman" charset="0"/>
              </a:rPr>
              <a:pPr eaLnBrk="1" hangingPunct="1"/>
              <a:t>29</a:t>
            </a:fld>
            <a:endParaRPr lang="en-US" sz="1300" b="0">
              <a:latin typeface="Times New Roman"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watch?v=wEwGBIr_RIw"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6</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rmAutofit fontScale="90000"/>
          </a:bodyPr>
          <a:lstStyle/>
          <a:p>
            <a:pPr marL="342900" indent="-342900">
              <a:spcBef>
                <a:spcPct val="20000"/>
              </a:spcBef>
            </a:pPr>
            <a:r>
              <a:rPr lang="en-US" b="1" dirty="0">
                <a:solidFill>
                  <a:schemeClr val="tx1"/>
                </a:solidFill>
              </a:rPr>
              <a:t>Perception and Individual Decision Making</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09600" y="194310"/>
            <a:ext cx="8153400" cy="1005840"/>
          </a:xfrm>
          <a:noFill/>
          <a:ln/>
        </p:spPr>
        <p:txBody>
          <a:bodyPr>
            <a:noAutofit/>
          </a:bodyPr>
          <a:lstStyle/>
          <a:p>
            <a:r>
              <a:rPr lang="en-US" sz="4000" dirty="0">
                <a:solidFill>
                  <a:schemeClr val="tx1"/>
                </a:solidFill>
              </a:rPr>
              <a:t>COUNT THE NUMBER OF </a:t>
            </a:r>
            <a:r>
              <a:rPr lang="en-US" sz="4000" u="sng" dirty="0">
                <a:solidFill>
                  <a:schemeClr val="tx1"/>
                </a:solidFill>
              </a:rPr>
              <a:t>F'S</a:t>
            </a:r>
            <a:r>
              <a:rPr lang="en-US" sz="4000" dirty="0">
                <a:solidFill>
                  <a:schemeClr val="tx1"/>
                </a:solidFill>
              </a:rPr>
              <a:t> IN THE BOX</a:t>
            </a:r>
          </a:p>
        </p:txBody>
      </p:sp>
      <p:sp>
        <p:nvSpPr>
          <p:cNvPr id="4099" name="Rectangle 3"/>
          <p:cNvSpPr>
            <a:spLocks noGrp="1" noChangeArrowheads="1"/>
          </p:cNvSpPr>
          <p:nvPr>
            <p:ph type="body" idx="4294967295"/>
          </p:nvPr>
        </p:nvSpPr>
        <p:spPr>
          <a:xfrm>
            <a:off x="152400" y="1504950"/>
            <a:ext cx="5486400" cy="1981200"/>
          </a:xfrm>
          <a:solidFill>
            <a:schemeClr val="tx1"/>
          </a:solidFill>
          <a:ln/>
        </p:spPr>
        <p:txBody>
          <a:bodyPr/>
          <a:lstStyle/>
          <a:p>
            <a:pPr marL="0" indent="0" algn="ctr">
              <a:buNone/>
            </a:pPr>
            <a:r>
              <a:rPr lang="en-US" b="1" dirty="0">
                <a:solidFill>
                  <a:schemeClr val="bg1"/>
                </a:solidFill>
              </a:rPr>
              <a:t>FINISHED FILES ARE RESULT OF YEARS OF SCIENTIFIC STUDY COMBINED WITH THE EXPERIENCE OF MANY YEARS</a:t>
            </a:r>
          </a:p>
        </p:txBody>
      </p:sp>
      <p:sp>
        <p:nvSpPr>
          <p:cNvPr id="2" name="AutoShape 2" descr="Image result for percep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e result for percepti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7636" y="1352550"/>
            <a:ext cx="3366364" cy="3790950"/>
          </a:xfrm>
          <a:prstGeom prst="rect">
            <a:avLst/>
          </a:prstGeom>
        </p:spPr>
      </p:pic>
    </p:spTree>
    <p:extLst>
      <p:ext uri="{BB962C8B-B14F-4D97-AF65-F5344CB8AC3E}">
        <p14:creationId xmlns:p14="http://schemas.microsoft.com/office/powerpoint/2010/main" val="2369759704"/>
      </p:ext>
    </p:extLst>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SLIDE11"/>
          <p:cNvPicPr>
            <a:picLocks noChangeAspect="1" noChangeArrowheads="1"/>
          </p:cNvPicPr>
          <p:nvPr/>
        </p:nvPicPr>
        <p:blipFill rotWithShape="1">
          <a:blip r:embed="rId3">
            <a:extLst>
              <a:ext uri="{28A0092B-C50C-407E-A947-70E740481C1C}">
                <a14:useLocalDpi xmlns:a14="http://schemas.microsoft.com/office/drawing/2010/main" val="0"/>
              </a:ext>
            </a:extLst>
          </a:blip>
          <a:srcRect l="14574" t="4896" r="13474" b="10546"/>
          <a:stretch/>
        </p:blipFill>
        <p:spPr bwMode="auto">
          <a:xfrm>
            <a:off x="609600" y="394199"/>
            <a:ext cx="7098041" cy="469215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106618665"/>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SLIDE12"/>
          <p:cNvPicPr>
            <a:picLocks noChangeAspect="1" noChangeArrowheads="1"/>
          </p:cNvPicPr>
          <p:nvPr/>
        </p:nvPicPr>
        <p:blipFill rotWithShape="1">
          <a:blip r:embed="rId3">
            <a:extLst>
              <a:ext uri="{28A0092B-C50C-407E-A947-70E740481C1C}">
                <a14:useLocalDpi xmlns:a14="http://schemas.microsoft.com/office/drawing/2010/main" val="0"/>
              </a:ext>
            </a:extLst>
          </a:blip>
          <a:srcRect b="9650"/>
          <a:stretch/>
        </p:blipFill>
        <p:spPr bwMode="auto">
          <a:xfrm>
            <a:off x="580293" y="1123951"/>
            <a:ext cx="7315200"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877615597"/>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09550"/>
            <a:ext cx="8153400" cy="1005840"/>
          </a:xfrm>
        </p:spPr>
        <p:txBody>
          <a:bodyPr>
            <a:normAutofit/>
          </a:bodyPr>
          <a:lstStyle/>
          <a:p>
            <a:r>
              <a:rPr lang="en-US" sz="4400" dirty="0"/>
              <a:t>What Is </a:t>
            </a:r>
            <a:r>
              <a:rPr lang="en-US" sz="4400" b="1" dirty="0"/>
              <a:t>Perception</a:t>
            </a:r>
            <a:r>
              <a:rPr lang="en-US" sz="4400" dirty="0"/>
              <a:t>?</a:t>
            </a:r>
            <a:endParaRPr lang="en-US" dirty="0"/>
          </a:p>
        </p:txBody>
      </p:sp>
      <p:sp>
        <p:nvSpPr>
          <p:cNvPr id="3" name="Content Placeholder 2"/>
          <p:cNvSpPr>
            <a:spLocks noGrp="1"/>
          </p:cNvSpPr>
          <p:nvPr>
            <p:ph sz="quarter" idx="13"/>
          </p:nvPr>
        </p:nvSpPr>
        <p:spPr>
          <a:xfrm>
            <a:off x="609600" y="1352551"/>
            <a:ext cx="4495800" cy="3268624"/>
          </a:xfrm>
        </p:spPr>
        <p:txBody>
          <a:bodyPr>
            <a:normAutofit fontScale="92500" lnSpcReduction="20000"/>
          </a:bodyPr>
          <a:lstStyle/>
          <a:p>
            <a:pPr>
              <a:spcBef>
                <a:spcPct val="50000"/>
              </a:spcBef>
            </a:pPr>
            <a:r>
              <a:rPr lang="en-US" sz="2000" b="1" dirty="0"/>
              <a:t>Perception</a:t>
            </a:r>
          </a:p>
          <a:p>
            <a:pPr marL="0" indent="0">
              <a:spcBef>
                <a:spcPct val="50000"/>
              </a:spcBef>
              <a:buNone/>
            </a:pPr>
            <a:r>
              <a:rPr lang="en-US" sz="2000" dirty="0"/>
              <a:t>A process by which individuals organize and interpret their sensory impressions in order to give meaning to their environment.</a:t>
            </a:r>
          </a:p>
          <a:p>
            <a:pPr marL="0" indent="0">
              <a:spcBef>
                <a:spcPct val="50000"/>
              </a:spcBef>
              <a:buNone/>
            </a:pPr>
            <a:r>
              <a:rPr lang="en-US" sz="2000" dirty="0"/>
              <a:t>OR</a:t>
            </a:r>
          </a:p>
          <a:p>
            <a:pPr marL="0" indent="0">
              <a:spcBef>
                <a:spcPct val="50000"/>
              </a:spcBef>
              <a:buNone/>
            </a:pPr>
            <a:r>
              <a:rPr lang="en-US" altLang="en-US" sz="2000" dirty="0"/>
              <a:t>The process of integrating, organizing, and interpreting sensory information.</a:t>
            </a:r>
            <a:endParaRPr lang="en-US" sz="2000" dirty="0"/>
          </a:p>
          <a:p>
            <a:pPr marL="0" indent="0">
              <a:spcBef>
                <a:spcPct val="50000"/>
              </a:spcBef>
              <a:buNone/>
            </a:pPr>
            <a:endParaRPr lang="en-US" sz="2000" dirty="0"/>
          </a:p>
          <a:p>
            <a:pPr marL="0" indent="0">
              <a:spcBef>
                <a:spcPct val="50000"/>
              </a:spcBef>
              <a:buNone/>
            </a:pPr>
            <a:r>
              <a:rPr lang="en-US" sz="2000" i="1" dirty="0">
                <a:solidFill>
                  <a:srgbClr val="CC6600"/>
                </a:solidFill>
                <a:effectLst>
                  <a:outerShdw blurRad="38100" dist="38100" dir="2700000" algn="tl">
                    <a:srgbClr val="C0C0C0"/>
                  </a:outerShdw>
                </a:effectLst>
              </a:rPr>
              <a:t>People’s behavior is based on their perception of what reality is, not on reality itself.</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5</a:t>
            </a:fld>
            <a:endParaRPr lang="en-US"/>
          </a:p>
        </p:txBody>
      </p:sp>
      <p:pic>
        <p:nvPicPr>
          <p:cNvPr id="1026" name="Picture 2" descr="Image result"/>
          <p:cNvPicPr>
            <a:picLocks noChangeAspect="1" noChangeArrowheads="1"/>
          </p:cNvPicPr>
          <p:nvPr/>
        </p:nvPicPr>
        <p:blipFill rotWithShape="1">
          <a:blip r:embed="rId3">
            <a:extLst>
              <a:ext uri="{28A0092B-C50C-407E-A947-70E740481C1C}">
                <a14:useLocalDpi xmlns:a14="http://schemas.microsoft.com/office/drawing/2010/main" val="0"/>
              </a:ext>
            </a:extLst>
          </a:blip>
          <a:srcRect l="7688" t="11214" r="6519" b="7654"/>
          <a:stretch/>
        </p:blipFill>
        <p:spPr bwMode="auto">
          <a:xfrm>
            <a:off x="6631410" y="3105150"/>
            <a:ext cx="2448915" cy="19960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Percep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4117" y="1276350"/>
            <a:ext cx="2100346" cy="17687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lated image"/>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7914" t="3186" r="8251" b="3774"/>
          <a:stretch/>
        </p:blipFill>
        <p:spPr bwMode="auto">
          <a:xfrm>
            <a:off x="5105400" y="1312884"/>
            <a:ext cx="1752261" cy="1944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286642"/>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09550"/>
            <a:ext cx="8153400" cy="1005840"/>
          </a:xfrm>
        </p:spPr>
        <p:txBody>
          <a:bodyPr>
            <a:normAutofit/>
          </a:bodyPr>
          <a:lstStyle/>
          <a:p>
            <a:r>
              <a:rPr lang="en-US" sz="4000" dirty="0"/>
              <a:t>Importance of Perception</a:t>
            </a:r>
          </a:p>
        </p:txBody>
      </p:sp>
      <p:sp>
        <p:nvSpPr>
          <p:cNvPr id="3" name="Content Placeholder 2"/>
          <p:cNvSpPr>
            <a:spLocks noGrp="1"/>
          </p:cNvSpPr>
          <p:nvPr>
            <p:ph sz="quarter" idx="13"/>
          </p:nvPr>
        </p:nvSpPr>
        <p:spPr>
          <a:xfrm>
            <a:off x="609599" y="1352551"/>
            <a:ext cx="6400801" cy="3268624"/>
          </a:xfrm>
        </p:spPr>
        <p:txBody>
          <a:bodyPr>
            <a:normAutofit/>
          </a:bodyPr>
          <a:lstStyle/>
          <a:p>
            <a:pPr>
              <a:spcBef>
                <a:spcPct val="50000"/>
              </a:spcBef>
            </a:pPr>
            <a:r>
              <a:rPr lang="en-US" sz="2000" dirty="0"/>
              <a:t>Perception is important in understanding variations in individual behavior.</a:t>
            </a:r>
          </a:p>
          <a:p>
            <a:pPr>
              <a:spcBef>
                <a:spcPct val="50000"/>
              </a:spcBef>
            </a:pPr>
            <a:r>
              <a:rPr lang="en-US" sz="2000" dirty="0"/>
              <a:t>Every individual perceives the environment differently and therefore, understanding the perception help us find out why every individual behaves in a particular manner.</a:t>
            </a:r>
          </a:p>
          <a:p>
            <a:pPr>
              <a:spcBef>
                <a:spcPct val="50000"/>
              </a:spcBef>
            </a:pPr>
            <a:r>
              <a:rPr lang="en-US" sz="2000" dirty="0"/>
              <a:t>This is one of the major reason why one individual finds one job interesting and satisfying while another finds the same job boring and dissatisfying.</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6</a:t>
            </a:fld>
            <a:endParaRPr lang="en-US"/>
          </a:p>
        </p:txBody>
      </p:sp>
      <p:pic>
        <p:nvPicPr>
          <p:cNvPr id="1026" name="Picture 2" descr="Image result"/>
          <p:cNvPicPr>
            <a:picLocks noChangeAspect="1" noChangeArrowheads="1"/>
          </p:cNvPicPr>
          <p:nvPr/>
        </p:nvPicPr>
        <p:blipFill rotWithShape="1">
          <a:blip r:embed="rId3">
            <a:extLst>
              <a:ext uri="{28A0092B-C50C-407E-A947-70E740481C1C}">
                <a14:useLocalDpi xmlns:a14="http://schemas.microsoft.com/office/drawing/2010/main" val="0"/>
              </a:ext>
            </a:extLst>
          </a:blip>
          <a:srcRect l="7688" t="11214" r="6519" b="7654"/>
          <a:stretch/>
        </p:blipFill>
        <p:spPr bwMode="auto">
          <a:xfrm>
            <a:off x="6631410" y="3105150"/>
            <a:ext cx="2448915" cy="1996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958458"/>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dirty="0">
                <a:solidFill>
                  <a:schemeClr val="tx1"/>
                </a:solidFill>
              </a:rPr>
              <a:t>How do we take in information?</a:t>
            </a:r>
          </a:p>
        </p:txBody>
      </p:sp>
      <p:grpSp>
        <p:nvGrpSpPr>
          <p:cNvPr id="17410" name="Group 2"/>
          <p:cNvGrpSpPr>
            <a:grpSpLocks/>
          </p:cNvGrpSpPr>
          <p:nvPr/>
        </p:nvGrpSpPr>
        <p:grpSpPr bwMode="auto">
          <a:xfrm>
            <a:off x="228600" y="1921669"/>
            <a:ext cx="8686800" cy="3028950"/>
            <a:chOff x="228600" y="1676400"/>
            <a:chExt cx="8686800" cy="4038600"/>
          </a:xfrm>
        </p:grpSpPr>
        <p:sp>
          <p:nvSpPr>
            <p:cNvPr id="4" name="Rounded Rectangle 3"/>
            <p:cNvSpPr>
              <a:spLocks noChangeArrowheads="1"/>
            </p:cNvSpPr>
            <p:nvPr/>
          </p:nvSpPr>
          <p:spPr bwMode="auto">
            <a:xfrm>
              <a:off x="1295400" y="1676400"/>
              <a:ext cx="1981200" cy="533400"/>
            </a:xfrm>
            <a:prstGeom prst="roundRect">
              <a:avLst>
                <a:gd name="adj" fmla="val 16667"/>
              </a:avLst>
            </a:prstGeom>
            <a:solidFill>
              <a:schemeClr val="accent1"/>
            </a:solidFill>
            <a:ln w="38100">
              <a:solidFill>
                <a:schemeClr val="bg1"/>
              </a:solidFill>
              <a:round/>
              <a:headEnd/>
              <a:tailEnd/>
            </a:ln>
            <a:effectLst>
              <a:outerShdw blurRad="40000" dist="20000" dir="5400000" rotWithShape="0">
                <a:srgbClr val="808080">
                  <a:alpha val="37999"/>
                </a:srgbClr>
              </a:outerShdw>
            </a:effectLst>
          </p:spPr>
          <p:txBody>
            <a:bodyPr anchor="ctr"/>
            <a:lstStyle/>
            <a:p>
              <a:pPr algn="ctr" fontAlgn="auto">
                <a:spcBef>
                  <a:spcPts val="0"/>
                </a:spcBef>
                <a:spcAft>
                  <a:spcPts val="0"/>
                </a:spcAft>
                <a:defRPr/>
              </a:pPr>
              <a:r>
                <a:rPr lang="en-US" dirty="0">
                  <a:latin typeface="+mn-lt"/>
                  <a:ea typeface="+mn-ea"/>
                </a:rPr>
                <a:t>Exposure</a:t>
              </a:r>
            </a:p>
          </p:txBody>
        </p:sp>
        <p:sp>
          <p:nvSpPr>
            <p:cNvPr id="5" name="Rounded Rectangle 4"/>
            <p:cNvSpPr>
              <a:spLocks noChangeArrowheads="1"/>
            </p:cNvSpPr>
            <p:nvPr/>
          </p:nvSpPr>
          <p:spPr bwMode="auto">
            <a:xfrm>
              <a:off x="228600" y="2438400"/>
              <a:ext cx="1828800" cy="609600"/>
            </a:xfrm>
            <a:prstGeom prst="roundRect">
              <a:avLst>
                <a:gd name="adj" fmla="val 16667"/>
              </a:avLst>
            </a:prstGeom>
            <a:solidFill>
              <a:srgbClr val="F79646"/>
            </a:solidFill>
            <a:ln w="38100">
              <a:solidFill>
                <a:schemeClr val="bg1"/>
              </a:solidFill>
              <a:round/>
              <a:headEnd/>
              <a:tailEnd/>
            </a:ln>
            <a:effectLst>
              <a:outerShdw blurRad="40000" dist="20000" dir="5400000" rotWithShape="0">
                <a:srgbClr val="808080">
                  <a:alpha val="37999"/>
                </a:srgbClr>
              </a:outerShdw>
            </a:effectLst>
          </p:spPr>
          <p:txBody>
            <a:bodyPr anchor="ctr"/>
            <a:lstStyle/>
            <a:p>
              <a:pPr algn="ctr" fontAlgn="auto">
                <a:spcBef>
                  <a:spcPts val="0"/>
                </a:spcBef>
                <a:spcAft>
                  <a:spcPts val="0"/>
                </a:spcAft>
                <a:defRPr/>
              </a:pPr>
              <a:r>
                <a:rPr lang="en-US" dirty="0">
                  <a:latin typeface="+mn-lt"/>
                  <a:ea typeface="+mn-ea"/>
                </a:rPr>
                <a:t>External Stimuli</a:t>
              </a:r>
            </a:p>
          </p:txBody>
        </p:sp>
        <p:sp>
          <p:nvSpPr>
            <p:cNvPr id="6" name="Rounded Rectangle 5"/>
            <p:cNvSpPr>
              <a:spLocks noChangeArrowheads="1"/>
            </p:cNvSpPr>
            <p:nvPr/>
          </p:nvSpPr>
          <p:spPr bwMode="auto">
            <a:xfrm>
              <a:off x="228600" y="32004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Sights</a:t>
              </a:r>
            </a:p>
          </p:txBody>
        </p:sp>
        <p:sp>
          <p:nvSpPr>
            <p:cNvPr id="7" name="Rounded Rectangle 6"/>
            <p:cNvSpPr>
              <a:spLocks noChangeArrowheads="1"/>
            </p:cNvSpPr>
            <p:nvPr/>
          </p:nvSpPr>
          <p:spPr bwMode="auto">
            <a:xfrm>
              <a:off x="228600" y="37338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Sounds</a:t>
              </a:r>
            </a:p>
          </p:txBody>
        </p:sp>
        <p:sp>
          <p:nvSpPr>
            <p:cNvPr id="8" name="Rounded Rectangle 7"/>
            <p:cNvSpPr>
              <a:spLocks noChangeArrowheads="1"/>
            </p:cNvSpPr>
            <p:nvPr/>
          </p:nvSpPr>
          <p:spPr bwMode="auto">
            <a:xfrm>
              <a:off x="228600" y="42672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Smells</a:t>
              </a:r>
            </a:p>
          </p:txBody>
        </p:sp>
        <p:sp>
          <p:nvSpPr>
            <p:cNvPr id="9" name="Rounded Rectangle 8"/>
            <p:cNvSpPr>
              <a:spLocks noChangeArrowheads="1"/>
            </p:cNvSpPr>
            <p:nvPr/>
          </p:nvSpPr>
          <p:spPr bwMode="auto">
            <a:xfrm>
              <a:off x="228600" y="48006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Tastes</a:t>
              </a:r>
            </a:p>
          </p:txBody>
        </p:sp>
        <p:sp>
          <p:nvSpPr>
            <p:cNvPr id="10" name="Rounded Rectangle 9"/>
            <p:cNvSpPr>
              <a:spLocks noChangeArrowheads="1"/>
            </p:cNvSpPr>
            <p:nvPr/>
          </p:nvSpPr>
          <p:spPr bwMode="auto">
            <a:xfrm>
              <a:off x="228600" y="53340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sz="1600" dirty="0">
                  <a:latin typeface="+mn-lt"/>
                  <a:ea typeface="+mn-ea"/>
                </a:rPr>
                <a:t>Touch/Movement</a:t>
              </a:r>
            </a:p>
          </p:txBody>
        </p:sp>
        <p:sp>
          <p:nvSpPr>
            <p:cNvPr id="11" name="Rounded Rectangle 10"/>
            <p:cNvSpPr>
              <a:spLocks noChangeArrowheads="1"/>
            </p:cNvSpPr>
            <p:nvPr/>
          </p:nvSpPr>
          <p:spPr bwMode="auto">
            <a:xfrm>
              <a:off x="2514600" y="53340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sz="1400" dirty="0">
                  <a:latin typeface="+mn-lt"/>
                  <a:ea typeface="+mn-ea"/>
                </a:rPr>
                <a:t>Heat, pressure, &amp; motor receptors</a:t>
              </a:r>
            </a:p>
          </p:txBody>
        </p:sp>
        <p:sp>
          <p:nvSpPr>
            <p:cNvPr id="12" name="Rounded Rectangle 11"/>
            <p:cNvSpPr>
              <a:spLocks noChangeArrowheads="1"/>
            </p:cNvSpPr>
            <p:nvPr/>
          </p:nvSpPr>
          <p:spPr bwMode="auto">
            <a:xfrm>
              <a:off x="2514600" y="48006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Tongue</a:t>
              </a:r>
            </a:p>
          </p:txBody>
        </p:sp>
        <p:sp>
          <p:nvSpPr>
            <p:cNvPr id="13" name="Rounded Rectangle 12"/>
            <p:cNvSpPr>
              <a:spLocks noChangeArrowheads="1"/>
            </p:cNvSpPr>
            <p:nvPr/>
          </p:nvSpPr>
          <p:spPr bwMode="auto">
            <a:xfrm>
              <a:off x="2514600" y="42672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Nose</a:t>
              </a:r>
            </a:p>
          </p:txBody>
        </p:sp>
        <p:sp>
          <p:nvSpPr>
            <p:cNvPr id="14" name="Rounded Rectangle 13"/>
            <p:cNvSpPr>
              <a:spLocks noChangeArrowheads="1"/>
            </p:cNvSpPr>
            <p:nvPr/>
          </p:nvSpPr>
          <p:spPr bwMode="auto">
            <a:xfrm>
              <a:off x="2514600" y="37338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Ears</a:t>
              </a:r>
            </a:p>
          </p:txBody>
        </p:sp>
        <p:sp>
          <p:nvSpPr>
            <p:cNvPr id="15" name="Rounded Rectangle 14"/>
            <p:cNvSpPr>
              <a:spLocks noChangeArrowheads="1"/>
            </p:cNvSpPr>
            <p:nvPr/>
          </p:nvSpPr>
          <p:spPr bwMode="auto">
            <a:xfrm>
              <a:off x="2514600" y="3200400"/>
              <a:ext cx="1828800" cy="381000"/>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blurRad="40000" dist="23000" dir="5400000" rotWithShape="0">
                <a:srgbClr val="808080">
                  <a:alpha val="34999"/>
                </a:srgbClr>
              </a:outerShdw>
            </a:effectLst>
          </p:spPr>
          <p:txBody>
            <a:bodyPr anchor="ctr"/>
            <a:lstStyle/>
            <a:p>
              <a:pPr algn="ctr" fontAlgn="auto">
                <a:spcBef>
                  <a:spcPts val="0"/>
                </a:spcBef>
                <a:spcAft>
                  <a:spcPts val="0"/>
                </a:spcAft>
                <a:defRPr/>
              </a:pPr>
              <a:r>
                <a:rPr lang="en-US" dirty="0">
                  <a:latin typeface="+mn-lt"/>
                  <a:ea typeface="+mn-ea"/>
                </a:rPr>
                <a:t>Eyes</a:t>
              </a:r>
            </a:p>
          </p:txBody>
        </p:sp>
        <p:sp>
          <p:nvSpPr>
            <p:cNvPr id="16" name="Rounded Rectangle 15"/>
            <p:cNvSpPr>
              <a:spLocks noChangeArrowheads="1"/>
            </p:cNvSpPr>
            <p:nvPr/>
          </p:nvSpPr>
          <p:spPr bwMode="auto">
            <a:xfrm>
              <a:off x="2514600" y="2438400"/>
              <a:ext cx="1828800" cy="609600"/>
            </a:xfrm>
            <a:prstGeom prst="roundRect">
              <a:avLst>
                <a:gd name="adj" fmla="val 16667"/>
              </a:avLst>
            </a:prstGeom>
            <a:solidFill>
              <a:srgbClr val="F79646"/>
            </a:solidFill>
            <a:ln w="38100">
              <a:solidFill>
                <a:schemeClr val="bg1"/>
              </a:solidFill>
              <a:round/>
              <a:headEnd/>
              <a:tailEnd/>
            </a:ln>
            <a:effectLst>
              <a:outerShdw blurRad="40000" dist="20000" dir="5400000" rotWithShape="0">
                <a:srgbClr val="808080">
                  <a:alpha val="37999"/>
                </a:srgbClr>
              </a:outerShdw>
            </a:effectLst>
          </p:spPr>
          <p:txBody>
            <a:bodyPr anchor="ctr"/>
            <a:lstStyle/>
            <a:p>
              <a:pPr algn="ctr" fontAlgn="auto">
                <a:spcBef>
                  <a:spcPts val="0"/>
                </a:spcBef>
                <a:spcAft>
                  <a:spcPts val="0"/>
                </a:spcAft>
                <a:defRPr/>
              </a:pPr>
              <a:r>
                <a:rPr lang="en-US" dirty="0">
                  <a:latin typeface="+mn-lt"/>
                  <a:ea typeface="+mn-ea"/>
                </a:rPr>
                <a:t>Sensory Receptors</a:t>
              </a:r>
            </a:p>
          </p:txBody>
        </p:sp>
        <p:sp>
          <p:nvSpPr>
            <p:cNvPr id="17" name="Rounded Rectangle 16"/>
            <p:cNvSpPr>
              <a:spLocks noChangeArrowheads="1"/>
            </p:cNvSpPr>
            <p:nvPr/>
          </p:nvSpPr>
          <p:spPr bwMode="auto">
            <a:xfrm>
              <a:off x="4876800" y="3962400"/>
              <a:ext cx="1828800" cy="381000"/>
            </a:xfrm>
            <a:prstGeom prst="roundRect">
              <a:avLst>
                <a:gd name="adj" fmla="val 16667"/>
              </a:avLst>
            </a:prstGeom>
            <a:solidFill>
              <a:schemeClr val="accent1"/>
            </a:solidFill>
            <a:ln w="38100">
              <a:solidFill>
                <a:schemeClr val="bg1"/>
              </a:solidFill>
              <a:round/>
              <a:headEnd/>
              <a:tailEnd/>
            </a:ln>
            <a:effectLst>
              <a:outerShdw blurRad="40000" dist="20000" dir="5400000" rotWithShape="0">
                <a:srgbClr val="808080">
                  <a:alpha val="37999"/>
                </a:srgbClr>
              </a:outerShdw>
            </a:effectLst>
          </p:spPr>
          <p:txBody>
            <a:bodyPr anchor="ctr"/>
            <a:lstStyle/>
            <a:p>
              <a:pPr algn="ctr" fontAlgn="auto">
                <a:spcBef>
                  <a:spcPts val="0"/>
                </a:spcBef>
                <a:spcAft>
                  <a:spcPts val="0"/>
                </a:spcAft>
                <a:defRPr/>
              </a:pPr>
              <a:r>
                <a:rPr lang="en-US" dirty="0">
                  <a:latin typeface="+mn-lt"/>
                  <a:ea typeface="+mn-ea"/>
                </a:rPr>
                <a:t>Attention</a:t>
              </a:r>
            </a:p>
          </p:txBody>
        </p:sp>
        <p:sp>
          <p:nvSpPr>
            <p:cNvPr id="18" name="Rounded Rectangle 17"/>
            <p:cNvSpPr>
              <a:spLocks noChangeArrowheads="1"/>
            </p:cNvSpPr>
            <p:nvPr/>
          </p:nvSpPr>
          <p:spPr bwMode="auto">
            <a:xfrm>
              <a:off x="7086600" y="2971800"/>
              <a:ext cx="1828800" cy="381000"/>
            </a:xfrm>
            <a:prstGeom prst="roundRect">
              <a:avLst>
                <a:gd name="adj" fmla="val 16667"/>
              </a:avLst>
            </a:prstGeom>
            <a:solidFill>
              <a:schemeClr val="accent1"/>
            </a:solidFill>
            <a:ln w="38100">
              <a:solidFill>
                <a:schemeClr val="bg1"/>
              </a:solidFill>
              <a:round/>
              <a:headEnd/>
              <a:tailEnd/>
            </a:ln>
            <a:effectLst>
              <a:outerShdw blurRad="40000" dist="20000" dir="5400000" rotWithShape="0">
                <a:srgbClr val="808080">
                  <a:alpha val="37999"/>
                </a:srgbClr>
              </a:outerShdw>
            </a:effectLst>
          </p:spPr>
          <p:txBody>
            <a:bodyPr anchor="ctr"/>
            <a:lstStyle/>
            <a:p>
              <a:pPr algn="ctr" fontAlgn="auto">
                <a:spcBef>
                  <a:spcPts val="0"/>
                </a:spcBef>
                <a:spcAft>
                  <a:spcPts val="0"/>
                </a:spcAft>
                <a:defRPr/>
              </a:pPr>
              <a:r>
                <a:rPr lang="en-US" dirty="0">
                  <a:latin typeface="+mn-lt"/>
                  <a:ea typeface="+mn-ea"/>
                </a:rPr>
                <a:t>Perception</a:t>
              </a:r>
            </a:p>
          </p:txBody>
        </p:sp>
        <p:cxnSp>
          <p:nvCxnSpPr>
            <p:cNvPr id="22" name="Straight Arrow Connector 21"/>
            <p:cNvCxnSpPr>
              <a:cxnSpLocks noChangeShapeType="1"/>
              <a:stCxn id="6" idx="3"/>
              <a:endCxn id="15" idx="1"/>
            </p:cNvCxnSpPr>
            <p:nvPr/>
          </p:nvCxnSpPr>
          <p:spPr bwMode="auto">
            <a:xfrm>
              <a:off x="2057400" y="3390900"/>
              <a:ext cx="457200" cy="1588"/>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6" name="Straight Arrow Connector 25"/>
            <p:cNvCxnSpPr>
              <a:cxnSpLocks noChangeShapeType="1"/>
              <a:stCxn id="7" idx="3"/>
              <a:endCxn id="14" idx="1"/>
            </p:cNvCxnSpPr>
            <p:nvPr/>
          </p:nvCxnSpPr>
          <p:spPr bwMode="auto">
            <a:xfrm>
              <a:off x="2057400" y="3924300"/>
              <a:ext cx="457200" cy="1588"/>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9" name="Straight Arrow Connector 28"/>
            <p:cNvCxnSpPr>
              <a:cxnSpLocks noChangeShapeType="1"/>
              <a:stCxn id="8" idx="3"/>
              <a:endCxn id="13" idx="1"/>
            </p:cNvCxnSpPr>
            <p:nvPr/>
          </p:nvCxnSpPr>
          <p:spPr bwMode="auto">
            <a:xfrm>
              <a:off x="2057400" y="4457700"/>
              <a:ext cx="457200" cy="1588"/>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2" name="Straight Arrow Connector 31"/>
            <p:cNvCxnSpPr>
              <a:cxnSpLocks noChangeShapeType="1"/>
              <a:stCxn id="9" idx="3"/>
              <a:endCxn id="12" idx="1"/>
            </p:cNvCxnSpPr>
            <p:nvPr/>
          </p:nvCxnSpPr>
          <p:spPr bwMode="auto">
            <a:xfrm>
              <a:off x="2057400" y="4991100"/>
              <a:ext cx="457200" cy="1588"/>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6" name="Straight Arrow Connector 35"/>
            <p:cNvCxnSpPr>
              <a:cxnSpLocks noChangeShapeType="1"/>
              <a:stCxn id="10" idx="3"/>
              <a:endCxn id="11" idx="1"/>
            </p:cNvCxnSpPr>
            <p:nvPr/>
          </p:nvCxnSpPr>
          <p:spPr bwMode="auto">
            <a:xfrm>
              <a:off x="2057400" y="5524500"/>
              <a:ext cx="457200" cy="1588"/>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9" name="Straight Arrow Connector 38"/>
            <p:cNvCxnSpPr>
              <a:cxnSpLocks noChangeShapeType="1"/>
              <a:stCxn id="15" idx="3"/>
              <a:endCxn id="17" idx="1"/>
            </p:cNvCxnSpPr>
            <p:nvPr/>
          </p:nvCxnSpPr>
          <p:spPr bwMode="auto">
            <a:xfrm>
              <a:off x="4343400" y="3390900"/>
              <a:ext cx="533400" cy="7620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2" name="Straight Arrow Connector 41"/>
            <p:cNvCxnSpPr>
              <a:cxnSpLocks noChangeShapeType="1"/>
              <a:stCxn id="14" idx="3"/>
              <a:endCxn id="17" idx="1"/>
            </p:cNvCxnSpPr>
            <p:nvPr/>
          </p:nvCxnSpPr>
          <p:spPr bwMode="auto">
            <a:xfrm>
              <a:off x="4343400" y="3924300"/>
              <a:ext cx="533400" cy="2286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5" name="Straight Arrow Connector 44"/>
            <p:cNvCxnSpPr>
              <a:cxnSpLocks noChangeShapeType="1"/>
              <a:stCxn id="13" idx="3"/>
              <a:endCxn id="17" idx="1"/>
            </p:cNvCxnSpPr>
            <p:nvPr/>
          </p:nvCxnSpPr>
          <p:spPr bwMode="auto">
            <a:xfrm flipV="1">
              <a:off x="4343400" y="4152900"/>
              <a:ext cx="533400" cy="3048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8" name="Straight Arrow Connector 47"/>
            <p:cNvCxnSpPr>
              <a:cxnSpLocks noChangeShapeType="1"/>
              <a:stCxn id="12" idx="3"/>
              <a:endCxn id="17" idx="1"/>
            </p:cNvCxnSpPr>
            <p:nvPr/>
          </p:nvCxnSpPr>
          <p:spPr bwMode="auto">
            <a:xfrm flipV="1">
              <a:off x="4343400" y="4152900"/>
              <a:ext cx="533400" cy="8382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1" name="Straight Arrow Connector 50"/>
            <p:cNvCxnSpPr>
              <a:cxnSpLocks noChangeShapeType="1"/>
              <a:stCxn id="11" idx="3"/>
              <a:endCxn id="17" idx="1"/>
            </p:cNvCxnSpPr>
            <p:nvPr/>
          </p:nvCxnSpPr>
          <p:spPr bwMode="auto">
            <a:xfrm flipV="1">
              <a:off x="4343400" y="4152900"/>
              <a:ext cx="533400" cy="13716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4" name="Straight Arrow Connector 53"/>
            <p:cNvCxnSpPr>
              <a:cxnSpLocks noChangeShapeType="1"/>
              <a:stCxn id="17" idx="3"/>
              <a:endCxn id="18" idx="1"/>
            </p:cNvCxnSpPr>
            <p:nvPr/>
          </p:nvCxnSpPr>
          <p:spPr bwMode="auto">
            <a:xfrm flipV="1">
              <a:off x="6705600" y="3162300"/>
              <a:ext cx="381000" cy="9906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63" name="Straight Arrow Connector 62"/>
            <p:cNvCxnSpPr>
              <a:cxnSpLocks noChangeShapeType="1"/>
              <a:stCxn id="4" idx="2"/>
              <a:endCxn id="5" idx="0"/>
            </p:cNvCxnSpPr>
            <p:nvPr/>
          </p:nvCxnSpPr>
          <p:spPr bwMode="auto">
            <a:xfrm rot="5400000">
              <a:off x="1600200" y="1752600"/>
              <a:ext cx="228600" cy="11430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35" name="Content Placeholder 4"/>
          <p:cNvSpPr txBox="1">
            <a:spLocks/>
          </p:cNvSpPr>
          <p:nvPr/>
        </p:nvSpPr>
        <p:spPr>
          <a:xfrm>
            <a:off x="4419600" y="1352550"/>
            <a:ext cx="4648200" cy="2083594"/>
          </a:xfrm>
          <a:prstGeom prst="rect">
            <a:avLst/>
          </a:prstGeom>
        </p:spPr>
        <p:txBody>
          <a:bodyPr>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spcBef>
                <a:spcPts val="0"/>
              </a:spcBef>
              <a:buFont typeface="Wingdings"/>
              <a:buNone/>
            </a:pPr>
            <a:r>
              <a:rPr lang="en-US" sz="1600" b="1" dirty="0"/>
              <a:t>Perceptual Process:</a:t>
            </a:r>
          </a:p>
          <a:p>
            <a:pPr>
              <a:spcBef>
                <a:spcPts val="0"/>
              </a:spcBef>
            </a:pPr>
            <a:r>
              <a:rPr lang="en-US" sz="1600" dirty="0"/>
              <a:t>Perceptual process are the different stages of perception we go through. The different stages are:</a:t>
            </a:r>
          </a:p>
          <a:p>
            <a:pPr lvl="1">
              <a:spcBef>
                <a:spcPts val="0"/>
              </a:spcBef>
            </a:pPr>
            <a:r>
              <a:rPr lang="en-US" sz="1600" dirty="0"/>
              <a:t>Receiving</a:t>
            </a:r>
          </a:p>
          <a:p>
            <a:pPr lvl="1">
              <a:spcBef>
                <a:spcPts val="0"/>
              </a:spcBef>
            </a:pPr>
            <a:r>
              <a:rPr lang="en-US" sz="1600" dirty="0"/>
              <a:t>Selecting</a:t>
            </a:r>
          </a:p>
          <a:p>
            <a:pPr lvl="1">
              <a:spcBef>
                <a:spcPts val="0"/>
              </a:spcBef>
            </a:pPr>
            <a:r>
              <a:rPr lang="en-US" sz="1600" dirty="0"/>
              <a:t>Organizing</a:t>
            </a:r>
          </a:p>
          <a:p>
            <a:pPr lvl="1">
              <a:spcBef>
                <a:spcPts val="0"/>
              </a:spcBef>
            </a:pPr>
            <a:r>
              <a:rPr lang="en-US" sz="1600" dirty="0"/>
              <a:t>Interpreting</a:t>
            </a:r>
          </a:p>
        </p:txBody>
      </p:sp>
    </p:spTree>
    <p:extLst>
      <p:ext uri="{BB962C8B-B14F-4D97-AF65-F5344CB8AC3E}">
        <p14:creationId xmlns:p14="http://schemas.microsoft.com/office/powerpoint/2010/main" val="1664101709"/>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Factors That Influence Perception</a:t>
            </a:r>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8</a:t>
            </a:fld>
            <a:endParaRPr lang="en-US" dirty="0">
              <a:solidFill>
                <a:srgbClr val="FFFFFF"/>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741" y="1369149"/>
            <a:ext cx="4038601" cy="371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609600" y="1369149"/>
            <a:ext cx="4419600" cy="2492990"/>
          </a:xfrm>
          <a:prstGeom prst="rect">
            <a:avLst/>
          </a:prstGeom>
          <a:noFill/>
        </p:spPr>
        <p:txBody>
          <a:bodyPr wrap="square" rtlCol="0">
            <a:spAutoFit/>
          </a:bodyPr>
          <a:lstStyle/>
          <a:p>
            <a:pPr marL="285750" indent="-285750">
              <a:spcBef>
                <a:spcPts val="1800"/>
              </a:spcBef>
              <a:buFont typeface="Wingdings" pitchFamily="2" charset="2"/>
              <a:buChar char="q"/>
            </a:pPr>
            <a:r>
              <a:rPr lang="en-US" b="1" dirty="0"/>
              <a:t>Perceiver</a:t>
            </a:r>
            <a:r>
              <a:rPr lang="en-US" dirty="0"/>
              <a:t> (Your interpretation is influenced by your personal characteristics)</a:t>
            </a:r>
          </a:p>
          <a:p>
            <a:pPr marL="285750" indent="-285750">
              <a:spcBef>
                <a:spcPts val="1800"/>
              </a:spcBef>
              <a:buFont typeface="Wingdings" pitchFamily="2" charset="2"/>
              <a:buChar char="q"/>
            </a:pPr>
            <a:r>
              <a:rPr lang="en-US" b="1" dirty="0"/>
              <a:t>Target</a:t>
            </a:r>
            <a:r>
              <a:rPr lang="en-US" dirty="0"/>
              <a:t> (The relationship of a target to its background also influences perception)</a:t>
            </a:r>
          </a:p>
          <a:p>
            <a:pPr marL="285750" indent="-285750">
              <a:spcBef>
                <a:spcPts val="1800"/>
              </a:spcBef>
              <a:buFont typeface="Wingdings" pitchFamily="2" charset="2"/>
              <a:buChar char="q"/>
            </a:pPr>
            <a:r>
              <a:rPr lang="en-US" b="1" dirty="0"/>
              <a:t>Situation</a:t>
            </a:r>
            <a:r>
              <a:rPr lang="en-US" dirty="0"/>
              <a:t> (The time, location, heat, light, and other situational factors influence our attention).</a:t>
            </a:r>
          </a:p>
        </p:txBody>
      </p:sp>
    </p:spTree>
    <p:extLst>
      <p:ext uri="{BB962C8B-B14F-4D97-AF65-F5344CB8AC3E}">
        <p14:creationId xmlns:p14="http://schemas.microsoft.com/office/powerpoint/2010/main" val="4092808153"/>
      </p:ext>
    </p:extLst>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Person Perception: Making Judgments About Others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9</a:t>
            </a:fld>
            <a:endParaRPr lang="en-US"/>
          </a:p>
        </p:txBody>
      </p:sp>
      <p:sp>
        <p:nvSpPr>
          <p:cNvPr id="4" name="Content Placeholder 3"/>
          <p:cNvSpPr>
            <a:spLocks noGrp="1"/>
          </p:cNvSpPr>
          <p:nvPr>
            <p:ph sz="quarter" idx="13"/>
          </p:nvPr>
        </p:nvSpPr>
        <p:spPr>
          <a:xfrm>
            <a:off x="609600" y="1352550"/>
            <a:ext cx="5867400" cy="3276600"/>
          </a:xfrm>
        </p:spPr>
        <p:txBody>
          <a:bodyPr/>
          <a:lstStyle/>
          <a:p>
            <a:pPr marL="0" indent="0">
              <a:spcBef>
                <a:spcPts val="0"/>
              </a:spcBef>
              <a:buNone/>
            </a:pPr>
            <a:r>
              <a:rPr lang="en-US" sz="2000" b="1" dirty="0"/>
              <a:t>Attribution Theory:</a:t>
            </a:r>
          </a:p>
          <a:p>
            <a:pPr marL="0" indent="0">
              <a:spcBef>
                <a:spcPts val="0"/>
              </a:spcBef>
              <a:buNone/>
            </a:pPr>
            <a:endParaRPr lang="en-US" sz="2000" dirty="0"/>
          </a:p>
          <a:p>
            <a:pPr marL="0">
              <a:spcBef>
                <a:spcPts val="0"/>
              </a:spcBef>
            </a:pPr>
            <a:r>
              <a:rPr lang="en-US" sz="2000" dirty="0"/>
              <a:t>When individuals observe behavior, they attempt to determine whether it is </a:t>
            </a:r>
            <a:r>
              <a:rPr lang="en-US" sz="2000" i="1" u="sng" dirty="0"/>
              <a:t>internally</a:t>
            </a:r>
            <a:r>
              <a:rPr lang="en-US" sz="2000" dirty="0"/>
              <a:t> or </a:t>
            </a:r>
            <a:r>
              <a:rPr lang="en-US" sz="2000" i="1" u="sng" dirty="0"/>
              <a:t>externally</a:t>
            </a:r>
            <a:r>
              <a:rPr lang="en-US" sz="2000" dirty="0"/>
              <a:t> caused.</a:t>
            </a:r>
          </a:p>
        </p:txBody>
      </p:sp>
      <p:sp>
        <p:nvSpPr>
          <p:cNvPr id="5" name="Text Box 4"/>
          <p:cNvSpPr txBox="1">
            <a:spLocks noChangeArrowheads="1"/>
          </p:cNvSpPr>
          <p:nvPr/>
        </p:nvSpPr>
        <p:spPr bwMode="blackWhite">
          <a:xfrm>
            <a:off x="762000" y="3333750"/>
            <a:ext cx="6932961" cy="120015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lIns="182880" anchor="ctr"/>
          <a:lstStyle/>
          <a:p>
            <a:pPr>
              <a:lnSpc>
                <a:spcPct val="90000"/>
              </a:lnSpc>
              <a:spcBef>
                <a:spcPct val="50000"/>
              </a:spcBef>
              <a:defRPr/>
            </a:pPr>
            <a:r>
              <a:rPr lang="en-US" sz="2000" b="1" i="1" dirty="0">
                <a:solidFill>
                  <a:srgbClr val="FFFFCC"/>
                </a:solidFill>
              </a:rPr>
              <a:t>Distinctiveness</a:t>
            </a:r>
            <a:r>
              <a:rPr lang="en-US" sz="2000" b="0" dirty="0">
                <a:solidFill>
                  <a:srgbClr val="FFFFCC"/>
                </a:solidFill>
              </a:rPr>
              <a:t>: shows different behaviors in different situations.</a:t>
            </a:r>
          </a:p>
          <a:p>
            <a:pPr>
              <a:lnSpc>
                <a:spcPct val="90000"/>
              </a:lnSpc>
              <a:spcBef>
                <a:spcPct val="50000"/>
              </a:spcBef>
              <a:defRPr/>
            </a:pPr>
            <a:r>
              <a:rPr lang="en-US" sz="2000" b="1" i="1" dirty="0">
                <a:solidFill>
                  <a:srgbClr val="FFFFCC"/>
                </a:solidFill>
              </a:rPr>
              <a:t>Consensus: </a:t>
            </a:r>
            <a:r>
              <a:rPr lang="en-US" sz="2000" b="0" dirty="0">
                <a:solidFill>
                  <a:srgbClr val="FFFFCC"/>
                </a:solidFill>
              </a:rPr>
              <a:t>response is the same as others to same situation.</a:t>
            </a:r>
          </a:p>
          <a:p>
            <a:pPr>
              <a:lnSpc>
                <a:spcPct val="90000"/>
              </a:lnSpc>
              <a:spcBef>
                <a:spcPct val="50000"/>
              </a:spcBef>
              <a:defRPr/>
            </a:pPr>
            <a:r>
              <a:rPr lang="en-US" sz="2000" b="1" i="1" dirty="0">
                <a:solidFill>
                  <a:srgbClr val="FFFFCC"/>
                </a:solidFill>
              </a:rPr>
              <a:t>Consistency: </a:t>
            </a:r>
            <a:r>
              <a:rPr lang="en-US" sz="2000" b="0" dirty="0">
                <a:solidFill>
                  <a:srgbClr val="FFFFCC"/>
                </a:solidFill>
              </a:rPr>
              <a:t>responds in the same way over time.</a:t>
            </a:r>
          </a:p>
        </p:txBody>
      </p:sp>
      <p:pic>
        <p:nvPicPr>
          <p:cNvPr id="6" name="Picture 3" descr="bd055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8323" y="1352550"/>
            <a:ext cx="259327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8194917"/>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Attribution Theory</a:t>
            </a:r>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10</a:t>
            </a:fld>
            <a:endParaRPr lang="en-US" dirty="0">
              <a:solidFill>
                <a:srgbClr val="FFFFFF"/>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740" y="1309165"/>
            <a:ext cx="713566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2379696"/>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Errors and Biases in Attributions</a:t>
            </a:r>
          </a:p>
        </p:txBody>
      </p:sp>
      <p:sp>
        <p:nvSpPr>
          <p:cNvPr id="3" name="Content Placeholder 2"/>
          <p:cNvSpPr>
            <a:spLocks noGrp="1"/>
          </p:cNvSpPr>
          <p:nvPr>
            <p:ph sz="quarter" idx="13"/>
          </p:nvPr>
        </p:nvSpPr>
        <p:spPr/>
        <p:txBody>
          <a:bodyPr>
            <a:normAutofit/>
          </a:bodyPr>
          <a:lstStyle/>
          <a:p>
            <a:pPr marL="0" indent="0">
              <a:spcBef>
                <a:spcPct val="50000"/>
              </a:spcBef>
              <a:buNone/>
            </a:pPr>
            <a:r>
              <a:rPr lang="en-US" sz="2000" b="1" dirty="0"/>
              <a:t>Fundamental Attribution Error</a:t>
            </a:r>
          </a:p>
          <a:p>
            <a:pPr>
              <a:spcBef>
                <a:spcPct val="50000"/>
              </a:spcBef>
            </a:pPr>
            <a:r>
              <a:rPr lang="en-US" sz="2000" dirty="0"/>
              <a:t>The tendency to underestimate the influence of external factors and overestimate the influence of internal factors when making judgments about the behavior of others.</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11</a:t>
            </a:fld>
            <a:endParaRPr lang="en-US"/>
          </a:p>
        </p:txBody>
      </p:sp>
      <p:sp>
        <p:nvSpPr>
          <p:cNvPr id="6" name="Text Box 5"/>
          <p:cNvSpPr txBox="1">
            <a:spLocks noChangeArrowheads="1"/>
          </p:cNvSpPr>
          <p:nvPr/>
        </p:nvSpPr>
        <p:spPr bwMode="auto">
          <a:xfrm>
            <a:off x="5300662" y="1556950"/>
            <a:ext cx="3462338" cy="707886"/>
          </a:xfrm>
          <a:prstGeom prst="rect">
            <a:avLst/>
          </a:prstGeom>
          <a:solidFill>
            <a:srgbClr val="CC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ctr" eaLnBrk="1" hangingPunct="1">
              <a:spcBef>
                <a:spcPct val="50000"/>
              </a:spcBef>
            </a:pPr>
            <a:r>
              <a:rPr lang="en-US" sz="2000" i="1" dirty="0">
                <a:latin typeface="+mn-lt"/>
              </a:rPr>
              <a:t>In general, we tend to blame the person first, not the situation.  </a:t>
            </a:r>
          </a:p>
        </p:txBody>
      </p:sp>
      <p:pic>
        <p:nvPicPr>
          <p:cNvPr id="1026" name="Picture 2" descr="Image result for blame others">
            <a:extLst>
              <a:ext uri="{FF2B5EF4-FFF2-40B4-BE49-F238E27FC236}">
                <a16:creationId xmlns:a16="http://schemas.microsoft.com/office/drawing/2014/main" id="{AE1AA248-42B2-4A24-B29B-02A910085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9574" y="2701211"/>
            <a:ext cx="1705839" cy="20263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blame others">
            <a:extLst>
              <a:ext uri="{FF2B5EF4-FFF2-40B4-BE49-F238E27FC236}">
                <a16:creationId xmlns:a16="http://schemas.microsoft.com/office/drawing/2014/main" id="{6C5A2C70-507C-43D4-AE33-B7385E52E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2" y="2699523"/>
            <a:ext cx="2476498" cy="2394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464074"/>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Errors and Biases in Attributions (cont’d)</a:t>
            </a:r>
          </a:p>
        </p:txBody>
      </p:sp>
      <p:sp>
        <p:nvSpPr>
          <p:cNvPr id="3" name="Content Placeholder 2"/>
          <p:cNvSpPr>
            <a:spLocks noGrp="1"/>
          </p:cNvSpPr>
          <p:nvPr>
            <p:ph sz="quarter" idx="13"/>
          </p:nvPr>
        </p:nvSpPr>
        <p:spPr/>
        <p:txBody>
          <a:bodyPr>
            <a:normAutofit/>
          </a:bodyPr>
          <a:lstStyle/>
          <a:p>
            <a:pPr marL="0" indent="0">
              <a:spcBef>
                <a:spcPct val="50000"/>
              </a:spcBef>
              <a:buNone/>
            </a:pPr>
            <a:r>
              <a:rPr lang="en-US" sz="2000" b="1" dirty="0"/>
              <a:t>Self-Serving Bias</a:t>
            </a:r>
            <a:endParaRPr lang="en-US" sz="2000" dirty="0"/>
          </a:p>
          <a:p>
            <a:pPr>
              <a:spcBef>
                <a:spcPct val="50000"/>
              </a:spcBef>
            </a:pPr>
            <a:r>
              <a:rPr lang="en-US" sz="2000" dirty="0"/>
              <a:t>The tendency for individuals to attribute their own successes to internal factors while putting the blame for failures on external factors.</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12</a:t>
            </a:fld>
            <a:endParaRPr lang="en-US"/>
          </a:p>
        </p:txBody>
      </p:sp>
      <p:sp>
        <p:nvSpPr>
          <p:cNvPr id="6" name="Text Box 5"/>
          <p:cNvSpPr txBox="1">
            <a:spLocks noChangeArrowheads="1"/>
          </p:cNvSpPr>
          <p:nvPr/>
        </p:nvSpPr>
        <p:spPr bwMode="auto">
          <a:xfrm>
            <a:off x="4419600" y="1352550"/>
            <a:ext cx="4191000" cy="2400657"/>
          </a:xfrm>
          <a:prstGeom prst="rect">
            <a:avLst/>
          </a:prstGeom>
          <a:solidFill>
            <a:srgbClr val="CC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eaLnBrk="1" hangingPunct="1">
              <a:spcBef>
                <a:spcPts val="600"/>
              </a:spcBef>
            </a:pPr>
            <a:r>
              <a:rPr lang="en-US" sz="2000" b="0" i="1" dirty="0">
                <a:latin typeface="+mn-lt"/>
              </a:rPr>
              <a:t>Thought: When student gets an “A” in an exam, they often say they studied hard. But when they don’t do well, how does the self serving bias come into play?  </a:t>
            </a:r>
          </a:p>
          <a:p>
            <a:pPr eaLnBrk="1" hangingPunct="1">
              <a:spcBef>
                <a:spcPts val="600"/>
              </a:spcBef>
            </a:pPr>
            <a:endParaRPr lang="en-US" sz="2000" b="0" i="1" dirty="0">
              <a:latin typeface="+mn-lt"/>
            </a:endParaRPr>
          </a:p>
          <a:p>
            <a:pPr eaLnBrk="1" hangingPunct="1">
              <a:spcBef>
                <a:spcPts val="600"/>
              </a:spcBef>
            </a:pPr>
            <a:r>
              <a:rPr lang="en-US" sz="2000" b="0" i="1" dirty="0">
                <a:latin typeface="+mn-lt"/>
              </a:rPr>
              <a:t>Hint: Whose fault is it usually when an exam is “tough”? </a:t>
            </a:r>
          </a:p>
        </p:txBody>
      </p:sp>
      <p:pic>
        <p:nvPicPr>
          <p:cNvPr id="1026" name="Picture 2" descr="Image result for Self-Serving Bias"/>
          <p:cNvPicPr>
            <a:picLocks noChangeAspect="1" noChangeArrowheads="1"/>
          </p:cNvPicPr>
          <p:nvPr/>
        </p:nvPicPr>
        <p:blipFill rotWithShape="1">
          <a:blip r:embed="rId2">
            <a:extLst>
              <a:ext uri="{28A0092B-C50C-407E-A947-70E740481C1C}">
                <a14:useLocalDpi xmlns:a14="http://schemas.microsoft.com/office/drawing/2010/main" val="0"/>
              </a:ext>
            </a:extLst>
          </a:blip>
          <a:srcRect t="16486" b="3942"/>
          <a:stretch/>
        </p:blipFill>
        <p:spPr bwMode="auto">
          <a:xfrm>
            <a:off x="673289" y="3441198"/>
            <a:ext cx="3670111" cy="16451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elf-Serving Bia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3852"/>
          <a:stretch/>
        </p:blipFill>
        <p:spPr bwMode="auto">
          <a:xfrm>
            <a:off x="6515100" y="3441198"/>
            <a:ext cx="2570445" cy="167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14650"/>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Frequently Used Shortcuts in Judging Others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13</a:t>
            </a:fld>
            <a:endParaRPr lang="en-US"/>
          </a:p>
        </p:txBody>
      </p:sp>
      <p:sp>
        <p:nvSpPr>
          <p:cNvPr id="4" name="Content Placeholder 3"/>
          <p:cNvSpPr>
            <a:spLocks noGrp="1"/>
          </p:cNvSpPr>
          <p:nvPr>
            <p:ph sz="quarter" idx="13"/>
          </p:nvPr>
        </p:nvSpPr>
        <p:spPr>
          <a:xfrm>
            <a:off x="609600" y="1352550"/>
            <a:ext cx="6705600" cy="3276600"/>
          </a:xfrm>
        </p:spPr>
        <p:txBody>
          <a:bodyPr/>
          <a:lstStyle/>
          <a:p>
            <a:pPr marL="0" indent="0">
              <a:spcBef>
                <a:spcPct val="50000"/>
              </a:spcBef>
              <a:buNone/>
            </a:pPr>
            <a:r>
              <a:rPr lang="en-US" sz="2400" b="1" dirty="0"/>
              <a:t>Selective Perception</a:t>
            </a:r>
          </a:p>
          <a:p>
            <a:pPr>
              <a:spcBef>
                <a:spcPct val="50000"/>
              </a:spcBef>
            </a:pPr>
            <a:r>
              <a:rPr lang="en-US" sz="2000" dirty="0"/>
              <a:t>People selectively interpret what they see on the basis of their interests, values, background, experience, and attitudes.</a:t>
            </a:r>
          </a:p>
          <a:p>
            <a:pPr>
              <a:spcBef>
                <a:spcPct val="50000"/>
              </a:spcBef>
            </a:pPr>
            <a:r>
              <a:rPr lang="en-US" sz="2000" dirty="0"/>
              <a:t>This means that:</a:t>
            </a:r>
          </a:p>
          <a:p>
            <a:pPr lvl="1">
              <a:spcBef>
                <a:spcPct val="50000"/>
              </a:spcBef>
            </a:pPr>
            <a:r>
              <a:rPr lang="en-US" sz="1700" dirty="0"/>
              <a:t>The perception is different from one person to another.</a:t>
            </a:r>
          </a:p>
          <a:p>
            <a:pPr lvl="1">
              <a:spcBef>
                <a:spcPct val="50000"/>
              </a:spcBef>
            </a:pPr>
            <a:r>
              <a:rPr lang="en-US" sz="1700" dirty="0"/>
              <a:t>The information received will be interpreted differently from one person to another.</a:t>
            </a:r>
          </a:p>
          <a:p>
            <a:pPr>
              <a:spcBef>
                <a:spcPct val="50000"/>
              </a:spcBef>
            </a:pPr>
            <a:endParaRPr lang="en-US" sz="2000" dirty="0"/>
          </a:p>
          <a:p>
            <a:endParaRPr lang="en-US" dirty="0"/>
          </a:p>
        </p:txBody>
      </p:sp>
      <p:pic>
        <p:nvPicPr>
          <p:cNvPr id="13314" name="Picture 2" descr="Image result for selective perception"/>
          <p:cNvPicPr>
            <a:picLocks noChangeAspect="1" noChangeArrowheads="1"/>
          </p:cNvPicPr>
          <p:nvPr/>
        </p:nvPicPr>
        <p:blipFill rotWithShape="1">
          <a:blip r:embed="rId2">
            <a:extLst>
              <a:ext uri="{28A0092B-C50C-407E-A947-70E740481C1C}">
                <a14:useLocalDpi xmlns:a14="http://schemas.microsoft.com/office/drawing/2010/main" val="0"/>
              </a:ext>
            </a:extLst>
          </a:blip>
          <a:srcRect l="11490" t="13754" r="10222" b="14328"/>
          <a:stretch/>
        </p:blipFill>
        <p:spPr bwMode="auto">
          <a:xfrm>
            <a:off x="6934200" y="3135943"/>
            <a:ext cx="2123157" cy="1950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684052"/>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Frequently Used Shortcuts in Judging Others</a:t>
            </a:r>
          </a:p>
        </p:txBody>
      </p:sp>
      <p:sp>
        <p:nvSpPr>
          <p:cNvPr id="3" name="Content Placeholder 2"/>
          <p:cNvSpPr>
            <a:spLocks noGrp="1"/>
          </p:cNvSpPr>
          <p:nvPr>
            <p:ph sz="quarter" idx="13"/>
          </p:nvPr>
        </p:nvSpPr>
        <p:spPr/>
        <p:txBody>
          <a:bodyPr>
            <a:normAutofit/>
          </a:bodyPr>
          <a:lstStyle/>
          <a:p>
            <a:pPr>
              <a:spcBef>
                <a:spcPct val="50000"/>
              </a:spcBef>
            </a:pPr>
            <a:r>
              <a:rPr lang="en-US" sz="2000" dirty="0"/>
              <a:t>Drawing a general impression about an individual on the basis of a single characteristic</a:t>
            </a:r>
          </a:p>
          <a:p>
            <a:endParaRPr lang="en-US" dirty="0"/>
          </a:p>
        </p:txBody>
      </p:sp>
      <p:sp>
        <p:nvSpPr>
          <p:cNvPr id="4" name="Content Placeholder 3"/>
          <p:cNvSpPr>
            <a:spLocks noGrp="1"/>
          </p:cNvSpPr>
          <p:nvPr>
            <p:ph sz="quarter" idx="14"/>
          </p:nvPr>
        </p:nvSpPr>
        <p:spPr/>
        <p:txBody>
          <a:bodyPr>
            <a:normAutofit/>
          </a:bodyPr>
          <a:lstStyle/>
          <a:p>
            <a:pPr>
              <a:spcBef>
                <a:spcPct val="50000"/>
              </a:spcBef>
            </a:pPr>
            <a:r>
              <a:rPr lang="en-US" sz="2000" dirty="0"/>
              <a:t>Evaluation of a person’s characteristics that are affected by comparisons with other people recently encountered who rank higher or lower on the same characteristics.</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14</a:t>
            </a:fld>
            <a:endParaRPr lang="en-US"/>
          </a:p>
        </p:txBody>
      </p:sp>
      <p:sp>
        <p:nvSpPr>
          <p:cNvPr id="6" name="Text Placeholder 5"/>
          <p:cNvSpPr>
            <a:spLocks noGrp="1"/>
          </p:cNvSpPr>
          <p:nvPr>
            <p:ph type="body" sz="quarter" idx="18"/>
          </p:nvPr>
        </p:nvSpPr>
        <p:spPr/>
        <p:txBody>
          <a:bodyPr>
            <a:normAutofit/>
          </a:bodyPr>
          <a:lstStyle/>
          <a:p>
            <a:r>
              <a:rPr lang="en-US" dirty="0"/>
              <a:t>Halo Effect</a:t>
            </a:r>
          </a:p>
        </p:txBody>
      </p:sp>
      <p:sp>
        <p:nvSpPr>
          <p:cNvPr id="7" name="Text Placeholder 6"/>
          <p:cNvSpPr>
            <a:spLocks noGrp="1"/>
          </p:cNvSpPr>
          <p:nvPr>
            <p:ph type="body" sz="quarter" idx="19"/>
          </p:nvPr>
        </p:nvSpPr>
        <p:spPr/>
        <p:txBody>
          <a:bodyPr/>
          <a:lstStyle/>
          <a:p>
            <a:r>
              <a:rPr lang="en-US" dirty="0"/>
              <a:t>Contrast Effects</a:t>
            </a:r>
          </a:p>
        </p:txBody>
      </p:sp>
      <p:pic>
        <p:nvPicPr>
          <p:cNvPr id="8" name="Picture 1028" descr="j00906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3257550"/>
            <a:ext cx="31448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7710669"/>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Frequently Used Shortcuts in Judging Others</a:t>
            </a:r>
          </a:p>
        </p:txBody>
      </p:sp>
      <p:sp>
        <p:nvSpPr>
          <p:cNvPr id="3" name="Content Placeholder 2"/>
          <p:cNvSpPr>
            <a:spLocks noGrp="1"/>
          </p:cNvSpPr>
          <p:nvPr>
            <p:ph sz="quarter" idx="13"/>
          </p:nvPr>
        </p:nvSpPr>
        <p:spPr/>
        <p:txBody>
          <a:bodyPr>
            <a:normAutofit/>
          </a:bodyPr>
          <a:lstStyle/>
          <a:p>
            <a:pPr>
              <a:spcBef>
                <a:spcPct val="50000"/>
              </a:spcBef>
            </a:pPr>
            <a:r>
              <a:rPr lang="en-US" sz="2000" dirty="0"/>
              <a:t>Attributing one’s own characteristics to other people.</a:t>
            </a:r>
          </a:p>
          <a:p>
            <a:pPr>
              <a:spcBef>
                <a:spcPct val="50000"/>
              </a:spcBef>
            </a:pPr>
            <a:r>
              <a:rPr lang="en-US" sz="2000" dirty="0"/>
              <a:t>People who engage in projection tend to perceive others according to what they themselves are like.</a:t>
            </a:r>
          </a:p>
        </p:txBody>
      </p:sp>
      <p:sp>
        <p:nvSpPr>
          <p:cNvPr id="4" name="Content Placeholder 3"/>
          <p:cNvSpPr>
            <a:spLocks noGrp="1"/>
          </p:cNvSpPr>
          <p:nvPr>
            <p:ph sz="quarter" idx="14"/>
          </p:nvPr>
        </p:nvSpPr>
        <p:spPr/>
        <p:txBody>
          <a:bodyPr>
            <a:normAutofit/>
          </a:bodyPr>
          <a:lstStyle/>
          <a:p>
            <a:pPr>
              <a:spcBef>
                <a:spcPct val="50000"/>
              </a:spcBef>
            </a:pPr>
            <a:r>
              <a:rPr lang="en-US" sz="2000" dirty="0"/>
              <a:t>Judging someone on the basis of one’s perception of the group to which that person belongs.</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15</a:t>
            </a:fld>
            <a:endParaRPr lang="en-US"/>
          </a:p>
        </p:txBody>
      </p:sp>
      <p:sp>
        <p:nvSpPr>
          <p:cNvPr id="6" name="Text Placeholder 5"/>
          <p:cNvSpPr>
            <a:spLocks noGrp="1"/>
          </p:cNvSpPr>
          <p:nvPr>
            <p:ph type="body" sz="quarter" idx="18"/>
          </p:nvPr>
        </p:nvSpPr>
        <p:spPr/>
        <p:txBody>
          <a:bodyPr>
            <a:normAutofit/>
          </a:bodyPr>
          <a:lstStyle/>
          <a:p>
            <a:pPr>
              <a:spcBef>
                <a:spcPct val="50000"/>
              </a:spcBef>
            </a:pPr>
            <a:r>
              <a:rPr lang="en-US" dirty="0"/>
              <a:t>Projection</a:t>
            </a:r>
          </a:p>
        </p:txBody>
      </p:sp>
      <p:sp>
        <p:nvSpPr>
          <p:cNvPr id="7" name="Text Placeholder 6"/>
          <p:cNvSpPr>
            <a:spLocks noGrp="1"/>
          </p:cNvSpPr>
          <p:nvPr>
            <p:ph type="body" sz="quarter" idx="19"/>
          </p:nvPr>
        </p:nvSpPr>
        <p:spPr/>
        <p:txBody>
          <a:bodyPr/>
          <a:lstStyle/>
          <a:p>
            <a:pPr>
              <a:spcBef>
                <a:spcPct val="50000"/>
              </a:spcBef>
            </a:pPr>
            <a:r>
              <a:rPr lang="en-US" dirty="0"/>
              <a:t>Stereotyping</a:t>
            </a:r>
          </a:p>
        </p:txBody>
      </p:sp>
      <p:pic>
        <p:nvPicPr>
          <p:cNvPr id="2050" name="Picture 2" descr="Image result for projection psychology"/>
          <p:cNvPicPr>
            <a:picLocks noChangeAspect="1" noChangeArrowheads="1"/>
          </p:cNvPicPr>
          <p:nvPr/>
        </p:nvPicPr>
        <p:blipFill rotWithShape="1">
          <a:blip r:embed="rId3">
            <a:extLst>
              <a:ext uri="{28A0092B-C50C-407E-A947-70E740481C1C}">
                <a14:useLocalDpi xmlns:a14="http://schemas.microsoft.com/office/drawing/2010/main" val="0"/>
              </a:ext>
            </a:extLst>
          </a:blip>
          <a:srcRect t="22597" b="24800"/>
          <a:stretch/>
        </p:blipFill>
        <p:spPr bwMode="auto">
          <a:xfrm>
            <a:off x="1524000" y="3667367"/>
            <a:ext cx="1876821" cy="14103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age result for Stereotyping"/>
          <p:cNvPicPr>
            <a:picLocks noChangeAspect="1" noChangeArrowheads="1"/>
          </p:cNvPicPr>
          <p:nvPr/>
        </p:nvPicPr>
        <p:blipFill rotWithShape="1">
          <a:blip r:embed="rId4">
            <a:extLst>
              <a:ext uri="{28A0092B-C50C-407E-A947-70E740481C1C}">
                <a14:useLocalDpi xmlns:a14="http://schemas.microsoft.com/office/drawing/2010/main" val="0"/>
              </a:ext>
            </a:extLst>
          </a:blip>
          <a:srcRect b="8866"/>
          <a:stretch/>
        </p:blipFill>
        <p:spPr bwMode="auto">
          <a:xfrm>
            <a:off x="4712947" y="3181351"/>
            <a:ext cx="4354853"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839686"/>
      </p:ext>
    </p:extLst>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16</a:t>
            </a:fld>
            <a:endParaRPr lang="en-US" dirty="0">
              <a:solidFill>
                <a:schemeClr val="tx2"/>
              </a:solidFill>
            </a:endParaRPr>
          </a:p>
        </p:txBody>
      </p:sp>
      <p:pic>
        <p:nvPicPr>
          <p:cNvPr id="2050" name="Picture 2" descr="As soon as you label yourself - you are giving others the power to have control over you. Also, as soon as you label others you are giving them the power to control you.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2792" y="1318561"/>
            <a:ext cx="3821208" cy="382493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4.bp.blogspot.com/-DYYlGaC4tCc/Vqh_6rhrwUI/AAAAAAAAUhE/Jpup-HwrXfw/s640/Stereotypes-updated.jpg"/>
          <p:cNvPicPr>
            <a:picLocks noChangeAspect="1" noChangeArrowheads="1"/>
          </p:cNvPicPr>
          <p:nvPr/>
        </p:nvPicPr>
        <p:blipFill rotWithShape="1">
          <a:blip r:embed="rId4">
            <a:extLst>
              <a:ext uri="{28A0092B-C50C-407E-A947-70E740481C1C}">
                <a14:useLocalDpi xmlns:a14="http://schemas.microsoft.com/office/drawing/2010/main" val="0"/>
              </a:ext>
            </a:extLst>
          </a:blip>
          <a:srcRect b="9736"/>
          <a:stretch/>
        </p:blipFill>
        <p:spPr bwMode="auto">
          <a:xfrm>
            <a:off x="76199" y="94136"/>
            <a:ext cx="5246593" cy="26490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199" y="2764725"/>
            <a:ext cx="5246593" cy="2062103"/>
          </a:xfrm>
          <a:prstGeom prst="rect">
            <a:avLst/>
          </a:prstGeom>
          <a:noFill/>
        </p:spPr>
        <p:txBody>
          <a:bodyPr wrap="square" rtlCol="0">
            <a:spAutoFit/>
          </a:bodyPr>
          <a:lstStyle/>
          <a:p>
            <a:r>
              <a:rPr lang="en-US" sz="1600" b="1" dirty="0"/>
              <a:t>Stereotype</a:t>
            </a:r>
            <a:r>
              <a:rPr lang="en-US" sz="1600" dirty="0"/>
              <a:t> is simply a widely held belief that an individual of certain group holds distinct characteristics. </a:t>
            </a:r>
            <a:endParaRPr lang="en-US" sz="1600" b="1" dirty="0"/>
          </a:p>
          <a:p>
            <a:r>
              <a:rPr lang="en-US" sz="1600" b="1" dirty="0"/>
              <a:t>Prejudice:</a:t>
            </a:r>
            <a:r>
              <a:rPr lang="en-US" sz="1600" dirty="0"/>
              <a:t> An attitude (usually negative) shown towards individuals based on his/her religious, cultural, ethnic, political or other affiliation without having prior knowledge about the group.</a:t>
            </a:r>
          </a:p>
          <a:p>
            <a:r>
              <a:rPr lang="en-US" sz="1600" b="1" dirty="0"/>
              <a:t>Discrimination</a:t>
            </a:r>
            <a:r>
              <a:rPr lang="en-US" sz="1600" dirty="0"/>
              <a:t> is the tendency to react against different stimuli in different ways.</a:t>
            </a:r>
          </a:p>
        </p:txBody>
      </p:sp>
      <p:pic>
        <p:nvPicPr>
          <p:cNvPr id="1028" name="Picture 4" descr="nov16-14-74324621"/>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388" t="14311" r="14653" b="9655"/>
          <a:stretch/>
        </p:blipFill>
        <p:spPr bwMode="auto">
          <a:xfrm>
            <a:off x="5715000" y="94136"/>
            <a:ext cx="2071203" cy="1230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505108"/>
      </p:ext>
    </p:extLst>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Application of Perceptual Biases in Organizations</a:t>
            </a:r>
          </a:p>
        </p:txBody>
      </p:sp>
      <p:sp>
        <p:nvSpPr>
          <p:cNvPr id="3" name="Content Placeholder 2"/>
          <p:cNvSpPr>
            <a:spLocks noGrp="1"/>
          </p:cNvSpPr>
          <p:nvPr>
            <p:ph sz="quarter" idx="13"/>
          </p:nvPr>
        </p:nvSpPr>
        <p:spPr/>
        <p:txBody>
          <a:bodyPr>
            <a:normAutofit/>
          </a:bodyPr>
          <a:lstStyle/>
          <a:p>
            <a:r>
              <a:rPr lang="en-US" sz="1800" dirty="0"/>
              <a:t>Perceptual biases of raters affect the accuracy of interviewers’ judgments of applicants.</a:t>
            </a:r>
          </a:p>
        </p:txBody>
      </p:sp>
      <p:sp>
        <p:nvSpPr>
          <p:cNvPr id="4" name="Content Placeholder 3"/>
          <p:cNvSpPr>
            <a:spLocks noGrp="1"/>
          </p:cNvSpPr>
          <p:nvPr>
            <p:ph sz="quarter" idx="14"/>
          </p:nvPr>
        </p:nvSpPr>
        <p:spPr/>
        <p:txBody>
          <a:bodyPr>
            <a:normAutofit/>
          </a:bodyPr>
          <a:lstStyle/>
          <a:p>
            <a:r>
              <a:rPr lang="en-US" sz="1800" dirty="0"/>
              <a:t>A form of stereotyping in which a group of individuals is singled out—typically on the basis of race or ethnicity—for intensive inquiry.</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17</a:t>
            </a:fld>
            <a:endParaRPr lang="en-US"/>
          </a:p>
        </p:txBody>
      </p:sp>
      <p:sp>
        <p:nvSpPr>
          <p:cNvPr id="6" name="Text Placeholder 5"/>
          <p:cNvSpPr>
            <a:spLocks noGrp="1"/>
          </p:cNvSpPr>
          <p:nvPr>
            <p:ph type="body" sz="quarter" idx="18"/>
          </p:nvPr>
        </p:nvSpPr>
        <p:spPr/>
        <p:txBody>
          <a:bodyPr/>
          <a:lstStyle/>
          <a:p>
            <a:r>
              <a:rPr lang="en-US" dirty="0"/>
              <a:t>Employment Interview</a:t>
            </a:r>
          </a:p>
        </p:txBody>
      </p:sp>
      <p:sp>
        <p:nvSpPr>
          <p:cNvPr id="7" name="Text Placeholder 6"/>
          <p:cNvSpPr>
            <a:spLocks noGrp="1"/>
          </p:cNvSpPr>
          <p:nvPr>
            <p:ph type="body" sz="quarter" idx="19"/>
          </p:nvPr>
        </p:nvSpPr>
        <p:spPr/>
        <p:txBody>
          <a:bodyPr/>
          <a:lstStyle/>
          <a:p>
            <a:r>
              <a:rPr lang="en-US" dirty="0"/>
              <a:t>Ethnic Profiling</a:t>
            </a:r>
          </a:p>
        </p:txBody>
      </p:sp>
      <p:sp>
        <p:nvSpPr>
          <p:cNvPr id="8" name="Content Placeholder 2"/>
          <p:cNvSpPr txBox="1">
            <a:spLocks/>
          </p:cNvSpPr>
          <p:nvPr/>
        </p:nvSpPr>
        <p:spPr>
          <a:xfrm>
            <a:off x="609600" y="3676650"/>
            <a:ext cx="3886200" cy="26289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r>
              <a:rPr lang="en-US" sz="1800" dirty="0"/>
              <a:t>Self-fulfilling prophecy (</a:t>
            </a:r>
            <a:r>
              <a:rPr lang="en-US" sz="1800" i="1" dirty="0"/>
              <a:t>Pygmalion effect</a:t>
            </a:r>
            <a:r>
              <a:rPr lang="en-US" sz="1800" dirty="0"/>
              <a:t>): The lower or higher performance of employees reflects preconceived leader expectations about employee capabilities.</a:t>
            </a:r>
          </a:p>
        </p:txBody>
      </p:sp>
      <p:sp>
        <p:nvSpPr>
          <p:cNvPr id="9" name="Text Placeholder 5"/>
          <p:cNvSpPr txBox="1">
            <a:spLocks/>
          </p:cNvSpPr>
          <p:nvPr/>
        </p:nvSpPr>
        <p:spPr>
          <a:xfrm>
            <a:off x="609600" y="3119119"/>
            <a:ext cx="3886200" cy="530352"/>
          </a:xfrm>
          <a:prstGeom prst="rect">
            <a:avLst/>
          </a:prstGeom>
          <a:solidFill>
            <a:srgbClr val="00B050"/>
          </a:solidFill>
        </p:spPr>
        <p:txBody>
          <a:bodyPr vert="horz" rtlCol="0" anchor="ctr">
            <a:normAutofit/>
          </a:bodyPr>
          <a:lstStyle>
            <a:lvl1pPr marL="320040" indent="-320040" algn="l" rtl="0" eaLnBrk="1" latinLnBrk="0" hangingPunct="1">
              <a:spcBef>
                <a:spcPts val="700"/>
              </a:spcBef>
              <a:buClr>
                <a:schemeClr val="accent2"/>
              </a:buClr>
              <a:buSzPct val="60000"/>
              <a:buFontTx/>
              <a:buNone/>
              <a:defRPr sz="2000" b="1" kern="1200">
                <a:solidFill>
                  <a:srgbClr val="FFFFFF"/>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r>
              <a:rPr lang="en-US" dirty="0"/>
              <a:t>Performance Expectations </a:t>
            </a:r>
          </a:p>
        </p:txBody>
      </p:sp>
      <p:sp>
        <p:nvSpPr>
          <p:cNvPr id="10" name="Content Placeholder 3"/>
          <p:cNvSpPr txBox="1">
            <a:spLocks/>
          </p:cNvSpPr>
          <p:nvPr/>
        </p:nvSpPr>
        <p:spPr>
          <a:xfrm>
            <a:off x="4800600" y="3676650"/>
            <a:ext cx="3886200" cy="26289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a:spcBef>
                <a:spcPct val="50000"/>
              </a:spcBef>
            </a:pPr>
            <a:r>
              <a:rPr lang="en-US" sz="1800" dirty="0"/>
              <a:t>Appraisals are often the subjective (judgmental) perceptions of appraisers of another employee’s job performance.</a:t>
            </a:r>
          </a:p>
        </p:txBody>
      </p:sp>
      <p:sp>
        <p:nvSpPr>
          <p:cNvPr id="11" name="Text Placeholder 6"/>
          <p:cNvSpPr txBox="1">
            <a:spLocks/>
          </p:cNvSpPr>
          <p:nvPr/>
        </p:nvSpPr>
        <p:spPr>
          <a:xfrm>
            <a:off x="4800600" y="3119119"/>
            <a:ext cx="3886200" cy="530352"/>
          </a:xfrm>
          <a:prstGeom prst="rect">
            <a:avLst/>
          </a:prstGeom>
          <a:solidFill>
            <a:schemeClr val="accent3">
              <a:lumMod val="75000"/>
            </a:schemeClr>
          </a:solidFill>
        </p:spPr>
        <p:txBody>
          <a:bodyPr vert="horz" rtlCol="0" anchor="ctr">
            <a:normAutofit/>
          </a:bodyPr>
          <a:lstStyle>
            <a:lvl1pPr marL="320040" indent="-320040" algn="l" rtl="0" eaLnBrk="1" latinLnBrk="0" hangingPunct="1">
              <a:spcBef>
                <a:spcPts val="700"/>
              </a:spcBef>
              <a:buClr>
                <a:schemeClr val="accent2"/>
              </a:buClr>
              <a:buSzPct val="60000"/>
              <a:buFontTx/>
              <a:buNone/>
              <a:defRPr sz="2000" b="1" kern="1200">
                <a:solidFill>
                  <a:srgbClr val="FFFFFF"/>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r>
              <a:rPr lang="en-US" dirty="0"/>
              <a:t>Performance Evaluation</a:t>
            </a:r>
          </a:p>
        </p:txBody>
      </p:sp>
    </p:spTree>
    <p:extLst>
      <p:ext uri="{BB962C8B-B14F-4D97-AF65-F5344CB8AC3E}">
        <p14:creationId xmlns:p14="http://schemas.microsoft.com/office/powerpoint/2010/main" val="3996502597"/>
      </p:ext>
    </p:extLst>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The Link Between Perceptions and Individual Decision Making</a:t>
            </a:r>
          </a:p>
        </p:txBody>
      </p:sp>
      <p:sp>
        <p:nvSpPr>
          <p:cNvPr id="2" name="Slide Number Placeholder 1"/>
          <p:cNvSpPr>
            <a:spLocks noGrp="1"/>
          </p:cNvSpPr>
          <p:nvPr>
            <p:ph type="sldNum" sz="quarter" idx="12"/>
          </p:nvPr>
        </p:nvSpPr>
        <p:spPr/>
        <p:txBody>
          <a:bodyPr>
            <a:normAutofit fontScale="47500" lnSpcReduction="20000"/>
          </a:bodyPr>
          <a:lstStyle/>
          <a:p>
            <a:fld id="{A3F7CB7D-F184-43C7-B6FD-03D728E1BBFF}" type="slidenum">
              <a:rPr lang="en-US" smtClean="0">
                <a:solidFill>
                  <a:schemeClr val="tx2"/>
                </a:solidFill>
              </a:rPr>
              <a:pPr/>
              <a:t>18</a:t>
            </a:fld>
            <a:endParaRPr lang="en-US" dirty="0">
              <a:solidFill>
                <a:schemeClr val="tx2"/>
              </a:solidFill>
            </a:endParaRPr>
          </a:p>
        </p:txBody>
      </p:sp>
      <p:sp>
        <p:nvSpPr>
          <p:cNvPr id="4" name="Content Placeholder 3"/>
          <p:cNvSpPr>
            <a:spLocks noGrp="1"/>
          </p:cNvSpPr>
          <p:nvPr>
            <p:ph sz="quarter" idx="13"/>
          </p:nvPr>
        </p:nvSpPr>
        <p:spPr>
          <a:xfrm>
            <a:off x="609600" y="1352550"/>
            <a:ext cx="4876800" cy="3276600"/>
          </a:xfrm>
        </p:spPr>
        <p:txBody>
          <a:bodyPr>
            <a:normAutofit/>
          </a:bodyPr>
          <a:lstStyle/>
          <a:p>
            <a:r>
              <a:rPr lang="en-US" sz="2400" b="1" i="1" dirty="0"/>
              <a:t>Problem</a:t>
            </a:r>
            <a:br>
              <a:rPr lang="en-US" sz="2200" dirty="0"/>
            </a:br>
            <a:r>
              <a:rPr lang="en-US" sz="2200" dirty="0"/>
              <a:t>A </a:t>
            </a:r>
            <a:r>
              <a:rPr lang="en-US" sz="2200" i="1" dirty="0"/>
              <a:t>perceived</a:t>
            </a:r>
            <a:r>
              <a:rPr lang="en-US" sz="2200" dirty="0"/>
              <a:t> discrepancy between the current state of affairs and a desired state.</a:t>
            </a:r>
          </a:p>
          <a:p>
            <a:r>
              <a:rPr lang="en-US" sz="2400" b="1" i="1" dirty="0"/>
              <a:t>Decisions</a:t>
            </a:r>
            <a:br>
              <a:rPr lang="en-US" sz="2200" dirty="0"/>
            </a:br>
            <a:r>
              <a:rPr lang="en-US" sz="2200" dirty="0"/>
              <a:t>Choices made from alternatives developed from data </a:t>
            </a:r>
            <a:r>
              <a:rPr lang="en-US" sz="2200" i="1" dirty="0"/>
              <a:t>perceived</a:t>
            </a:r>
            <a:r>
              <a:rPr lang="en-US" sz="2200" dirty="0"/>
              <a:t> as relevant.</a:t>
            </a:r>
          </a:p>
          <a:p>
            <a:endParaRPr lang="en-US" dirty="0"/>
          </a:p>
        </p:txBody>
      </p:sp>
      <p:sp>
        <p:nvSpPr>
          <p:cNvPr id="5" name="AutoShape 4"/>
          <p:cNvSpPr>
            <a:spLocks/>
          </p:cNvSpPr>
          <p:nvPr/>
        </p:nvSpPr>
        <p:spPr bwMode="auto">
          <a:xfrm>
            <a:off x="5410200" y="1438930"/>
            <a:ext cx="609600" cy="2686050"/>
          </a:xfrm>
          <a:prstGeom prst="rightBrace">
            <a:avLst>
              <a:gd name="adj1" fmla="val 3489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Text Box 5"/>
          <p:cNvSpPr txBox="1">
            <a:spLocks noChangeArrowheads="1"/>
          </p:cNvSpPr>
          <p:nvPr/>
        </p:nvSpPr>
        <p:spPr bwMode="blackWhite">
          <a:xfrm>
            <a:off x="6248400" y="1877080"/>
            <a:ext cx="2057400" cy="148590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anchor="ctr"/>
          <a:lstStyle/>
          <a:p>
            <a:pPr algn="ctr">
              <a:lnSpc>
                <a:spcPct val="90000"/>
              </a:lnSpc>
              <a:spcBef>
                <a:spcPct val="50000"/>
              </a:spcBef>
              <a:defRPr/>
            </a:pPr>
            <a:r>
              <a:rPr lang="en-US" sz="2400" dirty="0">
                <a:solidFill>
                  <a:schemeClr val="bg1"/>
                </a:solidFill>
              </a:rPr>
              <a:t>Perception of the decision maker</a:t>
            </a:r>
          </a:p>
        </p:txBody>
      </p:sp>
      <p:sp>
        <p:nvSpPr>
          <p:cNvPr id="7" name="Text Box 6"/>
          <p:cNvSpPr txBox="1">
            <a:spLocks noChangeArrowheads="1"/>
          </p:cNvSpPr>
          <p:nvPr/>
        </p:nvSpPr>
        <p:spPr bwMode="auto">
          <a:xfrm>
            <a:off x="6210300" y="410593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ctr" eaLnBrk="1" hangingPunct="1">
              <a:spcBef>
                <a:spcPct val="50000"/>
              </a:spcBef>
            </a:pPr>
            <a:r>
              <a:rPr lang="en-US" sz="2800">
                <a:latin typeface="Times New Roman" charset="0"/>
              </a:rPr>
              <a:t>Outcomes</a:t>
            </a:r>
          </a:p>
        </p:txBody>
      </p:sp>
      <p:sp>
        <p:nvSpPr>
          <p:cNvPr id="8" name="AutoShape 7"/>
          <p:cNvSpPr>
            <a:spLocks noChangeArrowheads="1"/>
          </p:cNvSpPr>
          <p:nvPr/>
        </p:nvSpPr>
        <p:spPr bwMode="auto">
          <a:xfrm>
            <a:off x="7150100" y="3362980"/>
            <a:ext cx="304800" cy="685800"/>
          </a:xfrm>
          <a:prstGeom prst="downArrow">
            <a:avLst>
              <a:gd name="adj1" fmla="val 50000"/>
              <a:gd name="adj2" fmla="val 75000"/>
            </a:avLst>
          </a:prstGeom>
          <a:solidFill>
            <a:srgbClr val="006600"/>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980291686"/>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a:bodyPr>
          <a:lstStyle/>
          <a:p>
            <a:pPr eaLnBrk="1" hangingPunct="1"/>
            <a:r>
              <a:rPr lang="en-US" sz="3600" dirty="0"/>
              <a:t>Rational Decision-Making Model</a:t>
            </a:r>
          </a:p>
        </p:txBody>
      </p:sp>
      <p:sp>
        <p:nvSpPr>
          <p:cNvPr id="11269" name="Slide Number Placeholder 4"/>
          <p:cNvSpPr>
            <a:spLocks noGrp="1"/>
          </p:cNvSpPr>
          <p:nvPr>
            <p:ph type="sldNum" sz="quarter" idx="12"/>
          </p:nvPr>
        </p:nvSpPr>
        <p:spPr bwMode="auto">
          <a:ln>
            <a:miter lim="800000"/>
            <a:headEnd/>
            <a:tailEnd/>
          </a:ln>
        </p:spPr>
        <p:txBody>
          <a:bodyPr wrap="square" numCol="1" anchorCtr="0" compatLnSpc="1">
            <a:prstTxWarp prst="textNoShape">
              <a:avLst/>
            </a:prstTxWarp>
            <a:normAutofit fontScale="47500" lnSpcReduction="20000"/>
          </a:bodyPr>
          <a:lstStyle/>
          <a:p>
            <a:pPr fontAlgn="base">
              <a:spcBef>
                <a:spcPct val="0"/>
              </a:spcBef>
              <a:spcAft>
                <a:spcPct val="0"/>
              </a:spcAft>
              <a:defRPr/>
            </a:pPr>
            <a:fld id="{11C430FB-126B-4668-A613-5254FD878F70}" type="slidenum">
              <a:rPr lang="en-US" smtClean="0"/>
              <a:pPr fontAlgn="base">
                <a:spcBef>
                  <a:spcPct val="0"/>
                </a:spcBef>
                <a:spcAft>
                  <a:spcPct val="0"/>
                </a:spcAft>
                <a:defRPr/>
              </a:pPr>
              <a:t>19</a:t>
            </a:fld>
            <a:endParaRPr lang="en-US"/>
          </a:p>
        </p:txBody>
      </p:sp>
      <p:sp>
        <p:nvSpPr>
          <p:cNvPr id="3" name="Content Placeholder 2"/>
          <p:cNvSpPr>
            <a:spLocks noGrp="1"/>
          </p:cNvSpPr>
          <p:nvPr>
            <p:ph sz="quarter" idx="13"/>
          </p:nvPr>
        </p:nvSpPr>
        <p:spPr/>
        <p:txBody>
          <a:bodyPr rtlCol="0">
            <a:noAutofit/>
          </a:bodyPr>
          <a:lstStyle/>
          <a:p>
            <a:pPr marL="457200" lvl="1" indent="-339725">
              <a:lnSpc>
                <a:spcPct val="120000"/>
              </a:lnSpc>
              <a:spcBef>
                <a:spcPts val="0"/>
              </a:spcBef>
            </a:pPr>
            <a:r>
              <a:rPr lang="en-US" sz="1800" i="1" dirty="0"/>
              <a:t>A decision-making model that describes how individuals should behave in order to maximize some outcome.</a:t>
            </a:r>
          </a:p>
          <a:p>
            <a:pPr marL="457200" lvl="1" indent="-339725">
              <a:lnSpc>
                <a:spcPct val="120000"/>
              </a:lnSpc>
              <a:spcBef>
                <a:spcPts val="0"/>
              </a:spcBef>
            </a:pPr>
            <a:r>
              <a:rPr lang="en-US" sz="1800" dirty="0"/>
              <a:t> </a:t>
            </a:r>
            <a:r>
              <a:rPr lang="en-US" sz="1800" b="1" dirty="0"/>
              <a:t>Assumptions</a:t>
            </a:r>
            <a:r>
              <a:rPr lang="en-US" sz="1800" dirty="0"/>
              <a:t> are that, decision makers:</a:t>
            </a:r>
          </a:p>
          <a:p>
            <a:pPr marL="690563" lvl="2" indent="-233363">
              <a:lnSpc>
                <a:spcPct val="120000"/>
              </a:lnSpc>
              <a:spcBef>
                <a:spcPts val="0"/>
              </a:spcBef>
            </a:pPr>
            <a:r>
              <a:rPr lang="en-US" sz="1800" dirty="0"/>
              <a:t>Are perfectly rational, fully objective, and logical.</a:t>
            </a:r>
          </a:p>
          <a:p>
            <a:pPr marL="690563" lvl="2" indent="-233363">
              <a:lnSpc>
                <a:spcPct val="120000"/>
              </a:lnSpc>
              <a:spcBef>
                <a:spcPts val="0"/>
              </a:spcBef>
            </a:pPr>
            <a:r>
              <a:rPr lang="en-US" sz="1800" dirty="0"/>
              <a:t>Have carefully defined the problem and know the criteria for evaluating alternatives, select alternative with maximum benefit.</a:t>
            </a:r>
          </a:p>
          <a:p>
            <a:pPr marL="690563" lvl="2" indent="-233363">
              <a:spcBef>
                <a:spcPts val="0"/>
              </a:spcBef>
            </a:pPr>
            <a:r>
              <a:rPr lang="en-US" sz="1800" dirty="0"/>
              <a:t>Will select the alternative that maximizes outcomes in the organization’s interests rather than in their personal interests.</a:t>
            </a:r>
          </a:p>
          <a:p>
            <a:pPr marL="690563" lvl="2" indent="-233363">
              <a:spcBef>
                <a:spcPts val="0"/>
              </a:spcBef>
            </a:pPr>
            <a:r>
              <a:rPr lang="en-US" sz="1800" dirty="0"/>
              <a:t>Decision maker strives for information and certainty, alternatives evaluated.</a:t>
            </a:r>
          </a:p>
          <a:p>
            <a:pPr marL="690563" lvl="2" indent="-233363">
              <a:spcBef>
                <a:spcPts val="0"/>
              </a:spcBef>
            </a:pPr>
            <a:r>
              <a:rPr lang="en-US" sz="1800" dirty="0"/>
              <a:t>Problem clarity, Known options, Clear preferences, Constant preferences, No time or cost constraints, Maximum payoff</a:t>
            </a:r>
          </a:p>
        </p:txBody>
      </p:sp>
    </p:spTree>
    <p:extLst>
      <p:ext uri="{BB962C8B-B14F-4D97-AF65-F5344CB8AC3E}">
        <p14:creationId xmlns:p14="http://schemas.microsoft.com/office/powerpoint/2010/main" val="3772622341"/>
      </p:ext>
    </p:extLst>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Steps in the Rational Decision-Making Model</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20</a:t>
            </a:fld>
            <a:endParaRPr lang="en-US"/>
          </a:p>
        </p:txBody>
      </p:sp>
      <p:sp>
        <p:nvSpPr>
          <p:cNvPr id="4" name="Content Placeholder 3"/>
          <p:cNvSpPr>
            <a:spLocks noGrp="1"/>
          </p:cNvSpPr>
          <p:nvPr>
            <p:ph sz="quarter" idx="13"/>
          </p:nvPr>
        </p:nvSpPr>
        <p:spPr/>
        <p:txBody>
          <a:bodyPr>
            <a:normAutofit fontScale="92500" lnSpcReduction="20000"/>
          </a:bodyPr>
          <a:lstStyle/>
          <a:p>
            <a:pPr marL="457200" indent="-457200">
              <a:spcBef>
                <a:spcPct val="50000"/>
              </a:spcBef>
              <a:buClrTx/>
              <a:buFontTx/>
              <a:buAutoNum type="arabicPeriod"/>
            </a:pPr>
            <a:r>
              <a:rPr lang="en-US" dirty="0"/>
              <a:t>Define the problem.</a:t>
            </a:r>
          </a:p>
          <a:p>
            <a:pPr marL="457200" indent="-457200">
              <a:spcBef>
                <a:spcPct val="50000"/>
              </a:spcBef>
              <a:buClrTx/>
              <a:buFontTx/>
              <a:buAutoNum type="arabicPeriod"/>
            </a:pPr>
            <a:r>
              <a:rPr lang="en-US" dirty="0"/>
              <a:t>Identify the decision criteria.</a:t>
            </a:r>
          </a:p>
          <a:p>
            <a:pPr marL="457200" indent="-457200">
              <a:spcBef>
                <a:spcPct val="50000"/>
              </a:spcBef>
              <a:buClrTx/>
              <a:buFontTx/>
              <a:buAutoNum type="arabicPeriod"/>
            </a:pPr>
            <a:r>
              <a:rPr lang="en-US" dirty="0"/>
              <a:t>Allocate weights to the criteria.</a:t>
            </a:r>
          </a:p>
          <a:p>
            <a:pPr marL="457200" indent="-457200">
              <a:spcBef>
                <a:spcPct val="50000"/>
              </a:spcBef>
              <a:buClrTx/>
              <a:buFontTx/>
              <a:buAutoNum type="arabicPeriod"/>
            </a:pPr>
            <a:r>
              <a:rPr lang="en-US" dirty="0"/>
              <a:t>Develop the alternatives.</a:t>
            </a:r>
          </a:p>
          <a:p>
            <a:pPr marL="457200" indent="-457200">
              <a:spcBef>
                <a:spcPct val="50000"/>
              </a:spcBef>
              <a:buClrTx/>
              <a:buFontTx/>
              <a:buAutoNum type="arabicPeriod"/>
            </a:pPr>
            <a:r>
              <a:rPr lang="en-US" dirty="0"/>
              <a:t>Evaluate the alternatives.</a:t>
            </a:r>
          </a:p>
          <a:p>
            <a:pPr marL="457200" indent="-457200">
              <a:spcBef>
                <a:spcPct val="50000"/>
              </a:spcBef>
              <a:buClrTx/>
              <a:buFontTx/>
              <a:buAutoNum type="arabicPeriod"/>
            </a:pPr>
            <a:r>
              <a:rPr lang="en-US" dirty="0"/>
              <a:t>Select the best alternative.</a:t>
            </a:r>
          </a:p>
        </p:txBody>
      </p:sp>
    </p:spTree>
    <p:extLst>
      <p:ext uri="{BB962C8B-B14F-4D97-AF65-F5344CB8AC3E}">
        <p14:creationId xmlns:p14="http://schemas.microsoft.com/office/powerpoint/2010/main" val="3217983452"/>
      </p:ext>
    </p:extLst>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Are Decisions Actually Made in Organizations?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21</a:t>
            </a:fld>
            <a:endParaRPr lang="en-US"/>
          </a:p>
        </p:txBody>
      </p:sp>
      <p:sp>
        <p:nvSpPr>
          <p:cNvPr id="4" name="Content Placeholder 3"/>
          <p:cNvSpPr>
            <a:spLocks noGrp="1"/>
          </p:cNvSpPr>
          <p:nvPr>
            <p:ph sz="quarter" idx="13"/>
          </p:nvPr>
        </p:nvSpPr>
        <p:spPr/>
        <p:txBody>
          <a:bodyPr>
            <a:normAutofit/>
          </a:bodyPr>
          <a:lstStyle/>
          <a:p>
            <a:pPr>
              <a:spcBef>
                <a:spcPct val="50000"/>
              </a:spcBef>
            </a:pPr>
            <a:r>
              <a:rPr lang="en-US" sz="2400" b="1" dirty="0"/>
              <a:t>Bounded Rationality</a:t>
            </a:r>
          </a:p>
          <a:p>
            <a:pPr marL="0" indent="0">
              <a:spcBef>
                <a:spcPct val="50000"/>
              </a:spcBef>
              <a:buNone/>
            </a:pPr>
            <a:r>
              <a:rPr lang="en-US" sz="2400" dirty="0"/>
              <a:t>Individuals make decisions by constructing simplified models that extract the essential features from problems without capturing all their complexity.</a:t>
            </a:r>
          </a:p>
        </p:txBody>
      </p:sp>
      <p:pic>
        <p:nvPicPr>
          <p:cNvPr id="5" name="Picture 3" descr="pe0151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2842625"/>
            <a:ext cx="1676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0649700"/>
      </p:ext>
    </p:extLst>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Intuition</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22</a:t>
            </a:fld>
            <a:endParaRPr lang="en-US"/>
          </a:p>
        </p:txBody>
      </p:sp>
      <p:sp>
        <p:nvSpPr>
          <p:cNvPr id="4" name="Content Placeholder 3"/>
          <p:cNvSpPr>
            <a:spLocks noGrp="1"/>
          </p:cNvSpPr>
          <p:nvPr>
            <p:ph sz="quarter" idx="13"/>
          </p:nvPr>
        </p:nvSpPr>
        <p:spPr/>
        <p:txBody>
          <a:bodyPr>
            <a:noAutofit/>
          </a:bodyPr>
          <a:lstStyle/>
          <a:p>
            <a:pPr>
              <a:spcBef>
                <a:spcPts val="0"/>
              </a:spcBef>
            </a:pPr>
            <a:r>
              <a:rPr lang="en-US" sz="2000" dirty="0"/>
              <a:t>Intuitive Decision Making</a:t>
            </a:r>
          </a:p>
          <a:p>
            <a:pPr lvl="1">
              <a:spcBef>
                <a:spcPts val="0"/>
              </a:spcBef>
            </a:pPr>
            <a:r>
              <a:rPr lang="en-US" sz="2000" dirty="0"/>
              <a:t>An unconscious process created out of condensed experience.</a:t>
            </a:r>
          </a:p>
          <a:p>
            <a:pPr>
              <a:spcBef>
                <a:spcPts val="0"/>
              </a:spcBef>
            </a:pPr>
            <a:r>
              <a:rPr lang="en-US" sz="2000" dirty="0"/>
              <a:t>Conditions Favoring Intuitive Decision Making</a:t>
            </a:r>
          </a:p>
          <a:p>
            <a:pPr lvl="1">
              <a:spcBef>
                <a:spcPts val="0"/>
              </a:spcBef>
            </a:pPr>
            <a:r>
              <a:rPr lang="en-US" sz="2000" dirty="0"/>
              <a:t>A high level of uncertainty exists</a:t>
            </a:r>
          </a:p>
          <a:p>
            <a:pPr lvl="1">
              <a:spcBef>
                <a:spcPts val="0"/>
              </a:spcBef>
            </a:pPr>
            <a:r>
              <a:rPr lang="en-US" sz="2000" dirty="0"/>
              <a:t>There is little pattern available to draw on</a:t>
            </a:r>
          </a:p>
          <a:p>
            <a:pPr lvl="1">
              <a:spcBef>
                <a:spcPts val="0"/>
              </a:spcBef>
            </a:pPr>
            <a:r>
              <a:rPr lang="en-US" sz="2000" dirty="0"/>
              <a:t>Variables are less scientifically predictable</a:t>
            </a:r>
          </a:p>
          <a:p>
            <a:pPr lvl="1">
              <a:spcBef>
                <a:spcPts val="0"/>
              </a:spcBef>
            </a:pPr>
            <a:r>
              <a:rPr lang="en-US" sz="2000" dirty="0"/>
              <a:t>“Facts” are limited</a:t>
            </a:r>
          </a:p>
          <a:p>
            <a:pPr lvl="1">
              <a:spcBef>
                <a:spcPts val="0"/>
              </a:spcBef>
            </a:pPr>
            <a:r>
              <a:rPr lang="en-US" sz="2000" dirty="0"/>
              <a:t>Analytical data are of little use</a:t>
            </a:r>
          </a:p>
          <a:p>
            <a:pPr lvl="1">
              <a:spcBef>
                <a:spcPts val="0"/>
              </a:spcBef>
            </a:pPr>
            <a:r>
              <a:rPr lang="en-US" sz="2000" dirty="0"/>
              <a:t>Several reasonable alternative solutions exist</a:t>
            </a:r>
          </a:p>
          <a:p>
            <a:pPr lvl="1">
              <a:spcBef>
                <a:spcPts val="0"/>
              </a:spcBef>
            </a:pPr>
            <a:r>
              <a:rPr lang="en-US" sz="2000" dirty="0"/>
              <a:t>Time is limited and pressing for the right decision</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343149"/>
            <a:ext cx="205740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Image result for Intuition">
            <a:extLst>
              <a:ext uri="{FF2B5EF4-FFF2-40B4-BE49-F238E27FC236}">
                <a16:creationId xmlns:a16="http://schemas.microsoft.com/office/drawing/2014/main" id="{D770B38A-3051-457C-8EA8-C21032956B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3678036"/>
            <a:ext cx="2667000" cy="1500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647924"/>
      </p:ext>
    </p:extLst>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en-US" sz="4000" dirty="0"/>
              <a:t>The Role of Intuition</a:t>
            </a:r>
          </a:p>
        </p:txBody>
      </p:sp>
      <p:sp>
        <p:nvSpPr>
          <p:cNvPr id="27651" name="Rectangle 3"/>
          <p:cNvSpPr>
            <a:spLocks noGrp="1" noChangeArrowheads="1"/>
          </p:cNvSpPr>
          <p:nvPr>
            <p:ph sz="quarter" idx="13"/>
          </p:nvPr>
        </p:nvSpPr>
        <p:spPr/>
        <p:txBody>
          <a:bodyPr>
            <a:normAutofit/>
          </a:bodyPr>
          <a:lstStyle/>
          <a:p>
            <a:pPr>
              <a:spcBef>
                <a:spcPct val="50000"/>
              </a:spcBef>
            </a:pPr>
            <a:r>
              <a:rPr lang="en-US" dirty="0"/>
              <a:t>Intuitive decision making</a:t>
            </a:r>
          </a:p>
          <a:p>
            <a:pPr lvl="1">
              <a:spcBef>
                <a:spcPct val="50000"/>
              </a:spcBef>
            </a:pPr>
            <a:r>
              <a:rPr lang="en-US" dirty="0"/>
              <a:t>Making decisions on the basis of experience, feelings, and accumulated judgment. </a:t>
            </a:r>
          </a:p>
          <a:p>
            <a:pPr>
              <a:buFont typeface="Arial" pitchFamily="34" charset="0"/>
              <a:buChar char="•"/>
              <a:defRPr/>
            </a:pPr>
            <a:endParaRPr lang="en-US" sz="2400" dirty="0"/>
          </a:p>
          <a:p>
            <a:pPr marL="0" indent="0" algn="ctr">
              <a:buNone/>
              <a:defRPr/>
            </a:pPr>
            <a:r>
              <a:rPr lang="en-US" sz="2400" b="1" i="1" dirty="0"/>
              <a:t>Intuition – quick apprehension of situation based on practice and experience</a:t>
            </a:r>
            <a:endParaRPr lang="en-US" dirty="0"/>
          </a:p>
          <a:p>
            <a:pPr lvl="1">
              <a:spcBef>
                <a:spcPct val="50000"/>
              </a:spcBef>
            </a:pPr>
            <a:endParaRPr lang="en-US" dirty="0"/>
          </a:p>
        </p:txBody>
      </p:sp>
      <p:pic>
        <p:nvPicPr>
          <p:cNvPr id="4" name="Picture 5"/>
          <p:cNvPicPr>
            <a:picLocks noChangeAspect="1" noChangeArrowheads="1"/>
          </p:cNvPicPr>
          <p:nvPr/>
        </p:nvPicPr>
        <p:blipFill>
          <a:blip r:embed="rId3"/>
          <a:srcRect/>
          <a:stretch>
            <a:fillRect/>
          </a:stretch>
        </p:blipFill>
        <p:spPr bwMode="auto">
          <a:xfrm>
            <a:off x="635668" y="1314450"/>
            <a:ext cx="7898732" cy="3848100"/>
          </a:xfrm>
          <a:prstGeom prst="rect">
            <a:avLst/>
          </a:prstGeom>
          <a:noFill/>
          <a:ln w="9525">
            <a:noFill/>
            <a:miter lim="800000"/>
            <a:headEnd/>
            <a:tailEnd/>
          </a:ln>
        </p:spPr>
      </p:pic>
    </p:spTree>
    <p:extLst>
      <p:ext uri="{BB962C8B-B14F-4D97-AF65-F5344CB8AC3E}">
        <p14:creationId xmlns:p14="http://schemas.microsoft.com/office/powerpoint/2010/main" val="216841123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Individual Differences in Decision Making</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24</a:t>
            </a:fld>
            <a:endParaRPr lang="en-US"/>
          </a:p>
        </p:txBody>
      </p:sp>
      <p:sp>
        <p:nvSpPr>
          <p:cNvPr id="4" name="Content Placeholder 3"/>
          <p:cNvSpPr>
            <a:spLocks noGrp="1"/>
          </p:cNvSpPr>
          <p:nvPr>
            <p:ph sz="quarter" idx="13"/>
          </p:nvPr>
        </p:nvSpPr>
        <p:spPr/>
        <p:txBody>
          <a:bodyPr/>
          <a:lstStyle/>
          <a:p>
            <a:pPr marL="342900" indent="-342900">
              <a:spcBef>
                <a:spcPct val="20000"/>
              </a:spcBef>
              <a:buClr>
                <a:schemeClr val="tx1"/>
              </a:buClr>
              <a:buFont typeface="Wingdings" pitchFamily="2" charset="2"/>
              <a:buChar char="Ø"/>
            </a:pPr>
            <a:r>
              <a:rPr lang="en-US" sz="2400" dirty="0"/>
              <a:t>Personality </a:t>
            </a:r>
          </a:p>
          <a:p>
            <a:pPr marL="742950" lvl="1" indent="-285750">
              <a:spcBef>
                <a:spcPct val="20000"/>
              </a:spcBef>
              <a:buClr>
                <a:schemeClr val="tx1"/>
              </a:buClr>
              <a:buFont typeface="Wingdings" pitchFamily="2" charset="2"/>
              <a:buChar char="Ø"/>
            </a:pPr>
            <a:r>
              <a:rPr lang="en-US" sz="2200" dirty="0"/>
              <a:t>Aspects of </a:t>
            </a:r>
            <a:r>
              <a:rPr lang="en-US" sz="2200" b="1" dirty="0"/>
              <a:t>conscientiousnes</a:t>
            </a:r>
            <a:r>
              <a:rPr lang="en-US" sz="2200" dirty="0"/>
              <a:t>s and </a:t>
            </a:r>
            <a:r>
              <a:rPr lang="en-US" sz="2200" b="1" dirty="0"/>
              <a:t>escalation of commitment</a:t>
            </a:r>
            <a:r>
              <a:rPr lang="en-US" sz="2200" dirty="0"/>
              <a:t>.</a:t>
            </a:r>
          </a:p>
          <a:p>
            <a:pPr marL="342900" indent="-342900">
              <a:spcBef>
                <a:spcPct val="20000"/>
              </a:spcBef>
              <a:buClr>
                <a:schemeClr val="tx1"/>
              </a:buClr>
              <a:buFont typeface="Wingdings" pitchFamily="2" charset="2"/>
              <a:buChar char="Ø"/>
            </a:pPr>
            <a:r>
              <a:rPr lang="en-US" sz="2400" dirty="0"/>
              <a:t>Self Esteem          High self serving bias </a:t>
            </a:r>
          </a:p>
          <a:p>
            <a:pPr marL="342900" indent="-342900">
              <a:spcBef>
                <a:spcPct val="20000"/>
              </a:spcBef>
              <a:buClr>
                <a:schemeClr val="tx1"/>
              </a:buClr>
              <a:buFont typeface="Wingdings" pitchFamily="2" charset="2"/>
              <a:buChar char="Ø"/>
            </a:pPr>
            <a:r>
              <a:rPr lang="en-US" sz="2400" dirty="0"/>
              <a:t>Gender </a:t>
            </a:r>
          </a:p>
          <a:p>
            <a:pPr marL="742950" lvl="1" indent="-285750">
              <a:spcBef>
                <a:spcPct val="20000"/>
              </a:spcBef>
              <a:buClr>
                <a:schemeClr val="tx1"/>
              </a:buClr>
              <a:buFont typeface="Wingdings" pitchFamily="2" charset="2"/>
              <a:buChar char="Ø"/>
            </a:pPr>
            <a:r>
              <a:rPr lang="en-US" sz="2200" dirty="0"/>
              <a:t>Women tend to analyze decisions more than men.</a:t>
            </a:r>
          </a:p>
        </p:txBody>
      </p:sp>
    </p:spTree>
    <p:extLst>
      <p:ext uri="{BB962C8B-B14F-4D97-AF65-F5344CB8AC3E}">
        <p14:creationId xmlns:p14="http://schemas.microsoft.com/office/powerpoint/2010/main" val="3514377873"/>
      </p:ext>
    </p:extLst>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Common Biases and Errors in Decision Making</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25</a:t>
            </a:fld>
            <a:endParaRPr lang="en-US"/>
          </a:p>
        </p:txBody>
      </p:sp>
      <p:sp>
        <p:nvSpPr>
          <p:cNvPr id="4" name="Content Placeholder 3"/>
          <p:cNvSpPr>
            <a:spLocks noGrp="1"/>
          </p:cNvSpPr>
          <p:nvPr>
            <p:ph sz="quarter" idx="13"/>
          </p:nvPr>
        </p:nvSpPr>
        <p:spPr/>
        <p:txBody>
          <a:bodyPr>
            <a:noAutofit/>
          </a:bodyPr>
          <a:lstStyle/>
          <a:p>
            <a:r>
              <a:rPr lang="en-US" sz="2000" b="1" u="sng" dirty="0"/>
              <a:t>Anchoring Bias</a:t>
            </a:r>
          </a:p>
          <a:p>
            <a:pPr lvl="1"/>
            <a:r>
              <a:rPr lang="en-US" sz="2000" dirty="0"/>
              <a:t>Using early, first received information as the basis for making subsequent judgments.</a:t>
            </a:r>
          </a:p>
          <a:p>
            <a:pPr marL="365760" lvl="1" indent="0">
              <a:buNone/>
            </a:pPr>
            <a:endParaRPr lang="en-US" sz="1200" dirty="0"/>
          </a:p>
          <a:p>
            <a:pPr>
              <a:spcBef>
                <a:spcPts val="0"/>
              </a:spcBef>
            </a:pPr>
            <a:r>
              <a:rPr lang="en-US" sz="2000" b="1" u="sng" dirty="0"/>
              <a:t>Availability Heuristic Bias</a:t>
            </a:r>
          </a:p>
          <a:p>
            <a:pPr lvl="1">
              <a:spcBef>
                <a:spcPts val="0"/>
              </a:spcBef>
            </a:pPr>
            <a:r>
              <a:rPr lang="en-US" sz="2000" dirty="0"/>
              <a:t>Using information that is most readily at hand.</a:t>
            </a:r>
          </a:p>
          <a:p>
            <a:pPr lvl="2">
              <a:spcBef>
                <a:spcPts val="0"/>
              </a:spcBef>
            </a:pPr>
            <a:r>
              <a:rPr lang="en-US" sz="1800" dirty="0">
                <a:solidFill>
                  <a:srgbClr val="CC6600"/>
                </a:solidFill>
              </a:rPr>
              <a:t>Recent </a:t>
            </a:r>
          </a:p>
          <a:p>
            <a:pPr lvl="2">
              <a:spcBef>
                <a:spcPts val="0"/>
              </a:spcBef>
            </a:pPr>
            <a:r>
              <a:rPr lang="en-US" sz="1800" dirty="0">
                <a:solidFill>
                  <a:srgbClr val="CC6600"/>
                </a:solidFill>
              </a:rPr>
              <a:t>Vivid </a:t>
            </a:r>
          </a:p>
          <a:p>
            <a:r>
              <a:rPr lang="en-US" sz="2000" b="1" u="sng" dirty="0"/>
              <a:t>Bandwagon Effect</a:t>
            </a:r>
          </a:p>
          <a:p>
            <a:pPr lvl="1"/>
            <a:r>
              <a:rPr lang="en-US" sz="2000" dirty="0"/>
              <a:t>The tendency people have to adopt a certain behavior, style, or attitude simply because </a:t>
            </a:r>
            <a:r>
              <a:rPr lang="en-US" sz="2000" dirty="0">
                <a:highlight>
                  <a:srgbClr val="FFFF00"/>
                </a:highlight>
              </a:rPr>
              <a:t>everyone else is doing it</a:t>
            </a:r>
            <a:r>
              <a:rPr lang="en-US" sz="2000" dirty="0"/>
              <a:t>.</a:t>
            </a:r>
          </a:p>
        </p:txBody>
      </p:sp>
    </p:spTree>
    <p:extLst>
      <p:ext uri="{BB962C8B-B14F-4D97-AF65-F5344CB8AC3E}">
        <p14:creationId xmlns:p14="http://schemas.microsoft.com/office/powerpoint/2010/main" val="2196272314"/>
      </p:ext>
    </p:extLst>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Common Biases and Errors in Decision Making (Cont.)</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26</a:t>
            </a:fld>
            <a:endParaRPr lang="en-US"/>
          </a:p>
        </p:txBody>
      </p:sp>
      <p:sp>
        <p:nvSpPr>
          <p:cNvPr id="4" name="Content Placeholder 3"/>
          <p:cNvSpPr>
            <a:spLocks noGrp="1"/>
          </p:cNvSpPr>
          <p:nvPr>
            <p:ph sz="quarter" idx="13"/>
          </p:nvPr>
        </p:nvSpPr>
        <p:spPr/>
        <p:txBody>
          <a:bodyPr>
            <a:noAutofit/>
          </a:bodyPr>
          <a:lstStyle/>
          <a:p>
            <a:pPr>
              <a:spcBef>
                <a:spcPts val="300"/>
              </a:spcBef>
            </a:pPr>
            <a:r>
              <a:rPr lang="en-US" sz="2000" b="1" u="sng" dirty="0"/>
              <a:t>Representative Bias</a:t>
            </a:r>
            <a:r>
              <a:rPr lang="en-US" sz="2000" b="1" dirty="0"/>
              <a:t> </a:t>
            </a:r>
            <a:r>
              <a:rPr lang="en-US" sz="2000" b="1" i="1" dirty="0"/>
              <a:t>(Choice Supportive Bias)</a:t>
            </a:r>
          </a:p>
          <a:p>
            <a:pPr lvl="1">
              <a:spcBef>
                <a:spcPts val="300"/>
              </a:spcBef>
            </a:pPr>
            <a:r>
              <a:rPr lang="en-US" sz="1800" dirty="0"/>
              <a:t>Assessing the likelihood of an occurrence by trying to match it with a preexisting category using only the facts that support our decision.</a:t>
            </a:r>
          </a:p>
          <a:p>
            <a:pPr lvl="1">
              <a:spcBef>
                <a:spcPts val="300"/>
              </a:spcBef>
            </a:pPr>
            <a:r>
              <a:rPr lang="en-US" sz="1800" dirty="0"/>
              <a:t>“Mixing apples with oranges”</a:t>
            </a:r>
          </a:p>
          <a:p>
            <a:pPr>
              <a:spcBef>
                <a:spcPts val="300"/>
              </a:spcBef>
            </a:pPr>
            <a:r>
              <a:rPr lang="en-US" sz="2000" b="1" u="sng" dirty="0"/>
              <a:t>Confirmation Bias</a:t>
            </a:r>
          </a:p>
          <a:p>
            <a:pPr lvl="1">
              <a:spcBef>
                <a:spcPts val="300"/>
              </a:spcBef>
            </a:pPr>
            <a:r>
              <a:rPr lang="en-US" sz="1800" dirty="0"/>
              <a:t>Using only the facts that support our decision. Confirming what we already know</a:t>
            </a:r>
          </a:p>
          <a:p>
            <a:pPr>
              <a:spcBef>
                <a:spcPts val="300"/>
              </a:spcBef>
            </a:pPr>
            <a:r>
              <a:rPr lang="en-US" sz="2000" b="1" u="sng" dirty="0"/>
              <a:t>Ostrich Bias</a:t>
            </a:r>
            <a:endParaRPr lang="en-US" sz="2000" b="1" i="1" dirty="0"/>
          </a:p>
          <a:p>
            <a:pPr lvl="1">
              <a:spcBef>
                <a:spcPts val="300"/>
              </a:spcBef>
            </a:pPr>
            <a:r>
              <a:rPr lang="en-US" sz="1800" dirty="0"/>
              <a:t>Ignoring the negative information – Smokers ignoring effects of cigarette</a:t>
            </a:r>
          </a:p>
        </p:txBody>
      </p:sp>
      <p:sp>
        <p:nvSpPr>
          <p:cNvPr id="5" name="TextBox 4"/>
          <p:cNvSpPr txBox="1"/>
          <p:nvPr/>
        </p:nvSpPr>
        <p:spPr>
          <a:xfrm>
            <a:off x="533400" y="4676138"/>
            <a:ext cx="6934200" cy="369332"/>
          </a:xfrm>
          <a:prstGeom prst="rect">
            <a:avLst/>
          </a:prstGeom>
          <a:noFill/>
        </p:spPr>
        <p:txBody>
          <a:bodyPr wrap="square" rtlCol="0">
            <a:spAutoFit/>
          </a:bodyPr>
          <a:lstStyle/>
          <a:p>
            <a:r>
              <a:rPr lang="en-US" dirty="0">
                <a:solidFill>
                  <a:srgbClr val="FF0000"/>
                </a:solidFill>
              </a:rPr>
              <a:t>Watch Video: </a:t>
            </a:r>
            <a:r>
              <a:rPr lang="en-US" dirty="0">
                <a:solidFill>
                  <a:srgbClr val="FF0000"/>
                </a:solidFill>
                <a:hlinkClick r:id="rId2"/>
              </a:rPr>
              <a:t>https://www.youtube.com/watch?v=wEwGBIr_RIw</a:t>
            </a:r>
            <a:r>
              <a:rPr lang="en-US" dirty="0">
                <a:solidFill>
                  <a:srgbClr val="FF0000"/>
                </a:solidFill>
              </a:rPr>
              <a:t> </a:t>
            </a:r>
          </a:p>
        </p:txBody>
      </p:sp>
    </p:spTree>
    <p:extLst>
      <p:ext uri="{BB962C8B-B14F-4D97-AF65-F5344CB8AC3E}">
        <p14:creationId xmlns:p14="http://schemas.microsoft.com/office/powerpoint/2010/main" val="3093208192"/>
      </p:ext>
    </p:extLst>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Common Biases and Errors in Decision Making (Cont.)</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27</a:t>
            </a:fld>
            <a:endParaRPr lang="en-US"/>
          </a:p>
        </p:txBody>
      </p:sp>
      <p:sp>
        <p:nvSpPr>
          <p:cNvPr id="4" name="Content Placeholder 3"/>
          <p:cNvSpPr>
            <a:spLocks noGrp="1"/>
          </p:cNvSpPr>
          <p:nvPr>
            <p:ph sz="quarter" idx="13"/>
          </p:nvPr>
        </p:nvSpPr>
        <p:spPr/>
        <p:txBody>
          <a:bodyPr>
            <a:noAutofit/>
          </a:bodyPr>
          <a:lstStyle/>
          <a:p>
            <a:r>
              <a:rPr lang="en-US" sz="2000" b="1" u="sng" dirty="0"/>
              <a:t>Overconfidence Bias</a:t>
            </a:r>
          </a:p>
          <a:p>
            <a:pPr lvl="1"/>
            <a:r>
              <a:rPr lang="en-US" sz="2000" dirty="0"/>
              <a:t>Believing too much in our own ability to make good decisions.</a:t>
            </a:r>
            <a:endParaRPr lang="en-US" sz="2000" b="1" u="sng" dirty="0"/>
          </a:p>
          <a:p>
            <a:pPr>
              <a:spcBef>
                <a:spcPts val="0"/>
              </a:spcBef>
            </a:pPr>
            <a:r>
              <a:rPr lang="en-US" sz="2000" b="1" u="sng" dirty="0"/>
              <a:t>Escalation of Commitment</a:t>
            </a:r>
          </a:p>
          <a:p>
            <a:pPr lvl="1">
              <a:spcBef>
                <a:spcPts val="0"/>
              </a:spcBef>
            </a:pPr>
            <a:r>
              <a:rPr lang="en-US" sz="2000" dirty="0"/>
              <a:t>Despite setbacks, you continue projects which add up more resource time and money (</a:t>
            </a:r>
            <a:r>
              <a:rPr lang="en-US" sz="2000" dirty="0" err="1"/>
              <a:t>e.g</a:t>
            </a:r>
            <a:r>
              <a:rPr lang="en-US" sz="2000" dirty="0"/>
              <a:t> orange line Lahore, nuclear power plant new </a:t>
            </a:r>
            <a:r>
              <a:rPr lang="en-US" sz="2000" dirty="0" err="1"/>
              <a:t>york</a:t>
            </a:r>
            <a:r>
              <a:rPr lang="en-US" sz="2000" dirty="0"/>
              <a:t>) .</a:t>
            </a:r>
          </a:p>
          <a:p>
            <a:pPr>
              <a:spcBef>
                <a:spcPts val="0"/>
              </a:spcBef>
            </a:pPr>
            <a:r>
              <a:rPr lang="en-US" sz="2000" b="1" u="sng" dirty="0"/>
              <a:t>Randomness Error</a:t>
            </a:r>
          </a:p>
          <a:p>
            <a:pPr lvl="1">
              <a:spcBef>
                <a:spcPts val="0"/>
              </a:spcBef>
            </a:pPr>
            <a:r>
              <a:rPr lang="en-US" sz="2000" dirty="0"/>
              <a:t>Creating meaning out of random events</a:t>
            </a:r>
            <a:endParaRPr lang="en-US" sz="2000" b="1" u="sng" dirty="0"/>
          </a:p>
        </p:txBody>
      </p:sp>
    </p:spTree>
    <p:extLst>
      <p:ext uri="{BB962C8B-B14F-4D97-AF65-F5344CB8AC3E}">
        <p14:creationId xmlns:p14="http://schemas.microsoft.com/office/powerpoint/2010/main" val="523525769"/>
      </p:ext>
    </p:extLst>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4310"/>
            <a:ext cx="7848600" cy="1005840"/>
          </a:xfrm>
        </p:spPr>
        <p:txBody>
          <a:bodyPr>
            <a:normAutofit fontScale="90000"/>
          </a:bodyPr>
          <a:lstStyle/>
          <a:p>
            <a:r>
              <a:rPr lang="en-US" dirty="0"/>
              <a:t>Exercise for Decision Making</a:t>
            </a:r>
            <a:br>
              <a:rPr lang="en-US" dirty="0"/>
            </a:br>
            <a:r>
              <a:rPr lang="en-US" sz="2200" dirty="0"/>
              <a:t>Read each sample decision and decide whether it is Type A (rational) or Type B (intuitive):</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28</a:t>
            </a:fld>
            <a:endParaRPr lang="en-US"/>
          </a:p>
        </p:txBody>
      </p:sp>
      <p:sp>
        <p:nvSpPr>
          <p:cNvPr id="4" name="Content Placeholder 3"/>
          <p:cNvSpPr>
            <a:spLocks noGrp="1"/>
          </p:cNvSpPr>
          <p:nvPr>
            <p:ph sz="quarter" idx="13"/>
          </p:nvPr>
        </p:nvSpPr>
        <p:spPr/>
        <p:txBody>
          <a:bodyPr>
            <a:noAutofit/>
          </a:bodyPr>
          <a:lstStyle/>
          <a:p>
            <a:pPr marL="463550" indent="-463550">
              <a:spcBef>
                <a:spcPts val="0"/>
              </a:spcBef>
              <a:buFont typeface="+mj-lt"/>
              <a:buAutoNum type="arabicPeriod"/>
            </a:pPr>
            <a:r>
              <a:rPr lang="en-US" sz="1800" dirty="0"/>
              <a:t>Getting yourself from your place of work to a meeting in another specific location.</a:t>
            </a:r>
          </a:p>
          <a:p>
            <a:pPr marL="463550" indent="-463550">
              <a:spcBef>
                <a:spcPts val="0"/>
              </a:spcBef>
              <a:buFont typeface="+mj-lt"/>
              <a:buAutoNum type="arabicPeriod"/>
            </a:pPr>
            <a:r>
              <a:rPr lang="en-US" sz="1800" dirty="0"/>
              <a:t>Being dropped anywhere in the country, without knowing where, with PKR 1000, and the task of getting home. Imagine yourself standing in a city surrounded by a light fog.</a:t>
            </a:r>
          </a:p>
          <a:p>
            <a:pPr marL="463550" indent="-463550">
              <a:spcBef>
                <a:spcPts val="0"/>
              </a:spcBef>
              <a:buFont typeface="+mj-lt"/>
              <a:buAutoNum type="arabicPeriod"/>
            </a:pPr>
            <a:r>
              <a:rPr lang="en-US" sz="1800" dirty="0"/>
              <a:t>Choosing the means of communicating some minor redundancies in the company, given a 48-hour deadline and a partly unionized workforce.</a:t>
            </a:r>
          </a:p>
          <a:p>
            <a:pPr marL="463550" indent="-463550">
              <a:spcBef>
                <a:spcPts val="0"/>
              </a:spcBef>
              <a:buFont typeface="+mj-lt"/>
              <a:buAutoNum type="arabicPeriod"/>
            </a:pPr>
            <a:r>
              <a:rPr lang="en-US" sz="1800" dirty="0"/>
              <a:t>Selecting an incentive payment scheme for a work area where workloads are extremely variable and where payment has previously been on a flat rate.</a:t>
            </a:r>
          </a:p>
          <a:p>
            <a:pPr marL="463550" indent="-463550">
              <a:spcBef>
                <a:spcPts val="0"/>
              </a:spcBef>
              <a:buFont typeface="+mj-lt"/>
              <a:buAutoNum type="arabicPeriod"/>
            </a:pPr>
            <a:r>
              <a:rPr lang="en-US" sz="1800" dirty="0"/>
              <a:t>Deciding how to approach your boss about a </a:t>
            </a:r>
            <a:r>
              <a:rPr lang="en-US" sz="1800" dirty="0" err="1"/>
              <a:t>favour</a:t>
            </a:r>
            <a:r>
              <a:rPr lang="en-US" sz="1800" dirty="0"/>
              <a:t> you want and knowing that he or she can be very moody and changeable.</a:t>
            </a:r>
          </a:p>
          <a:p>
            <a:pPr marL="463550" indent="-463550">
              <a:spcBef>
                <a:spcPts val="0"/>
              </a:spcBef>
              <a:buFont typeface="+mj-lt"/>
              <a:buAutoNum type="arabicPeriod"/>
            </a:pPr>
            <a:r>
              <a:rPr lang="en-US" sz="1800" dirty="0"/>
              <a:t>Deciding how to run a particular appraisal interview.</a:t>
            </a:r>
          </a:p>
        </p:txBody>
      </p:sp>
      <p:sp>
        <p:nvSpPr>
          <p:cNvPr id="5" name="TextBox 4"/>
          <p:cNvSpPr txBox="1"/>
          <p:nvPr/>
        </p:nvSpPr>
        <p:spPr>
          <a:xfrm>
            <a:off x="0" y="1352550"/>
            <a:ext cx="533400" cy="3139321"/>
          </a:xfrm>
          <a:prstGeom prst="rect">
            <a:avLst/>
          </a:prstGeom>
          <a:noFill/>
        </p:spPr>
        <p:txBody>
          <a:bodyPr wrap="square" rtlCol="0">
            <a:spAutoFit/>
          </a:bodyPr>
          <a:lstStyle/>
          <a:p>
            <a:pPr algn="r"/>
            <a:r>
              <a:rPr lang="en-US" dirty="0"/>
              <a:t>A</a:t>
            </a:r>
          </a:p>
          <a:p>
            <a:pPr algn="r"/>
            <a:endParaRPr lang="en-US" dirty="0"/>
          </a:p>
          <a:p>
            <a:pPr algn="r"/>
            <a:r>
              <a:rPr lang="en-US" dirty="0"/>
              <a:t>B</a:t>
            </a:r>
          </a:p>
          <a:p>
            <a:pPr algn="r"/>
            <a:endParaRPr lang="en-US" dirty="0"/>
          </a:p>
          <a:p>
            <a:pPr algn="r"/>
            <a:r>
              <a:rPr lang="en-US" dirty="0"/>
              <a:t>A</a:t>
            </a:r>
          </a:p>
          <a:p>
            <a:pPr algn="r"/>
            <a:endParaRPr lang="en-US" dirty="0"/>
          </a:p>
          <a:p>
            <a:pPr algn="r"/>
            <a:r>
              <a:rPr lang="en-US" dirty="0"/>
              <a:t>A</a:t>
            </a:r>
          </a:p>
          <a:p>
            <a:pPr algn="r"/>
            <a:endParaRPr lang="en-US" dirty="0"/>
          </a:p>
          <a:p>
            <a:pPr algn="r"/>
            <a:r>
              <a:rPr lang="en-US" dirty="0"/>
              <a:t>B</a:t>
            </a:r>
          </a:p>
          <a:p>
            <a:pPr algn="r"/>
            <a:endParaRPr lang="en-US" dirty="0"/>
          </a:p>
          <a:p>
            <a:pPr algn="r"/>
            <a:r>
              <a:rPr lang="en-US" dirty="0"/>
              <a:t>B</a:t>
            </a:r>
          </a:p>
        </p:txBody>
      </p:sp>
    </p:spTree>
    <p:extLst>
      <p:ext uri="{BB962C8B-B14F-4D97-AF65-F5344CB8AC3E}">
        <p14:creationId xmlns:p14="http://schemas.microsoft.com/office/powerpoint/2010/main" val="240708767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Ethics in Decision Making</a:t>
            </a:r>
          </a:p>
        </p:txBody>
      </p:sp>
      <p:sp>
        <p:nvSpPr>
          <p:cNvPr id="28675" name="Rectangle 3"/>
          <p:cNvSpPr>
            <a:spLocks noGrp="1" noChangeArrowheads="1"/>
          </p:cNvSpPr>
          <p:nvPr>
            <p:ph sz="quarter" idx="13"/>
          </p:nvPr>
        </p:nvSpPr>
        <p:spPr/>
        <p:txBody>
          <a:bodyPr>
            <a:normAutofit/>
          </a:bodyPr>
          <a:lstStyle/>
          <a:p>
            <a:pPr eaLnBrk="1" hangingPunct="1"/>
            <a:r>
              <a:rPr lang="en-US" sz="2000" dirty="0"/>
              <a:t>Ethical Decision Criteria</a:t>
            </a:r>
          </a:p>
          <a:p>
            <a:pPr lvl="1" eaLnBrk="1" hangingPunct="1"/>
            <a:r>
              <a:rPr lang="en-US" sz="2000" dirty="0"/>
              <a:t>Utilitarianism</a:t>
            </a:r>
          </a:p>
          <a:p>
            <a:pPr lvl="2" eaLnBrk="1" hangingPunct="1"/>
            <a:r>
              <a:rPr lang="en-US" sz="2000" dirty="0"/>
              <a:t>Seeking the greatest good for the greatest number.</a:t>
            </a:r>
          </a:p>
          <a:p>
            <a:pPr lvl="1" eaLnBrk="1" hangingPunct="1"/>
            <a:r>
              <a:rPr lang="en-US" sz="2000" dirty="0"/>
              <a:t>Rights</a:t>
            </a:r>
          </a:p>
          <a:p>
            <a:pPr lvl="2" eaLnBrk="1" hangingPunct="1"/>
            <a:r>
              <a:rPr lang="en-US" sz="2000" dirty="0"/>
              <a:t>Respecting and protecting basic rights of individuals such as whistleblowers.</a:t>
            </a:r>
          </a:p>
          <a:p>
            <a:pPr lvl="1" eaLnBrk="1" hangingPunct="1"/>
            <a:r>
              <a:rPr lang="en-US" sz="2000" dirty="0"/>
              <a:t>Justice</a:t>
            </a:r>
          </a:p>
          <a:p>
            <a:pPr lvl="2" eaLnBrk="1" hangingPunct="1"/>
            <a:r>
              <a:rPr lang="en-US" sz="2000" dirty="0"/>
              <a:t>Imposing and enforcing rules fairly and impartially.</a:t>
            </a:r>
          </a:p>
        </p:txBody>
      </p:sp>
      <p:pic>
        <p:nvPicPr>
          <p:cNvPr id="28676" name="Picture 4" descr="so0007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64400" y="3333750"/>
            <a:ext cx="1879600" cy="120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4868782"/>
      </p:ext>
    </p:extLst>
  </p:cSld>
  <p:clrMapOvr>
    <a:masterClrMapping/>
  </p:clrMapOvr>
  <p:transition>
    <p:pull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5199</Words>
  <Application>Microsoft Office PowerPoint</Application>
  <PresentationFormat>On-screen Show (16:9)</PresentationFormat>
  <Paragraphs>384</Paragraphs>
  <Slides>29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Century Schoolbook</vt:lpstr>
      <vt:lpstr>Times New Roman</vt:lpstr>
      <vt:lpstr>Tw Cen MT</vt:lpstr>
      <vt:lpstr>Wingdings</vt:lpstr>
      <vt:lpstr>Wingdings 2</vt:lpstr>
      <vt:lpstr>WidescreenPresentation</vt:lpstr>
      <vt:lpstr>Perception and Individual Decision Making</vt:lpstr>
      <vt:lpstr>COUNT THE NUMBER OF F'S IN THE BOX</vt:lpstr>
      <vt:lpstr>PowerPoint Presentation</vt:lpstr>
      <vt:lpstr>PowerPoint Presentation</vt:lpstr>
      <vt:lpstr>What Is Perception?</vt:lpstr>
      <vt:lpstr>Importance of Perception</vt:lpstr>
      <vt:lpstr>How do we take in information?</vt:lpstr>
      <vt:lpstr>Factors That Influence Perception</vt:lpstr>
      <vt:lpstr>Person Perception: Making Judgments About Others</vt:lpstr>
      <vt:lpstr>Attribution Theory</vt:lpstr>
      <vt:lpstr>Errors and Biases in Attributions</vt:lpstr>
      <vt:lpstr>Errors and Biases in Attributions (cont’d)</vt:lpstr>
      <vt:lpstr>Frequently Used Shortcuts in Judging Others</vt:lpstr>
      <vt:lpstr>Frequently Used Shortcuts in Judging Others</vt:lpstr>
      <vt:lpstr>Frequently Used Shortcuts in Judging Others</vt:lpstr>
      <vt:lpstr>PowerPoint Presentation</vt:lpstr>
      <vt:lpstr>Application of Perceptual Biases in Organizations</vt:lpstr>
      <vt:lpstr>The Link Between Perceptions and Individual Decision Making</vt:lpstr>
      <vt:lpstr>Rational Decision-Making Model</vt:lpstr>
      <vt:lpstr>Steps in the Rational Decision-Making Model</vt:lpstr>
      <vt:lpstr>How Are Decisions Actually Made in Organizations?</vt:lpstr>
      <vt:lpstr>Intuition</vt:lpstr>
      <vt:lpstr>The Role of Intuition</vt:lpstr>
      <vt:lpstr>Individual Differences in Decision Making</vt:lpstr>
      <vt:lpstr>Common Biases and Errors in Decision Making</vt:lpstr>
      <vt:lpstr>Common Biases and Errors in Decision Making (Cont.)</vt:lpstr>
      <vt:lpstr>Common Biases and Errors in Decision Making (Cont.)</vt:lpstr>
      <vt:lpstr>Exercise for Decision Making Read each sample decision and decide whether it is Type A (rational) or Type B (intuitive):</vt:lpstr>
      <vt:lpstr>Ethics in Decision Making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2025-09-12T04:11:59Z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