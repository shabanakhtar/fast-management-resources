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0"/>
  </p:notesMasterIdLst>
  <p:handoutMasterIdLst>
    <p:handoutMasterId r:id="rId21"/>
  </p:handoutMasterIdLst>
  <p:sldIdLst>
    <p:sldId id="265" r:id="rId2"/>
    <p:sldId id="497" r:id="rId3"/>
    <p:sldId id="568" r:id="rId4"/>
    <p:sldId id="585" r:id="rId5"/>
    <p:sldId id="569" r:id="rId6"/>
    <p:sldId id="502" r:id="rId7"/>
    <p:sldId id="577" r:id="rId8"/>
    <p:sldId id="506" r:id="rId9"/>
    <p:sldId id="508" r:id="rId10"/>
    <p:sldId id="509" r:id="rId11"/>
    <p:sldId id="576" r:id="rId12"/>
    <p:sldId id="538" r:id="rId13"/>
    <p:sldId id="580" r:id="rId14"/>
    <p:sldId id="581" r:id="rId15"/>
    <p:sldId id="582" r:id="rId16"/>
    <p:sldId id="583" r:id="rId17"/>
    <p:sldId id="586" r:id="rId18"/>
    <p:sldId id="566" r:id="rId19"/>
  </p:sldIdLst>
  <p:sldSz cx="9144000" cy="5143500" type="screen16x9"/>
  <p:notesSz cx="7315200" cy="96012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0" autoAdjust="0"/>
    <p:restoredTop sz="83126" autoAdjust="0"/>
  </p:normalViewPr>
  <p:slideViewPr>
    <p:cSldViewPr>
      <p:cViewPr varScale="1">
        <p:scale>
          <a:sx n="90" d="100"/>
          <a:sy n="90" d="100"/>
        </p:scale>
        <p:origin x="1118" y="82"/>
      </p:cViewPr>
      <p:guideLst>
        <p:guide orient="horz" pos="1620"/>
        <p:guide pos="2880"/>
      </p:guideLst>
    </p:cSldViewPr>
  </p:slideViewPr>
  <p:notesTextViewPr>
    <p:cViewPr>
      <p:scale>
        <a:sx n="100" d="100"/>
        <a:sy n="100" d="100"/>
      </p:scale>
      <p:origin x="0" y="0"/>
    </p:cViewPr>
  </p:notesTextViewPr>
  <p:notesViewPr>
    <p:cSldViewPr>
      <p:cViewPr varScale="1">
        <p:scale>
          <a:sx n="50" d="100"/>
          <a:sy n="50" d="100"/>
        </p:scale>
        <p:origin x="-2862" y="-10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B58BDC80-DC7C-43FD-96E5-532427FD5AF6}" type="datetimeFigureOut">
              <a:rPr lang="en-US" smtClean="0"/>
              <a:pPr/>
              <a:t>11/12/2025</a:t>
            </a:fld>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6249E867-D716-4FCE-A2D3-C62D6ABAC055}" type="slidenum">
              <a:rPr lang="en-US" smtClean="0"/>
              <a:pPr/>
              <a:t>‹#›</a:t>
            </a:fld>
            <a:endParaRPr lang="en-US"/>
          </a:p>
        </p:txBody>
      </p:sp>
    </p:spTree>
    <p:extLst>
      <p:ext uri="{BB962C8B-B14F-4D97-AF65-F5344CB8AC3E}">
        <p14:creationId xmlns:p14="http://schemas.microsoft.com/office/powerpoint/2010/main" val="144717411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extLst/>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extLst/>
          </a:lstStyle>
          <a:p>
            <a:fld id="{A8ADFD5B-A66C-449C-B6E8-FB716D07777D}" type="datetimeFigureOut">
              <a:rPr lang="en-US" smtClean="0"/>
              <a:pPr/>
              <a:t>11/12/2025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1369369957"/>
      </p:ext>
    </p:extLst>
  </p:cSld>
  <p:clrMap bg1="lt1" tx1="dk1" bg2="lt2" tx2="dk2" accent1="accent1" accent2="accent2" accent3="accent3" accent4="accent4" accent5="accent5" accent6="accent6" hlink="hlink" folHlink="folHlink"/>
  <p:hf hdr="0" dt="0"/>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Amal se </a:t>
            </a:r>
            <a:r>
              <a:rPr lang="en-GB" dirty="0" err="1"/>
              <a:t>zindgi</a:t>
            </a:r>
            <a:r>
              <a:rPr lang="en-GB" dirty="0"/>
              <a:t> </a:t>
            </a:r>
            <a:r>
              <a:rPr lang="en-GB" dirty="0" err="1"/>
              <a:t>banti</a:t>
            </a:r>
            <a:r>
              <a:rPr lang="en-GB" dirty="0"/>
              <a:t> </a:t>
            </a:r>
            <a:r>
              <a:rPr lang="en-GB" dirty="0" err="1"/>
              <a:t>hai</a:t>
            </a:r>
            <a:r>
              <a:rPr lang="en-GB" dirty="0"/>
              <a:t>, Jannat </a:t>
            </a:r>
            <a:r>
              <a:rPr lang="en-GB" dirty="0" err="1"/>
              <a:t>bhi</a:t>
            </a:r>
            <a:r>
              <a:rPr lang="en-GB" dirty="0"/>
              <a:t> </a:t>
            </a:r>
            <a:r>
              <a:rPr lang="en-GB" dirty="0" err="1"/>
              <a:t>Jhanam</a:t>
            </a:r>
            <a:r>
              <a:rPr lang="en-GB" dirty="0"/>
              <a:t> </a:t>
            </a:r>
            <a:r>
              <a:rPr lang="en-GB" dirty="0" err="1"/>
              <a:t>bhi</a:t>
            </a:r>
            <a:r>
              <a:rPr lang="en-GB" dirty="0"/>
              <a:t>, </a:t>
            </a:r>
          </a:p>
          <a:p>
            <a:r>
              <a:rPr lang="en-GB" dirty="0"/>
              <a:t>Yeh khaki </a:t>
            </a:r>
            <a:r>
              <a:rPr lang="en-GB" dirty="0" err="1"/>
              <a:t>apni</a:t>
            </a:r>
            <a:r>
              <a:rPr lang="en-GB" dirty="0"/>
              <a:t> </a:t>
            </a:r>
            <a:r>
              <a:rPr lang="en-GB" dirty="0" err="1"/>
              <a:t>fitrat</a:t>
            </a:r>
            <a:r>
              <a:rPr lang="en-GB" dirty="0"/>
              <a:t> main </a:t>
            </a:r>
            <a:r>
              <a:rPr lang="en-GB" dirty="0" err="1"/>
              <a:t>na</a:t>
            </a:r>
            <a:r>
              <a:rPr lang="en-GB" dirty="0"/>
              <a:t> </a:t>
            </a:r>
            <a:r>
              <a:rPr lang="en-GB" dirty="0" err="1"/>
              <a:t>noori</a:t>
            </a:r>
            <a:r>
              <a:rPr lang="en-GB" dirty="0"/>
              <a:t> </a:t>
            </a:r>
            <a:r>
              <a:rPr lang="en-GB" dirty="0" err="1"/>
              <a:t>hai</a:t>
            </a:r>
            <a:r>
              <a:rPr lang="en-GB" dirty="0"/>
              <a:t> </a:t>
            </a:r>
            <a:r>
              <a:rPr lang="en-GB" dirty="0" err="1"/>
              <a:t>na</a:t>
            </a:r>
            <a:r>
              <a:rPr lang="en-GB" dirty="0"/>
              <a:t> </a:t>
            </a:r>
            <a:r>
              <a:rPr lang="en-GB" dirty="0" err="1"/>
              <a:t>nari</a:t>
            </a:r>
            <a:r>
              <a:rPr lang="en-GB" dirty="0"/>
              <a:t>, </a:t>
            </a:r>
          </a:p>
          <a:p>
            <a:endParaRPr lang="en-GB" dirty="0"/>
          </a:p>
          <a:p>
            <a:r>
              <a:rPr lang="en-GB" dirty="0"/>
              <a:t>My position is made, not born</a:t>
            </a:r>
          </a:p>
        </p:txBody>
      </p:sp>
      <p:sp>
        <p:nvSpPr>
          <p:cNvPr id="4" name="Slide Number Placeholder 3"/>
          <p:cNvSpPr>
            <a:spLocks noGrp="1"/>
          </p:cNvSpPr>
          <p:nvPr>
            <p:ph type="sldNum" sz="quarter" idx="5"/>
          </p:nvPr>
        </p:nvSpPr>
        <p:spPr/>
        <p:txBody>
          <a:bodyPr/>
          <a:lstStyle/>
          <a:p>
            <a:fld id="{CA5D3BF3-D352-46FC-8343-31F56E6730EA}" type="slidenum">
              <a:rPr lang="en-US" smtClean="0"/>
              <a:pPr/>
              <a:t>4</a:t>
            </a:fld>
            <a:endParaRPr lang="en-US"/>
          </a:p>
        </p:txBody>
      </p:sp>
    </p:spTree>
    <p:extLst>
      <p:ext uri="{BB962C8B-B14F-4D97-AF65-F5344CB8AC3E}">
        <p14:creationId xmlns:p14="http://schemas.microsoft.com/office/powerpoint/2010/main" val="1555067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What or who is a leader?</a:t>
            </a:r>
          </a:p>
          <a:p>
            <a:pPr>
              <a:buFontTx/>
              <a:buNone/>
            </a:pPr>
            <a:r>
              <a:rPr lang="en-US" sz="1200" dirty="0"/>
              <a:t>- A leader is considered to be an individual who guides, conducts, directs, and influences.</a:t>
            </a:r>
          </a:p>
          <a:p>
            <a:pPr>
              <a:buFontTx/>
              <a:buNone/>
            </a:pPr>
            <a:r>
              <a:rPr lang="en-US" sz="1200" dirty="0"/>
              <a:t>- What is meant by a good leader?  Good leaders are able to get more done with the resources given to them because they know that there comes a point where the increasing effort just isn’t worth the expense required to achieve to the effort. </a:t>
            </a:r>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5</a:t>
            </a:fld>
            <a:endParaRPr lang="en-US"/>
          </a:p>
        </p:txBody>
      </p:sp>
    </p:spTree>
    <p:extLst>
      <p:ext uri="{BB962C8B-B14F-4D97-AF65-F5344CB8AC3E}">
        <p14:creationId xmlns:p14="http://schemas.microsoft.com/office/powerpoint/2010/main" val="463543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40000"/>
              </a:spcBef>
            </a:pPr>
            <a:r>
              <a:rPr lang="en-US" dirty="0"/>
              <a:t>Trait Approaches to Leadership</a:t>
            </a:r>
          </a:p>
          <a:p>
            <a:pPr lvl="1">
              <a:spcBef>
                <a:spcPct val="40000"/>
              </a:spcBef>
            </a:pPr>
            <a:r>
              <a:rPr lang="en-US" dirty="0"/>
              <a:t>Attempts to identify stable and enduring character traits that differentiate effective leaders from non-leaders focusing on:</a:t>
            </a:r>
          </a:p>
          <a:p>
            <a:pPr lvl="1">
              <a:spcBef>
                <a:spcPct val="40000"/>
              </a:spcBef>
            </a:pPr>
            <a:r>
              <a:rPr lang="en-US" dirty="0"/>
              <a:t>Identifying leadership traits</a:t>
            </a:r>
          </a:p>
          <a:p>
            <a:pPr lvl="1">
              <a:spcBef>
                <a:spcPct val="40000"/>
              </a:spcBef>
            </a:pPr>
            <a:r>
              <a:rPr lang="en-US" dirty="0"/>
              <a:t>Developing methods for measuring them - Using the methods to select leaders</a:t>
            </a:r>
          </a:p>
        </p:txBody>
      </p:sp>
      <p:sp>
        <p:nvSpPr>
          <p:cNvPr id="4" name="Slide Number Placeholder 3"/>
          <p:cNvSpPr>
            <a:spLocks noGrp="1"/>
          </p:cNvSpPr>
          <p:nvPr>
            <p:ph type="sldNum" sz="quarter" idx="10"/>
          </p:nvPr>
        </p:nvSpPr>
        <p:spPr/>
        <p:txBody>
          <a:bodyPr/>
          <a:lstStyle/>
          <a:p>
            <a:fld id="{CA5D3BF3-D352-46FC-8343-31F56E6730EA}" type="slidenum">
              <a:rPr lang="en-US" smtClean="0"/>
              <a:pPr/>
              <a:t>8</a:t>
            </a:fld>
            <a:endParaRPr lang="en-US"/>
          </a:p>
        </p:txBody>
      </p:sp>
    </p:spTree>
    <p:extLst>
      <p:ext uri="{BB962C8B-B14F-4D97-AF65-F5344CB8AC3E}">
        <p14:creationId xmlns:p14="http://schemas.microsoft.com/office/powerpoint/2010/main" val="3820428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dirty="0"/>
              <a:t>The University of Michigan Studies (cont.)</a:t>
            </a:r>
          </a:p>
          <a:p>
            <a:pPr lvl="1">
              <a:lnSpc>
                <a:spcPct val="90000"/>
              </a:lnSpc>
            </a:pPr>
            <a:r>
              <a:rPr lang="en-US" dirty="0"/>
              <a:t>Research results</a:t>
            </a:r>
          </a:p>
          <a:p>
            <a:pPr lvl="2">
              <a:lnSpc>
                <a:spcPct val="90000"/>
              </a:lnSpc>
            </a:pPr>
            <a:r>
              <a:rPr lang="en-US" dirty="0"/>
              <a:t>Employee-centered leadership:  higher work unit performance than job-centered leadership</a:t>
            </a:r>
          </a:p>
          <a:p>
            <a:pPr lvl="2">
              <a:lnSpc>
                <a:spcPct val="90000"/>
              </a:lnSpc>
            </a:pPr>
            <a:r>
              <a:rPr lang="en-US" dirty="0"/>
              <a:t>Job-centered leadership: high productivity with several latent dysfunctions</a:t>
            </a:r>
          </a:p>
          <a:p>
            <a:pPr lvl="3">
              <a:lnSpc>
                <a:spcPct val="90000"/>
              </a:lnSpc>
            </a:pPr>
            <a:r>
              <a:rPr lang="en-US" sz="2400" dirty="0"/>
              <a:t>Poor employee attitudes</a:t>
            </a:r>
          </a:p>
          <a:p>
            <a:pPr lvl="3">
              <a:lnSpc>
                <a:spcPct val="90000"/>
              </a:lnSpc>
            </a:pPr>
            <a:r>
              <a:rPr lang="en-US" sz="2400" dirty="0"/>
              <a:t>Higher turnover or absenteeism</a:t>
            </a:r>
          </a:p>
          <a:p>
            <a:pPr lvl="3">
              <a:lnSpc>
                <a:spcPct val="90000"/>
              </a:lnSpc>
            </a:pPr>
            <a:r>
              <a:rPr lang="en-US" sz="2400" dirty="0"/>
              <a:t>Little group loyalty</a:t>
            </a:r>
          </a:p>
          <a:p>
            <a:pPr lvl="3">
              <a:lnSpc>
                <a:spcPct val="90000"/>
              </a:lnSpc>
            </a:pPr>
            <a:r>
              <a:rPr lang="en-US" sz="2400" dirty="0"/>
              <a:t>High levels of distrust between subordinates and leaders</a:t>
            </a:r>
          </a:p>
        </p:txBody>
      </p:sp>
      <p:sp>
        <p:nvSpPr>
          <p:cNvPr id="4" name="Slide Number Placeholder 3"/>
          <p:cNvSpPr>
            <a:spLocks noGrp="1"/>
          </p:cNvSpPr>
          <p:nvPr>
            <p:ph type="sldNum" sz="quarter" idx="10"/>
          </p:nvPr>
        </p:nvSpPr>
        <p:spPr/>
        <p:txBody>
          <a:bodyPr/>
          <a:lstStyle/>
          <a:p>
            <a:fld id="{CA5D3BF3-D352-46FC-8343-31F56E6730EA}" type="slidenum">
              <a:rPr lang="en-US" smtClean="0"/>
              <a:pPr/>
              <a:t>11</a:t>
            </a:fld>
            <a:endParaRPr lang="en-US"/>
          </a:p>
        </p:txBody>
      </p:sp>
    </p:spTree>
    <p:extLst>
      <p:ext uri="{BB962C8B-B14F-4D97-AF65-F5344CB8AC3E}">
        <p14:creationId xmlns:p14="http://schemas.microsoft.com/office/powerpoint/2010/main" val="4113892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13</a:t>
            </a:fld>
            <a:endParaRPr lang="en-US"/>
          </a:p>
        </p:txBody>
      </p:sp>
    </p:spTree>
    <p:extLst>
      <p:ext uri="{BB962C8B-B14F-4D97-AF65-F5344CB8AC3E}">
        <p14:creationId xmlns:p14="http://schemas.microsoft.com/office/powerpoint/2010/main" val="4183454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Individuals who inspire followers through</a:t>
            </a:r>
            <a:r>
              <a:rPr lang="en-US" baseline="0" dirty="0"/>
              <a:t> their words, ideas, and behaviors.</a:t>
            </a:r>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14</a:t>
            </a:fld>
            <a:endParaRPr lang="en-US"/>
          </a:p>
        </p:txBody>
      </p:sp>
    </p:spTree>
    <p:extLst>
      <p:ext uri="{BB962C8B-B14F-4D97-AF65-F5344CB8AC3E}">
        <p14:creationId xmlns:p14="http://schemas.microsoft.com/office/powerpoint/2010/main" val="954923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Digital Leadership</a:t>
            </a:r>
            <a:r>
              <a:rPr lang="en-GB" dirty="0"/>
              <a:t>: A modern approach where leaders leverage digital tools, data analytics, and AI to drive organizational change, enhance decision-making, and optimize performance. Digital leaders balance technology with human-centric strategies.</a:t>
            </a:r>
          </a:p>
          <a:p>
            <a:r>
              <a:rPr lang="en-GB" b="1" dirty="0"/>
              <a:t>Eco-Leadership</a:t>
            </a:r>
            <a:r>
              <a:rPr lang="en-GB" dirty="0"/>
              <a:t>: Leadership that integrates principles of sustainability and environmental stewardship into business practices, promoting regenerative and eco-friendly strategies to benefit society and the planet.</a:t>
            </a:r>
          </a:p>
          <a:p>
            <a:r>
              <a:rPr lang="en-GB" b="1" dirty="0"/>
              <a:t>Paradoxical Leadership</a:t>
            </a:r>
            <a:r>
              <a:rPr lang="en-GB" dirty="0"/>
              <a:t>: The ability to embrace and manage opposing demands, such as stability versus change or control versus autonomy, without trying to resolve the tensions. This approach encourages a balance to achieve long-term success.</a:t>
            </a:r>
          </a:p>
          <a:p>
            <a:endParaRPr lang="en-PK" dirty="0"/>
          </a:p>
        </p:txBody>
      </p:sp>
      <p:sp>
        <p:nvSpPr>
          <p:cNvPr id="4" name="Slide Number Placeholder 3"/>
          <p:cNvSpPr>
            <a:spLocks noGrp="1"/>
          </p:cNvSpPr>
          <p:nvPr>
            <p:ph type="sldNum" sz="quarter" idx="5"/>
          </p:nvPr>
        </p:nvSpPr>
        <p:spPr/>
        <p:txBody>
          <a:bodyPr/>
          <a:lstStyle/>
          <a:p>
            <a:fld id="{CA5D3BF3-D352-46FC-8343-31F56E6730EA}" type="slidenum">
              <a:rPr lang="en-US" smtClean="0"/>
              <a:pPr/>
              <a:t>17</a:t>
            </a:fld>
            <a:endParaRPr lang="en-US"/>
          </a:p>
        </p:txBody>
      </p:sp>
    </p:spTree>
    <p:extLst>
      <p:ext uri="{BB962C8B-B14F-4D97-AF65-F5344CB8AC3E}">
        <p14:creationId xmlns:p14="http://schemas.microsoft.com/office/powerpoint/2010/main" val="39145179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Master subtitle style</a:t>
            </a:r>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a:t>Click to edit Master title style</a:t>
            </a:r>
            <a:endParaRPr lang="en-US" dirty="0"/>
          </a:p>
        </p:txBody>
      </p:sp>
      <p:pic>
        <p:nvPicPr>
          <p:cNvPr id="14" name="Picture 13" descr="FAST logo.png"/>
          <p:cNvPicPr>
            <a:picLocks noChangeAspect="1"/>
          </p:cNvPicPr>
          <p:nvPr userDrawn="1"/>
        </p:nvPicPr>
        <p:blipFill>
          <a:blip r:embed="rId2"/>
          <a:stretch>
            <a:fillRect/>
          </a:stretch>
        </p:blipFill>
        <p:spPr>
          <a:xfrm>
            <a:off x="7723172" y="4550189"/>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37746" y="68108"/>
            <a:ext cx="816638" cy="819150"/>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a:p>
        </p:txBody>
      </p:sp>
      <p:sp>
        <p:nvSpPr>
          <p:cNvPr id="7" name="Rectangle 6"/>
          <p:cNvSpPr>
            <a:spLocks noGrp="1"/>
          </p:cNvSpPr>
          <p:nvPr>
            <p:ph sz="quarter" idx="13"/>
          </p:nvPr>
        </p:nvSpPr>
        <p:spPr>
          <a:xfrm>
            <a:off x="609600" y="1352550"/>
            <a:ext cx="8153400" cy="327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9" name="Picture 8"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endParaRPr lang="en-US"/>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pic>
        <p:nvPicPr>
          <p:cNvPr id="10" name="Picture 9" descr="FAST logo.png"/>
          <p:cNvPicPr>
            <a:picLocks noChangeAspect="1"/>
          </p:cNvPicPr>
          <p:nvPr userDrawn="1"/>
        </p:nvPicPr>
        <p:blipFill>
          <a:blip r:embed="rId2"/>
          <a:stretch>
            <a:fillRect/>
          </a:stretch>
        </p:blipFill>
        <p:spPr>
          <a:xfrm>
            <a:off x="56644" y="65242"/>
            <a:ext cx="1314450" cy="504720"/>
          </a:xfrm>
          <a:prstGeom prst="rect">
            <a:avLst/>
          </a:prstGeom>
        </p:spPr>
      </p:pic>
      <p:pic>
        <p:nvPicPr>
          <p:cNvPr id="11" name="Picture 10" descr="National_University_of_Computer_and_Emerging_Sciences_logo.png"/>
          <p:cNvPicPr>
            <a:picLocks noChangeAspect="1"/>
          </p:cNvPicPr>
          <p:nvPr userDrawn="1"/>
        </p:nvPicPr>
        <p:blipFill>
          <a:blip r:embed="rId3" cstate="print"/>
          <a:stretch>
            <a:fillRect/>
          </a:stretch>
        </p:blipFill>
        <p:spPr>
          <a:xfrm>
            <a:off x="8161492" y="55296"/>
            <a:ext cx="925206" cy="928052"/>
          </a:xfrm>
          <a:prstGeom prst="rect">
            <a:avLst/>
          </a:prstGeom>
        </p:spPr>
      </p:pic>
    </p:spTree>
  </p:cSld>
  <p:clrMapOvr>
    <a:overrideClrMapping bg1="lt1" tx1="dk1" bg2="lt2" tx2="dk2" accent1="accent1" accent2="accent2" accent3="accent3" accent4="accent4" accent5="accent5" accent6="accent6" hlink="hlink" folHlink="folHlink"/>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pic>
        <p:nvPicPr>
          <p:cNvPr id="13" name="Picture 12"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4" name="Picture 13"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a:t>Click to edit Master text styles</a:t>
            </a:r>
          </a:p>
        </p:txBody>
      </p:sp>
      <p:pic>
        <p:nvPicPr>
          <p:cNvPr id="17" name="Picture 16"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pic>
        <p:nvPicPr>
          <p:cNvPr id="6" name="Picture 5"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7" name="Picture 6"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pic>
        <p:nvPicPr>
          <p:cNvPr id="5" name="Picture 4"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6" name="Picture 5"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0" name="Picture 9"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a:t>Click icon to add picture</a:t>
            </a:r>
            <a:endParaRPr lang="en-US"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4686300"/>
            <a:ext cx="2667000" cy="273844"/>
          </a:xfrm>
        </p:spPr>
        <p:txBody>
          <a:bodyPr rtlCol="0"/>
          <a:lstStyle/>
          <a:p>
            <a:endParaRPr lang="en-US"/>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p>
            <a:endParaRPr lang="en-US" dirty="0"/>
          </a:p>
        </p:txBody>
      </p:sp>
      <p:pic>
        <p:nvPicPr>
          <p:cNvPr id="15" name="Picture 14" descr="FAST logo.png"/>
          <p:cNvPicPr>
            <a:picLocks noChangeAspect="1"/>
          </p:cNvPicPr>
          <p:nvPr userDrawn="1"/>
        </p:nvPicPr>
        <p:blipFill>
          <a:blip r:embed="rId2"/>
          <a:stretch>
            <a:fillRect/>
          </a:stretch>
        </p:blipFill>
        <p:spPr>
          <a:xfrm>
            <a:off x="7771724" y="4587783"/>
            <a:ext cx="1314450" cy="504720"/>
          </a:xfrm>
          <a:prstGeom prst="rect">
            <a:avLst/>
          </a:prstGeom>
        </p:spPr>
      </p:pic>
      <p:pic>
        <p:nvPicPr>
          <p:cNvPr id="16" name="Picture 15" descr="National_University_of_Computer_and_Emerging_Sciences_logo.png"/>
          <p:cNvPicPr>
            <a:picLocks noChangeAspect="1"/>
          </p:cNvPicPr>
          <p:nvPr userDrawn="1"/>
        </p:nvPicPr>
        <p:blipFill>
          <a:blip r:embed="rId3" cstate="print"/>
          <a:stretch>
            <a:fillRect/>
          </a:stretch>
        </p:blipFill>
        <p:spPr>
          <a:xfrm>
            <a:off x="8185768" y="43498"/>
            <a:ext cx="925206" cy="928052"/>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5" name="Rounded Rectangle 4"/>
          <p:cNvSpPr/>
          <p:nvPr userDrawn="1"/>
        </p:nvSpPr>
        <p:spPr>
          <a:xfrm>
            <a:off x="0" y="914400"/>
            <a:ext cx="9144000" cy="4171950"/>
          </a:xfrm>
          <a:prstGeom prst="roundRect">
            <a:avLst/>
          </a:prstGeom>
          <a:ln/>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000000"/>
              </a:solidFill>
              <a:latin typeface="Calibri" panose="020F0502020204030204" pitchFamily="34" charset="0"/>
            </a:endParaRPr>
          </a:p>
        </p:txBody>
      </p:sp>
      <p:sp>
        <p:nvSpPr>
          <p:cNvPr id="3" name="Content Placeholder 2"/>
          <p:cNvSpPr>
            <a:spLocks noGrp="1"/>
          </p:cNvSpPr>
          <p:nvPr>
            <p:ph idx="1"/>
          </p:nvPr>
        </p:nvSpPr>
        <p:spPr>
          <a:xfrm>
            <a:off x="228600" y="1085851"/>
            <a:ext cx="8686800" cy="34516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a:xfrm>
            <a:off x="914400" y="0"/>
            <a:ext cx="7315200" cy="685800"/>
          </a:xfrm>
        </p:spPr>
        <p:txBody>
          <a:bodyPr>
            <a:normAutofit/>
          </a:bodyPr>
          <a:lstStyle>
            <a:lvl1pPr algn="l">
              <a:defRPr sz="3600" b="1">
                <a:solidFill>
                  <a:schemeClr val="bg1"/>
                </a:solidFill>
                <a:latin typeface="Century Schoolbook" pitchFamily="18" charset="0"/>
              </a:defRPr>
            </a:lvl1pPr>
          </a:lstStyle>
          <a:p>
            <a:r>
              <a:rPr lang="en-US" dirty="0"/>
              <a:t>Click to edit Master title style</a:t>
            </a:r>
          </a:p>
        </p:txBody>
      </p:sp>
      <p:sp>
        <p:nvSpPr>
          <p:cNvPr id="6" name="Footer Placeholder 17"/>
          <p:cNvSpPr>
            <a:spLocks noGrp="1"/>
          </p:cNvSpPr>
          <p:nvPr>
            <p:ph type="ftr" sz="quarter" idx="10"/>
          </p:nvPr>
        </p:nvSpPr>
        <p:spPr>
          <a:xfrm>
            <a:off x="152400" y="4926807"/>
            <a:ext cx="5715000" cy="273844"/>
          </a:xfrm>
        </p:spPr>
        <p:txBody>
          <a:bodyPr wrap="square" numCol="1" anchorCtr="0" compatLnSpc="1">
            <a:prstTxWarp prst="textNoShape">
              <a:avLst/>
            </a:prstTxWarp>
          </a:bodyPr>
          <a:lstStyle>
            <a:lvl1pPr fontAlgn="base">
              <a:spcBef>
                <a:spcPct val="0"/>
              </a:spcBef>
              <a:spcAft>
                <a:spcPct val="0"/>
              </a:spcAft>
              <a:defRPr sz="1000" i="1" smtClean="0">
                <a:solidFill>
                  <a:schemeClr val="tx2"/>
                </a:solidFill>
                <a:cs typeface="Arial" panose="020B0604020202020204" pitchFamily="34" charset="0"/>
              </a:defRPr>
            </a:lvl1pPr>
          </a:lstStyle>
          <a:p>
            <a:pPr>
              <a:defRPr/>
            </a:pPr>
            <a:endParaRPr lang="en-US" altLang="en-US"/>
          </a:p>
        </p:txBody>
      </p:sp>
      <p:sp>
        <p:nvSpPr>
          <p:cNvPr id="7" name="Slide Number Placeholder 16"/>
          <p:cNvSpPr>
            <a:spLocks noGrp="1"/>
          </p:cNvSpPr>
          <p:nvPr>
            <p:ph type="sldNum" sz="quarter" idx="11"/>
          </p:nvPr>
        </p:nvSpPr>
        <p:spPr>
          <a:xfrm>
            <a:off x="6248400" y="4857750"/>
            <a:ext cx="2133600" cy="273844"/>
          </a:xfrm>
        </p:spPr>
        <p:txBody>
          <a:bodyPr/>
          <a:lstStyle>
            <a:lvl1pPr>
              <a:defRPr sz="1000" b="1" i="1">
                <a:solidFill>
                  <a:schemeClr val="tx2"/>
                </a:solidFill>
              </a:defRPr>
            </a:lvl1pPr>
          </a:lstStyle>
          <a:p>
            <a:fld id="{9ECAED0D-5F1E-4136-AD1B-B6C4A1F4BF46}"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2701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Lst>
  <p:transition>
    <p:pull dir="d"/>
  </p:transition>
  <p:hf hdr="0" ftr="0" dt="0"/>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8.jpg"/><Relationship Id="rId5" Type="http://schemas.openxmlformats.org/officeDocument/2006/relationships/image" Target="../media/image7.jpe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 Id="rId9" Type="http://schemas.openxmlformats.org/officeDocument/2006/relationships/image" Target="../media/image16.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600200" y="4114799"/>
            <a:ext cx="7315200" cy="742951"/>
          </a:xfrm>
        </p:spPr>
        <p:txBody>
          <a:bodyPr>
            <a:normAutofit/>
          </a:bodyPr>
          <a:lstStyle/>
          <a:p>
            <a:r>
              <a:rPr lang="en-US" dirty="0"/>
              <a:t>Instructor: Dr. </a:t>
            </a:r>
            <a:r>
              <a:rPr lang="en-US"/>
              <a:t>Muhammad Rafiq</a:t>
            </a:r>
            <a:endParaRPr lang="en-US" dirty="0"/>
          </a:p>
          <a:p>
            <a:r>
              <a:rPr lang="en-US" b="1" dirty="0"/>
              <a:t>Chapter 12</a:t>
            </a:r>
            <a:r>
              <a:rPr lang="en-US" dirty="0"/>
              <a:t>: Organizational Behavior – 15</a:t>
            </a:r>
            <a:r>
              <a:rPr lang="en-US" baseline="30000" dirty="0"/>
              <a:t>th</a:t>
            </a:r>
            <a:r>
              <a:rPr lang="en-US" dirty="0"/>
              <a:t> Edition</a:t>
            </a:r>
          </a:p>
        </p:txBody>
      </p:sp>
      <p:sp>
        <p:nvSpPr>
          <p:cNvPr id="4" name="Title 3"/>
          <p:cNvSpPr>
            <a:spLocks noGrp="1"/>
          </p:cNvSpPr>
          <p:nvPr>
            <p:ph type="title"/>
          </p:nvPr>
        </p:nvSpPr>
        <p:spPr/>
        <p:txBody>
          <a:bodyPr>
            <a:noAutofit/>
          </a:bodyPr>
          <a:lstStyle/>
          <a:p>
            <a:pPr marL="342900" indent="-342900">
              <a:spcBef>
                <a:spcPct val="20000"/>
              </a:spcBef>
            </a:pPr>
            <a:r>
              <a:rPr lang="en-US" sz="3600" b="1" dirty="0">
                <a:solidFill>
                  <a:schemeClr val="tx1"/>
                </a:solidFill>
              </a:rPr>
              <a:t>Leadership</a:t>
            </a:r>
          </a:p>
        </p:txBody>
      </p:sp>
      <p:pic>
        <p:nvPicPr>
          <p:cNvPr id="15" name="Picture 14" descr="National_University_of_Computer_and_Emerging_Sciences_logo.png"/>
          <p:cNvPicPr>
            <a:picLocks noChangeAspect="1"/>
          </p:cNvPicPr>
          <p:nvPr/>
        </p:nvPicPr>
        <p:blipFill>
          <a:blip r:embed="rId3"/>
          <a:stretch>
            <a:fillRect/>
          </a:stretch>
        </p:blipFill>
        <p:spPr>
          <a:xfrm>
            <a:off x="34072" y="56682"/>
            <a:ext cx="1376020" cy="1380254"/>
          </a:xfrm>
          <a:prstGeom prst="rect">
            <a:avLst/>
          </a:prstGeom>
        </p:spPr>
      </p:pic>
      <p:sp>
        <p:nvSpPr>
          <p:cNvPr id="7" name="Slide Number Placeholder 6"/>
          <p:cNvSpPr>
            <a:spLocks noGrp="1"/>
          </p:cNvSpPr>
          <p:nvPr>
            <p:ph type="sldNum" sz="quarter" idx="11"/>
          </p:nvPr>
        </p:nvSpPr>
        <p:spPr/>
        <p:txBody>
          <a:bodyPr>
            <a:normAutofit lnSpcReduction="10000"/>
          </a:bodyPr>
          <a:lstStyle/>
          <a:p>
            <a:pPr algn="ctr"/>
            <a:r>
              <a:rPr lang="en-US" dirty="0"/>
              <a:t>MG225</a:t>
            </a:r>
            <a:endParaRPr lang="en-US" sz="2800" dirty="0"/>
          </a:p>
        </p:txBody>
      </p:sp>
      <p:sp>
        <p:nvSpPr>
          <p:cNvPr id="50178" name="AutoShape 2" descr="Image result for Management"/>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98" y="4141010"/>
            <a:ext cx="1245767" cy="926851"/>
          </a:xfrm>
          <a:prstGeom prst="rect">
            <a:avLst/>
          </a:prstGeom>
        </p:spPr>
      </p:pic>
      <p:sp>
        <p:nvSpPr>
          <p:cNvPr id="6" name="Picture Placeholder 5"/>
          <p:cNvSpPr>
            <a:spLocks noGrp="1"/>
          </p:cNvSpPr>
          <p:nvPr>
            <p:ph type="pic" idx="1"/>
          </p:nvPr>
        </p:nvSpPr>
        <p:spPr/>
        <p:txBody>
          <a:bodyPr/>
          <a:lstStyle/>
          <a:p>
            <a:endParaRPr lang="en-PK"/>
          </a:p>
        </p:txBody>
      </p:sp>
      <p:pic>
        <p:nvPicPr>
          <p:cNvPr id="8194" name="Picture 2" descr="Image result for Leadership"/>
          <p:cNvPicPr>
            <a:picLocks noChangeAspect="1" noChangeArrowheads="1"/>
          </p:cNvPicPr>
          <p:nvPr/>
        </p:nvPicPr>
        <p:blipFill rotWithShape="1">
          <a:blip r:embed="rId5">
            <a:extLst>
              <a:ext uri="{28A0092B-C50C-407E-A947-70E740481C1C}">
                <a14:useLocalDpi xmlns:a14="http://schemas.microsoft.com/office/drawing/2010/main" val="0"/>
              </a:ext>
            </a:extLst>
          </a:blip>
          <a:srcRect l="3921" r="3508"/>
          <a:stretch/>
        </p:blipFill>
        <p:spPr bwMode="auto">
          <a:xfrm>
            <a:off x="1524000" y="-5603"/>
            <a:ext cx="4020671" cy="3420219"/>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6" descr="Image result for Leadershi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Image result for Leadershi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Image result for Leadership"/>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7" name="Picture 16"/>
          <p:cNvPicPr>
            <a:picLocks noChangeAspect="1"/>
          </p:cNvPicPr>
          <p:nvPr/>
        </p:nvPicPr>
        <p:blipFill rotWithShape="1">
          <a:blip r:embed="rId6" cstate="print">
            <a:extLst>
              <a:ext uri="{28A0092B-C50C-407E-A947-70E740481C1C}">
                <a14:useLocalDpi xmlns:a14="http://schemas.microsoft.com/office/drawing/2010/main" val="0"/>
              </a:ext>
            </a:extLst>
          </a:blip>
          <a:srcRect l="9152" r="18444"/>
          <a:stretch/>
        </p:blipFill>
        <p:spPr>
          <a:xfrm>
            <a:off x="5526741" y="42363"/>
            <a:ext cx="3617259" cy="3372253"/>
          </a:xfrm>
          <a:prstGeom prst="rect">
            <a:avLst/>
          </a:prstGeom>
        </p:spPr>
      </p:pic>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623553" y="1466313"/>
            <a:ext cx="7363170" cy="1384995"/>
          </a:xfrm>
          <a:prstGeom prst="rect">
            <a:avLst/>
          </a:prstGeom>
          <a:solidFill>
            <a:schemeClr val="accent1"/>
          </a:solidFill>
          <a:ln w="5715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800">
                <a:solidFill>
                  <a:schemeClr val="bg1"/>
                </a:solidFill>
              </a:rPr>
              <a:t>What is leadership?</a:t>
            </a:r>
          </a:p>
          <a:p>
            <a:pPr algn="ctr"/>
            <a:endParaRPr lang="en-US" sz="2800">
              <a:solidFill>
                <a:schemeClr val="bg1"/>
              </a:solidFill>
            </a:endParaRPr>
          </a:p>
          <a:p>
            <a:pPr algn="ctr"/>
            <a:r>
              <a:rPr lang="en-US" sz="2800">
                <a:solidFill>
                  <a:schemeClr val="bg1"/>
                </a:solidFill>
              </a:rPr>
              <a:t>What comes to your mind when you see this word?</a:t>
            </a:r>
          </a:p>
        </p:txBody>
      </p:sp>
      <p:sp>
        <p:nvSpPr>
          <p:cNvPr id="6148" name="Rectangle 4"/>
          <p:cNvSpPr>
            <a:spLocks noGrp="1" noChangeArrowheads="1"/>
          </p:cNvSpPr>
          <p:nvPr>
            <p:ph type="title"/>
          </p:nvPr>
        </p:nvSpPr>
        <p:spPr>
          <a:xfrm>
            <a:off x="609600" y="270510"/>
            <a:ext cx="8153400" cy="1005840"/>
          </a:xfrm>
        </p:spPr>
        <p:txBody>
          <a:bodyPr>
            <a:noAutofit/>
          </a:bodyPr>
          <a:lstStyle/>
          <a:p>
            <a:r>
              <a:rPr lang="en-US" sz="8000" dirty="0">
                <a:latin typeface="Arial Black" pitchFamily="34" charset="0"/>
              </a:rPr>
              <a:t>Leadership</a:t>
            </a:r>
            <a:endParaRPr lang="en-US" sz="8000" dirty="0"/>
          </a:p>
        </p:txBody>
      </p:sp>
      <p:sp>
        <p:nvSpPr>
          <p:cNvPr id="5" name="Text Box 6"/>
          <p:cNvSpPr txBox="1">
            <a:spLocks noChangeArrowheads="1"/>
          </p:cNvSpPr>
          <p:nvPr/>
        </p:nvSpPr>
        <p:spPr bwMode="auto">
          <a:xfrm>
            <a:off x="2586558" y="3105150"/>
            <a:ext cx="343715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u="sng" dirty="0"/>
              <a:t>Name some leaders</a:t>
            </a:r>
          </a:p>
        </p:txBody>
      </p:sp>
      <p:sp>
        <p:nvSpPr>
          <p:cNvPr id="6" name="Text Box 7"/>
          <p:cNvSpPr txBox="1">
            <a:spLocks noChangeArrowheads="1"/>
          </p:cNvSpPr>
          <p:nvPr/>
        </p:nvSpPr>
        <p:spPr bwMode="auto">
          <a:xfrm>
            <a:off x="990600" y="3943349"/>
            <a:ext cx="2617640" cy="584775"/>
          </a:xfrm>
          <a:prstGeom prst="rect">
            <a:avLst/>
          </a:prstGeom>
          <a:solidFill>
            <a:schemeClr val="accent1"/>
          </a:solidFill>
          <a:ln w="5715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a:solidFill>
                  <a:schemeClr val="bg1"/>
                </a:solidFill>
              </a:rPr>
              <a:t>Who are they?</a:t>
            </a:r>
            <a:endParaRPr lang="en-US">
              <a:solidFill>
                <a:schemeClr val="bg1"/>
              </a:solidFill>
            </a:endParaRPr>
          </a:p>
        </p:txBody>
      </p:sp>
      <p:sp>
        <p:nvSpPr>
          <p:cNvPr id="7" name="Text Box 8"/>
          <p:cNvSpPr txBox="1">
            <a:spLocks noChangeArrowheads="1"/>
          </p:cNvSpPr>
          <p:nvPr/>
        </p:nvSpPr>
        <p:spPr bwMode="auto">
          <a:xfrm>
            <a:off x="4389487" y="3943350"/>
            <a:ext cx="3268459" cy="584775"/>
          </a:xfrm>
          <a:prstGeom prst="rect">
            <a:avLst/>
          </a:prstGeom>
          <a:solidFill>
            <a:schemeClr val="accent1"/>
          </a:solidFill>
          <a:ln w="5715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a:solidFill>
                  <a:schemeClr val="bg1"/>
                </a:solidFill>
              </a:rPr>
              <a:t>What did they do?</a:t>
            </a:r>
          </a:p>
        </p:txBody>
      </p:sp>
    </p:spTree>
    <p:extLst>
      <p:ext uri="{BB962C8B-B14F-4D97-AF65-F5344CB8AC3E}">
        <p14:creationId xmlns:p14="http://schemas.microsoft.com/office/powerpoint/2010/main" val="2373278123"/>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479425"/>
          </a:xfrm>
        </p:spPr>
        <p:txBody>
          <a:bodyPr>
            <a:normAutofit fontScale="90000"/>
          </a:bodyPr>
          <a:lstStyle/>
          <a:p>
            <a:pPr eaLnBrk="1" hangingPunct="1">
              <a:defRPr/>
            </a:pPr>
            <a:r>
              <a:rPr lang="en-US" dirty="0"/>
              <a:t>What makes someone a leader?</a:t>
            </a:r>
          </a:p>
        </p:txBody>
      </p:sp>
      <p:pic>
        <p:nvPicPr>
          <p:cNvPr id="6147" name="Picture 4" descr="92PMCAAX9XJPCAJJRYSACA5A03OBCAXXRBLRCAO69OGOCASPGYXUCAYGCWZ3CAYOV2TQCAXJX9LNCAERED31CA2T51DICAUAJYYZCA4OEYZNCAZR4R61CANIPIEZCA5QIE8ACAGO88ZXCAOBT5X7CA4FYAKL.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05487" y="3286125"/>
            <a:ext cx="1547813" cy="1706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6" descr="LJ38CAP081A3CAP1NMJECA4DGA5ZCA8MMLLECA61WDZ0CAN3JPYOCAJGJEKLCAA3S68HCAXC1WIDCAUBWXITCANFAX3GCAE39ZITCAQUDBWPCA7GUN1FCA6870ZWCAU8SMC8CALIX3T4CATOPLXBCA3C9HYT.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62798" y="3286125"/>
            <a:ext cx="1611313" cy="1706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9" name="Picture 17" descr="KWQQCA6Q9TDDCANUAIXLCAF78LSQCA2ZWY46CAHRQ5BYCA337206CAZBN7O5CA7LO5MECA03YYNHCACRR619CALUMWNSCA46NTGVCAZ2ATKVCANNC5R6CANQXUUTCASV3QOYCA917M0CCA6DNV9JCAQTB6FZ.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22141" y="581025"/>
            <a:ext cx="1939925" cy="141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0" name="Picture 18" descr="TNN2CA2Q899ECAG2BPSVCASMSM6VCALIZC69CANO1XZRCA7CIYRKCAZ73MLFCAFNVCFVCAAV3YVZCALXNFT8CAYQSEEVCAVG4BNTCATXVSZVCAWY9W12CAYCO2OHCA0ESYQQCANGWUJACAGNTJ7ZCAYW6MQX.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782068" y="1853210"/>
            <a:ext cx="2070579" cy="134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0" name="Picture 2" descr="Image result for Quaid e aza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62500" y="594472"/>
            <a:ext cx="1982626" cy="2601816"/>
          </a:xfrm>
          <a:prstGeom prst="rect">
            <a:avLst/>
          </a:prstGeom>
          <a:noFill/>
          <a:extLst>
            <a:ext uri="{909E8E84-426E-40DD-AFC4-6F175D3DCCD1}">
              <a14:hiddenFill xmlns:a14="http://schemas.microsoft.com/office/drawing/2010/main">
                <a:solidFill>
                  <a:srgbClr val="FFFFFF"/>
                </a:solidFill>
              </a14:hiddenFill>
            </a:ext>
          </a:extLst>
        </p:spPr>
      </p:pic>
      <p:pic>
        <p:nvPicPr>
          <p:cNvPr id="78854" name="Picture 6" descr="Image result for Leaders"/>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99196" y="3263855"/>
            <a:ext cx="1522908" cy="1708195"/>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8" descr="Image result for inspirational Leader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10" descr="Image result for inspirational Leader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8860" name="Picture 12" descr="Image result for top inspirational Leaders"/>
          <p:cNvPicPr>
            <a:picLocks noChangeAspect="1" noChangeArrowheads="1"/>
          </p:cNvPicPr>
          <p:nvPr/>
        </p:nvPicPr>
        <p:blipFill rotWithShape="1">
          <a:blip r:embed="rId8">
            <a:extLst>
              <a:ext uri="{28A0092B-C50C-407E-A947-70E740481C1C}">
                <a14:useLocalDpi xmlns:a14="http://schemas.microsoft.com/office/drawing/2010/main" val="0"/>
              </a:ext>
            </a:extLst>
          </a:blip>
          <a:srcRect t="3360" b="22360"/>
          <a:stretch/>
        </p:blipFill>
        <p:spPr bwMode="auto">
          <a:xfrm>
            <a:off x="0" y="3286125"/>
            <a:ext cx="4141460" cy="1685925"/>
          </a:xfrm>
          <a:prstGeom prst="rect">
            <a:avLst/>
          </a:prstGeom>
          <a:noFill/>
          <a:extLst>
            <a:ext uri="{909E8E84-426E-40DD-AFC4-6F175D3DCCD1}">
              <a14:hiddenFill xmlns:a14="http://schemas.microsoft.com/office/drawing/2010/main">
                <a:solidFill>
                  <a:srgbClr val="FFFFFF"/>
                </a:solidFill>
              </a14:hiddenFill>
            </a:ext>
          </a:extLst>
        </p:spPr>
      </p:pic>
      <p:pic>
        <p:nvPicPr>
          <p:cNvPr id="78862" name="Picture 14" descr="Related imag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581025"/>
            <a:ext cx="4762500"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4427632"/>
      </p:ext>
    </p:extLst>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85954-4F22-DE8C-0355-A7B7E178D933}"/>
              </a:ext>
            </a:extLst>
          </p:cNvPr>
          <p:cNvSpPr>
            <a:spLocks noGrp="1"/>
          </p:cNvSpPr>
          <p:nvPr>
            <p:ph type="title"/>
          </p:nvPr>
        </p:nvSpPr>
        <p:spPr/>
        <p:txBody>
          <a:bodyPr/>
          <a:lstStyle/>
          <a:p>
            <a:r>
              <a:rPr lang="en-US" dirty="0"/>
              <a:t>Leaders are Made or Born?</a:t>
            </a:r>
            <a:endParaRPr lang="en-PK" dirty="0"/>
          </a:p>
        </p:txBody>
      </p:sp>
      <p:sp>
        <p:nvSpPr>
          <p:cNvPr id="3" name="Slide Number Placeholder 2">
            <a:extLst>
              <a:ext uri="{FF2B5EF4-FFF2-40B4-BE49-F238E27FC236}">
                <a16:creationId xmlns:a16="http://schemas.microsoft.com/office/drawing/2014/main" id="{5D2CC69B-FB91-474E-36EC-3C25D418A38C}"/>
              </a:ext>
            </a:extLst>
          </p:cNvPr>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4</a:t>
            </a:fld>
            <a:endParaRPr lang="en-US" dirty="0">
              <a:solidFill>
                <a:srgbClr val="FFFFFF"/>
              </a:solidFill>
            </a:endParaRPr>
          </a:p>
        </p:txBody>
      </p:sp>
      <p:sp>
        <p:nvSpPr>
          <p:cNvPr id="4" name="Text Placeholder 3">
            <a:extLst>
              <a:ext uri="{FF2B5EF4-FFF2-40B4-BE49-F238E27FC236}">
                <a16:creationId xmlns:a16="http://schemas.microsoft.com/office/drawing/2014/main" id="{A0C0D164-8C14-FCC5-49AA-94C5C08871B8}"/>
              </a:ext>
            </a:extLst>
          </p:cNvPr>
          <p:cNvSpPr>
            <a:spLocks noGrp="1"/>
          </p:cNvSpPr>
          <p:nvPr>
            <p:ph type="body" idx="1"/>
          </p:nvPr>
        </p:nvSpPr>
        <p:spPr/>
        <p:txBody>
          <a:bodyPr/>
          <a:lstStyle/>
          <a:p>
            <a:endParaRPr lang="en-PK" dirty="0"/>
          </a:p>
        </p:txBody>
      </p:sp>
      <p:sp>
        <p:nvSpPr>
          <p:cNvPr id="5" name="Content Placeholder 4">
            <a:extLst>
              <a:ext uri="{FF2B5EF4-FFF2-40B4-BE49-F238E27FC236}">
                <a16:creationId xmlns:a16="http://schemas.microsoft.com/office/drawing/2014/main" id="{5806A21C-5FDF-B3FE-B4E6-4CC2EF9DDC78}"/>
              </a:ext>
            </a:extLst>
          </p:cNvPr>
          <p:cNvSpPr>
            <a:spLocks noGrp="1"/>
          </p:cNvSpPr>
          <p:nvPr>
            <p:ph sz="quarter" idx="13"/>
          </p:nvPr>
        </p:nvSpPr>
        <p:spPr>
          <a:xfrm>
            <a:off x="2819400" y="1885950"/>
            <a:ext cx="6400800" cy="1981200"/>
          </a:xfrm>
        </p:spPr>
        <p:txBody>
          <a:bodyPr>
            <a:normAutofit lnSpcReduction="10000"/>
          </a:bodyPr>
          <a:lstStyle/>
          <a:p>
            <a:r>
              <a:rPr lang="en-US" dirty="0"/>
              <a:t>Trait Theory</a:t>
            </a:r>
          </a:p>
          <a:p>
            <a:r>
              <a:rPr lang="en-US" dirty="0"/>
              <a:t>Skill development Theory</a:t>
            </a:r>
          </a:p>
          <a:p>
            <a:pPr marL="0" indent="0">
              <a:buNone/>
            </a:pPr>
            <a:r>
              <a:rPr lang="en-US" dirty="0"/>
              <a:t>	OR</a:t>
            </a:r>
          </a:p>
          <a:p>
            <a:r>
              <a:rPr lang="en-US" dirty="0"/>
              <a:t>Blend of both</a:t>
            </a:r>
            <a:endParaRPr lang="en-PK" dirty="0"/>
          </a:p>
        </p:txBody>
      </p:sp>
    </p:spTree>
    <p:extLst>
      <p:ext uri="{BB962C8B-B14F-4D97-AF65-F5344CB8AC3E}">
        <p14:creationId xmlns:p14="http://schemas.microsoft.com/office/powerpoint/2010/main" val="582482971"/>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circle(in)">
                                      <p:cBhvr>
                                        <p:cTn id="13" dur="2000"/>
                                        <p:tgtEl>
                                          <p:spTgt spid="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circle(in)">
                                      <p:cBhvr>
                                        <p:cTn id="18" dur="2000"/>
                                        <p:tgtEl>
                                          <p:spTgt spid="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Effect transition="in" filter="circle(in)">
                                      <p:cBhvr>
                                        <p:cTn id="23" dur="2000"/>
                                        <p:tgtEl>
                                          <p:spTgt spid="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circle(in)">
                                      <p:cBhvr>
                                        <p:cTn id="28" dur="2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a:noFill/>
          <a:ln/>
        </p:spPr>
        <p:txBody>
          <a:bodyPr/>
          <a:lstStyle/>
          <a:p>
            <a:r>
              <a:rPr lang="en-US" dirty="0"/>
              <a:t>Leadership</a:t>
            </a:r>
          </a:p>
        </p:txBody>
      </p:sp>
      <p:sp>
        <p:nvSpPr>
          <p:cNvPr id="10245" name="Rectangle 5"/>
          <p:cNvSpPr>
            <a:spLocks noGrp="1" noChangeArrowheads="1"/>
          </p:cNvSpPr>
          <p:nvPr>
            <p:ph sz="quarter" idx="13"/>
          </p:nvPr>
        </p:nvSpPr>
        <p:spPr>
          <a:noFill/>
          <a:ln/>
        </p:spPr>
        <p:txBody>
          <a:bodyPr>
            <a:normAutofit lnSpcReduction="10000"/>
          </a:bodyPr>
          <a:lstStyle/>
          <a:p>
            <a:pPr marL="458788" lvl="1" indent="-342900"/>
            <a:r>
              <a:rPr lang="en-US" sz="2200" dirty="0"/>
              <a:t>Is a process which involves the use of </a:t>
            </a:r>
            <a:r>
              <a:rPr lang="en-US" sz="2200" dirty="0" err="1"/>
              <a:t>noncoercive</a:t>
            </a:r>
            <a:r>
              <a:rPr lang="en-US" sz="2200" dirty="0"/>
              <a:t> influence.</a:t>
            </a:r>
          </a:p>
          <a:p>
            <a:pPr marL="458788" lvl="1" indent="-342900"/>
            <a:r>
              <a:rPr lang="en-US" sz="2200" dirty="0"/>
              <a:t>Is a property </a:t>
            </a:r>
            <a:r>
              <a:rPr lang="en-US" sz="2200" dirty="0">
                <a:cs typeface="Arial" pitchFamily="34" charset="0"/>
              </a:rPr>
              <a:t>- </a:t>
            </a:r>
            <a:r>
              <a:rPr lang="en-US" sz="2200" dirty="0"/>
              <a:t>the set of characteristics attributed to someone who is perceived to use influence successfully.</a:t>
            </a:r>
          </a:p>
          <a:p>
            <a:pPr marL="458788" lvl="1" indent="-342900"/>
            <a:r>
              <a:rPr lang="en-US" sz="2200" dirty="0"/>
              <a:t>Is influence </a:t>
            </a:r>
            <a:r>
              <a:rPr lang="en-US" sz="2200" dirty="0">
                <a:cs typeface="Arial" pitchFamily="34" charset="0"/>
              </a:rPr>
              <a:t>- </a:t>
            </a:r>
            <a:r>
              <a:rPr lang="en-US" sz="2200" dirty="0"/>
              <a:t>the ability to affect the perceptions, beliefs, attitudes, motivation, and/or behavior of others.</a:t>
            </a:r>
          </a:p>
          <a:p>
            <a:pPr marL="458788" lvl="1" indent="-342900"/>
            <a:endParaRPr lang="en-US" sz="2200" dirty="0"/>
          </a:p>
          <a:p>
            <a:pPr marL="458788" lvl="1" indent="-342900"/>
            <a:r>
              <a:rPr lang="en-US" sz="2200" dirty="0"/>
              <a:t>Drive, Desire to Lead, Integrity (Trust, Consistency, Role Model), Self Confidence, Intelligence (Ability to analyze), Job Relevant Knowledge</a:t>
            </a:r>
          </a:p>
        </p:txBody>
      </p:sp>
    </p:spTree>
    <p:extLst>
      <p:ext uri="{BB962C8B-B14F-4D97-AF65-F5344CB8AC3E}">
        <p14:creationId xmlns:p14="http://schemas.microsoft.com/office/powerpoint/2010/main" val="236513950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noFill/>
          <a:ln/>
        </p:spPr>
        <p:txBody>
          <a:bodyPr/>
          <a:lstStyle/>
          <a:p>
            <a:r>
              <a:rPr lang="en-US"/>
              <a:t>Management and Leadership</a:t>
            </a:r>
          </a:p>
        </p:txBody>
      </p:sp>
      <p:pic>
        <p:nvPicPr>
          <p:cNvPr id="66562" name="Picture 2" descr="Image result"/>
          <p:cNvPicPr>
            <a:picLocks noChangeAspect="1" noChangeArrowheads="1"/>
          </p:cNvPicPr>
          <p:nvPr/>
        </p:nvPicPr>
        <p:blipFill rotWithShape="1">
          <a:blip r:embed="rId2">
            <a:extLst>
              <a:ext uri="{28A0092B-C50C-407E-A947-70E740481C1C}">
                <a14:useLocalDpi xmlns:a14="http://schemas.microsoft.com/office/drawing/2010/main" val="0"/>
              </a:ext>
            </a:extLst>
          </a:blip>
          <a:srcRect b="12177"/>
          <a:stretch/>
        </p:blipFill>
        <p:spPr bwMode="auto">
          <a:xfrm>
            <a:off x="596720" y="1313913"/>
            <a:ext cx="7726091" cy="3816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510267"/>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7</a:t>
            </a:fld>
            <a:endParaRPr lang="en-US" dirty="0">
              <a:solidFill>
                <a:srgbClr val="FFFFFF"/>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0"/>
            <a:ext cx="7232184" cy="5143500"/>
          </a:xfrm>
          <a:prstGeom prst="rect">
            <a:avLst/>
          </a:prstGeom>
        </p:spPr>
      </p:pic>
    </p:spTree>
    <p:extLst>
      <p:ext uri="{BB962C8B-B14F-4D97-AF65-F5344CB8AC3E}">
        <p14:creationId xmlns:p14="http://schemas.microsoft.com/office/powerpoint/2010/main" val="4262902649"/>
      </p:ext>
    </p:extLst>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4"/>
          <p:cNvSpPr>
            <a:spLocks noGrp="1" noChangeArrowheads="1"/>
          </p:cNvSpPr>
          <p:nvPr>
            <p:ph type="title"/>
          </p:nvPr>
        </p:nvSpPr>
        <p:spPr>
          <a:noFill/>
          <a:ln/>
        </p:spPr>
        <p:txBody>
          <a:bodyPr>
            <a:normAutofit/>
          </a:bodyPr>
          <a:lstStyle/>
          <a:p>
            <a:r>
              <a:rPr lang="en-US" dirty="0"/>
              <a:t>Trait Approaches to Leadership</a:t>
            </a:r>
          </a:p>
        </p:txBody>
      </p:sp>
      <p:sp>
        <p:nvSpPr>
          <p:cNvPr id="24581" name="Rectangle 5"/>
          <p:cNvSpPr>
            <a:spLocks noGrp="1" noChangeArrowheads="1"/>
          </p:cNvSpPr>
          <p:nvPr>
            <p:ph sz="quarter" idx="13"/>
          </p:nvPr>
        </p:nvSpPr>
        <p:spPr>
          <a:noFill/>
          <a:ln/>
        </p:spPr>
        <p:txBody>
          <a:bodyPr>
            <a:normAutofit/>
          </a:bodyPr>
          <a:lstStyle/>
          <a:p>
            <a:r>
              <a:rPr lang="en-US" sz="2200" b="1" dirty="0"/>
              <a:t>Leadership traits:</a:t>
            </a:r>
            <a:r>
              <a:rPr lang="en-US" sz="2200" dirty="0"/>
              <a:t> </a:t>
            </a:r>
            <a:r>
              <a:rPr lang="en-US" altLang="en-US" sz="2000" dirty="0">
                <a:latin typeface="Book Antiqua" panose="02040602050305030304" pitchFamily="18" charset="0"/>
              </a:rPr>
              <a:t>identifying personal characteristics that differences </a:t>
            </a:r>
            <a:r>
              <a:rPr lang="en-US" altLang="en-US" sz="2000" dirty="0">
                <a:solidFill>
                  <a:schemeClr val="accent2">
                    <a:lumMod val="75000"/>
                  </a:schemeClr>
                </a:solidFill>
                <a:latin typeface="Book Antiqua" panose="02040602050305030304" pitchFamily="18" charset="0"/>
              </a:rPr>
              <a:t>leaders</a:t>
            </a:r>
            <a:r>
              <a:rPr lang="en-US" altLang="en-US" sz="2000" dirty="0">
                <a:latin typeface="Book Antiqua" panose="02040602050305030304" pitchFamily="18" charset="0"/>
              </a:rPr>
              <a:t> from </a:t>
            </a:r>
            <a:r>
              <a:rPr lang="en-US" altLang="en-US" sz="2000" dirty="0">
                <a:solidFill>
                  <a:schemeClr val="accent2">
                    <a:lumMod val="75000"/>
                  </a:schemeClr>
                </a:solidFill>
                <a:latin typeface="Book Antiqua" panose="02040602050305030304" pitchFamily="18" charset="0"/>
              </a:rPr>
              <a:t>non-leaders</a:t>
            </a:r>
            <a:r>
              <a:rPr lang="en-US" sz="2400" dirty="0"/>
              <a:t>:</a:t>
            </a:r>
            <a:endParaRPr lang="en-US" sz="2200" dirty="0"/>
          </a:p>
        </p:txBody>
      </p:sp>
      <p:sp>
        <p:nvSpPr>
          <p:cNvPr id="4" name="Rectangle 5"/>
          <p:cNvSpPr>
            <a:spLocks noChangeArrowheads="1"/>
          </p:cNvSpPr>
          <p:nvPr/>
        </p:nvSpPr>
        <p:spPr bwMode="auto">
          <a:xfrm>
            <a:off x="1066800" y="2544787"/>
            <a:ext cx="2590800" cy="1751762"/>
          </a:xfrm>
          <a:prstGeom prst="rect">
            <a:avLst/>
          </a:prstGeom>
          <a:solidFill>
            <a:schemeClr val="accent1"/>
          </a:solidFill>
          <a:ln w="508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342900" indent="-342900">
              <a:buFont typeface="+mj-lt"/>
              <a:buAutoNum type="arabicPeriod"/>
            </a:pPr>
            <a:r>
              <a:rPr lang="en-US" dirty="0">
                <a:solidFill>
                  <a:schemeClr val="bg1"/>
                </a:solidFill>
              </a:rPr>
              <a:t>Intelligence</a:t>
            </a:r>
          </a:p>
          <a:p>
            <a:pPr marL="342900" indent="-342900">
              <a:buFont typeface="+mj-lt"/>
              <a:buAutoNum type="arabicPeriod"/>
            </a:pPr>
            <a:r>
              <a:rPr lang="en-US" dirty="0">
                <a:solidFill>
                  <a:schemeClr val="bg1"/>
                </a:solidFill>
              </a:rPr>
              <a:t>Dominance</a:t>
            </a:r>
          </a:p>
          <a:p>
            <a:pPr marL="342900" indent="-342900">
              <a:buFont typeface="+mj-lt"/>
              <a:buAutoNum type="arabicPeriod"/>
            </a:pPr>
            <a:r>
              <a:rPr lang="en-US" dirty="0">
                <a:solidFill>
                  <a:schemeClr val="bg1"/>
                </a:solidFill>
              </a:rPr>
              <a:t>Self-confidence</a:t>
            </a:r>
          </a:p>
          <a:p>
            <a:pPr marL="342900" indent="-342900">
              <a:buFont typeface="+mj-lt"/>
              <a:buAutoNum type="arabicPeriod"/>
            </a:pPr>
            <a:r>
              <a:rPr lang="en-US" dirty="0">
                <a:solidFill>
                  <a:schemeClr val="bg1"/>
                </a:solidFill>
              </a:rPr>
              <a:t>Energy</a:t>
            </a:r>
          </a:p>
          <a:p>
            <a:pPr marL="342900" indent="-342900">
              <a:buFont typeface="+mj-lt"/>
              <a:buAutoNum type="arabicPeriod"/>
            </a:pPr>
            <a:r>
              <a:rPr lang="en-US" dirty="0">
                <a:solidFill>
                  <a:schemeClr val="bg1"/>
                </a:solidFill>
              </a:rPr>
              <a:t>Task-relevant knowledge</a:t>
            </a:r>
          </a:p>
        </p:txBody>
      </p:sp>
      <p:sp>
        <p:nvSpPr>
          <p:cNvPr id="5" name="Rectangle 6"/>
          <p:cNvSpPr>
            <a:spLocks noChangeArrowheads="1"/>
          </p:cNvSpPr>
          <p:nvPr/>
        </p:nvSpPr>
        <p:spPr bwMode="auto">
          <a:xfrm>
            <a:off x="4013145" y="2571750"/>
            <a:ext cx="2946513" cy="1751762"/>
          </a:xfrm>
          <a:prstGeom prst="rect">
            <a:avLst/>
          </a:prstGeom>
          <a:solidFill>
            <a:schemeClr val="accent1"/>
          </a:solidFill>
          <a:ln w="508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342900" indent="-342900">
              <a:buFont typeface="+mj-lt"/>
              <a:buAutoNum type="arabicPeriod" startAt="6"/>
            </a:pPr>
            <a:r>
              <a:rPr lang="en-US" dirty="0">
                <a:solidFill>
                  <a:schemeClr val="bg1"/>
                </a:solidFill>
              </a:rPr>
              <a:t>Drive</a:t>
            </a:r>
          </a:p>
          <a:p>
            <a:pPr marL="342900" indent="-342900">
              <a:buFont typeface="+mj-lt"/>
              <a:buAutoNum type="arabicPeriod" startAt="6"/>
            </a:pPr>
            <a:r>
              <a:rPr lang="en-US" dirty="0">
                <a:solidFill>
                  <a:schemeClr val="bg1"/>
                </a:solidFill>
              </a:rPr>
              <a:t>Desire to lead</a:t>
            </a:r>
          </a:p>
          <a:p>
            <a:pPr marL="342900" indent="-342900">
              <a:buFont typeface="+mj-lt"/>
              <a:buAutoNum type="arabicPeriod" startAt="6"/>
            </a:pPr>
            <a:r>
              <a:rPr lang="en-US" dirty="0">
                <a:solidFill>
                  <a:schemeClr val="bg1"/>
                </a:solidFill>
              </a:rPr>
              <a:t>Honesty/integrity</a:t>
            </a:r>
          </a:p>
          <a:p>
            <a:pPr marL="342900" indent="-342900">
              <a:buFont typeface="+mj-lt"/>
              <a:buAutoNum type="arabicPeriod" startAt="6"/>
            </a:pPr>
            <a:r>
              <a:rPr lang="en-US" dirty="0">
                <a:solidFill>
                  <a:schemeClr val="bg1"/>
                </a:solidFill>
              </a:rPr>
              <a:t>Self-confidence</a:t>
            </a:r>
          </a:p>
          <a:p>
            <a:pPr marL="342900" indent="-342900">
              <a:buFont typeface="+mj-lt"/>
              <a:buAutoNum type="arabicPeriod" startAt="6"/>
            </a:pPr>
            <a:r>
              <a:rPr lang="en-US" dirty="0">
                <a:solidFill>
                  <a:schemeClr val="bg1"/>
                </a:solidFill>
              </a:rPr>
              <a:t>Cognitive ability</a:t>
            </a:r>
          </a:p>
          <a:p>
            <a:pPr marL="342900" indent="-342900">
              <a:buFont typeface="+mj-lt"/>
              <a:buAutoNum type="arabicPeriod" startAt="6"/>
            </a:pPr>
            <a:r>
              <a:rPr lang="en-US" dirty="0">
                <a:solidFill>
                  <a:schemeClr val="bg1"/>
                </a:solidFill>
              </a:rPr>
              <a:t>Knowledge of the business</a:t>
            </a:r>
          </a:p>
        </p:txBody>
      </p:sp>
    </p:spTree>
    <p:extLst>
      <p:ext uri="{BB962C8B-B14F-4D97-AF65-F5344CB8AC3E}">
        <p14:creationId xmlns:p14="http://schemas.microsoft.com/office/powerpoint/2010/main" val="2413664734"/>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4"/>
          <p:cNvSpPr>
            <a:spLocks noGrp="1" noChangeArrowheads="1"/>
          </p:cNvSpPr>
          <p:nvPr>
            <p:ph type="title"/>
          </p:nvPr>
        </p:nvSpPr>
        <p:spPr>
          <a:noFill/>
          <a:ln/>
        </p:spPr>
        <p:txBody>
          <a:bodyPr>
            <a:normAutofit/>
          </a:bodyPr>
          <a:lstStyle/>
          <a:p>
            <a:r>
              <a:rPr lang="en-US" dirty="0"/>
              <a:t>Behavioral Theories of Leadership</a:t>
            </a:r>
          </a:p>
        </p:txBody>
      </p:sp>
      <p:sp>
        <p:nvSpPr>
          <p:cNvPr id="28677" name="Rectangle 5"/>
          <p:cNvSpPr>
            <a:spLocks noGrp="1" noChangeArrowheads="1"/>
          </p:cNvSpPr>
          <p:nvPr>
            <p:ph sz="quarter" idx="13"/>
          </p:nvPr>
        </p:nvSpPr>
        <p:spPr>
          <a:noFill/>
          <a:ln/>
        </p:spPr>
        <p:txBody>
          <a:bodyPr>
            <a:normAutofit/>
          </a:bodyPr>
          <a:lstStyle/>
          <a:p>
            <a:pPr eaLnBrk="1" hangingPunct="1">
              <a:buFont typeface="Wingdings" panose="05000000000000000000" pitchFamily="2" charset="2"/>
              <a:buNone/>
            </a:pPr>
            <a:r>
              <a:rPr lang="en-US" altLang="en-US" sz="2000" dirty="0"/>
              <a:t>Leadership theories that identified behaviors that differentiated </a:t>
            </a:r>
            <a:r>
              <a:rPr lang="en-US" altLang="en-US" sz="2000" b="1" dirty="0">
                <a:solidFill>
                  <a:schemeClr val="accent2">
                    <a:lumMod val="75000"/>
                  </a:schemeClr>
                </a:solidFill>
              </a:rPr>
              <a:t>effective leaders</a:t>
            </a:r>
            <a:r>
              <a:rPr lang="en-US" altLang="en-US" sz="2000" dirty="0"/>
              <a:t> from </a:t>
            </a:r>
            <a:r>
              <a:rPr lang="en-US" altLang="en-US" sz="2000" b="1" dirty="0">
                <a:solidFill>
                  <a:schemeClr val="accent2">
                    <a:lumMod val="75000"/>
                  </a:schemeClr>
                </a:solidFill>
              </a:rPr>
              <a:t>ineffective leaders.</a:t>
            </a:r>
            <a:r>
              <a:rPr lang="en-US" altLang="en-US" sz="2000" dirty="0">
                <a:solidFill>
                  <a:schemeClr val="accent2">
                    <a:lumMod val="75000"/>
                  </a:schemeClr>
                </a:solidFill>
              </a:rPr>
              <a:t> </a:t>
            </a:r>
          </a:p>
          <a:p>
            <a:pPr eaLnBrk="1" hangingPunct="1">
              <a:buFont typeface="Wingdings" panose="05000000000000000000" pitchFamily="2" charset="2"/>
              <a:buNone/>
            </a:pPr>
            <a:r>
              <a:rPr lang="en-US" sz="2000" dirty="0"/>
              <a:t>Two complementary theories</a:t>
            </a:r>
          </a:p>
          <a:p>
            <a:pPr lvl="1">
              <a:lnSpc>
                <a:spcPct val="90000"/>
              </a:lnSpc>
            </a:pPr>
            <a:r>
              <a:rPr lang="en-US" sz="2000" dirty="0"/>
              <a:t>University of Michigan Studies</a:t>
            </a:r>
          </a:p>
          <a:p>
            <a:pPr lvl="1">
              <a:lnSpc>
                <a:spcPct val="90000"/>
              </a:lnSpc>
            </a:pPr>
            <a:r>
              <a:rPr lang="en-US" sz="2000" dirty="0"/>
              <a:t>Ohio State University Leadership Studies</a:t>
            </a:r>
          </a:p>
          <a:p>
            <a:pPr>
              <a:lnSpc>
                <a:spcPct val="90000"/>
              </a:lnSpc>
            </a:pPr>
            <a:r>
              <a:rPr lang="en-US" sz="2000" dirty="0"/>
              <a:t>Major dimensions of leader behavior</a:t>
            </a:r>
          </a:p>
          <a:p>
            <a:pPr lvl="1">
              <a:lnSpc>
                <a:spcPct val="90000"/>
              </a:lnSpc>
            </a:pPr>
            <a:r>
              <a:rPr lang="en-US" sz="2000" dirty="0"/>
              <a:t>Task-centered behavior</a:t>
            </a:r>
          </a:p>
          <a:p>
            <a:pPr lvl="1">
              <a:lnSpc>
                <a:spcPct val="80000"/>
              </a:lnSpc>
            </a:pPr>
            <a:r>
              <a:rPr lang="en-US" sz="2000" dirty="0"/>
              <a:t>People-centered behavior</a:t>
            </a:r>
          </a:p>
        </p:txBody>
      </p:sp>
      <p:grpSp>
        <p:nvGrpSpPr>
          <p:cNvPr id="4" name="Group 4"/>
          <p:cNvGrpSpPr>
            <a:grpSpLocks/>
          </p:cNvGrpSpPr>
          <p:nvPr/>
        </p:nvGrpSpPr>
        <p:grpSpPr bwMode="auto">
          <a:xfrm>
            <a:off x="5350323" y="2114550"/>
            <a:ext cx="3528775" cy="1656201"/>
            <a:chOff x="1306" y="950"/>
            <a:chExt cx="3277" cy="2322"/>
          </a:xfrm>
        </p:grpSpPr>
        <p:sp>
          <p:nvSpPr>
            <p:cNvPr id="5" name="Text Box 5" descr="Tan01"/>
            <p:cNvSpPr txBox="1">
              <a:spLocks noChangeArrowheads="1"/>
            </p:cNvSpPr>
            <p:nvPr/>
          </p:nvSpPr>
          <p:spPr bwMode="blackWhite">
            <a:xfrm>
              <a:off x="1322" y="2292"/>
              <a:ext cx="1370" cy="980"/>
            </a:xfrm>
            <a:prstGeom prst="rect">
              <a:avLst/>
            </a:prstGeom>
            <a:blipFill dpi="0" rotWithShape="0">
              <a:blip r:embed="rId2" cstate="print"/>
              <a:srcRect/>
              <a:stretch>
                <a:fillRect/>
              </a:stretch>
            </a:blipFill>
            <a:ln w="3175" algn="ctr">
              <a:noFill/>
              <a:miter lim="800000"/>
              <a:headEnd/>
              <a:tailEnd/>
            </a:ln>
            <a:effectLst>
              <a:outerShdw dist="107763" dir="2700000" algn="ctr" rotWithShape="0">
                <a:srgbClr val="C0C0C0">
                  <a:alpha val="50000"/>
                </a:srgbClr>
              </a:outerShdw>
            </a:effectLst>
          </p:spPr>
          <p:txBody>
            <a:bodyPr anchor="ctr" anchorCtr="1"/>
            <a:lstStyle/>
            <a:p>
              <a:pPr algn="ctr">
                <a:spcBef>
                  <a:spcPct val="50000"/>
                </a:spcBef>
                <a:defRPr/>
              </a:pPr>
              <a:r>
                <a:rPr lang="en-US" dirty="0"/>
                <a:t>The Michigan Studies</a:t>
              </a:r>
            </a:p>
          </p:txBody>
        </p:sp>
        <p:cxnSp>
          <p:nvCxnSpPr>
            <p:cNvPr id="6" name="AutoShape 6"/>
            <p:cNvCxnSpPr>
              <a:cxnSpLocks noChangeShapeType="1"/>
              <a:stCxn id="11" idx="0"/>
              <a:endCxn id="5" idx="0"/>
            </p:cNvCxnSpPr>
            <p:nvPr/>
          </p:nvCxnSpPr>
          <p:spPr bwMode="auto">
            <a:xfrm flipH="1">
              <a:off x="2007" y="950"/>
              <a:ext cx="861" cy="1342"/>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9" name="AutoShape 9"/>
            <p:cNvCxnSpPr>
              <a:cxnSpLocks noChangeShapeType="1"/>
              <a:stCxn id="11" idx="0"/>
              <a:endCxn id="10" idx="0"/>
            </p:cNvCxnSpPr>
            <p:nvPr/>
          </p:nvCxnSpPr>
          <p:spPr bwMode="auto">
            <a:xfrm>
              <a:off x="2868" y="950"/>
              <a:ext cx="1029" cy="1342"/>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sp>
          <p:nvSpPr>
            <p:cNvPr id="10" name="Text Box 10" descr="Tan01"/>
            <p:cNvSpPr txBox="1">
              <a:spLocks noChangeArrowheads="1"/>
            </p:cNvSpPr>
            <p:nvPr/>
          </p:nvSpPr>
          <p:spPr bwMode="blackWhite">
            <a:xfrm>
              <a:off x="3211" y="2292"/>
              <a:ext cx="1372" cy="980"/>
            </a:xfrm>
            <a:prstGeom prst="rect">
              <a:avLst/>
            </a:prstGeom>
            <a:blipFill dpi="0" rotWithShape="0">
              <a:blip r:embed="rId2" cstate="print"/>
              <a:srcRect/>
              <a:stretch>
                <a:fillRect/>
              </a:stretch>
            </a:blipFill>
            <a:ln w="3175" algn="ctr">
              <a:noFill/>
              <a:miter lim="800000"/>
              <a:headEnd/>
              <a:tailEnd/>
            </a:ln>
            <a:effectLst>
              <a:outerShdw dist="107763" dir="2700000" algn="ctr" rotWithShape="0">
                <a:srgbClr val="C0C0C0">
                  <a:alpha val="50000"/>
                </a:srgbClr>
              </a:outerShdw>
            </a:effectLst>
          </p:spPr>
          <p:txBody>
            <a:bodyPr anchor="ctr" anchorCtr="1"/>
            <a:lstStyle/>
            <a:p>
              <a:pPr algn="ctr">
                <a:spcBef>
                  <a:spcPct val="50000"/>
                </a:spcBef>
                <a:defRPr/>
              </a:pPr>
              <a:r>
                <a:rPr lang="en-US" dirty="0"/>
                <a:t>The Ohio State Studies</a:t>
              </a:r>
            </a:p>
          </p:txBody>
        </p:sp>
        <p:sp>
          <p:nvSpPr>
            <p:cNvPr id="11" name="AutoShape 11" descr="Orange01"/>
            <p:cNvSpPr>
              <a:spLocks noChangeArrowheads="1"/>
            </p:cNvSpPr>
            <p:nvPr/>
          </p:nvSpPr>
          <p:spPr bwMode="auto">
            <a:xfrm>
              <a:off x="1382" y="950"/>
              <a:ext cx="2972" cy="703"/>
            </a:xfrm>
            <a:prstGeom prst="roundRect">
              <a:avLst>
                <a:gd name="adj" fmla="val 16667"/>
              </a:avLst>
            </a:prstGeom>
            <a:blipFill dpi="0" rotWithShape="1">
              <a:blip r:embed="rId3" cstate="print"/>
              <a:srcRect/>
              <a:stretch>
                <a:fillRect/>
              </a:stretch>
            </a:blipFill>
            <a:ln w="9525">
              <a:solidFill>
                <a:srgbClr val="FFCC99"/>
              </a:solidFill>
              <a:round/>
              <a:headEnd/>
              <a:tailEnd/>
            </a:ln>
            <a:effectLst>
              <a:outerShdw dist="107763" dir="2700000" algn="ctr" rotWithShape="0">
                <a:schemeClr val="bg2">
                  <a:alpha val="50000"/>
                </a:schemeClr>
              </a:outerShdw>
            </a:effectLst>
          </p:spPr>
          <p:txBody>
            <a:bodyPr anchor="ctr" anchorCtr="1"/>
            <a:lstStyle/>
            <a:p>
              <a:pPr algn="ctr">
                <a:defRPr/>
              </a:pPr>
              <a:r>
                <a:rPr lang="en-US"/>
                <a:t>Early Studies in Behavioral Approaches to Leadership</a:t>
              </a:r>
            </a:p>
          </p:txBody>
        </p:sp>
        <p:sp>
          <p:nvSpPr>
            <p:cNvPr id="12" name="Line 12"/>
            <p:cNvSpPr>
              <a:spLocks noChangeShapeType="1"/>
            </p:cNvSpPr>
            <p:nvPr/>
          </p:nvSpPr>
          <p:spPr bwMode="auto">
            <a:xfrm>
              <a:off x="1306" y="2315"/>
              <a:ext cx="1368" cy="1"/>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4"/>
            <p:cNvSpPr>
              <a:spLocks noChangeShapeType="1"/>
            </p:cNvSpPr>
            <p:nvPr/>
          </p:nvSpPr>
          <p:spPr bwMode="auto">
            <a:xfrm>
              <a:off x="3207" y="2305"/>
              <a:ext cx="1368" cy="1"/>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230216286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p:cNvSpPr>
            <a:spLocks noGrp="1" noChangeArrowheads="1"/>
          </p:cNvSpPr>
          <p:nvPr>
            <p:ph type="title"/>
          </p:nvPr>
        </p:nvSpPr>
        <p:spPr/>
        <p:txBody>
          <a:bodyPr>
            <a:normAutofit fontScale="90000"/>
          </a:bodyPr>
          <a:lstStyle/>
          <a:p>
            <a:pPr>
              <a:lnSpc>
                <a:spcPct val="80000"/>
              </a:lnSpc>
            </a:pPr>
            <a:r>
              <a:rPr lang="en-US" dirty="0"/>
              <a:t>Behavioral Theories of Leadership (Cont.)</a:t>
            </a:r>
          </a:p>
        </p:txBody>
      </p:sp>
      <p:sp>
        <p:nvSpPr>
          <p:cNvPr id="107523" name="Rectangle 1027"/>
          <p:cNvSpPr>
            <a:spLocks noGrp="1" noChangeArrowheads="1"/>
          </p:cNvSpPr>
          <p:nvPr>
            <p:ph sz="quarter" idx="13"/>
          </p:nvPr>
        </p:nvSpPr>
        <p:spPr/>
        <p:txBody>
          <a:bodyPr>
            <a:noAutofit/>
          </a:bodyPr>
          <a:lstStyle/>
          <a:p>
            <a:r>
              <a:rPr lang="en-US" sz="2000" dirty="0"/>
              <a:t>The </a:t>
            </a:r>
            <a:r>
              <a:rPr lang="en-US" sz="2000" b="1" dirty="0"/>
              <a:t>University of Michigan Studies</a:t>
            </a:r>
            <a:endParaRPr lang="en-US" sz="2000" dirty="0"/>
          </a:p>
          <a:p>
            <a:pPr lvl="1"/>
            <a:r>
              <a:rPr lang="en-US" sz="2000" b="1" dirty="0"/>
              <a:t>Job-centered</a:t>
            </a:r>
            <a:r>
              <a:rPr lang="en-US" sz="2000" dirty="0"/>
              <a:t> leader behavior</a:t>
            </a:r>
          </a:p>
          <a:p>
            <a:pPr lvl="2"/>
            <a:r>
              <a:rPr lang="en-US" sz="2000" dirty="0"/>
              <a:t>Task focused</a:t>
            </a:r>
          </a:p>
          <a:p>
            <a:pPr lvl="2"/>
            <a:r>
              <a:rPr lang="en-US" sz="2000" dirty="0"/>
              <a:t>Pressured subordinates to perform</a:t>
            </a:r>
          </a:p>
          <a:p>
            <a:pPr lvl="2"/>
            <a:r>
              <a:rPr lang="en-US" sz="2000" dirty="0"/>
              <a:t>Little concern for people</a:t>
            </a:r>
          </a:p>
          <a:p>
            <a:pPr lvl="2"/>
            <a:r>
              <a:rPr lang="en-US" sz="2000" dirty="0"/>
              <a:t>Did not trust people to work on their own</a:t>
            </a:r>
          </a:p>
          <a:p>
            <a:pPr lvl="2"/>
            <a:r>
              <a:rPr lang="en-US" sz="2000" dirty="0"/>
              <a:t>Close supervision</a:t>
            </a:r>
          </a:p>
          <a:p>
            <a:pPr lvl="2"/>
            <a:r>
              <a:rPr lang="en-US" sz="2000" dirty="0"/>
              <a:t>Little understanding of their work unit's social system</a:t>
            </a:r>
          </a:p>
          <a:p>
            <a:pPr lvl="2"/>
            <a:r>
              <a:rPr lang="en-US" sz="2000" dirty="0"/>
              <a:t>Did not set high performance goals</a:t>
            </a:r>
          </a:p>
        </p:txBody>
      </p:sp>
      <p:sp>
        <p:nvSpPr>
          <p:cNvPr id="2" name="Rounded Rectangular Callout 1"/>
          <p:cNvSpPr/>
          <p:nvPr/>
        </p:nvSpPr>
        <p:spPr>
          <a:xfrm>
            <a:off x="5562600" y="1352550"/>
            <a:ext cx="3505200" cy="1524000"/>
          </a:xfrm>
          <a:prstGeom prst="wedgeRoundRectCallout">
            <a:avLst>
              <a:gd name="adj1" fmla="val -73938"/>
              <a:gd name="adj2" fmla="val -665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lgn="ctr" eaLnBrk="1" hangingPunct="1"/>
            <a:r>
              <a:rPr lang="en-US" sz="2000" b="1" dirty="0"/>
              <a:t>Paying close attention to the work of subordinates, explaining work procedures, and demonstrating a strong interest in performance</a:t>
            </a:r>
          </a:p>
        </p:txBody>
      </p:sp>
    </p:spTree>
    <p:extLst>
      <p:ext uri="{BB962C8B-B14F-4D97-AF65-F5344CB8AC3E}">
        <p14:creationId xmlns:p14="http://schemas.microsoft.com/office/powerpoint/2010/main" val="3864436970"/>
      </p:ext>
    </p:extLst>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p:cNvSpPr>
            <a:spLocks noGrp="1" noChangeArrowheads="1"/>
          </p:cNvSpPr>
          <p:nvPr>
            <p:ph type="title"/>
          </p:nvPr>
        </p:nvSpPr>
        <p:spPr/>
        <p:txBody>
          <a:bodyPr>
            <a:normAutofit fontScale="90000"/>
          </a:bodyPr>
          <a:lstStyle/>
          <a:p>
            <a:pPr>
              <a:lnSpc>
                <a:spcPct val="80000"/>
              </a:lnSpc>
            </a:pPr>
            <a:r>
              <a:rPr lang="en-US" dirty="0"/>
              <a:t>Behavioral Theories of Leadership (Cont.)</a:t>
            </a:r>
          </a:p>
        </p:txBody>
      </p:sp>
      <p:sp>
        <p:nvSpPr>
          <p:cNvPr id="107523" name="Rectangle 1027"/>
          <p:cNvSpPr>
            <a:spLocks noGrp="1" noChangeArrowheads="1"/>
          </p:cNvSpPr>
          <p:nvPr>
            <p:ph sz="quarter" idx="13"/>
          </p:nvPr>
        </p:nvSpPr>
        <p:spPr/>
        <p:txBody>
          <a:bodyPr>
            <a:noAutofit/>
          </a:bodyPr>
          <a:lstStyle/>
          <a:p>
            <a:r>
              <a:rPr lang="en-US" sz="2000" dirty="0"/>
              <a:t>The </a:t>
            </a:r>
            <a:r>
              <a:rPr lang="en-US" sz="2000" b="1" dirty="0"/>
              <a:t>University of Michigan Studies</a:t>
            </a:r>
            <a:endParaRPr lang="en-US" sz="2000" dirty="0"/>
          </a:p>
          <a:p>
            <a:pPr lvl="1"/>
            <a:r>
              <a:rPr lang="en-US" sz="2000" b="1" dirty="0"/>
              <a:t>Employee-centered</a:t>
            </a:r>
            <a:r>
              <a:rPr lang="en-US" sz="2000" dirty="0"/>
              <a:t> leader behavior</a:t>
            </a:r>
          </a:p>
          <a:p>
            <a:pPr lvl="2"/>
            <a:r>
              <a:rPr lang="en-US" sz="2000" dirty="0"/>
              <a:t>Focused on people and their personal success</a:t>
            </a:r>
          </a:p>
          <a:p>
            <a:pPr lvl="2"/>
            <a:r>
              <a:rPr lang="en-US" sz="2000" dirty="0"/>
              <a:t>Understood of their work unit's social system</a:t>
            </a:r>
          </a:p>
          <a:p>
            <a:pPr lvl="2"/>
            <a:r>
              <a:rPr lang="en-US" sz="2000" dirty="0"/>
              <a:t>Set high performance goals</a:t>
            </a:r>
          </a:p>
          <a:p>
            <a:pPr lvl="2"/>
            <a:r>
              <a:rPr lang="en-US" sz="2000" dirty="0"/>
              <a:t>Communicated performance expectations to subordinates</a:t>
            </a:r>
          </a:p>
        </p:txBody>
      </p:sp>
      <p:sp>
        <p:nvSpPr>
          <p:cNvPr id="2" name="Rounded Rectangular Callout 1"/>
          <p:cNvSpPr/>
          <p:nvPr/>
        </p:nvSpPr>
        <p:spPr>
          <a:xfrm>
            <a:off x="6324600" y="1352550"/>
            <a:ext cx="2743200" cy="1524000"/>
          </a:xfrm>
          <a:prstGeom prst="wedgeRoundRectCallout">
            <a:avLst>
              <a:gd name="adj1" fmla="val -78163"/>
              <a:gd name="adj2" fmla="val -834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lgn="ctr" eaLnBrk="1" hangingPunct="1"/>
            <a:r>
              <a:rPr lang="en-US" sz="2000" b="1" dirty="0"/>
              <a:t>Attempting to build effective work groups with high performance goals</a:t>
            </a:r>
          </a:p>
        </p:txBody>
      </p:sp>
      <p:sp>
        <p:nvSpPr>
          <p:cNvPr id="5" name="Text Box 1028"/>
          <p:cNvSpPr txBox="1">
            <a:spLocks noChangeArrowheads="1"/>
          </p:cNvSpPr>
          <p:nvPr/>
        </p:nvSpPr>
        <p:spPr bwMode="auto">
          <a:xfrm>
            <a:off x="1752600" y="4057650"/>
            <a:ext cx="5268429" cy="646331"/>
          </a:xfrm>
          <a:prstGeom prst="rect">
            <a:avLst/>
          </a:prstGeom>
          <a:solidFill>
            <a:schemeClr val="accent1"/>
          </a:solidFill>
          <a:ln w="5715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solidFill>
                  <a:schemeClr val="bg1"/>
                </a:solidFill>
              </a:rPr>
              <a:t>Combined a strong concern for the social aspects of the</a:t>
            </a:r>
            <a:br>
              <a:rPr lang="en-US">
                <a:solidFill>
                  <a:schemeClr val="bg1"/>
                </a:solidFill>
              </a:rPr>
            </a:br>
            <a:r>
              <a:rPr lang="en-US">
                <a:solidFill>
                  <a:schemeClr val="bg1"/>
                </a:solidFill>
              </a:rPr>
              <a:t>work unit with high performance expectations</a:t>
            </a:r>
          </a:p>
        </p:txBody>
      </p:sp>
    </p:spTree>
    <p:extLst>
      <p:ext uri="{BB962C8B-B14F-4D97-AF65-F5344CB8AC3E}">
        <p14:creationId xmlns:p14="http://schemas.microsoft.com/office/powerpoint/2010/main" val="3005000404"/>
      </p:ext>
    </p:extLst>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a:noFill/>
          <a:ln/>
        </p:spPr>
        <p:txBody>
          <a:bodyPr>
            <a:normAutofit/>
          </a:bodyPr>
          <a:lstStyle/>
          <a:p>
            <a:r>
              <a:rPr lang="en-US" dirty="0"/>
              <a:t>Alternative Views of Leadership</a:t>
            </a:r>
          </a:p>
        </p:txBody>
      </p:sp>
      <p:sp>
        <p:nvSpPr>
          <p:cNvPr id="43013" name="Rectangle 5"/>
          <p:cNvSpPr>
            <a:spLocks noGrp="1" noChangeArrowheads="1"/>
          </p:cNvSpPr>
          <p:nvPr>
            <p:ph sz="quarter" idx="13"/>
          </p:nvPr>
        </p:nvSpPr>
        <p:spPr>
          <a:noFill/>
          <a:ln/>
        </p:spPr>
        <p:txBody>
          <a:bodyPr/>
          <a:lstStyle/>
          <a:p>
            <a:pPr marL="514350" indent="-514350">
              <a:buFont typeface="+mj-lt"/>
              <a:buAutoNum type="arabicParenR"/>
            </a:pPr>
            <a:r>
              <a:rPr lang="en-US" dirty="0"/>
              <a:t>Leader-Member Exchange Theory</a:t>
            </a:r>
          </a:p>
          <a:p>
            <a:pPr marL="514350" indent="-514350">
              <a:buFont typeface="+mj-lt"/>
              <a:buAutoNum type="arabicParenR"/>
            </a:pPr>
            <a:r>
              <a:rPr lang="en-US" dirty="0"/>
              <a:t>Charismatic Leadership Theories</a:t>
            </a:r>
          </a:p>
          <a:p>
            <a:pPr marL="514350" indent="-514350">
              <a:buFont typeface="+mj-lt"/>
              <a:buAutoNum type="arabicParenR"/>
            </a:pPr>
            <a:r>
              <a:rPr lang="en-US" dirty="0"/>
              <a:t>Transformational Leadership</a:t>
            </a:r>
          </a:p>
          <a:p>
            <a:pPr marL="514350" indent="-514350">
              <a:buFont typeface="+mj-lt"/>
              <a:buAutoNum type="arabicParenR"/>
            </a:pPr>
            <a:r>
              <a:rPr lang="en-US" dirty="0"/>
              <a:t>Authentic Leadership</a:t>
            </a:r>
          </a:p>
        </p:txBody>
      </p:sp>
    </p:spTree>
    <p:extLst>
      <p:ext uri="{BB962C8B-B14F-4D97-AF65-F5344CB8AC3E}">
        <p14:creationId xmlns:p14="http://schemas.microsoft.com/office/powerpoint/2010/main" val="1582576538"/>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a:noFill/>
          <a:ln/>
        </p:spPr>
        <p:txBody>
          <a:bodyPr>
            <a:normAutofit fontScale="90000"/>
          </a:bodyPr>
          <a:lstStyle/>
          <a:p>
            <a:pPr marL="463550" indent="-463550"/>
            <a:r>
              <a:rPr lang="en-US" dirty="0"/>
              <a:t>Alternative Views of Leadership (Cont.)</a:t>
            </a:r>
            <a:br>
              <a:rPr lang="en-US" dirty="0"/>
            </a:br>
            <a:r>
              <a:rPr lang="en-US" sz="3100" dirty="0"/>
              <a:t>1. Leader-Member Exchange (LMX) Theory</a:t>
            </a:r>
          </a:p>
        </p:txBody>
      </p:sp>
      <p:sp>
        <p:nvSpPr>
          <p:cNvPr id="43013" name="Rectangle 5"/>
          <p:cNvSpPr>
            <a:spLocks noGrp="1" noChangeArrowheads="1"/>
          </p:cNvSpPr>
          <p:nvPr>
            <p:ph sz="quarter" idx="13"/>
          </p:nvPr>
        </p:nvSpPr>
        <p:spPr>
          <a:noFill/>
          <a:ln/>
        </p:spPr>
        <p:txBody>
          <a:bodyPr>
            <a:normAutofit/>
          </a:bodyPr>
          <a:lstStyle/>
          <a:p>
            <a:pPr marL="514350" indent="-514350">
              <a:buFont typeface="+mj-lt"/>
              <a:buAutoNum type="arabicParenR"/>
            </a:pPr>
            <a:r>
              <a:rPr lang="en-US" sz="2000" dirty="0"/>
              <a:t>LMX argues that, because of time pressures, leaders establish a special relationship with small group of their followers.</a:t>
            </a:r>
          </a:p>
          <a:p>
            <a:pPr marL="514350" indent="-514350">
              <a:buFont typeface="+mj-lt"/>
              <a:buAutoNum type="arabicParenR"/>
            </a:pPr>
            <a:r>
              <a:rPr lang="en-US" sz="2000" dirty="0"/>
              <a:t>Leaders create in-groups and out-groups and subordinates with in-group status will obtain more attention of leader that is linked to higher performance ratings, less turnover, and greater satisfaction with their superior.</a:t>
            </a:r>
          </a:p>
          <a:p>
            <a:pPr marL="514350" indent="-514350">
              <a:buFont typeface="+mj-lt"/>
              <a:buAutoNum type="arabicParenR"/>
            </a:pPr>
            <a:r>
              <a:rPr lang="en-US" sz="2000" dirty="0"/>
              <a:t>A Leadership theory that provides a set of rules to determine the form and amount of participative decision making in different situations.</a:t>
            </a:r>
          </a:p>
          <a:p>
            <a:pPr marL="514350" indent="-514350">
              <a:buFont typeface="+mj-lt"/>
              <a:buAutoNum type="arabicParenR"/>
            </a:pPr>
            <a:endParaRPr lang="en-US" sz="2000" dirty="0"/>
          </a:p>
        </p:txBody>
      </p:sp>
    </p:spTree>
    <p:extLst>
      <p:ext uri="{BB962C8B-B14F-4D97-AF65-F5344CB8AC3E}">
        <p14:creationId xmlns:p14="http://schemas.microsoft.com/office/powerpoint/2010/main" val="1968070326"/>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a:noFill/>
          <a:ln/>
        </p:spPr>
        <p:txBody>
          <a:bodyPr>
            <a:normAutofit fontScale="90000"/>
          </a:bodyPr>
          <a:lstStyle/>
          <a:p>
            <a:pPr marL="463550" indent="-463550"/>
            <a:r>
              <a:rPr lang="en-US" dirty="0"/>
              <a:t>Alternative Views of Leadership (Cont.)</a:t>
            </a:r>
            <a:br>
              <a:rPr lang="en-US" dirty="0"/>
            </a:br>
            <a:r>
              <a:rPr lang="en-US" sz="3100" dirty="0"/>
              <a:t>2. Charismatic Leadership Theory</a:t>
            </a:r>
          </a:p>
        </p:txBody>
      </p:sp>
      <p:sp>
        <p:nvSpPr>
          <p:cNvPr id="43013" name="Rectangle 5"/>
          <p:cNvSpPr>
            <a:spLocks noGrp="1" noChangeArrowheads="1"/>
          </p:cNvSpPr>
          <p:nvPr>
            <p:ph sz="quarter" idx="13"/>
          </p:nvPr>
        </p:nvSpPr>
        <p:spPr>
          <a:noFill/>
          <a:ln/>
        </p:spPr>
        <p:txBody>
          <a:bodyPr>
            <a:noAutofit/>
          </a:bodyPr>
          <a:lstStyle/>
          <a:p>
            <a:r>
              <a:rPr lang="en-US" sz="1800" dirty="0"/>
              <a:t>Followers make attributions of heroic or extraordinary leadership abilities when they observe certain behaviors (ex - Martin Luther King)</a:t>
            </a:r>
          </a:p>
          <a:p>
            <a:pPr lvl="1"/>
            <a:r>
              <a:rPr lang="en-US" sz="1800" dirty="0"/>
              <a:t>Leader - develop and widely communicate an inspirational vision.</a:t>
            </a:r>
          </a:p>
          <a:p>
            <a:pPr lvl="1"/>
            <a:r>
              <a:rPr lang="en-US" sz="1800" dirty="0"/>
              <a:t>Leader - form bonds of trust between themselves and their followers.</a:t>
            </a:r>
          </a:p>
          <a:p>
            <a:pPr lvl="1"/>
            <a:r>
              <a:rPr lang="en-US" sz="1800" dirty="0"/>
              <a:t>Leader – sensitive to follower needs</a:t>
            </a:r>
          </a:p>
          <a:p>
            <a:pPr lvl="1"/>
            <a:r>
              <a:rPr lang="en-US" sz="1800" dirty="0"/>
              <a:t>Leader - Attract devoted followers</a:t>
            </a:r>
          </a:p>
          <a:p>
            <a:pPr lvl="1"/>
            <a:r>
              <a:rPr lang="en-US" sz="1800" dirty="0"/>
              <a:t>Followers - energetically pursue leader's vision</a:t>
            </a:r>
          </a:p>
          <a:p>
            <a:pPr lvl="1"/>
            <a:r>
              <a:rPr lang="en-US" sz="1800" dirty="0"/>
              <a:t>Followers - move to extraordinary heights of performance</a:t>
            </a:r>
          </a:p>
          <a:p>
            <a:pPr lvl="1"/>
            <a:r>
              <a:rPr lang="en-US" sz="1800" dirty="0"/>
              <a:t>Followers - build emotional attachment to leader.</a:t>
            </a:r>
          </a:p>
        </p:txBody>
      </p:sp>
      <p:pic>
        <p:nvPicPr>
          <p:cNvPr id="1026" name="Picture 2" descr="Image result for charismatic leader of pakista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43800" y="2665903"/>
            <a:ext cx="1568885" cy="24418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charismatic leader of pakistan"/>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814" b="7866"/>
          <a:stretch/>
        </p:blipFill>
        <p:spPr bwMode="auto">
          <a:xfrm>
            <a:off x="5562600" y="4100048"/>
            <a:ext cx="1981200" cy="1043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150873"/>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a:noFill/>
          <a:ln/>
        </p:spPr>
        <p:txBody>
          <a:bodyPr>
            <a:normAutofit fontScale="90000"/>
          </a:bodyPr>
          <a:lstStyle/>
          <a:p>
            <a:pPr marL="514350" indent="-514350"/>
            <a:r>
              <a:rPr lang="en-US" dirty="0"/>
              <a:t>Alternative Views of Leadership (Cont.)</a:t>
            </a:r>
            <a:br>
              <a:rPr lang="en-US" dirty="0"/>
            </a:br>
            <a:r>
              <a:rPr lang="en-US" sz="3100" dirty="0"/>
              <a:t>3. Transformational Leadership</a:t>
            </a:r>
          </a:p>
        </p:txBody>
      </p:sp>
      <p:sp>
        <p:nvSpPr>
          <p:cNvPr id="43013" name="Rectangle 5"/>
          <p:cNvSpPr>
            <a:spLocks noGrp="1" noChangeArrowheads="1"/>
          </p:cNvSpPr>
          <p:nvPr>
            <p:ph sz="quarter" idx="13"/>
          </p:nvPr>
        </p:nvSpPr>
        <p:spPr>
          <a:noFill/>
          <a:ln/>
        </p:spPr>
        <p:txBody>
          <a:bodyPr>
            <a:normAutofit fontScale="77500" lnSpcReduction="20000"/>
          </a:bodyPr>
          <a:lstStyle/>
          <a:p>
            <a:pPr>
              <a:buFont typeface="Wingdings" pitchFamily="2" charset="2"/>
              <a:buNone/>
            </a:pPr>
            <a:r>
              <a:rPr lang="en-US" sz="2600" dirty="0"/>
              <a:t>Leaders who inspire followers to go beyond their own self-interests for the good of the organization and who are capable of having a </a:t>
            </a:r>
            <a:r>
              <a:rPr lang="en-US" sz="2600" u="sng" dirty="0">
                <a:effectLst>
                  <a:outerShdw blurRad="38100" dist="38100" dir="2700000" algn="tl">
                    <a:srgbClr val="C0C0C0"/>
                  </a:outerShdw>
                </a:effectLst>
              </a:rPr>
              <a:t>deep and extraordinary effect</a:t>
            </a:r>
            <a:r>
              <a:rPr lang="en-US" sz="2600" dirty="0"/>
              <a:t> on followers.</a:t>
            </a:r>
          </a:p>
          <a:p>
            <a:pPr lvl="1">
              <a:lnSpc>
                <a:spcPct val="90000"/>
              </a:lnSpc>
              <a:defRPr/>
            </a:pPr>
            <a:r>
              <a:rPr lang="en-US" sz="2300" dirty="0"/>
              <a:t>Leader’s transform their followers through their inspirational nature such that followers identify with the leader and its purpose.</a:t>
            </a:r>
          </a:p>
          <a:p>
            <a:pPr lvl="1">
              <a:lnSpc>
                <a:spcPct val="90000"/>
              </a:lnSpc>
              <a:defRPr/>
            </a:pPr>
            <a:r>
              <a:rPr lang="en-US" sz="2300" dirty="0"/>
              <a:t>Focus on change and communicate clear vision</a:t>
            </a:r>
          </a:p>
          <a:p>
            <a:pPr lvl="1">
              <a:lnSpc>
                <a:spcPct val="90000"/>
              </a:lnSpc>
              <a:defRPr/>
            </a:pPr>
            <a:r>
              <a:rPr lang="en-US" sz="2300" dirty="0"/>
              <a:t>Address the needs and values of the organization </a:t>
            </a:r>
          </a:p>
          <a:p>
            <a:pPr lvl="1">
              <a:lnSpc>
                <a:spcPct val="90000"/>
              </a:lnSpc>
              <a:defRPr/>
            </a:pPr>
            <a:r>
              <a:rPr lang="en-US" sz="2300" dirty="0"/>
              <a:t>Address the needs and values of followers</a:t>
            </a:r>
          </a:p>
          <a:p>
            <a:pPr lvl="1"/>
            <a:r>
              <a:rPr lang="en-US" sz="2300" dirty="0"/>
              <a:t>Strive for big increases in performance</a:t>
            </a:r>
          </a:p>
          <a:p>
            <a:pPr lvl="1"/>
            <a:r>
              <a:rPr lang="en-US" sz="2300" dirty="0"/>
              <a:t>Bring excitement to workplace</a:t>
            </a:r>
          </a:p>
          <a:p>
            <a:pPr lvl="1"/>
            <a:r>
              <a:rPr lang="en-US" sz="2300" dirty="0"/>
              <a:t>Build strong emotional bonds between subordinates</a:t>
            </a:r>
          </a:p>
          <a:p>
            <a:pPr lvl="1"/>
            <a:r>
              <a:rPr lang="en-US" sz="2300" dirty="0"/>
              <a:t>Often bring dramatic changes to an organization's culture</a:t>
            </a:r>
          </a:p>
        </p:txBody>
      </p:sp>
    </p:spTree>
    <p:extLst>
      <p:ext uri="{BB962C8B-B14F-4D97-AF65-F5344CB8AC3E}">
        <p14:creationId xmlns:p14="http://schemas.microsoft.com/office/powerpoint/2010/main" val="2164825989"/>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a:noFill/>
          <a:ln/>
        </p:spPr>
        <p:txBody>
          <a:bodyPr>
            <a:normAutofit fontScale="90000"/>
          </a:bodyPr>
          <a:lstStyle/>
          <a:p>
            <a:pPr marL="514350" indent="-514350"/>
            <a:r>
              <a:rPr lang="en-US" dirty="0"/>
              <a:t>Alternative Views of Leadership (Cont.)</a:t>
            </a:r>
            <a:br>
              <a:rPr lang="en-US" dirty="0"/>
            </a:br>
            <a:r>
              <a:rPr lang="en-US" sz="3100" dirty="0"/>
              <a:t>4. Authentic Leadership</a:t>
            </a:r>
          </a:p>
        </p:txBody>
      </p:sp>
      <p:sp>
        <p:nvSpPr>
          <p:cNvPr id="43013" name="Rectangle 5"/>
          <p:cNvSpPr>
            <a:spLocks noGrp="1" noChangeArrowheads="1"/>
          </p:cNvSpPr>
          <p:nvPr>
            <p:ph sz="quarter" idx="13"/>
          </p:nvPr>
        </p:nvSpPr>
        <p:spPr>
          <a:noFill/>
          <a:ln/>
        </p:spPr>
        <p:txBody>
          <a:bodyPr>
            <a:normAutofit/>
          </a:bodyPr>
          <a:lstStyle/>
          <a:p>
            <a:pPr>
              <a:buFont typeface="Wingdings" pitchFamily="2" charset="2"/>
              <a:buChar char="q"/>
            </a:pPr>
            <a:r>
              <a:rPr lang="en-US" sz="2000" dirty="0"/>
              <a:t>Leaders who know who they are, know what they believe in and value, and act on those values and beliefs openly and candidly. Their followers would consider them to be ethical people.</a:t>
            </a:r>
          </a:p>
          <a:p>
            <a:pPr>
              <a:buFont typeface="Wingdings" pitchFamily="2" charset="2"/>
              <a:buChar char="q"/>
            </a:pPr>
            <a:r>
              <a:rPr lang="en-US" sz="2000" dirty="0"/>
              <a:t>Authentic leaders share information, encourage open communication, and stick to their ideals.</a:t>
            </a:r>
          </a:p>
          <a:p>
            <a:pPr>
              <a:buFont typeface="Wingdings" pitchFamily="2" charset="2"/>
              <a:buChar char="q"/>
            </a:pPr>
            <a:r>
              <a:rPr lang="en-US" sz="2000" dirty="0"/>
              <a:t>The result: people come to have faith (trust) in them.</a:t>
            </a:r>
          </a:p>
        </p:txBody>
      </p:sp>
    </p:spTree>
    <p:extLst>
      <p:ext uri="{BB962C8B-B14F-4D97-AF65-F5344CB8AC3E}">
        <p14:creationId xmlns:p14="http://schemas.microsoft.com/office/powerpoint/2010/main" val="2764770937"/>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2D81-09E0-B67E-933A-0A425679709F}"/>
              </a:ext>
            </a:extLst>
          </p:cNvPr>
          <p:cNvSpPr>
            <a:spLocks noGrp="1"/>
          </p:cNvSpPr>
          <p:nvPr>
            <p:ph type="title"/>
          </p:nvPr>
        </p:nvSpPr>
        <p:spPr/>
        <p:txBody>
          <a:bodyPr>
            <a:normAutofit/>
          </a:bodyPr>
          <a:lstStyle/>
          <a:p>
            <a:r>
              <a:rPr lang="en-US" dirty="0"/>
              <a:t>Types of leadership in 21</a:t>
            </a:r>
            <a:r>
              <a:rPr lang="en-US" baseline="30000" dirty="0"/>
              <a:t>st</a:t>
            </a:r>
            <a:r>
              <a:rPr lang="en-US" dirty="0"/>
              <a:t> century</a:t>
            </a:r>
            <a:endParaRPr lang="en-PK" dirty="0"/>
          </a:p>
        </p:txBody>
      </p:sp>
      <p:sp>
        <p:nvSpPr>
          <p:cNvPr id="3" name="Slide Number Placeholder 2">
            <a:extLst>
              <a:ext uri="{FF2B5EF4-FFF2-40B4-BE49-F238E27FC236}">
                <a16:creationId xmlns:a16="http://schemas.microsoft.com/office/drawing/2014/main" id="{0E459E53-17C0-89F1-97E5-B878A30A37D5}"/>
              </a:ext>
            </a:extLst>
          </p:cNvPr>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17</a:t>
            </a:fld>
            <a:endParaRPr lang="en-US"/>
          </a:p>
        </p:txBody>
      </p:sp>
      <p:sp>
        <p:nvSpPr>
          <p:cNvPr id="4" name="Content Placeholder 3">
            <a:extLst>
              <a:ext uri="{FF2B5EF4-FFF2-40B4-BE49-F238E27FC236}">
                <a16:creationId xmlns:a16="http://schemas.microsoft.com/office/drawing/2014/main" id="{F35BC0BA-9EC1-3B8B-6809-9E88D6EF1210}"/>
              </a:ext>
            </a:extLst>
          </p:cNvPr>
          <p:cNvSpPr>
            <a:spLocks noGrp="1"/>
          </p:cNvSpPr>
          <p:nvPr>
            <p:ph sz="quarter" idx="13"/>
          </p:nvPr>
        </p:nvSpPr>
        <p:spPr/>
        <p:txBody>
          <a:bodyPr/>
          <a:lstStyle/>
          <a:p>
            <a:r>
              <a:rPr lang="en-US" dirty="0"/>
              <a:t>Paradoxical leadership</a:t>
            </a:r>
          </a:p>
          <a:p>
            <a:r>
              <a:rPr lang="en-US" dirty="0"/>
              <a:t>Resilience leadership</a:t>
            </a:r>
          </a:p>
          <a:p>
            <a:r>
              <a:rPr lang="en-US" dirty="0"/>
              <a:t>Eco-leadership</a:t>
            </a:r>
          </a:p>
          <a:p>
            <a:r>
              <a:rPr lang="en-US" dirty="0"/>
              <a:t>Digital leadership</a:t>
            </a:r>
            <a:endParaRPr lang="en-PK" dirty="0"/>
          </a:p>
        </p:txBody>
      </p:sp>
    </p:spTree>
    <p:extLst>
      <p:ext uri="{BB962C8B-B14F-4D97-AF65-F5344CB8AC3E}">
        <p14:creationId xmlns:p14="http://schemas.microsoft.com/office/powerpoint/2010/main" val="3906512462"/>
      </p:ext>
    </p:extLst>
  </p:cSld>
  <p:clrMapOvr>
    <a:masterClrMapping/>
  </p:clrMapOvr>
  <p:transition>
    <p:pull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noAutofit/>
          </a:bodyPr>
          <a:lstStyle/>
          <a:p>
            <a:r>
              <a:rPr lang="en-US" sz="4000" dirty="0"/>
              <a:t>Summary and Implications for Managers</a:t>
            </a:r>
          </a:p>
        </p:txBody>
      </p:sp>
      <p:sp>
        <p:nvSpPr>
          <p:cNvPr id="126979" name="Rectangle 3"/>
          <p:cNvSpPr>
            <a:spLocks noGrp="1" noChangeArrowheads="1"/>
          </p:cNvSpPr>
          <p:nvPr>
            <p:ph sz="quarter" idx="13"/>
          </p:nvPr>
        </p:nvSpPr>
        <p:spPr/>
        <p:txBody>
          <a:bodyPr>
            <a:normAutofit fontScale="77500" lnSpcReduction="20000"/>
          </a:bodyPr>
          <a:lstStyle/>
          <a:p>
            <a:r>
              <a:rPr lang="en-US"/>
              <a:t>Trust is important - as organizations are less stable, personal trust is key in defining relationships and defining expectations</a:t>
            </a:r>
          </a:p>
          <a:p>
            <a:pPr>
              <a:buFont typeface="Wingdings" pitchFamily="2" charset="2"/>
              <a:buNone/>
            </a:pPr>
            <a:endParaRPr lang="en-US"/>
          </a:p>
          <a:p>
            <a:r>
              <a:rPr lang="en-US"/>
              <a:t>Transformational leaders are in demand. Organizations want leaders with vision and charisma to carry out the visions.</a:t>
            </a:r>
          </a:p>
          <a:p>
            <a:pPr>
              <a:buFont typeface="Wingdings" pitchFamily="2" charset="2"/>
              <a:buNone/>
            </a:pPr>
            <a:endParaRPr lang="en-US"/>
          </a:p>
          <a:p>
            <a:r>
              <a:rPr lang="en-US"/>
              <a:t>Invest in leadership selection and training (and follow up with assessment centers, courses, workshops, rotating job responsibilities, coaching, and mentoring)</a:t>
            </a:r>
          </a:p>
          <a:p>
            <a:endParaRPr lang="en-US"/>
          </a:p>
        </p:txBody>
      </p:sp>
    </p:spTree>
    <p:extLst>
      <p:ext uri="{BB962C8B-B14F-4D97-AF65-F5344CB8AC3E}">
        <p14:creationId xmlns:p14="http://schemas.microsoft.com/office/powerpoint/2010/main" val="770883982"/>
      </p:ext>
    </p:extLst>
  </p:cSld>
  <p:clrMapOvr>
    <a:masterClrMapping/>
  </p:clrMapOvr>
  <p:transition>
    <p:pull dir="d"/>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WidescreenPresentation</Template>
  <TotalTime>0</TotalTime>
  <Words>1150</Words>
  <Application>Microsoft Office PowerPoint</Application>
  <PresentationFormat>On-screen Show (16:9)</PresentationFormat>
  <Paragraphs>145</Paragraphs>
  <Slides>18</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Arial Black</vt:lpstr>
      <vt:lpstr>Book Antiqua</vt:lpstr>
      <vt:lpstr>Calibri</vt:lpstr>
      <vt:lpstr>Century Schoolbook</vt:lpstr>
      <vt:lpstr>Tw Cen MT</vt:lpstr>
      <vt:lpstr>Wingdings</vt:lpstr>
      <vt:lpstr>Wingdings 2</vt:lpstr>
      <vt:lpstr>WidescreenPresentation</vt:lpstr>
      <vt:lpstr>Leadership</vt:lpstr>
      <vt:lpstr>Leadership</vt:lpstr>
      <vt:lpstr>What makes someone a leader?</vt:lpstr>
      <vt:lpstr>Leaders are Made or Born?</vt:lpstr>
      <vt:lpstr>Leadership</vt:lpstr>
      <vt:lpstr>Management and Leadership</vt:lpstr>
      <vt:lpstr>PowerPoint Presentation</vt:lpstr>
      <vt:lpstr>Trait Approaches to Leadership</vt:lpstr>
      <vt:lpstr>Behavioral Theories of Leadership</vt:lpstr>
      <vt:lpstr>Behavioral Theories of Leadership (Cont.)</vt:lpstr>
      <vt:lpstr>Behavioral Theories of Leadership (Cont.)</vt:lpstr>
      <vt:lpstr>Alternative Views of Leadership</vt:lpstr>
      <vt:lpstr>Alternative Views of Leadership (Cont.) 1. Leader-Member Exchange (LMX) Theory</vt:lpstr>
      <vt:lpstr>Alternative Views of Leadership (Cont.) 2. Charismatic Leadership Theory</vt:lpstr>
      <vt:lpstr>Alternative Views of Leadership (Cont.) 3. Transformational Leadership</vt:lpstr>
      <vt:lpstr>Alternative Views of Leadership (Cont.) 4. Authentic Leadership</vt:lpstr>
      <vt:lpstr>Types of leadership in 21st century</vt:lpstr>
      <vt:lpstr>Summary and Implications for Managers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2017-08-17T02:20:37Z</dcterms:created>
  <dcterms:modified xsi:type="dcterms:W3CDTF">2025-11-12T16:44:49Z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