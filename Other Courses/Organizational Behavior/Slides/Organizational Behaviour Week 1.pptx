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handoutMasterIdLst>
    <p:handoutMasterId r:id="rId34"/>
  </p:handoutMasterIdLst>
  <p:sldIdLst>
    <p:sldId id="265" r:id="rId2"/>
    <p:sldId id="269" r:id="rId3"/>
    <p:sldId id="376" r:id="rId4"/>
    <p:sldId id="517" r:id="rId5"/>
    <p:sldId id="569" r:id="rId6"/>
    <p:sldId id="534" r:id="rId7"/>
    <p:sldId id="546" r:id="rId8"/>
    <p:sldId id="600" r:id="rId9"/>
    <p:sldId id="555" r:id="rId10"/>
    <p:sldId id="556" r:id="rId11"/>
    <p:sldId id="557" r:id="rId12"/>
    <p:sldId id="558" r:id="rId13"/>
    <p:sldId id="562" r:id="rId14"/>
    <p:sldId id="565" r:id="rId15"/>
    <p:sldId id="539" r:id="rId16"/>
    <p:sldId id="594" r:id="rId17"/>
    <p:sldId id="595" r:id="rId18"/>
    <p:sldId id="596" r:id="rId19"/>
    <p:sldId id="598" r:id="rId20"/>
    <p:sldId id="599" r:id="rId21"/>
    <p:sldId id="597" r:id="rId22"/>
    <p:sldId id="592" r:id="rId23"/>
    <p:sldId id="593" r:id="rId24"/>
    <p:sldId id="601" r:id="rId25"/>
    <p:sldId id="547" r:id="rId26"/>
    <p:sldId id="548" r:id="rId27"/>
    <p:sldId id="549" r:id="rId28"/>
    <p:sldId id="551" r:id="rId29"/>
    <p:sldId id="552" r:id="rId30"/>
    <p:sldId id="553" r:id="rId31"/>
    <p:sldId id="588" r:id="rId32"/>
  </p:sldIdLst>
  <p:sldSz cx="9144000" cy="5143500" type="screen16x9"/>
  <p:notesSz cx="7315200" cy="9601200"/>
  <p:defaultTextStyle>
    <a:lvl1pPr marL="0" algn="l" rtl="0" latinLnBrk="0">
      <a:defRPr sz="1800" kern="1200">
        <a:solidFill>
          <a:schemeClr val="tx1"/>
        </a:solidFill>
        <a:latin typeface="+mn-lt"/>
        <a:ea typeface="+mn-ea"/>
        <a:cs typeface="+mn-cs"/>
      </a:defRPr>
    </a:lvl1pPr>
    <a:lvl2pPr marL="457200" algn="l" rtl="0" latinLnBrk="0">
      <a:defRPr sz="1800" kern="1200">
        <a:solidFill>
          <a:schemeClr val="tx1"/>
        </a:solidFill>
        <a:latin typeface="+mn-lt"/>
        <a:ea typeface="+mn-ea"/>
        <a:cs typeface="+mn-cs"/>
      </a:defRPr>
    </a:lvl2pPr>
    <a:lvl3pPr marL="914400" algn="l" rtl="0" latinLnBrk="0">
      <a:defRPr sz="1800" kern="1200">
        <a:solidFill>
          <a:schemeClr val="tx1"/>
        </a:solidFill>
        <a:latin typeface="+mn-lt"/>
        <a:ea typeface="+mn-ea"/>
        <a:cs typeface="+mn-cs"/>
      </a:defRPr>
    </a:lvl3pPr>
    <a:lvl4pPr marL="1371600" algn="l" rtl="0" latinLnBrk="0">
      <a:defRPr sz="1800" kern="1200">
        <a:solidFill>
          <a:schemeClr val="tx1"/>
        </a:solidFill>
        <a:latin typeface="+mn-lt"/>
        <a:ea typeface="+mn-ea"/>
        <a:cs typeface="+mn-cs"/>
      </a:defRPr>
    </a:lvl4pPr>
    <a:lvl5pPr marL="1828800" algn="l" rtl="0" latinLnBrk="0">
      <a:defRPr sz="1800" kern="1200">
        <a:solidFill>
          <a:schemeClr val="tx1"/>
        </a:solidFill>
        <a:latin typeface="+mn-lt"/>
        <a:ea typeface="+mn-ea"/>
        <a:cs typeface="+mn-cs"/>
      </a:defRPr>
    </a:lvl5pPr>
    <a:lvl6pPr marL="2286000" algn="l" rtl="0" latinLnBrk="0">
      <a:defRPr sz="1800" kern="1200">
        <a:solidFill>
          <a:schemeClr val="tx1"/>
        </a:solidFill>
        <a:latin typeface="+mn-lt"/>
        <a:ea typeface="+mn-ea"/>
        <a:cs typeface="+mn-cs"/>
      </a:defRPr>
    </a:lvl6pPr>
    <a:lvl7pPr marL="2743200" algn="l" rtl="0" latinLnBrk="0">
      <a:defRPr sz="1800" kern="1200">
        <a:solidFill>
          <a:schemeClr val="tx1"/>
        </a:solidFill>
        <a:latin typeface="+mn-lt"/>
        <a:ea typeface="+mn-ea"/>
        <a:cs typeface="+mn-cs"/>
      </a:defRPr>
    </a:lvl7pPr>
    <a:lvl8pPr marL="3200400" algn="l" rtl="0" latinLnBrk="0">
      <a:defRPr sz="1800" kern="1200">
        <a:solidFill>
          <a:schemeClr val="tx1"/>
        </a:solidFill>
        <a:latin typeface="+mn-lt"/>
        <a:ea typeface="+mn-ea"/>
        <a:cs typeface="+mn-cs"/>
      </a:defRPr>
    </a:lvl8pPr>
    <a:lvl9pPr marL="3657600" algn="l" rtl="0" latinLnBrk="0">
      <a:defRPr sz="1800" kern="1200">
        <a:solidFill>
          <a:schemeClr val="tx1"/>
        </a:solidFill>
        <a:latin typeface="+mn-lt"/>
        <a:ea typeface="+mn-ea"/>
        <a:cs typeface="+mn-cs"/>
      </a:defRPr>
    </a:lvl9pPr>
    <a:extLst/>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0830A4-B5E2-4BD0-B535-C802E51119FB}" v="4" dt="2022-02-14T16:18:41.3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30" autoAdjust="0"/>
    <p:restoredTop sz="85217" autoAdjust="0"/>
  </p:normalViewPr>
  <p:slideViewPr>
    <p:cSldViewPr>
      <p:cViewPr varScale="1">
        <p:scale>
          <a:sx n="93" d="100"/>
          <a:sy n="93" d="100"/>
        </p:scale>
        <p:origin x="1046" y="77"/>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79425"/>
          </a:xfrm>
          <a:prstGeom prst="rect">
            <a:avLst/>
          </a:prstGeom>
        </p:spPr>
        <p:txBody>
          <a:bodyPr vert="horz" lIns="91440" tIns="45720" rIns="91440" bIns="45720" rtlCol="0"/>
          <a:lstStyle>
            <a:lvl1pPr algn="r">
              <a:defRPr sz="1200"/>
            </a:lvl1pPr>
          </a:lstStyle>
          <a:p>
            <a:fld id="{B58BDC80-DC7C-43FD-96E5-532427FD5AF6}" type="datetimeFigureOut">
              <a:rPr lang="en-US" smtClean="0"/>
              <a:pPr/>
              <a:t>8/21/2025</a:t>
            </a:fld>
            <a:endParaRPr lang="en-US"/>
          </a:p>
        </p:txBody>
      </p:sp>
      <p:sp>
        <p:nvSpPr>
          <p:cNvPr id="4" name="Footer Placeholder 3"/>
          <p:cNvSpPr>
            <a:spLocks noGrp="1"/>
          </p:cNvSpPr>
          <p:nvPr>
            <p:ph type="ftr" sz="quarter" idx="2"/>
          </p:nvPr>
        </p:nvSpPr>
        <p:spPr>
          <a:xfrm>
            <a:off x="0" y="9120188"/>
            <a:ext cx="3170238" cy="4794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lIns="91440" tIns="45720" rIns="91440" bIns="45720" rtlCol="0" anchor="b"/>
          <a:lstStyle>
            <a:lvl1pPr algn="r">
              <a:defRPr sz="1200"/>
            </a:lvl1pPr>
          </a:lstStyle>
          <a:p>
            <a:fld id="{6249E867-D716-4FCE-A2D3-C62D6ABAC055}" type="slidenum">
              <a:rPr lang="en-US" smtClean="0"/>
              <a:pPr/>
              <a:t>‹#›</a:t>
            </a:fld>
            <a:endParaRPr lang="en-US"/>
          </a:p>
        </p:txBody>
      </p:sp>
    </p:spTree>
    <p:extLst>
      <p:ext uri="{BB962C8B-B14F-4D97-AF65-F5344CB8AC3E}">
        <p14:creationId xmlns:p14="http://schemas.microsoft.com/office/powerpoint/2010/main" val="14471741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extLst/>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extLst/>
          </a:lstStyle>
          <a:p>
            <a:fld id="{A8ADFD5B-A66C-449C-B6E8-FB716D07777D}" type="datetimeFigureOut">
              <a:rPr lang="en-US" smtClean="0"/>
              <a:pPr/>
              <a:t>8/21/2025</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extLst/>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extLst/>
          </a:lstStyle>
          <a:p>
            <a:fld id="{CA5D3BF3-D352-46FC-8343-31F56E6730EA}" type="slidenum">
              <a:rPr lang="en-US" smtClean="0"/>
              <a:pPr/>
              <a:t>‹#›</a:t>
            </a:fld>
            <a:endParaRPr lang="en-US"/>
          </a:p>
        </p:txBody>
      </p:sp>
    </p:spTree>
    <p:extLst>
      <p:ext uri="{BB962C8B-B14F-4D97-AF65-F5344CB8AC3E}">
        <p14:creationId xmlns:p14="http://schemas.microsoft.com/office/powerpoint/2010/main" val="1369369957"/>
      </p:ext>
    </p:extLst>
  </p:cSld>
  <p:clrMap bg1="lt1" tx1="dk1" bg2="lt2" tx2="dk2" accent1="accent1" accent2="accent2" accent3="accent3" accent4="accent4" accent5="accent5" accent6="accent6" hlink="hlink" folHlink="folHlink"/>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5D3BF3-D352-46FC-8343-31F56E6730EA}"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Times New Roman" pitchFamily="18" charset="0"/>
              </a:defRPr>
            </a:lvl1pPr>
            <a:lvl2pPr marL="788493" indent="-303266" eaLnBrk="0" hangingPunct="0">
              <a:defRPr sz="2500">
                <a:solidFill>
                  <a:schemeClr val="tx1"/>
                </a:solidFill>
                <a:latin typeface="Times New Roman" pitchFamily="18" charset="0"/>
              </a:defRPr>
            </a:lvl2pPr>
            <a:lvl3pPr marL="1213066" indent="-242613" eaLnBrk="0" hangingPunct="0">
              <a:defRPr sz="2500">
                <a:solidFill>
                  <a:schemeClr val="tx1"/>
                </a:solidFill>
                <a:latin typeface="Times New Roman" pitchFamily="18" charset="0"/>
              </a:defRPr>
            </a:lvl3pPr>
            <a:lvl4pPr marL="1698292" indent="-242613" eaLnBrk="0" hangingPunct="0">
              <a:defRPr sz="2500">
                <a:solidFill>
                  <a:schemeClr val="tx1"/>
                </a:solidFill>
                <a:latin typeface="Times New Roman" pitchFamily="18" charset="0"/>
              </a:defRPr>
            </a:lvl4pPr>
            <a:lvl5pPr marL="2183519" indent="-242613" eaLnBrk="0" hangingPunct="0">
              <a:defRPr sz="2500">
                <a:solidFill>
                  <a:schemeClr val="tx1"/>
                </a:solidFill>
                <a:latin typeface="Times New Roman" pitchFamily="18" charset="0"/>
              </a:defRPr>
            </a:lvl5pPr>
            <a:lvl6pPr marL="2668745" indent="-242613" eaLnBrk="0" fontAlgn="base" hangingPunct="0">
              <a:spcBef>
                <a:spcPct val="0"/>
              </a:spcBef>
              <a:spcAft>
                <a:spcPct val="0"/>
              </a:spcAft>
              <a:defRPr sz="2500">
                <a:solidFill>
                  <a:schemeClr val="tx1"/>
                </a:solidFill>
                <a:latin typeface="Times New Roman" pitchFamily="18" charset="0"/>
              </a:defRPr>
            </a:lvl6pPr>
            <a:lvl7pPr marL="3153971" indent="-242613" eaLnBrk="0" fontAlgn="base" hangingPunct="0">
              <a:spcBef>
                <a:spcPct val="0"/>
              </a:spcBef>
              <a:spcAft>
                <a:spcPct val="0"/>
              </a:spcAft>
              <a:defRPr sz="2500">
                <a:solidFill>
                  <a:schemeClr val="tx1"/>
                </a:solidFill>
                <a:latin typeface="Times New Roman" pitchFamily="18" charset="0"/>
              </a:defRPr>
            </a:lvl7pPr>
            <a:lvl8pPr marL="3639198" indent="-242613" eaLnBrk="0" fontAlgn="base" hangingPunct="0">
              <a:spcBef>
                <a:spcPct val="0"/>
              </a:spcBef>
              <a:spcAft>
                <a:spcPct val="0"/>
              </a:spcAft>
              <a:defRPr sz="2500">
                <a:solidFill>
                  <a:schemeClr val="tx1"/>
                </a:solidFill>
                <a:latin typeface="Times New Roman" pitchFamily="18" charset="0"/>
              </a:defRPr>
            </a:lvl8pPr>
            <a:lvl9pPr marL="4124424" indent="-242613" eaLnBrk="0" fontAlgn="base" hangingPunct="0">
              <a:spcBef>
                <a:spcPct val="0"/>
              </a:spcBef>
              <a:spcAft>
                <a:spcPct val="0"/>
              </a:spcAft>
              <a:defRPr sz="2500">
                <a:solidFill>
                  <a:schemeClr val="tx1"/>
                </a:solidFill>
                <a:latin typeface="Times New Roman" pitchFamily="18" charset="0"/>
              </a:defRPr>
            </a:lvl9pPr>
          </a:lstStyle>
          <a:p>
            <a:pPr eaLnBrk="1" hangingPunct="1"/>
            <a:fld id="{FDD539A9-62CD-4137-AE7B-0DBB19A8E40D}" type="slidenum">
              <a:rPr lang="en-US" sz="1300"/>
              <a:pPr eaLnBrk="1" hangingPunct="1"/>
              <a:t>4</a:t>
            </a:fld>
            <a:endParaRPr lang="en-US" sz="1300"/>
          </a:p>
        </p:txBody>
      </p:sp>
      <p:sp>
        <p:nvSpPr>
          <p:cNvPr id="41987" name="Rectangle 2"/>
          <p:cNvSpPr>
            <a:spLocks noGrp="1" noRot="1" noChangeAspect="1" noChangeArrowheads="1" noTextEdit="1"/>
          </p:cNvSpPr>
          <p:nvPr>
            <p:ph type="sldImg"/>
          </p:nvPr>
        </p:nvSpPr>
        <p:spPr>
          <a:xfrm>
            <a:off x="458788" y="719138"/>
            <a:ext cx="6400800" cy="3602037"/>
          </a:xfrm>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7938" eaLnBrk="1" hangingPunct="1">
              <a:buFontTx/>
              <a:buNone/>
            </a:pPr>
            <a:r>
              <a:rPr lang="en-US" dirty="0">
                <a:cs typeface="Times New Roman" pitchFamily="18" charset="0"/>
              </a:rPr>
              <a:t>Organizational Behavior studies the influence that individuals, groups and structure have on behavior within organizations.</a:t>
            </a:r>
          </a:p>
          <a:p>
            <a:pPr indent="7938" eaLnBrk="1" hangingPunct="1">
              <a:buFontTx/>
              <a:buNone/>
            </a:pPr>
            <a:endParaRPr lang="en-US" dirty="0">
              <a:cs typeface="Times New Roman" pitchFamily="18" charset="0"/>
            </a:endParaRPr>
          </a:p>
          <a:p>
            <a:pPr indent="7938" eaLnBrk="1" hangingPunct="1">
              <a:buFontTx/>
              <a:buNone/>
            </a:pPr>
            <a:r>
              <a:rPr lang="en-US" dirty="0">
                <a:cs typeface="Times New Roman" pitchFamily="18" charset="0"/>
              </a:rPr>
              <a:t>Its chief goal is to apply that knowledge toward improving an organization’s effectiveness.</a:t>
            </a:r>
          </a:p>
        </p:txBody>
      </p:sp>
      <p:sp>
        <p:nvSpPr>
          <p:cNvPr id="4" name="Slide Number Placeholder 3"/>
          <p:cNvSpPr>
            <a:spLocks noGrp="1"/>
          </p:cNvSpPr>
          <p:nvPr>
            <p:ph type="sldNum" sz="quarter" idx="10"/>
          </p:nvPr>
        </p:nvSpPr>
        <p:spPr/>
        <p:txBody>
          <a:bodyPr/>
          <a:lstStyle/>
          <a:p>
            <a:fld id="{CA5D3BF3-D352-46FC-8343-31F56E6730EA}" type="slidenum">
              <a:rPr lang="en-US" smtClean="0"/>
              <a:pPr/>
              <a:t>5</a:t>
            </a:fld>
            <a:endParaRPr lang="en-US"/>
          </a:p>
        </p:txBody>
      </p:sp>
    </p:spTree>
    <p:extLst>
      <p:ext uri="{BB962C8B-B14F-4D97-AF65-F5344CB8AC3E}">
        <p14:creationId xmlns:p14="http://schemas.microsoft.com/office/powerpoint/2010/main" val="3628656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Times New Roman" pitchFamily="18" charset="0"/>
              </a:defRPr>
            </a:lvl1pPr>
            <a:lvl2pPr marL="788493" indent="-303266" eaLnBrk="0" hangingPunct="0">
              <a:defRPr sz="2500">
                <a:solidFill>
                  <a:schemeClr val="tx1"/>
                </a:solidFill>
                <a:latin typeface="Times New Roman" pitchFamily="18" charset="0"/>
              </a:defRPr>
            </a:lvl2pPr>
            <a:lvl3pPr marL="1213066" indent="-242613" eaLnBrk="0" hangingPunct="0">
              <a:defRPr sz="2500">
                <a:solidFill>
                  <a:schemeClr val="tx1"/>
                </a:solidFill>
                <a:latin typeface="Times New Roman" pitchFamily="18" charset="0"/>
              </a:defRPr>
            </a:lvl3pPr>
            <a:lvl4pPr marL="1698292" indent="-242613" eaLnBrk="0" hangingPunct="0">
              <a:defRPr sz="2500">
                <a:solidFill>
                  <a:schemeClr val="tx1"/>
                </a:solidFill>
                <a:latin typeface="Times New Roman" pitchFamily="18" charset="0"/>
              </a:defRPr>
            </a:lvl4pPr>
            <a:lvl5pPr marL="2183519" indent="-242613" eaLnBrk="0" hangingPunct="0">
              <a:defRPr sz="2500">
                <a:solidFill>
                  <a:schemeClr val="tx1"/>
                </a:solidFill>
                <a:latin typeface="Times New Roman" pitchFamily="18" charset="0"/>
              </a:defRPr>
            </a:lvl5pPr>
            <a:lvl6pPr marL="2668745" indent="-242613" eaLnBrk="0" fontAlgn="base" hangingPunct="0">
              <a:spcBef>
                <a:spcPct val="0"/>
              </a:spcBef>
              <a:spcAft>
                <a:spcPct val="0"/>
              </a:spcAft>
              <a:defRPr sz="2500">
                <a:solidFill>
                  <a:schemeClr val="tx1"/>
                </a:solidFill>
                <a:latin typeface="Times New Roman" pitchFamily="18" charset="0"/>
              </a:defRPr>
            </a:lvl6pPr>
            <a:lvl7pPr marL="3153971" indent="-242613" eaLnBrk="0" fontAlgn="base" hangingPunct="0">
              <a:spcBef>
                <a:spcPct val="0"/>
              </a:spcBef>
              <a:spcAft>
                <a:spcPct val="0"/>
              </a:spcAft>
              <a:defRPr sz="2500">
                <a:solidFill>
                  <a:schemeClr val="tx1"/>
                </a:solidFill>
                <a:latin typeface="Times New Roman" pitchFamily="18" charset="0"/>
              </a:defRPr>
            </a:lvl7pPr>
            <a:lvl8pPr marL="3639198" indent="-242613" eaLnBrk="0" fontAlgn="base" hangingPunct="0">
              <a:spcBef>
                <a:spcPct val="0"/>
              </a:spcBef>
              <a:spcAft>
                <a:spcPct val="0"/>
              </a:spcAft>
              <a:defRPr sz="2500">
                <a:solidFill>
                  <a:schemeClr val="tx1"/>
                </a:solidFill>
                <a:latin typeface="Times New Roman" pitchFamily="18" charset="0"/>
              </a:defRPr>
            </a:lvl8pPr>
            <a:lvl9pPr marL="4124424" indent="-242613" eaLnBrk="0" fontAlgn="base" hangingPunct="0">
              <a:spcBef>
                <a:spcPct val="0"/>
              </a:spcBef>
              <a:spcAft>
                <a:spcPct val="0"/>
              </a:spcAft>
              <a:defRPr sz="2500">
                <a:solidFill>
                  <a:schemeClr val="tx1"/>
                </a:solidFill>
                <a:latin typeface="Times New Roman" pitchFamily="18" charset="0"/>
              </a:defRPr>
            </a:lvl9pPr>
          </a:lstStyle>
          <a:p>
            <a:pPr eaLnBrk="1" hangingPunct="1"/>
            <a:fld id="{F2683A04-1641-42B3-BF94-9CB8918617C8}" type="slidenum">
              <a:rPr lang="en-US" sz="1300"/>
              <a:pPr eaLnBrk="1" hangingPunct="1"/>
              <a:t>6</a:t>
            </a:fld>
            <a:endParaRPr lang="en-US" sz="1300"/>
          </a:p>
        </p:txBody>
      </p:sp>
      <p:sp>
        <p:nvSpPr>
          <p:cNvPr id="59395" name="Rectangle 2"/>
          <p:cNvSpPr>
            <a:spLocks noGrp="1" noRot="1" noChangeAspect="1" noChangeArrowheads="1" noTextEdit="1"/>
          </p:cNvSpPr>
          <p:nvPr>
            <p:ph type="sldImg"/>
          </p:nvPr>
        </p:nvSpPr>
        <p:spPr>
          <a:xfrm>
            <a:off x="458788" y="719138"/>
            <a:ext cx="6400800" cy="3602037"/>
          </a:xfrm>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Times New Roman" pitchFamily="18" charset="0"/>
              </a:defRPr>
            </a:lvl1pPr>
            <a:lvl2pPr marL="788493" indent="-303266" eaLnBrk="0" hangingPunct="0">
              <a:defRPr sz="2500">
                <a:solidFill>
                  <a:schemeClr val="tx1"/>
                </a:solidFill>
                <a:latin typeface="Times New Roman" pitchFamily="18" charset="0"/>
              </a:defRPr>
            </a:lvl2pPr>
            <a:lvl3pPr marL="1213066" indent="-242613" eaLnBrk="0" hangingPunct="0">
              <a:defRPr sz="2500">
                <a:solidFill>
                  <a:schemeClr val="tx1"/>
                </a:solidFill>
                <a:latin typeface="Times New Roman" pitchFamily="18" charset="0"/>
              </a:defRPr>
            </a:lvl3pPr>
            <a:lvl4pPr marL="1698292" indent="-242613" eaLnBrk="0" hangingPunct="0">
              <a:defRPr sz="2500">
                <a:solidFill>
                  <a:schemeClr val="tx1"/>
                </a:solidFill>
                <a:latin typeface="Times New Roman" pitchFamily="18" charset="0"/>
              </a:defRPr>
            </a:lvl4pPr>
            <a:lvl5pPr marL="2183519" indent="-242613" eaLnBrk="0" hangingPunct="0">
              <a:defRPr sz="2500">
                <a:solidFill>
                  <a:schemeClr val="tx1"/>
                </a:solidFill>
                <a:latin typeface="Times New Roman" pitchFamily="18" charset="0"/>
              </a:defRPr>
            </a:lvl5pPr>
            <a:lvl6pPr marL="2668745" indent="-242613" eaLnBrk="0" fontAlgn="base" hangingPunct="0">
              <a:spcBef>
                <a:spcPct val="0"/>
              </a:spcBef>
              <a:spcAft>
                <a:spcPct val="0"/>
              </a:spcAft>
              <a:defRPr sz="2500">
                <a:solidFill>
                  <a:schemeClr val="tx1"/>
                </a:solidFill>
                <a:latin typeface="Times New Roman" pitchFamily="18" charset="0"/>
              </a:defRPr>
            </a:lvl6pPr>
            <a:lvl7pPr marL="3153971" indent="-242613" eaLnBrk="0" fontAlgn="base" hangingPunct="0">
              <a:spcBef>
                <a:spcPct val="0"/>
              </a:spcBef>
              <a:spcAft>
                <a:spcPct val="0"/>
              </a:spcAft>
              <a:defRPr sz="2500">
                <a:solidFill>
                  <a:schemeClr val="tx1"/>
                </a:solidFill>
                <a:latin typeface="Times New Roman" pitchFamily="18" charset="0"/>
              </a:defRPr>
            </a:lvl7pPr>
            <a:lvl8pPr marL="3639198" indent="-242613" eaLnBrk="0" fontAlgn="base" hangingPunct="0">
              <a:spcBef>
                <a:spcPct val="0"/>
              </a:spcBef>
              <a:spcAft>
                <a:spcPct val="0"/>
              </a:spcAft>
              <a:defRPr sz="2500">
                <a:solidFill>
                  <a:schemeClr val="tx1"/>
                </a:solidFill>
                <a:latin typeface="Times New Roman" pitchFamily="18" charset="0"/>
              </a:defRPr>
            </a:lvl8pPr>
            <a:lvl9pPr marL="4124424" indent="-242613" eaLnBrk="0" fontAlgn="base" hangingPunct="0">
              <a:spcBef>
                <a:spcPct val="0"/>
              </a:spcBef>
              <a:spcAft>
                <a:spcPct val="0"/>
              </a:spcAft>
              <a:defRPr sz="2500">
                <a:solidFill>
                  <a:schemeClr val="tx1"/>
                </a:solidFill>
                <a:latin typeface="Times New Roman" pitchFamily="18" charset="0"/>
              </a:defRPr>
            </a:lvl9pPr>
          </a:lstStyle>
          <a:p>
            <a:pPr eaLnBrk="1" hangingPunct="1"/>
            <a:fld id="{B907EA21-21A9-474A-92F3-18AA3FF23F49}" type="slidenum">
              <a:rPr lang="en-US" sz="1300"/>
              <a:pPr eaLnBrk="1" hangingPunct="1"/>
              <a:t>7</a:t>
            </a:fld>
            <a:endParaRPr lang="en-US" sz="1300"/>
          </a:p>
        </p:txBody>
      </p:sp>
      <p:sp>
        <p:nvSpPr>
          <p:cNvPr id="71683" name="Rectangle 2"/>
          <p:cNvSpPr>
            <a:spLocks noGrp="1" noRot="1" noChangeAspect="1" noChangeArrowheads="1" noTextEdit="1"/>
          </p:cNvSpPr>
          <p:nvPr>
            <p:ph type="sldImg"/>
          </p:nvPr>
        </p:nvSpPr>
        <p:spPr>
          <a:xfrm>
            <a:off x="458788" y="719138"/>
            <a:ext cx="6400800" cy="3602037"/>
          </a:xfrm>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FBAD8BE2-6F2F-446C-A424-A8D0B4DF0DDA}" type="slidenum">
              <a:rPr lang="en-US"/>
              <a:pPr/>
              <a:t>8</a:t>
            </a:fld>
            <a:endParaRPr lang="en-US"/>
          </a:p>
        </p:txBody>
      </p:sp>
      <p:sp>
        <p:nvSpPr>
          <p:cNvPr id="314370" name="Rectangle 2"/>
          <p:cNvSpPr>
            <a:spLocks noGrp="1" noRot="1" noChangeAspect="1" noChangeArrowheads="1" noTextEdit="1"/>
          </p:cNvSpPr>
          <p:nvPr>
            <p:ph type="sldImg"/>
          </p:nvPr>
        </p:nvSpPr>
        <p:spPr>
          <a:ln/>
        </p:spPr>
      </p:sp>
      <p:sp>
        <p:nvSpPr>
          <p:cNvPr id="314371" name="Rectangle 3"/>
          <p:cNvSpPr>
            <a:spLocks noGrp="1" noChangeArrowheads="1"/>
          </p:cNvSpPr>
          <p:nvPr>
            <p:ph type="body" idx="1"/>
          </p:nvPr>
        </p:nvSpPr>
        <p:spPr>
          <a:xfrm>
            <a:off x="487680" y="4559587"/>
            <a:ext cx="6421120" cy="4321852"/>
          </a:xfrm>
        </p:spPr>
        <p:txBody>
          <a:bodyPr lIns="96646" tIns="48323" rIns="96646" bIns="48323"/>
          <a:lstStyle/>
          <a:p>
            <a:endParaRPr lang="en-US" altLang="zh-TW"/>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BD838B45-7171-44B2-BB48-0216FBB0FCE6}" type="slidenum">
              <a:rPr lang="en-US" smtClean="0"/>
              <a:pPr/>
              <a:t>11</a:t>
            </a:fld>
            <a:endParaRPr lang="en-US"/>
          </a:p>
        </p:txBody>
      </p:sp>
      <p:sp>
        <p:nvSpPr>
          <p:cNvPr id="49155" name="Rectangle 2"/>
          <p:cNvSpPr>
            <a:spLocks noGrp="1" noRot="1" noChangeAspect="1" noChangeArrowheads="1" noTextEdit="1"/>
          </p:cNvSpPr>
          <p:nvPr>
            <p:ph type="sldImg"/>
          </p:nvPr>
        </p:nvSpPr>
        <p:spPr bwMode="auto">
          <a:xfrm>
            <a:off x="482600" y="714375"/>
            <a:ext cx="6364288" cy="3581400"/>
          </a:xfrm>
          <a:noFill/>
          <a:ln>
            <a:solidFill>
              <a:srgbClr val="000000"/>
            </a:solidFill>
            <a:miter lim="800000"/>
            <a:headEnd/>
            <a:tailEnd/>
          </a:ln>
        </p:spPr>
      </p:sp>
      <p:sp>
        <p:nvSpPr>
          <p:cNvPr id="49156" name="Rectangle 3"/>
          <p:cNvSpPr>
            <a:spLocks noGrp="1" noChangeArrowheads="1"/>
          </p:cNvSpPr>
          <p:nvPr>
            <p:ph type="body" idx="1"/>
          </p:nvPr>
        </p:nvSpPr>
        <p:spPr bwMode="auto">
          <a:xfrm>
            <a:off x="977054" y="4533900"/>
            <a:ext cx="5372946" cy="4293870"/>
          </a:xfrm>
          <a:noFill/>
        </p:spPr>
        <p:txBody>
          <a:bodyPr wrap="square" numCol="1" anchor="t" anchorCtr="0" compatLnSpc="1">
            <a:prstTxWarp prst="textNoShape">
              <a:avLst/>
            </a:prstTxWarp>
          </a:bodyPr>
          <a:lstStyle/>
          <a:p>
            <a:pPr eaLnBrk="1" hangingPunct="1">
              <a:spcBef>
                <a:spcPct val="0"/>
              </a:spcBef>
            </a:pPr>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Times New Roman" pitchFamily="18" charset="0"/>
              </a:defRPr>
            </a:lvl1pPr>
            <a:lvl2pPr marL="788493" indent="-303266" eaLnBrk="0" hangingPunct="0">
              <a:defRPr sz="2500">
                <a:solidFill>
                  <a:schemeClr val="tx1"/>
                </a:solidFill>
                <a:latin typeface="Times New Roman" pitchFamily="18" charset="0"/>
              </a:defRPr>
            </a:lvl2pPr>
            <a:lvl3pPr marL="1213066" indent="-242613" eaLnBrk="0" hangingPunct="0">
              <a:defRPr sz="2500">
                <a:solidFill>
                  <a:schemeClr val="tx1"/>
                </a:solidFill>
                <a:latin typeface="Times New Roman" pitchFamily="18" charset="0"/>
              </a:defRPr>
            </a:lvl3pPr>
            <a:lvl4pPr marL="1698292" indent="-242613" eaLnBrk="0" hangingPunct="0">
              <a:defRPr sz="2500">
                <a:solidFill>
                  <a:schemeClr val="tx1"/>
                </a:solidFill>
                <a:latin typeface="Times New Roman" pitchFamily="18" charset="0"/>
              </a:defRPr>
            </a:lvl4pPr>
            <a:lvl5pPr marL="2183519" indent="-242613" eaLnBrk="0" hangingPunct="0">
              <a:defRPr sz="2500">
                <a:solidFill>
                  <a:schemeClr val="tx1"/>
                </a:solidFill>
                <a:latin typeface="Times New Roman" pitchFamily="18" charset="0"/>
              </a:defRPr>
            </a:lvl5pPr>
            <a:lvl6pPr marL="2668745" indent="-242613" eaLnBrk="0" fontAlgn="base" hangingPunct="0">
              <a:spcBef>
                <a:spcPct val="0"/>
              </a:spcBef>
              <a:spcAft>
                <a:spcPct val="0"/>
              </a:spcAft>
              <a:defRPr sz="2500">
                <a:solidFill>
                  <a:schemeClr val="tx1"/>
                </a:solidFill>
                <a:latin typeface="Times New Roman" pitchFamily="18" charset="0"/>
              </a:defRPr>
            </a:lvl6pPr>
            <a:lvl7pPr marL="3153971" indent="-242613" eaLnBrk="0" fontAlgn="base" hangingPunct="0">
              <a:spcBef>
                <a:spcPct val="0"/>
              </a:spcBef>
              <a:spcAft>
                <a:spcPct val="0"/>
              </a:spcAft>
              <a:defRPr sz="2500">
                <a:solidFill>
                  <a:schemeClr val="tx1"/>
                </a:solidFill>
                <a:latin typeface="Times New Roman" pitchFamily="18" charset="0"/>
              </a:defRPr>
            </a:lvl7pPr>
            <a:lvl8pPr marL="3639198" indent="-242613" eaLnBrk="0" fontAlgn="base" hangingPunct="0">
              <a:spcBef>
                <a:spcPct val="0"/>
              </a:spcBef>
              <a:spcAft>
                <a:spcPct val="0"/>
              </a:spcAft>
              <a:defRPr sz="2500">
                <a:solidFill>
                  <a:schemeClr val="tx1"/>
                </a:solidFill>
                <a:latin typeface="Times New Roman" pitchFamily="18" charset="0"/>
              </a:defRPr>
            </a:lvl8pPr>
            <a:lvl9pPr marL="4124424" indent="-242613" eaLnBrk="0" fontAlgn="base" hangingPunct="0">
              <a:spcBef>
                <a:spcPct val="0"/>
              </a:spcBef>
              <a:spcAft>
                <a:spcPct val="0"/>
              </a:spcAft>
              <a:defRPr sz="2500">
                <a:solidFill>
                  <a:schemeClr val="tx1"/>
                </a:solidFill>
                <a:latin typeface="Times New Roman" pitchFamily="18" charset="0"/>
              </a:defRPr>
            </a:lvl9pPr>
          </a:lstStyle>
          <a:p>
            <a:pPr eaLnBrk="1" hangingPunct="1"/>
            <a:fld id="{F766AF01-9825-4C14-B46B-9ADFF205DC3E}" type="slidenum">
              <a:rPr lang="en-US" sz="1300"/>
              <a:pPr eaLnBrk="1" hangingPunct="1"/>
              <a:t>15</a:t>
            </a:fld>
            <a:endParaRPr lang="en-US" sz="1300"/>
          </a:p>
        </p:txBody>
      </p:sp>
      <p:sp>
        <p:nvSpPr>
          <p:cNvPr id="64515" name="Rectangle 2"/>
          <p:cNvSpPr>
            <a:spLocks noGrp="1" noRot="1" noChangeAspect="1" noChangeArrowheads="1" noTextEdit="1"/>
          </p:cNvSpPr>
          <p:nvPr>
            <p:ph type="sldImg"/>
          </p:nvPr>
        </p:nvSpPr>
        <p:spPr>
          <a:xfrm>
            <a:off x="458788" y="719138"/>
            <a:ext cx="6400800" cy="3602037"/>
          </a:xfrm>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sz="1200" b="1" i="0" kern="1200" dirty="0">
                <a:solidFill>
                  <a:schemeClr val="tx1"/>
                </a:solidFill>
                <a:effectLst/>
                <a:latin typeface="+mn-lt"/>
                <a:ea typeface="+mn-ea"/>
                <a:cs typeface="+mn-cs"/>
              </a:rPr>
              <a:t>Contingency</a:t>
            </a:r>
            <a:r>
              <a:rPr lang="en-GB" sz="1200" b="0" i="0" kern="1200" dirty="0">
                <a:solidFill>
                  <a:schemeClr val="tx1"/>
                </a:solidFill>
                <a:effectLst/>
                <a:latin typeface="+mn-lt"/>
                <a:ea typeface="+mn-ea"/>
                <a:cs typeface="+mn-cs"/>
              </a:rPr>
              <a:t> Theory: The </a:t>
            </a:r>
            <a:r>
              <a:rPr lang="en-GB" sz="1200" b="1" i="0" kern="1200" dirty="0">
                <a:solidFill>
                  <a:schemeClr val="tx1"/>
                </a:solidFill>
                <a:effectLst/>
                <a:latin typeface="+mn-lt"/>
                <a:ea typeface="+mn-ea"/>
                <a:cs typeface="+mn-cs"/>
              </a:rPr>
              <a:t>contingency</a:t>
            </a:r>
            <a:r>
              <a:rPr lang="en-GB" sz="1200" b="0" i="0" kern="1200" dirty="0">
                <a:solidFill>
                  <a:schemeClr val="tx1"/>
                </a:solidFill>
                <a:effectLst/>
                <a:latin typeface="+mn-lt"/>
                <a:ea typeface="+mn-ea"/>
                <a:cs typeface="+mn-cs"/>
              </a:rPr>
              <a:t> theory focuses on specific situational factors that can affect the direct relationships between independent and dependent </a:t>
            </a:r>
            <a:r>
              <a:rPr lang="en-GB" sz="1200" b="1" i="0" kern="1200" dirty="0">
                <a:solidFill>
                  <a:schemeClr val="tx1"/>
                </a:solidFill>
                <a:effectLst/>
                <a:latin typeface="+mn-lt"/>
                <a:ea typeface="+mn-ea"/>
                <a:cs typeface="+mn-cs"/>
              </a:rPr>
              <a:t>variables</a:t>
            </a:r>
            <a:r>
              <a:rPr lang="en-GB" sz="1200" b="0" i="0" kern="1200" dirty="0">
                <a:solidFill>
                  <a:schemeClr val="tx1"/>
                </a:solidFill>
                <a:effectLst/>
                <a:latin typeface="+mn-lt"/>
                <a:ea typeface="+mn-ea"/>
                <a:cs typeface="+mn-cs"/>
              </a:rPr>
              <a:t>. The theory explains that there is not an exact science to organizational </a:t>
            </a:r>
            <a:r>
              <a:rPr lang="en-GB" sz="1200" b="0" i="0" kern="1200" dirty="0" err="1">
                <a:solidFill>
                  <a:schemeClr val="tx1"/>
                </a:solidFill>
                <a:effectLst/>
                <a:latin typeface="+mn-lt"/>
                <a:ea typeface="+mn-ea"/>
                <a:cs typeface="+mn-cs"/>
              </a:rPr>
              <a:t>behavior</a:t>
            </a:r>
            <a:r>
              <a:rPr lang="en-GB" sz="1200" b="0" i="0" kern="1200" dirty="0">
                <a:solidFill>
                  <a:schemeClr val="tx1"/>
                </a:solidFill>
                <a:effectLst/>
                <a:latin typeface="+mn-lt"/>
                <a:ea typeface="+mn-ea"/>
                <a:cs typeface="+mn-cs"/>
              </a:rPr>
              <a:t>.</a:t>
            </a:r>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cs typeface="Times New Roman" pitchFamily="18" charset="0"/>
              </a:rPr>
              <a:t>“Managers have to shift their philosophy from treating everyone alike to recognizing differences and responding to those differences in ways that ensure employee retention and greater productivity while, at the same time, not discriminating.”</a:t>
            </a:r>
            <a:endParaRPr lang="en-US" sz="1200" dirty="0"/>
          </a:p>
          <a:p>
            <a:endParaRPr lang="en-GB"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18</a:t>
            </a:fld>
            <a:endParaRPr lang="en-US"/>
          </a:p>
        </p:txBody>
      </p:sp>
    </p:spTree>
    <p:extLst>
      <p:ext uri="{BB962C8B-B14F-4D97-AF65-F5344CB8AC3E}">
        <p14:creationId xmlns:p14="http://schemas.microsoft.com/office/powerpoint/2010/main" val="38076363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ability to understand something instinctively, without the need for conscious reasoning.</a:t>
            </a:r>
            <a:endParaRPr lang="en-GB" dirty="0"/>
          </a:p>
        </p:txBody>
      </p:sp>
      <p:sp>
        <p:nvSpPr>
          <p:cNvPr id="4" name="Slide Number Placeholder 3"/>
          <p:cNvSpPr>
            <a:spLocks noGrp="1"/>
          </p:cNvSpPr>
          <p:nvPr>
            <p:ph type="sldNum" sz="quarter" idx="10"/>
          </p:nvPr>
        </p:nvSpPr>
        <p:spPr/>
        <p:txBody>
          <a:bodyPr/>
          <a:lstStyle/>
          <a:p>
            <a:fld id="{CA5D3BF3-D352-46FC-8343-31F56E6730EA}" type="slidenum">
              <a:rPr lang="en-US" smtClean="0"/>
              <a:pPr/>
              <a:t>22</a:t>
            </a:fld>
            <a:endParaRPr lang="en-US"/>
          </a:p>
        </p:txBody>
      </p:sp>
    </p:spTree>
    <p:extLst>
      <p:ext uri="{BB962C8B-B14F-4D97-AF65-F5344CB8AC3E}">
        <p14:creationId xmlns:p14="http://schemas.microsoft.com/office/powerpoint/2010/main" val="20122224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i="0" u="none" strike="noStrike" baseline="0" dirty="0">
                <a:latin typeface="UniversLTStd-BoldCn"/>
              </a:rPr>
              <a:t>Input </a:t>
            </a:r>
            <a:r>
              <a:rPr lang="en-US" sz="1800" b="0" i="1" u="none" strike="noStrike" baseline="0" dirty="0">
                <a:latin typeface="UniversLTStd-Obl"/>
              </a:rPr>
              <a:t>Variables that lead to processes.</a:t>
            </a:r>
          </a:p>
          <a:p>
            <a:pPr algn="l"/>
            <a:r>
              <a:rPr lang="en-US" sz="1800" b="1" i="0" u="none" strike="noStrike" baseline="0" dirty="0">
                <a:latin typeface="UniversLTStd-BoldCn"/>
              </a:rPr>
              <a:t>Processes </a:t>
            </a:r>
            <a:r>
              <a:rPr lang="en-US" sz="1800" b="0" i="1" u="none" strike="noStrike" baseline="0" dirty="0">
                <a:latin typeface="UniversLTStd-Obl"/>
              </a:rPr>
              <a:t>Actions that individuals, groups, and organizations engage in as a result of inputs and that lead to certain outcomes.</a:t>
            </a:r>
          </a:p>
          <a:p>
            <a:pPr algn="l"/>
            <a:r>
              <a:rPr lang="en-US" sz="1800" b="1" i="0" u="none" strike="noStrike" baseline="0" dirty="0">
                <a:latin typeface="UniversLTStd-BoldCn"/>
              </a:rPr>
              <a:t>Outcomes </a:t>
            </a:r>
            <a:r>
              <a:rPr lang="en-US" sz="1800" b="0" i="1" u="none" strike="noStrike" baseline="0" dirty="0">
                <a:latin typeface="UniversLTStd-Obl"/>
              </a:rPr>
              <a:t>Key factors that are affected by some other variables.</a:t>
            </a:r>
            <a:endParaRPr lang="en-PK" dirty="0"/>
          </a:p>
        </p:txBody>
      </p:sp>
      <p:sp>
        <p:nvSpPr>
          <p:cNvPr id="4" name="Slide Number Placeholder 3"/>
          <p:cNvSpPr>
            <a:spLocks noGrp="1"/>
          </p:cNvSpPr>
          <p:nvPr>
            <p:ph type="sldNum" sz="quarter" idx="5"/>
          </p:nvPr>
        </p:nvSpPr>
        <p:spPr/>
        <p:txBody>
          <a:bodyPr/>
          <a:lstStyle/>
          <a:p>
            <a:fld id="{CA5D3BF3-D352-46FC-8343-31F56E6730EA}" type="slidenum">
              <a:rPr lang="en-US" smtClean="0"/>
              <a:pPr/>
              <a:t>23</a:t>
            </a:fld>
            <a:endParaRPr lang="en-US"/>
          </a:p>
        </p:txBody>
      </p:sp>
    </p:spTree>
    <p:extLst>
      <p:ext uri="{BB962C8B-B14F-4D97-AF65-F5344CB8AC3E}">
        <p14:creationId xmlns:p14="http://schemas.microsoft.com/office/powerpoint/2010/main" val="17765874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Times New Roman" pitchFamily="18" charset="0"/>
              </a:defRPr>
            </a:lvl1pPr>
            <a:lvl2pPr marL="788493" indent="-303266" eaLnBrk="0" hangingPunct="0">
              <a:defRPr sz="2500">
                <a:solidFill>
                  <a:schemeClr val="tx1"/>
                </a:solidFill>
                <a:latin typeface="Times New Roman" pitchFamily="18" charset="0"/>
              </a:defRPr>
            </a:lvl2pPr>
            <a:lvl3pPr marL="1213066" indent="-242613" eaLnBrk="0" hangingPunct="0">
              <a:defRPr sz="2500">
                <a:solidFill>
                  <a:schemeClr val="tx1"/>
                </a:solidFill>
                <a:latin typeface="Times New Roman" pitchFamily="18" charset="0"/>
              </a:defRPr>
            </a:lvl3pPr>
            <a:lvl4pPr marL="1698292" indent="-242613" eaLnBrk="0" hangingPunct="0">
              <a:defRPr sz="2500">
                <a:solidFill>
                  <a:schemeClr val="tx1"/>
                </a:solidFill>
                <a:latin typeface="Times New Roman" pitchFamily="18" charset="0"/>
              </a:defRPr>
            </a:lvl4pPr>
            <a:lvl5pPr marL="2183519" indent="-242613" eaLnBrk="0" hangingPunct="0">
              <a:defRPr sz="2500">
                <a:solidFill>
                  <a:schemeClr val="tx1"/>
                </a:solidFill>
                <a:latin typeface="Times New Roman" pitchFamily="18" charset="0"/>
              </a:defRPr>
            </a:lvl5pPr>
            <a:lvl6pPr marL="2668745" indent="-242613" eaLnBrk="0" fontAlgn="base" hangingPunct="0">
              <a:spcBef>
                <a:spcPct val="0"/>
              </a:spcBef>
              <a:spcAft>
                <a:spcPct val="0"/>
              </a:spcAft>
              <a:defRPr sz="2500">
                <a:solidFill>
                  <a:schemeClr val="tx1"/>
                </a:solidFill>
                <a:latin typeface="Times New Roman" pitchFamily="18" charset="0"/>
              </a:defRPr>
            </a:lvl6pPr>
            <a:lvl7pPr marL="3153971" indent="-242613" eaLnBrk="0" fontAlgn="base" hangingPunct="0">
              <a:spcBef>
                <a:spcPct val="0"/>
              </a:spcBef>
              <a:spcAft>
                <a:spcPct val="0"/>
              </a:spcAft>
              <a:defRPr sz="2500">
                <a:solidFill>
                  <a:schemeClr val="tx1"/>
                </a:solidFill>
                <a:latin typeface="Times New Roman" pitchFamily="18" charset="0"/>
              </a:defRPr>
            </a:lvl7pPr>
            <a:lvl8pPr marL="3639198" indent="-242613" eaLnBrk="0" fontAlgn="base" hangingPunct="0">
              <a:spcBef>
                <a:spcPct val="0"/>
              </a:spcBef>
              <a:spcAft>
                <a:spcPct val="0"/>
              </a:spcAft>
              <a:defRPr sz="2500">
                <a:solidFill>
                  <a:schemeClr val="tx1"/>
                </a:solidFill>
                <a:latin typeface="Times New Roman" pitchFamily="18" charset="0"/>
              </a:defRPr>
            </a:lvl8pPr>
            <a:lvl9pPr marL="4124424" indent="-242613" eaLnBrk="0" fontAlgn="base" hangingPunct="0">
              <a:spcBef>
                <a:spcPct val="0"/>
              </a:spcBef>
              <a:spcAft>
                <a:spcPct val="0"/>
              </a:spcAft>
              <a:defRPr sz="2500">
                <a:solidFill>
                  <a:schemeClr val="tx1"/>
                </a:solidFill>
                <a:latin typeface="Times New Roman" pitchFamily="18" charset="0"/>
              </a:defRPr>
            </a:lvl9pPr>
          </a:lstStyle>
          <a:p>
            <a:pPr eaLnBrk="1" hangingPunct="1"/>
            <a:fld id="{395A82F4-680C-4E17-A35F-83C5643120BF}" type="slidenum">
              <a:rPr lang="en-US" sz="1300"/>
              <a:pPr eaLnBrk="1" hangingPunct="1"/>
              <a:t>25</a:t>
            </a:fld>
            <a:endParaRPr lang="en-US" sz="1300"/>
          </a:p>
        </p:txBody>
      </p:sp>
      <p:sp>
        <p:nvSpPr>
          <p:cNvPr id="72707" name="Rectangle 2"/>
          <p:cNvSpPr>
            <a:spLocks noGrp="1" noRot="1" noChangeAspect="1" noChangeArrowheads="1" noTextEdit="1"/>
          </p:cNvSpPr>
          <p:nvPr>
            <p:ph type="sldImg"/>
          </p:nvPr>
        </p:nvSpPr>
        <p:spPr>
          <a:xfrm>
            <a:off x="458788" y="719138"/>
            <a:ext cx="6400800" cy="3602037"/>
          </a:xfrm>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Times New Roman" pitchFamily="18" charset="0"/>
              </a:defRPr>
            </a:lvl1pPr>
            <a:lvl2pPr marL="788493" indent="-303266" eaLnBrk="0" hangingPunct="0">
              <a:defRPr sz="2500">
                <a:solidFill>
                  <a:schemeClr val="tx1"/>
                </a:solidFill>
                <a:latin typeface="Times New Roman" pitchFamily="18" charset="0"/>
              </a:defRPr>
            </a:lvl2pPr>
            <a:lvl3pPr marL="1213066" indent="-242613" eaLnBrk="0" hangingPunct="0">
              <a:defRPr sz="2500">
                <a:solidFill>
                  <a:schemeClr val="tx1"/>
                </a:solidFill>
                <a:latin typeface="Times New Roman" pitchFamily="18" charset="0"/>
              </a:defRPr>
            </a:lvl3pPr>
            <a:lvl4pPr marL="1698292" indent="-242613" eaLnBrk="0" hangingPunct="0">
              <a:defRPr sz="2500">
                <a:solidFill>
                  <a:schemeClr val="tx1"/>
                </a:solidFill>
                <a:latin typeface="Times New Roman" pitchFamily="18" charset="0"/>
              </a:defRPr>
            </a:lvl4pPr>
            <a:lvl5pPr marL="2183519" indent="-242613" eaLnBrk="0" hangingPunct="0">
              <a:defRPr sz="2500">
                <a:solidFill>
                  <a:schemeClr val="tx1"/>
                </a:solidFill>
                <a:latin typeface="Times New Roman" pitchFamily="18" charset="0"/>
              </a:defRPr>
            </a:lvl5pPr>
            <a:lvl6pPr marL="2668745" indent="-242613" eaLnBrk="0" fontAlgn="base" hangingPunct="0">
              <a:spcBef>
                <a:spcPct val="0"/>
              </a:spcBef>
              <a:spcAft>
                <a:spcPct val="0"/>
              </a:spcAft>
              <a:defRPr sz="2500">
                <a:solidFill>
                  <a:schemeClr val="tx1"/>
                </a:solidFill>
                <a:latin typeface="Times New Roman" pitchFamily="18" charset="0"/>
              </a:defRPr>
            </a:lvl6pPr>
            <a:lvl7pPr marL="3153971" indent="-242613" eaLnBrk="0" fontAlgn="base" hangingPunct="0">
              <a:spcBef>
                <a:spcPct val="0"/>
              </a:spcBef>
              <a:spcAft>
                <a:spcPct val="0"/>
              </a:spcAft>
              <a:defRPr sz="2500">
                <a:solidFill>
                  <a:schemeClr val="tx1"/>
                </a:solidFill>
                <a:latin typeface="Times New Roman" pitchFamily="18" charset="0"/>
              </a:defRPr>
            </a:lvl7pPr>
            <a:lvl8pPr marL="3639198" indent="-242613" eaLnBrk="0" fontAlgn="base" hangingPunct="0">
              <a:spcBef>
                <a:spcPct val="0"/>
              </a:spcBef>
              <a:spcAft>
                <a:spcPct val="0"/>
              </a:spcAft>
              <a:defRPr sz="2500">
                <a:solidFill>
                  <a:schemeClr val="tx1"/>
                </a:solidFill>
                <a:latin typeface="Times New Roman" pitchFamily="18" charset="0"/>
              </a:defRPr>
            </a:lvl8pPr>
            <a:lvl9pPr marL="4124424" indent="-242613" eaLnBrk="0" fontAlgn="base" hangingPunct="0">
              <a:spcBef>
                <a:spcPct val="0"/>
              </a:spcBef>
              <a:spcAft>
                <a:spcPct val="0"/>
              </a:spcAft>
              <a:defRPr sz="2500">
                <a:solidFill>
                  <a:schemeClr val="tx1"/>
                </a:solidFill>
                <a:latin typeface="Times New Roman" pitchFamily="18" charset="0"/>
              </a:defRPr>
            </a:lvl9pPr>
          </a:lstStyle>
          <a:p>
            <a:pPr eaLnBrk="1" hangingPunct="1"/>
            <a:fld id="{53C5B579-4E1E-4CB9-8685-9F3E6A52BEE4}" type="slidenum">
              <a:rPr lang="en-US" sz="1300"/>
              <a:pPr eaLnBrk="1" hangingPunct="1"/>
              <a:t>26</a:t>
            </a:fld>
            <a:endParaRPr lang="en-US" sz="1300"/>
          </a:p>
        </p:txBody>
      </p:sp>
      <p:sp>
        <p:nvSpPr>
          <p:cNvPr id="73731" name="Rectangle 2"/>
          <p:cNvSpPr>
            <a:spLocks noGrp="1" noRot="1" noChangeAspect="1" noChangeArrowheads="1" noTextEdit="1"/>
          </p:cNvSpPr>
          <p:nvPr>
            <p:ph type="sldImg"/>
          </p:nvPr>
        </p:nvSpPr>
        <p:spPr>
          <a:xfrm>
            <a:off x="458788" y="719138"/>
            <a:ext cx="6400800" cy="3602037"/>
          </a:xfrm>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Times New Roman" pitchFamily="18" charset="0"/>
              </a:defRPr>
            </a:lvl1pPr>
            <a:lvl2pPr marL="788493" indent="-303266" eaLnBrk="0" hangingPunct="0">
              <a:defRPr sz="2500">
                <a:solidFill>
                  <a:schemeClr val="tx1"/>
                </a:solidFill>
                <a:latin typeface="Times New Roman" pitchFamily="18" charset="0"/>
              </a:defRPr>
            </a:lvl2pPr>
            <a:lvl3pPr marL="1213066" indent="-242613" eaLnBrk="0" hangingPunct="0">
              <a:defRPr sz="2500">
                <a:solidFill>
                  <a:schemeClr val="tx1"/>
                </a:solidFill>
                <a:latin typeface="Times New Roman" pitchFamily="18" charset="0"/>
              </a:defRPr>
            </a:lvl3pPr>
            <a:lvl4pPr marL="1698292" indent="-242613" eaLnBrk="0" hangingPunct="0">
              <a:defRPr sz="2500">
                <a:solidFill>
                  <a:schemeClr val="tx1"/>
                </a:solidFill>
                <a:latin typeface="Times New Roman" pitchFamily="18" charset="0"/>
              </a:defRPr>
            </a:lvl4pPr>
            <a:lvl5pPr marL="2183519" indent="-242613" eaLnBrk="0" hangingPunct="0">
              <a:defRPr sz="2500">
                <a:solidFill>
                  <a:schemeClr val="tx1"/>
                </a:solidFill>
                <a:latin typeface="Times New Roman" pitchFamily="18" charset="0"/>
              </a:defRPr>
            </a:lvl5pPr>
            <a:lvl6pPr marL="2668745" indent="-242613" eaLnBrk="0" fontAlgn="base" hangingPunct="0">
              <a:spcBef>
                <a:spcPct val="0"/>
              </a:spcBef>
              <a:spcAft>
                <a:spcPct val="0"/>
              </a:spcAft>
              <a:defRPr sz="2500">
                <a:solidFill>
                  <a:schemeClr val="tx1"/>
                </a:solidFill>
                <a:latin typeface="Times New Roman" pitchFamily="18" charset="0"/>
              </a:defRPr>
            </a:lvl6pPr>
            <a:lvl7pPr marL="3153971" indent="-242613" eaLnBrk="0" fontAlgn="base" hangingPunct="0">
              <a:spcBef>
                <a:spcPct val="0"/>
              </a:spcBef>
              <a:spcAft>
                <a:spcPct val="0"/>
              </a:spcAft>
              <a:defRPr sz="2500">
                <a:solidFill>
                  <a:schemeClr val="tx1"/>
                </a:solidFill>
                <a:latin typeface="Times New Roman" pitchFamily="18" charset="0"/>
              </a:defRPr>
            </a:lvl7pPr>
            <a:lvl8pPr marL="3639198" indent="-242613" eaLnBrk="0" fontAlgn="base" hangingPunct="0">
              <a:spcBef>
                <a:spcPct val="0"/>
              </a:spcBef>
              <a:spcAft>
                <a:spcPct val="0"/>
              </a:spcAft>
              <a:defRPr sz="2500">
                <a:solidFill>
                  <a:schemeClr val="tx1"/>
                </a:solidFill>
                <a:latin typeface="Times New Roman" pitchFamily="18" charset="0"/>
              </a:defRPr>
            </a:lvl8pPr>
            <a:lvl9pPr marL="4124424" indent="-242613" eaLnBrk="0" fontAlgn="base" hangingPunct="0">
              <a:spcBef>
                <a:spcPct val="0"/>
              </a:spcBef>
              <a:spcAft>
                <a:spcPct val="0"/>
              </a:spcAft>
              <a:defRPr sz="2500">
                <a:solidFill>
                  <a:schemeClr val="tx1"/>
                </a:solidFill>
                <a:latin typeface="Times New Roman" pitchFamily="18" charset="0"/>
              </a:defRPr>
            </a:lvl9pPr>
          </a:lstStyle>
          <a:p>
            <a:pPr eaLnBrk="1" hangingPunct="1"/>
            <a:fld id="{E930B364-270D-4CE4-B0DD-788849A53E60}" type="slidenum">
              <a:rPr lang="en-US" sz="1300"/>
              <a:pPr eaLnBrk="1" hangingPunct="1"/>
              <a:t>27</a:t>
            </a:fld>
            <a:endParaRPr lang="en-US" sz="1300"/>
          </a:p>
        </p:txBody>
      </p:sp>
      <p:sp>
        <p:nvSpPr>
          <p:cNvPr id="74755" name="Rectangle 2"/>
          <p:cNvSpPr>
            <a:spLocks noGrp="1" noRot="1" noChangeAspect="1" noChangeArrowheads="1" noTextEdit="1"/>
          </p:cNvSpPr>
          <p:nvPr>
            <p:ph type="sldImg"/>
          </p:nvPr>
        </p:nvSpPr>
        <p:spPr>
          <a:xfrm>
            <a:off x="458788" y="719138"/>
            <a:ext cx="6400800" cy="3602037"/>
          </a:xfrm>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Times New Roman" pitchFamily="18" charset="0"/>
              </a:defRPr>
            </a:lvl1pPr>
            <a:lvl2pPr marL="788493" indent="-303266" eaLnBrk="0" hangingPunct="0">
              <a:defRPr sz="2500">
                <a:solidFill>
                  <a:schemeClr val="tx1"/>
                </a:solidFill>
                <a:latin typeface="Times New Roman" pitchFamily="18" charset="0"/>
              </a:defRPr>
            </a:lvl2pPr>
            <a:lvl3pPr marL="1213066" indent="-242613" eaLnBrk="0" hangingPunct="0">
              <a:defRPr sz="2500">
                <a:solidFill>
                  <a:schemeClr val="tx1"/>
                </a:solidFill>
                <a:latin typeface="Times New Roman" pitchFamily="18" charset="0"/>
              </a:defRPr>
            </a:lvl3pPr>
            <a:lvl4pPr marL="1698292" indent="-242613" eaLnBrk="0" hangingPunct="0">
              <a:defRPr sz="2500">
                <a:solidFill>
                  <a:schemeClr val="tx1"/>
                </a:solidFill>
                <a:latin typeface="Times New Roman" pitchFamily="18" charset="0"/>
              </a:defRPr>
            </a:lvl4pPr>
            <a:lvl5pPr marL="2183519" indent="-242613" eaLnBrk="0" hangingPunct="0">
              <a:defRPr sz="2500">
                <a:solidFill>
                  <a:schemeClr val="tx1"/>
                </a:solidFill>
                <a:latin typeface="Times New Roman" pitchFamily="18" charset="0"/>
              </a:defRPr>
            </a:lvl5pPr>
            <a:lvl6pPr marL="2668745" indent="-242613" eaLnBrk="0" fontAlgn="base" hangingPunct="0">
              <a:spcBef>
                <a:spcPct val="0"/>
              </a:spcBef>
              <a:spcAft>
                <a:spcPct val="0"/>
              </a:spcAft>
              <a:defRPr sz="2500">
                <a:solidFill>
                  <a:schemeClr val="tx1"/>
                </a:solidFill>
                <a:latin typeface="Times New Roman" pitchFamily="18" charset="0"/>
              </a:defRPr>
            </a:lvl6pPr>
            <a:lvl7pPr marL="3153971" indent="-242613" eaLnBrk="0" fontAlgn="base" hangingPunct="0">
              <a:spcBef>
                <a:spcPct val="0"/>
              </a:spcBef>
              <a:spcAft>
                <a:spcPct val="0"/>
              </a:spcAft>
              <a:defRPr sz="2500">
                <a:solidFill>
                  <a:schemeClr val="tx1"/>
                </a:solidFill>
                <a:latin typeface="Times New Roman" pitchFamily="18" charset="0"/>
              </a:defRPr>
            </a:lvl7pPr>
            <a:lvl8pPr marL="3639198" indent="-242613" eaLnBrk="0" fontAlgn="base" hangingPunct="0">
              <a:spcBef>
                <a:spcPct val="0"/>
              </a:spcBef>
              <a:spcAft>
                <a:spcPct val="0"/>
              </a:spcAft>
              <a:defRPr sz="2500">
                <a:solidFill>
                  <a:schemeClr val="tx1"/>
                </a:solidFill>
                <a:latin typeface="Times New Roman" pitchFamily="18" charset="0"/>
              </a:defRPr>
            </a:lvl8pPr>
            <a:lvl9pPr marL="4124424" indent="-242613" eaLnBrk="0" fontAlgn="base" hangingPunct="0">
              <a:spcBef>
                <a:spcPct val="0"/>
              </a:spcBef>
              <a:spcAft>
                <a:spcPct val="0"/>
              </a:spcAft>
              <a:defRPr sz="2500">
                <a:solidFill>
                  <a:schemeClr val="tx1"/>
                </a:solidFill>
                <a:latin typeface="Times New Roman" pitchFamily="18" charset="0"/>
              </a:defRPr>
            </a:lvl9pPr>
          </a:lstStyle>
          <a:p>
            <a:pPr eaLnBrk="1" hangingPunct="1"/>
            <a:fld id="{CFD349C5-1473-4FCD-8512-06B00AB5F770}" type="slidenum">
              <a:rPr lang="en-US" sz="1300"/>
              <a:pPr eaLnBrk="1" hangingPunct="1"/>
              <a:t>28</a:t>
            </a:fld>
            <a:endParaRPr lang="en-US" sz="1300"/>
          </a:p>
        </p:txBody>
      </p:sp>
      <p:sp>
        <p:nvSpPr>
          <p:cNvPr id="76803" name="Rectangle 2"/>
          <p:cNvSpPr>
            <a:spLocks noGrp="1" noRot="1" noChangeAspect="1" noChangeArrowheads="1" noTextEdit="1"/>
          </p:cNvSpPr>
          <p:nvPr>
            <p:ph type="sldImg"/>
          </p:nvPr>
        </p:nvSpPr>
        <p:spPr>
          <a:xfrm>
            <a:off x="458788" y="719138"/>
            <a:ext cx="6400800" cy="3602037"/>
          </a:xfrm>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Times New Roman" pitchFamily="18" charset="0"/>
              </a:defRPr>
            </a:lvl1pPr>
            <a:lvl2pPr marL="788493" indent="-303266" eaLnBrk="0" hangingPunct="0">
              <a:defRPr sz="2500">
                <a:solidFill>
                  <a:schemeClr val="tx1"/>
                </a:solidFill>
                <a:latin typeface="Times New Roman" pitchFamily="18" charset="0"/>
              </a:defRPr>
            </a:lvl2pPr>
            <a:lvl3pPr marL="1213066" indent="-242613" eaLnBrk="0" hangingPunct="0">
              <a:defRPr sz="2500">
                <a:solidFill>
                  <a:schemeClr val="tx1"/>
                </a:solidFill>
                <a:latin typeface="Times New Roman" pitchFamily="18" charset="0"/>
              </a:defRPr>
            </a:lvl3pPr>
            <a:lvl4pPr marL="1698292" indent="-242613" eaLnBrk="0" hangingPunct="0">
              <a:defRPr sz="2500">
                <a:solidFill>
                  <a:schemeClr val="tx1"/>
                </a:solidFill>
                <a:latin typeface="Times New Roman" pitchFamily="18" charset="0"/>
              </a:defRPr>
            </a:lvl4pPr>
            <a:lvl5pPr marL="2183519" indent="-242613" eaLnBrk="0" hangingPunct="0">
              <a:defRPr sz="2500">
                <a:solidFill>
                  <a:schemeClr val="tx1"/>
                </a:solidFill>
                <a:latin typeface="Times New Roman" pitchFamily="18" charset="0"/>
              </a:defRPr>
            </a:lvl5pPr>
            <a:lvl6pPr marL="2668745" indent="-242613" eaLnBrk="0" fontAlgn="base" hangingPunct="0">
              <a:spcBef>
                <a:spcPct val="0"/>
              </a:spcBef>
              <a:spcAft>
                <a:spcPct val="0"/>
              </a:spcAft>
              <a:defRPr sz="2500">
                <a:solidFill>
                  <a:schemeClr val="tx1"/>
                </a:solidFill>
                <a:latin typeface="Times New Roman" pitchFamily="18" charset="0"/>
              </a:defRPr>
            </a:lvl6pPr>
            <a:lvl7pPr marL="3153971" indent="-242613" eaLnBrk="0" fontAlgn="base" hangingPunct="0">
              <a:spcBef>
                <a:spcPct val="0"/>
              </a:spcBef>
              <a:spcAft>
                <a:spcPct val="0"/>
              </a:spcAft>
              <a:defRPr sz="2500">
                <a:solidFill>
                  <a:schemeClr val="tx1"/>
                </a:solidFill>
                <a:latin typeface="Times New Roman" pitchFamily="18" charset="0"/>
              </a:defRPr>
            </a:lvl7pPr>
            <a:lvl8pPr marL="3639198" indent="-242613" eaLnBrk="0" fontAlgn="base" hangingPunct="0">
              <a:spcBef>
                <a:spcPct val="0"/>
              </a:spcBef>
              <a:spcAft>
                <a:spcPct val="0"/>
              </a:spcAft>
              <a:defRPr sz="2500">
                <a:solidFill>
                  <a:schemeClr val="tx1"/>
                </a:solidFill>
                <a:latin typeface="Times New Roman" pitchFamily="18" charset="0"/>
              </a:defRPr>
            </a:lvl8pPr>
            <a:lvl9pPr marL="4124424" indent="-242613" eaLnBrk="0" fontAlgn="base" hangingPunct="0">
              <a:spcBef>
                <a:spcPct val="0"/>
              </a:spcBef>
              <a:spcAft>
                <a:spcPct val="0"/>
              </a:spcAft>
              <a:defRPr sz="2500">
                <a:solidFill>
                  <a:schemeClr val="tx1"/>
                </a:solidFill>
                <a:latin typeface="Times New Roman" pitchFamily="18" charset="0"/>
              </a:defRPr>
            </a:lvl9pPr>
          </a:lstStyle>
          <a:p>
            <a:pPr eaLnBrk="1" hangingPunct="1"/>
            <a:fld id="{5536B3F9-6F98-4CC9-99CF-2560D476DFB8}" type="slidenum">
              <a:rPr lang="en-US" sz="1300"/>
              <a:pPr eaLnBrk="1" hangingPunct="1"/>
              <a:t>29</a:t>
            </a:fld>
            <a:endParaRPr lang="en-US" sz="1300"/>
          </a:p>
        </p:txBody>
      </p:sp>
      <p:sp>
        <p:nvSpPr>
          <p:cNvPr id="77827" name="Rectangle 2"/>
          <p:cNvSpPr>
            <a:spLocks noGrp="1" noRot="1" noChangeAspect="1" noChangeArrowheads="1" noTextEdit="1"/>
          </p:cNvSpPr>
          <p:nvPr>
            <p:ph type="sldImg"/>
          </p:nvPr>
        </p:nvSpPr>
        <p:spPr>
          <a:xfrm>
            <a:off x="458788" y="719138"/>
            <a:ext cx="6400800" cy="3602037"/>
          </a:xfrm>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sz="1200" b="1" i="0" kern="1200" dirty="0">
                <a:solidFill>
                  <a:schemeClr val="tx1"/>
                </a:solidFill>
                <a:effectLst/>
                <a:latin typeface="+mn-lt"/>
                <a:ea typeface="+mn-ea"/>
                <a:cs typeface="+mn-cs"/>
              </a:rPr>
              <a:t>a person’s attitude affects thoughts while his/her </a:t>
            </a:r>
            <a:r>
              <a:rPr lang="en-GB" sz="1200" b="1" i="0" kern="1200" dirty="0" err="1">
                <a:solidFill>
                  <a:schemeClr val="tx1"/>
                </a:solidFill>
                <a:effectLst/>
                <a:latin typeface="+mn-lt"/>
                <a:ea typeface="+mn-ea"/>
                <a:cs typeface="+mn-cs"/>
              </a:rPr>
              <a:t>behavior</a:t>
            </a:r>
            <a:r>
              <a:rPr lang="en-GB" sz="1200" b="1" i="0" kern="1200" dirty="0">
                <a:solidFill>
                  <a:schemeClr val="tx1"/>
                </a:solidFill>
                <a:effectLst/>
                <a:latin typeface="+mn-lt"/>
                <a:ea typeface="+mn-ea"/>
                <a:cs typeface="+mn-cs"/>
              </a:rPr>
              <a:t> affects actions.</a:t>
            </a:r>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Times New Roman" pitchFamily="18" charset="0"/>
              </a:defRPr>
            </a:lvl1pPr>
            <a:lvl2pPr marL="788493" indent="-303266" eaLnBrk="0" hangingPunct="0">
              <a:defRPr sz="2500">
                <a:solidFill>
                  <a:schemeClr val="tx1"/>
                </a:solidFill>
                <a:latin typeface="Times New Roman" pitchFamily="18" charset="0"/>
              </a:defRPr>
            </a:lvl2pPr>
            <a:lvl3pPr marL="1213066" indent="-242613" eaLnBrk="0" hangingPunct="0">
              <a:defRPr sz="2500">
                <a:solidFill>
                  <a:schemeClr val="tx1"/>
                </a:solidFill>
                <a:latin typeface="Times New Roman" pitchFamily="18" charset="0"/>
              </a:defRPr>
            </a:lvl3pPr>
            <a:lvl4pPr marL="1698292" indent="-242613" eaLnBrk="0" hangingPunct="0">
              <a:defRPr sz="2500">
                <a:solidFill>
                  <a:schemeClr val="tx1"/>
                </a:solidFill>
                <a:latin typeface="Times New Roman" pitchFamily="18" charset="0"/>
              </a:defRPr>
            </a:lvl4pPr>
            <a:lvl5pPr marL="2183519" indent="-242613" eaLnBrk="0" hangingPunct="0">
              <a:defRPr sz="2500">
                <a:solidFill>
                  <a:schemeClr val="tx1"/>
                </a:solidFill>
                <a:latin typeface="Times New Roman" pitchFamily="18" charset="0"/>
              </a:defRPr>
            </a:lvl5pPr>
            <a:lvl6pPr marL="2668745" indent="-242613" eaLnBrk="0" fontAlgn="base" hangingPunct="0">
              <a:spcBef>
                <a:spcPct val="0"/>
              </a:spcBef>
              <a:spcAft>
                <a:spcPct val="0"/>
              </a:spcAft>
              <a:defRPr sz="2500">
                <a:solidFill>
                  <a:schemeClr val="tx1"/>
                </a:solidFill>
                <a:latin typeface="Times New Roman" pitchFamily="18" charset="0"/>
              </a:defRPr>
            </a:lvl6pPr>
            <a:lvl7pPr marL="3153971" indent="-242613" eaLnBrk="0" fontAlgn="base" hangingPunct="0">
              <a:spcBef>
                <a:spcPct val="0"/>
              </a:spcBef>
              <a:spcAft>
                <a:spcPct val="0"/>
              </a:spcAft>
              <a:defRPr sz="2500">
                <a:solidFill>
                  <a:schemeClr val="tx1"/>
                </a:solidFill>
                <a:latin typeface="Times New Roman" pitchFamily="18" charset="0"/>
              </a:defRPr>
            </a:lvl7pPr>
            <a:lvl8pPr marL="3639198" indent="-242613" eaLnBrk="0" fontAlgn="base" hangingPunct="0">
              <a:spcBef>
                <a:spcPct val="0"/>
              </a:spcBef>
              <a:spcAft>
                <a:spcPct val="0"/>
              </a:spcAft>
              <a:defRPr sz="2500">
                <a:solidFill>
                  <a:schemeClr val="tx1"/>
                </a:solidFill>
                <a:latin typeface="Times New Roman" pitchFamily="18" charset="0"/>
              </a:defRPr>
            </a:lvl8pPr>
            <a:lvl9pPr marL="4124424" indent="-242613" eaLnBrk="0" fontAlgn="base" hangingPunct="0">
              <a:spcBef>
                <a:spcPct val="0"/>
              </a:spcBef>
              <a:spcAft>
                <a:spcPct val="0"/>
              </a:spcAft>
              <a:defRPr sz="2500">
                <a:solidFill>
                  <a:schemeClr val="tx1"/>
                </a:solidFill>
                <a:latin typeface="Times New Roman" pitchFamily="18" charset="0"/>
              </a:defRPr>
            </a:lvl9pPr>
          </a:lstStyle>
          <a:p>
            <a:pPr eaLnBrk="1" hangingPunct="1"/>
            <a:fld id="{D341DC19-7584-4053-87CE-EC87428E7A14}" type="slidenum">
              <a:rPr lang="en-US" sz="1300"/>
              <a:pPr eaLnBrk="1" hangingPunct="1"/>
              <a:t>30</a:t>
            </a:fld>
            <a:endParaRPr lang="en-US" sz="1300"/>
          </a:p>
        </p:txBody>
      </p:sp>
      <p:sp>
        <p:nvSpPr>
          <p:cNvPr id="78851" name="Rectangle 2"/>
          <p:cNvSpPr>
            <a:spLocks noGrp="1" noRot="1" noChangeAspect="1" noChangeArrowheads="1" noTextEdit="1"/>
          </p:cNvSpPr>
          <p:nvPr>
            <p:ph type="sldImg"/>
          </p:nvPr>
        </p:nvSpPr>
        <p:spPr>
          <a:xfrm>
            <a:off x="458788" y="719138"/>
            <a:ext cx="6400800" cy="3602037"/>
          </a:xfrm>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a:xfrm>
            <a:off x="0" y="4478274"/>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0" name="Rectangle 9"/>
          <p:cNvSpPr/>
          <p:nvPr/>
        </p:nvSpPr>
        <p:spPr>
          <a:xfrm>
            <a:off x="-9144" y="4539996"/>
            <a:ext cx="2249424"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1" name="Rectangle 10"/>
          <p:cNvSpPr/>
          <p:nvPr/>
        </p:nvSpPr>
        <p:spPr>
          <a:xfrm>
            <a:off x="2359152" y="4533138"/>
            <a:ext cx="6784848"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Subtitle 8"/>
          <p:cNvSpPr>
            <a:spLocks noGrp="1"/>
          </p:cNvSpPr>
          <p:nvPr>
            <p:ph type="subTitle" idx="1"/>
          </p:nvPr>
        </p:nvSpPr>
        <p:spPr>
          <a:xfrm>
            <a:off x="2362200" y="4537528"/>
            <a:ext cx="6515100" cy="514350"/>
          </a:xfrm>
        </p:spPr>
        <p:txBody>
          <a:bodyPr anchor="ctr"/>
          <a:lstStyle>
            <a:lvl1pPr marL="0" indent="0" algn="l">
              <a:buNone/>
              <a:defRPr sz="28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dirty="0"/>
              <a:t>Click to edit Master subtitle style</a:t>
            </a:r>
          </a:p>
        </p:txBody>
      </p:sp>
      <p:sp>
        <p:nvSpPr>
          <p:cNvPr id="28" name="Date Placeholder 27"/>
          <p:cNvSpPr>
            <a:spLocks noGrp="1"/>
          </p:cNvSpPr>
          <p:nvPr>
            <p:ph type="dt" sz="half" idx="10"/>
          </p:nvPr>
        </p:nvSpPr>
        <p:spPr>
          <a:xfrm>
            <a:off x="76200" y="4551524"/>
            <a:ext cx="2057400" cy="514350"/>
          </a:xfrm>
        </p:spPr>
        <p:txBody>
          <a:bodyPr>
            <a:noAutofit/>
          </a:bodyPr>
          <a:lstStyle>
            <a:lvl1pPr algn="ctr">
              <a:defRPr sz="2000">
                <a:solidFill>
                  <a:srgbClr val="FFFFFF"/>
                </a:solidFill>
              </a:defRPr>
            </a:lvl1pPr>
            <a:extLst/>
          </a:lstStyle>
          <a:p>
            <a:pPr algn="ctr"/>
            <a:endParaRPr lang="en-US" sz="2000" dirty="0">
              <a:solidFill>
                <a:srgbClr val="FFFFFF"/>
              </a:solidFill>
            </a:endParaRPr>
          </a:p>
        </p:txBody>
      </p:sp>
      <p:sp>
        <p:nvSpPr>
          <p:cNvPr id="17" name="Footer Placeholder 16"/>
          <p:cNvSpPr>
            <a:spLocks noGrp="1"/>
          </p:cNvSpPr>
          <p:nvPr>
            <p:ph type="ftr" sz="quarter" idx="11"/>
          </p:nvPr>
        </p:nvSpPr>
        <p:spPr>
          <a:xfrm>
            <a:off x="2085393" y="177404"/>
            <a:ext cx="5867400" cy="273844"/>
          </a:xfrm>
        </p:spPr>
        <p:txBody>
          <a:bodyPr/>
          <a:lstStyle>
            <a:lvl1pPr algn="r">
              <a:defRPr>
                <a:solidFill>
                  <a:schemeClr val="tx2"/>
                </a:solidFill>
              </a:defRPr>
            </a:lvl1pPr>
            <a:extLst/>
          </a:lstStyle>
          <a:p>
            <a:pPr algn="r"/>
            <a:endParaRPr lang="en-US" dirty="0">
              <a:solidFill>
                <a:schemeClr val="tx2"/>
              </a:solidFill>
            </a:endParaRPr>
          </a:p>
        </p:txBody>
      </p:sp>
      <p:sp>
        <p:nvSpPr>
          <p:cNvPr id="29" name="Slide Number Placeholder 28"/>
          <p:cNvSpPr>
            <a:spLocks noGrp="1"/>
          </p:cNvSpPr>
          <p:nvPr>
            <p:ph type="sldNum" sz="quarter" idx="12"/>
          </p:nvPr>
        </p:nvSpPr>
        <p:spPr>
          <a:xfrm>
            <a:off x="8001000" y="171450"/>
            <a:ext cx="838200" cy="285750"/>
          </a:xfrm>
        </p:spPr>
        <p:txBody>
          <a:bodyPr/>
          <a:lstStyle>
            <a:lvl1pPr>
              <a:defRPr>
                <a:solidFill>
                  <a:schemeClr val="tx2"/>
                </a:solidFill>
              </a:defRPr>
            </a:lvl1pPr>
            <a:extLst/>
          </a:lstStyle>
          <a:p>
            <a:fld id="{8F82E0A0-C266-4798-8C8F-B9F91E9DA37E}" type="slidenum">
              <a:rPr lang="en-US" smtClean="0">
                <a:solidFill>
                  <a:schemeClr val="tx2"/>
                </a:solidFill>
              </a:rPr>
              <a:pPr/>
              <a:t>‹#›</a:t>
            </a:fld>
            <a:endParaRPr lang="en-US" dirty="0">
              <a:solidFill>
                <a:schemeClr val="tx2"/>
              </a:solidFill>
            </a:endParaRPr>
          </a:p>
        </p:txBody>
      </p:sp>
      <p:sp>
        <p:nvSpPr>
          <p:cNvPr id="12" name="Rectangle 11"/>
          <p:cNvSpPr>
            <a:spLocks noGrp="1"/>
          </p:cNvSpPr>
          <p:nvPr>
            <p:ph type="title"/>
          </p:nvPr>
        </p:nvSpPr>
        <p:spPr>
          <a:xfrm>
            <a:off x="2362200" y="2343150"/>
            <a:ext cx="6477000" cy="2038350"/>
          </a:xfrm>
        </p:spPr>
        <p:txBody>
          <a:bodyPr rtlCol="0" anchor="b"/>
          <a:lstStyle>
            <a:lvl1pPr>
              <a:defRPr cap="all" baseline="0"/>
            </a:lvl1pPr>
            <a:extLst/>
          </a:lstStyle>
          <a:p>
            <a:r>
              <a:rPr lang="en-US"/>
              <a:t>Click to edit Master title style</a:t>
            </a:r>
            <a:endParaRPr lang="en-US" dirty="0"/>
          </a:p>
        </p:txBody>
      </p:sp>
      <p:pic>
        <p:nvPicPr>
          <p:cNvPr id="14" name="Picture 13" descr="FAST logo.png"/>
          <p:cNvPicPr>
            <a:picLocks noChangeAspect="1"/>
          </p:cNvPicPr>
          <p:nvPr userDrawn="1"/>
        </p:nvPicPr>
        <p:blipFill>
          <a:blip r:embed="rId2"/>
          <a:stretch>
            <a:fillRect/>
          </a:stretch>
        </p:blipFill>
        <p:spPr>
          <a:xfrm>
            <a:off x="7723172" y="4550189"/>
            <a:ext cx="1314450" cy="504720"/>
          </a:xfrm>
          <a:prstGeom prst="rect">
            <a:avLst/>
          </a:prstGeom>
        </p:spPr>
      </p:pic>
      <p:pic>
        <p:nvPicPr>
          <p:cNvPr id="18" name="Picture 17" descr="National_University_of_Computer_and_Emerging_Sciences_logo.png"/>
          <p:cNvPicPr>
            <a:picLocks noChangeAspect="1"/>
          </p:cNvPicPr>
          <p:nvPr userDrawn="1"/>
        </p:nvPicPr>
        <p:blipFill>
          <a:blip r:embed="rId3" cstate="print"/>
          <a:stretch>
            <a:fillRect/>
          </a:stretch>
        </p:blipFill>
        <p:spPr>
          <a:xfrm>
            <a:off x="37746" y="68108"/>
            <a:ext cx="816638" cy="819150"/>
          </a:xfrm>
          <a:prstGeom prst="rect">
            <a:avLst/>
          </a:prstGeom>
        </p:spPr>
      </p:pic>
    </p:spTree>
  </p:cSld>
  <p:clrMapOvr>
    <a:overrideClrMapping bg1="dk1" tx1="lt1" bg2="dk2" tx2="lt2" accent1="accent1" accent2="accent2" accent3="accent3" accent4="accent4" accent5="accent5" accent6="accent6" hlink="hlink" folHlink="folHlink"/>
  </p:clrMapOvr>
  <p:transition>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a:t>Click to edit Master title style</a:t>
            </a:r>
            <a:endParaRPr lang="en-US" dirty="0"/>
          </a:p>
        </p:txBody>
      </p:sp>
      <p:sp>
        <p:nvSpPr>
          <p:cNvPr id="3" name="Rectangle 2"/>
          <p:cNvSpPr>
            <a:spLocks noGrp="1"/>
          </p:cNvSpPr>
          <p:nvPr>
            <p:ph type="dt" sz="half" idx="10"/>
          </p:nvPr>
        </p:nvSpPr>
        <p:spPr/>
        <p:txBody>
          <a:bodyPr/>
          <a:lstStyle/>
          <a:p>
            <a:endParaRPr lang="en-US"/>
          </a:p>
        </p:txBody>
      </p:sp>
      <p:sp>
        <p:nvSpPr>
          <p:cNvPr id="4" name="Rectangle 3"/>
          <p:cNvSpPr>
            <a:spLocks noGrp="1"/>
          </p:cNvSpPr>
          <p:nvPr>
            <p:ph type="ftr" sz="quarter" idx="11"/>
          </p:nvPr>
        </p:nvSpPr>
        <p:spPr/>
        <p:txBody>
          <a:bodyPr/>
          <a:lstStyle/>
          <a:p>
            <a:endParaRPr lang="en-US"/>
          </a:p>
        </p:txBody>
      </p:sp>
      <p:sp>
        <p:nvSpPr>
          <p:cNvPr id="5" name="Rectangle 4"/>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a:t>
            </a:fld>
            <a:endParaRPr lang="en-US"/>
          </a:p>
        </p:txBody>
      </p:sp>
      <p:sp>
        <p:nvSpPr>
          <p:cNvPr id="7" name="Rectangle 6"/>
          <p:cNvSpPr>
            <a:spLocks noGrp="1"/>
          </p:cNvSpPr>
          <p:nvPr>
            <p:ph sz="quarter" idx="13"/>
          </p:nvPr>
        </p:nvSpPr>
        <p:spPr>
          <a:xfrm>
            <a:off x="609600" y="1352550"/>
            <a:ext cx="8153400" cy="3276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9" name="Picture 8"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057400"/>
            <a:ext cx="7123113" cy="1254919"/>
          </a:xfrm>
        </p:spPr>
        <p:txBody>
          <a:bodyPr anchor="t"/>
          <a:lstStyle>
            <a:lvl1pPr>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7" name="Rectangle 6"/>
          <p:cNvSpPr/>
          <p:nvPr/>
        </p:nvSpPr>
        <p:spPr>
          <a:xfrm>
            <a:off x="0" y="1143000"/>
            <a:ext cx="9144000" cy="85725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Rectangle 7"/>
          <p:cNvSpPr/>
          <p:nvPr/>
        </p:nvSpPr>
        <p:spPr>
          <a:xfrm>
            <a:off x="0" y="1200150"/>
            <a:ext cx="1295400" cy="7429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1371600" y="1200150"/>
            <a:ext cx="7772400" cy="7429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 name="Title 1"/>
          <p:cNvSpPr>
            <a:spLocks noGrp="1"/>
          </p:cNvSpPr>
          <p:nvPr>
            <p:ph type="title" hasCustomPrompt="1"/>
          </p:nvPr>
        </p:nvSpPr>
        <p:spPr>
          <a:xfrm>
            <a:off x="1371600" y="1200150"/>
            <a:ext cx="7620000" cy="742950"/>
          </a:xfrm>
        </p:spPr>
        <p:txBody>
          <a:bodyPr/>
          <a:lstStyle>
            <a:lvl1pPr algn="l">
              <a:buNone/>
              <a:defRPr sz="4400" b="0" cap="none">
                <a:solidFill>
                  <a:srgbClr val="FFFFFF"/>
                </a:solidFill>
              </a:defRPr>
            </a:lvl1pPr>
            <a:extLst/>
          </a:lstStyle>
          <a:p>
            <a:r>
              <a:rPr lang="en-US" dirty="0"/>
              <a:t>Click to edit master title style</a:t>
            </a:r>
          </a:p>
        </p:txBody>
      </p:sp>
      <p:sp>
        <p:nvSpPr>
          <p:cNvPr id="12" name="Date Placeholder 11"/>
          <p:cNvSpPr>
            <a:spLocks noGrp="1"/>
          </p:cNvSpPr>
          <p:nvPr>
            <p:ph type="dt" sz="half" idx="10"/>
          </p:nvPr>
        </p:nvSpPr>
        <p:spPr/>
        <p:txBody>
          <a:bodyPr/>
          <a:lstStyle/>
          <a:p>
            <a:endParaRPr lang="en-US"/>
          </a:p>
        </p:txBody>
      </p:sp>
      <p:sp>
        <p:nvSpPr>
          <p:cNvPr id="13" name="Slide Number Placeholder 12"/>
          <p:cNvSpPr>
            <a:spLocks noGrp="1"/>
          </p:cNvSpPr>
          <p:nvPr>
            <p:ph type="sldNum" sz="quarter" idx="11"/>
          </p:nvPr>
        </p:nvSpPr>
        <p:spPr>
          <a:xfrm>
            <a:off x="0" y="1314450"/>
            <a:ext cx="1295400" cy="526257"/>
          </a:xfrm>
        </p:spPr>
        <p:txBody>
          <a:bodyPr>
            <a:noAutofit/>
          </a:bodyPr>
          <a:lstStyle>
            <a:lvl1pPr>
              <a:defRPr sz="2400">
                <a:solidFill>
                  <a:srgbClr val="FFFFFF"/>
                </a:solidFill>
              </a:defRPr>
            </a:lvl1pPr>
            <a:extLst/>
          </a:lstStyle>
          <a:p>
            <a:pPr algn="ctr"/>
            <a:fld id="{8F82E0A0-C266-4798-8C8F-B9F91E9DA37E}" type="slidenum">
              <a:rPr lang="en-US" sz="2400" b="1" smtClean="0">
                <a:solidFill>
                  <a:srgbClr val="FFFFFF"/>
                </a:solidFill>
              </a:rPr>
              <a:pPr algn="ctr"/>
              <a:t>‹#›</a:t>
            </a:fld>
            <a:endParaRPr lang="en-US" sz="2400" dirty="0">
              <a:solidFill>
                <a:srgbClr val="FFFFFF"/>
              </a:solidFill>
            </a:endParaRPr>
          </a:p>
        </p:txBody>
      </p:sp>
      <p:sp>
        <p:nvSpPr>
          <p:cNvPr id="14" name="Footer Placeholder 13"/>
          <p:cNvSpPr>
            <a:spLocks noGrp="1"/>
          </p:cNvSpPr>
          <p:nvPr>
            <p:ph type="ftr" sz="quarter" idx="12"/>
          </p:nvPr>
        </p:nvSpPr>
        <p:spPr/>
        <p:txBody>
          <a:bodyPr/>
          <a:lstStyle/>
          <a:p>
            <a:endParaRPr lang="en-US"/>
          </a:p>
        </p:txBody>
      </p:sp>
      <p:pic>
        <p:nvPicPr>
          <p:cNvPr id="10" name="Picture 9" descr="FAST logo.png"/>
          <p:cNvPicPr>
            <a:picLocks noChangeAspect="1"/>
          </p:cNvPicPr>
          <p:nvPr userDrawn="1"/>
        </p:nvPicPr>
        <p:blipFill>
          <a:blip r:embed="rId2"/>
          <a:stretch>
            <a:fillRect/>
          </a:stretch>
        </p:blipFill>
        <p:spPr>
          <a:xfrm>
            <a:off x="56644" y="65242"/>
            <a:ext cx="1314450" cy="504720"/>
          </a:xfrm>
          <a:prstGeom prst="rect">
            <a:avLst/>
          </a:prstGeom>
        </p:spPr>
      </p:pic>
      <p:pic>
        <p:nvPicPr>
          <p:cNvPr id="11" name="Picture 10" descr="National_University_of_Computer_and_Emerging_Sciences_logo.png"/>
          <p:cNvPicPr>
            <a:picLocks noChangeAspect="1"/>
          </p:cNvPicPr>
          <p:nvPr userDrawn="1"/>
        </p:nvPicPr>
        <p:blipFill>
          <a:blip r:embed="rId3" cstate="print"/>
          <a:stretch>
            <a:fillRect/>
          </a:stretch>
        </p:blipFill>
        <p:spPr>
          <a:xfrm>
            <a:off x="8161492" y="55296"/>
            <a:ext cx="925206" cy="928052"/>
          </a:xfrm>
          <a:prstGeom prst="rect">
            <a:avLst/>
          </a:prstGeom>
        </p:spPr>
      </p:pic>
    </p:spTree>
  </p:cSld>
  <p:clrMapOvr>
    <a:overrideClrMapping bg1="lt1" tx1="dk1" bg2="lt2" tx2="dk2" accent1="accent1" accent2="accent2" accent3="accent3" accent4="accent4" accent5="accent5" accent6="accent6" hlink="hlink" folHlink="folHlink"/>
  </p:clrMapOvr>
  <p:transition>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9" name="Content Placeholder 8"/>
          <p:cNvSpPr>
            <a:spLocks noGrp="1"/>
          </p:cNvSpPr>
          <p:nvPr>
            <p:ph sz="quarter" idx="13"/>
          </p:nvPr>
        </p:nvSpPr>
        <p:spPr>
          <a:xfrm>
            <a:off x="609600" y="1352551"/>
            <a:ext cx="3886200" cy="32686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4"/>
          </p:nvPr>
        </p:nvSpPr>
        <p:spPr>
          <a:xfrm>
            <a:off x="4844901" y="1352549"/>
            <a:ext cx="3886200" cy="3268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5"/>
          </p:nvPr>
        </p:nvSpPr>
        <p:spPr/>
        <p:txBody>
          <a:bodyPr rtlCol="0"/>
          <a:lstStyle/>
          <a:p>
            <a:endParaRPr lang="en-US"/>
          </a:p>
        </p:txBody>
      </p:sp>
      <p:sp>
        <p:nvSpPr>
          <p:cNvPr id="10" name="Slide Number Placeholder 9"/>
          <p:cNvSpPr>
            <a:spLocks noGrp="1"/>
          </p:cNvSpPr>
          <p:nvPr>
            <p:ph type="sldNum" sz="quarter" idx="16"/>
          </p:nvPr>
        </p:nvSpPr>
        <p:spPr/>
        <p:txBody>
          <a:bodyPr rtlCol="0"/>
          <a:lstStyle/>
          <a:p>
            <a:pPr algn="ctr"/>
            <a:fld id="{8F82E0A0-C266-4798-8C8F-B9F91E9DA37E}" type="slidenum">
              <a:rPr lang="en-US" sz="1400" b="1" smtClean="0">
                <a:solidFill>
                  <a:srgbClr val="FFFFFF"/>
                </a:solidFill>
              </a:rPr>
              <a:pPr algn="ctr"/>
              <a:t>‹#›</a:t>
            </a:fld>
            <a:endParaRPr lang="en-US"/>
          </a:p>
        </p:txBody>
      </p:sp>
      <p:sp>
        <p:nvSpPr>
          <p:cNvPr id="12" name="Footer Placeholder 11"/>
          <p:cNvSpPr>
            <a:spLocks noGrp="1"/>
          </p:cNvSpPr>
          <p:nvPr>
            <p:ph type="ftr" sz="quarter" idx="17"/>
          </p:nvPr>
        </p:nvSpPr>
        <p:spPr/>
        <p:txBody>
          <a:bodyPr rtlCol="0"/>
          <a:lstStyle/>
          <a:p>
            <a:endParaRPr lang="en-US"/>
          </a:p>
        </p:txBody>
      </p:sp>
      <p:pic>
        <p:nvPicPr>
          <p:cNvPr id="13" name="Picture 12"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14" name="Picture 13"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2648" y="118110"/>
            <a:ext cx="8153400" cy="1005840"/>
          </a:xfrm>
        </p:spPr>
        <p:txBody>
          <a:bodyPr anchor="b"/>
          <a:lstStyle>
            <a:lvl1pPr>
              <a:defRPr/>
            </a:lvl1pPr>
            <a:extLst/>
          </a:lstStyle>
          <a:p>
            <a:r>
              <a:rPr lang="en-US"/>
              <a:t>Click to edit Master title style</a:t>
            </a:r>
            <a:endParaRPr lang="en-US" dirty="0"/>
          </a:p>
        </p:txBody>
      </p:sp>
      <p:sp>
        <p:nvSpPr>
          <p:cNvPr id="11" name="Content Placeholder 10"/>
          <p:cNvSpPr>
            <a:spLocks noGrp="1"/>
          </p:cNvSpPr>
          <p:nvPr>
            <p:ph sz="quarter" idx="13"/>
          </p:nvPr>
        </p:nvSpPr>
        <p:spPr>
          <a:xfrm>
            <a:off x="609600" y="1919818"/>
            <a:ext cx="3886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800600" y="1919818"/>
            <a:ext cx="3886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5"/>
          </p:nvPr>
        </p:nvSpPr>
        <p:spPr/>
        <p:txBody>
          <a:bodyPr rtlCol="0"/>
          <a:lstStyle/>
          <a:p>
            <a:endParaRPr lang="en-US"/>
          </a:p>
        </p:txBody>
      </p:sp>
      <p:sp>
        <p:nvSpPr>
          <p:cNvPr id="12" name="Slide Number Placeholder 11"/>
          <p:cNvSpPr>
            <a:spLocks noGrp="1"/>
          </p:cNvSpPr>
          <p:nvPr>
            <p:ph type="sldNum" sz="quarter" idx="16"/>
          </p:nvPr>
        </p:nvSpPr>
        <p:spPr/>
        <p:txBody>
          <a:bodyPr rtlCol="0"/>
          <a:lstStyle/>
          <a:p>
            <a:pPr algn="ctr"/>
            <a:fld id="{8F82E0A0-C266-4798-8C8F-B9F91E9DA37E}" type="slidenum">
              <a:rPr lang="en-US" sz="1400" b="1" smtClean="0">
                <a:solidFill>
                  <a:srgbClr val="FFFFFF"/>
                </a:solidFill>
              </a:rPr>
              <a:pPr algn="ct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8"/>
          </p:nvPr>
        </p:nvSpPr>
        <p:spPr>
          <a:xfrm>
            <a:off x="609600" y="1362287"/>
            <a:ext cx="3886200" cy="530352"/>
          </a:xfrm>
          <a:solidFill>
            <a:schemeClr val="accent2"/>
          </a:solidFill>
        </p:spPr>
        <p:txBody>
          <a:bodyPr rtlCol="0" anchor="ctr"/>
          <a:lstStyle>
            <a:lvl1pPr>
              <a:buFontTx/>
              <a:buNone/>
              <a:defRPr sz="2000" b="1">
                <a:solidFill>
                  <a:srgbClr val="FFFFFF"/>
                </a:solidFill>
              </a:defRPr>
            </a:lvl1pPr>
            <a:extLst/>
          </a:lstStyle>
          <a:p>
            <a:pPr lvl="0"/>
            <a:r>
              <a:rPr lang="en-US"/>
              <a:t>Click to edit Master text styles</a:t>
            </a:r>
          </a:p>
        </p:txBody>
      </p:sp>
      <p:sp>
        <p:nvSpPr>
          <p:cNvPr id="15" name="Text Placeholder 14"/>
          <p:cNvSpPr>
            <a:spLocks noGrp="1"/>
          </p:cNvSpPr>
          <p:nvPr>
            <p:ph type="body" sz="quarter" idx="19"/>
          </p:nvPr>
        </p:nvSpPr>
        <p:spPr>
          <a:xfrm>
            <a:off x="4800600" y="1362287"/>
            <a:ext cx="3886200" cy="530352"/>
          </a:xfrm>
          <a:solidFill>
            <a:schemeClr val="accent4"/>
          </a:solidFill>
        </p:spPr>
        <p:txBody>
          <a:bodyPr rtlCol="0" anchor="ctr"/>
          <a:lstStyle>
            <a:lvl1pPr>
              <a:buFontTx/>
              <a:buNone/>
              <a:defRPr sz="2000" b="1">
                <a:solidFill>
                  <a:srgbClr val="FFFFFF"/>
                </a:solidFill>
              </a:defRPr>
            </a:lvl1pPr>
            <a:extLst/>
          </a:lstStyle>
          <a:p>
            <a:pPr lvl="0"/>
            <a:r>
              <a:rPr lang="en-US"/>
              <a:t>Click to edit Master text styles</a:t>
            </a:r>
          </a:p>
        </p:txBody>
      </p:sp>
      <p:pic>
        <p:nvPicPr>
          <p:cNvPr id="17" name="Picture 16"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18" name="Picture 17"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pic>
        <p:nvPicPr>
          <p:cNvPr id="6" name="Picture 5"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7" name="Picture 6"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4686300"/>
            <a:ext cx="533400" cy="285750"/>
          </a:xfrm>
        </p:spPr>
        <p:txBody>
          <a:bodyPr/>
          <a:lstStyle>
            <a:lvl1pPr>
              <a:defRPr>
                <a:solidFill>
                  <a:schemeClr val="tx2"/>
                </a:solidFill>
              </a:defRPr>
            </a:lvl1pPr>
            <a:extLst/>
          </a:lstStyle>
          <a:p>
            <a:fld id="{A3F7CB7D-F184-43C7-B6FD-03D728E1BBFF}" type="slidenum">
              <a:rPr lang="en-US" smtClean="0">
                <a:solidFill>
                  <a:schemeClr val="tx2"/>
                </a:solidFill>
              </a:rPr>
              <a:pPr/>
              <a:t>‹#›</a:t>
            </a:fld>
            <a:endParaRPr lang="en-US" dirty="0">
              <a:solidFill>
                <a:schemeClr val="tx2"/>
              </a:solidFill>
            </a:endParaRPr>
          </a:p>
        </p:txBody>
      </p:sp>
      <p:pic>
        <p:nvPicPr>
          <p:cNvPr id="5" name="Picture 4"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6" name="Picture 5"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1005840"/>
          </a:xfrm>
        </p:spPr>
        <p:txBody>
          <a:bodyPr anchor="b"/>
          <a:lstStyle>
            <a:lvl1pPr algn="l">
              <a:buNone/>
              <a:defRPr sz="4200" b="0"/>
            </a:lvl1pPr>
            <a:extLst/>
          </a:lstStyle>
          <a:p>
            <a:r>
              <a:rPr lang="en-US"/>
              <a:t>Click to edit Master title style</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
        <p:nvSpPr>
          <p:cNvPr id="3" name="Text Placeholder 2"/>
          <p:cNvSpPr>
            <a:spLocks noGrp="1"/>
          </p:cNvSpPr>
          <p:nvPr>
            <p:ph type="body" idx="1"/>
          </p:nvPr>
        </p:nvSpPr>
        <p:spPr>
          <a:xfrm>
            <a:off x="609600" y="1428750"/>
            <a:ext cx="1600200" cy="31242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9" name="Content Placeholder 8"/>
          <p:cNvSpPr>
            <a:spLocks noGrp="1"/>
          </p:cNvSpPr>
          <p:nvPr>
            <p:ph sz="quarter" idx="13"/>
          </p:nvPr>
        </p:nvSpPr>
        <p:spPr>
          <a:xfrm>
            <a:off x="2362200" y="1428750"/>
            <a:ext cx="6400800" cy="320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descr="FAST logo.png"/>
          <p:cNvPicPr>
            <a:picLocks noChangeAspect="1"/>
          </p:cNvPicPr>
          <p:nvPr userDrawn="1"/>
        </p:nvPicPr>
        <p:blipFill>
          <a:blip r:embed="rId2"/>
          <a:stretch>
            <a:fillRect/>
          </a:stretch>
        </p:blipFill>
        <p:spPr>
          <a:xfrm>
            <a:off x="7771724" y="4606833"/>
            <a:ext cx="1314450" cy="504720"/>
          </a:xfrm>
          <a:prstGeom prst="rect">
            <a:avLst/>
          </a:prstGeom>
        </p:spPr>
      </p:pic>
      <p:pic>
        <p:nvPicPr>
          <p:cNvPr id="10" name="Picture 9" descr="National_University_of_Computer_and_Emerging_Sciences_logo.png"/>
          <p:cNvPicPr>
            <a:picLocks noChangeAspect="1"/>
          </p:cNvPicPr>
          <p:nvPr userDrawn="1"/>
        </p:nvPicPr>
        <p:blipFill>
          <a:blip r:embed="rId3" cstate="print"/>
          <a:stretch>
            <a:fillRect/>
          </a:stretch>
        </p:blipFill>
        <p:spPr>
          <a:xfrm>
            <a:off x="8153400" y="152400"/>
            <a:ext cx="925206" cy="928052"/>
          </a:xfrm>
          <a:prstGeom prst="rect">
            <a:avLst/>
          </a:prstGeom>
        </p:spPr>
      </p:pic>
    </p:spTree>
  </p:cSld>
  <p:clrMapOvr>
    <a:masterClrMapping/>
  </p:clrMapOvr>
  <p:transition>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557668" y="0"/>
            <a:ext cx="7586332" cy="3419856"/>
          </a:xfrm>
          <a:solidFill>
            <a:schemeClr val="tx2">
              <a:shade val="50000"/>
            </a:schemeClr>
          </a:solidFill>
          <a:ln>
            <a:noFill/>
          </a:ln>
        </p:spPr>
        <p:txBody>
          <a:bodyPr/>
          <a:lstStyle>
            <a:lvl1pPr>
              <a:buNone/>
              <a:defRPr sz="3200"/>
            </a:lvl1pPr>
            <a:extLst/>
          </a:lstStyle>
          <a:p>
            <a:r>
              <a:rPr lang="en-US"/>
              <a:t>Click icon to add picture</a:t>
            </a:r>
            <a:endParaRPr lang="en-US" dirty="0"/>
          </a:p>
        </p:txBody>
      </p:sp>
      <p:sp>
        <p:nvSpPr>
          <p:cNvPr id="4" name="Text Placeholder 3"/>
          <p:cNvSpPr>
            <a:spLocks noGrp="1"/>
          </p:cNvSpPr>
          <p:nvPr>
            <p:ph type="body" sz="half" idx="2"/>
          </p:nvPr>
        </p:nvSpPr>
        <p:spPr>
          <a:xfrm>
            <a:off x="1600200" y="4114800"/>
            <a:ext cx="7315200" cy="51435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extLst/>
          </a:lstStyle>
          <a:p>
            <a:pPr lvl="0"/>
            <a:r>
              <a:rPr lang="en-US"/>
              <a:t>Click to edit Master text styles</a:t>
            </a:r>
          </a:p>
        </p:txBody>
      </p:sp>
      <p:sp>
        <p:nvSpPr>
          <p:cNvPr id="8" name="Rectangle 7"/>
          <p:cNvSpPr/>
          <p:nvPr/>
        </p:nvSpPr>
        <p:spPr>
          <a:xfrm>
            <a:off x="-9144" y="3429000"/>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9144" y="3497580"/>
            <a:ext cx="1463040"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0" name="Rectangle 9"/>
          <p:cNvSpPr/>
          <p:nvPr/>
        </p:nvSpPr>
        <p:spPr>
          <a:xfrm>
            <a:off x="1545336" y="3490722"/>
            <a:ext cx="7589520"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 name="Title 1"/>
          <p:cNvSpPr>
            <a:spLocks noGrp="1"/>
          </p:cNvSpPr>
          <p:nvPr>
            <p:ph type="title"/>
          </p:nvPr>
        </p:nvSpPr>
        <p:spPr>
          <a:xfrm>
            <a:off x="1600200" y="3543300"/>
            <a:ext cx="7315200" cy="457200"/>
          </a:xfrm>
        </p:spPr>
        <p:txBody>
          <a:bodyPr anchor="ctr"/>
          <a:lstStyle>
            <a:lvl1pPr algn="l">
              <a:buNone/>
              <a:defRPr sz="2800" b="0">
                <a:solidFill>
                  <a:srgbClr val="FFFFFF"/>
                </a:solidFill>
              </a:defRPr>
            </a:lvl1pPr>
            <a:extLst/>
          </a:lstStyle>
          <a:p>
            <a:r>
              <a:rPr lang="en-US"/>
              <a:t>Click to edit Master title style</a:t>
            </a:r>
            <a:endParaRPr lang="en-US" dirty="0"/>
          </a:p>
        </p:txBody>
      </p:sp>
      <p:sp>
        <p:nvSpPr>
          <p:cNvPr id="11" name="Rectangle 10"/>
          <p:cNvSpPr/>
          <p:nvPr/>
        </p:nvSpPr>
        <p:spPr>
          <a:xfrm>
            <a:off x="1447800" y="0"/>
            <a:ext cx="100584" cy="515035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2" name="Date Placeholder 11"/>
          <p:cNvSpPr>
            <a:spLocks noGrp="1"/>
          </p:cNvSpPr>
          <p:nvPr>
            <p:ph type="dt" sz="half" idx="10"/>
          </p:nvPr>
        </p:nvSpPr>
        <p:spPr>
          <a:xfrm>
            <a:off x="6248400" y="4686300"/>
            <a:ext cx="2667000" cy="273844"/>
          </a:xfrm>
        </p:spPr>
        <p:txBody>
          <a:bodyPr rtlCol="0"/>
          <a:lstStyle/>
          <a:p>
            <a:endParaRPr lang="en-US"/>
          </a:p>
        </p:txBody>
      </p:sp>
      <p:sp>
        <p:nvSpPr>
          <p:cNvPr id="13" name="Slide Number Placeholder 12"/>
          <p:cNvSpPr>
            <a:spLocks noGrp="1"/>
          </p:cNvSpPr>
          <p:nvPr>
            <p:ph type="sldNum" sz="quarter" idx="11"/>
          </p:nvPr>
        </p:nvSpPr>
        <p:spPr>
          <a:xfrm>
            <a:off x="0" y="3500437"/>
            <a:ext cx="1447800" cy="497684"/>
          </a:xfrm>
        </p:spPr>
        <p:txBody>
          <a:bodyPr rtlCol="0"/>
          <a:lstStyle>
            <a:lvl1pPr>
              <a:defRPr sz="2800"/>
            </a:lvl1pPr>
            <a:extLst/>
          </a:lstStyle>
          <a:p>
            <a:pPr algn="ctr"/>
            <a:fld id="{8F82E0A0-C266-4798-8C8F-B9F91E9DA37E}" type="slidenum">
              <a:rPr lang="en-US" sz="2800" b="1" smtClean="0">
                <a:solidFill>
                  <a:srgbClr val="FFFFFF"/>
                </a:solidFill>
              </a:rPr>
              <a:pPr algn="ctr"/>
              <a:t>‹#›</a:t>
            </a:fld>
            <a:endParaRPr lang="en-US" sz="2800" dirty="0"/>
          </a:p>
        </p:txBody>
      </p:sp>
      <p:sp>
        <p:nvSpPr>
          <p:cNvPr id="14" name="Footer Placeholder 13"/>
          <p:cNvSpPr>
            <a:spLocks noGrp="1"/>
          </p:cNvSpPr>
          <p:nvPr>
            <p:ph type="ftr" sz="quarter" idx="12"/>
          </p:nvPr>
        </p:nvSpPr>
        <p:spPr>
          <a:xfrm>
            <a:off x="1600200" y="4686155"/>
            <a:ext cx="4572000" cy="273844"/>
          </a:xfrm>
        </p:spPr>
        <p:txBody>
          <a:bodyPr rtlCol="0"/>
          <a:lstStyle/>
          <a:p>
            <a:endParaRPr lang="en-US" dirty="0"/>
          </a:p>
        </p:txBody>
      </p:sp>
      <p:pic>
        <p:nvPicPr>
          <p:cNvPr id="15" name="Picture 14" descr="FAST logo.png"/>
          <p:cNvPicPr>
            <a:picLocks noChangeAspect="1"/>
          </p:cNvPicPr>
          <p:nvPr userDrawn="1"/>
        </p:nvPicPr>
        <p:blipFill>
          <a:blip r:embed="rId2"/>
          <a:stretch>
            <a:fillRect/>
          </a:stretch>
        </p:blipFill>
        <p:spPr>
          <a:xfrm>
            <a:off x="7771724" y="4587783"/>
            <a:ext cx="1314450" cy="504720"/>
          </a:xfrm>
          <a:prstGeom prst="rect">
            <a:avLst/>
          </a:prstGeom>
        </p:spPr>
      </p:pic>
      <p:pic>
        <p:nvPicPr>
          <p:cNvPr id="16" name="Picture 15" descr="National_University_of_Computer_and_Emerging_Sciences_logo.png"/>
          <p:cNvPicPr>
            <a:picLocks noChangeAspect="1"/>
          </p:cNvPicPr>
          <p:nvPr userDrawn="1"/>
        </p:nvPicPr>
        <p:blipFill>
          <a:blip r:embed="rId3" cstate="print"/>
          <a:stretch>
            <a:fillRect/>
          </a:stretch>
        </p:blipFill>
        <p:spPr>
          <a:xfrm>
            <a:off x="8185768" y="43498"/>
            <a:ext cx="925206" cy="928052"/>
          </a:xfrm>
          <a:prstGeom prst="rect">
            <a:avLst/>
          </a:prstGeom>
        </p:spPr>
      </p:pic>
    </p:spTree>
  </p:cSld>
  <p:clrMapOvr>
    <a:overrideClrMapping bg1="dk1" tx1="lt1" bg2="dk2" tx2="lt2" accent1="accent1" accent2="accent2" accent3="accent3" accent4="accent4" accent5="accent5" accent6="accent6" hlink="hlink" folHlink="folHlink"/>
  </p:clrMapOvr>
  <p:transition>
    <p:pull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Rectangle 3"/>
          <p:cNvSpPr/>
          <p:nvPr userDrawn="1"/>
        </p:nvSpPr>
        <p:spPr>
          <a:xfrm>
            <a:off x="0" y="0"/>
            <a:ext cx="9144000" cy="514350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Calibri" panose="020F0502020204030204" pitchFamily="34" charset="0"/>
            </a:endParaRPr>
          </a:p>
        </p:txBody>
      </p:sp>
      <p:sp>
        <p:nvSpPr>
          <p:cNvPr id="5" name="Rounded Rectangle 4"/>
          <p:cNvSpPr/>
          <p:nvPr userDrawn="1"/>
        </p:nvSpPr>
        <p:spPr>
          <a:xfrm>
            <a:off x="0" y="914400"/>
            <a:ext cx="9144000" cy="4171950"/>
          </a:xfrm>
          <a:prstGeom prst="roundRect">
            <a:avLst/>
          </a:prstGeom>
          <a:ln/>
        </p:spPr>
        <p:style>
          <a:lnRef idx="2">
            <a:schemeClr val="accent1"/>
          </a:lnRef>
          <a:fillRef idx="1">
            <a:schemeClr val="lt1"/>
          </a:fillRef>
          <a:effectRef idx="0">
            <a:schemeClr val="accent1"/>
          </a:effectRef>
          <a:fontRef idx="minor">
            <a:schemeClr val="dk1"/>
          </a:fontRef>
        </p:style>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000000"/>
              </a:solidFill>
              <a:latin typeface="Calibri" panose="020F0502020204030204" pitchFamily="34" charset="0"/>
            </a:endParaRPr>
          </a:p>
        </p:txBody>
      </p:sp>
      <p:sp>
        <p:nvSpPr>
          <p:cNvPr id="3" name="Content Placeholder 2"/>
          <p:cNvSpPr>
            <a:spLocks noGrp="1"/>
          </p:cNvSpPr>
          <p:nvPr>
            <p:ph idx="1"/>
          </p:nvPr>
        </p:nvSpPr>
        <p:spPr>
          <a:xfrm>
            <a:off x="228600" y="1085851"/>
            <a:ext cx="8686800" cy="34516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8"/>
          <p:cNvSpPr>
            <a:spLocks noGrp="1"/>
          </p:cNvSpPr>
          <p:nvPr>
            <p:ph type="title"/>
          </p:nvPr>
        </p:nvSpPr>
        <p:spPr>
          <a:xfrm>
            <a:off x="914400" y="0"/>
            <a:ext cx="7315200" cy="685800"/>
          </a:xfrm>
        </p:spPr>
        <p:txBody>
          <a:bodyPr>
            <a:normAutofit/>
          </a:bodyPr>
          <a:lstStyle>
            <a:lvl1pPr algn="l">
              <a:defRPr sz="3600" b="1">
                <a:solidFill>
                  <a:schemeClr val="bg1"/>
                </a:solidFill>
                <a:latin typeface="Century Schoolbook" pitchFamily="18" charset="0"/>
              </a:defRPr>
            </a:lvl1pPr>
          </a:lstStyle>
          <a:p>
            <a:r>
              <a:rPr lang="en-US" dirty="0"/>
              <a:t>Click to edit Master title style</a:t>
            </a:r>
          </a:p>
        </p:txBody>
      </p:sp>
      <p:sp>
        <p:nvSpPr>
          <p:cNvPr id="6" name="Footer Placeholder 17"/>
          <p:cNvSpPr>
            <a:spLocks noGrp="1"/>
          </p:cNvSpPr>
          <p:nvPr>
            <p:ph type="ftr" sz="quarter" idx="10"/>
          </p:nvPr>
        </p:nvSpPr>
        <p:spPr>
          <a:xfrm>
            <a:off x="152400" y="4926807"/>
            <a:ext cx="5715000" cy="273844"/>
          </a:xfrm>
        </p:spPr>
        <p:txBody>
          <a:bodyPr wrap="square" numCol="1" anchorCtr="0" compatLnSpc="1">
            <a:prstTxWarp prst="textNoShape">
              <a:avLst/>
            </a:prstTxWarp>
          </a:bodyPr>
          <a:lstStyle>
            <a:lvl1pPr fontAlgn="base">
              <a:spcBef>
                <a:spcPct val="0"/>
              </a:spcBef>
              <a:spcAft>
                <a:spcPct val="0"/>
              </a:spcAft>
              <a:defRPr sz="1000" i="1" smtClean="0">
                <a:solidFill>
                  <a:schemeClr val="tx2"/>
                </a:solidFill>
                <a:cs typeface="Arial" panose="020B0604020202020204" pitchFamily="34" charset="0"/>
              </a:defRPr>
            </a:lvl1pPr>
          </a:lstStyle>
          <a:p>
            <a:pPr>
              <a:defRPr/>
            </a:pPr>
            <a:endParaRPr lang="en-US" altLang="en-US"/>
          </a:p>
        </p:txBody>
      </p:sp>
      <p:sp>
        <p:nvSpPr>
          <p:cNvPr id="7" name="Slide Number Placeholder 16"/>
          <p:cNvSpPr>
            <a:spLocks noGrp="1"/>
          </p:cNvSpPr>
          <p:nvPr>
            <p:ph type="sldNum" sz="quarter" idx="11"/>
          </p:nvPr>
        </p:nvSpPr>
        <p:spPr>
          <a:xfrm>
            <a:off x="6248400" y="4857750"/>
            <a:ext cx="2133600" cy="273844"/>
          </a:xfrm>
        </p:spPr>
        <p:txBody>
          <a:bodyPr/>
          <a:lstStyle>
            <a:lvl1pPr>
              <a:defRPr sz="1000" b="1" i="1">
                <a:solidFill>
                  <a:schemeClr val="tx2"/>
                </a:solidFill>
              </a:defRPr>
            </a:lvl1pPr>
          </a:lstStyle>
          <a:p>
            <a:fld id="{9ECAED0D-5F1E-4136-AD1B-B6C4A1F4BF46}" type="slidenum">
              <a:rPr lang="en-US" altLang="en-US"/>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r>
              <a:rPr lang="en-US"/>
              <a:t>Chapter 1, Nancy Langton and Stephen P. Robbins, </a:t>
            </a:r>
            <a:r>
              <a:rPr lang="en-US" i="1"/>
              <a:t>Fundamentals of Organizational Behaviour, </a:t>
            </a:r>
            <a:r>
              <a:rPr lang="en-US"/>
              <a:t>Third Canadian Edition                                                                                                  </a:t>
            </a:r>
            <a:r>
              <a:rPr lang="en-US" sz="1200" b="1"/>
              <a:t>1-</a:t>
            </a:r>
            <a:fld id="{B06499C3-6EBD-4D52-955D-C2EF42DD6D1D}" type="slidenum">
              <a:rPr lang="en-US" sz="1200" b="1"/>
              <a:pPr/>
              <a:t>‹#›</a:t>
            </a:fld>
            <a:endParaRPr lang="en-US" sz="1200" b="1"/>
          </a:p>
          <a:p>
            <a:r>
              <a:rPr lang="en-US"/>
              <a:t>Copyright © 2007 Pearson Education Canada</a:t>
            </a:r>
          </a:p>
        </p:txBody>
      </p:sp>
    </p:spTree>
    <p:extLst>
      <p:ext uri="{BB962C8B-B14F-4D97-AF65-F5344CB8AC3E}">
        <p14:creationId xmlns:p14="http://schemas.microsoft.com/office/powerpoint/2010/main" val="366649864"/>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612648" y="1352550"/>
            <a:ext cx="8153400" cy="3242310"/>
          </a:xfrm>
          <a:prstGeom prst="rect">
            <a:avLst/>
          </a:prstGeom>
        </p:spPr>
        <p:txBody>
          <a:bodyPr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Date Placeholder 13"/>
          <p:cNvSpPr>
            <a:spLocks noGrp="1"/>
          </p:cNvSpPr>
          <p:nvPr>
            <p:ph type="dt" sz="half" idx="2"/>
          </p:nvPr>
        </p:nvSpPr>
        <p:spPr>
          <a:xfrm>
            <a:off x="6096000" y="4686300"/>
            <a:ext cx="2667000" cy="273844"/>
          </a:xfrm>
          <a:prstGeom prst="rect">
            <a:avLst/>
          </a:prstGeom>
        </p:spPr>
        <p:txBody>
          <a:bodyPr vert="horz" anchor="ctr" anchorCtr="0"/>
          <a:lstStyle>
            <a:lvl1pPr algn="l">
              <a:defRPr sz="1400">
                <a:solidFill>
                  <a:schemeClr val="tx2"/>
                </a:solidFill>
              </a:defRPr>
            </a:lvl1pPr>
            <a:extLst/>
          </a:lstStyle>
          <a:p>
            <a:endParaRPr lang="en-US" sz="1400" dirty="0">
              <a:solidFill>
                <a:schemeClr val="tx2"/>
              </a:solidFill>
            </a:endParaRPr>
          </a:p>
        </p:txBody>
      </p:sp>
      <p:sp>
        <p:nvSpPr>
          <p:cNvPr id="3" name="Footer Placeholder 2"/>
          <p:cNvSpPr>
            <a:spLocks noGrp="1"/>
          </p:cNvSpPr>
          <p:nvPr>
            <p:ph type="ftr" sz="quarter" idx="3"/>
          </p:nvPr>
        </p:nvSpPr>
        <p:spPr>
          <a:xfrm>
            <a:off x="609601" y="4686155"/>
            <a:ext cx="5421083" cy="273844"/>
          </a:xfrm>
          <a:prstGeom prst="rect">
            <a:avLst/>
          </a:prstGeom>
        </p:spPr>
        <p:txBody>
          <a:bodyPr vert="horz" anchor="ctr"/>
          <a:lstStyle>
            <a:lvl1pPr algn="r">
              <a:defRPr sz="1400">
                <a:solidFill>
                  <a:schemeClr val="tx2"/>
                </a:solidFill>
              </a:defRPr>
            </a:lvl1pPr>
            <a:extLst/>
          </a:lstStyle>
          <a:p>
            <a:pPr algn="r"/>
            <a:endParaRPr lang="en-US" sz="1400" dirty="0">
              <a:solidFill>
                <a:schemeClr val="tx2"/>
              </a:solidFill>
            </a:endParaRPr>
          </a:p>
        </p:txBody>
      </p:sp>
      <p:sp>
        <p:nvSpPr>
          <p:cNvPr id="7" name="Rectangle 6"/>
          <p:cNvSpPr/>
          <p:nvPr/>
        </p:nvSpPr>
        <p:spPr>
          <a:xfrm>
            <a:off x="0" y="1095170"/>
            <a:ext cx="9144000" cy="24003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Rectangle 7"/>
          <p:cNvSpPr/>
          <p:nvPr/>
        </p:nvSpPr>
        <p:spPr>
          <a:xfrm>
            <a:off x="0" y="1129460"/>
            <a:ext cx="533400" cy="1714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590550" y="1129460"/>
            <a:ext cx="8553450" cy="1714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3" name="Slide Number Placeholder 22"/>
          <p:cNvSpPr>
            <a:spLocks noGrp="1"/>
          </p:cNvSpPr>
          <p:nvPr>
            <p:ph type="sldNum" sz="quarter" idx="4"/>
          </p:nvPr>
        </p:nvSpPr>
        <p:spPr>
          <a:xfrm>
            <a:off x="0" y="1123507"/>
            <a:ext cx="533400" cy="183357"/>
          </a:xfrm>
          <a:prstGeom prst="rect">
            <a:avLst/>
          </a:prstGeom>
        </p:spPr>
        <p:txBody>
          <a:bodyPr vert="horz" anchor="ctr" anchorCtr="0">
            <a:normAutofit/>
          </a:bodyPr>
          <a:lstStyle>
            <a:lvl1pPr algn="ctr">
              <a:defRPr sz="1400" b="1">
                <a:solidFill>
                  <a:srgbClr val="FFFFFF"/>
                </a:solidFill>
              </a:defRPr>
            </a:lvl1pPr>
            <a:extLst/>
          </a:lstStyle>
          <a:p>
            <a:pPr algn="ctr"/>
            <a:fld id="{8F82E0A0-C266-4798-8C8F-B9F91E9DA37E}" type="slidenum">
              <a:rPr lang="en-US" sz="1400" b="1" smtClean="0">
                <a:solidFill>
                  <a:srgbClr val="FFFFFF"/>
                </a:solidFill>
              </a:rPr>
              <a:pPr algn="ctr"/>
              <a:t>‹#›</a:t>
            </a:fld>
            <a:endParaRPr lang="en-US" sz="1400" b="1" dirty="0">
              <a:solidFill>
                <a:srgbClr val="FFFFFF"/>
              </a:solidFill>
            </a:endParaRPr>
          </a:p>
        </p:txBody>
      </p:sp>
      <p:sp>
        <p:nvSpPr>
          <p:cNvPr id="22" name="Title Placeholder 21"/>
          <p:cNvSpPr>
            <a:spLocks noGrp="1"/>
          </p:cNvSpPr>
          <p:nvPr>
            <p:ph type="title"/>
          </p:nvPr>
        </p:nvSpPr>
        <p:spPr>
          <a:xfrm>
            <a:off x="609600" y="118110"/>
            <a:ext cx="8153400" cy="1005840"/>
          </a:xfrm>
          <a:prstGeom prst="rect">
            <a:avLst/>
          </a:prstGeom>
        </p:spPr>
        <p:txBody>
          <a:bodyPr vert="horz" anchor="b">
            <a:normAutofit/>
          </a:bodyPr>
          <a:lstStyle/>
          <a:p>
            <a:r>
              <a:rPr lang="en-US"/>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8" r:id="rId2"/>
    <p:sldLayoutId id="2147483651" r:id="rId3"/>
    <p:sldLayoutId id="2147483652" r:id="rId4"/>
    <p:sldLayoutId id="2147483653" r:id="rId5"/>
    <p:sldLayoutId id="2147483654" r:id="rId6"/>
    <p:sldLayoutId id="2147483655" r:id="rId7"/>
    <p:sldLayoutId id="2147483656" r:id="rId8"/>
    <p:sldLayoutId id="2147483657" r:id="rId9"/>
    <p:sldLayoutId id="2147483659" r:id="rId10"/>
    <p:sldLayoutId id="2147483660" r:id="rId11"/>
  </p:sldLayoutIdLst>
  <p:transition>
    <p:pull dir="d"/>
  </p:transition>
  <p:hf hdr="0" ftr="0" dt="0"/>
  <p:txStyles>
    <p:titleStyle>
      <a:lvl1pPr algn="l" rtl="0" eaLnBrk="1" latinLnBrk="0" hangingPunct="1">
        <a:spcBef>
          <a:spcPct val="0"/>
        </a:spcBef>
        <a:buNone/>
        <a:defRPr sz="4200" kern="1200">
          <a:solidFill>
            <a:schemeClr val="tx2"/>
          </a:solidFill>
          <a:latin typeface="+mj-lt"/>
          <a:ea typeface="+mj-ea"/>
          <a:cs typeface="+mj-cs"/>
        </a:defRPr>
      </a:lvl1pPr>
      <a:extLst/>
    </p:titleStyle>
    <p:body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image" Target="../media/image7.jp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33.wmf"/></Relationships>
</file>

<file path=ppt/slides/_rels/slide28.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half" idx="2"/>
          </p:nvPr>
        </p:nvSpPr>
        <p:spPr>
          <a:xfrm>
            <a:off x="1600200" y="4114799"/>
            <a:ext cx="7315200" cy="953061"/>
          </a:xfrm>
        </p:spPr>
        <p:txBody>
          <a:bodyPr>
            <a:normAutofit fontScale="92500" lnSpcReduction="10000"/>
          </a:bodyPr>
          <a:lstStyle/>
          <a:p>
            <a:r>
              <a:rPr lang="en-US" dirty="0"/>
              <a:t>Reading: Chapter 1 (Organizational Behavior by Stephen P. Robbins, 15</a:t>
            </a:r>
            <a:r>
              <a:rPr lang="en-US" baseline="30000" dirty="0"/>
              <a:t>th</a:t>
            </a:r>
            <a:r>
              <a:rPr lang="en-US" dirty="0"/>
              <a:t> ed.)</a:t>
            </a:r>
          </a:p>
          <a:p>
            <a:endParaRPr lang="en-US" dirty="0"/>
          </a:p>
          <a:p>
            <a:r>
              <a:rPr lang="en-US" dirty="0"/>
              <a:t>Instructor: Dr. Muhammad Rafiq</a:t>
            </a:r>
          </a:p>
        </p:txBody>
      </p:sp>
      <p:sp>
        <p:nvSpPr>
          <p:cNvPr id="4" name="Title 3"/>
          <p:cNvSpPr>
            <a:spLocks noGrp="1"/>
          </p:cNvSpPr>
          <p:nvPr>
            <p:ph type="title"/>
          </p:nvPr>
        </p:nvSpPr>
        <p:spPr/>
        <p:txBody>
          <a:bodyPr>
            <a:normAutofit fontScale="90000"/>
          </a:bodyPr>
          <a:lstStyle/>
          <a:p>
            <a:r>
              <a:rPr lang="en-US" b="1" dirty="0"/>
              <a:t>Organizational Behavior</a:t>
            </a:r>
          </a:p>
        </p:txBody>
      </p:sp>
      <p:pic>
        <p:nvPicPr>
          <p:cNvPr id="15" name="Picture 14" descr="National_University_of_Computer_and_Emerging_Sciences_logo.png"/>
          <p:cNvPicPr>
            <a:picLocks noChangeAspect="1"/>
          </p:cNvPicPr>
          <p:nvPr/>
        </p:nvPicPr>
        <p:blipFill>
          <a:blip r:embed="rId3"/>
          <a:stretch>
            <a:fillRect/>
          </a:stretch>
        </p:blipFill>
        <p:spPr>
          <a:xfrm>
            <a:off x="34072" y="56682"/>
            <a:ext cx="1376020" cy="1380254"/>
          </a:xfrm>
          <a:prstGeom prst="rect">
            <a:avLst/>
          </a:prstGeom>
        </p:spPr>
      </p:pic>
      <p:sp>
        <p:nvSpPr>
          <p:cNvPr id="7" name="Slide Number Placeholder 6"/>
          <p:cNvSpPr>
            <a:spLocks noGrp="1"/>
          </p:cNvSpPr>
          <p:nvPr>
            <p:ph type="sldNum" sz="quarter" idx="11"/>
          </p:nvPr>
        </p:nvSpPr>
        <p:spPr/>
        <p:txBody>
          <a:bodyPr>
            <a:normAutofit fontScale="92500"/>
          </a:bodyPr>
          <a:lstStyle/>
          <a:p>
            <a:pPr algn="ctr"/>
            <a:r>
              <a:rPr lang="en-US" dirty="0"/>
              <a:t>MG2001</a:t>
            </a:r>
            <a:endParaRPr lang="en-US" sz="2800" dirty="0"/>
          </a:p>
        </p:txBody>
      </p:sp>
      <p:sp>
        <p:nvSpPr>
          <p:cNvPr id="50178" name="AutoShape 2" descr="Image result for Management"/>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 name="Picture Placeholder 1"/>
          <p:cNvPicPr>
            <a:picLocks noGrp="1" noChangeAspect="1"/>
          </p:cNvPicPr>
          <p:nvPr>
            <p:ph type="pic" idx="1"/>
          </p:nvPr>
        </p:nvPicPr>
        <p:blipFill>
          <a:blip r:embed="rId4">
            <a:extLst>
              <a:ext uri="{28A0092B-C50C-407E-A947-70E740481C1C}">
                <a14:useLocalDpi xmlns:a14="http://schemas.microsoft.com/office/drawing/2010/main" val="0"/>
              </a:ext>
            </a:extLst>
          </a:blip>
          <a:srcRect t="19710" b="19710"/>
          <a:stretch>
            <a:fillRect/>
          </a:stretch>
        </p:blipFill>
        <p:spPr/>
      </p:pic>
      <p:pic>
        <p:nvPicPr>
          <p:cNvPr id="10" name="Picture 9"/>
          <p:cNvPicPr>
            <a:picLocks noChangeAspect="1"/>
          </p:cNvPicPr>
          <p:nvPr/>
        </p:nvPicPr>
        <p:blipFill rotWithShape="1">
          <a:blip r:embed="rId5">
            <a:extLst>
              <a:ext uri="{28A0092B-C50C-407E-A947-70E740481C1C}">
                <a14:useLocalDpi xmlns:a14="http://schemas.microsoft.com/office/drawing/2010/main" val="0"/>
              </a:ext>
            </a:extLst>
          </a:blip>
          <a:srcRect b="19127"/>
          <a:stretch/>
        </p:blipFill>
        <p:spPr>
          <a:xfrm>
            <a:off x="1524000" y="0"/>
            <a:ext cx="7543801" cy="3431768"/>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198" y="4141010"/>
            <a:ext cx="1245767" cy="926851"/>
          </a:xfrm>
          <a:prstGeom prst="rect">
            <a:avLst/>
          </a:prstGeom>
        </p:spPr>
      </p:pic>
    </p:spTree>
  </p:cSld>
  <p:clrMapOvr>
    <a:masterClrMapping/>
  </p:clrMapOvr>
  <p:transition>
    <p:pull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chemeClr val="tx1"/>
                </a:solidFill>
              </a:rPr>
              <a:t>Books to follow</a:t>
            </a:r>
          </a:p>
        </p:txBody>
      </p:sp>
      <p:sp>
        <p:nvSpPr>
          <p:cNvPr id="5" name="Slide Number Placeholder 4"/>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2</a:t>
            </a:fld>
            <a:endParaRPr lang="en-US"/>
          </a:p>
        </p:txBody>
      </p:sp>
      <p:graphicFrame>
        <p:nvGraphicFramePr>
          <p:cNvPr id="7" name="Content Placeholder 6"/>
          <p:cNvGraphicFramePr>
            <a:graphicFrameLocks noGrp="1"/>
          </p:cNvGraphicFramePr>
          <p:nvPr>
            <p:ph sz="quarter" idx="13"/>
            <p:extLst>
              <p:ext uri="{D42A27DB-BD31-4B8C-83A1-F6EECF244321}">
                <p14:modId xmlns:p14="http://schemas.microsoft.com/office/powerpoint/2010/main" val="3605801454"/>
              </p:ext>
            </p:extLst>
          </p:nvPr>
        </p:nvGraphicFramePr>
        <p:xfrm>
          <a:off x="609600" y="1352550"/>
          <a:ext cx="8153400" cy="3048000"/>
        </p:xfrm>
        <a:graphic>
          <a:graphicData uri="http://schemas.openxmlformats.org/drawingml/2006/table">
            <a:tbl>
              <a:tblPr/>
              <a:tblGrid>
                <a:gridCol w="4572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4910209">
                  <a:extLst>
                    <a:ext uri="{9D8B030D-6E8A-4147-A177-3AD203B41FA5}">
                      <a16:colId xmlns:a16="http://schemas.microsoft.com/office/drawing/2014/main" val="20002"/>
                    </a:ext>
                  </a:extLst>
                </a:gridCol>
                <a:gridCol w="1261991">
                  <a:extLst>
                    <a:ext uri="{9D8B030D-6E8A-4147-A177-3AD203B41FA5}">
                      <a16:colId xmlns:a16="http://schemas.microsoft.com/office/drawing/2014/main" val="20003"/>
                    </a:ext>
                  </a:extLst>
                </a:gridCol>
              </a:tblGrid>
              <a:tr h="273193">
                <a:tc rowSpan="2" gridSpan="2">
                  <a:txBody>
                    <a:bodyPr/>
                    <a:lstStyle/>
                    <a:p>
                      <a:pPr marL="0" marR="0" algn="ctr">
                        <a:lnSpc>
                          <a:spcPct val="115000"/>
                        </a:lnSpc>
                        <a:spcBef>
                          <a:spcPts val="0"/>
                        </a:spcBef>
                        <a:spcAft>
                          <a:spcPts val="0"/>
                        </a:spcAft>
                      </a:pPr>
                      <a:r>
                        <a:rPr lang="en-US" sz="1800" b="1" dirty="0">
                          <a:latin typeface="+mn-lt"/>
                          <a:ea typeface="Times New Roman"/>
                        </a:rPr>
                        <a:t>Title of Book</a:t>
                      </a:r>
                      <a:endParaRPr lang="en-US" sz="1800" dirty="0">
                        <a:latin typeface="+mn-lt"/>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5B8B7"/>
                    </a:solidFill>
                  </a:tcPr>
                </a:tc>
                <a:tc rowSpan="2" hMerge="1">
                  <a:txBody>
                    <a:bodyPr/>
                    <a:lstStyle/>
                    <a:p>
                      <a:endParaRPr lang="en-US"/>
                    </a:p>
                  </a:txBody>
                  <a:tcPr/>
                </a:tc>
                <a:tc rowSpan="2">
                  <a:txBody>
                    <a:bodyPr/>
                    <a:lstStyle/>
                    <a:p>
                      <a:pPr marL="0" marR="0">
                        <a:lnSpc>
                          <a:spcPct val="115000"/>
                        </a:lnSpc>
                        <a:spcBef>
                          <a:spcPts val="0"/>
                        </a:spcBef>
                        <a:spcAft>
                          <a:spcPts val="0"/>
                        </a:spcAft>
                      </a:pPr>
                      <a:r>
                        <a:rPr lang="en-US" sz="2000" b="1" kern="1200" dirty="0">
                          <a:solidFill>
                            <a:srgbClr val="C00000"/>
                          </a:solidFill>
                          <a:effectLst/>
                          <a:latin typeface="+mn-lt"/>
                          <a:ea typeface="+mn-ea"/>
                          <a:cs typeface="+mn-cs"/>
                        </a:rPr>
                        <a:t>Organizational Behavior</a:t>
                      </a:r>
                      <a:endParaRPr lang="en-US" sz="2000" dirty="0">
                        <a:solidFill>
                          <a:srgbClr val="C00000"/>
                        </a:solidFill>
                        <a:latin typeface="+mn-lt"/>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b="1">
                          <a:latin typeface="+mn-lt"/>
                          <a:ea typeface="Times New Roman"/>
                        </a:rPr>
                        <a:t>Edition</a:t>
                      </a:r>
                      <a:endParaRPr lang="en-US" sz="180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5B8B7"/>
                    </a:solidFill>
                  </a:tcPr>
                </a:tc>
                <a:extLst>
                  <a:ext uri="{0D108BD9-81ED-4DB2-BD59-A6C34878D82A}">
                    <a16:rowId xmlns:a16="http://schemas.microsoft.com/office/drawing/2014/main" val="10000"/>
                  </a:ext>
                </a:extLst>
              </a:tr>
              <a:tr h="303548">
                <a:tc gridSpan="2" vMerge="1">
                  <a:txBody>
                    <a:bodyPr/>
                    <a:lstStyle/>
                    <a:p>
                      <a:endParaRPr lang="en-US"/>
                    </a:p>
                  </a:txBody>
                  <a:tcPr/>
                </a:tc>
                <a:tc hMerge="1" vMerge="1">
                  <a:txBody>
                    <a:bodyPr/>
                    <a:lstStyle/>
                    <a:p>
                      <a:endParaRPr lang="en-US"/>
                    </a:p>
                  </a:txBody>
                  <a:tcPr/>
                </a:tc>
                <a:tc vMerge="1">
                  <a:txBody>
                    <a:bodyPr/>
                    <a:lstStyle/>
                    <a:p>
                      <a:endParaRPr lang="en-US"/>
                    </a:p>
                  </a:txBody>
                  <a:tcPr/>
                </a:tc>
                <a:tc>
                  <a:txBody>
                    <a:bodyPr/>
                    <a:lstStyle/>
                    <a:p>
                      <a:pPr marL="0" marR="0" algn="ctr">
                        <a:lnSpc>
                          <a:spcPct val="115000"/>
                        </a:lnSpc>
                        <a:spcBef>
                          <a:spcPts val="0"/>
                        </a:spcBef>
                        <a:spcAft>
                          <a:spcPts val="0"/>
                        </a:spcAft>
                      </a:pPr>
                      <a:r>
                        <a:rPr lang="en-US" sz="1800" dirty="0">
                          <a:solidFill>
                            <a:srgbClr val="C00000"/>
                          </a:solidFill>
                          <a:latin typeface="+mn-lt"/>
                          <a:ea typeface="Times New Roman"/>
                        </a:rPr>
                        <a:t>15</a:t>
                      </a:r>
                      <a:r>
                        <a:rPr lang="en-US" sz="1800" baseline="30000" dirty="0">
                          <a:solidFill>
                            <a:srgbClr val="C00000"/>
                          </a:solidFill>
                          <a:latin typeface="+mn-lt"/>
                          <a:ea typeface="Times New Roman"/>
                        </a:rPr>
                        <a:t>th</a:t>
                      </a:r>
                      <a:r>
                        <a:rPr lang="en-US" sz="1800" dirty="0">
                          <a:solidFill>
                            <a:srgbClr val="C00000"/>
                          </a:solidFill>
                          <a:latin typeface="+mn-lt"/>
                          <a:ea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15646">
                <a:tc gridSpan="2">
                  <a:txBody>
                    <a:bodyPr/>
                    <a:lstStyle/>
                    <a:p>
                      <a:pPr marL="0" marR="0" algn="ctr">
                        <a:lnSpc>
                          <a:spcPct val="115000"/>
                        </a:lnSpc>
                        <a:spcBef>
                          <a:spcPts val="0"/>
                        </a:spcBef>
                        <a:spcAft>
                          <a:spcPts val="0"/>
                        </a:spcAft>
                      </a:pPr>
                      <a:r>
                        <a:rPr lang="en-US" sz="1800" b="1" dirty="0">
                          <a:latin typeface="+mn-lt"/>
                          <a:ea typeface="Times New Roman"/>
                        </a:rPr>
                        <a:t>Author</a:t>
                      </a:r>
                      <a:endParaRPr lang="en-US" sz="1800" dirty="0">
                        <a:latin typeface="+mn-lt"/>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5B8B7"/>
                    </a:solidFill>
                  </a:tcPr>
                </a:tc>
                <a:tc hMerge="1">
                  <a:txBody>
                    <a:bodyPr/>
                    <a:lstStyle/>
                    <a:p>
                      <a:endParaRPr lang="en-US"/>
                    </a:p>
                  </a:txBody>
                  <a:tcPr/>
                </a:tc>
                <a:tc gridSpan="2">
                  <a:txBody>
                    <a:bodyPr/>
                    <a:lstStyle/>
                    <a:p>
                      <a:pPr marL="0" marR="0">
                        <a:lnSpc>
                          <a:spcPct val="115000"/>
                        </a:lnSpc>
                        <a:spcBef>
                          <a:spcPts val="0"/>
                        </a:spcBef>
                        <a:spcAft>
                          <a:spcPts val="0"/>
                        </a:spcAft>
                      </a:pPr>
                      <a:r>
                        <a:rPr lang="en-US" sz="1800" kern="1200" dirty="0">
                          <a:solidFill>
                            <a:srgbClr val="C00000"/>
                          </a:solidFill>
                          <a:effectLst/>
                          <a:latin typeface="+mn-lt"/>
                          <a:ea typeface="+mn-ea"/>
                          <a:cs typeface="+mn-cs"/>
                        </a:rPr>
                        <a:t>Stephen P. Robbins, Timothy A. Judge, </a:t>
                      </a:r>
                      <a:r>
                        <a:rPr lang="en-US" sz="1800" kern="1200" dirty="0" err="1">
                          <a:solidFill>
                            <a:srgbClr val="C00000"/>
                          </a:solidFill>
                          <a:effectLst/>
                          <a:latin typeface="+mn-lt"/>
                          <a:ea typeface="+mn-ea"/>
                          <a:cs typeface="+mn-cs"/>
                        </a:rPr>
                        <a:t>Neharika</a:t>
                      </a:r>
                      <a:r>
                        <a:rPr lang="en-US" sz="1800" kern="1200" dirty="0">
                          <a:solidFill>
                            <a:srgbClr val="C00000"/>
                          </a:solidFill>
                          <a:effectLst/>
                          <a:latin typeface="+mn-lt"/>
                          <a:ea typeface="+mn-ea"/>
                          <a:cs typeface="+mn-cs"/>
                        </a:rPr>
                        <a:t> </a:t>
                      </a:r>
                      <a:r>
                        <a:rPr lang="en-US" sz="1800" kern="1200" dirty="0" err="1">
                          <a:solidFill>
                            <a:srgbClr val="C00000"/>
                          </a:solidFill>
                          <a:effectLst/>
                          <a:latin typeface="+mn-lt"/>
                          <a:ea typeface="+mn-ea"/>
                          <a:cs typeface="+mn-cs"/>
                        </a:rPr>
                        <a:t>Vohra</a:t>
                      </a:r>
                      <a:endParaRPr lang="en-US" sz="1800" dirty="0">
                        <a:solidFill>
                          <a:srgbClr val="C00000"/>
                        </a:solidFill>
                        <a:latin typeface="+mn-lt"/>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2"/>
                  </a:ext>
                </a:extLst>
              </a:tr>
              <a:tr h="303548">
                <a:tc gridSpan="2">
                  <a:txBody>
                    <a:bodyPr/>
                    <a:lstStyle/>
                    <a:p>
                      <a:pPr marL="0" marR="0" algn="ctr">
                        <a:lnSpc>
                          <a:spcPct val="115000"/>
                        </a:lnSpc>
                        <a:spcBef>
                          <a:spcPts val="0"/>
                        </a:spcBef>
                        <a:spcAft>
                          <a:spcPts val="0"/>
                        </a:spcAft>
                      </a:pPr>
                      <a:r>
                        <a:rPr lang="en-US" sz="1800" b="1">
                          <a:latin typeface="+mn-lt"/>
                          <a:ea typeface="Times New Roman"/>
                        </a:rPr>
                        <a:t>Publisher</a:t>
                      </a:r>
                      <a:endParaRPr lang="en-US" sz="1800">
                        <a:latin typeface="+mn-lt"/>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5B8B7"/>
                    </a:solidFill>
                  </a:tcPr>
                </a:tc>
                <a:tc hMerge="1">
                  <a:txBody>
                    <a:bodyPr/>
                    <a:lstStyle/>
                    <a:p>
                      <a:endParaRPr lang="en-US"/>
                    </a:p>
                  </a:txBody>
                  <a:tcPr/>
                </a:tc>
                <a:tc gridSpan="2">
                  <a:txBody>
                    <a:bodyPr/>
                    <a:lstStyle/>
                    <a:p>
                      <a:pPr marL="0" marR="0">
                        <a:lnSpc>
                          <a:spcPct val="115000"/>
                        </a:lnSpc>
                        <a:spcBef>
                          <a:spcPts val="0"/>
                        </a:spcBef>
                        <a:spcAft>
                          <a:spcPts val="0"/>
                        </a:spcAft>
                      </a:pPr>
                      <a:r>
                        <a:rPr lang="en-US" sz="1800" kern="1200" dirty="0">
                          <a:solidFill>
                            <a:srgbClr val="C00000"/>
                          </a:solidFill>
                          <a:effectLst/>
                          <a:latin typeface="+mn-lt"/>
                          <a:ea typeface="+mn-ea"/>
                          <a:cs typeface="+mn-cs"/>
                        </a:rPr>
                        <a:t>Pearson – Prentice Hall</a:t>
                      </a:r>
                      <a:endParaRPr lang="en-US" sz="1800" dirty="0">
                        <a:solidFill>
                          <a:srgbClr val="C00000"/>
                        </a:solidFill>
                        <a:latin typeface="+mn-lt"/>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dirty="0"/>
                    </a:p>
                  </a:txBody>
                  <a:tcPr/>
                </a:tc>
                <a:extLst>
                  <a:ext uri="{0D108BD9-81ED-4DB2-BD59-A6C34878D82A}">
                    <a16:rowId xmlns:a16="http://schemas.microsoft.com/office/drawing/2014/main" val="10003"/>
                  </a:ext>
                </a:extLst>
              </a:tr>
              <a:tr h="175666">
                <a:tc rowSpan="2">
                  <a:txBody>
                    <a:bodyPr/>
                    <a:lstStyle/>
                    <a:p>
                      <a:pPr marL="0" marR="0" algn="ctr">
                        <a:lnSpc>
                          <a:spcPct val="115000"/>
                        </a:lnSpc>
                        <a:spcBef>
                          <a:spcPts val="0"/>
                        </a:spcBef>
                        <a:spcAft>
                          <a:spcPts val="0"/>
                        </a:spcAft>
                      </a:pPr>
                      <a:r>
                        <a:rPr lang="en-US" sz="1800">
                          <a:latin typeface="+mn-lt"/>
                          <a:ea typeface="Times New Roman"/>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DBDB"/>
                    </a:solidFill>
                  </a:tcPr>
                </a:tc>
                <a:tc>
                  <a:txBody>
                    <a:bodyPr/>
                    <a:lstStyle/>
                    <a:p>
                      <a:pPr marL="0" marR="0">
                        <a:lnSpc>
                          <a:spcPct val="115000"/>
                        </a:lnSpc>
                        <a:spcBef>
                          <a:spcPts val="0"/>
                        </a:spcBef>
                        <a:spcAft>
                          <a:spcPts val="0"/>
                        </a:spcAft>
                      </a:pPr>
                      <a:r>
                        <a:rPr lang="en-US" sz="1800" b="1" dirty="0">
                          <a:latin typeface="+mn-lt"/>
                          <a:ea typeface="Times New Roman"/>
                        </a:rPr>
                        <a:t>Title of Book</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DBDB"/>
                    </a:solidFill>
                  </a:tcPr>
                </a:tc>
                <a:tc gridSpan="2">
                  <a:txBody>
                    <a:bodyPr/>
                    <a:lstStyle/>
                    <a:p>
                      <a:pPr marL="0" marR="0">
                        <a:lnSpc>
                          <a:spcPct val="115000"/>
                        </a:lnSpc>
                        <a:spcBef>
                          <a:spcPts val="0"/>
                        </a:spcBef>
                        <a:spcAft>
                          <a:spcPts val="0"/>
                        </a:spcAft>
                      </a:pPr>
                      <a:r>
                        <a:rPr lang="en-US" sz="1800" b="1" kern="1200" dirty="0">
                          <a:solidFill>
                            <a:schemeClr val="tx1"/>
                          </a:solidFill>
                          <a:effectLst/>
                          <a:latin typeface="+mn-lt"/>
                          <a:ea typeface="+mn-ea"/>
                          <a:cs typeface="+mn-cs"/>
                        </a:rPr>
                        <a:t>Organizational Behavior</a:t>
                      </a:r>
                      <a:r>
                        <a:rPr lang="en-US" sz="1800" kern="1200" dirty="0">
                          <a:solidFill>
                            <a:schemeClr val="tx1"/>
                          </a:solidFill>
                          <a:effectLst/>
                          <a:latin typeface="+mn-lt"/>
                          <a:ea typeface="+mn-ea"/>
                          <a:cs typeface="+mn-cs"/>
                        </a:rPr>
                        <a:t>: An evidence based approach</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4"/>
                  </a:ext>
                </a:extLst>
              </a:tr>
              <a:tr h="141820">
                <a:tc vMerge="1">
                  <a:txBody>
                    <a:bodyPr/>
                    <a:lstStyle/>
                    <a:p>
                      <a:endParaRPr lang="en-US"/>
                    </a:p>
                  </a:txBody>
                  <a:tcPr/>
                </a:tc>
                <a:tc>
                  <a:txBody>
                    <a:bodyPr/>
                    <a:lstStyle/>
                    <a:p>
                      <a:pPr marL="0" marR="0">
                        <a:lnSpc>
                          <a:spcPct val="115000"/>
                        </a:lnSpc>
                        <a:spcBef>
                          <a:spcPts val="0"/>
                        </a:spcBef>
                        <a:spcAft>
                          <a:spcPts val="0"/>
                        </a:spcAft>
                      </a:pPr>
                      <a:r>
                        <a:rPr lang="en-US" sz="1800">
                          <a:latin typeface="+mn-lt"/>
                          <a:ea typeface="Times New Roman"/>
                        </a:rPr>
                        <a:t>Imprint details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DBDB"/>
                    </a:solidFill>
                  </a:tcPr>
                </a:tc>
                <a:tc gridSpan="2">
                  <a:txBody>
                    <a:bodyPr/>
                    <a:lstStyle/>
                    <a:p>
                      <a:pPr marL="0" marR="0">
                        <a:lnSpc>
                          <a:spcPct val="115000"/>
                        </a:lnSpc>
                        <a:spcBef>
                          <a:spcPts val="0"/>
                        </a:spcBef>
                        <a:spcAft>
                          <a:spcPts val="0"/>
                        </a:spcAft>
                      </a:pPr>
                      <a:r>
                        <a:rPr lang="en-US" sz="1800" kern="1200" dirty="0">
                          <a:solidFill>
                            <a:schemeClr val="tx1"/>
                          </a:solidFill>
                          <a:effectLst/>
                          <a:latin typeface="+mn-lt"/>
                          <a:ea typeface="+mn-ea"/>
                          <a:cs typeface="+mn-cs"/>
                        </a:rPr>
                        <a:t>By: Fred </a:t>
                      </a:r>
                      <a:r>
                        <a:rPr lang="en-US" sz="1800" kern="1200" dirty="0" err="1">
                          <a:solidFill>
                            <a:schemeClr val="tx1"/>
                          </a:solidFill>
                          <a:effectLst/>
                          <a:latin typeface="+mn-lt"/>
                          <a:ea typeface="+mn-ea"/>
                          <a:cs typeface="+mn-cs"/>
                        </a:rPr>
                        <a:t>Luthans</a:t>
                      </a:r>
                      <a:r>
                        <a:rPr lang="en-US" sz="1800" kern="1200" dirty="0">
                          <a:solidFill>
                            <a:schemeClr val="tx1"/>
                          </a:solidFill>
                          <a:effectLst/>
                          <a:latin typeface="+mn-lt"/>
                          <a:ea typeface="+mn-ea"/>
                          <a:cs typeface="+mn-cs"/>
                        </a:rPr>
                        <a:t> (12</a:t>
                      </a:r>
                      <a:r>
                        <a:rPr lang="en-US" sz="1800" kern="1200" baseline="30000" dirty="0">
                          <a:solidFill>
                            <a:schemeClr val="tx1"/>
                          </a:solidFill>
                          <a:effectLst/>
                          <a:latin typeface="+mn-lt"/>
                          <a:ea typeface="+mn-ea"/>
                          <a:cs typeface="+mn-cs"/>
                        </a:rPr>
                        <a:t>th</a:t>
                      </a:r>
                      <a:r>
                        <a:rPr lang="en-US" sz="1800" kern="1200" dirty="0">
                          <a:solidFill>
                            <a:schemeClr val="tx1"/>
                          </a:solidFill>
                          <a:effectLst/>
                          <a:latin typeface="+mn-lt"/>
                          <a:ea typeface="+mn-ea"/>
                          <a:cs typeface="+mn-cs"/>
                        </a:rPr>
                        <a:t> edition - 2013) – McGraw-Hill</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5"/>
                  </a:ext>
                </a:extLst>
              </a:tr>
              <a:tr h="303548">
                <a:tc rowSpan="2">
                  <a:txBody>
                    <a:bodyPr/>
                    <a:lstStyle/>
                    <a:p>
                      <a:pPr marL="0" marR="0" algn="ctr">
                        <a:lnSpc>
                          <a:spcPct val="115000"/>
                        </a:lnSpc>
                        <a:spcBef>
                          <a:spcPts val="0"/>
                        </a:spcBef>
                        <a:spcAft>
                          <a:spcPts val="0"/>
                        </a:spcAft>
                      </a:pPr>
                      <a:r>
                        <a:rPr lang="en-US" sz="1800">
                          <a:latin typeface="+mn-lt"/>
                          <a:ea typeface="Times New Roman"/>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DBDB"/>
                    </a:solidFill>
                  </a:tcPr>
                </a:tc>
                <a:tc>
                  <a:txBody>
                    <a:bodyPr/>
                    <a:lstStyle/>
                    <a:p>
                      <a:pPr marL="0" marR="0">
                        <a:lnSpc>
                          <a:spcPct val="115000"/>
                        </a:lnSpc>
                        <a:spcBef>
                          <a:spcPts val="0"/>
                        </a:spcBef>
                        <a:spcAft>
                          <a:spcPts val="0"/>
                        </a:spcAft>
                      </a:pPr>
                      <a:r>
                        <a:rPr lang="en-US" sz="1800" b="1" dirty="0">
                          <a:latin typeface="+mn-lt"/>
                          <a:ea typeface="Times New Roman"/>
                        </a:rPr>
                        <a:t>Title of Book</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DBDB"/>
                    </a:solidFill>
                  </a:tcPr>
                </a:tc>
                <a:tc gridSpan="2">
                  <a:txBody>
                    <a:bodyPr/>
                    <a:lstStyle/>
                    <a:p>
                      <a:pPr marL="0" marR="0">
                        <a:lnSpc>
                          <a:spcPct val="115000"/>
                        </a:lnSpc>
                        <a:spcBef>
                          <a:spcPts val="0"/>
                        </a:spcBef>
                        <a:spcAft>
                          <a:spcPts val="0"/>
                        </a:spcAft>
                      </a:pPr>
                      <a:r>
                        <a:rPr lang="en-US" sz="1800" b="1" kern="1200" dirty="0">
                          <a:solidFill>
                            <a:schemeClr val="tx1"/>
                          </a:solidFill>
                          <a:effectLst/>
                          <a:latin typeface="+mn-lt"/>
                          <a:ea typeface="+mn-ea"/>
                          <a:cs typeface="+mn-cs"/>
                        </a:rPr>
                        <a:t>Principles of Organizational Behavior (</a:t>
                      </a:r>
                      <a:r>
                        <a:rPr lang="en-US" sz="1800" kern="1200" dirty="0">
                          <a:solidFill>
                            <a:schemeClr val="tx1"/>
                          </a:solidFill>
                          <a:effectLst/>
                          <a:latin typeface="+mn-lt"/>
                          <a:ea typeface="+mn-ea"/>
                          <a:cs typeface="+mn-cs"/>
                        </a:rPr>
                        <a:t>3</a:t>
                      </a:r>
                      <a:r>
                        <a:rPr lang="en-US" sz="1800" kern="1200" baseline="30000" dirty="0">
                          <a:solidFill>
                            <a:schemeClr val="tx1"/>
                          </a:solidFill>
                          <a:effectLst/>
                          <a:latin typeface="+mn-lt"/>
                          <a:ea typeface="+mn-ea"/>
                          <a:cs typeface="+mn-cs"/>
                        </a:rPr>
                        <a:t>rd</a:t>
                      </a:r>
                      <a:r>
                        <a:rPr lang="en-US" sz="1800" kern="1200" dirty="0">
                          <a:solidFill>
                            <a:schemeClr val="tx1"/>
                          </a:solidFill>
                          <a:effectLst/>
                          <a:latin typeface="+mn-lt"/>
                          <a:ea typeface="+mn-ea"/>
                          <a:cs typeface="+mn-cs"/>
                        </a:rPr>
                        <a:t> edition - 2012)</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6"/>
                  </a:ext>
                </a:extLst>
              </a:tr>
              <a:tr h="261626">
                <a:tc vMerge="1">
                  <a:txBody>
                    <a:bodyPr/>
                    <a:lstStyle/>
                    <a:p>
                      <a:endParaRPr lang="en-US"/>
                    </a:p>
                  </a:txBody>
                  <a:tcPr/>
                </a:tc>
                <a:tc>
                  <a:txBody>
                    <a:bodyPr/>
                    <a:lstStyle/>
                    <a:p>
                      <a:pPr marL="0" marR="0">
                        <a:lnSpc>
                          <a:spcPct val="115000"/>
                        </a:lnSpc>
                        <a:spcBef>
                          <a:spcPts val="0"/>
                        </a:spcBef>
                        <a:spcAft>
                          <a:spcPts val="0"/>
                        </a:spcAft>
                      </a:pPr>
                      <a:r>
                        <a:rPr lang="en-US" sz="1800">
                          <a:latin typeface="+mn-lt"/>
                          <a:ea typeface="Times New Roman"/>
                        </a:rPr>
                        <a:t>Imprint details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DBDB"/>
                    </a:solidFill>
                  </a:tcPr>
                </a:tc>
                <a:tc gridSpan="2">
                  <a:txBody>
                    <a:bodyPr/>
                    <a:lstStyle/>
                    <a:p>
                      <a:pPr marL="0" marR="0">
                        <a:lnSpc>
                          <a:spcPct val="115000"/>
                        </a:lnSpc>
                        <a:spcBef>
                          <a:spcPts val="0"/>
                        </a:spcBef>
                        <a:spcAft>
                          <a:spcPts val="0"/>
                        </a:spcAft>
                      </a:pPr>
                      <a:r>
                        <a:rPr lang="en-US" sz="1800" kern="1200" dirty="0">
                          <a:solidFill>
                            <a:schemeClr val="tx1"/>
                          </a:solidFill>
                          <a:effectLst/>
                          <a:latin typeface="+mn-lt"/>
                          <a:ea typeface="+mn-ea"/>
                          <a:cs typeface="+mn-cs"/>
                        </a:rPr>
                        <a:t>By: </a:t>
                      </a:r>
                      <a:r>
                        <a:rPr lang="en-GB" sz="1800" kern="1200" dirty="0">
                          <a:solidFill>
                            <a:schemeClr val="tx1"/>
                          </a:solidFill>
                          <a:effectLst/>
                          <a:latin typeface="+mn-lt"/>
                          <a:ea typeface="+mn-ea"/>
                          <a:cs typeface="+mn-cs"/>
                        </a:rPr>
                        <a:t>R. </a:t>
                      </a:r>
                      <a:r>
                        <a:rPr lang="en-GB" sz="1800" kern="1200" dirty="0" err="1">
                          <a:solidFill>
                            <a:schemeClr val="tx1"/>
                          </a:solidFill>
                          <a:effectLst/>
                          <a:latin typeface="+mn-lt"/>
                          <a:ea typeface="+mn-ea"/>
                          <a:cs typeface="+mn-cs"/>
                        </a:rPr>
                        <a:t>Fincham</a:t>
                      </a:r>
                      <a:r>
                        <a:rPr lang="en-GB" sz="1800" kern="1200" dirty="0">
                          <a:solidFill>
                            <a:schemeClr val="tx1"/>
                          </a:solidFill>
                          <a:effectLst/>
                          <a:latin typeface="+mn-lt"/>
                          <a:ea typeface="+mn-ea"/>
                          <a:cs typeface="+mn-cs"/>
                        </a:rPr>
                        <a:t>, P. Rhodes</a:t>
                      </a:r>
                      <a:r>
                        <a:rPr lang="en-US" sz="1800" kern="1200" dirty="0">
                          <a:solidFill>
                            <a:schemeClr val="tx1"/>
                          </a:solidFill>
                          <a:effectLst/>
                          <a:latin typeface="+mn-lt"/>
                          <a:ea typeface="+mn-ea"/>
                          <a:cs typeface="+mn-cs"/>
                        </a:rPr>
                        <a:t>; Oxford University Press</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7"/>
                  </a:ext>
                </a:extLst>
              </a:tr>
              <a:tr h="303548">
                <a:tc rowSpan="2">
                  <a:txBody>
                    <a:bodyPr/>
                    <a:lstStyle/>
                    <a:p>
                      <a:pPr marL="0" marR="0" algn="ctr">
                        <a:lnSpc>
                          <a:spcPct val="115000"/>
                        </a:lnSpc>
                        <a:spcBef>
                          <a:spcPts val="0"/>
                        </a:spcBef>
                        <a:spcAft>
                          <a:spcPts val="0"/>
                        </a:spcAft>
                      </a:pPr>
                      <a:r>
                        <a:rPr lang="en-US" sz="1800">
                          <a:latin typeface="+mn-lt"/>
                          <a:ea typeface="Times New Roman"/>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DBDB"/>
                    </a:solidFill>
                  </a:tcPr>
                </a:tc>
                <a:tc>
                  <a:txBody>
                    <a:bodyPr/>
                    <a:lstStyle/>
                    <a:p>
                      <a:pPr marL="0" marR="0">
                        <a:lnSpc>
                          <a:spcPct val="115000"/>
                        </a:lnSpc>
                        <a:spcBef>
                          <a:spcPts val="0"/>
                        </a:spcBef>
                        <a:spcAft>
                          <a:spcPts val="0"/>
                        </a:spcAft>
                      </a:pPr>
                      <a:r>
                        <a:rPr lang="en-US" sz="1800" b="1" dirty="0">
                          <a:latin typeface="+mn-lt"/>
                          <a:ea typeface="Times New Roman"/>
                        </a:rPr>
                        <a:t>Title of Book</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DBDB"/>
                    </a:solidFill>
                  </a:tcPr>
                </a:tc>
                <a:tc gridSpan="2">
                  <a:txBody>
                    <a:bodyPr/>
                    <a:lstStyle/>
                    <a:p>
                      <a:pPr marL="0" marR="0">
                        <a:lnSpc>
                          <a:spcPct val="115000"/>
                        </a:lnSpc>
                        <a:spcBef>
                          <a:spcPts val="0"/>
                        </a:spcBef>
                        <a:spcAft>
                          <a:spcPts val="0"/>
                        </a:spcAft>
                      </a:pPr>
                      <a:r>
                        <a:rPr lang="en-US" sz="1800" b="1" kern="1200" dirty="0">
                          <a:solidFill>
                            <a:schemeClr val="tx1"/>
                          </a:solidFill>
                          <a:effectLst/>
                          <a:latin typeface="+mn-lt"/>
                          <a:ea typeface="+mn-ea"/>
                          <a:cs typeface="+mn-cs"/>
                        </a:rPr>
                        <a:t>Essentials of Organizational Behavior</a:t>
                      </a:r>
                      <a:r>
                        <a:rPr lang="en-US" sz="1800" kern="1200" dirty="0">
                          <a:solidFill>
                            <a:schemeClr val="tx1"/>
                          </a:solidFill>
                          <a:effectLst/>
                          <a:latin typeface="+mn-lt"/>
                          <a:ea typeface="+mn-ea"/>
                          <a:cs typeface="+mn-cs"/>
                        </a:rPr>
                        <a:t> </a:t>
                      </a:r>
                      <a:r>
                        <a:rPr lang="en-US" sz="1800" dirty="0">
                          <a:latin typeface="+mn-lt"/>
                          <a:ea typeface="Times New Roman"/>
                        </a:rPr>
                        <a:t>(13</a:t>
                      </a:r>
                      <a:r>
                        <a:rPr lang="en-US" sz="1800" baseline="30000" dirty="0">
                          <a:latin typeface="+mn-lt"/>
                          <a:ea typeface="Times New Roman"/>
                        </a:rPr>
                        <a:t>th</a:t>
                      </a:r>
                      <a:r>
                        <a:rPr lang="en-US" sz="1800" baseline="0" dirty="0">
                          <a:latin typeface="+mn-lt"/>
                          <a:ea typeface="Times New Roman"/>
                        </a:rPr>
                        <a:t> </a:t>
                      </a:r>
                      <a:r>
                        <a:rPr lang="en-US" sz="1800" dirty="0">
                          <a:latin typeface="+mn-lt"/>
                          <a:ea typeface="Times New Roman"/>
                        </a:rPr>
                        <a:t>edition - 2017)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8"/>
                  </a:ext>
                </a:extLst>
              </a:tr>
              <a:tr h="337062">
                <a:tc vMerge="1">
                  <a:txBody>
                    <a:bodyPr/>
                    <a:lstStyle/>
                    <a:p>
                      <a:endParaRPr lang="en-US"/>
                    </a:p>
                  </a:txBody>
                  <a:tcPr/>
                </a:tc>
                <a:tc>
                  <a:txBody>
                    <a:bodyPr/>
                    <a:lstStyle/>
                    <a:p>
                      <a:pPr marL="0" marR="0">
                        <a:lnSpc>
                          <a:spcPct val="115000"/>
                        </a:lnSpc>
                        <a:spcBef>
                          <a:spcPts val="0"/>
                        </a:spcBef>
                        <a:spcAft>
                          <a:spcPts val="0"/>
                        </a:spcAft>
                      </a:pPr>
                      <a:r>
                        <a:rPr lang="en-US" sz="1800">
                          <a:latin typeface="+mn-lt"/>
                          <a:ea typeface="Times New Roman"/>
                        </a:rPr>
                        <a:t>Imprint details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DBDB"/>
                    </a:solidFill>
                  </a:tcPr>
                </a:tc>
                <a:tc gridSpan="2">
                  <a:txBody>
                    <a:bodyPr/>
                    <a:lstStyle/>
                    <a:p>
                      <a:pPr marL="0" marR="0">
                        <a:lnSpc>
                          <a:spcPct val="115000"/>
                        </a:lnSpc>
                        <a:spcBef>
                          <a:spcPts val="0"/>
                        </a:spcBef>
                        <a:spcAft>
                          <a:spcPts val="0"/>
                        </a:spcAft>
                      </a:pPr>
                      <a:r>
                        <a:rPr lang="en-US" sz="1800" kern="1200" dirty="0">
                          <a:solidFill>
                            <a:schemeClr val="tx1"/>
                          </a:solidFill>
                          <a:effectLst/>
                          <a:latin typeface="+mn-lt"/>
                          <a:ea typeface="+mn-ea"/>
                          <a:cs typeface="+mn-cs"/>
                        </a:rPr>
                        <a:t>By: Stephen P. Robbins, Timothy A. Judge; </a:t>
                      </a:r>
                      <a:r>
                        <a:rPr lang="en-GB" sz="1800" kern="1200" dirty="0">
                          <a:solidFill>
                            <a:schemeClr val="tx1"/>
                          </a:solidFill>
                          <a:effectLst/>
                          <a:latin typeface="+mn-lt"/>
                          <a:ea typeface="+mn-ea"/>
                          <a:cs typeface="+mn-cs"/>
                        </a:rPr>
                        <a:t>Pearson</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dirty="0"/>
                    </a:p>
                  </a:txBody>
                  <a:tcPr/>
                </a:tc>
                <a:extLst>
                  <a:ext uri="{0D108BD9-81ED-4DB2-BD59-A6C34878D82A}">
                    <a16:rowId xmlns:a16="http://schemas.microsoft.com/office/drawing/2014/main" val="10009"/>
                  </a:ext>
                </a:extLst>
              </a:tr>
            </a:tbl>
          </a:graphicData>
        </a:graphic>
      </p:graphicFrame>
    </p:spTree>
  </p:cSld>
  <p:clrMapOvr>
    <a:masterClrMapping/>
  </p:clrMapOvr>
  <p:transition>
    <p:pull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chemeClr val="tx1"/>
                </a:solidFill>
              </a:rPr>
              <a:t>Course Objectives</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3</a:t>
            </a:fld>
            <a:endParaRPr lang="en-US"/>
          </a:p>
        </p:txBody>
      </p:sp>
      <p:sp>
        <p:nvSpPr>
          <p:cNvPr id="4" name="Content Placeholder 3"/>
          <p:cNvSpPr>
            <a:spLocks noGrp="1"/>
          </p:cNvSpPr>
          <p:nvPr>
            <p:ph sz="quarter" idx="13"/>
          </p:nvPr>
        </p:nvSpPr>
        <p:spPr/>
        <p:txBody>
          <a:bodyPr>
            <a:noAutofit/>
          </a:bodyPr>
          <a:lstStyle/>
          <a:p>
            <a:r>
              <a:rPr lang="en-US" sz="1800" dirty="0"/>
              <a:t>To enable students to understand the importance of OB theory and concepts.</a:t>
            </a:r>
          </a:p>
          <a:p>
            <a:r>
              <a:rPr lang="en-GB" sz="1800" dirty="0"/>
              <a:t>To develop a deeper understanding of how the study of organisational behaviour can aid us in improving the performance and well being of people at work;</a:t>
            </a:r>
          </a:p>
          <a:p>
            <a:r>
              <a:rPr lang="en-GB" sz="1800" dirty="0"/>
              <a:t>To make understand how models, theories and concepts about organisational behaviour can be used to promote the effectiveness of individuals, groups and organizations;</a:t>
            </a:r>
          </a:p>
          <a:p>
            <a:r>
              <a:rPr lang="en-US" sz="1800" dirty="0"/>
              <a:t>To develop </a:t>
            </a:r>
            <a:r>
              <a:rPr lang="en-GB" sz="1800" dirty="0"/>
              <a:t>skills for the analysis of individual, group and organisational functioning that enhances their effectiveness as managers;</a:t>
            </a:r>
          </a:p>
          <a:p>
            <a:r>
              <a:rPr lang="en-GB" sz="1800" dirty="0"/>
              <a:t>To develop a richer and more complex representation of organisational </a:t>
            </a:r>
            <a:r>
              <a:rPr lang="en-GB" sz="1800" dirty="0" err="1"/>
              <a:t>behavior</a:t>
            </a:r>
            <a:r>
              <a:rPr lang="en-GB" sz="1800" dirty="0"/>
              <a:t>, enabling them to contribute more effectively in the workplace.</a:t>
            </a:r>
            <a:endParaRPr lang="en-US" sz="1800" dirty="0"/>
          </a:p>
          <a:p>
            <a:pPr>
              <a:spcAft>
                <a:spcPts val="1200"/>
              </a:spcAft>
              <a:defRPr/>
            </a:pPr>
            <a:endParaRPr lang="en-US" sz="1000" dirty="0"/>
          </a:p>
        </p:txBody>
      </p:sp>
    </p:spTree>
  </p:cSld>
  <p:clrMapOvr>
    <a:masterClrMapping/>
  </p:clrMapOvr>
  <p:transition>
    <p:pull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1034"/>
          <p:cNvSpPr>
            <a:spLocks noChangeArrowheads="1"/>
          </p:cNvSpPr>
          <p:nvPr/>
        </p:nvSpPr>
        <p:spPr bwMode="auto">
          <a:xfrm>
            <a:off x="1752600" y="1544837"/>
            <a:ext cx="5945188" cy="2093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ctr">
              <a:spcBef>
                <a:spcPct val="20000"/>
              </a:spcBef>
              <a:buClr>
                <a:schemeClr val="tx1"/>
              </a:buClr>
              <a:buFont typeface="Wingdings" pitchFamily="2" charset="2"/>
              <a:buNone/>
            </a:pPr>
            <a:r>
              <a:rPr lang="en-US" sz="4400" b="1" dirty="0">
                <a:solidFill>
                  <a:schemeClr val="bg2">
                    <a:lumMod val="50000"/>
                  </a:schemeClr>
                </a:solidFill>
                <a:latin typeface="Arial" pitchFamily="34" charset="0"/>
              </a:rPr>
              <a:t>Organizational Behavior</a:t>
            </a:r>
          </a:p>
          <a:p>
            <a:pPr marL="342900" indent="-342900" algn="ctr">
              <a:spcBef>
                <a:spcPct val="20000"/>
              </a:spcBef>
              <a:buClr>
                <a:schemeClr val="tx1"/>
              </a:buClr>
              <a:buFont typeface="Wingdings" pitchFamily="2" charset="2"/>
              <a:buNone/>
            </a:pPr>
            <a:endParaRPr lang="en-US" sz="4400" b="1" dirty="0">
              <a:solidFill>
                <a:schemeClr val="bg2">
                  <a:lumMod val="50000"/>
                </a:schemeClr>
              </a:solidFill>
              <a:latin typeface="Arial" pitchFamily="34" charset="0"/>
            </a:endParaRPr>
          </a:p>
          <a:p>
            <a:pPr marL="342900" indent="-342900" algn="ctr">
              <a:spcBef>
                <a:spcPct val="20000"/>
              </a:spcBef>
              <a:buClr>
                <a:schemeClr val="tx1"/>
              </a:buClr>
              <a:buFont typeface="Wingdings" pitchFamily="2" charset="2"/>
              <a:buNone/>
            </a:pPr>
            <a:r>
              <a:rPr lang="en-US" sz="4400" b="1" dirty="0">
                <a:solidFill>
                  <a:schemeClr val="bg2">
                    <a:lumMod val="50000"/>
                  </a:schemeClr>
                </a:solidFill>
                <a:latin typeface="Arial" pitchFamily="34" charset="0"/>
              </a:rPr>
              <a:t>Introduction </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285750"/>
            <a:ext cx="1499083" cy="1115318"/>
          </a:xfrm>
          <a:prstGeom prst="rect">
            <a:avLst/>
          </a:prstGeom>
        </p:spPr>
      </p:pic>
    </p:spTree>
    <p:extLst>
      <p:ext uri="{BB962C8B-B14F-4D97-AF65-F5344CB8AC3E}">
        <p14:creationId xmlns:p14="http://schemas.microsoft.com/office/powerpoint/2010/main" val="3210646461"/>
      </p:ext>
    </p:extLst>
  </p:cSld>
  <p:clrMapOvr>
    <a:masterClrMapping/>
  </p:clrMapOvr>
  <p:transition>
    <p:blinds/>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normAutofit lnSpcReduction="10000"/>
          </a:bodyPr>
          <a:lstStyle/>
          <a:p>
            <a:fld id="{A3F7CB7D-F184-43C7-B6FD-03D728E1BBFF}" type="slidenum">
              <a:rPr lang="en-US" smtClean="0">
                <a:solidFill>
                  <a:schemeClr val="tx2"/>
                </a:solidFill>
              </a:rPr>
              <a:pPr/>
              <a:t>5</a:t>
            </a:fld>
            <a:endParaRPr lang="en-US" dirty="0">
              <a:solidFill>
                <a:schemeClr val="tx2"/>
              </a:solidFill>
            </a:endParaRPr>
          </a:p>
        </p:txBody>
      </p:sp>
      <p:sp>
        <p:nvSpPr>
          <p:cNvPr id="3" name="Text Box 4"/>
          <p:cNvSpPr txBox="1">
            <a:spLocks noChangeArrowheads="1"/>
          </p:cNvSpPr>
          <p:nvPr/>
        </p:nvSpPr>
        <p:spPr bwMode="auto">
          <a:xfrm>
            <a:off x="762000" y="488811"/>
            <a:ext cx="6629400" cy="4216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spcBef>
                <a:spcPct val="50000"/>
              </a:spcBef>
            </a:pPr>
            <a:r>
              <a:rPr lang="en-US" sz="2800" b="1" dirty="0">
                <a:solidFill>
                  <a:srgbClr val="FF0000"/>
                </a:solidFill>
                <a:latin typeface="Aharoni" pitchFamily="2" charset="-79"/>
                <a:cs typeface="Aharoni" pitchFamily="2" charset="-79"/>
              </a:rPr>
              <a:t>Organizational Behavior (OB)</a:t>
            </a:r>
          </a:p>
          <a:p>
            <a:pPr algn="ctr" eaLnBrk="1" hangingPunct="1">
              <a:spcBef>
                <a:spcPct val="50000"/>
              </a:spcBef>
            </a:pPr>
            <a:r>
              <a:rPr lang="en-US" sz="3200" dirty="0">
                <a:latin typeface="Harlow Solid Italic" pitchFamily="82" charset="0"/>
              </a:rPr>
              <a:t>A field of study that </a:t>
            </a:r>
            <a:r>
              <a:rPr lang="en-US" sz="3200" dirty="0">
                <a:solidFill>
                  <a:srgbClr val="FF0000"/>
                </a:solidFill>
                <a:latin typeface="Harlow Solid Italic" pitchFamily="82" charset="0"/>
              </a:rPr>
              <a:t>investigates</a:t>
            </a:r>
            <a:r>
              <a:rPr lang="en-US" sz="3200" dirty="0">
                <a:latin typeface="Harlow Solid Italic" pitchFamily="82" charset="0"/>
              </a:rPr>
              <a:t> the impact that </a:t>
            </a:r>
            <a:r>
              <a:rPr lang="en-US" sz="3200" dirty="0">
                <a:solidFill>
                  <a:srgbClr val="FF0000"/>
                </a:solidFill>
                <a:latin typeface="Harlow Solid Italic" pitchFamily="82" charset="0"/>
              </a:rPr>
              <a:t>individuals, groups, and structure</a:t>
            </a:r>
            <a:r>
              <a:rPr lang="en-US" sz="3200" dirty="0">
                <a:latin typeface="Harlow Solid Italic" pitchFamily="82" charset="0"/>
              </a:rPr>
              <a:t> have on </a:t>
            </a:r>
            <a:r>
              <a:rPr lang="en-US" sz="3200" dirty="0">
                <a:solidFill>
                  <a:srgbClr val="FF0000"/>
                </a:solidFill>
                <a:latin typeface="Harlow Solid Italic" pitchFamily="82" charset="0"/>
              </a:rPr>
              <a:t>behavior</a:t>
            </a:r>
            <a:r>
              <a:rPr lang="en-US" sz="3200" dirty="0">
                <a:latin typeface="Harlow Solid Italic" pitchFamily="82" charset="0"/>
              </a:rPr>
              <a:t> within organizations, for the purpose of applying such knowledge toward improving an </a:t>
            </a:r>
            <a:r>
              <a:rPr lang="en-US" sz="3200" dirty="0">
                <a:solidFill>
                  <a:srgbClr val="FF0000"/>
                </a:solidFill>
                <a:latin typeface="Harlow Solid Italic" pitchFamily="82" charset="0"/>
              </a:rPr>
              <a:t>organization’s effectiveness</a:t>
            </a:r>
            <a:r>
              <a:rPr lang="en-US" sz="3200" dirty="0">
                <a:latin typeface="Harlow Solid Italic" pitchFamily="82" charset="0"/>
              </a:rPr>
              <a:t>.</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5372" y="1200150"/>
            <a:ext cx="1433256" cy="1066344"/>
          </a:xfrm>
          <a:prstGeom prst="rect">
            <a:avLst/>
          </a:prstGeom>
        </p:spPr>
      </p:pic>
      <p:pic>
        <p:nvPicPr>
          <p:cNvPr id="1026" name="Picture 2" descr="Image result for What is organizational behavior"/>
          <p:cNvPicPr>
            <a:picLocks noChangeAspect="1" noChangeArrowheads="1"/>
          </p:cNvPicPr>
          <p:nvPr/>
        </p:nvPicPr>
        <p:blipFill rotWithShape="1">
          <a:blip r:embed="rId4">
            <a:extLst>
              <a:ext uri="{28A0092B-C50C-407E-A947-70E740481C1C}">
                <a14:useLocalDpi xmlns:a14="http://schemas.microsoft.com/office/drawing/2010/main" val="0"/>
              </a:ext>
            </a:extLst>
          </a:blip>
          <a:srcRect b="15760"/>
          <a:stretch/>
        </p:blipFill>
        <p:spPr bwMode="auto">
          <a:xfrm>
            <a:off x="7162387" y="2342388"/>
            <a:ext cx="1960625" cy="1981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7848672"/>
      </p:ext>
    </p:extLst>
  </p:cSld>
  <p:clrMapOvr>
    <a:masterClrMapping/>
  </p:clrMapOvr>
  <p:transition>
    <p:pull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descr="Image result for disciplines of organizational behavio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1"/>
            <a:ext cx="5864226" cy="5162550"/>
          </a:xfrm>
          <a:prstGeom prst="rect">
            <a:avLst/>
          </a:prstGeom>
          <a:noFill/>
          <a:extLst>
            <a:ext uri="{909E8E84-426E-40DD-AFC4-6F175D3DCCD1}">
              <a14:hiddenFill xmlns:a14="http://schemas.microsoft.com/office/drawing/2010/main">
                <a:solidFill>
                  <a:srgbClr val="FFFFFF"/>
                </a:solidFill>
              </a14:hiddenFill>
            </a:ext>
          </a:extLst>
        </p:spPr>
      </p:pic>
      <p:sp>
        <p:nvSpPr>
          <p:cNvPr id="3" name="Text Box 11"/>
          <p:cNvSpPr txBox="1">
            <a:spLocks noChangeArrowheads="1"/>
          </p:cNvSpPr>
          <p:nvPr/>
        </p:nvSpPr>
        <p:spPr bwMode="auto">
          <a:xfrm>
            <a:off x="76200" y="407402"/>
            <a:ext cx="2971800" cy="4755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ts val="600"/>
              </a:spcBef>
            </a:pPr>
            <a:r>
              <a:rPr lang="en-US" sz="1600" b="1" u="sng" dirty="0">
                <a:latin typeface="+mn-lt"/>
              </a:rPr>
              <a:t>Psychology</a:t>
            </a:r>
            <a:br>
              <a:rPr lang="en-US" sz="1600" b="1" dirty="0">
                <a:latin typeface="+mn-lt"/>
              </a:rPr>
            </a:br>
            <a:r>
              <a:rPr lang="en-US" sz="1600" dirty="0">
                <a:latin typeface="+mn-lt"/>
              </a:rPr>
              <a:t>The science that seeks to measure, explain, and sometimes change the behavior of humans and other animals.</a:t>
            </a:r>
          </a:p>
          <a:p>
            <a:pPr eaLnBrk="1" hangingPunct="1">
              <a:spcBef>
                <a:spcPts val="600"/>
              </a:spcBef>
            </a:pPr>
            <a:r>
              <a:rPr lang="en-US" sz="1600" b="1" u="sng" dirty="0">
                <a:latin typeface="+mn-lt"/>
              </a:rPr>
              <a:t>Sociology</a:t>
            </a:r>
            <a:br>
              <a:rPr lang="en-US" sz="1600" b="1" dirty="0">
                <a:latin typeface="+mn-lt"/>
              </a:rPr>
            </a:br>
            <a:r>
              <a:rPr lang="en-US" sz="1600" dirty="0">
                <a:latin typeface="+mn-lt"/>
              </a:rPr>
              <a:t>The study of people in relation to their fellow human beings.</a:t>
            </a:r>
          </a:p>
          <a:p>
            <a:pPr eaLnBrk="1" hangingPunct="1">
              <a:spcBef>
                <a:spcPts val="600"/>
              </a:spcBef>
            </a:pPr>
            <a:r>
              <a:rPr lang="en-US" sz="1600" b="1" u="sng" dirty="0">
                <a:latin typeface="+mn-lt"/>
              </a:rPr>
              <a:t>Social Psychology</a:t>
            </a:r>
            <a:br>
              <a:rPr lang="en-US" sz="1600" b="1" dirty="0">
                <a:latin typeface="+mn-lt"/>
              </a:rPr>
            </a:br>
            <a:r>
              <a:rPr lang="en-US" sz="1600" dirty="0">
                <a:latin typeface="+mn-lt"/>
              </a:rPr>
              <a:t>An area within psychology that blends concepts from psychology and sociology and that focuses on the influence of people on one another.</a:t>
            </a:r>
          </a:p>
          <a:p>
            <a:pPr eaLnBrk="1" hangingPunct="1">
              <a:spcBef>
                <a:spcPts val="600"/>
              </a:spcBef>
            </a:pPr>
            <a:r>
              <a:rPr lang="en-US" sz="1600" b="1" u="sng" dirty="0">
                <a:latin typeface="+mn-lt"/>
              </a:rPr>
              <a:t>Anthropology</a:t>
            </a:r>
            <a:br>
              <a:rPr lang="en-US" sz="1600" b="1" dirty="0">
                <a:latin typeface="+mn-lt"/>
              </a:rPr>
            </a:br>
            <a:r>
              <a:rPr lang="en-US" sz="1600" dirty="0">
                <a:latin typeface="+mn-lt"/>
              </a:rPr>
              <a:t>The study of societies to learn about human beings and their activities.</a:t>
            </a:r>
          </a:p>
        </p:txBody>
      </p:sp>
      <p:sp>
        <p:nvSpPr>
          <p:cNvPr id="2" name="TextBox 1"/>
          <p:cNvSpPr txBox="1"/>
          <p:nvPr/>
        </p:nvSpPr>
        <p:spPr>
          <a:xfrm>
            <a:off x="0" y="-19050"/>
            <a:ext cx="3505200" cy="400110"/>
          </a:xfrm>
          <a:prstGeom prst="rect">
            <a:avLst/>
          </a:prstGeom>
          <a:noFill/>
        </p:spPr>
        <p:txBody>
          <a:bodyPr wrap="square" rtlCol="0">
            <a:spAutoFit/>
          </a:bodyPr>
          <a:lstStyle/>
          <a:p>
            <a:r>
              <a:rPr lang="en-US" sz="2000" b="1" u="sng" dirty="0"/>
              <a:t>Contributing Disciplines to OB</a:t>
            </a:r>
            <a:endParaRPr lang="en-US" b="1" u="sng" dirty="0"/>
          </a:p>
        </p:txBody>
      </p:sp>
    </p:spTree>
    <p:extLst>
      <p:ext uri="{BB962C8B-B14F-4D97-AF65-F5344CB8AC3E}">
        <p14:creationId xmlns:p14="http://schemas.microsoft.com/office/powerpoint/2010/main" val="2175005510"/>
      </p:ext>
    </p:extLst>
  </p:cSld>
  <p:clrMapOvr>
    <a:masterClrMapping/>
  </p:clrMapOvr>
  <p:transition>
    <p:blinds/>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6089" y="881111"/>
            <a:ext cx="3044825" cy="1937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Rectangle 3"/>
          <p:cNvSpPr>
            <a:spLocks noGrp="1" noChangeArrowheads="1"/>
          </p:cNvSpPr>
          <p:nvPr>
            <p:ph type="title"/>
          </p:nvPr>
        </p:nvSpPr>
        <p:spPr>
          <a:noFill/>
        </p:spPr>
        <p:txBody>
          <a:bodyPr>
            <a:normAutofit/>
          </a:bodyPr>
          <a:lstStyle/>
          <a:p>
            <a:r>
              <a:rPr lang="en-US" sz="4000" dirty="0">
                <a:solidFill>
                  <a:schemeClr val="tx1"/>
                </a:solidFill>
              </a:rPr>
              <a:t>Three Levels of OB Analysis</a:t>
            </a:r>
          </a:p>
        </p:txBody>
      </p:sp>
      <p:grpSp>
        <p:nvGrpSpPr>
          <p:cNvPr id="5" name="Group 48"/>
          <p:cNvGrpSpPr>
            <a:grpSpLocks/>
          </p:cNvGrpSpPr>
          <p:nvPr/>
        </p:nvGrpSpPr>
        <p:grpSpPr bwMode="auto">
          <a:xfrm>
            <a:off x="838200" y="1495133"/>
            <a:ext cx="6477000" cy="3498850"/>
            <a:chOff x="1680" y="1296"/>
            <a:chExt cx="2592" cy="2204"/>
          </a:xfrm>
        </p:grpSpPr>
        <p:sp>
          <p:nvSpPr>
            <p:cNvPr id="7" name="Line 3"/>
            <p:cNvSpPr>
              <a:spLocks noChangeShapeType="1"/>
            </p:cNvSpPr>
            <p:nvPr/>
          </p:nvSpPr>
          <p:spPr bwMode="auto">
            <a:xfrm>
              <a:off x="2774" y="1512"/>
              <a:ext cx="826" cy="632"/>
            </a:xfrm>
            <a:prstGeom prst="line">
              <a:avLst/>
            </a:prstGeom>
            <a:noFill/>
            <a:ln w="25400">
              <a:solidFill>
                <a:srgbClr val="B8E3CB"/>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 name="Freeform 4"/>
            <p:cNvSpPr>
              <a:spLocks/>
            </p:cNvSpPr>
            <p:nvPr/>
          </p:nvSpPr>
          <p:spPr bwMode="auto">
            <a:xfrm>
              <a:off x="3554" y="2110"/>
              <a:ext cx="94" cy="76"/>
            </a:xfrm>
            <a:custGeom>
              <a:avLst/>
              <a:gdLst>
                <a:gd name="T0" fmla="*/ 58 w 94"/>
                <a:gd name="T1" fmla="*/ 40 h 76"/>
                <a:gd name="T2" fmla="*/ 58 w 94"/>
                <a:gd name="T3" fmla="*/ 40 h 76"/>
                <a:gd name="T4" fmla="*/ 44 w 94"/>
                <a:gd name="T5" fmla="*/ 20 h 76"/>
                <a:gd name="T6" fmla="*/ 30 w 94"/>
                <a:gd name="T7" fmla="*/ 0 h 76"/>
                <a:gd name="T8" fmla="*/ 0 w 94"/>
                <a:gd name="T9" fmla="*/ 48 h 76"/>
                <a:gd name="T10" fmla="*/ 0 w 94"/>
                <a:gd name="T11" fmla="*/ 48 h 76"/>
                <a:gd name="T12" fmla="*/ 18 w 94"/>
                <a:gd name="T13" fmla="*/ 52 h 76"/>
                <a:gd name="T14" fmla="*/ 46 w 94"/>
                <a:gd name="T15" fmla="*/ 58 h 76"/>
                <a:gd name="T16" fmla="*/ 46 w 94"/>
                <a:gd name="T17" fmla="*/ 58 h 76"/>
                <a:gd name="T18" fmla="*/ 74 w 94"/>
                <a:gd name="T19" fmla="*/ 68 h 76"/>
                <a:gd name="T20" fmla="*/ 94 w 94"/>
                <a:gd name="T21" fmla="*/ 76 h 76"/>
                <a:gd name="T22" fmla="*/ 94 w 94"/>
                <a:gd name="T23" fmla="*/ 76 h 76"/>
                <a:gd name="T24" fmla="*/ 78 w 94"/>
                <a:gd name="T25" fmla="*/ 62 h 76"/>
                <a:gd name="T26" fmla="*/ 58 w 94"/>
                <a:gd name="T27" fmla="*/ 40 h 76"/>
                <a:gd name="T28" fmla="*/ 58 w 94"/>
                <a:gd name="T29" fmla="*/ 4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4" h="76">
                  <a:moveTo>
                    <a:pt x="58" y="40"/>
                  </a:moveTo>
                  <a:lnTo>
                    <a:pt x="58" y="40"/>
                  </a:lnTo>
                  <a:lnTo>
                    <a:pt x="44" y="20"/>
                  </a:lnTo>
                  <a:lnTo>
                    <a:pt x="30" y="0"/>
                  </a:lnTo>
                  <a:lnTo>
                    <a:pt x="0" y="48"/>
                  </a:lnTo>
                  <a:lnTo>
                    <a:pt x="0" y="48"/>
                  </a:lnTo>
                  <a:lnTo>
                    <a:pt x="18" y="52"/>
                  </a:lnTo>
                  <a:lnTo>
                    <a:pt x="46" y="58"/>
                  </a:lnTo>
                  <a:lnTo>
                    <a:pt x="46" y="58"/>
                  </a:lnTo>
                  <a:lnTo>
                    <a:pt x="74" y="68"/>
                  </a:lnTo>
                  <a:lnTo>
                    <a:pt x="94" y="76"/>
                  </a:lnTo>
                  <a:lnTo>
                    <a:pt x="94" y="76"/>
                  </a:lnTo>
                  <a:lnTo>
                    <a:pt x="78" y="62"/>
                  </a:lnTo>
                  <a:lnTo>
                    <a:pt x="58" y="40"/>
                  </a:lnTo>
                  <a:lnTo>
                    <a:pt x="58" y="40"/>
                  </a:lnTo>
                  <a:close/>
                </a:path>
              </a:pathLst>
            </a:custGeom>
            <a:solidFill>
              <a:srgbClr val="B8E3C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 name="Line 5"/>
            <p:cNvSpPr>
              <a:spLocks noChangeShapeType="1"/>
            </p:cNvSpPr>
            <p:nvPr/>
          </p:nvSpPr>
          <p:spPr bwMode="auto">
            <a:xfrm>
              <a:off x="2752" y="2408"/>
              <a:ext cx="752" cy="1"/>
            </a:xfrm>
            <a:prstGeom prst="line">
              <a:avLst/>
            </a:prstGeom>
            <a:noFill/>
            <a:ln w="25400">
              <a:solidFill>
                <a:srgbClr val="C8C8E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 name="Freeform 6"/>
            <p:cNvSpPr>
              <a:spLocks/>
            </p:cNvSpPr>
            <p:nvPr/>
          </p:nvSpPr>
          <p:spPr bwMode="auto">
            <a:xfrm>
              <a:off x="3504" y="2380"/>
              <a:ext cx="96" cy="56"/>
            </a:xfrm>
            <a:custGeom>
              <a:avLst/>
              <a:gdLst>
                <a:gd name="T0" fmla="*/ 46 w 96"/>
                <a:gd name="T1" fmla="*/ 16 h 56"/>
                <a:gd name="T2" fmla="*/ 46 w 96"/>
                <a:gd name="T3" fmla="*/ 16 h 56"/>
                <a:gd name="T4" fmla="*/ 22 w 96"/>
                <a:gd name="T5" fmla="*/ 8 h 56"/>
                <a:gd name="T6" fmla="*/ 0 w 96"/>
                <a:gd name="T7" fmla="*/ 0 h 56"/>
                <a:gd name="T8" fmla="*/ 0 w 96"/>
                <a:gd name="T9" fmla="*/ 56 h 56"/>
                <a:gd name="T10" fmla="*/ 0 w 96"/>
                <a:gd name="T11" fmla="*/ 56 h 56"/>
                <a:gd name="T12" fmla="*/ 18 w 96"/>
                <a:gd name="T13" fmla="*/ 50 h 56"/>
                <a:gd name="T14" fmla="*/ 46 w 96"/>
                <a:gd name="T15" fmla="*/ 40 h 56"/>
                <a:gd name="T16" fmla="*/ 46 w 96"/>
                <a:gd name="T17" fmla="*/ 40 h 56"/>
                <a:gd name="T18" fmla="*/ 74 w 96"/>
                <a:gd name="T19" fmla="*/ 32 h 56"/>
                <a:gd name="T20" fmla="*/ 96 w 96"/>
                <a:gd name="T21" fmla="*/ 28 h 56"/>
                <a:gd name="T22" fmla="*/ 96 w 96"/>
                <a:gd name="T23" fmla="*/ 28 h 56"/>
                <a:gd name="T24" fmla="*/ 74 w 96"/>
                <a:gd name="T25" fmla="*/ 24 h 56"/>
                <a:gd name="T26" fmla="*/ 46 w 96"/>
                <a:gd name="T27" fmla="*/ 16 h 56"/>
                <a:gd name="T28" fmla="*/ 46 w 96"/>
                <a:gd name="T29" fmla="*/ 1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6" h="56">
                  <a:moveTo>
                    <a:pt x="46" y="16"/>
                  </a:moveTo>
                  <a:lnTo>
                    <a:pt x="46" y="16"/>
                  </a:lnTo>
                  <a:lnTo>
                    <a:pt x="22" y="8"/>
                  </a:lnTo>
                  <a:lnTo>
                    <a:pt x="0" y="0"/>
                  </a:lnTo>
                  <a:lnTo>
                    <a:pt x="0" y="56"/>
                  </a:lnTo>
                  <a:lnTo>
                    <a:pt x="0" y="56"/>
                  </a:lnTo>
                  <a:lnTo>
                    <a:pt x="18" y="50"/>
                  </a:lnTo>
                  <a:lnTo>
                    <a:pt x="46" y="40"/>
                  </a:lnTo>
                  <a:lnTo>
                    <a:pt x="46" y="40"/>
                  </a:lnTo>
                  <a:lnTo>
                    <a:pt x="74" y="32"/>
                  </a:lnTo>
                  <a:lnTo>
                    <a:pt x="96" y="28"/>
                  </a:lnTo>
                  <a:lnTo>
                    <a:pt x="96" y="28"/>
                  </a:lnTo>
                  <a:lnTo>
                    <a:pt x="74" y="24"/>
                  </a:lnTo>
                  <a:lnTo>
                    <a:pt x="46" y="16"/>
                  </a:lnTo>
                  <a:lnTo>
                    <a:pt x="46" y="16"/>
                  </a:lnTo>
                  <a:close/>
                </a:path>
              </a:pathLst>
            </a:custGeom>
            <a:solidFill>
              <a:srgbClr val="C8C8E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 name="Line 7"/>
            <p:cNvSpPr>
              <a:spLocks noChangeShapeType="1"/>
            </p:cNvSpPr>
            <p:nvPr/>
          </p:nvSpPr>
          <p:spPr bwMode="auto">
            <a:xfrm flipV="1">
              <a:off x="2762" y="2688"/>
              <a:ext cx="838" cy="672"/>
            </a:xfrm>
            <a:prstGeom prst="line">
              <a:avLst/>
            </a:prstGeom>
            <a:noFill/>
            <a:ln w="25400">
              <a:solidFill>
                <a:srgbClr val="CFA8B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 name="Freeform 8"/>
            <p:cNvSpPr>
              <a:spLocks/>
            </p:cNvSpPr>
            <p:nvPr/>
          </p:nvSpPr>
          <p:spPr bwMode="auto">
            <a:xfrm>
              <a:off x="3552" y="2658"/>
              <a:ext cx="94" cy="78"/>
            </a:xfrm>
            <a:custGeom>
              <a:avLst/>
              <a:gdLst>
                <a:gd name="T0" fmla="*/ 48 w 94"/>
                <a:gd name="T1" fmla="*/ 20 h 78"/>
                <a:gd name="T2" fmla="*/ 48 w 94"/>
                <a:gd name="T3" fmla="*/ 20 h 78"/>
                <a:gd name="T4" fmla="*/ 24 w 94"/>
                <a:gd name="T5" fmla="*/ 26 h 78"/>
                <a:gd name="T6" fmla="*/ 0 w 94"/>
                <a:gd name="T7" fmla="*/ 32 h 78"/>
                <a:gd name="T8" fmla="*/ 34 w 94"/>
                <a:gd name="T9" fmla="*/ 78 h 78"/>
                <a:gd name="T10" fmla="*/ 34 w 94"/>
                <a:gd name="T11" fmla="*/ 78 h 78"/>
                <a:gd name="T12" fmla="*/ 44 w 94"/>
                <a:gd name="T13" fmla="*/ 62 h 78"/>
                <a:gd name="T14" fmla="*/ 60 w 94"/>
                <a:gd name="T15" fmla="*/ 38 h 78"/>
                <a:gd name="T16" fmla="*/ 60 w 94"/>
                <a:gd name="T17" fmla="*/ 38 h 78"/>
                <a:gd name="T18" fmla="*/ 80 w 94"/>
                <a:gd name="T19" fmla="*/ 16 h 78"/>
                <a:gd name="T20" fmla="*/ 94 w 94"/>
                <a:gd name="T21" fmla="*/ 0 h 78"/>
                <a:gd name="T22" fmla="*/ 94 w 94"/>
                <a:gd name="T23" fmla="*/ 0 h 78"/>
                <a:gd name="T24" fmla="*/ 74 w 94"/>
                <a:gd name="T25" fmla="*/ 10 h 78"/>
                <a:gd name="T26" fmla="*/ 48 w 94"/>
                <a:gd name="T27" fmla="*/ 20 h 78"/>
                <a:gd name="T28" fmla="*/ 48 w 94"/>
                <a:gd name="T29" fmla="*/ 2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4" h="78">
                  <a:moveTo>
                    <a:pt x="48" y="20"/>
                  </a:moveTo>
                  <a:lnTo>
                    <a:pt x="48" y="20"/>
                  </a:lnTo>
                  <a:lnTo>
                    <a:pt x="24" y="26"/>
                  </a:lnTo>
                  <a:lnTo>
                    <a:pt x="0" y="32"/>
                  </a:lnTo>
                  <a:lnTo>
                    <a:pt x="34" y="78"/>
                  </a:lnTo>
                  <a:lnTo>
                    <a:pt x="34" y="78"/>
                  </a:lnTo>
                  <a:lnTo>
                    <a:pt x="44" y="62"/>
                  </a:lnTo>
                  <a:lnTo>
                    <a:pt x="60" y="38"/>
                  </a:lnTo>
                  <a:lnTo>
                    <a:pt x="60" y="38"/>
                  </a:lnTo>
                  <a:lnTo>
                    <a:pt x="80" y="16"/>
                  </a:lnTo>
                  <a:lnTo>
                    <a:pt x="94" y="0"/>
                  </a:lnTo>
                  <a:lnTo>
                    <a:pt x="94" y="0"/>
                  </a:lnTo>
                  <a:lnTo>
                    <a:pt x="74" y="10"/>
                  </a:lnTo>
                  <a:lnTo>
                    <a:pt x="48" y="20"/>
                  </a:lnTo>
                  <a:lnTo>
                    <a:pt x="48" y="20"/>
                  </a:lnTo>
                  <a:close/>
                </a:path>
              </a:pathLst>
            </a:custGeom>
            <a:solidFill>
              <a:srgbClr val="CFA8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 name="Freeform 9"/>
            <p:cNvSpPr>
              <a:spLocks/>
            </p:cNvSpPr>
            <p:nvPr/>
          </p:nvSpPr>
          <p:spPr bwMode="auto">
            <a:xfrm>
              <a:off x="3600" y="2068"/>
              <a:ext cx="672" cy="672"/>
            </a:xfrm>
            <a:custGeom>
              <a:avLst/>
              <a:gdLst>
                <a:gd name="T0" fmla="*/ 672 w 672"/>
                <a:gd name="T1" fmla="*/ 336 h 672"/>
                <a:gd name="T2" fmla="*/ 666 w 672"/>
                <a:gd name="T3" fmla="*/ 404 h 672"/>
                <a:gd name="T4" fmla="*/ 646 w 672"/>
                <a:gd name="T5" fmla="*/ 468 h 672"/>
                <a:gd name="T6" fmla="*/ 614 w 672"/>
                <a:gd name="T7" fmla="*/ 524 h 672"/>
                <a:gd name="T8" fmla="*/ 574 w 672"/>
                <a:gd name="T9" fmla="*/ 574 h 672"/>
                <a:gd name="T10" fmla="*/ 524 w 672"/>
                <a:gd name="T11" fmla="*/ 616 h 672"/>
                <a:gd name="T12" fmla="*/ 466 w 672"/>
                <a:gd name="T13" fmla="*/ 646 h 672"/>
                <a:gd name="T14" fmla="*/ 404 w 672"/>
                <a:gd name="T15" fmla="*/ 666 h 672"/>
                <a:gd name="T16" fmla="*/ 336 w 672"/>
                <a:gd name="T17" fmla="*/ 672 h 672"/>
                <a:gd name="T18" fmla="*/ 302 w 672"/>
                <a:gd name="T19" fmla="*/ 672 h 672"/>
                <a:gd name="T20" fmla="*/ 236 w 672"/>
                <a:gd name="T21" fmla="*/ 658 h 672"/>
                <a:gd name="T22" fmla="*/ 176 w 672"/>
                <a:gd name="T23" fmla="*/ 632 h 672"/>
                <a:gd name="T24" fmla="*/ 122 w 672"/>
                <a:gd name="T25" fmla="*/ 596 h 672"/>
                <a:gd name="T26" fmla="*/ 76 w 672"/>
                <a:gd name="T27" fmla="*/ 550 h 672"/>
                <a:gd name="T28" fmla="*/ 40 w 672"/>
                <a:gd name="T29" fmla="*/ 498 h 672"/>
                <a:gd name="T30" fmla="*/ 16 w 672"/>
                <a:gd name="T31" fmla="*/ 436 h 672"/>
                <a:gd name="T32" fmla="*/ 2 w 672"/>
                <a:gd name="T33" fmla="*/ 372 h 672"/>
                <a:gd name="T34" fmla="*/ 0 w 672"/>
                <a:gd name="T35" fmla="*/ 336 h 672"/>
                <a:gd name="T36" fmla="*/ 6 w 672"/>
                <a:gd name="T37" fmla="*/ 270 h 672"/>
                <a:gd name="T38" fmla="*/ 26 w 672"/>
                <a:gd name="T39" fmla="*/ 206 h 672"/>
                <a:gd name="T40" fmla="*/ 58 w 672"/>
                <a:gd name="T41" fmla="*/ 150 h 672"/>
                <a:gd name="T42" fmla="*/ 98 w 672"/>
                <a:gd name="T43" fmla="*/ 100 h 672"/>
                <a:gd name="T44" fmla="*/ 148 w 672"/>
                <a:gd name="T45" fmla="*/ 58 h 672"/>
                <a:gd name="T46" fmla="*/ 206 w 672"/>
                <a:gd name="T47" fmla="*/ 28 h 672"/>
                <a:gd name="T48" fmla="*/ 268 w 672"/>
                <a:gd name="T49" fmla="*/ 8 h 672"/>
                <a:gd name="T50" fmla="*/ 336 w 672"/>
                <a:gd name="T51" fmla="*/ 0 h 672"/>
                <a:gd name="T52" fmla="*/ 370 w 672"/>
                <a:gd name="T53" fmla="*/ 2 h 672"/>
                <a:gd name="T54" fmla="*/ 436 w 672"/>
                <a:gd name="T55" fmla="*/ 16 h 672"/>
                <a:gd name="T56" fmla="*/ 496 w 672"/>
                <a:gd name="T57" fmla="*/ 42 h 672"/>
                <a:gd name="T58" fmla="*/ 550 w 672"/>
                <a:gd name="T59" fmla="*/ 78 h 672"/>
                <a:gd name="T60" fmla="*/ 596 w 672"/>
                <a:gd name="T61" fmla="*/ 124 h 672"/>
                <a:gd name="T62" fmla="*/ 632 w 672"/>
                <a:gd name="T63" fmla="*/ 176 h 672"/>
                <a:gd name="T64" fmla="*/ 656 w 672"/>
                <a:gd name="T65" fmla="*/ 236 h 672"/>
                <a:gd name="T66" fmla="*/ 670 w 672"/>
                <a:gd name="T67" fmla="*/ 302 h 672"/>
                <a:gd name="T68" fmla="*/ 672 w 672"/>
                <a:gd name="T69" fmla="*/ 336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72" h="672">
                  <a:moveTo>
                    <a:pt x="672" y="336"/>
                  </a:moveTo>
                  <a:lnTo>
                    <a:pt x="672" y="336"/>
                  </a:lnTo>
                  <a:lnTo>
                    <a:pt x="670" y="372"/>
                  </a:lnTo>
                  <a:lnTo>
                    <a:pt x="666" y="404"/>
                  </a:lnTo>
                  <a:lnTo>
                    <a:pt x="656" y="436"/>
                  </a:lnTo>
                  <a:lnTo>
                    <a:pt x="646" y="468"/>
                  </a:lnTo>
                  <a:lnTo>
                    <a:pt x="632" y="498"/>
                  </a:lnTo>
                  <a:lnTo>
                    <a:pt x="614" y="524"/>
                  </a:lnTo>
                  <a:lnTo>
                    <a:pt x="596" y="550"/>
                  </a:lnTo>
                  <a:lnTo>
                    <a:pt x="574" y="574"/>
                  </a:lnTo>
                  <a:lnTo>
                    <a:pt x="550" y="596"/>
                  </a:lnTo>
                  <a:lnTo>
                    <a:pt x="524" y="616"/>
                  </a:lnTo>
                  <a:lnTo>
                    <a:pt x="496" y="632"/>
                  </a:lnTo>
                  <a:lnTo>
                    <a:pt x="466" y="646"/>
                  </a:lnTo>
                  <a:lnTo>
                    <a:pt x="436" y="658"/>
                  </a:lnTo>
                  <a:lnTo>
                    <a:pt x="404" y="666"/>
                  </a:lnTo>
                  <a:lnTo>
                    <a:pt x="370" y="672"/>
                  </a:lnTo>
                  <a:lnTo>
                    <a:pt x="336" y="672"/>
                  </a:lnTo>
                  <a:lnTo>
                    <a:pt x="336" y="672"/>
                  </a:lnTo>
                  <a:lnTo>
                    <a:pt x="302" y="672"/>
                  </a:lnTo>
                  <a:lnTo>
                    <a:pt x="268" y="666"/>
                  </a:lnTo>
                  <a:lnTo>
                    <a:pt x="236" y="658"/>
                  </a:lnTo>
                  <a:lnTo>
                    <a:pt x="206" y="646"/>
                  </a:lnTo>
                  <a:lnTo>
                    <a:pt x="176" y="632"/>
                  </a:lnTo>
                  <a:lnTo>
                    <a:pt x="148" y="616"/>
                  </a:lnTo>
                  <a:lnTo>
                    <a:pt x="122" y="596"/>
                  </a:lnTo>
                  <a:lnTo>
                    <a:pt x="98" y="574"/>
                  </a:lnTo>
                  <a:lnTo>
                    <a:pt x="76" y="550"/>
                  </a:lnTo>
                  <a:lnTo>
                    <a:pt x="58" y="524"/>
                  </a:lnTo>
                  <a:lnTo>
                    <a:pt x="40" y="498"/>
                  </a:lnTo>
                  <a:lnTo>
                    <a:pt x="26" y="468"/>
                  </a:lnTo>
                  <a:lnTo>
                    <a:pt x="16" y="436"/>
                  </a:lnTo>
                  <a:lnTo>
                    <a:pt x="6" y="404"/>
                  </a:lnTo>
                  <a:lnTo>
                    <a:pt x="2" y="372"/>
                  </a:lnTo>
                  <a:lnTo>
                    <a:pt x="0" y="336"/>
                  </a:lnTo>
                  <a:lnTo>
                    <a:pt x="0" y="336"/>
                  </a:lnTo>
                  <a:lnTo>
                    <a:pt x="2" y="302"/>
                  </a:lnTo>
                  <a:lnTo>
                    <a:pt x="6" y="270"/>
                  </a:lnTo>
                  <a:lnTo>
                    <a:pt x="16" y="236"/>
                  </a:lnTo>
                  <a:lnTo>
                    <a:pt x="26" y="206"/>
                  </a:lnTo>
                  <a:lnTo>
                    <a:pt x="40" y="176"/>
                  </a:lnTo>
                  <a:lnTo>
                    <a:pt x="58" y="150"/>
                  </a:lnTo>
                  <a:lnTo>
                    <a:pt x="76" y="124"/>
                  </a:lnTo>
                  <a:lnTo>
                    <a:pt x="98" y="100"/>
                  </a:lnTo>
                  <a:lnTo>
                    <a:pt x="122" y="78"/>
                  </a:lnTo>
                  <a:lnTo>
                    <a:pt x="148" y="58"/>
                  </a:lnTo>
                  <a:lnTo>
                    <a:pt x="176" y="42"/>
                  </a:lnTo>
                  <a:lnTo>
                    <a:pt x="206" y="28"/>
                  </a:lnTo>
                  <a:lnTo>
                    <a:pt x="236" y="16"/>
                  </a:lnTo>
                  <a:lnTo>
                    <a:pt x="268" y="8"/>
                  </a:lnTo>
                  <a:lnTo>
                    <a:pt x="302" y="2"/>
                  </a:lnTo>
                  <a:lnTo>
                    <a:pt x="336" y="0"/>
                  </a:lnTo>
                  <a:lnTo>
                    <a:pt x="336" y="0"/>
                  </a:lnTo>
                  <a:lnTo>
                    <a:pt x="370" y="2"/>
                  </a:lnTo>
                  <a:lnTo>
                    <a:pt x="404" y="8"/>
                  </a:lnTo>
                  <a:lnTo>
                    <a:pt x="436" y="16"/>
                  </a:lnTo>
                  <a:lnTo>
                    <a:pt x="466" y="28"/>
                  </a:lnTo>
                  <a:lnTo>
                    <a:pt x="496" y="42"/>
                  </a:lnTo>
                  <a:lnTo>
                    <a:pt x="524" y="58"/>
                  </a:lnTo>
                  <a:lnTo>
                    <a:pt x="550" y="78"/>
                  </a:lnTo>
                  <a:lnTo>
                    <a:pt x="574" y="100"/>
                  </a:lnTo>
                  <a:lnTo>
                    <a:pt x="596" y="124"/>
                  </a:lnTo>
                  <a:lnTo>
                    <a:pt x="614" y="150"/>
                  </a:lnTo>
                  <a:lnTo>
                    <a:pt x="632" y="176"/>
                  </a:lnTo>
                  <a:lnTo>
                    <a:pt x="646" y="206"/>
                  </a:lnTo>
                  <a:lnTo>
                    <a:pt x="656" y="236"/>
                  </a:lnTo>
                  <a:lnTo>
                    <a:pt x="666" y="270"/>
                  </a:lnTo>
                  <a:lnTo>
                    <a:pt x="670" y="302"/>
                  </a:lnTo>
                  <a:lnTo>
                    <a:pt x="672" y="336"/>
                  </a:lnTo>
                  <a:lnTo>
                    <a:pt x="672" y="336"/>
                  </a:lnTo>
                  <a:close/>
                </a:path>
              </a:pathLst>
            </a:custGeom>
            <a:solidFill>
              <a:srgbClr val="FED68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 name="Rectangle 10"/>
            <p:cNvSpPr>
              <a:spLocks noChangeArrowheads="1"/>
            </p:cNvSpPr>
            <p:nvPr/>
          </p:nvSpPr>
          <p:spPr bwMode="auto">
            <a:xfrm>
              <a:off x="3691" y="2366"/>
              <a:ext cx="48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b="1">
                  <a:solidFill>
                    <a:srgbClr val="000000"/>
                  </a:solidFill>
                  <a:latin typeface="Arial" charset="0"/>
                </a:rPr>
                <a:t>Workplace</a:t>
              </a:r>
              <a:endParaRPr lang="en-US" sz="1200" b="1">
                <a:latin typeface="Arial" charset="0"/>
              </a:endParaRPr>
            </a:p>
          </p:txBody>
        </p:sp>
        <p:sp>
          <p:nvSpPr>
            <p:cNvPr id="15" name="Rectangle 11"/>
            <p:cNvSpPr>
              <a:spLocks noChangeArrowheads="1"/>
            </p:cNvSpPr>
            <p:nvPr/>
          </p:nvSpPr>
          <p:spPr bwMode="auto">
            <a:xfrm>
              <a:off x="1842" y="1296"/>
              <a:ext cx="1374" cy="156"/>
            </a:xfrm>
            <a:prstGeom prst="rect">
              <a:avLst/>
            </a:prstGeom>
            <a:solidFill>
              <a:srgbClr val="4EB6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6" name="Rectangle 12"/>
            <p:cNvSpPr>
              <a:spLocks noChangeArrowheads="1"/>
            </p:cNvSpPr>
            <p:nvPr/>
          </p:nvSpPr>
          <p:spPr bwMode="auto">
            <a:xfrm>
              <a:off x="1842" y="1452"/>
              <a:ext cx="1374" cy="476"/>
            </a:xfrm>
            <a:prstGeom prst="rect">
              <a:avLst/>
            </a:prstGeom>
            <a:solidFill>
              <a:srgbClr val="DBF1E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 name="Rectangle 13"/>
            <p:cNvSpPr>
              <a:spLocks noChangeArrowheads="1"/>
            </p:cNvSpPr>
            <p:nvPr/>
          </p:nvSpPr>
          <p:spPr bwMode="auto">
            <a:xfrm>
              <a:off x="1920" y="1348"/>
              <a:ext cx="94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b="1" dirty="0">
                  <a:solidFill>
                    <a:srgbClr val="FFFFFF"/>
                  </a:solidFill>
                  <a:latin typeface="Arial" charset="0"/>
                </a:rPr>
                <a:t>Organizational Level</a:t>
              </a:r>
              <a:endParaRPr lang="en-US" sz="1200" b="1" dirty="0">
                <a:latin typeface="Arial" charset="0"/>
              </a:endParaRPr>
            </a:p>
          </p:txBody>
        </p:sp>
        <p:sp>
          <p:nvSpPr>
            <p:cNvPr id="18" name="Rectangle 14"/>
            <p:cNvSpPr>
              <a:spLocks noChangeArrowheads="1"/>
            </p:cNvSpPr>
            <p:nvPr/>
          </p:nvSpPr>
          <p:spPr bwMode="auto">
            <a:xfrm>
              <a:off x="1906" y="1524"/>
              <a:ext cx="2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a:solidFill>
                    <a:srgbClr val="000000"/>
                  </a:solidFill>
                  <a:latin typeface="Arial" charset="0"/>
                </a:rPr>
                <a:t>•</a:t>
              </a:r>
              <a:endParaRPr lang="en-US" sz="1000" b="1">
                <a:latin typeface="Arial" charset="0"/>
              </a:endParaRPr>
            </a:p>
          </p:txBody>
        </p:sp>
        <p:sp>
          <p:nvSpPr>
            <p:cNvPr id="19" name="Rectangle 15"/>
            <p:cNvSpPr>
              <a:spLocks noChangeArrowheads="1"/>
            </p:cNvSpPr>
            <p:nvPr/>
          </p:nvSpPr>
          <p:spPr bwMode="auto">
            <a:xfrm>
              <a:off x="1940" y="1524"/>
              <a:ext cx="483"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a:solidFill>
                    <a:srgbClr val="000000"/>
                  </a:solidFill>
                  <a:latin typeface="Arial" charset="0"/>
                </a:rPr>
                <a:t> Productivity</a:t>
              </a:r>
              <a:endParaRPr lang="en-US" sz="1000" b="1">
                <a:latin typeface="Arial" charset="0"/>
              </a:endParaRPr>
            </a:p>
          </p:txBody>
        </p:sp>
        <p:sp>
          <p:nvSpPr>
            <p:cNvPr id="20" name="Rectangle 16"/>
            <p:cNvSpPr>
              <a:spLocks noChangeArrowheads="1"/>
            </p:cNvSpPr>
            <p:nvPr/>
          </p:nvSpPr>
          <p:spPr bwMode="auto">
            <a:xfrm>
              <a:off x="1906" y="1600"/>
              <a:ext cx="2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a:solidFill>
                    <a:srgbClr val="000000"/>
                  </a:solidFill>
                  <a:latin typeface="Arial" charset="0"/>
                </a:rPr>
                <a:t>•</a:t>
              </a:r>
              <a:endParaRPr lang="en-US" sz="1000" b="1">
                <a:latin typeface="Arial" charset="0"/>
              </a:endParaRPr>
            </a:p>
          </p:txBody>
        </p:sp>
        <p:sp>
          <p:nvSpPr>
            <p:cNvPr id="21" name="Rectangle 17"/>
            <p:cNvSpPr>
              <a:spLocks noChangeArrowheads="1"/>
            </p:cNvSpPr>
            <p:nvPr/>
          </p:nvSpPr>
          <p:spPr bwMode="auto">
            <a:xfrm>
              <a:off x="1940" y="1600"/>
              <a:ext cx="123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a:solidFill>
                    <a:srgbClr val="000000"/>
                  </a:solidFill>
                  <a:latin typeface="Arial" charset="0"/>
                </a:rPr>
                <a:t> Developing effective employees</a:t>
              </a:r>
              <a:endParaRPr lang="en-US" sz="1000" b="1">
                <a:latin typeface="Arial" charset="0"/>
              </a:endParaRPr>
            </a:p>
          </p:txBody>
        </p:sp>
        <p:sp>
          <p:nvSpPr>
            <p:cNvPr id="22" name="Rectangle 18"/>
            <p:cNvSpPr>
              <a:spLocks noChangeArrowheads="1"/>
            </p:cNvSpPr>
            <p:nvPr/>
          </p:nvSpPr>
          <p:spPr bwMode="auto">
            <a:xfrm>
              <a:off x="1906" y="1676"/>
              <a:ext cx="2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a:solidFill>
                    <a:srgbClr val="000000"/>
                  </a:solidFill>
                  <a:latin typeface="Arial" charset="0"/>
                </a:rPr>
                <a:t>•</a:t>
              </a:r>
              <a:endParaRPr lang="en-US" sz="1000" b="1">
                <a:latin typeface="Arial" charset="0"/>
              </a:endParaRPr>
            </a:p>
          </p:txBody>
        </p:sp>
        <p:sp>
          <p:nvSpPr>
            <p:cNvPr id="23" name="Rectangle 19"/>
            <p:cNvSpPr>
              <a:spLocks noChangeArrowheads="1"/>
            </p:cNvSpPr>
            <p:nvPr/>
          </p:nvSpPr>
          <p:spPr bwMode="auto">
            <a:xfrm>
              <a:off x="1940" y="1676"/>
              <a:ext cx="745"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a:solidFill>
                    <a:srgbClr val="000000"/>
                  </a:solidFill>
                  <a:latin typeface="Arial" charset="0"/>
                </a:rPr>
                <a:t> Global competition</a:t>
              </a:r>
              <a:endParaRPr lang="en-US" sz="1000" b="1">
                <a:latin typeface="Arial" charset="0"/>
              </a:endParaRPr>
            </a:p>
          </p:txBody>
        </p:sp>
        <p:sp>
          <p:nvSpPr>
            <p:cNvPr id="24" name="Rectangle 20"/>
            <p:cNvSpPr>
              <a:spLocks noChangeArrowheads="1"/>
            </p:cNvSpPr>
            <p:nvPr/>
          </p:nvSpPr>
          <p:spPr bwMode="auto">
            <a:xfrm>
              <a:off x="1906" y="1752"/>
              <a:ext cx="2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a:solidFill>
                    <a:srgbClr val="000000"/>
                  </a:solidFill>
                  <a:latin typeface="Arial" charset="0"/>
                </a:rPr>
                <a:t>•</a:t>
              </a:r>
              <a:endParaRPr lang="en-US" sz="1000" b="1">
                <a:latin typeface="Arial" charset="0"/>
              </a:endParaRPr>
            </a:p>
          </p:txBody>
        </p:sp>
        <p:sp>
          <p:nvSpPr>
            <p:cNvPr id="25" name="Rectangle 21"/>
            <p:cNvSpPr>
              <a:spLocks noChangeArrowheads="1"/>
            </p:cNvSpPr>
            <p:nvPr/>
          </p:nvSpPr>
          <p:spPr bwMode="auto">
            <a:xfrm>
              <a:off x="1940" y="1752"/>
              <a:ext cx="115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a:solidFill>
                    <a:srgbClr val="000000"/>
                  </a:solidFill>
                  <a:latin typeface="Arial" charset="0"/>
                </a:rPr>
                <a:t> Managing in the global village</a:t>
              </a:r>
              <a:endParaRPr lang="en-US" sz="1000" b="1">
                <a:latin typeface="Arial" charset="0"/>
              </a:endParaRPr>
            </a:p>
          </p:txBody>
        </p:sp>
        <p:sp>
          <p:nvSpPr>
            <p:cNvPr id="26" name="Rectangle 22"/>
            <p:cNvSpPr>
              <a:spLocks noChangeArrowheads="1"/>
            </p:cNvSpPr>
            <p:nvPr/>
          </p:nvSpPr>
          <p:spPr bwMode="auto">
            <a:xfrm>
              <a:off x="1842" y="2064"/>
              <a:ext cx="1374" cy="172"/>
            </a:xfrm>
            <a:prstGeom prst="rect">
              <a:avLst/>
            </a:prstGeom>
            <a:solidFill>
              <a:srgbClr val="525F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7" name="Rectangle 23"/>
            <p:cNvSpPr>
              <a:spLocks noChangeArrowheads="1"/>
            </p:cNvSpPr>
            <p:nvPr/>
          </p:nvSpPr>
          <p:spPr bwMode="auto">
            <a:xfrm>
              <a:off x="1842" y="2236"/>
              <a:ext cx="1374" cy="476"/>
            </a:xfrm>
            <a:prstGeom prst="rect">
              <a:avLst/>
            </a:prstGeom>
            <a:solidFill>
              <a:srgbClr val="DADA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 name="Rectangle 24"/>
            <p:cNvSpPr>
              <a:spLocks noChangeArrowheads="1"/>
            </p:cNvSpPr>
            <p:nvPr/>
          </p:nvSpPr>
          <p:spPr bwMode="auto">
            <a:xfrm>
              <a:off x="2064" y="2132"/>
              <a:ext cx="561"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b="1">
                  <a:solidFill>
                    <a:srgbClr val="FFFFFF"/>
                  </a:solidFill>
                  <a:latin typeface="Arial" charset="0"/>
                </a:rPr>
                <a:t>Group Level</a:t>
              </a:r>
              <a:endParaRPr lang="en-US" sz="1200" b="1">
                <a:latin typeface="Arial" charset="0"/>
              </a:endParaRPr>
            </a:p>
          </p:txBody>
        </p:sp>
        <p:sp>
          <p:nvSpPr>
            <p:cNvPr id="29" name="Rectangle 25"/>
            <p:cNvSpPr>
              <a:spLocks noChangeArrowheads="1"/>
            </p:cNvSpPr>
            <p:nvPr/>
          </p:nvSpPr>
          <p:spPr bwMode="auto">
            <a:xfrm>
              <a:off x="1912" y="2308"/>
              <a:ext cx="2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a:solidFill>
                    <a:srgbClr val="000000"/>
                  </a:solidFill>
                  <a:latin typeface="Arial" charset="0"/>
                </a:rPr>
                <a:t>•</a:t>
              </a:r>
              <a:endParaRPr lang="en-US" sz="1000" b="1">
                <a:latin typeface="Arial" charset="0"/>
              </a:endParaRPr>
            </a:p>
          </p:txBody>
        </p:sp>
        <p:sp>
          <p:nvSpPr>
            <p:cNvPr id="30" name="Rectangle 26"/>
            <p:cNvSpPr>
              <a:spLocks noChangeArrowheads="1"/>
            </p:cNvSpPr>
            <p:nvPr/>
          </p:nvSpPr>
          <p:spPr bwMode="auto">
            <a:xfrm>
              <a:off x="1946" y="2308"/>
              <a:ext cx="79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a:solidFill>
                    <a:srgbClr val="000000"/>
                  </a:solidFill>
                  <a:latin typeface="Arial" charset="0"/>
                </a:rPr>
                <a:t> Working with others</a:t>
              </a:r>
              <a:endParaRPr lang="en-US" sz="1000" b="1">
                <a:latin typeface="Arial" charset="0"/>
              </a:endParaRPr>
            </a:p>
          </p:txBody>
        </p:sp>
        <p:sp>
          <p:nvSpPr>
            <p:cNvPr id="31" name="Rectangle 27"/>
            <p:cNvSpPr>
              <a:spLocks noChangeArrowheads="1"/>
            </p:cNvSpPr>
            <p:nvPr/>
          </p:nvSpPr>
          <p:spPr bwMode="auto">
            <a:xfrm>
              <a:off x="1912" y="2382"/>
              <a:ext cx="2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a:solidFill>
                    <a:srgbClr val="000000"/>
                  </a:solidFill>
                  <a:latin typeface="Arial" charset="0"/>
                </a:rPr>
                <a:t>•</a:t>
              </a:r>
              <a:endParaRPr lang="en-US" sz="1000" b="1">
                <a:latin typeface="Arial" charset="0"/>
              </a:endParaRPr>
            </a:p>
          </p:txBody>
        </p:sp>
        <p:sp>
          <p:nvSpPr>
            <p:cNvPr id="32" name="Rectangle 28"/>
            <p:cNvSpPr>
              <a:spLocks noChangeArrowheads="1"/>
            </p:cNvSpPr>
            <p:nvPr/>
          </p:nvSpPr>
          <p:spPr bwMode="auto">
            <a:xfrm>
              <a:off x="1946" y="2382"/>
              <a:ext cx="76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dirty="0">
                  <a:solidFill>
                    <a:srgbClr val="000000"/>
                  </a:solidFill>
                  <a:latin typeface="Arial" charset="0"/>
                </a:rPr>
                <a:t> Workforce diversity</a:t>
              </a:r>
              <a:endParaRPr lang="en-US" sz="1000" b="1" dirty="0">
                <a:latin typeface="Arial" charset="0"/>
              </a:endParaRPr>
            </a:p>
          </p:txBody>
        </p:sp>
        <p:sp>
          <p:nvSpPr>
            <p:cNvPr id="33" name="Rectangle 29"/>
            <p:cNvSpPr>
              <a:spLocks noChangeArrowheads="1"/>
            </p:cNvSpPr>
            <p:nvPr/>
          </p:nvSpPr>
          <p:spPr bwMode="auto">
            <a:xfrm>
              <a:off x="1842" y="2880"/>
              <a:ext cx="1374" cy="144"/>
            </a:xfrm>
            <a:prstGeom prst="rect">
              <a:avLst/>
            </a:prstGeom>
            <a:solidFill>
              <a:srgbClr val="6A00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4" name="Rectangle 30"/>
            <p:cNvSpPr>
              <a:spLocks noChangeArrowheads="1"/>
            </p:cNvSpPr>
            <p:nvPr/>
          </p:nvSpPr>
          <p:spPr bwMode="auto">
            <a:xfrm>
              <a:off x="1842" y="3024"/>
              <a:ext cx="1374" cy="476"/>
            </a:xfrm>
            <a:prstGeom prst="rect">
              <a:avLst/>
            </a:prstGeom>
            <a:solidFill>
              <a:srgbClr val="E7D2D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5" name="Rectangle 31"/>
            <p:cNvSpPr>
              <a:spLocks noChangeArrowheads="1"/>
            </p:cNvSpPr>
            <p:nvPr/>
          </p:nvSpPr>
          <p:spPr bwMode="auto">
            <a:xfrm>
              <a:off x="2016" y="2918"/>
              <a:ext cx="72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200" b="1">
                  <a:solidFill>
                    <a:srgbClr val="FFFFFF"/>
                  </a:solidFill>
                  <a:latin typeface="Arial" charset="0"/>
                </a:rPr>
                <a:t>Individual Level</a:t>
              </a:r>
              <a:endParaRPr lang="en-US" sz="1200" b="1">
                <a:latin typeface="Arial" charset="0"/>
              </a:endParaRPr>
            </a:p>
          </p:txBody>
        </p:sp>
        <p:sp>
          <p:nvSpPr>
            <p:cNvPr id="36" name="Rectangle 32"/>
            <p:cNvSpPr>
              <a:spLocks noChangeArrowheads="1"/>
            </p:cNvSpPr>
            <p:nvPr/>
          </p:nvSpPr>
          <p:spPr bwMode="auto">
            <a:xfrm>
              <a:off x="1912" y="3094"/>
              <a:ext cx="2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a:solidFill>
                    <a:srgbClr val="000000"/>
                  </a:solidFill>
                  <a:latin typeface="Arial" charset="0"/>
                </a:rPr>
                <a:t>•</a:t>
              </a:r>
              <a:endParaRPr lang="en-US" sz="1000" b="1">
                <a:latin typeface="Arial" charset="0"/>
              </a:endParaRPr>
            </a:p>
          </p:txBody>
        </p:sp>
        <p:sp>
          <p:nvSpPr>
            <p:cNvPr id="37" name="Rectangle 33"/>
            <p:cNvSpPr>
              <a:spLocks noChangeArrowheads="1"/>
            </p:cNvSpPr>
            <p:nvPr/>
          </p:nvSpPr>
          <p:spPr bwMode="auto">
            <a:xfrm>
              <a:off x="1946" y="3094"/>
              <a:ext cx="629"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a:solidFill>
                    <a:srgbClr val="000000"/>
                  </a:solidFill>
                  <a:latin typeface="Arial" charset="0"/>
                </a:rPr>
                <a:t> Job satisfaction</a:t>
              </a:r>
              <a:endParaRPr lang="en-US" sz="1000" b="1">
                <a:latin typeface="Arial" charset="0"/>
              </a:endParaRPr>
            </a:p>
          </p:txBody>
        </p:sp>
        <p:sp>
          <p:nvSpPr>
            <p:cNvPr id="38" name="Rectangle 34"/>
            <p:cNvSpPr>
              <a:spLocks noChangeArrowheads="1"/>
            </p:cNvSpPr>
            <p:nvPr/>
          </p:nvSpPr>
          <p:spPr bwMode="auto">
            <a:xfrm>
              <a:off x="1912" y="3170"/>
              <a:ext cx="2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a:solidFill>
                    <a:srgbClr val="000000"/>
                  </a:solidFill>
                  <a:latin typeface="Arial" charset="0"/>
                </a:rPr>
                <a:t>•</a:t>
              </a:r>
              <a:endParaRPr lang="en-US" sz="1000" b="1">
                <a:latin typeface="Arial" charset="0"/>
              </a:endParaRPr>
            </a:p>
          </p:txBody>
        </p:sp>
        <p:sp>
          <p:nvSpPr>
            <p:cNvPr id="39" name="Rectangle 35"/>
            <p:cNvSpPr>
              <a:spLocks noChangeArrowheads="1"/>
            </p:cNvSpPr>
            <p:nvPr/>
          </p:nvSpPr>
          <p:spPr bwMode="auto">
            <a:xfrm>
              <a:off x="1946" y="3170"/>
              <a:ext cx="57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a:solidFill>
                    <a:srgbClr val="000000"/>
                  </a:solidFill>
                  <a:latin typeface="Arial" charset="0"/>
                </a:rPr>
                <a:t> Empowerment</a:t>
              </a:r>
              <a:endParaRPr lang="en-US" sz="1000" b="1">
                <a:latin typeface="Arial" charset="0"/>
              </a:endParaRPr>
            </a:p>
          </p:txBody>
        </p:sp>
        <p:sp>
          <p:nvSpPr>
            <p:cNvPr id="40" name="Rectangle 36"/>
            <p:cNvSpPr>
              <a:spLocks noChangeArrowheads="1"/>
            </p:cNvSpPr>
            <p:nvPr/>
          </p:nvSpPr>
          <p:spPr bwMode="auto">
            <a:xfrm>
              <a:off x="1912" y="3246"/>
              <a:ext cx="2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a:solidFill>
                    <a:srgbClr val="000000"/>
                  </a:solidFill>
                  <a:latin typeface="Arial" charset="0"/>
                </a:rPr>
                <a:t>•</a:t>
              </a:r>
              <a:endParaRPr lang="en-US" sz="1000" b="1">
                <a:latin typeface="Arial" charset="0"/>
              </a:endParaRPr>
            </a:p>
          </p:txBody>
        </p:sp>
        <p:sp>
          <p:nvSpPr>
            <p:cNvPr id="41" name="Rectangle 37"/>
            <p:cNvSpPr>
              <a:spLocks noChangeArrowheads="1"/>
            </p:cNvSpPr>
            <p:nvPr/>
          </p:nvSpPr>
          <p:spPr bwMode="auto">
            <a:xfrm>
              <a:off x="1946" y="3246"/>
              <a:ext cx="721"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sz="1000" b="1">
                  <a:solidFill>
                    <a:srgbClr val="000000"/>
                  </a:solidFill>
                  <a:latin typeface="Arial" charset="0"/>
                </a:rPr>
                <a:t> Behaving ethically</a:t>
              </a:r>
              <a:endParaRPr lang="en-US" sz="1000" b="1">
                <a:latin typeface="Arial" charset="0"/>
              </a:endParaRPr>
            </a:p>
          </p:txBody>
        </p:sp>
        <p:sp>
          <p:nvSpPr>
            <p:cNvPr id="42" name="Freeform 38"/>
            <p:cNvSpPr>
              <a:spLocks/>
            </p:cNvSpPr>
            <p:nvPr/>
          </p:nvSpPr>
          <p:spPr bwMode="auto">
            <a:xfrm>
              <a:off x="1680" y="1622"/>
              <a:ext cx="96" cy="1572"/>
            </a:xfrm>
            <a:custGeom>
              <a:avLst/>
              <a:gdLst>
                <a:gd name="T0" fmla="*/ 96 w 96"/>
                <a:gd name="T1" fmla="*/ 0 h 1572"/>
                <a:gd name="T2" fmla="*/ 0 w 96"/>
                <a:gd name="T3" fmla="*/ 0 h 1572"/>
                <a:gd name="T4" fmla="*/ 0 w 96"/>
                <a:gd name="T5" fmla="*/ 1572 h 1572"/>
                <a:gd name="T6" fmla="*/ 90 w 96"/>
                <a:gd name="T7" fmla="*/ 1572 h 1572"/>
              </a:gdLst>
              <a:ahLst/>
              <a:cxnLst>
                <a:cxn ang="0">
                  <a:pos x="T0" y="T1"/>
                </a:cxn>
                <a:cxn ang="0">
                  <a:pos x="T2" y="T3"/>
                </a:cxn>
                <a:cxn ang="0">
                  <a:pos x="T4" y="T5"/>
                </a:cxn>
                <a:cxn ang="0">
                  <a:pos x="T6" y="T7"/>
                </a:cxn>
              </a:cxnLst>
              <a:rect l="0" t="0" r="r" b="b"/>
              <a:pathLst>
                <a:path w="96" h="1572">
                  <a:moveTo>
                    <a:pt x="96" y="0"/>
                  </a:moveTo>
                  <a:lnTo>
                    <a:pt x="0" y="0"/>
                  </a:lnTo>
                  <a:lnTo>
                    <a:pt x="0" y="1572"/>
                  </a:lnTo>
                  <a:lnTo>
                    <a:pt x="90" y="1572"/>
                  </a:lnTo>
                </a:path>
              </a:pathLst>
            </a:custGeom>
            <a:noFill/>
            <a:ln w="25400">
              <a:solidFill>
                <a:srgbClr val="FC9A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3" name="Freeform 39"/>
            <p:cNvSpPr>
              <a:spLocks/>
            </p:cNvSpPr>
            <p:nvPr/>
          </p:nvSpPr>
          <p:spPr bwMode="auto">
            <a:xfrm>
              <a:off x="1756" y="3174"/>
              <a:ext cx="68" cy="40"/>
            </a:xfrm>
            <a:custGeom>
              <a:avLst/>
              <a:gdLst>
                <a:gd name="T0" fmla="*/ 32 w 68"/>
                <a:gd name="T1" fmla="*/ 12 h 40"/>
                <a:gd name="T2" fmla="*/ 32 w 68"/>
                <a:gd name="T3" fmla="*/ 12 h 40"/>
                <a:gd name="T4" fmla="*/ 16 w 68"/>
                <a:gd name="T5" fmla="*/ 6 h 40"/>
                <a:gd name="T6" fmla="*/ 0 w 68"/>
                <a:gd name="T7" fmla="*/ 0 h 40"/>
                <a:gd name="T8" fmla="*/ 0 w 68"/>
                <a:gd name="T9" fmla="*/ 40 h 40"/>
                <a:gd name="T10" fmla="*/ 0 w 68"/>
                <a:gd name="T11" fmla="*/ 40 h 40"/>
                <a:gd name="T12" fmla="*/ 14 w 68"/>
                <a:gd name="T13" fmla="*/ 34 h 40"/>
                <a:gd name="T14" fmla="*/ 32 w 68"/>
                <a:gd name="T15" fmla="*/ 28 h 40"/>
                <a:gd name="T16" fmla="*/ 32 w 68"/>
                <a:gd name="T17" fmla="*/ 28 h 40"/>
                <a:gd name="T18" fmla="*/ 52 w 68"/>
                <a:gd name="T19" fmla="*/ 22 h 40"/>
                <a:gd name="T20" fmla="*/ 68 w 68"/>
                <a:gd name="T21" fmla="*/ 20 h 40"/>
                <a:gd name="T22" fmla="*/ 68 w 68"/>
                <a:gd name="T23" fmla="*/ 20 h 40"/>
                <a:gd name="T24" fmla="*/ 52 w 68"/>
                <a:gd name="T25" fmla="*/ 16 h 40"/>
                <a:gd name="T26" fmla="*/ 32 w 68"/>
                <a:gd name="T27" fmla="*/ 12 h 40"/>
                <a:gd name="T28" fmla="*/ 32 w 68"/>
                <a:gd name="T29" fmla="*/ 1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 h="40">
                  <a:moveTo>
                    <a:pt x="32" y="12"/>
                  </a:moveTo>
                  <a:lnTo>
                    <a:pt x="32" y="12"/>
                  </a:lnTo>
                  <a:lnTo>
                    <a:pt x="16" y="6"/>
                  </a:lnTo>
                  <a:lnTo>
                    <a:pt x="0" y="0"/>
                  </a:lnTo>
                  <a:lnTo>
                    <a:pt x="0" y="40"/>
                  </a:lnTo>
                  <a:lnTo>
                    <a:pt x="0" y="40"/>
                  </a:lnTo>
                  <a:lnTo>
                    <a:pt x="14" y="34"/>
                  </a:lnTo>
                  <a:lnTo>
                    <a:pt x="32" y="28"/>
                  </a:lnTo>
                  <a:lnTo>
                    <a:pt x="32" y="28"/>
                  </a:lnTo>
                  <a:lnTo>
                    <a:pt x="52" y="22"/>
                  </a:lnTo>
                  <a:lnTo>
                    <a:pt x="68" y="20"/>
                  </a:lnTo>
                  <a:lnTo>
                    <a:pt x="68" y="20"/>
                  </a:lnTo>
                  <a:lnTo>
                    <a:pt x="52" y="16"/>
                  </a:lnTo>
                  <a:lnTo>
                    <a:pt x="32" y="12"/>
                  </a:lnTo>
                  <a:lnTo>
                    <a:pt x="32" y="12"/>
                  </a:lnTo>
                  <a:close/>
                </a:path>
              </a:pathLst>
            </a:custGeom>
            <a:solidFill>
              <a:srgbClr val="E97C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 name="Freeform 40"/>
            <p:cNvSpPr>
              <a:spLocks/>
            </p:cNvSpPr>
            <p:nvPr/>
          </p:nvSpPr>
          <p:spPr bwMode="auto">
            <a:xfrm>
              <a:off x="1762" y="1602"/>
              <a:ext cx="68" cy="40"/>
            </a:xfrm>
            <a:custGeom>
              <a:avLst/>
              <a:gdLst>
                <a:gd name="T0" fmla="*/ 32 w 68"/>
                <a:gd name="T1" fmla="*/ 12 h 40"/>
                <a:gd name="T2" fmla="*/ 32 w 68"/>
                <a:gd name="T3" fmla="*/ 12 h 40"/>
                <a:gd name="T4" fmla="*/ 16 w 68"/>
                <a:gd name="T5" fmla="*/ 6 h 40"/>
                <a:gd name="T6" fmla="*/ 0 w 68"/>
                <a:gd name="T7" fmla="*/ 0 h 40"/>
                <a:gd name="T8" fmla="*/ 0 w 68"/>
                <a:gd name="T9" fmla="*/ 40 h 40"/>
                <a:gd name="T10" fmla="*/ 0 w 68"/>
                <a:gd name="T11" fmla="*/ 40 h 40"/>
                <a:gd name="T12" fmla="*/ 12 w 68"/>
                <a:gd name="T13" fmla="*/ 36 h 40"/>
                <a:gd name="T14" fmla="*/ 32 w 68"/>
                <a:gd name="T15" fmla="*/ 28 h 40"/>
                <a:gd name="T16" fmla="*/ 32 w 68"/>
                <a:gd name="T17" fmla="*/ 28 h 40"/>
                <a:gd name="T18" fmla="*/ 52 w 68"/>
                <a:gd name="T19" fmla="*/ 24 h 40"/>
                <a:gd name="T20" fmla="*/ 68 w 68"/>
                <a:gd name="T21" fmla="*/ 20 h 40"/>
                <a:gd name="T22" fmla="*/ 68 w 68"/>
                <a:gd name="T23" fmla="*/ 20 h 40"/>
                <a:gd name="T24" fmla="*/ 52 w 68"/>
                <a:gd name="T25" fmla="*/ 18 h 40"/>
                <a:gd name="T26" fmla="*/ 32 w 68"/>
                <a:gd name="T27" fmla="*/ 12 h 40"/>
                <a:gd name="T28" fmla="*/ 32 w 68"/>
                <a:gd name="T29" fmla="*/ 1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 h="40">
                  <a:moveTo>
                    <a:pt x="32" y="12"/>
                  </a:moveTo>
                  <a:lnTo>
                    <a:pt x="32" y="12"/>
                  </a:lnTo>
                  <a:lnTo>
                    <a:pt x="16" y="6"/>
                  </a:lnTo>
                  <a:lnTo>
                    <a:pt x="0" y="0"/>
                  </a:lnTo>
                  <a:lnTo>
                    <a:pt x="0" y="40"/>
                  </a:lnTo>
                  <a:lnTo>
                    <a:pt x="0" y="40"/>
                  </a:lnTo>
                  <a:lnTo>
                    <a:pt x="12" y="36"/>
                  </a:lnTo>
                  <a:lnTo>
                    <a:pt x="32" y="28"/>
                  </a:lnTo>
                  <a:lnTo>
                    <a:pt x="32" y="28"/>
                  </a:lnTo>
                  <a:lnTo>
                    <a:pt x="52" y="24"/>
                  </a:lnTo>
                  <a:lnTo>
                    <a:pt x="68" y="20"/>
                  </a:lnTo>
                  <a:lnTo>
                    <a:pt x="68" y="20"/>
                  </a:lnTo>
                  <a:lnTo>
                    <a:pt x="52" y="18"/>
                  </a:lnTo>
                  <a:lnTo>
                    <a:pt x="32" y="12"/>
                  </a:lnTo>
                  <a:lnTo>
                    <a:pt x="32" y="12"/>
                  </a:lnTo>
                  <a:close/>
                </a:path>
              </a:pathLst>
            </a:custGeom>
            <a:solidFill>
              <a:srgbClr val="FC9A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 name="Freeform 41"/>
            <p:cNvSpPr>
              <a:spLocks/>
            </p:cNvSpPr>
            <p:nvPr/>
          </p:nvSpPr>
          <p:spPr bwMode="auto">
            <a:xfrm>
              <a:off x="1760" y="3178"/>
              <a:ext cx="54" cy="32"/>
            </a:xfrm>
            <a:custGeom>
              <a:avLst/>
              <a:gdLst>
                <a:gd name="T0" fmla="*/ 26 w 54"/>
                <a:gd name="T1" fmla="*/ 8 h 32"/>
                <a:gd name="T2" fmla="*/ 26 w 54"/>
                <a:gd name="T3" fmla="*/ 8 h 32"/>
                <a:gd name="T4" fmla="*/ 0 w 54"/>
                <a:gd name="T5" fmla="*/ 0 h 32"/>
                <a:gd name="T6" fmla="*/ 0 w 54"/>
                <a:gd name="T7" fmla="*/ 32 h 32"/>
                <a:gd name="T8" fmla="*/ 0 w 54"/>
                <a:gd name="T9" fmla="*/ 32 h 32"/>
                <a:gd name="T10" fmla="*/ 26 w 54"/>
                <a:gd name="T11" fmla="*/ 22 h 32"/>
                <a:gd name="T12" fmla="*/ 26 w 54"/>
                <a:gd name="T13" fmla="*/ 22 h 32"/>
                <a:gd name="T14" fmla="*/ 54 w 54"/>
                <a:gd name="T15" fmla="*/ 16 h 32"/>
                <a:gd name="T16" fmla="*/ 54 w 54"/>
                <a:gd name="T17" fmla="*/ 16 h 32"/>
                <a:gd name="T18" fmla="*/ 26 w 54"/>
                <a:gd name="T19" fmla="*/ 8 h 32"/>
                <a:gd name="T20" fmla="*/ 26 w 54"/>
                <a:gd name="T21" fmla="*/ 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4" h="32">
                  <a:moveTo>
                    <a:pt x="26" y="8"/>
                  </a:moveTo>
                  <a:lnTo>
                    <a:pt x="26" y="8"/>
                  </a:lnTo>
                  <a:lnTo>
                    <a:pt x="0" y="0"/>
                  </a:lnTo>
                  <a:lnTo>
                    <a:pt x="0" y="32"/>
                  </a:lnTo>
                  <a:lnTo>
                    <a:pt x="0" y="32"/>
                  </a:lnTo>
                  <a:lnTo>
                    <a:pt x="26" y="22"/>
                  </a:lnTo>
                  <a:lnTo>
                    <a:pt x="26" y="22"/>
                  </a:lnTo>
                  <a:lnTo>
                    <a:pt x="54" y="16"/>
                  </a:lnTo>
                  <a:lnTo>
                    <a:pt x="54" y="16"/>
                  </a:lnTo>
                  <a:lnTo>
                    <a:pt x="26" y="8"/>
                  </a:lnTo>
                  <a:lnTo>
                    <a:pt x="26" y="8"/>
                  </a:lnTo>
                  <a:close/>
                </a:path>
              </a:pathLst>
            </a:custGeom>
            <a:solidFill>
              <a:srgbClr val="FC9A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 name="Line 42"/>
            <p:cNvSpPr>
              <a:spLocks noChangeShapeType="1"/>
            </p:cNvSpPr>
            <p:nvPr/>
          </p:nvSpPr>
          <p:spPr bwMode="auto">
            <a:xfrm>
              <a:off x="2392" y="1976"/>
              <a:ext cx="1" cy="72"/>
            </a:xfrm>
            <a:prstGeom prst="line">
              <a:avLst/>
            </a:prstGeom>
            <a:noFill/>
            <a:ln w="25400">
              <a:solidFill>
                <a:srgbClr val="ED967A"/>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 name="Freeform 43"/>
            <p:cNvSpPr>
              <a:spLocks/>
            </p:cNvSpPr>
            <p:nvPr/>
          </p:nvSpPr>
          <p:spPr bwMode="auto">
            <a:xfrm>
              <a:off x="2372" y="2034"/>
              <a:ext cx="40" cy="68"/>
            </a:xfrm>
            <a:custGeom>
              <a:avLst/>
              <a:gdLst>
                <a:gd name="T0" fmla="*/ 28 w 40"/>
                <a:gd name="T1" fmla="*/ 34 h 68"/>
                <a:gd name="T2" fmla="*/ 28 w 40"/>
                <a:gd name="T3" fmla="*/ 34 h 68"/>
                <a:gd name="T4" fmla="*/ 34 w 40"/>
                <a:gd name="T5" fmla="*/ 16 h 68"/>
                <a:gd name="T6" fmla="*/ 40 w 40"/>
                <a:gd name="T7" fmla="*/ 0 h 68"/>
                <a:gd name="T8" fmla="*/ 0 w 40"/>
                <a:gd name="T9" fmla="*/ 0 h 68"/>
                <a:gd name="T10" fmla="*/ 0 w 40"/>
                <a:gd name="T11" fmla="*/ 0 h 68"/>
                <a:gd name="T12" fmla="*/ 6 w 40"/>
                <a:gd name="T13" fmla="*/ 14 h 68"/>
                <a:gd name="T14" fmla="*/ 12 w 40"/>
                <a:gd name="T15" fmla="*/ 34 h 68"/>
                <a:gd name="T16" fmla="*/ 12 w 40"/>
                <a:gd name="T17" fmla="*/ 34 h 68"/>
                <a:gd name="T18" fmla="*/ 18 w 40"/>
                <a:gd name="T19" fmla="*/ 54 h 68"/>
                <a:gd name="T20" fmla="*/ 20 w 40"/>
                <a:gd name="T21" fmla="*/ 68 h 68"/>
                <a:gd name="T22" fmla="*/ 20 w 40"/>
                <a:gd name="T23" fmla="*/ 68 h 68"/>
                <a:gd name="T24" fmla="*/ 24 w 40"/>
                <a:gd name="T25" fmla="*/ 54 h 68"/>
                <a:gd name="T26" fmla="*/ 28 w 40"/>
                <a:gd name="T27" fmla="*/ 34 h 68"/>
                <a:gd name="T28" fmla="*/ 28 w 40"/>
                <a:gd name="T29" fmla="*/ 3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0" h="68">
                  <a:moveTo>
                    <a:pt x="28" y="34"/>
                  </a:moveTo>
                  <a:lnTo>
                    <a:pt x="28" y="34"/>
                  </a:lnTo>
                  <a:lnTo>
                    <a:pt x="34" y="16"/>
                  </a:lnTo>
                  <a:lnTo>
                    <a:pt x="40" y="0"/>
                  </a:lnTo>
                  <a:lnTo>
                    <a:pt x="0" y="0"/>
                  </a:lnTo>
                  <a:lnTo>
                    <a:pt x="0" y="0"/>
                  </a:lnTo>
                  <a:lnTo>
                    <a:pt x="6" y="14"/>
                  </a:lnTo>
                  <a:lnTo>
                    <a:pt x="12" y="34"/>
                  </a:lnTo>
                  <a:lnTo>
                    <a:pt x="12" y="34"/>
                  </a:lnTo>
                  <a:lnTo>
                    <a:pt x="18" y="54"/>
                  </a:lnTo>
                  <a:lnTo>
                    <a:pt x="20" y="68"/>
                  </a:lnTo>
                  <a:lnTo>
                    <a:pt x="20" y="68"/>
                  </a:lnTo>
                  <a:lnTo>
                    <a:pt x="24" y="54"/>
                  </a:lnTo>
                  <a:lnTo>
                    <a:pt x="28" y="34"/>
                  </a:lnTo>
                  <a:lnTo>
                    <a:pt x="28" y="34"/>
                  </a:lnTo>
                  <a:close/>
                </a:path>
              </a:pathLst>
            </a:custGeom>
            <a:solidFill>
              <a:srgbClr val="ED96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 name="Freeform 44"/>
            <p:cNvSpPr>
              <a:spLocks/>
            </p:cNvSpPr>
            <p:nvPr/>
          </p:nvSpPr>
          <p:spPr bwMode="auto">
            <a:xfrm>
              <a:off x="2372" y="1922"/>
              <a:ext cx="40" cy="68"/>
            </a:xfrm>
            <a:custGeom>
              <a:avLst/>
              <a:gdLst>
                <a:gd name="T0" fmla="*/ 12 w 40"/>
                <a:gd name="T1" fmla="*/ 36 h 68"/>
                <a:gd name="T2" fmla="*/ 12 w 40"/>
                <a:gd name="T3" fmla="*/ 36 h 68"/>
                <a:gd name="T4" fmla="*/ 6 w 40"/>
                <a:gd name="T5" fmla="*/ 52 h 68"/>
                <a:gd name="T6" fmla="*/ 0 w 40"/>
                <a:gd name="T7" fmla="*/ 68 h 68"/>
                <a:gd name="T8" fmla="*/ 40 w 40"/>
                <a:gd name="T9" fmla="*/ 68 h 68"/>
                <a:gd name="T10" fmla="*/ 40 w 40"/>
                <a:gd name="T11" fmla="*/ 68 h 68"/>
                <a:gd name="T12" fmla="*/ 36 w 40"/>
                <a:gd name="T13" fmla="*/ 56 h 68"/>
                <a:gd name="T14" fmla="*/ 28 w 40"/>
                <a:gd name="T15" fmla="*/ 36 h 68"/>
                <a:gd name="T16" fmla="*/ 28 w 40"/>
                <a:gd name="T17" fmla="*/ 36 h 68"/>
                <a:gd name="T18" fmla="*/ 24 w 40"/>
                <a:gd name="T19" fmla="*/ 16 h 68"/>
                <a:gd name="T20" fmla="*/ 20 w 40"/>
                <a:gd name="T21" fmla="*/ 0 h 68"/>
                <a:gd name="T22" fmla="*/ 20 w 40"/>
                <a:gd name="T23" fmla="*/ 0 h 68"/>
                <a:gd name="T24" fmla="*/ 18 w 40"/>
                <a:gd name="T25" fmla="*/ 16 h 68"/>
                <a:gd name="T26" fmla="*/ 12 w 40"/>
                <a:gd name="T27" fmla="*/ 36 h 68"/>
                <a:gd name="T28" fmla="*/ 12 w 40"/>
                <a:gd name="T29" fmla="*/ 3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0" h="68">
                  <a:moveTo>
                    <a:pt x="12" y="36"/>
                  </a:moveTo>
                  <a:lnTo>
                    <a:pt x="12" y="36"/>
                  </a:lnTo>
                  <a:lnTo>
                    <a:pt x="6" y="52"/>
                  </a:lnTo>
                  <a:lnTo>
                    <a:pt x="0" y="68"/>
                  </a:lnTo>
                  <a:lnTo>
                    <a:pt x="40" y="68"/>
                  </a:lnTo>
                  <a:lnTo>
                    <a:pt x="40" y="68"/>
                  </a:lnTo>
                  <a:lnTo>
                    <a:pt x="36" y="56"/>
                  </a:lnTo>
                  <a:lnTo>
                    <a:pt x="28" y="36"/>
                  </a:lnTo>
                  <a:lnTo>
                    <a:pt x="28" y="36"/>
                  </a:lnTo>
                  <a:lnTo>
                    <a:pt x="24" y="16"/>
                  </a:lnTo>
                  <a:lnTo>
                    <a:pt x="20" y="0"/>
                  </a:lnTo>
                  <a:lnTo>
                    <a:pt x="20" y="0"/>
                  </a:lnTo>
                  <a:lnTo>
                    <a:pt x="18" y="16"/>
                  </a:lnTo>
                  <a:lnTo>
                    <a:pt x="12" y="36"/>
                  </a:lnTo>
                  <a:lnTo>
                    <a:pt x="12" y="36"/>
                  </a:lnTo>
                  <a:close/>
                </a:path>
              </a:pathLst>
            </a:custGeom>
            <a:solidFill>
              <a:srgbClr val="ED96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 name="Line 45"/>
            <p:cNvSpPr>
              <a:spLocks noChangeShapeType="1"/>
            </p:cNvSpPr>
            <p:nvPr/>
          </p:nvSpPr>
          <p:spPr bwMode="auto">
            <a:xfrm>
              <a:off x="2392" y="2762"/>
              <a:ext cx="1" cy="72"/>
            </a:xfrm>
            <a:prstGeom prst="line">
              <a:avLst/>
            </a:prstGeom>
            <a:noFill/>
            <a:ln w="25400">
              <a:solidFill>
                <a:srgbClr val="ED967A"/>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 name="Freeform 46"/>
            <p:cNvSpPr>
              <a:spLocks/>
            </p:cNvSpPr>
            <p:nvPr/>
          </p:nvSpPr>
          <p:spPr bwMode="auto">
            <a:xfrm>
              <a:off x="2372" y="2820"/>
              <a:ext cx="40" cy="68"/>
            </a:xfrm>
            <a:custGeom>
              <a:avLst/>
              <a:gdLst>
                <a:gd name="T0" fmla="*/ 28 w 40"/>
                <a:gd name="T1" fmla="*/ 34 h 68"/>
                <a:gd name="T2" fmla="*/ 28 w 40"/>
                <a:gd name="T3" fmla="*/ 34 h 68"/>
                <a:gd name="T4" fmla="*/ 34 w 40"/>
                <a:gd name="T5" fmla="*/ 16 h 68"/>
                <a:gd name="T6" fmla="*/ 40 w 40"/>
                <a:gd name="T7" fmla="*/ 0 h 68"/>
                <a:gd name="T8" fmla="*/ 0 w 40"/>
                <a:gd name="T9" fmla="*/ 0 h 68"/>
                <a:gd name="T10" fmla="*/ 0 w 40"/>
                <a:gd name="T11" fmla="*/ 0 h 68"/>
                <a:gd name="T12" fmla="*/ 6 w 40"/>
                <a:gd name="T13" fmla="*/ 14 h 68"/>
                <a:gd name="T14" fmla="*/ 12 w 40"/>
                <a:gd name="T15" fmla="*/ 34 h 68"/>
                <a:gd name="T16" fmla="*/ 12 w 40"/>
                <a:gd name="T17" fmla="*/ 34 h 68"/>
                <a:gd name="T18" fmla="*/ 18 w 40"/>
                <a:gd name="T19" fmla="*/ 54 h 68"/>
                <a:gd name="T20" fmla="*/ 20 w 40"/>
                <a:gd name="T21" fmla="*/ 68 h 68"/>
                <a:gd name="T22" fmla="*/ 20 w 40"/>
                <a:gd name="T23" fmla="*/ 68 h 68"/>
                <a:gd name="T24" fmla="*/ 24 w 40"/>
                <a:gd name="T25" fmla="*/ 54 h 68"/>
                <a:gd name="T26" fmla="*/ 28 w 40"/>
                <a:gd name="T27" fmla="*/ 34 h 68"/>
                <a:gd name="T28" fmla="*/ 28 w 40"/>
                <a:gd name="T29" fmla="*/ 3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0" h="68">
                  <a:moveTo>
                    <a:pt x="28" y="34"/>
                  </a:moveTo>
                  <a:lnTo>
                    <a:pt x="28" y="34"/>
                  </a:lnTo>
                  <a:lnTo>
                    <a:pt x="34" y="16"/>
                  </a:lnTo>
                  <a:lnTo>
                    <a:pt x="40" y="0"/>
                  </a:lnTo>
                  <a:lnTo>
                    <a:pt x="0" y="0"/>
                  </a:lnTo>
                  <a:lnTo>
                    <a:pt x="0" y="0"/>
                  </a:lnTo>
                  <a:lnTo>
                    <a:pt x="6" y="14"/>
                  </a:lnTo>
                  <a:lnTo>
                    <a:pt x="12" y="34"/>
                  </a:lnTo>
                  <a:lnTo>
                    <a:pt x="12" y="34"/>
                  </a:lnTo>
                  <a:lnTo>
                    <a:pt x="18" y="54"/>
                  </a:lnTo>
                  <a:lnTo>
                    <a:pt x="20" y="68"/>
                  </a:lnTo>
                  <a:lnTo>
                    <a:pt x="20" y="68"/>
                  </a:lnTo>
                  <a:lnTo>
                    <a:pt x="24" y="54"/>
                  </a:lnTo>
                  <a:lnTo>
                    <a:pt x="28" y="34"/>
                  </a:lnTo>
                  <a:lnTo>
                    <a:pt x="28" y="34"/>
                  </a:lnTo>
                  <a:close/>
                </a:path>
              </a:pathLst>
            </a:custGeom>
            <a:solidFill>
              <a:srgbClr val="ED96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 name="Freeform 47"/>
            <p:cNvSpPr>
              <a:spLocks/>
            </p:cNvSpPr>
            <p:nvPr/>
          </p:nvSpPr>
          <p:spPr bwMode="auto">
            <a:xfrm>
              <a:off x="2372" y="2708"/>
              <a:ext cx="40" cy="68"/>
            </a:xfrm>
            <a:custGeom>
              <a:avLst/>
              <a:gdLst>
                <a:gd name="T0" fmla="*/ 12 w 40"/>
                <a:gd name="T1" fmla="*/ 36 h 68"/>
                <a:gd name="T2" fmla="*/ 12 w 40"/>
                <a:gd name="T3" fmla="*/ 36 h 68"/>
                <a:gd name="T4" fmla="*/ 6 w 40"/>
                <a:gd name="T5" fmla="*/ 52 h 68"/>
                <a:gd name="T6" fmla="*/ 0 w 40"/>
                <a:gd name="T7" fmla="*/ 68 h 68"/>
                <a:gd name="T8" fmla="*/ 40 w 40"/>
                <a:gd name="T9" fmla="*/ 68 h 68"/>
                <a:gd name="T10" fmla="*/ 40 w 40"/>
                <a:gd name="T11" fmla="*/ 68 h 68"/>
                <a:gd name="T12" fmla="*/ 36 w 40"/>
                <a:gd name="T13" fmla="*/ 56 h 68"/>
                <a:gd name="T14" fmla="*/ 28 w 40"/>
                <a:gd name="T15" fmla="*/ 36 h 68"/>
                <a:gd name="T16" fmla="*/ 28 w 40"/>
                <a:gd name="T17" fmla="*/ 36 h 68"/>
                <a:gd name="T18" fmla="*/ 24 w 40"/>
                <a:gd name="T19" fmla="*/ 16 h 68"/>
                <a:gd name="T20" fmla="*/ 20 w 40"/>
                <a:gd name="T21" fmla="*/ 0 h 68"/>
                <a:gd name="T22" fmla="*/ 20 w 40"/>
                <a:gd name="T23" fmla="*/ 0 h 68"/>
                <a:gd name="T24" fmla="*/ 18 w 40"/>
                <a:gd name="T25" fmla="*/ 16 h 68"/>
                <a:gd name="T26" fmla="*/ 12 w 40"/>
                <a:gd name="T27" fmla="*/ 36 h 68"/>
                <a:gd name="T28" fmla="*/ 12 w 40"/>
                <a:gd name="T29" fmla="*/ 3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0" h="68">
                  <a:moveTo>
                    <a:pt x="12" y="36"/>
                  </a:moveTo>
                  <a:lnTo>
                    <a:pt x="12" y="36"/>
                  </a:lnTo>
                  <a:lnTo>
                    <a:pt x="6" y="52"/>
                  </a:lnTo>
                  <a:lnTo>
                    <a:pt x="0" y="68"/>
                  </a:lnTo>
                  <a:lnTo>
                    <a:pt x="40" y="68"/>
                  </a:lnTo>
                  <a:lnTo>
                    <a:pt x="40" y="68"/>
                  </a:lnTo>
                  <a:lnTo>
                    <a:pt x="36" y="56"/>
                  </a:lnTo>
                  <a:lnTo>
                    <a:pt x="28" y="36"/>
                  </a:lnTo>
                  <a:lnTo>
                    <a:pt x="28" y="36"/>
                  </a:lnTo>
                  <a:lnTo>
                    <a:pt x="24" y="16"/>
                  </a:lnTo>
                  <a:lnTo>
                    <a:pt x="20" y="0"/>
                  </a:lnTo>
                  <a:lnTo>
                    <a:pt x="20" y="0"/>
                  </a:lnTo>
                  <a:lnTo>
                    <a:pt x="18" y="16"/>
                  </a:lnTo>
                  <a:lnTo>
                    <a:pt x="12" y="36"/>
                  </a:lnTo>
                  <a:lnTo>
                    <a:pt x="12" y="36"/>
                  </a:lnTo>
                  <a:close/>
                </a:path>
              </a:pathLst>
            </a:custGeom>
            <a:solidFill>
              <a:srgbClr val="ED96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1631522806"/>
      </p:ext>
    </p:extLst>
  </p:cSld>
  <p:clrMapOvr>
    <a:masterClrMapping/>
  </p:clrMapOvr>
  <p:transition spd="med">
    <p:blinds/>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Grp="1" noChangeArrowheads="1"/>
          </p:cNvSpPr>
          <p:nvPr>
            <p:ph type="title"/>
          </p:nvPr>
        </p:nvSpPr>
        <p:spPr/>
        <p:txBody>
          <a:bodyPr>
            <a:normAutofit/>
          </a:bodyPr>
          <a:lstStyle/>
          <a:p>
            <a:r>
              <a:rPr lang="en-US" altLang="zh-TW" sz="4000" dirty="0">
                <a:ea typeface="新細明體" pitchFamily="18" charset="-120"/>
              </a:rPr>
              <a:t>Why Do We Study OB?</a:t>
            </a:r>
          </a:p>
        </p:txBody>
      </p:sp>
      <p:sp>
        <p:nvSpPr>
          <p:cNvPr id="313347" name="Rectangle 3"/>
          <p:cNvSpPr>
            <a:spLocks noGrp="1" noChangeArrowheads="1"/>
          </p:cNvSpPr>
          <p:nvPr>
            <p:ph sz="quarter" idx="13"/>
          </p:nvPr>
        </p:nvSpPr>
        <p:spPr>
          <a:xfrm>
            <a:off x="609600" y="1352550"/>
            <a:ext cx="6629400" cy="3276600"/>
          </a:xfrm>
        </p:spPr>
        <p:txBody>
          <a:bodyPr>
            <a:normAutofit/>
          </a:bodyPr>
          <a:lstStyle/>
          <a:p>
            <a:r>
              <a:rPr lang="en-US" altLang="zh-TW" sz="2000" dirty="0">
                <a:ea typeface="新細明體" pitchFamily="18" charset="-120"/>
              </a:rPr>
              <a:t>To learn about yourself and others.</a:t>
            </a:r>
          </a:p>
          <a:p>
            <a:r>
              <a:rPr lang="en-US" altLang="zh-TW" sz="2000" dirty="0">
                <a:ea typeface="新細明體" pitchFamily="18" charset="-120"/>
              </a:rPr>
              <a:t>To understand how the many organizations you encounter work.</a:t>
            </a:r>
          </a:p>
          <a:p>
            <a:r>
              <a:rPr lang="en-US" altLang="zh-TW" sz="2000" dirty="0">
                <a:ea typeface="新細明體" pitchFamily="18" charset="-120"/>
              </a:rPr>
              <a:t>To become familiar with team work.</a:t>
            </a:r>
          </a:p>
          <a:p>
            <a:r>
              <a:rPr lang="en-US" altLang="zh-TW" sz="2000" dirty="0">
                <a:ea typeface="新細明體" pitchFamily="18" charset="-120"/>
              </a:rPr>
              <a:t>To help you think about the people issues faced by managers and entrepreneurs</a:t>
            </a:r>
          </a:p>
        </p:txBody>
      </p:sp>
      <p:pic>
        <p:nvPicPr>
          <p:cNvPr id="3074" name="Picture 2" descr="Image result for What is organizational behavior"/>
          <p:cNvPicPr>
            <a:picLocks noChangeAspect="1" noChangeArrowheads="1"/>
          </p:cNvPicPr>
          <p:nvPr/>
        </p:nvPicPr>
        <p:blipFill rotWithShape="1">
          <a:blip r:embed="rId3">
            <a:extLst>
              <a:ext uri="{28A0092B-C50C-407E-A947-70E740481C1C}">
                <a14:useLocalDpi xmlns:a14="http://schemas.microsoft.com/office/drawing/2010/main" val="0"/>
              </a:ext>
            </a:extLst>
          </a:blip>
          <a:srcRect t="12936" b="13083"/>
          <a:stretch/>
        </p:blipFill>
        <p:spPr bwMode="auto">
          <a:xfrm>
            <a:off x="7086600" y="1352549"/>
            <a:ext cx="1981200" cy="30441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7577000"/>
      </p:ext>
    </p:extLst>
  </p:cSld>
  <p:clrMapOvr>
    <a:masterClrMapping/>
  </p:clrMapOvr>
  <p:transition>
    <p:pull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chemeClr val="tx1"/>
                </a:solidFill>
              </a:rPr>
              <a:t>What Managers Do?</a:t>
            </a:r>
            <a:endParaRPr lang="en-GB" dirty="0">
              <a:solidFill>
                <a:schemeClr val="tx1"/>
              </a:solidFill>
            </a:endParaRP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9</a:t>
            </a:fld>
            <a:endParaRPr lang="en-US"/>
          </a:p>
        </p:txBody>
      </p:sp>
      <p:sp>
        <p:nvSpPr>
          <p:cNvPr id="4" name="Content Placeholder 3"/>
          <p:cNvSpPr>
            <a:spLocks noGrp="1"/>
          </p:cNvSpPr>
          <p:nvPr>
            <p:ph sz="quarter" idx="13"/>
          </p:nvPr>
        </p:nvSpPr>
        <p:spPr/>
        <p:txBody>
          <a:bodyPr/>
          <a:lstStyle/>
          <a:p>
            <a:pPr>
              <a:spcBef>
                <a:spcPct val="50000"/>
              </a:spcBef>
            </a:pPr>
            <a:r>
              <a:rPr lang="en-US" sz="2400" b="1" dirty="0"/>
              <a:t>Managers (or </a:t>
            </a:r>
            <a:r>
              <a:rPr lang="en-US" sz="2400" b="1" i="1" dirty="0"/>
              <a:t>administrators</a:t>
            </a:r>
            <a:r>
              <a:rPr lang="en-US" sz="2400" b="1" dirty="0"/>
              <a:t>)</a:t>
            </a:r>
          </a:p>
          <a:p>
            <a:pPr marL="0" indent="0">
              <a:spcBef>
                <a:spcPct val="50000"/>
              </a:spcBef>
              <a:buNone/>
            </a:pPr>
            <a:r>
              <a:rPr lang="en-US" sz="2400" dirty="0"/>
              <a:t>	Individuals who achieve goals through other people.</a:t>
            </a:r>
          </a:p>
          <a:p>
            <a:endParaRPr lang="en-GB" dirty="0"/>
          </a:p>
        </p:txBody>
      </p:sp>
      <p:sp>
        <p:nvSpPr>
          <p:cNvPr id="5" name="Text Box 4"/>
          <p:cNvSpPr txBox="1">
            <a:spLocks noChangeArrowheads="1"/>
          </p:cNvSpPr>
          <p:nvPr/>
        </p:nvSpPr>
        <p:spPr bwMode="blackWhite">
          <a:xfrm>
            <a:off x="3579812" y="2571750"/>
            <a:ext cx="5030788" cy="1811536"/>
          </a:xfrm>
          <a:prstGeom prst="rect">
            <a:avLst/>
          </a:prstGeom>
          <a:solidFill>
            <a:srgbClr val="CC6600"/>
          </a:solidFill>
          <a:ln w="12700">
            <a:solidFill>
              <a:schemeClr val="tx1"/>
            </a:solidFill>
            <a:miter lim="800000"/>
            <a:headEnd/>
            <a:tailEnd/>
          </a:ln>
          <a:effectLst>
            <a:outerShdw dist="135003" dir="2471156" algn="ctr" rotWithShape="0">
              <a:srgbClr val="DDDDDD"/>
            </a:outerShdw>
          </a:effectLst>
        </p:spPr>
        <p:txBody>
          <a:bodyPr anchor="ctr"/>
          <a:lstStyle/>
          <a:p>
            <a:pPr marL="395288" indent="-173038">
              <a:spcBef>
                <a:spcPct val="35000"/>
              </a:spcBef>
              <a:defRPr/>
            </a:pPr>
            <a:r>
              <a:rPr lang="en-US" b="1" dirty="0">
                <a:solidFill>
                  <a:srgbClr val="FFFFCC"/>
                </a:solidFill>
                <a:latin typeface="Arial" charset="0"/>
              </a:rPr>
              <a:t>Managerial Activities</a:t>
            </a:r>
          </a:p>
          <a:p>
            <a:pPr marL="395288" indent="-173038">
              <a:spcBef>
                <a:spcPct val="35000"/>
              </a:spcBef>
              <a:buFontTx/>
              <a:buChar char="•"/>
              <a:defRPr/>
            </a:pPr>
            <a:r>
              <a:rPr lang="en-US" b="1" dirty="0">
                <a:solidFill>
                  <a:schemeClr val="bg1"/>
                </a:solidFill>
                <a:latin typeface="Arial" charset="0"/>
              </a:rPr>
              <a:t>Make decisions</a:t>
            </a:r>
          </a:p>
          <a:p>
            <a:pPr marL="395288" indent="-173038">
              <a:spcBef>
                <a:spcPct val="35000"/>
              </a:spcBef>
              <a:buFontTx/>
              <a:buChar char="•"/>
              <a:defRPr/>
            </a:pPr>
            <a:r>
              <a:rPr lang="en-US" b="1" dirty="0">
                <a:solidFill>
                  <a:schemeClr val="bg1"/>
                </a:solidFill>
                <a:latin typeface="Arial" charset="0"/>
              </a:rPr>
              <a:t>Allocate resources</a:t>
            </a:r>
          </a:p>
          <a:p>
            <a:pPr marL="395288" indent="-173038">
              <a:spcBef>
                <a:spcPct val="35000"/>
              </a:spcBef>
              <a:buFontTx/>
              <a:buChar char="•"/>
              <a:defRPr/>
            </a:pPr>
            <a:r>
              <a:rPr lang="en-US" b="1" dirty="0">
                <a:solidFill>
                  <a:schemeClr val="bg1"/>
                </a:solidFill>
                <a:latin typeface="Arial" charset="0"/>
              </a:rPr>
              <a:t>Direct activities of others to attain goals</a:t>
            </a:r>
          </a:p>
        </p:txBody>
      </p:sp>
      <p:pic>
        <p:nvPicPr>
          <p:cNvPr id="6" name="Picture 2" descr="Image result for Planning"/>
          <p:cNvPicPr>
            <a:picLocks noChangeAspect="1" noChangeArrowheads="1"/>
          </p:cNvPicPr>
          <p:nvPr/>
        </p:nvPicPr>
        <p:blipFill>
          <a:blip r:embed="rId2"/>
          <a:srcRect/>
          <a:stretch>
            <a:fillRect/>
          </a:stretch>
        </p:blipFill>
        <p:spPr bwMode="auto">
          <a:xfrm>
            <a:off x="138654" y="3105150"/>
            <a:ext cx="3366546" cy="1885950"/>
          </a:xfrm>
          <a:prstGeom prst="rect">
            <a:avLst/>
          </a:prstGeom>
          <a:noFill/>
        </p:spPr>
      </p:pic>
    </p:spTree>
    <p:extLst>
      <p:ext uri="{BB962C8B-B14F-4D97-AF65-F5344CB8AC3E}">
        <p14:creationId xmlns:p14="http://schemas.microsoft.com/office/powerpoint/2010/main" val="2712841736"/>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0070C0"/>
                </a:solidFill>
              </a:rPr>
              <a:t>Where Managers Work</a:t>
            </a:r>
            <a:endParaRPr lang="en-GB" dirty="0">
              <a:solidFill>
                <a:srgbClr val="0070C0"/>
              </a:solidFill>
            </a:endParaRP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10</a:t>
            </a:fld>
            <a:endParaRPr lang="en-US"/>
          </a:p>
        </p:txBody>
      </p:sp>
      <p:sp>
        <p:nvSpPr>
          <p:cNvPr id="4" name="Content Placeholder 3"/>
          <p:cNvSpPr>
            <a:spLocks noGrp="1"/>
          </p:cNvSpPr>
          <p:nvPr>
            <p:ph sz="quarter" idx="13"/>
          </p:nvPr>
        </p:nvSpPr>
        <p:spPr/>
        <p:txBody>
          <a:bodyPr/>
          <a:lstStyle/>
          <a:p>
            <a:pPr>
              <a:spcBef>
                <a:spcPct val="50000"/>
              </a:spcBef>
            </a:pPr>
            <a:r>
              <a:rPr lang="en-US" sz="2800" b="1" dirty="0">
                <a:latin typeface="Arial" pitchFamily="34" charset="0"/>
              </a:rPr>
              <a:t>Organization</a:t>
            </a:r>
          </a:p>
          <a:p>
            <a:pPr marL="0" indent="0">
              <a:spcBef>
                <a:spcPct val="50000"/>
              </a:spcBef>
              <a:buNone/>
            </a:pPr>
            <a:r>
              <a:rPr lang="en-US" sz="2000" dirty="0">
                <a:latin typeface="Tahoma" pitchFamily="34" charset="0"/>
              </a:rPr>
              <a:t>A consciously coordinated social unit, composed of two or more people, that functions on a relatively continuous basis to achieve a common goal or set of goals.</a:t>
            </a:r>
          </a:p>
        </p:txBody>
      </p:sp>
      <p:pic>
        <p:nvPicPr>
          <p:cNvPr id="5" name="Picture 2" descr="Image result for organizations"/>
          <p:cNvPicPr>
            <a:picLocks noChangeAspect="1" noChangeArrowheads="1"/>
          </p:cNvPicPr>
          <p:nvPr/>
        </p:nvPicPr>
        <p:blipFill>
          <a:blip r:embed="rId2"/>
          <a:srcRect/>
          <a:stretch>
            <a:fillRect/>
          </a:stretch>
        </p:blipFill>
        <p:spPr bwMode="auto">
          <a:xfrm>
            <a:off x="6348984" y="2647188"/>
            <a:ext cx="2744343" cy="1829562"/>
          </a:xfrm>
          <a:prstGeom prst="rect">
            <a:avLst/>
          </a:prstGeom>
          <a:noFill/>
        </p:spPr>
      </p:pic>
      <p:pic>
        <p:nvPicPr>
          <p:cNvPr id="2051"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14579" t="50000" r="11171" b="10634"/>
          <a:stretch/>
        </p:blipFill>
        <p:spPr bwMode="auto">
          <a:xfrm>
            <a:off x="469398" y="3257550"/>
            <a:ext cx="5879586"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20569700"/>
      </p:ext>
    </p:extLst>
  </p:cSld>
  <p:clrMapOvr>
    <a:masterClrMapping/>
  </p:clrMapOvr>
  <p:transition>
    <p:pull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801687" y="1962150"/>
            <a:ext cx="7123113" cy="3048000"/>
          </a:xfrm>
        </p:spPr>
        <p:txBody>
          <a:bodyPr>
            <a:normAutofit fontScale="47500" lnSpcReduction="20000"/>
          </a:bodyPr>
          <a:lstStyle/>
          <a:p>
            <a:pPr marL="0" indent="0">
              <a:lnSpc>
                <a:spcPct val="120000"/>
              </a:lnSpc>
              <a:spcBef>
                <a:spcPts val="0"/>
              </a:spcBef>
            </a:pPr>
            <a:r>
              <a:rPr lang="en-US" altLang="en-US" sz="4000" b="1" i="1" dirty="0">
                <a:solidFill>
                  <a:schemeClr val="tx1"/>
                </a:solidFill>
              </a:rPr>
              <a:t>Management</a:t>
            </a:r>
            <a:r>
              <a:rPr lang="en-US" altLang="en-US" sz="4000" i="1" dirty="0">
                <a:solidFill>
                  <a:schemeClr val="tx1"/>
                </a:solidFill>
              </a:rPr>
              <a:t> is the attainment of organizational </a:t>
            </a:r>
            <a:r>
              <a:rPr lang="en-US" altLang="en-US" sz="4000" i="1" u="sng" dirty="0">
                <a:solidFill>
                  <a:schemeClr val="tx1"/>
                </a:solidFill>
              </a:rPr>
              <a:t>goals</a:t>
            </a:r>
            <a:r>
              <a:rPr lang="en-US" altLang="en-US" sz="4000" i="1" dirty="0">
                <a:solidFill>
                  <a:schemeClr val="tx1"/>
                </a:solidFill>
              </a:rPr>
              <a:t> in an </a:t>
            </a:r>
            <a:r>
              <a:rPr lang="en-US" altLang="en-US" sz="4000" i="1" u="sng" dirty="0">
                <a:solidFill>
                  <a:schemeClr val="tx1"/>
                </a:solidFill>
              </a:rPr>
              <a:t>effective</a:t>
            </a:r>
            <a:r>
              <a:rPr lang="en-US" altLang="en-US" sz="4000" i="1" dirty="0">
                <a:solidFill>
                  <a:schemeClr val="tx1"/>
                </a:solidFill>
              </a:rPr>
              <a:t> and </a:t>
            </a:r>
            <a:r>
              <a:rPr lang="en-US" altLang="en-US" sz="4000" i="1" u="sng" dirty="0">
                <a:solidFill>
                  <a:schemeClr val="tx1"/>
                </a:solidFill>
              </a:rPr>
              <a:t>efficient</a:t>
            </a:r>
            <a:r>
              <a:rPr lang="en-US" altLang="en-US" sz="4000" i="1" dirty="0">
                <a:solidFill>
                  <a:schemeClr val="tx1"/>
                </a:solidFill>
              </a:rPr>
              <a:t> manner through </a:t>
            </a:r>
            <a:r>
              <a:rPr lang="en-US" altLang="en-US" sz="4000" b="1" i="1" u="sng" dirty="0">
                <a:solidFill>
                  <a:schemeClr val="tx1"/>
                </a:solidFill>
              </a:rPr>
              <a:t>planning</a:t>
            </a:r>
            <a:r>
              <a:rPr lang="en-US" altLang="en-US" sz="4000" b="1" i="1" dirty="0">
                <a:solidFill>
                  <a:schemeClr val="tx1"/>
                </a:solidFill>
              </a:rPr>
              <a:t>, </a:t>
            </a:r>
            <a:r>
              <a:rPr lang="en-US" altLang="en-US" sz="4000" b="1" i="1" u="sng" dirty="0">
                <a:solidFill>
                  <a:schemeClr val="tx1"/>
                </a:solidFill>
              </a:rPr>
              <a:t>organizing</a:t>
            </a:r>
            <a:r>
              <a:rPr lang="en-US" altLang="en-US" sz="4000" b="1" i="1" dirty="0">
                <a:solidFill>
                  <a:schemeClr val="tx1"/>
                </a:solidFill>
              </a:rPr>
              <a:t>, </a:t>
            </a:r>
            <a:r>
              <a:rPr lang="en-US" altLang="en-US" sz="4000" b="1" i="1" u="sng" dirty="0">
                <a:solidFill>
                  <a:schemeClr val="tx1"/>
                </a:solidFill>
              </a:rPr>
              <a:t>leading</a:t>
            </a:r>
            <a:r>
              <a:rPr lang="en-US" altLang="en-US" sz="4000" b="1" i="1" dirty="0">
                <a:solidFill>
                  <a:schemeClr val="tx1"/>
                </a:solidFill>
              </a:rPr>
              <a:t>, and </a:t>
            </a:r>
            <a:r>
              <a:rPr lang="en-US" altLang="en-US" sz="4000" b="1" i="1" u="sng" dirty="0">
                <a:solidFill>
                  <a:schemeClr val="tx1"/>
                </a:solidFill>
              </a:rPr>
              <a:t>controlling</a:t>
            </a:r>
            <a:r>
              <a:rPr lang="en-US" altLang="en-US" sz="4000" b="1" i="1" dirty="0">
                <a:solidFill>
                  <a:schemeClr val="tx1"/>
                </a:solidFill>
              </a:rPr>
              <a:t> </a:t>
            </a:r>
            <a:r>
              <a:rPr lang="en-US" altLang="en-US" sz="4000" i="1" dirty="0">
                <a:solidFill>
                  <a:schemeClr val="tx1"/>
                </a:solidFill>
              </a:rPr>
              <a:t>organizational </a:t>
            </a:r>
            <a:r>
              <a:rPr lang="en-US" altLang="en-US" sz="4000" i="1" u="sng" dirty="0">
                <a:solidFill>
                  <a:schemeClr val="tx1"/>
                </a:solidFill>
              </a:rPr>
              <a:t>resources</a:t>
            </a:r>
            <a:r>
              <a:rPr lang="en-US" altLang="en-US" sz="4000" i="1" dirty="0">
                <a:solidFill>
                  <a:schemeClr val="tx1"/>
                </a:solidFill>
              </a:rPr>
              <a:t>:</a:t>
            </a:r>
          </a:p>
          <a:p>
            <a:pPr marL="0" indent="0" algn="ctr">
              <a:lnSpc>
                <a:spcPct val="120000"/>
              </a:lnSpc>
              <a:spcBef>
                <a:spcPts val="0"/>
              </a:spcBef>
            </a:pPr>
            <a:endParaRPr lang="en-US" altLang="en-US" sz="4000" dirty="0">
              <a:solidFill>
                <a:schemeClr val="tx1"/>
              </a:solidFill>
            </a:endParaRPr>
          </a:p>
          <a:p>
            <a:pPr lvl="1">
              <a:lnSpc>
                <a:spcPct val="120000"/>
              </a:lnSpc>
              <a:spcBef>
                <a:spcPts val="0"/>
              </a:spcBef>
              <a:buFont typeface="Wingdings" pitchFamily="2" charset="2"/>
              <a:buChar char="§"/>
            </a:pPr>
            <a:r>
              <a:rPr lang="en-US" altLang="en-US" sz="4000" dirty="0">
                <a:solidFill>
                  <a:schemeClr val="tx1"/>
                </a:solidFill>
              </a:rPr>
              <a:t>Managers </a:t>
            </a:r>
            <a:r>
              <a:rPr lang="en-US" altLang="en-US" sz="4000" u="sng" dirty="0">
                <a:solidFill>
                  <a:schemeClr val="tx1"/>
                </a:solidFill>
              </a:rPr>
              <a:t>get things done </a:t>
            </a:r>
            <a:r>
              <a:rPr lang="en-US" altLang="en-US" sz="4000" dirty="0">
                <a:solidFill>
                  <a:schemeClr val="tx1"/>
                </a:solidFill>
              </a:rPr>
              <a:t>through the organization.</a:t>
            </a:r>
          </a:p>
          <a:p>
            <a:pPr lvl="1">
              <a:lnSpc>
                <a:spcPct val="120000"/>
              </a:lnSpc>
              <a:spcBef>
                <a:spcPts val="0"/>
              </a:spcBef>
              <a:buFont typeface="Wingdings" pitchFamily="2" charset="2"/>
              <a:buChar char="§"/>
            </a:pPr>
            <a:r>
              <a:rPr lang="en-US" altLang="en-US" sz="4000" dirty="0">
                <a:solidFill>
                  <a:schemeClr val="tx1"/>
                </a:solidFill>
              </a:rPr>
              <a:t>Managers </a:t>
            </a:r>
            <a:r>
              <a:rPr lang="en-US" altLang="en-US" sz="4000" u="sng" dirty="0">
                <a:solidFill>
                  <a:schemeClr val="tx1"/>
                </a:solidFill>
              </a:rPr>
              <a:t>create right systems and environment.</a:t>
            </a:r>
          </a:p>
          <a:p>
            <a:pPr lvl="1">
              <a:lnSpc>
                <a:spcPct val="120000"/>
              </a:lnSpc>
              <a:spcBef>
                <a:spcPts val="0"/>
              </a:spcBef>
              <a:buFont typeface="Wingdings" pitchFamily="2" charset="2"/>
              <a:buChar char="§"/>
            </a:pPr>
            <a:r>
              <a:rPr lang="en-US" altLang="en-US" sz="4000" dirty="0">
                <a:solidFill>
                  <a:schemeClr val="tx1"/>
                </a:solidFill>
              </a:rPr>
              <a:t>Organizations need good managers.</a:t>
            </a:r>
          </a:p>
          <a:p>
            <a:pPr marL="0" lvl="1" indent="0">
              <a:lnSpc>
                <a:spcPct val="120000"/>
              </a:lnSpc>
              <a:spcBef>
                <a:spcPts val="0"/>
              </a:spcBef>
            </a:pPr>
            <a:endParaRPr lang="en-US" sz="4000" dirty="0">
              <a:solidFill>
                <a:schemeClr val="tx1"/>
              </a:solidFill>
            </a:endParaRPr>
          </a:p>
          <a:p>
            <a:pPr marL="0" lvl="1" indent="0">
              <a:lnSpc>
                <a:spcPct val="120000"/>
              </a:lnSpc>
              <a:spcBef>
                <a:spcPts val="0"/>
              </a:spcBef>
            </a:pPr>
            <a:r>
              <a:rPr lang="en-US" sz="4000" dirty="0">
                <a:solidFill>
                  <a:schemeClr val="tx1"/>
                </a:solidFill>
              </a:rPr>
              <a:t>Coordination of the work activities of others so that their </a:t>
            </a:r>
          </a:p>
          <a:p>
            <a:pPr marL="0" lvl="1" indent="0">
              <a:lnSpc>
                <a:spcPct val="120000"/>
              </a:lnSpc>
              <a:spcBef>
                <a:spcPts val="0"/>
              </a:spcBef>
            </a:pPr>
            <a:r>
              <a:rPr lang="en-US" sz="4000" dirty="0">
                <a:solidFill>
                  <a:schemeClr val="tx1"/>
                </a:solidFill>
              </a:rPr>
              <a:t>activities are completed efficiently and effectively.</a:t>
            </a:r>
          </a:p>
          <a:p>
            <a:endParaRPr lang="en-US" dirty="0"/>
          </a:p>
        </p:txBody>
      </p:sp>
      <p:sp>
        <p:nvSpPr>
          <p:cNvPr id="10243" name="Rectangle 2"/>
          <p:cNvSpPr>
            <a:spLocks noGrp="1" noChangeArrowheads="1"/>
          </p:cNvSpPr>
          <p:nvPr>
            <p:ph type="title"/>
          </p:nvPr>
        </p:nvSpPr>
        <p:spPr/>
        <p:txBody>
          <a:bodyPr>
            <a:normAutofit/>
          </a:bodyPr>
          <a:lstStyle/>
          <a:p>
            <a:pPr eaLnBrk="1" hangingPunct="1"/>
            <a:r>
              <a:rPr lang="en-US" sz="4000" dirty="0">
                <a:solidFill>
                  <a:schemeClr val="accent2"/>
                </a:solidFill>
                <a:latin typeface="Rockwell Extra Bold" pitchFamily="18" charset="0"/>
              </a:rPr>
              <a:t>Management?</a:t>
            </a:r>
          </a:p>
        </p:txBody>
      </p:sp>
      <p:pic>
        <p:nvPicPr>
          <p:cNvPr id="151554" name="Picture 2" descr="Image result for management"/>
          <p:cNvPicPr>
            <a:picLocks noChangeAspect="1" noChangeArrowheads="1"/>
          </p:cNvPicPr>
          <p:nvPr/>
        </p:nvPicPr>
        <p:blipFill>
          <a:blip r:embed="rId3"/>
          <a:srcRect/>
          <a:stretch>
            <a:fillRect/>
          </a:stretch>
        </p:blipFill>
        <p:spPr bwMode="auto">
          <a:xfrm>
            <a:off x="6629400" y="3181350"/>
            <a:ext cx="2514600" cy="1913454"/>
          </a:xfrm>
          <a:prstGeom prst="rect">
            <a:avLst/>
          </a:prstGeom>
          <a:noFill/>
        </p:spPr>
      </p:pic>
    </p:spTree>
    <p:extLst>
      <p:ext uri="{BB962C8B-B14F-4D97-AF65-F5344CB8AC3E}">
        <p14:creationId xmlns:p14="http://schemas.microsoft.com/office/powerpoint/2010/main" val="1934704793"/>
      </p:ext>
    </p:extLst>
  </p:cSld>
  <p:clrMapOvr>
    <a:masterClrMapping/>
  </p:clrMapOvr>
  <p:transition>
    <p:pull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chemeClr val="tx1"/>
                </a:solidFill>
              </a:rPr>
              <a:t>Management Functions (cont’d)</a:t>
            </a:r>
            <a:endParaRPr lang="en-US" dirty="0">
              <a:solidFill>
                <a:schemeClr val="tx1"/>
              </a:solidFill>
            </a:endParaRP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12</a:t>
            </a:fld>
            <a:endParaRPr lang="en-US"/>
          </a:p>
        </p:txBody>
      </p:sp>
      <p:sp>
        <p:nvSpPr>
          <p:cNvPr id="4" name="Content Placeholder 3"/>
          <p:cNvSpPr>
            <a:spLocks noGrp="1"/>
          </p:cNvSpPr>
          <p:nvPr>
            <p:ph sz="quarter" idx="13"/>
          </p:nvPr>
        </p:nvSpPr>
        <p:spPr/>
        <p:txBody>
          <a:bodyPr>
            <a:normAutofit fontScale="25000" lnSpcReduction="20000"/>
          </a:bodyPr>
          <a:lstStyle/>
          <a:p>
            <a:pPr>
              <a:lnSpc>
                <a:spcPct val="120000"/>
              </a:lnSpc>
              <a:spcBef>
                <a:spcPts val="600"/>
              </a:spcBef>
            </a:pPr>
            <a:r>
              <a:rPr lang="en-US" sz="8000" b="1" dirty="0"/>
              <a:t>Planning</a:t>
            </a:r>
          </a:p>
          <a:p>
            <a:pPr marL="346075" indent="0">
              <a:lnSpc>
                <a:spcPct val="120000"/>
              </a:lnSpc>
              <a:spcBef>
                <a:spcPts val="600"/>
              </a:spcBef>
              <a:buNone/>
            </a:pPr>
            <a:r>
              <a:rPr lang="en-US" sz="6400" dirty="0"/>
              <a:t>A process that includes defining goals, establishing strategy, and developing plans to coordinate activities.</a:t>
            </a:r>
          </a:p>
          <a:p>
            <a:pPr>
              <a:lnSpc>
                <a:spcPct val="120000"/>
              </a:lnSpc>
              <a:spcBef>
                <a:spcPts val="600"/>
              </a:spcBef>
            </a:pPr>
            <a:r>
              <a:rPr lang="en-US" sz="8000" b="1" dirty="0"/>
              <a:t>Organizing</a:t>
            </a:r>
          </a:p>
          <a:p>
            <a:pPr marL="346075" indent="0">
              <a:lnSpc>
                <a:spcPct val="120000"/>
              </a:lnSpc>
              <a:spcBef>
                <a:spcPts val="600"/>
              </a:spcBef>
              <a:buNone/>
            </a:pPr>
            <a:r>
              <a:rPr lang="en-US" sz="6400" dirty="0"/>
              <a:t>Determining what tasks are to be done, who is to do them, how the tasks are to be grouped, who reports to whom, and where decisions are to be made.</a:t>
            </a:r>
          </a:p>
          <a:p>
            <a:pPr>
              <a:lnSpc>
                <a:spcPct val="120000"/>
              </a:lnSpc>
              <a:spcBef>
                <a:spcPts val="600"/>
              </a:spcBef>
            </a:pPr>
            <a:r>
              <a:rPr lang="en-US" sz="8000" b="1" dirty="0"/>
              <a:t>Leading</a:t>
            </a:r>
          </a:p>
          <a:p>
            <a:pPr marL="284163" indent="0">
              <a:lnSpc>
                <a:spcPct val="120000"/>
              </a:lnSpc>
              <a:spcBef>
                <a:spcPts val="600"/>
              </a:spcBef>
              <a:buNone/>
            </a:pPr>
            <a:r>
              <a:rPr lang="en-US" sz="6400" dirty="0"/>
              <a:t>A function that includes motivating employees, directing others, selecting the most effective communication channels, and resolving conflicts.</a:t>
            </a:r>
          </a:p>
          <a:p>
            <a:pPr>
              <a:lnSpc>
                <a:spcPct val="120000"/>
              </a:lnSpc>
              <a:spcBef>
                <a:spcPts val="600"/>
              </a:spcBef>
            </a:pPr>
            <a:r>
              <a:rPr lang="en-US" sz="8000" b="1" dirty="0"/>
              <a:t>Controlling</a:t>
            </a:r>
          </a:p>
          <a:p>
            <a:pPr marL="346075" indent="0">
              <a:lnSpc>
                <a:spcPct val="120000"/>
              </a:lnSpc>
              <a:spcBef>
                <a:spcPts val="600"/>
              </a:spcBef>
              <a:buNone/>
            </a:pPr>
            <a:r>
              <a:rPr lang="en-US" sz="6400" dirty="0"/>
              <a:t>Monitoring activities to ensure they are being accomplished as planned and correcting any significant deviations.</a:t>
            </a:r>
          </a:p>
          <a:p>
            <a:pPr marL="0" indent="0">
              <a:spcBef>
                <a:spcPct val="50000"/>
              </a:spcBef>
              <a:buNone/>
            </a:pPr>
            <a:endParaRPr lang="en-US" sz="2400" dirty="0">
              <a:latin typeface="Tahoma" pitchFamily="34" charset="0"/>
            </a:endParaRPr>
          </a:p>
          <a:p>
            <a:pPr marL="0" indent="0">
              <a:spcBef>
                <a:spcPct val="50000"/>
              </a:spcBef>
              <a:buNone/>
            </a:pPr>
            <a:endParaRPr lang="en-US" sz="2400" dirty="0">
              <a:latin typeface="Tahoma" pitchFamily="34" charset="0"/>
            </a:endParaRPr>
          </a:p>
        </p:txBody>
      </p:sp>
      <p:pic>
        <p:nvPicPr>
          <p:cNvPr id="5" name="Picture 4" descr="j024914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48600" y="3790950"/>
            <a:ext cx="1193797" cy="916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68230715"/>
      </p:ext>
    </p:extLst>
  </p:cSld>
  <p:clrMapOvr>
    <a:masterClrMapping/>
  </p:clrMapOvr>
  <p:transition>
    <p:pull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err="1">
                <a:solidFill>
                  <a:schemeClr val="tx1"/>
                </a:solidFill>
              </a:rPr>
              <a:t>Mintzberg’s</a:t>
            </a:r>
            <a:r>
              <a:rPr lang="en-US" sz="4000" dirty="0">
                <a:solidFill>
                  <a:schemeClr val="tx1"/>
                </a:solidFill>
              </a:rPr>
              <a:t> Managerial Roles</a:t>
            </a:r>
          </a:p>
        </p:txBody>
      </p:sp>
      <p:sp>
        <p:nvSpPr>
          <p:cNvPr id="3" name="Slide Number Placeholder 2"/>
          <p:cNvSpPr>
            <a:spLocks noGrp="1"/>
          </p:cNvSpPr>
          <p:nvPr>
            <p:ph type="sldNum" sz="quarter" idx="12"/>
          </p:nvPr>
        </p:nvSpPr>
        <p:spPr/>
        <p:txBody>
          <a:bodyPr>
            <a:normAutofit fontScale="47500" lnSpcReduction="20000"/>
          </a:bodyPr>
          <a:lstStyle/>
          <a:p>
            <a:fld id="{A3F7CB7D-F184-43C7-B6FD-03D728E1BBFF}" type="slidenum">
              <a:rPr lang="en-US" smtClean="0">
                <a:solidFill>
                  <a:srgbClr val="FFFFFF"/>
                </a:solidFill>
              </a:rPr>
              <a:pPr/>
              <a:t>13</a:t>
            </a:fld>
            <a:endParaRPr lang="en-US" dirty="0">
              <a:solidFill>
                <a:srgbClr val="FFFFFF"/>
              </a:solidFill>
            </a:endParaRPr>
          </a:p>
        </p:txBody>
      </p:sp>
      <p:pic>
        <p:nvPicPr>
          <p:cNvPr id="4" name="Picture 4" descr="Chap01Bkgd03"/>
          <p:cNvPicPr>
            <a:picLocks noChangeAspect="1" noChangeArrowheads="1"/>
          </p:cNvPicPr>
          <p:nvPr/>
        </p:nvPicPr>
        <p:blipFill>
          <a:blip r:embed="rId2"/>
          <a:srcRect/>
          <a:stretch>
            <a:fillRect/>
          </a:stretch>
        </p:blipFill>
        <p:spPr bwMode="gray">
          <a:xfrm>
            <a:off x="609600" y="1371599"/>
            <a:ext cx="3963676" cy="1657351"/>
          </a:xfrm>
          <a:prstGeom prst="rect">
            <a:avLst/>
          </a:prstGeom>
          <a:noFill/>
          <a:ln w="12700">
            <a:solidFill>
              <a:schemeClr val="tx1"/>
            </a:solidFill>
            <a:miter lim="800000"/>
            <a:headEnd/>
            <a:tailEnd/>
          </a:ln>
          <a:effectLst>
            <a:outerShdw dist="135003" dir="2471156" algn="ctr" rotWithShape="0">
              <a:srgbClr val="DDDDDD"/>
            </a:outerShdw>
          </a:effectLst>
        </p:spPr>
      </p:pic>
      <p:sp>
        <p:nvSpPr>
          <p:cNvPr id="5" name="Rectangle 6"/>
          <p:cNvSpPr>
            <a:spLocks noChangeArrowheads="1"/>
          </p:cNvSpPr>
          <p:nvPr/>
        </p:nvSpPr>
        <p:spPr bwMode="auto">
          <a:xfrm>
            <a:off x="4953000" y="4149864"/>
            <a:ext cx="28194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sz="1000" i="1" dirty="0">
                <a:latin typeface="Arial" pitchFamily="34" charset="0"/>
              </a:rPr>
              <a:t>Source: </a:t>
            </a:r>
            <a:r>
              <a:rPr lang="en-US" sz="1000" dirty="0">
                <a:latin typeface="Arial" pitchFamily="34" charset="0"/>
              </a:rPr>
              <a:t>Adapted from </a:t>
            </a:r>
            <a:r>
              <a:rPr lang="en-US" sz="1000" i="1" dirty="0">
                <a:latin typeface="Arial" pitchFamily="34" charset="0"/>
              </a:rPr>
              <a:t>The Nature of Managerial Work </a:t>
            </a:r>
            <a:r>
              <a:rPr lang="en-US" sz="1000" dirty="0">
                <a:latin typeface="Arial" pitchFamily="34" charset="0"/>
              </a:rPr>
              <a:t>by H. </a:t>
            </a:r>
            <a:r>
              <a:rPr lang="en-US" sz="1000" dirty="0" err="1">
                <a:latin typeface="Arial" pitchFamily="34" charset="0"/>
              </a:rPr>
              <a:t>Mintzberg</a:t>
            </a:r>
            <a:r>
              <a:rPr lang="en-US" sz="1000" dirty="0">
                <a:latin typeface="Arial" pitchFamily="34" charset="0"/>
              </a:rPr>
              <a:t>. Copyright © 1973 by H. </a:t>
            </a:r>
            <a:r>
              <a:rPr lang="en-US" sz="1000" dirty="0" err="1">
                <a:latin typeface="Arial" pitchFamily="34" charset="0"/>
              </a:rPr>
              <a:t>Mintzberg</a:t>
            </a:r>
            <a:r>
              <a:rPr lang="en-US" sz="1000" dirty="0">
                <a:latin typeface="Arial" pitchFamily="34" charset="0"/>
              </a:rPr>
              <a:t>. Reprinted by permission of Pearson Education.</a:t>
            </a:r>
          </a:p>
        </p:txBody>
      </p:sp>
      <p:pic>
        <p:nvPicPr>
          <p:cNvPr id="6" name="Picture 4" descr="Chap01Bkgd03"/>
          <p:cNvPicPr>
            <a:picLocks noChangeAspect="1" noChangeArrowheads="1"/>
          </p:cNvPicPr>
          <p:nvPr/>
        </p:nvPicPr>
        <p:blipFill>
          <a:blip r:embed="rId3"/>
          <a:srcRect r="241" b="441"/>
          <a:stretch>
            <a:fillRect/>
          </a:stretch>
        </p:blipFill>
        <p:spPr bwMode="gray">
          <a:xfrm>
            <a:off x="609600" y="3155229"/>
            <a:ext cx="3999693" cy="1828800"/>
          </a:xfrm>
          <a:prstGeom prst="rect">
            <a:avLst/>
          </a:prstGeom>
          <a:noFill/>
          <a:ln w="12700">
            <a:solidFill>
              <a:schemeClr val="tx1"/>
            </a:solidFill>
            <a:miter lim="800000"/>
            <a:headEnd/>
            <a:tailEnd/>
          </a:ln>
          <a:effectLst>
            <a:outerShdw dist="135003" dir="2471156" algn="ctr" rotWithShape="0">
              <a:srgbClr val="DDDDDD"/>
            </a:outerShdw>
          </a:effectLst>
        </p:spPr>
      </p:pic>
      <p:pic>
        <p:nvPicPr>
          <p:cNvPr id="7" name="Picture 4" descr="Chap01Bkgd03"/>
          <p:cNvPicPr>
            <a:picLocks noChangeAspect="1" noChangeArrowheads="1"/>
          </p:cNvPicPr>
          <p:nvPr/>
        </p:nvPicPr>
        <p:blipFill>
          <a:blip r:embed="rId4"/>
          <a:srcRect t="3044" r="243" b="406"/>
          <a:stretch>
            <a:fillRect/>
          </a:stretch>
        </p:blipFill>
        <p:spPr bwMode="gray">
          <a:xfrm>
            <a:off x="4686300" y="1809750"/>
            <a:ext cx="4261299" cy="1981200"/>
          </a:xfrm>
          <a:prstGeom prst="rect">
            <a:avLst/>
          </a:prstGeom>
          <a:noFill/>
          <a:ln w="12700">
            <a:solidFill>
              <a:schemeClr val="tx1"/>
            </a:solidFill>
            <a:miter lim="800000"/>
            <a:headEnd/>
            <a:tailEnd/>
          </a:ln>
          <a:effectLst>
            <a:outerShdw dist="135003" dir="2471156" algn="ctr" rotWithShape="0">
              <a:srgbClr val="DDDDDD"/>
            </a:outerShdw>
          </a:effectLst>
        </p:spPr>
      </p:pic>
    </p:spTree>
    <p:extLst>
      <p:ext uri="{BB962C8B-B14F-4D97-AF65-F5344CB8AC3E}">
        <p14:creationId xmlns:p14="http://schemas.microsoft.com/office/powerpoint/2010/main" val="3211254430"/>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par>
                          <p:cTn id="8" fill="hold">
                            <p:stCondLst>
                              <p:cond delay="500"/>
                            </p:stCondLst>
                            <p:childTnLst>
                              <p:par>
                                <p:cTn id="9" presetID="4" presetClass="entr" presetSubtype="16"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ox(in)">
                                      <p:cBhvr>
                                        <p:cTn id="11" dur="500"/>
                                        <p:tgtEl>
                                          <p:spTgt spid="6"/>
                                        </p:tgtEl>
                                      </p:cBhvr>
                                    </p:animEffect>
                                  </p:childTnLst>
                                </p:cTn>
                              </p:par>
                            </p:childTnLst>
                          </p:cTn>
                        </p:par>
                        <p:par>
                          <p:cTn id="12" fill="hold">
                            <p:stCondLst>
                              <p:cond delay="1000"/>
                            </p:stCondLst>
                            <p:childTnLst>
                              <p:par>
                                <p:cTn id="13" presetID="4" presetClass="entr" presetSubtype="16"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ox(in)">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solidFill>
                  <a:schemeClr val="tx1"/>
                </a:solidFill>
              </a:rPr>
              <a:t>Management Skills</a:t>
            </a:r>
          </a:p>
        </p:txBody>
      </p:sp>
      <p:sp>
        <p:nvSpPr>
          <p:cNvPr id="3" name="Slide Number Placeholder 2"/>
          <p:cNvSpPr>
            <a:spLocks noGrp="1"/>
          </p:cNvSpPr>
          <p:nvPr>
            <p:ph type="sldNum" sz="quarter" idx="12"/>
          </p:nvPr>
        </p:nvSpPr>
        <p:spPr/>
        <p:txBody>
          <a:bodyPr>
            <a:normAutofit fontScale="47500" lnSpcReduction="20000"/>
          </a:bodyPr>
          <a:lstStyle/>
          <a:p>
            <a:pPr algn="ctr"/>
            <a:fld id="{8F82E0A0-C266-4798-8C8F-B9F91E9DA37E}" type="slidenum">
              <a:rPr lang="en-US" sz="1400" b="1" smtClean="0">
                <a:solidFill>
                  <a:srgbClr val="FFFFFF"/>
                </a:solidFill>
              </a:rPr>
              <a:pPr algn="ctr"/>
              <a:t>14</a:t>
            </a:fld>
            <a:endParaRPr lang="en-US"/>
          </a:p>
        </p:txBody>
      </p:sp>
      <p:sp>
        <p:nvSpPr>
          <p:cNvPr id="4" name="Content Placeholder 3"/>
          <p:cNvSpPr>
            <a:spLocks noGrp="1"/>
          </p:cNvSpPr>
          <p:nvPr>
            <p:ph sz="quarter" idx="13"/>
          </p:nvPr>
        </p:nvSpPr>
        <p:spPr/>
        <p:txBody>
          <a:bodyPr>
            <a:normAutofit fontScale="92500" lnSpcReduction="10000"/>
          </a:bodyPr>
          <a:lstStyle/>
          <a:p>
            <a:pPr>
              <a:lnSpc>
                <a:spcPct val="120000"/>
              </a:lnSpc>
            </a:pPr>
            <a:r>
              <a:rPr lang="en-US" sz="2600" b="1" dirty="0"/>
              <a:t>Technical skills</a:t>
            </a:r>
            <a:br>
              <a:rPr lang="en-US" b="1" dirty="0"/>
            </a:br>
            <a:r>
              <a:rPr lang="en-US" sz="2600" dirty="0"/>
              <a:t>The ability to apply specialized knowledge or expertise.</a:t>
            </a:r>
          </a:p>
          <a:p>
            <a:pPr>
              <a:lnSpc>
                <a:spcPct val="120000"/>
              </a:lnSpc>
            </a:pPr>
            <a:r>
              <a:rPr lang="en-US" sz="2600" b="1" dirty="0"/>
              <a:t>Human skills</a:t>
            </a:r>
            <a:br>
              <a:rPr lang="en-US" sz="3200" b="1" dirty="0"/>
            </a:br>
            <a:r>
              <a:rPr lang="en-US" sz="2600" dirty="0"/>
              <a:t>The ability to work with, understand, and motivate other people, both individually and in groups.</a:t>
            </a:r>
          </a:p>
          <a:p>
            <a:pPr>
              <a:lnSpc>
                <a:spcPct val="120000"/>
              </a:lnSpc>
            </a:pPr>
            <a:r>
              <a:rPr lang="en-US" sz="2600" b="1" dirty="0"/>
              <a:t>Conceptual Skills</a:t>
            </a:r>
            <a:br>
              <a:rPr lang="en-US" sz="3200" b="1" dirty="0"/>
            </a:br>
            <a:r>
              <a:rPr lang="en-US" sz="2600" dirty="0"/>
              <a:t>The mental ability to analyze and diagnose complex situations.</a:t>
            </a:r>
          </a:p>
        </p:txBody>
      </p:sp>
      <p:pic>
        <p:nvPicPr>
          <p:cNvPr id="5" name="Picture 4" descr="j023074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86601" y="2618230"/>
            <a:ext cx="2057400" cy="147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72804400"/>
      </p:ext>
    </p:extLst>
  </p:cSld>
  <p:clrMapOvr>
    <a:masterClrMapping/>
  </p:clrMapOvr>
  <p:transition>
    <p:pull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AutoShape 2"/>
          <p:cNvSpPr>
            <a:spLocks noChangeArrowheads="1"/>
          </p:cNvSpPr>
          <p:nvPr/>
        </p:nvSpPr>
        <p:spPr bwMode="auto">
          <a:xfrm>
            <a:off x="2744788" y="2952750"/>
            <a:ext cx="2436812" cy="657082"/>
          </a:xfrm>
          <a:prstGeom prst="rightArrow">
            <a:avLst>
              <a:gd name="adj1" fmla="val 53704"/>
              <a:gd name="adj2" fmla="val 38758"/>
            </a:avLst>
          </a:prstGeom>
          <a:solidFill>
            <a:srgbClr val="CC6600">
              <a:alpha val="50195"/>
            </a:srgbClr>
          </a:solidFill>
          <a:ln w="9525">
            <a:solidFill>
              <a:schemeClr val="tx1"/>
            </a:solidFill>
            <a:miter lim="800000"/>
            <a:headEnd/>
            <a:tailEnd/>
          </a:ln>
        </p:spPr>
        <p:txBody>
          <a:bodyPr wrap="none" anchor="ctr"/>
          <a:lstStyle/>
          <a:p>
            <a:endParaRPr lang="en-US"/>
          </a:p>
        </p:txBody>
      </p:sp>
      <p:sp>
        <p:nvSpPr>
          <p:cNvPr id="24579" name="Rectangle 3"/>
          <p:cNvSpPr>
            <a:spLocks noGrp="1" noChangeArrowheads="1"/>
          </p:cNvSpPr>
          <p:nvPr>
            <p:ph type="title"/>
          </p:nvPr>
        </p:nvSpPr>
        <p:spPr>
          <a:noFill/>
        </p:spPr>
        <p:txBody>
          <a:bodyPr/>
          <a:lstStyle/>
          <a:p>
            <a:pPr eaLnBrk="1" hangingPunct="1"/>
            <a:r>
              <a:rPr lang="en-US" sz="4000" dirty="0">
                <a:solidFill>
                  <a:schemeClr val="tx1"/>
                </a:solidFill>
              </a:rPr>
              <a:t>There Are Few Absolutes in OB</a:t>
            </a:r>
          </a:p>
        </p:txBody>
      </p:sp>
      <p:sp>
        <p:nvSpPr>
          <p:cNvPr id="2" name="Content Placeholder 1"/>
          <p:cNvSpPr>
            <a:spLocks noGrp="1"/>
          </p:cNvSpPr>
          <p:nvPr>
            <p:ph sz="quarter" idx="13"/>
          </p:nvPr>
        </p:nvSpPr>
        <p:spPr>
          <a:xfrm>
            <a:off x="609600" y="1352550"/>
            <a:ext cx="8153400" cy="3276600"/>
          </a:xfrm>
        </p:spPr>
        <p:txBody>
          <a:bodyPr>
            <a:normAutofit/>
          </a:bodyPr>
          <a:lstStyle/>
          <a:p>
            <a:r>
              <a:rPr lang="en-US" sz="1800" dirty="0"/>
              <a:t>Impossible to make simple and accurate generalizations.</a:t>
            </a:r>
          </a:p>
          <a:p>
            <a:r>
              <a:rPr lang="en-US" sz="1800" dirty="0"/>
              <a:t>Human beings are complex and diverse.</a:t>
            </a:r>
          </a:p>
          <a:p>
            <a:r>
              <a:rPr lang="en-US" sz="1800" dirty="0"/>
              <a:t>OB concepts must reflect situational conditions: </a:t>
            </a:r>
            <a:r>
              <a:rPr lang="en-US" sz="1800" b="1" i="1" dirty="0"/>
              <a:t>contingency variables</a:t>
            </a:r>
            <a:endParaRPr lang="en-US" sz="1800" dirty="0"/>
          </a:p>
          <a:p>
            <a:r>
              <a:rPr lang="en-US" sz="1800" dirty="0"/>
              <a:t>Situational factors that make the main relationship between two variables change ---e.g., the relationship may hold for one condition but not another.</a:t>
            </a:r>
          </a:p>
        </p:txBody>
      </p:sp>
      <p:sp>
        <p:nvSpPr>
          <p:cNvPr id="24581" name="Text Box 6"/>
          <p:cNvSpPr txBox="1">
            <a:spLocks noChangeArrowheads="1"/>
          </p:cNvSpPr>
          <p:nvPr/>
        </p:nvSpPr>
        <p:spPr bwMode="auto">
          <a:xfrm>
            <a:off x="5181473" y="2952750"/>
            <a:ext cx="8366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spcBef>
                <a:spcPct val="50000"/>
              </a:spcBef>
            </a:pPr>
            <a:r>
              <a:rPr lang="en-US" sz="2800" b="1" i="1" dirty="0"/>
              <a:t>y</a:t>
            </a:r>
          </a:p>
        </p:txBody>
      </p:sp>
      <p:sp>
        <p:nvSpPr>
          <p:cNvPr id="24586" name="Line 12"/>
          <p:cNvSpPr>
            <a:spLocks noChangeShapeType="1"/>
          </p:cNvSpPr>
          <p:nvPr/>
        </p:nvSpPr>
        <p:spPr bwMode="auto">
          <a:xfrm flipH="1">
            <a:off x="4268788" y="4170164"/>
            <a:ext cx="1293812" cy="97333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588" name="Text Box 14"/>
          <p:cNvSpPr txBox="1">
            <a:spLocks noChangeArrowheads="1"/>
          </p:cNvSpPr>
          <p:nvPr/>
        </p:nvSpPr>
        <p:spPr bwMode="auto">
          <a:xfrm>
            <a:off x="2743200" y="3053334"/>
            <a:ext cx="28178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US" dirty="0"/>
              <a:t>May be related to </a:t>
            </a:r>
          </a:p>
        </p:txBody>
      </p:sp>
      <p:sp>
        <p:nvSpPr>
          <p:cNvPr id="24589" name="Text Box 15"/>
          <p:cNvSpPr txBox="1">
            <a:spLocks noChangeArrowheads="1"/>
          </p:cNvSpPr>
          <p:nvPr/>
        </p:nvSpPr>
        <p:spPr bwMode="auto">
          <a:xfrm>
            <a:off x="2665413" y="3589020"/>
            <a:ext cx="33543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US" sz="2000" dirty="0"/>
              <a:t>May NOT be related to </a:t>
            </a:r>
          </a:p>
        </p:txBody>
      </p:sp>
      <p:sp>
        <p:nvSpPr>
          <p:cNvPr id="24590" name="Text Box 16"/>
          <p:cNvSpPr txBox="1">
            <a:spLocks noChangeArrowheads="1"/>
          </p:cNvSpPr>
          <p:nvPr/>
        </p:nvSpPr>
        <p:spPr bwMode="auto">
          <a:xfrm>
            <a:off x="608013" y="3021092"/>
            <a:ext cx="2209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US" dirty="0"/>
              <a:t>In Country 1:  </a:t>
            </a:r>
            <a:r>
              <a:rPr lang="en-US" b="1" i="1" dirty="0"/>
              <a:t>x</a:t>
            </a:r>
          </a:p>
        </p:txBody>
      </p:sp>
      <p:sp>
        <p:nvSpPr>
          <p:cNvPr id="17" name="Text Box 16"/>
          <p:cNvSpPr txBox="1">
            <a:spLocks noChangeArrowheads="1"/>
          </p:cNvSpPr>
          <p:nvPr/>
        </p:nvSpPr>
        <p:spPr bwMode="auto">
          <a:xfrm>
            <a:off x="608013" y="3512820"/>
            <a:ext cx="2209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US" dirty="0"/>
              <a:t>In Country 2:  </a:t>
            </a:r>
            <a:r>
              <a:rPr lang="en-US" b="1" i="1" dirty="0"/>
              <a:t>x</a:t>
            </a:r>
          </a:p>
        </p:txBody>
      </p:sp>
      <p:sp>
        <p:nvSpPr>
          <p:cNvPr id="18" name="Text Box 6"/>
          <p:cNvSpPr txBox="1">
            <a:spLocks noChangeArrowheads="1"/>
          </p:cNvSpPr>
          <p:nvPr/>
        </p:nvSpPr>
        <p:spPr bwMode="auto">
          <a:xfrm>
            <a:off x="5180013" y="3446800"/>
            <a:ext cx="8366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spcBef>
                <a:spcPct val="50000"/>
              </a:spcBef>
            </a:pPr>
            <a:r>
              <a:rPr lang="en-US" sz="2800" b="1" i="1" dirty="0"/>
              <a:t>y</a:t>
            </a:r>
          </a:p>
        </p:txBody>
      </p:sp>
    </p:spTree>
    <p:extLst>
      <p:ext uri="{BB962C8B-B14F-4D97-AF65-F5344CB8AC3E}">
        <p14:creationId xmlns:p14="http://schemas.microsoft.com/office/powerpoint/2010/main" val="4019846835"/>
      </p:ext>
    </p:extLst>
  </p:cSld>
  <p:clrMapOvr>
    <a:masterClrMapping/>
  </p:clrMapOvr>
  <p:transition spd="med">
    <p:blinds/>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normAutofit/>
          </a:bodyPr>
          <a:lstStyle/>
          <a:p>
            <a:pPr eaLnBrk="1" hangingPunct="1"/>
            <a:r>
              <a:rPr lang="en-US" sz="4000" dirty="0">
                <a:cs typeface="Times New Roman" pitchFamily="18" charset="0"/>
              </a:rPr>
              <a:t>Challenges and Opportunities for OB</a:t>
            </a:r>
            <a:r>
              <a:rPr lang="en-US" sz="4000" dirty="0"/>
              <a:t> </a:t>
            </a:r>
          </a:p>
        </p:txBody>
      </p:sp>
      <p:sp>
        <p:nvSpPr>
          <p:cNvPr id="9220" name="Rectangle 3"/>
          <p:cNvSpPr>
            <a:spLocks noGrp="1" noChangeArrowheads="1"/>
          </p:cNvSpPr>
          <p:nvPr>
            <p:ph sz="quarter" idx="13"/>
          </p:nvPr>
        </p:nvSpPr>
        <p:spPr/>
        <p:txBody>
          <a:bodyPr>
            <a:normAutofit/>
          </a:bodyPr>
          <a:lstStyle/>
          <a:p>
            <a:pPr eaLnBrk="1" hangingPunct="1"/>
            <a:r>
              <a:rPr lang="en-US" sz="2000" dirty="0">
                <a:cs typeface="Arial" charset="0"/>
              </a:rPr>
              <a:t>The workplace contains a wide mix of cultures, races, ethnic groups, genders and ages</a:t>
            </a:r>
          </a:p>
          <a:p>
            <a:pPr eaLnBrk="1" hangingPunct="1"/>
            <a:r>
              <a:rPr lang="en-US" sz="2000" dirty="0">
                <a:cs typeface="Arial" charset="0"/>
              </a:rPr>
              <a:t>Employees have to learn to cope with rapid change due to global competition</a:t>
            </a:r>
          </a:p>
          <a:p>
            <a:pPr eaLnBrk="1" hangingPunct="1"/>
            <a:r>
              <a:rPr lang="en-US" sz="2000" dirty="0">
                <a:cs typeface="Arial" charset="0"/>
              </a:rPr>
              <a:t>Corporate loyalty has decreased due to corporate downsizing and use of temp workers</a:t>
            </a:r>
          </a:p>
          <a:p>
            <a:pPr eaLnBrk="1" hangingPunct="1"/>
            <a:r>
              <a:rPr lang="en-US" sz="2000" dirty="0">
                <a:cs typeface="Arial" charset="0"/>
              </a:rPr>
              <a:t>Managers can benefit from OB theory and concepts</a:t>
            </a:r>
          </a:p>
        </p:txBody>
      </p:sp>
    </p:spTree>
    <p:extLst>
      <p:ext uri="{BB962C8B-B14F-4D97-AF65-F5344CB8AC3E}">
        <p14:creationId xmlns:p14="http://schemas.microsoft.com/office/powerpoint/2010/main" val="3075005914"/>
      </p:ext>
    </p:extLst>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normAutofit/>
          </a:bodyPr>
          <a:lstStyle/>
          <a:p>
            <a:pPr eaLnBrk="1" hangingPunct="1"/>
            <a:r>
              <a:rPr lang="en-US" sz="4000" dirty="0"/>
              <a:t>Responding to Globalization</a:t>
            </a:r>
          </a:p>
        </p:txBody>
      </p:sp>
      <p:sp>
        <p:nvSpPr>
          <p:cNvPr id="13316" name="Rectangle 3"/>
          <p:cNvSpPr>
            <a:spLocks noGrp="1" noChangeArrowheads="1"/>
          </p:cNvSpPr>
          <p:nvPr>
            <p:ph sz="quarter" idx="13"/>
          </p:nvPr>
        </p:nvSpPr>
        <p:spPr>
          <a:xfrm>
            <a:off x="2895600" y="1352550"/>
            <a:ext cx="5867400" cy="3276600"/>
          </a:xfrm>
        </p:spPr>
        <p:txBody>
          <a:bodyPr>
            <a:normAutofit/>
          </a:bodyPr>
          <a:lstStyle/>
          <a:p>
            <a:pPr eaLnBrk="1" hangingPunct="1"/>
            <a:r>
              <a:rPr lang="en-US" sz="2000" dirty="0"/>
              <a:t>Increased foreign assignments</a:t>
            </a:r>
          </a:p>
          <a:p>
            <a:pPr lvl="1" eaLnBrk="1" hangingPunct="1"/>
            <a:r>
              <a:rPr lang="en-US" sz="2000" dirty="0"/>
              <a:t>Differing needs and aspirations in workforce</a:t>
            </a:r>
          </a:p>
          <a:p>
            <a:pPr eaLnBrk="1" hangingPunct="1"/>
            <a:r>
              <a:rPr lang="en-US" sz="2000" dirty="0"/>
              <a:t>Working with people from different cultures</a:t>
            </a:r>
          </a:p>
          <a:p>
            <a:pPr lvl="1" eaLnBrk="1" hangingPunct="1"/>
            <a:r>
              <a:rPr lang="en-US" sz="2000" dirty="0"/>
              <a:t>Domestic motivational techniques and managerial styles may not work</a:t>
            </a:r>
          </a:p>
          <a:p>
            <a:pPr eaLnBrk="1" hangingPunct="1"/>
            <a:r>
              <a:rPr lang="en-US" sz="2000" dirty="0"/>
              <a:t>Overseeing movement of jobs to countries with low-cost labor</a:t>
            </a:r>
          </a:p>
        </p:txBody>
      </p:sp>
      <p:pic>
        <p:nvPicPr>
          <p:cNvPr id="10256" name="Picture 16" descr="C:\Users\Bob Stretch\AppData\Local\Microsoft\Windows\Temporary Internet Files\Content.IE5\SEQ5QILQ\MPj04311300000[1].jpg"/>
          <p:cNvPicPr>
            <a:picLocks noChangeAspect="1" noChangeArrowheads="1"/>
          </p:cNvPicPr>
          <p:nvPr/>
        </p:nvPicPr>
        <p:blipFill>
          <a:blip r:embed="rId2"/>
          <a:srcRect/>
          <a:stretch>
            <a:fillRect/>
          </a:stretch>
        </p:blipFill>
        <p:spPr bwMode="auto">
          <a:xfrm>
            <a:off x="604838" y="1371600"/>
            <a:ext cx="2290762" cy="2343150"/>
          </a:xfrm>
          <a:prstGeom prst="rect">
            <a:avLst/>
          </a:prstGeom>
          <a:noFill/>
          <a:ln>
            <a:solidFill>
              <a:schemeClr val="accent4">
                <a:lumMod val="10000"/>
              </a:schemeClr>
            </a:solidFill>
          </a:ln>
          <a:effectLst>
            <a:outerShdw blurRad="50800" dist="76200" dir="8100000" algn="tr" rotWithShape="0">
              <a:prstClr val="black">
                <a:alpha val="40000"/>
              </a:prstClr>
            </a:outerShdw>
          </a:effectLst>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3714750"/>
            <a:ext cx="1374344" cy="1371600"/>
          </a:xfrm>
          <a:prstGeom prst="rect">
            <a:avLst/>
          </a:prstGeom>
        </p:spPr>
      </p:pic>
    </p:spTree>
    <p:extLst>
      <p:ext uri="{BB962C8B-B14F-4D97-AF65-F5344CB8AC3E}">
        <p14:creationId xmlns:p14="http://schemas.microsoft.com/office/powerpoint/2010/main" val="2923177908"/>
      </p:ext>
    </p:extLst>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normAutofit/>
          </a:bodyPr>
          <a:lstStyle/>
          <a:p>
            <a:pPr eaLnBrk="1" hangingPunct="1"/>
            <a:r>
              <a:rPr lang="en-US" sz="4000" dirty="0">
                <a:solidFill>
                  <a:schemeClr val="tx1"/>
                </a:solidFill>
              </a:rPr>
              <a:t>Managing Workforce Diversity</a:t>
            </a:r>
          </a:p>
        </p:txBody>
      </p:sp>
      <p:sp>
        <p:nvSpPr>
          <p:cNvPr id="5" name="Rectangle 6"/>
          <p:cNvSpPr>
            <a:spLocks noGrp="1" noChangeArrowheads="1"/>
          </p:cNvSpPr>
          <p:nvPr>
            <p:ph type="sldNum" sz="quarter" idx="12"/>
          </p:nvPr>
        </p:nvSpPr>
        <p:spPr>
          <a:ln/>
        </p:spPr>
        <p:txBody>
          <a:bodyPr>
            <a:normAutofit fontScale="47500" lnSpcReduction="20000"/>
          </a:bodyPr>
          <a:lstStyle/>
          <a:p>
            <a:r>
              <a:rPr lang="en-US"/>
              <a:t>1-</a:t>
            </a:r>
            <a:fld id="{824CE76A-8859-4BFB-913A-DCE6EDA4D4EC}" type="slidenum">
              <a:rPr lang="en-US"/>
              <a:pPr/>
              <a:t>18</a:t>
            </a:fld>
            <a:endParaRPr lang="en-US"/>
          </a:p>
        </p:txBody>
      </p:sp>
      <p:sp>
        <p:nvSpPr>
          <p:cNvPr id="14340" name="Rectangle 4"/>
          <p:cNvSpPr>
            <a:spLocks noGrp="1" noChangeArrowheads="1"/>
          </p:cNvSpPr>
          <p:nvPr>
            <p:ph sz="quarter" idx="13"/>
          </p:nvPr>
        </p:nvSpPr>
        <p:spPr>
          <a:xfrm>
            <a:off x="609600" y="1352550"/>
            <a:ext cx="5715000" cy="3276600"/>
          </a:xfrm>
        </p:spPr>
        <p:txBody>
          <a:bodyPr>
            <a:normAutofit/>
          </a:bodyPr>
          <a:lstStyle/>
          <a:p>
            <a:pPr marL="6350" indent="7938" eaLnBrk="1" hangingPunct="1">
              <a:buFontTx/>
              <a:buNone/>
            </a:pPr>
            <a:r>
              <a:rPr lang="en-US" sz="2400" b="1" u="sng" dirty="0">
                <a:cs typeface="Times New Roman" pitchFamily="18" charset="0"/>
              </a:rPr>
              <a:t>Workforce Diversity:</a:t>
            </a:r>
            <a:r>
              <a:rPr lang="en-US" sz="2400" dirty="0">
                <a:cs typeface="Times New Roman" pitchFamily="18" charset="0"/>
              </a:rPr>
              <a:t> </a:t>
            </a:r>
          </a:p>
          <a:p>
            <a:pPr marL="6350" indent="7938" eaLnBrk="1" hangingPunct="1">
              <a:buFontTx/>
              <a:buNone/>
            </a:pPr>
            <a:r>
              <a:rPr lang="en-US" sz="2000" dirty="0">
                <a:cs typeface="Times New Roman" pitchFamily="18" charset="0"/>
              </a:rPr>
              <a:t>Organizations are becoming a more heterogeneous mix of people in terms of gender, age, race, ethnicity, and sexual orientation</a:t>
            </a:r>
            <a:r>
              <a:rPr lang="en-US" sz="2000" dirty="0"/>
              <a:t>.</a:t>
            </a:r>
          </a:p>
          <a:p>
            <a:pPr lvl="1">
              <a:lnSpc>
                <a:spcPct val="90000"/>
              </a:lnSpc>
            </a:pPr>
            <a:r>
              <a:rPr lang="en-US" sz="2100" dirty="0"/>
              <a:t>Embracing diversity</a:t>
            </a:r>
          </a:p>
          <a:p>
            <a:pPr lvl="1">
              <a:lnSpc>
                <a:spcPct val="90000"/>
              </a:lnSpc>
            </a:pPr>
            <a:r>
              <a:rPr lang="en-US" sz="2100" dirty="0"/>
              <a:t>Changing U.S. and world demographics</a:t>
            </a:r>
          </a:p>
          <a:p>
            <a:pPr lvl="1">
              <a:lnSpc>
                <a:spcPct val="90000"/>
              </a:lnSpc>
            </a:pPr>
            <a:r>
              <a:rPr lang="en-US" sz="2100" dirty="0"/>
              <a:t>Implications for managers.</a:t>
            </a:r>
          </a:p>
          <a:p>
            <a:pPr lvl="2">
              <a:lnSpc>
                <a:spcPct val="90000"/>
              </a:lnSpc>
            </a:pPr>
            <a:r>
              <a:rPr lang="en-US" sz="2100" dirty="0"/>
              <a:t>Recognizing and responding to differences </a:t>
            </a:r>
          </a:p>
        </p:txBody>
      </p:sp>
      <p:sp>
        <p:nvSpPr>
          <p:cNvPr id="6" name="Text Box 4"/>
          <p:cNvSpPr txBox="1">
            <a:spLocks noChangeArrowheads="1"/>
          </p:cNvSpPr>
          <p:nvPr/>
        </p:nvSpPr>
        <p:spPr bwMode="blackWhite">
          <a:xfrm>
            <a:off x="2209800" y="4552950"/>
            <a:ext cx="1278956" cy="506605"/>
          </a:xfrm>
          <a:prstGeom prst="rect">
            <a:avLst/>
          </a:prstGeom>
          <a:solidFill>
            <a:srgbClr val="996633"/>
          </a:solidFill>
          <a:ln w="3175">
            <a:solidFill>
              <a:schemeClr val="tx1"/>
            </a:solidFill>
            <a:miter lim="800000"/>
            <a:headEnd/>
            <a:tailEnd/>
          </a:ln>
          <a:effectLst>
            <a:outerShdw dist="107763" dir="2700000" algn="ctr" rotWithShape="0">
              <a:schemeClr val="bg2">
                <a:alpha val="50000"/>
              </a:schemeClr>
            </a:outerShdw>
          </a:effectLst>
        </p:spPr>
        <p:txBody>
          <a:bodyPr anchor="ctr" anchorCtr="1"/>
          <a:lstStyle/>
          <a:p>
            <a:pPr eaLnBrk="0" hangingPunct="0">
              <a:defRPr/>
            </a:pPr>
            <a:r>
              <a:rPr lang="en-US" b="1" dirty="0">
                <a:solidFill>
                  <a:srgbClr val="FFFFFF"/>
                </a:solidFill>
                <a:effectLst>
                  <a:outerShdw blurRad="38100" dist="38100" dir="2700000" algn="tl">
                    <a:srgbClr val="000000"/>
                  </a:outerShdw>
                </a:effectLst>
              </a:rPr>
              <a:t>Race</a:t>
            </a:r>
          </a:p>
        </p:txBody>
      </p:sp>
      <p:sp>
        <p:nvSpPr>
          <p:cNvPr id="7" name="Text Box 8"/>
          <p:cNvSpPr txBox="1">
            <a:spLocks noChangeArrowheads="1"/>
          </p:cNvSpPr>
          <p:nvPr/>
        </p:nvSpPr>
        <p:spPr bwMode="blackWhite">
          <a:xfrm>
            <a:off x="3544223" y="4546388"/>
            <a:ext cx="1332577" cy="513168"/>
          </a:xfrm>
          <a:prstGeom prst="rect">
            <a:avLst/>
          </a:prstGeom>
          <a:solidFill>
            <a:srgbClr val="666699"/>
          </a:solidFill>
          <a:ln w="3175">
            <a:solidFill>
              <a:schemeClr val="tx1"/>
            </a:solidFill>
            <a:miter lim="800000"/>
            <a:headEnd/>
            <a:tailEnd/>
          </a:ln>
          <a:effectLst>
            <a:outerShdw dist="107763" dir="2700000" algn="ctr" rotWithShape="0">
              <a:schemeClr val="bg2">
                <a:alpha val="50000"/>
              </a:schemeClr>
            </a:outerShdw>
          </a:effectLst>
        </p:spPr>
        <p:txBody>
          <a:bodyPr anchor="ctr" anchorCtr="1"/>
          <a:lstStyle/>
          <a:p>
            <a:pPr algn="ctr" eaLnBrk="0" hangingPunct="0">
              <a:defRPr/>
            </a:pPr>
            <a:r>
              <a:rPr lang="en-US" b="1" dirty="0">
                <a:solidFill>
                  <a:srgbClr val="FFFFFF"/>
                </a:solidFill>
                <a:effectLst>
                  <a:outerShdw blurRad="38100" dist="38100" dir="2700000" algn="tl">
                    <a:srgbClr val="000000"/>
                  </a:outerShdw>
                </a:effectLst>
              </a:rPr>
              <a:t>Age</a:t>
            </a:r>
          </a:p>
        </p:txBody>
      </p:sp>
      <p:sp>
        <p:nvSpPr>
          <p:cNvPr id="8" name="Text Box 5"/>
          <p:cNvSpPr txBox="1">
            <a:spLocks noChangeArrowheads="1"/>
          </p:cNvSpPr>
          <p:nvPr/>
        </p:nvSpPr>
        <p:spPr bwMode="blackWhite">
          <a:xfrm>
            <a:off x="4974657" y="4556169"/>
            <a:ext cx="1273743" cy="503386"/>
          </a:xfrm>
          <a:prstGeom prst="rect">
            <a:avLst/>
          </a:prstGeom>
          <a:solidFill>
            <a:schemeClr val="tx1"/>
          </a:solidFill>
          <a:ln w="3175">
            <a:solidFill>
              <a:schemeClr val="tx1"/>
            </a:solidFill>
            <a:miter lim="800000"/>
            <a:headEnd/>
            <a:tailEnd/>
          </a:ln>
          <a:effectLst>
            <a:outerShdw dist="107763" dir="2700000" algn="ctr" rotWithShape="0">
              <a:schemeClr val="bg2">
                <a:alpha val="50000"/>
              </a:schemeClr>
            </a:outerShdw>
          </a:effectLst>
        </p:spPr>
        <p:txBody>
          <a:bodyPr anchor="ctr" anchorCtr="1"/>
          <a:lstStyle/>
          <a:p>
            <a:pPr algn="ctr" eaLnBrk="0" hangingPunct="0">
              <a:defRPr/>
            </a:pPr>
            <a:r>
              <a:rPr lang="en-US" b="1" dirty="0">
                <a:solidFill>
                  <a:srgbClr val="FFFFFF"/>
                </a:solidFill>
                <a:effectLst>
                  <a:outerShdw blurRad="38100" dist="38100" dir="2700000" algn="tl">
                    <a:srgbClr val="808080"/>
                  </a:outerShdw>
                </a:effectLst>
              </a:rPr>
              <a:t>Religion</a:t>
            </a:r>
          </a:p>
        </p:txBody>
      </p:sp>
      <p:sp>
        <p:nvSpPr>
          <p:cNvPr id="9" name="Text Box 10"/>
          <p:cNvSpPr txBox="1">
            <a:spLocks noChangeArrowheads="1"/>
          </p:cNvSpPr>
          <p:nvPr/>
        </p:nvSpPr>
        <p:spPr bwMode="blackWhite">
          <a:xfrm>
            <a:off x="955518" y="4552950"/>
            <a:ext cx="1178082" cy="506605"/>
          </a:xfrm>
          <a:prstGeom prst="rect">
            <a:avLst/>
          </a:prstGeom>
          <a:solidFill>
            <a:srgbClr val="CC6600"/>
          </a:solidFill>
          <a:ln w="3175">
            <a:solidFill>
              <a:schemeClr val="tx1"/>
            </a:solidFill>
            <a:miter lim="800000"/>
            <a:headEnd/>
            <a:tailEnd/>
          </a:ln>
          <a:effectLst>
            <a:outerShdw dist="107763" dir="2700000" algn="ctr" rotWithShape="0">
              <a:schemeClr val="bg2">
                <a:alpha val="50000"/>
              </a:schemeClr>
            </a:outerShdw>
          </a:effectLst>
        </p:spPr>
        <p:txBody>
          <a:bodyPr anchor="ctr" anchorCtr="1"/>
          <a:lstStyle/>
          <a:p>
            <a:pPr eaLnBrk="0" hangingPunct="0">
              <a:defRPr/>
            </a:pPr>
            <a:r>
              <a:rPr lang="en-US" b="1" dirty="0">
                <a:solidFill>
                  <a:srgbClr val="FFFFFF"/>
                </a:solidFill>
                <a:effectLst>
                  <a:outerShdw blurRad="38100" dist="38100" dir="2700000" algn="tl">
                    <a:srgbClr val="000000"/>
                  </a:outerShdw>
                </a:effectLst>
              </a:rPr>
              <a:t>Gender</a:t>
            </a:r>
            <a:endParaRPr lang="en-US" sz="2000" b="1" dirty="0">
              <a:solidFill>
                <a:srgbClr val="FFFFFF"/>
              </a:solidFill>
              <a:effectLst>
                <a:outerShdw blurRad="38100" dist="38100" dir="2700000" algn="tl">
                  <a:srgbClr val="000000"/>
                </a:outerShdw>
              </a:effectLst>
            </a:endParaRPr>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0968" y="1352550"/>
            <a:ext cx="2726955" cy="2286000"/>
          </a:xfrm>
          <a:prstGeom prst="rect">
            <a:avLst/>
          </a:prstGeom>
        </p:spPr>
      </p:pic>
      <p:pic>
        <p:nvPicPr>
          <p:cNvPr id="12" name="Picture 8" descr="C:\Users\Bob Stretch\AppData\Local\Microsoft\Windows\Temporary Internet Files\Content.IE5\SEQ5QILQ\MPj04394330000[1].jpg"/>
          <p:cNvPicPr>
            <a:picLocks noChangeAspect="1" noChangeArrowheads="1"/>
          </p:cNvPicPr>
          <p:nvPr/>
        </p:nvPicPr>
        <p:blipFill>
          <a:blip r:embed="rId4"/>
          <a:srcRect/>
          <a:stretch>
            <a:fillRect/>
          </a:stretch>
        </p:blipFill>
        <p:spPr bwMode="auto">
          <a:xfrm>
            <a:off x="7287768" y="3638550"/>
            <a:ext cx="1650021" cy="1504950"/>
          </a:xfrm>
          <a:prstGeom prst="rect">
            <a:avLst/>
          </a:prstGeom>
          <a:noFill/>
          <a:ln w="22225">
            <a:solidFill>
              <a:schemeClr val="accent4">
                <a:lumMod val="10000"/>
              </a:schemeClr>
            </a:solidFill>
          </a:ln>
          <a:effectLst>
            <a:outerShdw blurRad="50800" dist="76200" dir="5400000" algn="t" rotWithShape="0">
              <a:prstClr val="black">
                <a:alpha val="40000"/>
              </a:prstClr>
            </a:outerShdw>
          </a:effectLst>
        </p:spPr>
      </p:pic>
    </p:spTree>
    <p:extLst>
      <p:ext uri="{BB962C8B-B14F-4D97-AF65-F5344CB8AC3E}">
        <p14:creationId xmlns:p14="http://schemas.microsoft.com/office/powerpoint/2010/main" val="150197602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iterate type="wd">
                                    <p:tmPct val="100000"/>
                                  </p:iterate>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3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300" fill="hold"/>
                                        <p:tgtEl>
                                          <p:spTgt spid="6">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300"/>
                            </p:stCondLst>
                            <p:childTnLst>
                              <p:par>
                                <p:cTn id="10" presetID="2" presetClass="entr" presetSubtype="1" fill="hold" grpId="0" nodeType="afterEffect">
                                  <p:stCondLst>
                                    <p:cond delay="0"/>
                                  </p:stCondLst>
                                  <p:iterate type="wd">
                                    <p:tmPct val="100000"/>
                                  </p:iterate>
                                  <p:childTnLst>
                                    <p:set>
                                      <p:cBhvr>
                                        <p:cTn id="11" dur="1" fill="hold">
                                          <p:stCondLst>
                                            <p:cond delay="0"/>
                                          </p:stCondLst>
                                        </p:cTn>
                                        <p:tgtEl>
                                          <p:spTgt spid="7">
                                            <p:txEl>
                                              <p:pRg st="0" end="0"/>
                                            </p:txEl>
                                          </p:spTgt>
                                        </p:tgtEl>
                                        <p:attrNameLst>
                                          <p:attrName>style.visibility</p:attrName>
                                        </p:attrNameLst>
                                      </p:cBhvr>
                                      <p:to>
                                        <p:strVal val="visible"/>
                                      </p:to>
                                    </p:set>
                                    <p:anim calcmode="lin" valueType="num">
                                      <p:cBhvr additive="base">
                                        <p:cTn id="12" dur="3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3" dur="300" fill="hold"/>
                                        <p:tgtEl>
                                          <p:spTgt spid="7">
                                            <p:txEl>
                                              <p:pRg st="0" end="0"/>
                                            </p:txEl>
                                          </p:spTgt>
                                        </p:tgtEl>
                                        <p:attrNameLst>
                                          <p:attrName>ppt_y</p:attrName>
                                        </p:attrNameLst>
                                      </p:cBhvr>
                                      <p:tavLst>
                                        <p:tav tm="0">
                                          <p:val>
                                            <p:strVal val="0-#ppt_h/2"/>
                                          </p:val>
                                        </p:tav>
                                        <p:tav tm="100000">
                                          <p:val>
                                            <p:strVal val="#ppt_y"/>
                                          </p:val>
                                        </p:tav>
                                      </p:tavLst>
                                    </p:anim>
                                  </p:childTnLst>
                                </p:cTn>
                              </p:par>
                            </p:childTnLst>
                          </p:cTn>
                        </p:par>
                        <p:par>
                          <p:cTn id="14" fill="hold">
                            <p:stCondLst>
                              <p:cond delay="600"/>
                            </p:stCondLst>
                            <p:childTnLst>
                              <p:par>
                                <p:cTn id="15" presetID="2" presetClass="entr" presetSubtype="1" fill="hold" grpId="0" nodeType="afterEffect">
                                  <p:stCondLst>
                                    <p:cond delay="0"/>
                                  </p:stCondLst>
                                  <p:iterate type="wd">
                                    <p:tmPct val="100000"/>
                                  </p:iterate>
                                  <p:childTnLst>
                                    <p:set>
                                      <p:cBhvr>
                                        <p:cTn id="16" dur="1" fill="hold">
                                          <p:stCondLst>
                                            <p:cond delay="0"/>
                                          </p:stCondLst>
                                        </p:cTn>
                                        <p:tgtEl>
                                          <p:spTgt spid="8">
                                            <p:txEl>
                                              <p:pRg st="0" end="0"/>
                                            </p:txEl>
                                          </p:spTgt>
                                        </p:tgtEl>
                                        <p:attrNameLst>
                                          <p:attrName>style.visibility</p:attrName>
                                        </p:attrNameLst>
                                      </p:cBhvr>
                                      <p:to>
                                        <p:strVal val="visible"/>
                                      </p:to>
                                    </p:set>
                                    <p:anim calcmode="lin" valueType="num">
                                      <p:cBhvr additive="base">
                                        <p:cTn id="17" dur="3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8" dur="300" fill="hold"/>
                                        <p:tgtEl>
                                          <p:spTgt spid="8">
                                            <p:txEl>
                                              <p:pRg st="0" end="0"/>
                                            </p:txEl>
                                          </p:spTgt>
                                        </p:tgtEl>
                                        <p:attrNameLst>
                                          <p:attrName>ppt_y</p:attrName>
                                        </p:attrNameLst>
                                      </p:cBhvr>
                                      <p:tavLst>
                                        <p:tav tm="0">
                                          <p:val>
                                            <p:strVal val="0-#ppt_h/2"/>
                                          </p:val>
                                        </p:tav>
                                        <p:tav tm="100000">
                                          <p:val>
                                            <p:strVal val="#ppt_y"/>
                                          </p:val>
                                        </p:tav>
                                      </p:tavLst>
                                    </p:anim>
                                  </p:childTnLst>
                                </p:cTn>
                              </p:par>
                            </p:childTnLst>
                          </p:cTn>
                        </p:par>
                        <p:par>
                          <p:cTn id="19" fill="hold">
                            <p:stCondLst>
                              <p:cond delay="900"/>
                            </p:stCondLst>
                            <p:childTnLst>
                              <p:par>
                                <p:cTn id="20" presetID="2" presetClass="entr" presetSubtype="1" fill="hold" grpId="0" nodeType="afterEffect">
                                  <p:stCondLst>
                                    <p:cond delay="0"/>
                                  </p:stCondLst>
                                  <p:iterate type="wd">
                                    <p:tmPct val="100000"/>
                                  </p:iterate>
                                  <p:childTnLst>
                                    <p:set>
                                      <p:cBhvr>
                                        <p:cTn id="21" dur="1" fill="hold">
                                          <p:stCondLst>
                                            <p:cond delay="0"/>
                                          </p:stCondLst>
                                        </p:cTn>
                                        <p:tgtEl>
                                          <p:spTgt spid="9">
                                            <p:txEl>
                                              <p:pRg st="0" end="0"/>
                                            </p:txEl>
                                          </p:spTgt>
                                        </p:tgtEl>
                                        <p:attrNameLst>
                                          <p:attrName>style.visibility</p:attrName>
                                        </p:attrNameLst>
                                      </p:cBhvr>
                                      <p:to>
                                        <p:strVal val="visible"/>
                                      </p:to>
                                    </p:set>
                                    <p:anim calcmode="lin" valueType="num">
                                      <p:cBhvr additive="base">
                                        <p:cTn id="22" dur="3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23" dur="300" fill="hold"/>
                                        <p:tgtEl>
                                          <p:spTgt spid="9">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advAuto="0"/>
      <p:bldP spid="7" grpId="0" build="p" autoUpdateAnimBg="0" advAuto="0"/>
      <p:bldP spid="8" grpId="0" build="p" autoUpdateAnimBg="0" advAuto="0"/>
      <p:bldP spid="9" grpId="0" build="p" autoUpdateAnimBg="0" advAuto="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pPr eaLnBrk="1" hangingPunct="1"/>
            <a:r>
              <a:rPr lang="en-US" sz="4000" dirty="0">
                <a:solidFill>
                  <a:schemeClr val="tx1"/>
                </a:solidFill>
              </a:rPr>
              <a:t>OB support in Dealing With</a:t>
            </a:r>
            <a:endParaRPr lang="en-US" dirty="0"/>
          </a:p>
        </p:txBody>
      </p:sp>
      <p:sp>
        <p:nvSpPr>
          <p:cNvPr id="14340" name="Rectangle 3"/>
          <p:cNvSpPr>
            <a:spLocks noGrp="1" noChangeArrowheads="1"/>
          </p:cNvSpPr>
          <p:nvPr>
            <p:ph sz="quarter" idx="13"/>
          </p:nvPr>
        </p:nvSpPr>
        <p:spPr>
          <a:xfrm>
            <a:off x="3496056" y="1352550"/>
            <a:ext cx="5495544" cy="3276600"/>
          </a:xfrm>
        </p:spPr>
        <p:txBody>
          <a:bodyPr>
            <a:noAutofit/>
          </a:bodyPr>
          <a:lstStyle/>
          <a:p>
            <a:pPr marL="0" indent="0">
              <a:spcBef>
                <a:spcPts val="0"/>
              </a:spcBef>
              <a:buNone/>
            </a:pPr>
            <a:r>
              <a:rPr lang="en-US" sz="1800" dirty="0"/>
              <a:t>OB not only helps employees understand themselves better, it also offers a roadmap for managers to improve all aspects of their organizations:</a:t>
            </a:r>
            <a:endParaRPr lang="en-US" sz="1800" dirty="0">
              <a:cs typeface="Times New Roman" pitchFamily="18" charset="0"/>
            </a:endParaRPr>
          </a:p>
          <a:p>
            <a:pPr eaLnBrk="1" hangingPunct="1">
              <a:spcBef>
                <a:spcPts val="0"/>
              </a:spcBef>
            </a:pPr>
            <a:r>
              <a:rPr lang="en-US" sz="1800" dirty="0">
                <a:cs typeface="Times New Roman" pitchFamily="18" charset="0"/>
              </a:rPr>
              <a:t>Stimulating Innovation and Change</a:t>
            </a:r>
            <a:r>
              <a:rPr lang="en-US" sz="1800" dirty="0"/>
              <a:t> </a:t>
            </a:r>
          </a:p>
          <a:p>
            <a:pPr eaLnBrk="1" hangingPunct="1">
              <a:spcBef>
                <a:spcPts val="0"/>
              </a:spcBef>
            </a:pPr>
            <a:r>
              <a:rPr lang="en-US" sz="1800" dirty="0"/>
              <a:t>Helping employees balance work-life conflicts</a:t>
            </a:r>
          </a:p>
          <a:p>
            <a:pPr>
              <a:spcBef>
                <a:spcPts val="0"/>
              </a:spcBef>
            </a:pPr>
            <a:r>
              <a:rPr lang="en-US" sz="1800" dirty="0"/>
              <a:t>Improving People Skills &amp; performance</a:t>
            </a:r>
          </a:p>
          <a:p>
            <a:pPr>
              <a:spcBef>
                <a:spcPts val="0"/>
              </a:spcBef>
            </a:pPr>
            <a:r>
              <a:rPr lang="en-US" sz="1800" dirty="0"/>
              <a:t>Empowering People</a:t>
            </a:r>
          </a:p>
          <a:p>
            <a:pPr>
              <a:spcBef>
                <a:spcPts val="0"/>
              </a:spcBef>
            </a:pPr>
            <a:r>
              <a:rPr lang="en-US" sz="1800" dirty="0"/>
              <a:t>Encouraging Leadership</a:t>
            </a:r>
          </a:p>
          <a:p>
            <a:pPr>
              <a:spcBef>
                <a:spcPts val="0"/>
              </a:spcBef>
            </a:pPr>
            <a:r>
              <a:rPr lang="en-US" sz="1800" dirty="0"/>
              <a:t>Working in Networked Organizations</a:t>
            </a:r>
          </a:p>
          <a:p>
            <a:pPr>
              <a:spcBef>
                <a:spcPts val="0"/>
              </a:spcBef>
            </a:pPr>
            <a:r>
              <a:rPr lang="en-US" sz="1800" dirty="0"/>
              <a:t>Improving Ethical Behavior</a:t>
            </a:r>
          </a:p>
          <a:p>
            <a:pPr>
              <a:spcBef>
                <a:spcPts val="0"/>
              </a:spcBef>
            </a:pPr>
            <a:r>
              <a:rPr lang="en-US" sz="1800" dirty="0"/>
              <a:t>Improved customer services</a:t>
            </a:r>
          </a:p>
          <a:p>
            <a:pPr>
              <a:spcBef>
                <a:spcPts val="0"/>
              </a:spcBef>
            </a:pPr>
            <a:r>
              <a:rPr lang="en-US" sz="1800" dirty="0"/>
              <a:t>Managing People during the War on Terrorism</a:t>
            </a:r>
          </a:p>
        </p:txBody>
      </p:sp>
      <p:pic>
        <p:nvPicPr>
          <p:cNvPr id="14343" name="Picture 7" descr="C:\Users\Bob Stretch\AppData\Local\Microsoft\Windows\Temporary Internet Files\Content.IE5\K0JS0KIR\MPj04386550000[1].jpg"/>
          <p:cNvPicPr>
            <a:picLocks noChangeAspect="1" noChangeArrowheads="1"/>
          </p:cNvPicPr>
          <p:nvPr/>
        </p:nvPicPr>
        <p:blipFill>
          <a:blip r:embed="rId2"/>
          <a:srcRect/>
          <a:stretch>
            <a:fillRect/>
          </a:stretch>
        </p:blipFill>
        <p:spPr bwMode="auto">
          <a:xfrm>
            <a:off x="595694" y="1352550"/>
            <a:ext cx="2900362" cy="3257550"/>
          </a:xfrm>
          <a:prstGeom prst="rect">
            <a:avLst/>
          </a:prstGeom>
          <a:noFill/>
          <a:ln>
            <a:solidFill>
              <a:schemeClr val="accent4">
                <a:lumMod val="10000"/>
              </a:schemeClr>
            </a:solidFill>
          </a:ln>
          <a:effectLst>
            <a:outerShdw blurRad="50800" dist="76200" dir="5400000" algn="t" rotWithShape="0">
              <a:prstClr val="black">
                <a:alpha val="40000"/>
              </a:prstClr>
            </a:outerShdw>
          </a:effectLst>
        </p:spPr>
      </p:pic>
    </p:spTree>
    <p:extLst>
      <p:ext uri="{BB962C8B-B14F-4D97-AF65-F5344CB8AC3E}">
        <p14:creationId xmlns:p14="http://schemas.microsoft.com/office/powerpoint/2010/main" val="898775589"/>
      </p:ext>
    </p:extLst>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txBox="1">
            <a:spLocks noGrp="1"/>
          </p:cNvSpPr>
          <p:nvPr/>
        </p:nvSpPr>
        <p:spPr bwMode="auto">
          <a:xfrm>
            <a:off x="7145338" y="4686300"/>
            <a:ext cx="1905000" cy="342900"/>
          </a:xfrm>
          <a:prstGeom prst="rect">
            <a:avLst/>
          </a:prstGeom>
          <a:noFill/>
          <a:ln>
            <a:miter lim="800000"/>
            <a:headEnd/>
            <a:tailEnd/>
          </a:ln>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r" eaLnBrk="1" hangingPunct="1"/>
            <a:endParaRPr lang="en-US" sz="1400">
              <a:solidFill>
                <a:srgbClr val="161616"/>
              </a:solidFill>
              <a:latin typeface="Tahoma" pitchFamily="34" charset="0"/>
              <a:cs typeface="Tahoma" pitchFamily="34" charset="0"/>
            </a:endParaRPr>
          </a:p>
        </p:txBody>
      </p:sp>
      <p:sp>
        <p:nvSpPr>
          <p:cNvPr id="6147" name="Rectangle 2"/>
          <p:cNvSpPr>
            <a:spLocks noGrp="1" noChangeArrowheads="1"/>
          </p:cNvSpPr>
          <p:nvPr>
            <p:ph type="title"/>
          </p:nvPr>
        </p:nvSpPr>
        <p:spPr/>
        <p:txBody>
          <a:bodyPr>
            <a:normAutofit/>
          </a:bodyPr>
          <a:lstStyle/>
          <a:p>
            <a:pPr eaLnBrk="1" hangingPunct="1"/>
            <a:r>
              <a:rPr lang="en-US" sz="4000" dirty="0">
                <a:solidFill>
                  <a:schemeClr val="tx1"/>
                </a:solidFill>
              </a:rPr>
              <a:t>Focal Points of OB</a:t>
            </a:r>
          </a:p>
        </p:txBody>
      </p:sp>
      <p:sp>
        <p:nvSpPr>
          <p:cNvPr id="6148" name="Rectangle 3"/>
          <p:cNvSpPr>
            <a:spLocks noGrp="1" noChangeArrowheads="1"/>
          </p:cNvSpPr>
          <p:nvPr>
            <p:ph sz="quarter" idx="13"/>
          </p:nvPr>
        </p:nvSpPr>
        <p:spPr/>
        <p:txBody>
          <a:bodyPr>
            <a:normAutofit/>
          </a:bodyPr>
          <a:lstStyle/>
          <a:p>
            <a:pPr indent="457200" eaLnBrk="1" hangingPunct="1"/>
            <a:r>
              <a:rPr lang="en-US" sz="2400" dirty="0"/>
              <a:t>Jobs</a:t>
            </a:r>
          </a:p>
          <a:p>
            <a:pPr indent="457200" eaLnBrk="1" hangingPunct="1"/>
            <a:r>
              <a:rPr lang="en-US" sz="2400" dirty="0"/>
              <a:t>Work</a:t>
            </a:r>
          </a:p>
          <a:p>
            <a:pPr indent="457200" eaLnBrk="1" hangingPunct="1"/>
            <a:r>
              <a:rPr lang="en-US" sz="2400" dirty="0"/>
              <a:t>Absenteeism</a:t>
            </a:r>
          </a:p>
          <a:p>
            <a:pPr indent="457200" eaLnBrk="1" hangingPunct="1"/>
            <a:r>
              <a:rPr lang="en-US" sz="2400" dirty="0"/>
              <a:t>Employment turnover</a:t>
            </a:r>
          </a:p>
          <a:p>
            <a:pPr indent="457200" eaLnBrk="1" hangingPunct="1"/>
            <a:r>
              <a:rPr lang="en-US" sz="2400" dirty="0"/>
              <a:t>Productivity</a:t>
            </a:r>
          </a:p>
          <a:p>
            <a:pPr indent="457200" eaLnBrk="1" hangingPunct="1"/>
            <a:r>
              <a:rPr lang="en-US" sz="2400" dirty="0"/>
              <a:t>Human performance</a:t>
            </a:r>
          </a:p>
          <a:p>
            <a:pPr indent="457200" eaLnBrk="1" hangingPunct="1"/>
            <a:r>
              <a:rPr lang="en-US" sz="2400" dirty="0"/>
              <a:t>Management</a:t>
            </a:r>
          </a:p>
        </p:txBody>
      </p:sp>
      <p:pic>
        <p:nvPicPr>
          <p:cNvPr id="7170" name="Picture 2" descr="Image result for going to wor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809750"/>
            <a:ext cx="4286250"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9304215"/>
      </p:ext>
    </p:extLst>
  </p:cSld>
  <p:clrMapOvr>
    <a:masterClrMapping/>
  </p:clrMapOvr>
  <p:transition>
    <p:pull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7" name="Picture 4" descr="MPj04088810000[1]"/>
          <p:cNvPicPr>
            <a:picLocks noChangeAspect="1" noChangeArrowheads="1"/>
          </p:cNvPicPr>
          <p:nvPr/>
        </p:nvPicPr>
        <p:blipFill>
          <a:blip r:embed="rId2"/>
          <a:srcRect t="16293"/>
          <a:stretch>
            <a:fillRect/>
          </a:stretch>
        </p:blipFill>
        <p:spPr bwMode="auto">
          <a:xfrm>
            <a:off x="5848350" y="3074194"/>
            <a:ext cx="3295650" cy="2069306"/>
          </a:xfrm>
          <a:prstGeom prst="rect">
            <a:avLst/>
          </a:prstGeom>
          <a:noFill/>
          <a:ln w="9525">
            <a:solidFill>
              <a:schemeClr val="accent4">
                <a:lumMod val="10000"/>
              </a:schemeClr>
            </a:solidFill>
            <a:miter lim="800000"/>
            <a:headEnd/>
            <a:tailEnd/>
          </a:ln>
          <a:effectLst>
            <a:outerShdw blurRad="50800" dist="88900" dir="2700000" algn="tl" rotWithShape="0">
              <a:prstClr val="black">
                <a:alpha val="40000"/>
              </a:prstClr>
            </a:outerShdw>
          </a:effectLst>
        </p:spPr>
      </p:pic>
      <p:sp>
        <p:nvSpPr>
          <p:cNvPr id="16388" name="Rectangle 2"/>
          <p:cNvSpPr>
            <a:spLocks noGrp="1" noChangeArrowheads="1"/>
          </p:cNvSpPr>
          <p:nvPr>
            <p:ph type="title"/>
          </p:nvPr>
        </p:nvSpPr>
        <p:spPr/>
        <p:txBody>
          <a:bodyPr>
            <a:normAutofit/>
          </a:bodyPr>
          <a:lstStyle/>
          <a:p>
            <a:pPr eaLnBrk="1" hangingPunct="1"/>
            <a:r>
              <a:rPr lang="en-US" sz="4000" dirty="0">
                <a:solidFill>
                  <a:schemeClr val="tx1"/>
                </a:solidFill>
              </a:rPr>
              <a:t>OB Offers Insights Into:</a:t>
            </a:r>
          </a:p>
        </p:txBody>
      </p:sp>
      <p:sp>
        <p:nvSpPr>
          <p:cNvPr id="13316" name="Rectangle 3"/>
          <p:cNvSpPr>
            <a:spLocks noGrp="1" noChangeArrowheads="1"/>
          </p:cNvSpPr>
          <p:nvPr>
            <p:ph sz="quarter" idx="13"/>
          </p:nvPr>
        </p:nvSpPr>
        <p:spPr/>
        <p:txBody>
          <a:bodyPr>
            <a:normAutofit fontScale="92500" lnSpcReduction="10000"/>
          </a:bodyPr>
          <a:lstStyle/>
          <a:p>
            <a:pPr>
              <a:lnSpc>
                <a:spcPct val="90000"/>
              </a:lnSpc>
            </a:pPr>
            <a:r>
              <a:rPr lang="en-US" sz="2600" dirty="0"/>
              <a:t>Improving Quality and Productivity</a:t>
            </a:r>
          </a:p>
          <a:p>
            <a:pPr lvl="1">
              <a:lnSpc>
                <a:spcPct val="90000"/>
              </a:lnSpc>
            </a:pPr>
            <a:r>
              <a:rPr lang="en-US" sz="1900" dirty="0"/>
              <a:t>Quality management (QM)</a:t>
            </a:r>
          </a:p>
          <a:p>
            <a:pPr lvl="1">
              <a:lnSpc>
                <a:spcPct val="90000"/>
              </a:lnSpc>
            </a:pPr>
            <a:r>
              <a:rPr lang="en-US" sz="1900" dirty="0"/>
              <a:t>Process reengineering</a:t>
            </a:r>
          </a:p>
          <a:p>
            <a:pPr>
              <a:lnSpc>
                <a:spcPct val="90000"/>
              </a:lnSpc>
            </a:pPr>
            <a:r>
              <a:rPr lang="en-US" sz="2600" dirty="0"/>
              <a:t>Responding to the Labor Shortage</a:t>
            </a:r>
          </a:p>
          <a:p>
            <a:pPr lvl="1">
              <a:lnSpc>
                <a:spcPct val="90000"/>
              </a:lnSpc>
            </a:pPr>
            <a:r>
              <a:rPr lang="en-US" sz="1900" dirty="0"/>
              <a:t>Changing work force demographics</a:t>
            </a:r>
          </a:p>
          <a:p>
            <a:pPr lvl="1">
              <a:lnSpc>
                <a:spcPct val="90000"/>
              </a:lnSpc>
            </a:pPr>
            <a:r>
              <a:rPr lang="en-US" sz="1900" dirty="0"/>
              <a:t>Fewer skilled laborers</a:t>
            </a:r>
          </a:p>
          <a:p>
            <a:pPr lvl="1">
              <a:lnSpc>
                <a:spcPct val="90000"/>
              </a:lnSpc>
            </a:pPr>
            <a:r>
              <a:rPr lang="en-US" sz="1900" dirty="0"/>
              <a:t>Early retirements and older workers</a:t>
            </a:r>
          </a:p>
          <a:p>
            <a:pPr>
              <a:lnSpc>
                <a:spcPct val="90000"/>
              </a:lnSpc>
            </a:pPr>
            <a:r>
              <a:rPr lang="en-US" sz="2600" dirty="0"/>
              <a:t>Improving Customer Service</a:t>
            </a:r>
          </a:p>
          <a:p>
            <a:pPr lvl="1">
              <a:lnSpc>
                <a:spcPct val="90000"/>
              </a:lnSpc>
            </a:pPr>
            <a:r>
              <a:rPr lang="en-US" sz="1900" dirty="0"/>
              <a:t>Increased expectation of service quality</a:t>
            </a:r>
          </a:p>
          <a:p>
            <a:pPr lvl="1">
              <a:lnSpc>
                <a:spcPct val="90000"/>
              </a:lnSpc>
            </a:pPr>
            <a:r>
              <a:rPr lang="en-US" sz="1900" dirty="0"/>
              <a:t>Customer-responsive cultures</a:t>
            </a:r>
          </a:p>
        </p:txBody>
      </p:sp>
      <p:pic>
        <p:nvPicPr>
          <p:cNvPr id="6" name="Picture 4" descr="pe023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99214" y="1276350"/>
            <a:ext cx="2211387"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33807227"/>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16">
                                            <p:txEl>
                                              <p:pRg st="0" end="0"/>
                                            </p:txEl>
                                          </p:spTgt>
                                        </p:tgtEl>
                                        <p:attrNameLst>
                                          <p:attrName>style.visibility</p:attrName>
                                        </p:attrNameLst>
                                      </p:cBhvr>
                                      <p:to>
                                        <p:strVal val="visible"/>
                                      </p:to>
                                    </p:set>
                                    <p:anim calcmode="lin" valueType="num">
                                      <p:cBhvr additive="base">
                                        <p:cTn id="7" dur="1000" fill="hold"/>
                                        <p:tgtEl>
                                          <p:spTgt spid="13316">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133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316">
                                            <p:txEl>
                                              <p:pRg st="1" end="1"/>
                                            </p:txEl>
                                          </p:spTgt>
                                        </p:tgtEl>
                                        <p:attrNameLst>
                                          <p:attrName>style.visibility</p:attrName>
                                        </p:attrNameLst>
                                      </p:cBhvr>
                                      <p:to>
                                        <p:strVal val="visible"/>
                                      </p:to>
                                    </p:set>
                                    <p:anim calcmode="lin" valueType="num">
                                      <p:cBhvr additive="base">
                                        <p:cTn id="11" dur="1000" fill="hold"/>
                                        <p:tgtEl>
                                          <p:spTgt spid="13316">
                                            <p:txEl>
                                              <p:pRg st="1" end="1"/>
                                            </p:txEl>
                                          </p:spTgt>
                                        </p:tgtEl>
                                        <p:attrNameLst>
                                          <p:attrName>ppt_x</p:attrName>
                                        </p:attrNameLst>
                                      </p:cBhvr>
                                      <p:tavLst>
                                        <p:tav tm="0">
                                          <p:val>
                                            <p:strVal val="#ppt_x"/>
                                          </p:val>
                                        </p:tav>
                                        <p:tav tm="100000">
                                          <p:val>
                                            <p:strVal val="#ppt_x"/>
                                          </p:val>
                                        </p:tav>
                                      </p:tavLst>
                                    </p:anim>
                                    <p:anim calcmode="lin" valueType="num">
                                      <p:cBhvr additive="base">
                                        <p:cTn id="12" dur="1000" fill="hold"/>
                                        <p:tgtEl>
                                          <p:spTgt spid="1331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3316">
                                            <p:txEl>
                                              <p:pRg st="2" end="2"/>
                                            </p:txEl>
                                          </p:spTgt>
                                        </p:tgtEl>
                                        <p:attrNameLst>
                                          <p:attrName>style.visibility</p:attrName>
                                        </p:attrNameLst>
                                      </p:cBhvr>
                                      <p:to>
                                        <p:strVal val="visible"/>
                                      </p:to>
                                    </p:set>
                                    <p:anim calcmode="lin" valueType="num">
                                      <p:cBhvr additive="base">
                                        <p:cTn id="15" dur="1000" fill="hold"/>
                                        <p:tgtEl>
                                          <p:spTgt spid="13316">
                                            <p:txEl>
                                              <p:pRg st="2" end="2"/>
                                            </p:txEl>
                                          </p:spTgt>
                                        </p:tgtEl>
                                        <p:attrNameLst>
                                          <p:attrName>ppt_x</p:attrName>
                                        </p:attrNameLst>
                                      </p:cBhvr>
                                      <p:tavLst>
                                        <p:tav tm="0">
                                          <p:val>
                                            <p:strVal val="#ppt_x"/>
                                          </p:val>
                                        </p:tav>
                                        <p:tav tm="100000">
                                          <p:val>
                                            <p:strVal val="#ppt_x"/>
                                          </p:val>
                                        </p:tav>
                                      </p:tavLst>
                                    </p:anim>
                                    <p:anim calcmode="lin" valueType="num">
                                      <p:cBhvr additive="base">
                                        <p:cTn id="16" dur="1000" fill="hold"/>
                                        <p:tgtEl>
                                          <p:spTgt spid="1331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3316">
                                            <p:txEl>
                                              <p:pRg st="3" end="3"/>
                                            </p:txEl>
                                          </p:spTgt>
                                        </p:tgtEl>
                                        <p:attrNameLst>
                                          <p:attrName>style.visibility</p:attrName>
                                        </p:attrNameLst>
                                      </p:cBhvr>
                                      <p:to>
                                        <p:strVal val="visible"/>
                                      </p:to>
                                    </p:set>
                                    <p:anim calcmode="lin" valueType="num">
                                      <p:cBhvr additive="base">
                                        <p:cTn id="21" dur="1000" fill="hold"/>
                                        <p:tgtEl>
                                          <p:spTgt spid="13316">
                                            <p:txEl>
                                              <p:pRg st="3" end="3"/>
                                            </p:txEl>
                                          </p:spTgt>
                                        </p:tgtEl>
                                        <p:attrNameLst>
                                          <p:attrName>ppt_x</p:attrName>
                                        </p:attrNameLst>
                                      </p:cBhvr>
                                      <p:tavLst>
                                        <p:tav tm="0">
                                          <p:val>
                                            <p:strVal val="#ppt_x"/>
                                          </p:val>
                                        </p:tav>
                                        <p:tav tm="100000">
                                          <p:val>
                                            <p:strVal val="#ppt_x"/>
                                          </p:val>
                                        </p:tav>
                                      </p:tavLst>
                                    </p:anim>
                                    <p:anim calcmode="lin" valueType="num">
                                      <p:cBhvr additive="base">
                                        <p:cTn id="22" dur="1000" fill="hold"/>
                                        <p:tgtEl>
                                          <p:spTgt spid="13316">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3316">
                                            <p:txEl>
                                              <p:pRg st="4" end="4"/>
                                            </p:txEl>
                                          </p:spTgt>
                                        </p:tgtEl>
                                        <p:attrNameLst>
                                          <p:attrName>style.visibility</p:attrName>
                                        </p:attrNameLst>
                                      </p:cBhvr>
                                      <p:to>
                                        <p:strVal val="visible"/>
                                      </p:to>
                                    </p:set>
                                    <p:anim calcmode="lin" valueType="num">
                                      <p:cBhvr additive="base">
                                        <p:cTn id="25" dur="1000" fill="hold"/>
                                        <p:tgtEl>
                                          <p:spTgt spid="13316">
                                            <p:txEl>
                                              <p:pRg st="4" end="4"/>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13316">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3316">
                                            <p:txEl>
                                              <p:pRg st="5" end="5"/>
                                            </p:txEl>
                                          </p:spTgt>
                                        </p:tgtEl>
                                        <p:attrNameLst>
                                          <p:attrName>style.visibility</p:attrName>
                                        </p:attrNameLst>
                                      </p:cBhvr>
                                      <p:to>
                                        <p:strVal val="visible"/>
                                      </p:to>
                                    </p:set>
                                    <p:anim calcmode="lin" valueType="num">
                                      <p:cBhvr additive="base">
                                        <p:cTn id="29" dur="1000" fill="hold"/>
                                        <p:tgtEl>
                                          <p:spTgt spid="13316">
                                            <p:txEl>
                                              <p:pRg st="5" end="5"/>
                                            </p:txEl>
                                          </p:spTgt>
                                        </p:tgtEl>
                                        <p:attrNameLst>
                                          <p:attrName>ppt_x</p:attrName>
                                        </p:attrNameLst>
                                      </p:cBhvr>
                                      <p:tavLst>
                                        <p:tav tm="0">
                                          <p:val>
                                            <p:strVal val="#ppt_x"/>
                                          </p:val>
                                        </p:tav>
                                        <p:tav tm="100000">
                                          <p:val>
                                            <p:strVal val="#ppt_x"/>
                                          </p:val>
                                        </p:tav>
                                      </p:tavLst>
                                    </p:anim>
                                    <p:anim calcmode="lin" valueType="num">
                                      <p:cBhvr additive="base">
                                        <p:cTn id="30" dur="1000" fill="hold"/>
                                        <p:tgtEl>
                                          <p:spTgt spid="13316">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3316">
                                            <p:txEl>
                                              <p:pRg st="6" end="6"/>
                                            </p:txEl>
                                          </p:spTgt>
                                        </p:tgtEl>
                                        <p:attrNameLst>
                                          <p:attrName>style.visibility</p:attrName>
                                        </p:attrNameLst>
                                      </p:cBhvr>
                                      <p:to>
                                        <p:strVal val="visible"/>
                                      </p:to>
                                    </p:set>
                                    <p:anim calcmode="lin" valueType="num">
                                      <p:cBhvr additive="base">
                                        <p:cTn id="33" dur="1000" fill="hold"/>
                                        <p:tgtEl>
                                          <p:spTgt spid="13316">
                                            <p:txEl>
                                              <p:pRg st="6" end="6"/>
                                            </p:txEl>
                                          </p:spTgt>
                                        </p:tgtEl>
                                        <p:attrNameLst>
                                          <p:attrName>ppt_x</p:attrName>
                                        </p:attrNameLst>
                                      </p:cBhvr>
                                      <p:tavLst>
                                        <p:tav tm="0">
                                          <p:val>
                                            <p:strVal val="#ppt_x"/>
                                          </p:val>
                                        </p:tav>
                                        <p:tav tm="100000">
                                          <p:val>
                                            <p:strVal val="#ppt_x"/>
                                          </p:val>
                                        </p:tav>
                                      </p:tavLst>
                                    </p:anim>
                                    <p:anim calcmode="lin" valueType="num">
                                      <p:cBhvr additive="base">
                                        <p:cTn id="34" dur="1000" fill="hold"/>
                                        <p:tgtEl>
                                          <p:spTgt spid="1331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3316">
                                            <p:txEl>
                                              <p:pRg st="7" end="7"/>
                                            </p:txEl>
                                          </p:spTgt>
                                        </p:tgtEl>
                                        <p:attrNameLst>
                                          <p:attrName>style.visibility</p:attrName>
                                        </p:attrNameLst>
                                      </p:cBhvr>
                                      <p:to>
                                        <p:strVal val="visible"/>
                                      </p:to>
                                    </p:set>
                                    <p:anim calcmode="lin" valueType="num">
                                      <p:cBhvr additive="base">
                                        <p:cTn id="39" dur="1000" fill="hold"/>
                                        <p:tgtEl>
                                          <p:spTgt spid="13316">
                                            <p:txEl>
                                              <p:pRg st="7" end="7"/>
                                            </p:txEl>
                                          </p:spTgt>
                                        </p:tgtEl>
                                        <p:attrNameLst>
                                          <p:attrName>ppt_x</p:attrName>
                                        </p:attrNameLst>
                                      </p:cBhvr>
                                      <p:tavLst>
                                        <p:tav tm="0">
                                          <p:val>
                                            <p:strVal val="#ppt_x"/>
                                          </p:val>
                                        </p:tav>
                                        <p:tav tm="100000">
                                          <p:val>
                                            <p:strVal val="#ppt_x"/>
                                          </p:val>
                                        </p:tav>
                                      </p:tavLst>
                                    </p:anim>
                                    <p:anim calcmode="lin" valueType="num">
                                      <p:cBhvr additive="base">
                                        <p:cTn id="40" dur="1000" fill="hold"/>
                                        <p:tgtEl>
                                          <p:spTgt spid="13316">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3316">
                                            <p:txEl>
                                              <p:pRg st="8" end="8"/>
                                            </p:txEl>
                                          </p:spTgt>
                                        </p:tgtEl>
                                        <p:attrNameLst>
                                          <p:attrName>style.visibility</p:attrName>
                                        </p:attrNameLst>
                                      </p:cBhvr>
                                      <p:to>
                                        <p:strVal val="visible"/>
                                      </p:to>
                                    </p:set>
                                    <p:anim calcmode="lin" valueType="num">
                                      <p:cBhvr additive="base">
                                        <p:cTn id="43" dur="1000" fill="hold"/>
                                        <p:tgtEl>
                                          <p:spTgt spid="13316">
                                            <p:txEl>
                                              <p:pRg st="8" end="8"/>
                                            </p:txEl>
                                          </p:spTgt>
                                        </p:tgtEl>
                                        <p:attrNameLst>
                                          <p:attrName>ppt_x</p:attrName>
                                        </p:attrNameLst>
                                      </p:cBhvr>
                                      <p:tavLst>
                                        <p:tav tm="0">
                                          <p:val>
                                            <p:strVal val="#ppt_x"/>
                                          </p:val>
                                        </p:tav>
                                        <p:tav tm="100000">
                                          <p:val>
                                            <p:strVal val="#ppt_x"/>
                                          </p:val>
                                        </p:tav>
                                      </p:tavLst>
                                    </p:anim>
                                    <p:anim calcmode="lin" valueType="num">
                                      <p:cBhvr additive="base">
                                        <p:cTn id="44" dur="1000" fill="hold"/>
                                        <p:tgtEl>
                                          <p:spTgt spid="13316">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3316">
                                            <p:txEl>
                                              <p:pRg st="9" end="9"/>
                                            </p:txEl>
                                          </p:spTgt>
                                        </p:tgtEl>
                                        <p:attrNameLst>
                                          <p:attrName>style.visibility</p:attrName>
                                        </p:attrNameLst>
                                      </p:cBhvr>
                                      <p:to>
                                        <p:strVal val="visible"/>
                                      </p:to>
                                    </p:set>
                                    <p:anim calcmode="lin" valueType="num">
                                      <p:cBhvr additive="base">
                                        <p:cTn id="47" dur="1000" fill="hold"/>
                                        <p:tgtEl>
                                          <p:spTgt spid="13316">
                                            <p:txEl>
                                              <p:pRg st="9" end="9"/>
                                            </p:txEl>
                                          </p:spTgt>
                                        </p:tgtEl>
                                        <p:attrNameLst>
                                          <p:attrName>ppt_x</p:attrName>
                                        </p:attrNameLst>
                                      </p:cBhvr>
                                      <p:tavLst>
                                        <p:tav tm="0">
                                          <p:val>
                                            <p:strVal val="#ppt_x"/>
                                          </p:val>
                                        </p:tav>
                                        <p:tav tm="100000">
                                          <p:val>
                                            <p:strVal val="#ppt_x"/>
                                          </p:val>
                                        </p:tav>
                                      </p:tavLst>
                                    </p:anim>
                                    <p:anim calcmode="lin" valueType="num">
                                      <p:cBhvr additive="base">
                                        <p:cTn id="48" dur="1000" fill="hold"/>
                                        <p:tgtEl>
                                          <p:spTgt spid="13316">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noAutofit/>
          </a:bodyPr>
          <a:lstStyle/>
          <a:p>
            <a:pPr eaLnBrk="1" hangingPunct="1"/>
            <a:r>
              <a:rPr lang="en-US" sz="3600" dirty="0"/>
              <a:t>Complementing Intuition with Systematic Study</a:t>
            </a:r>
          </a:p>
        </p:txBody>
      </p:sp>
      <p:sp>
        <p:nvSpPr>
          <p:cNvPr id="7172" name="Rectangle 3"/>
          <p:cNvSpPr>
            <a:spLocks noGrp="1" noChangeArrowheads="1"/>
          </p:cNvSpPr>
          <p:nvPr>
            <p:ph sz="quarter" idx="13"/>
          </p:nvPr>
        </p:nvSpPr>
        <p:spPr/>
        <p:txBody>
          <a:bodyPr>
            <a:normAutofit/>
          </a:bodyPr>
          <a:lstStyle/>
          <a:p>
            <a:pPr eaLnBrk="1" hangingPunct="1"/>
            <a:r>
              <a:rPr lang="en-US" sz="2000" dirty="0"/>
              <a:t>Intuition: </a:t>
            </a:r>
          </a:p>
          <a:p>
            <a:pPr lvl="1"/>
            <a:r>
              <a:rPr lang="en-US" sz="2000" dirty="0"/>
              <a:t>The “gut feeling” </a:t>
            </a:r>
          </a:p>
          <a:p>
            <a:pPr lvl="1"/>
            <a:r>
              <a:rPr lang="en-US" sz="2000" dirty="0"/>
              <a:t>Common sense</a:t>
            </a:r>
          </a:p>
          <a:p>
            <a:pPr lvl="1"/>
            <a:r>
              <a:rPr lang="en-US" sz="2000" dirty="0"/>
              <a:t>Individual observation</a:t>
            </a:r>
          </a:p>
          <a:p>
            <a:pPr eaLnBrk="1" hangingPunct="1"/>
            <a:r>
              <a:rPr lang="en-US" sz="2000" dirty="0"/>
              <a:t>Systematic study improves ability to accurately predict behavior.</a:t>
            </a:r>
          </a:p>
          <a:p>
            <a:pPr lvl="1" eaLnBrk="1" hangingPunct="1"/>
            <a:r>
              <a:rPr lang="en-US" sz="2000" dirty="0"/>
              <a:t>Assumes behavior is not random.</a:t>
            </a:r>
          </a:p>
          <a:p>
            <a:pPr lvl="1" eaLnBrk="1" hangingPunct="1"/>
            <a:r>
              <a:rPr lang="en-US" sz="2000" dirty="0"/>
              <a:t>Fundamental consistencies underlie behavior.</a:t>
            </a:r>
          </a:p>
          <a:p>
            <a:pPr lvl="1" eaLnBrk="1" hangingPunct="1"/>
            <a:r>
              <a:rPr lang="en-US" sz="2000" dirty="0"/>
              <a:t>These can be identified and modified to reflect individual differences.</a:t>
            </a:r>
          </a:p>
        </p:txBody>
      </p:sp>
    </p:spTree>
    <p:extLst>
      <p:ext uri="{BB962C8B-B14F-4D97-AF65-F5344CB8AC3E}">
        <p14:creationId xmlns:p14="http://schemas.microsoft.com/office/powerpoint/2010/main" val="389424826"/>
      </p:ext>
    </p:extLst>
  </p:cSld>
  <p:clrMapOvr>
    <a:masterClrMapping/>
  </p:clrMapOvr>
  <p:transition>
    <p:pull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normAutofit/>
          </a:bodyPr>
          <a:lstStyle/>
          <a:p>
            <a:r>
              <a:rPr lang="en-US" sz="4000" dirty="0"/>
              <a:t>OB Model</a:t>
            </a:r>
          </a:p>
        </p:txBody>
      </p:sp>
      <p:sp>
        <p:nvSpPr>
          <p:cNvPr id="5" name="Rectangle 6"/>
          <p:cNvSpPr>
            <a:spLocks noGrp="1" noChangeArrowheads="1"/>
          </p:cNvSpPr>
          <p:nvPr>
            <p:ph type="sldNum" sz="quarter" idx="12"/>
          </p:nvPr>
        </p:nvSpPr>
        <p:spPr>
          <a:ln/>
        </p:spPr>
        <p:txBody>
          <a:bodyPr>
            <a:normAutofit fontScale="47500" lnSpcReduction="20000"/>
          </a:bodyPr>
          <a:lstStyle/>
          <a:p>
            <a:r>
              <a:rPr lang="en-US"/>
              <a:t>1-</a:t>
            </a:r>
            <a:fld id="{2797565D-86B0-40CE-A36B-16CE456AEE39}" type="slidenum">
              <a:rPr lang="en-US"/>
              <a:pPr/>
              <a:t>23</a:t>
            </a:fld>
            <a:endParaRPr lang="en-US"/>
          </a:p>
        </p:txBody>
      </p:sp>
      <p:pic>
        <p:nvPicPr>
          <p:cNvPr id="3" name="Picture 2">
            <a:extLst>
              <a:ext uri="{FF2B5EF4-FFF2-40B4-BE49-F238E27FC236}">
                <a16:creationId xmlns:a16="http://schemas.microsoft.com/office/drawing/2014/main" id="{9782EFEA-C756-41AC-A8EE-0E42FB65CD4C}"/>
              </a:ext>
            </a:extLst>
          </p:cNvPr>
          <p:cNvPicPr>
            <a:picLocks noChangeAspect="1"/>
          </p:cNvPicPr>
          <p:nvPr/>
        </p:nvPicPr>
        <p:blipFill>
          <a:blip r:embed="rId3"/>
          <a:stretch>
            <a:fillRect/>
          </a:stretch>
        </p:blipFill>
        <p:spPr>
          <a:xfrm>
            <a:off x="1271020" y="1329104"/>
            <a:ext cx="6120380" cy="3781290"/>
          </a:xfrm>
          <a:prstGeom prst="rect">
            <a:avLst/>
          </a:prstGeom>
        </p:spPr>
      </p:pic>
    </p:spTree>
    <p:extLst>
      <p:ext uri="{BB962C8B-B14F-4D97-AF65-F5344CB8AC3E}">
        <p14:creationId xmlns:p14="http://schemas.microsoft.com/office/powerpoint/2010/main" val="454702503"/>
      </p:ext>
    </p:extLst>
  </p:cSld>
  <p:clrMapOvr>
    <a:masterClrMapping/>
  </p:clrMapOvr>
  <p:transition>
    <p:pull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normAutofit/>
          </a:bodyPr>
          <a:lstStyle/>
          <a:p>
            <a:r>
              <a:rPr lang="en-US" sz="4000" dirty="0"/>
              <a:t>Systematic Study</a:t>
            </a:r>
          </a:p>
        </p:txBody>
      </p:sp>
      <p:sp>
        <p:nvSpPr>
          <p:cNvPr id="5" name="Rectangle 6"/>
          <p:cNvSpPr>
            <a:spLocks noGrp="1" noChangeArrowheads="1"/>
          </p:cNvSpPr>
          <p:nvPr>
            <p:ph type="sldNum" sz="quarter" idx="12"/>
          </p:nvPr>
        </p:nvSpPr>
        <p:spPr>
          <a:ln/>
        </p:spPr>
        <p:txBody>
          <a:bodyPr>
            <a:normAutofit fontScale="47500" lnSpcReduction="20000"/>
          </a:bodyPr>
          <a:lstStyle/>
          <a:p>
            <a:r>
              <a:rPr lang="en-US"/>
              <a:t>1-</a:t>
            </a:r>
            <a:fld id="{2797565D-86B0-40CE-A36B-16CE456AEE39}" type="slidenum">
              <a:rPr lang="en-US"/>
              <a:pPr/>
              <a:t>24</a:t>
            </a:fld>
            <a:endParaRPr lang="en-US"/>
          </a:p>
        </p:txBody>
      </p:sp>
      <p:sp>
        <p:nvSpPr>
          <p:cNvPr id="8195" name="Content Placeholder 2"/>
          <p:cNvSpPr>
            <a:spLocks noGrp="1"/>
          </p:cNvSpPr>
          <p:nvPr>
            <p:ph sz="quarter" idx="13"/>
          </p:nvPr>
        </p:nvSpPr>
        <p:spPr/>
        <p:txBody>
          <a:bodyPr>
            <a:normAutofit/>
          </a:bodyPr>
          <a:lstStyle/>
          <a:p>
            <a:r>
              <a:rPr lang="en-US" sz="2000" dirty="0"/>
              <a:t>Examines relationships.</a:t>
            </a:r>
          </a:p>
          <a:p>
            <a:r>
              <a:rPr lang="en-US" sz="2000" dirty="0"/>
              <a:t>Attempts to attribute causes and effects.</a:t>
            </a:r>
          </a:p>
          <a:p>
            <a:r>
              <a:rPr lang="en-US" sz="2000" dirty="0"/>
              <a:t>Bases conclusions on scientific evidence:</a:t>
            </a:r>
          </a:p>
          <a:p>
            <a:pPr lvl="1"/>
            <a:r>
              <a:rPr lang="en-US" sz="2000" dirty="0"/>
              <a:t>On data gathered under controlled conditions.</a:t>
            </a:r>
          </a:p>
          <a:p>
            <a:pPr lvl="1"/>
            <a:r>
              <a:rPr lang="en-US" sz="2000" dirty="0"/>
              <a:t>Data is measured and interpreted in a reasonably </a:t>
            </a:r>
          </a:p>
          <a:p>
            <a:pPr marL="365760" lvl="1" indent="0">
              <a:buNone/>
            </a:pPr>
            <a:r>
              <a:rPr lang="en-US" sz="2000" dirty="0"/>
              <a:t>rigorous manner.</a:t>
            </a:r>
          </a:p>
        </p:txBody>
      </p:sp>
      <p:pic>
        <p:nvPicPr>
          <p:cNvPr id="8197" name="Picture 4" descr="MPj03992210000[1]"/>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3885" r="14417"/>
          <a:stretch>
            <a:fillRect/>
          </a:stretch>
        </p:blipFill>
        <p:spPr bwMode="auto">
          <a:xfrm>
            <a:off x="6781800" y="1352550"/>
            <a:ext cx="2362200"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43809766"/>
      </p:ext>
    </p:extLst>
  </p:cSld>
  <p:clrMapOvr>
    <a:masterClrMapping/>
  </p:clrMapOvr>
  <p:transition>
    <p:pull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noFill/>
        </p:spPr>
        <p:txBody>
          <a:bodyPr>
            <a:normAutofit/>
          </a:bodyPr>
          <a:lstStyle/>
          <a:p>
            <a:pPr eaLnBrk="1" hangingPunct="1"/>
            <a:r>
              <a:rPr lang="en-US" sz="4000" dirty="0">
                <a:solidFill>
                  <a:schemeClr val="tx1"/>
                </a:solidFill>
              </a:rPr>
              <a:t>The Dependent Variables</a:t>
            </a:r>
          </a:p>
        </p:txBody>
      </p:sp>
      <p:sp>
        <p:nvSpPr>
          <p:cNvPr id="56323" name="Freeform 3"/>
          <p:cNvSpPr>
            <a:spLocks/>
          </p:cNvSpPr>
          <p:nvPr/>
        </p:nvSpPr>
        <p:spPr bwMode="auto">
          <a:xfrm>
            <a:off x="3962400" y="2687836"/>
            <a:ext cx="2973388" cy="2169914"/>
          </a:xfrm>
          <a:custGeom>
            <a:avLst/>
            <a:gdLst>
              <a:gd name="T0" fmla="*/ 0 w 1872"/>
              <a:gd name="T1" fmla="*/ 0 h 1536"/>
              <a:gd name="T2" fmla="*/ 0 w 1872"/>
              <a:gd name="T3" fmla="*/ 1536 h 1536"/>
              <a:gd name="T4" fmla="*/ 1872 w 1872"/>
              <a:gd name="T5" fmla="*/ 1536 h 1536"/>
              <a:gd name="T6" fmla="*/ 0 60000 65536"/>
              <a:gd name="T7" fmla="*/ 0 60000 65536"/>
              <a:gd name="T8" fmla="*/ 0 60000 65536"/>
              <a:gd name="T9" fmla="*/ 0 w 1872"/>
              <a:gd name="T10" fmla="*/ 0 h 1536"/>
              <a:gd name="T11" fmla="*/ 1872 w 1872"/>
              <a:gd name="T12" fmla="*/ 1536 h 1536"/>
            </a:gdLst>
            <a:ahLst/>
            <a:cxnLst>
              <a:cxn ang="T6">
                <a:pos x="T0" y="T1"/>
              </a:cxn>
              <a:cxn ang="T7">
                <a:pos x="T2" y="T3"/>
              </a:cxn>
              <a:cxn ang="T8">
                <a:pos x="T4" y="T5"/>
              </a:cxn>
            </a:cxnLst>
            <a:rect l="T9" t="T10" r="T11" b="T12"/>
            <a:pathLst>
              <a:path w="1872" h="1536">
                <a:moveTo>
                  <a:pt x="0" y="0"/>
                </a:moveTo>
                <a:lnTo>
                  <a:pt x="0" y="1536"/>
                </a:lnTo>
                <a:lnTo>
                  <a:pt x="1872" y="1536"/>
                </a:ln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2" name="Group 4"/>
          <p:cNvGrpSpPr>
            <a:grpSpLocks/>
          </p:cNvGrpSpPr>
          <p:nvPr/>
        </p:nvGrpSpPr>
        <p:grpSpPr bwMode="auto">
          <a:xfrm>
            <a:off x="3048000" y="2699156"/>
            <a:ext cx="4724400" cy="2365029"/>
            <a:chOff x="1920" y="2267"/>
            <a:chExt cx="2976" cy="1982"/>
          </a:xfrm>
        </p:grpSpPr>
        <p:sp>
          <p:nvSpPr>
            <p:cNvPr id="32775" name="Text Box 5"/>
            <p:cNvSpPr txBox="1">
              <a:spLocks noChangeArrowheads="1"/>
            </p:cNvSpPr>
            <p:nvPr/>
          </p:nvSpPr>
          <p:spPr bwMode="auto">
            <a:xfrm>
              <a:off x="4367" y="3398"/>
              <a:ext cx="529" cy="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spcBef>
                  <a:spcPct val="50000"/>
                </a:spcBef>
              </a:pPr>
              <a:r>
                <a:rPr lang="en-US" sz="6000" b="1" i="1">
                  <a:solidFill>
                    <a:srgbClr val="0066CC"/>
                  </a:solidFill>
                </a:rPr>
                <a:t>x</a:t>
              </a:r>
            </a:p>
          </p:txBody>
        </p:sp>
        <p:sp>
          <p:nvSpPr>
            <p:cNvPr id="32776" name="Text Box 6"/>
            <p:cNvSpPr txBox="1">
              <a:spLocks noChangeArrowheads="1"/>
            </p:cNvSpPr>
            <p:nvPr/>
          </p:nvSpPr>
          <p:spPr bwMode="auto">
            <a:xfrm>
              <a:off x="1920" y="2267"/>
              <a:ext cx="529" cy="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spcBef>
                  <a:spcPct val="50000"/>
                </a:spcBef>
              </a:pPr>
              <a:r>
                <a:rPr lang="en-US" sz="6000" b="1" i="1" dirty="0">
                  <a:solidFill>
                    <a:srgbClr val="CC3300"/>
                  </a:solidFill>
                </a:rPr>
                <a:t>y</a:t>
              </a:r>
            </a:p>
          </p:txBody>
        </p:sp>
      </p:grpSp>
      <p:sp>
        <p:nvSpPr>
          <p:cNvPr id="56328" name="Line 8"/>
          <p:cNvSpPr>
            <a:spLocks noChangeShapeType="1"/>
          </p:cNvSpPr>
          <p:nvPr/>
        </p:nvSpPr>
        <p:spPr bwMode="auto">
          <a:xfrm flipV="1">
            <a:off x="3962400" y="2848571"/>
            <a:ext cx="2895600" cy="1598414"/>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56329" name="Text Box 9"/>
          <p:cNvSpPr txBox="1">
            <a:spLocks noChangeArrowheads="1"/>
          </p:cNvSpPr>
          <p:nvPr/>
        </p:nvSpPr>
        <p:spPr bwMode="auto">
          <a:xfrm>
            <a:off x="609600" y="1277600"/>
            <a:ext cx="8186738"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US" sz="2800" b="1" dirty="0">
                <a:latin typeface="Arial" pitchFamily="34" charset="0"/>
              </a:rPr>
              <a:t>Dependent variable</a:t>
            </a:r>
          </a:p>
          <a:p>
            <a:pPr eaLnBrk="1" hangingPunct="1">
              <a:spcBef>
                <a:spcPct val="50000"/>
              </a:spcBef>
            </a:pPr>
            <a:r>
              <a:rPr lang="en-US" dirty="0">
                <a:latin typeface="+mn-lt"/>
              </a:rPr>
              <a:t>A response that is affected by an independent variable (what organizational behavior researchers try to understand).</a:t>
            </a:r>
          </a:p>
        </p:txBody>
      </p:sp>
    </p:spTree>
    <p:extLst>
      <p:ext uri="{BB962C8B-B14F-4D97-AF65-F5344CB8AC3E}">
        <p14:creationId xmlns:p14="http://schemas.microsoft.com/office/powerpoint/2010/main" val="203214817"/>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329"/>
                                        </p:tgtEl>
                                        <p:attrNameLst>
                                          <p:attrName>style.visibility</p:attrName>
                                        </p:attrNameLst>
                                      </p:cBhvr>
                                      <p:to>
                                        <p:strVal val="visible"/>
                                      </p:to>
                                    </p:set>
                                    <p:animEffect transition="in" filter="wipe(left)">
                                      <p:cBhvr>
                                        <p:cTn id="7" dur="500"/>
                                        <p:tgtEl>
                                          <p:spTgt spid="56329"/>
                                        </p:tgtEl>
                                      </p:cBhvr>
                                    </p:animEffect>
                                  </p:childTnLst>
                                </p:cTn>
                              </p:par>
                            </p:childTnLst>
                          </p:cTn>
                        </p:par>
                        <p:par>
                          <p:cTn id="8" fill="hold" nodeType="afterGroup">
                            <p:stCondLst>
                              <p:cond delay="500"/>
                            </p:stCondLst>
                            <p:childTnLst>
                              <p:par>
                                <p:cTn id="9" presetID="18" presetClass="entr" presetSubtype="3" fill="hold" grpId="0" nodeType="afterEffect">
                                  <p:stCondLst>
                                    <p:cond delay="0"/>
                                  </p:stCondLst>
                                  <p:childTnLst>
                                    <p:set>
                                      <p:cBhvr>
                                        <p:cTn id="10" dur="1" fill="hold">
                                          <p:stCondLst>
                                            <p:cond delay="0"/>
                                          </p:stCondLst>
                                        </p:cTn>
                                        <p:tgtEl>
                                          <p:spTgt spid="56323"/>
                                        </p:tgtEl>
                                        <p:attrNameLst>
                                          <p:attrName>style.visibility</p:attrName>
                                        </p:attrNameLst>
                                      </p:cBhvr>
                                      <p:to>
                                        <p:strVal val="visible"/>
                                      </p:to>
                                    </p:set>
                                    <p:animEffect transition="in" filter="strips(upRight)">
                                      <p:cBhvr>
                                        <p:cTn id="11" dur="500"/>
                                        <p:tgtEl>
                                          <p:spTgt spid="56323"/>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dissolve">
                                      <p:cBhvr>
                                        <p:cTn id="15" dur="500"/>
                                        <p:tgtEl>
                                          <p:spTgt spid="2"/>
                                        </p:tgtEl>
                                      </p:cBhvr>
                                    </p:animEffect>
                                  </p:childTnLst>
                                </p:cTn>
                              </p:par>
                            </p:childTnLst>
                          </p:cTn>
                        </p:par>
                        <p:par>
                          <p:cTn id="16" fill="hold" nodeType="afterGroup">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56328"/>
                                        </p:tgtEl>
                                        <p:attrNameLst>
                                          <p:attrName>style.visibility</p:attrName>
                                        </p:attrNameLst>
                                      </p:cBhvr>
                                      <p:to>
                                        <p:strVal val="visible"/>
                                      </p:to>
                                    </p:set>
                                    <p:animEffect transition="in" filter="wipe(down)">
                                      <p:cBhvr>
                                        <p:cTn id="19" dur="500"/>
                                        <p:tgtEl>
                                          <p:spTgt spid="56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animBg="1"/>
      <p:bldP spid="56328" grpId="0" animBg="1"/>
      <p:bldP spid="56329"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noFill/>
        </p:spPr>
        <p:txBody>
          <a:bodyPr/>
          <a:lstStyle/>
          <a:p>
            <a:pPr eaLnBrk="1" hangingPunct="1"/>
            <a:r>
              <a:rPr lang="en-US" sz="4000" dirty="0">
                <a:solidFill>
                  <a:schemeClr val="tx1"/>
                </a:solidFill>
              </a:rPr>
              <a:t>The Dependent Variables (cont’d)</a:t>
            </a:r>
          </a:p>
        </p:txBody>
      </p:sp>
      <p:sp>
        <p:nvSpPr>
          <p:cNvPr id="57349" name="Text Box 5"/>
          <p:cNvSpPr txBox="1">
            <a:spLocks noChangeArrowheads="1"/>
          </p:cNvSpPr>
          <p:nvPr/>
        </p:nvSpPr>
        <p:spPr bwMode="auto">
          <a:xfrm>
            <a:off x="609600" y="1352550"/>
            <a:ext cx="5334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US" b="1" dirty="0">
                <a:latin typeface="+mn-lt"/>
              </a:rPr>
              <a:t>Productivity</a:t>
            </a:r>
            <a:br>
              <a:rPr lang="en-US" b="1" dirty="0">
                <a:latin typeface="+mn-lt"/>
              </a:rPr>
            </a:br>
            <a:r>
              <a:rPr lang="en-US" dirty="0">
                <a:latin typeface="+mn-lt"/>
              </a:rPr>
              <a:t>A performance measure that includes effectiveness and efficiency.</a:t>
            </a:r>
          </a:p>
        </p:txBody>
      </p:sp>
      <p:sp>
        <p:nvSpPr>
          <p:cNvPr id="57350" name="Text Box 6"/>
          <p:cNvSpPr txBox="1">
            <a:spLocks noChangeArrowheads="1"/>
          </p:cNvSpPr>
          <p:nvPr/>
        </p:nvSpPr>
        <p:spPr bwMode="auto">
          <a:xfrm>
            <a:off x="4953000" y="2426553"/>
            <a:ext cx="3581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US" b="1" dirty="0">
                <a:latin typeface="+mn-lt"/>
              </a:rPr>
              <a:t>Effectiveness</a:t>
            </a:r>
            <a:br>
              <a:rPr lang="en-US" b="1" dirty="0">
                <a:latin typeface="+mn-lt"/>
              </a:rPr>
            </a:br>
            <a:r>
              <a:rPr lang="en-US" dirty="0">
                <a:latin typeface="+mn-lt"/>
              </a:rPr>
              <a:t>Achievement of goals.</a:t>
            </a:r>
          </a:p>
        </p:txBody>
      </p:sp>
      <p:sp>
        <p:nvSpPr>
          <p:cNvPr id="57351" name="Text Box 7"/>
          <p:cNvSpPr txBox="1">
            <a:spLocks noChangeArrowheads="1"/>
          </p:cNvSpPr>
          <p:nvPr/>
        </p:nvSpPr>
        <p:spPr bwMode="auto">
          <a:xfrm>
            <a:off x="4953000" y="3259336"/>
            <a:ext cx="35814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US" sz="2000" b="1" dirty="0">
                <a:latin typeface="Arial" pitchFamily="34" charset="0"/>
              </a:rPr>
              <a:t>Efficiency</a:t>
            </a:r>
            <a:br>
              <a:rPr lang="en-US" sz="2000" b="1" dirty="0">
                <a:latin typeface="Arial" pitchFamily="34" charset="0"/>
              </a:rPr>
            </a:br>
            <a:r>
              <a:rPr lang="en-US" sz="2000" dirty="0">
                <a:latin typeface="Arial" pitchFamily="34" charset="0"/>
              </a:rPr>
              <a:t>Meeting goals at a low cost. </a:t>
            </a:r>
            <a:endParaRPr lang="en-US" sz="2000" dirty="0">
              <a:latin typeface="Tahoma" pitchFamily="34" charset="0"/>
            </a:endParaRPr>
          </a:p>
        </p:txBody>
      </p:sp>
      <p:pic>
        <p:nvPicPr>
          <p:cNvPr id="33800" name="Picture 8" descr="pe0240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6800" y="2629495"/>
            <a:ext cx="2992438" cy="2152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97645669"/>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349"/>
                                        </p:tgtEl>
                                        <p:attrNameLst>
                                          <p:attrName>style.visibility</p:attrName>
                                        </p:attrNameLst>
                                      </p:cBhvr>
                                      <p:to>
                                        <p:strVal val="visible"/>
                                      </p:to>
                                    </p:set>
                                    <p:animEffect transition="in" filter="wipe(left)">
                                      <p:cBhvr>
                                        <p:cTn id="7" dur="500"/>
                                        <p:tgtEl>
                                          <p:spTgt spid="573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7350"/>
                                        </p:tgtEl>
                                        <p:attrNameLst>
                                          <p:attrName>style.visibility</p:attrName>
                                        </p:attrNameLst>
                                      </p:cBhvr>
                                      <p:to>
                                        <p:strVal val="visible"/>
                                      </p:to>
                                    </p:set>
                                    <p:animEffect transition="in" filter="wipe(up)">
                                      <p:cBhvr>
                                        <p:cTn id="12" dur="500"/>
                                        <p:tgtEl>
                                          <p:spTgt spid="57350"/>
                                        </p:tgtEl>
                                      </p:cBhvr>
                                    </p:animEffect>
                                  </p:childTnLst>
                                </p:cTn>
                              </p:par>
                            </p:childTnLst>
                          </p:cTn>
                        </p:par>
                        <p:par>
                          <p:cTn id="13" fill="hold" nodeType="afterGroup">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57351"/>
                                        </p:tgtEl>
                                        <p:attrNameLst>
                                          <p:attrName>style.visibility</p:attrName>
                                        </p:attrNameLst>
                                      </p:cBhvr>
                                      <p:to>
                                        <p:strVal val="visible"/>
                                      </p:to>
                                    </p:set>
                                    <p:animEffect transition="in" filter="wipe(up)">
                                      <p:cBhvr>
                                        <p:cTn id="16" dur="500"/>
                                        <p:tgtEl>
                                          <p:spTgt spid="57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9" grpId="0" autoUpdateAnimBg="0"/>
      <p:bldP spid="57350" grpId="0" autoUpdateAnimBg="0"/>
      <p:bldP spid="57351"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ChangeArrowheads="1"/>
          </p:cNvSpPr>
          <p:nvPr/>
        </p:nvSpPr>
        <p:spPr bwMode="auto">
          <a:xfrm>
            <a:off x="1524000" y="2628900"/>
            <a:ext cx="1447800" cy="200025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4819" name="Rectangle 3"/>
          <p:cNvSpPr>
            <a:spLocks noGrp="1" noChangeArrowheads="1"/>
          </p:cNvSpPr>
          <p:nvPr>
            <p:ph type="title"/>
          </p:nvPr>
        </p:nvSpPr>
        <p:spPr>
          <a:noFill/>
        </p:spPr>
        <p:txBody>
          <a:bodyPr/>
          <a:lstStyle/>
          <a:p>
            <a:pPr eaLnBrk="1" hangingPunct="1"/>
            <a:r>
              <a:rPr lang="en-US" sz="4000" dirty="0">
                <a:solidFill>
                  <a:schemeClr val="tx1"/>
                </a:solidFill>
              </a:rPr>
              <a:t>The Dependent Variables (cont’d)</a:t>
            </a:r>
          </a:p>
        </p:txBody>
      </p:sp>
      <p:pic>
        <p:nvPicPr>
          <p:cNvPr id="58372" name="Picture 4" descr="bs01598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89612" y="1425178"/>
            <a:ext cx="2211388" cy="1375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3" name="Picture 5" descr="pe02382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00200" y="3018234"/>
            <a:ext cx="2741613" cy="1607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6" name="Text Box 8"/>
          <p:cNvSpPr txBox="1">
            <a:spLocks noChangeArrowheads="1"/>
          </p:cNvSpPr>
          <p:nvPr/>
        </p:nvSpPr>
        <p:spPr bwMode="auto">
          <a:xfrm>
            <a:off x="685800" y="1418332"/>
            <a:ext cx="42672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US" b="1" dirty="0">
                <a:latin typeface="+mn-lt"/>
              </a:rPr>
              <a:t>Absenteeism</a:t>
            </a:r>
          </a:p>
          <a:p>
            <a:pPr eaLnBrk="1" hangingPunct="1">
              <a:spcBef>
                <a:spcPct val="50000"/>
              </a:spcBef>
            </a:pPr>
            <a:r>
              <a:rPr lang="en-US" dirty="0">
                <a:latin typeface="+mn-lt"/>
              </a:rPr>
              <a:t>The failure to report to work.</a:t>
            </a:r>
          </a:p>
        </p:txBody>
      </p:sp>
      <p:sp>
        <p:nvSpPr>
          <p:cNvPr id="58377" name="Text Box 9"/>
          <p:cNvSpPr txBox="1">
            <a:spLocks noChangeArrowheads="1"/>
          </p:cNvSpPr>
          <p:nvPr/>
        </p:nvSpPr>
        <p:spPr bwMode="auto">
          <a:xfrm>
            <a:off x="5029200" y="2893219"/>
            <a:ext cx="381000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US" b="1" dirty="0">
                <a:latin typeface="+mn-lt"/>
              </a:rPr>
              <a:t>Turnover</a:t>
            </a:r>
          </a:p>
          <a:p>
            <a:pPr eaLnBrk="1" hangingPunct="1">
              <a:spcBef>
                <a:spcPct val="50000"/>
              </a:spcBef>
            </a:pPr>
            <a:r>
              <a:rPr lang="en-US" dirty="0">
                <a:latin typeface="+mn-lt"/>
              </a:rPr>
              <a:t>The voluntary and involuntary permanent withdrawal from an organization.</a:t>
            </a:r>
          </a:p>
        </p:txBody>
      </p:sp>
      <p:sp>
        <p:nvSpPr>
          <p:cNvPr id="58378" name="Oval 10"/>
          <p:cNvSpPr>
            <a:spLocks noChangeArrowheads="1"/>
          </p:cNvSpPr>
          <p:nvPr/>
        </p:nvSpPr>
        <p:spPr bwMode="auto">
          <a:xfrm>
            <a:off x="1665289" y="3661172"/>
            <a:ext cx="153987" cy="107156"/>
          </a:xfrm>
          <a:prstGeom prst="ellipse">
            <a:avLst/>
          </a:prstGeom>
          <a:solidFill>
            <a:schemeClr val="bg1"/>
          </a:solidFill>
          <a:ln w="28575">
            <a:solidFill>
              <a:schemeClr val="tx1"/>
            </a:solidFill>
            <a:round/>
            <a:headEnd/>
            <a:tailEnd/>
          </a:ln>
        </p:spPr>
        <p:txBody>
          <a:bodyPr wrap="none" anchor="ctr"/>
          <a:lstStyle/>
          <a:p>
            <a:endParaRPr lang="en-US"/>
          </a:p>
        </p:txBody>
      </p:sp>
    </p:spTree>
    <p:extLst>
      <p:ext uri="{BB962C8B-B14F-4D97-AF65-F5344CB8AC3E}">
        <p14:creationId xmlns:p14="http://schemas.microsoft.com/office/powerpoint/2010/main" val="3507957461"/>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nodeType="afterEffect">
                                  <p:stCondLst>
                                    <p:cond delay="0"/>
                                  </p:stCondLst>
                                  <p:childTnLst>
                                    <p:set>
                                      <p:cBhvr>
                                        <p:cTn id="6" dur="1" fill="hold">
                                          <p:stCondLst>
                                            <p:cond delay="0"/>
                                          </p:stCondLst>
                                        </p:cTn>
                                        <p:tgtEl>
                                          <p:spTgt spid="58372"/>
                                        </p:tgtEl>
                                        <p:attrNameLst>
                                          <p:attrName>style.visibility</p:attrName>
                                        </p:attrNameLst>
                                      </p:cBhvr>
                                      <p:to>
                                        <p:strVal val="visible"/>
                                      </p:to>
                                    </p:set>
                                    <p:animEffect transition="in" filter="box(in)">
                                      <p:cBhvr>
                                        <p:cTn id="7" dur="500"/>
                                        <p:tgtEl>
                                          <p:spTgt spid="58372"/>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8376"/>
                                        </p:tgtEl>
                                        <p:attrNameLst>
                                          <p:attrName>style.visibility</p:attrName>
                                        </p:attrNameLst>
                                      </p:cBhvr>
                                      <p:to>
                                        <p:strVal val="visible"/>
                                      </p:to>
                                    </p:set>
                                    <p:animEffect transition="in" filter="wipe(left)">
                                      <p:cBhvr>
                                        <p:cTn id="11" dur="500"/>
                                        <p:tgtEl>
                                          <p:spTgt spid="5837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58377"/>
                                        </p:tgtEl>
                                        <p:attrNameLst>
                                          <p:attrName>style.visibility</p:attrName>
                                        </p:attrNameLst>
                                      </p:cBhvr>
                                      <p:to>
                                        <p:strVal val="visible"/>
                                      </p:to>
                                    </p:set>
                                    <p:animEffect transition="in" filter="wipe(up)">
                                      <p:cBhvr>
                                        <p:cTn id="16" dur="500"/>
                                        <p:tgtEl>
                                          <p:spTgt spid="58377"/>
                                        </p:tgtEl>
                                      </p:cBhvr>
                                    </p:animEffect>
                                  </p:childTnLst>
                                </p:cTn>
                              </p:par>
                            </p:childTnLst>
                          </p:cTn>
                        </p:par>
                        <p:par>
                          <p:cTn id="17" fill="hold" nodeType="afterGroup">
                            <p:stCondLst>
                              <p:cond delay="500"/>
                            </p:stCondLst>
                            <p:childTnLst>
                              <p:par>
                                <p:cTn id="18" presetID="17" presetClass="entr" presetSubtype="10" fill="hold" grpId="0" nodeType="afterEffect">
                                  <p:stCondLst>
                                    <p:cond delay="0"/>
                                  </p:stCondLst>
                                  <p:childTnLst>
                                    <p:set>
                                      <p:cBhvr>
                                        <p:cTn id="19" dur="1" fill="hold">
                                          <p:stCondLst>
                                            <p:cond delay="0"/>
                                          </p:stCondLst>
                                        </p:cTn>
                                        <p:tgtEl>
                                          <p:spTgt spid="58370"/>
                                        </p:tgtEl>
                                        <p:attrNameLst>
                                          <p:attrName>style.visibility</p:attrName>
                                        </p:attrNameLst>
                                      </p:cBhvr>
                                      <p:to>
                                        <p:strVal val="visible"/>
                                      </p:to>
                                    </p:set>
                                    <p:anim calcmode="lin" valueType="num">
                                      <p:cBhvr>
                                        <p:cTn id="20" dur="500" fill="hold"/>
                                        <p:tgtEl>
                                          <p:spTgt spid="58370"/>
                                        </p:tgtEl>
                                        <p:attrNameLst>
                                          <p:attrName>ppt_w</p:attrName>
                                        </p:attrNameLst>
                                      </p:cBhvr>
                                      <p:tavLst>
                                        <p:tav tm="0">
                                          <p:val>
                                            <p:fltVal val="0"/>
                                          </p:val>
                                        </p:tav>
                                        <p:tav tm="100000">
                                          <p:val>
                                            <p:strVal val="#ppt_w"/>
                                          </p:val>
                                        </p:tav>
                                      </p:tavLst>
                                    </p:anim>
                                    <p:anim calcmode="lin" valueType="num">
                                      <p:cBhvr>
                                        <p:cTn id="21" dur="500" fill="hold"/>
                                        <p:tgtEl>
                                          <p:spTgt spid="58370"/>
                                        </p:tgtEl>
                                        <p:attrNameLst>
                                          <p:attrName>ppt_h</p:attrName>
                                        </p:attrNameLst>
                                      </p:cBhvr>
                                      <p:tavLst>
                                        <p:tav tm="0">
                                          <p:val>
                                            <p:strVal val="#ppt_h"/>
                                          </p:val>
                                        </p:tav>
                                        <p:tav tm="100000">
                                          <p:val>
                                            <p:strVal val="#ppt_h"/>
                                          </p:val>
                                        </p:tav>
                                      </p:tavLst>
                                    </p:anim>
                                  </p:childTnLst>
                                </p:cTn>
                              </p:par>
                            </p:childTnLst>
                          </p:cTn>
                        </p:par>
                        <p:par>
                          <p:cTn id="22" fill="hold" nodeType="afterGroup">
                            <p:stCondLst>
                              <p:cond delay="1000"/>
                            </p:stCondLst>
                            <p:childTnLst>
                              <p:par>
                                <p:cTn id="23" presetID="1" presetClass="entr" presetSubtype="0" fill="hold" grpId="0" nodeType="afterEffect">
                                  <p:stCondLst>
                                    <p:cond delay="0"/>
                                  </p:stCondLst>
                                  <p:childTnLst>
                                    <p:set>
                                      <p:cBhvr>
                                        <p:cTn id="24" dur="1" fill="hold">
                                          <p:stCondLst>
                                            <p:cond delay="499"/>
                                          </p:stCondLst>
                                        </p:cTn>
                                        <p:tgtEl>
                                          <p:spTgt spid="58378"/>
                                        </p:tgtEl>
                                        <p:attrNameLst>
                                          <p:attrName>style.visibility</p:attrName>
                                        </p:attrNameLst>
                                      </p:cBhvr>
                                      <p:to>
                                        <p:strVal val="visible"/>
                                      </p:to>
                                    </p:set>
                                  </p:childTnLst>
                                </p:cTn>
                              </p:par>
                            </p:childTnLst>
                          </p:cTn>
                        </p:par>
                        <p:par>
                          <p:cTn id="25" fill="hold" nodeType="afterGroup">
                            <p:stCondLst>
                              <p:cond delay="1500"/>
                            </p:stCondLst>
                            <p:childTnLst>
                              <p:par>
                                <p:cTn id="26" presetID="12" presetClass="entr" presetSubtype="2" fill="hold" nodeType="afterEffect">
                                  <p:stCondLst>
                                    <p:cond delay="0"/>
                                  </p:stCondLst>
                                  <p:childTnLst>
                                    <p:set>
                                      <p:cBhvr>
                                        <p:cTn id="27" dur="1" fill="hold">
                                          <p:stCondLst>
                                            <p:cond delay="0"/>
                                          </p:stCondLst>
                                        </p:cTn>
                                        <p:tgtEl>
                                          <p:spTgt spid="58373"/>
                                        </p:tgtEl>
                                        <p:attrNameLst>
                                          <p:attrName>style.visibility</p:attrName>
                                        </p:attrNameLst>
                                      </p:cBhvr>
                                      <p:to>
                                        <p:strVal val="visible"/>
                                      </p:to>
                                    </p:set>
                                    <p:animEffect transition="in" filter="slide(fromRight)">
                                      <p:cBhvr>
                                        <p:cTn id="28" dur="500"/>
                                        <p:tgtEl>
                                          <p:spTgt spid="583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animBg="1"/>
      <p:bldP spid="58376" grpId="0" autoUpdateAnimBg="0"/>
      <p:bldP spid="58377" grpId="0" autoUpdateAnimBg="0"/>
      <p:bldP spid="5837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p:spPr>
        <p:txBody>
          <a:bodyPr>
            <a:normAutofit/>
          </a:bodyPr>
          <a:lstStyle/>
          <a:p>
            <a:pPr eaLnBrk="1" hangingPunct="1"/>
            <a:r>
              <a:rPr lang="en-US" sz="4000" dirty="0">
                <a:solidFill>
                  <a:schemeClr val="tx1"/>
                </a:solidFill>
              </a:rPr>
              <a:t>The Dependent Variables (cont’d)</a:t>
            </a:r>
          </a:p>
        </p:txBody>
      </p:sp>
      <p:sp>
        <p:nvSpPr>
          <p:cNvPr id="2" name="Content Placeholder 1"/>
          <p:cNvSpPr>
            <a:spLocks noGrp="1"/>
          </p:cNvSpPr>
          <p:nvPr>
            <p:ph sz="quarter" idx="13"/>
          </p:nvPr>
        </p:nvSpPr>
        <p:spPr>
          <a:xfrm>
            <a:off x="609600" y="1352550"/>
            <a:ext cx="5340096" cy="3276600"/>
          </a:xfrm>
        </p:spPr>
        <p:txBody>
          <a:bodyPr>
            <a:normAutofit/>
          </a:bodyPr>
          <a:lstStyle/>
          <a:p>
            <a:pPr>
              <a:spcBef>
                <a:spcPct val="50000"/>
              </a:spcBef>
            </a:pPr>
            <a:r>
              <a:rPr lang="en-US" sz="2000" b="1" dirty="0"/>
              <a:t>Organizational Citizenship Behavior (OCB)</a:t>
            </a:r>
          </a:p>
          <a:p>
            <a:pPr marL="354013" indent="0">
              <a:spcBef>
                <a:spcPct val="50000"/>
              </a:spcBef>
              <a:buNone/>
            </a:pPr>
            <a:r>
              <a:rPr lang="en-US" sz="2000" dirty="0"/>
              <a:t>Discretionary behavior that is not part of an employee’s formal job requirements, but that nevertheless promotes the effective functioning of the organization.</a:t>
            </a:r>
          </a:p>
        </p:txBody>
      </p:sp>
      <p:pic>
        <p:nvPicPr>
          <p:cNvPr id="36867" name="Picture 3" descr="bs01586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7000" y="1331714"/>
            <a:ext cx="2505457" cy="3221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8837772"/>
      </p:ext>
    </p:extLst>
  </p:cSld>
  <p:clrMapOvr>
    <a:masterClrMapping/>
  </p:clrMapOvr>
  <p:transition spd="med">
    <p:blinds/>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684214" y="232172"/>
            <a:ext cx="7775575" cy="857250"/>
          </a:xfrm>
          <a:noFill/>
        </p:spPr>
        <p:txBody>
          <a:bodyPr/>
          <a:lstStyle/>
          <a:p>
            <a:pPr eaLnBrk="1" hangingPunct="1"/>
            <a:r>
              <a:rPr lang="en-US" sz="4000" dirty="0">
                <a:solidFill>
                  <a:schemeClr val="tx1"/>
                </a:solidFill>
              </a:rPr>
              <a:t>The Dependent Variables (cont’d)</a:t>
            </a:r>
          </a:p>
        </p:txBody>
      </p:sp>
      <p:pic>
        <p:nvPicPr>
          <p:cNvPr id="37891" name="Picture 3" descr="bs01579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48200" y="2943225"/>
            <a:ext cx="3055938"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0" name="Text Box 4"/>
          <p:cNvSpPr txBox="1">
            <a:spLocks noChangeArrowheads="1"/>
          </p:cNvSpPr>
          <p:nvPr/>
        </p:nvSpPr>
        <p:spPr bwMode="auto">
          <a:xfrm>
            <a:off x="609600" y="1365468"/>
            <a:ext cx="762000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US" b="1" dirty="0">
                <a:latin typeface="+mn-lt"/>
              </a:rPr>
              <a:t>Job satisfaction</a:t>
            </a:r>
          </a:p>
          <a:p>
            <a:pPr eaLnBrk="1" hangingPunct="1">
              <a:spcBef>
                <a:spcPct val="50000"/>
              </a:spcBef>
            </a:pPr>
            <a:r>
              <a:rPr lang="en-US" dirty="0">
                <a:latin typeface="+mn-lt"/>
              </a:rPr>
              <a:t>A general attitude (not a behavior) toward one’s job; a positive feeling of one's job resulting from an evaluation of its characteristics. </a:t>
            </a:r>
          </a:p>
        </p:txBody>
      </p:sp>
    </p:spTree>
    <p:extLst>
      <p:ext uri="{BB962C8B-B14F-4D97-AF65-F5344CB8AC3E}">
        <p14:creationId xmlns:p14="http://schemas.microsoft.com/office/powerpoint/2010/main" val="3514593279"/>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0420"/>
                                        </p:tgtEl>
                                        <p:attrNameLst>
                                          <p:attrName>style.visibility</p:attrName>
                                        </p:attrNameLst>
                                      </p:cBhvr>
                                      <p:to>
                                        <p:strVal val="visible"/>
                                      </p:to>
                                    </p:set>
                                    <p:animEffect transition="in" filter="wipe(up)">
                                      <p:cBhvr>
                                        <p:cTn id="7" dur="500"/>
                                        <p:tgtEl>
                                          <p:spTgt spid="60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0"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noFill/>
        </p:spPr>
        <p:txBody>
          <a:bodyPr/>
          <a:lstStyle/>
          <a:p>
            <a:pPr eaLnBrk="1" hangingPunct="1"/>
            <a:r>
              <a:rPr lang="en-US" sz="4000" dirty="0">
                <a:solidFill>
                  <a:schemeClr val="tx1"/>
                </a:solidFill>
              </a:rPr>
              <a:t>The Independent Variables</a:t>
            </a:r>
          </a:p>
        </p:txBody>
      </p:sp>
      <p:sp>
        <p:nvSpPr>
          <p:cNvPr id="4" name="Content Placeholder 3"/>
          <p:cNvSpPr>
            <a:spLocks noGrp="1"/>
          </p:cNvSpPr>
          <p:nvPr>
            <p:ph sz="quarter" idx="13"/>
          </p:nvPr>
        </p:nvSpPr>
        <p:spPr/>
        <p:txBody>
          <a:bodyPr>
            <a:normAutofit/>
          </a:bodyPr>
          <a:lstStyle/>
          <a:p>
            <a:pPr>
              <a:spcBef>
                <a:spcPct val="50000"/>
              </a:spcBef>
            </a:pPr>
            <a:r>
              <a:rPr lang="en-US" sz="2000" b="1" dirty="0"/>
              <a:t>Independent variable</a:t>
            </a:r>
          </a:p>
          <a:p>
            <a:pPr>
              <a:spcBef>
                <a:spcPct val="50000"/>
              </a:spcBef>
            </a:pPr>
            <a:r>
              <a:rPr lang="en-US" sz="2000" dirty="0"/>
              <a:t>The presumed cause of some change in the dependent variable; major determinants of a dependent variable.  </a:t>
            </a:r>
          </a:p>
        </p:txBody>
      </p:sp>
      <p:sp>
        <p:nvSpPr>
          <p:cNvPr id="61443" name="Line 3"/>
          <p:cNvSpPr>
            <a:spLocks noChangeShapeType="1"/>
          </p:cNvSpPr>
          <p:nvPr/>
        </p:nvSpPr>
        <p:spPr bwMode="blackWhite">
          <a:xfrm rot="5400000">
            <a:off x="4259461" y="3166466"/>
            <a:ext cx="625078" cy="0"/>
          </a:xfrm>
          <a:prstGeom prst="line">
            <a:avLst/>
          </a:prstGeom>
          <a:noFill/>
          <a:ln w="28575">
            <a:solidFill>
              <a:schemeClr val="tx1"/>
            </a:solidFill>
            <a:round/>
            <a:headEnd/>
            <a:tailEnd type="none" w="sm" len="med"/>
          </a:ln>
          <a:effectLst>
            <a:outerShdw dist="35921" dir="2700000" algn="ctr" rotWithShape="0">
              <a:schemeClr val="bg2">
                <a:alpha val="50000"/>
              </a:schemeClr>
            </a:outerShdw>
          </a:effectLst>
        </p:spPr>
        <p:txBody>
          <a:bodyPr wrap="none" anchor="ctr"/>
          <a:lstStyle/>
          <a:p>
            <a:pPr>
              <a:defRPr/>
            </a:pPr>
            <a:endParaRPr lang="en-US"/>
          </a:p>
        </p:txBody>
      </p:sp>
      <p:sp>
        <p:nvSpPr>
          <p:cNvPr id="61444" name="Text Box 4"/>
          <p:cNvSpPr txBox="1">
            <a:spLocks noChangeArrowheads="1"/>
          </p:cNvSpPr>
          <p:nvPr/>
        </p:nvSpPr>
        <p:spPr bwMode="blackWhite">
          <a:xfrm>
            <a:off x="3125789" y="2512899"/>
            <a:ext cx="2892425" cy="668451"/>
          </a:xfrm>
          <a:prstGeom prst="rect">
            <a:avLst/>
          </a:prstGeom>
          <a:solidFill>
            <a:srgbClr val="993300"/>
          </a:solidFill>
          <a:ln w="9525">
            <a:solidFill>
              <a:schemeClr val="tx1"/>
            </a:solidFill>
            <a:miter lim="800000"/>
            <a:headEnd/>
            <a:tailEnd/>
          </a:ln>
          <a:effectLst>
            <a:outerShdw dist="107763" dir="2700000" algn="ctr" rotWithShape="0">
              <a:schemeClr val="bg2">
                <a:alpha val="50000"/>
              </a:schemeClr>
            </a:outerShdw>
          </a:effectLst>
        </p:spPr>
        <p:txBody>
          <a:bodyPr anchor="ctr" anchorCtr="1">
            <a:spAutoFit/>
          </a:bodyPr>
          <a:lstStyle/>
          <a:p>
            <a:pPr algn="ctr" eaLnBrk="0" hangingPunct="0">
              <a:spcBef>
                <a:spcPct val="50000"/>
              </a:spcBef>
              <a:defRPr/>
            </a:pPr>
            <a:r>
              <a:rPr lang="en-US" b="1" dirty="0">
                <a:solidFill>
                  <a:srgbClr val="FFFFCC"/>
                </a:solidFill>
                <a:effectLst>
                  <a:outerShdw blurRad="38100" dist="38100" dir="2700000" algn="tl">
                    <a:srgbClr val="000000"/>
                  </a:outerShdw>
                </a:effectLst>
              </a:rPr>
              <a:t>Independent</a:t>
            </a:r>
            <a:br>
              <a:rPr lang="en-US" b="1" dirty="0">
                <a:solidFill>
                  <a:srgbClr val="FFFFCC"/>
                </a:solidFill>
                <a:effectLst>
                  <a:outerShdw blurRad="38100" dist="38100" dir="2700000" algn="tl">
                    <a:srgbClr val="000000"/>
                  </a:outerShdw>
                </a:effectLst>
              </a:rPr>
            </a:br>
            <a:r>
              <a:rPr lang="en-US" b="1" dirty="0">
                <a:solidFill>
                  <a:srgbClr val="FFFFCC"/>
                </a:solidFill>
                <a:effectLst>
                  <a:outerShdw blurRad="38100" dist="38100" dir="2700000" algn="tl">
                    <a:srgbClr val="000000"/>
                  </a:outerShdw>
                </a:effectLst>
              </a:rPr>
              <a:t>Variables Can Be</a:t>
            </a:r>
          </a:p>
        </p:txBody>
      </p:sp>
      <p:grpSp>
        <p:nvGrpSpPr>
          <p:cNvPr id="2" name="Group 5"/>
          <p:cNvGrpSpPr>
            <a:grpSpLocks/>
          </p:cNvGrpSpPr>
          <p:nvPr/>
        </p:nvGrpSpPr>
        <p:grpSpPr bwMode="auto">
          <a:xfrm>
            <a:off x="677864" y="3978474"/>
            <a:ext cx="7826375" cy="955476"/>
            <a:chOff x="427" y="2515"/>
            <a:chExt cx="4930" cy="893"/>
          </a:xfrm>
        </p:grpSpPr>
        <p:sp>
          <p:nvSpPr>
            <p:cNvPr id="61446" name="Text Box 6"/>
            <p:cNvSpPr txBox="1">
              <a:spLocks noChangeArrowheads="1"/>
            </p:cNvSpPr>
            <p:nvPr/>
          </p:nvSpPr>
          <p:spPr bwMode="blackWhite">
            <a:xfrm>
              <a:off x="427" y="2515"/>
              <a:ext cx="1469" cy="866"/>
            </a:xfrm>
            <a:prstGeom prst="rect">
              <a:avLst/>
            </a:prstGeom>
            <a:solidFill>
              <a:srgbClr val="CC6600"/>
            </a:solidFill>
            <a:ln w="9525">
              <a:solidFill>
                <a:schemeClr val="tx1"/>
              </a:solidFill>
              <a:miter lim="800000"/>
              <a:headEnd/>
              <a:tailEnd/>
            </a:ln>
            <a:effectLst>
              <a:outerShdw dist="107763" dir="2700000" algn="ctr" rotWithShape="0">
                <a:schemeClr val="bg2">
                  <a:alpha val="50000"/>
                </a:schemeClr>
              </a:outerShdw>
            </a:effectLst>
          </p:spPr>
          <p:txBody>
            <a:bodyPr anchor="ctr" anchorCtr="1"/>
            <a:lstStyle/>
            <a:p>
              <a:pPr algn="ctr" eaLnBrk="0" hangingPunct="0">
                <a:spcBef>
                  <a:spcPct val="50000"/>
                </a:spcBef>
                <a:defRPr/>
              </a:pPr>
              <a:r>
                <a:rPr lang="en-US" sz="2000" b="1" dirty="0">
                  <a:solidFill>
                    <a:schemeClr val="bg1"/>
                  </a:solidFill>
                  <a:effectLst>
                    <a:outerShdw blurRad="38100" dist="38100" dir="2700000" algn="tl">
                      <a:srgbClr val="000000"/>
                    </a:outerShdw>
                  </a:effectLst>
                </a:rPr>
                <a:t>Individual-Level Variables</a:t>
              </a:r>
            </a:p>
          </p:txBody>
        </p:sp>
        <p:sp>
          <p:nvSpPr>
            <p:cNvPr id="61447" name="Text Box 7"/>
            <p:cNvSpPr txBox="1">
              <a:spLocks noChangeArrowheads="1"/>
            </p:cNvSpPr>
            <p:nvPr/>
          </p:nvSpPr>
          <p:spPr bwMode="blackWhite">
            <a:xfrm>
              <a:off x="3888" y="2542"/>
              <a:ext cx="1469" cy="866"/>
            </a:xfrm>
            <a:prstGeom prst="rect">
              <a:avLst/>
            </a:prstGeom>
            <a:solidFill>
              <a:srgbClr val="336699"/>
            </a:solidFill>
            <a:ln w="9525">
              <a:solidFill>
                <a:schemeClr val="tx1"/>
              </a:solidFill>
              <a:miter lim="800000"/>
              <a:headEnd/>
              <a:tailEnd/>
            </a:ln>
            <a:effectLst>
              <a:outerShdw dist="107763" dir="2700000" algn="ctr" rotWithShape="0">
                <a:schemeClr val="bg2">
                  <a:alpha val="50000"/>
                </a:schemeClr>
              </a:outerShdw>
            </a:effectLst>
          </p:spPr>
          <p:txBody>
            <a:bodyPr anchor="ctr" anchorCtr="1"/>
            <a:lstStyle/>
            <a:p>
              <a:pPr algn="ctr" eaLnBrk="0" hangingPunct="0">
                <a:spcBef>
                  <a:spcPct val="50000"/>
                </a:spcBef>
                <a:defRPr/>
              </a:pPr>
              <a:r>
                <a:rPr lang="en-US" sz="2000" b="1" dirty="0">
                  <a:solidFill>
                    <a:schemeClr val="bg1"/>
                  </a:solidFill>
                  <a:effectLst>
                    <a:outerShdw blurRad="38100" dist="38100" dir="2700000" algn="tl">
                      <a:srgbClr val="000000"/>
                    </a:outerShdw>
                  </a:effectLst>
                </a:rPr>
                <a:t>Organization</a:t>
              </a:r>
              <a:br>
                <a:rPr lang="en-US" sz="2000" b="1" dirty="0">
                  <a:solidFill>
                    <a:schemeClr val="bg1"/>
                  </a:solidFill>
                  <a:effectLst>
                    <a:outerShdw blurRad="38100" dist="38100" dir="2700000" algn="tl">
                      <a:srgbClr val="000000"/>
                    </a:outerShdw>
                  </a:effectLst>
                </a:rPr>
              </a:br>
              <a:r>
                <a:rPr lang="en-US" sz="2000" b="1" dirty="0">
                  <a:solidFill>
                    <a:schemeClr val="bg1"/>
                  </a:solidFill>
                  <a:effectLst>
                    <a:outerShdw blurRad="38100" dist="38100" dir="2700000" algn="tl">
                      <a:srgbClr val="000000"/>
                    </a:outerShdw>
                  </a:effectLst>
                </a:rPr>
                <a:t>System-Level</a:t>
              </a:r>
              <a:br>
                <a:rPr lang="en-US" sz="2000" b="1" dirty="0">
                  <a:solidFill>
                    <a:schemeClr val="bg1"/>
                  </a:solidFill>
                  <a:effectLst>
                    <a:outerShdw blurRad="38100" dist="38100" dir="2700000" algn="tl">
                      <a:srgbClr val="000000"/>
                    </a:outerShdw>
                  </a:effectLst>
                </a:rPr>
              </a:br>
              <a:r>
                <a:rPr lang="en-US" sz="2000" b="1" dirty="0">
                  <a:solidFill>
                    <a:schemeClr val="bg1"/>
                  </a:solidFill>
                  <a:effectLst>
                    <a:outerShdw blurRad="38100" dist="38100" dir="2700000" algn="tl">
                      <a:srgbClr val="000000"/>
                    </a:outerShdw>
                  </a:effectLst>
                </a:rPr>
                <a:t>Variables</a:t>
              </a:r>
            </a:p>
          </p:txBody>
        </p:sp>
        <p:sp>
          <p:nvSpPr>
            <p:cNvPr id="61448" name="Text Box 8"/>
            <p:cNvSpPr txBox="1">
              <a:spLocks noChangeArrowheads="1"/>
            </p:cNvSpPr>
            <p:nvPr/>
          </p:nvSpPr>
          <p:spPr bwMode="blackWhite">
            <a:xfrm>
              <a:off x="2155" y="2519"/>
              <a:ext cx="1469" cy="867"/>
            </a:xfrm>
            <a:prstGeom prst="rect">
              <a:avLst/>
            </a:prstGeom>
            <a:solidFill>
              <a:srgbClr val="339966"/>
            </a:solidFill>
            <a:ln w="9525">
              <a:solidFill>
                <a:schemeClr val="tx1"/>
              </a:solidFill>
              <a:miter lim="800000"/>
              <a:headEnd/>
              <a:tailEnd/>
            </a:ln>
            <a:effectLst>
              <a:outerShdw dist="107763" dir="2700000" algn="ctr" rotWithShape="0">
                <a:schemeClr val="bg2">
                  <a:alpha val="50000"/>
                </a:schemeClr>
              </a:outerShdw>
            </a:effectLst>
          </p:spPr>
          <p:txBody>
            <a:bodyPr anchor="ctr" anchorCtr="1"/>
            <a:lstStyle/>
            <a:p>
              <a:pPr algn="ctr" eaLnBrk="0" hangingPunct="0">
                <a:spcBef>
                  <a:spcPct val="50000"/>
                </a:spcBef>
                <a:defRPr/>
              </a:pPr>
              <a:r>
                <a:rPr lang="en-US" sz="2000" b="1" dirty="0">
                  <a:solidFill>
                    <a:schemeClr val="bg1"/>
                  </a:solidFill>
                  <a:effectLst>
                    <a:outerShdw blurRad="38100" dist="38100" dir="2700000" algn="tl">
                      <a:srgbClr val="000000"/>
                    </a:outerShdw>
                  </a:effectLst>
                </a:rPr>
                <a:t>Group-Level</a:t>
              </a:r>
              <a:br>
                <a:rPr lang="en-US" sz="2000" b="1" dirty="0">
                  <a:solidFill>
                    <a:schemeClr val="bg1"/>
                  </a:solidFill>
                  <a:effectLst>
                    <a:outerShdw blurRad="38100" dist="38100" dir="2700000" algn="tl">
                      <a:srgbClr val="000000"/>
                    </a:outerShdw>
                  </a:effectLst>
                </a:rPr>
              </a:br>
              <a:r>
                <a:rPr lang="en-US" sz="2000" b="1" dirty="0">
                  <a:solidFill>
                    <a:schemeClr val="bg1"/>
                  </a:solidFill>
                  <a:effectLst>
                    <a:outerShdw blurRad="38100" dist="38100" dir="2700000" algn="tl">
                      <a:srgbClr val="000000"/>
                    </a:outerShdw>
                  </a:effectLst>
                </a:rPr>
                <a:t>Variables</a:t>
              </a:r>
            </a:p>
          </p:txBody>
        </p:sp>
      </p:grpSp>
      <p:grpSp>
        <p:nvGrpSpPr>
          <p:cNvPr id="3" name="Group 9"/>
          <p:cNvGrpSpPr>
            <a:grpSpLocks/>
          </p:cNvGrpSpPr>
          <p:nvPr/>
        </p:nvGrpSpPr>
        <p:grpSpPr bwMode="auto">
          <a:xfrm>
            <a:off x="1827214" y="3479006"/>
            <a:ext cx="5489575" cy="464344"/>
            <a:chOff x="1200" y="2168"/>
            <a:chExt cx="3360" cy="456"/>
          </a:xfrm>
        </p:grpSpPr>
        <p:grpSp>
          <p:nvGrpSpPr>
            <p:cNvPr id="38920" name="Group 10"/>
            <p:cNvGrpSpPr>
              <a:grpSpLocks/>
            </p:cNvGrpSpPr>
            <p:nvPr/>
          </p:nvGrpSpPr>
          <p:grpSpPr bwMode="auto">
            <a:xfrm rot="5400000">
              <a:off x="2664" y="728"/>
              <a:ext cx="432" cy="3360"/>
              <a:chOff x="4560" y="768"/>
              <a:chExt cx="384" cy="1728"/>
            </a:xfrm>
          </p:grpSpPr>
          <p:sp>
            <p:nvSpPr>
              <p:cNvPr id="61451" name="Freeform 11"/>
              <p:cNvSpPr>
                <a:spLocks/>
              </p:cNvSpPr>
              <p:nvPr/>
            </p:nvSpPr>
            <p:spPr bwMode="blackWhite">
              <a:xfrm>
                <a:off x="4560" y="1632"/>
                <a:ext cx="384" cy="864"/>
              </a:xfrm>
              <a:custGeom>
                <a:avLst/>
                <a:gdLst/>
                <a:ahLst/>
                <a:cxnLst>
                  <a:cxn ang="0">
                    <a:pos x="0" y="0"/>
                  </a:cxn>
                  <a:cxn ang="0">
                    <a:pos x="0" y="864"/>
                  </a:cxn>
                  <a:cxn ang="0">
                    <a:pos x="384" y="864"/>
                  </a:cxn>
                </a:cxnLst>
                <a:rect l="0" t="0" r="r" b="b"/>
                <a:pathLst>
                  <a:path w="384" h="864">
                    <a:moveTo>
                      <a:pt x="0" y="0"/>
                    </a:moveTo>
                    <a:lnTo>
                      <a:pt x="0" y="864"/>
                    </a:lnTo>
                    <a:lnTo>
                      <a:pt x="384" y="864"/>
                    </a:lnTo>
                  </a:path>
                </a:pathLst>
              </a:custGeom>
              <a:noFill/>
              <a:ln w="38100" cmpd="sng">
                <a:solidFill>
                  <a:schemeClr val="tx1"/>
                </a:solidFill>
                <a:round/>
                <a:headEnd/>
                <a:tailEnd type="triangle" w="lg" len="lg"/>
              </a:ln>
              <a:effectLst>
                <a:outerShdw dist="35921" dir="2700000" algn="ctr" rotWithShape="0">
                  <a:schemeClr val="bg2">
                    <a:alpha val="50000"/>
                  </a:schemeClr>
                </a:outerShdw>
              </a:effectLst>
            </p:spPr>
            <p:txBody>
              <a:bodyPr wrap="none" anchor="ctr"/>
              <a:lstStyle/>
              <a:p>
                <a:pPr>
                  <a:defRPr/>
                </a:pPr>
                <a:endParaRPr lang="en-US"/>
              </a:p>
            </p:txBody>
          </p:sp>
          <p:sp>
            <p:nvSpPr>
              <p:cNvPr id="61452" name="Freeform 12"/>
              <p:cNvSpPr>
                <a:spLocks/>
              </p:cNvSpPr>
              <p:nvPr/>
            </p:nvSpPr>
            <p:spPr bwMode="blackWhite">
              <a:xfrm flipV="1">
                <a:off x="4560" y="768"/>
                <a:ext cx="384" cy="864"/>
              </a:xfrm>
              <a:custGeom>
                <a:avLst/>
                <a:gdLst/>
                <a:ahLst/>
                <a:cxnLst>
                  <a:cxn ang="0">
                    <a:pos x="0" y="0"/>
                  </a:cxn>
                  <a:cxn ang="0">
                    <a:pos x="0" y="864"/>
                  </a:cxn>
                  <a:cxn ang="0">
                    <a:pos x="384" y="864"/>
                  </a:cxn>
                </a:cxnLst>
                <a:rect l="0" t="0" r="r" b="b"/>
                <a:pathLst>
                  <a:path w="384" h="864">
                    <a:moveTo>
                      <a:pt x="0" y="0"/>
                    </a:moveTo>
                    <a:lnTo>
                      <a:pt x="0" y="864"/>
                    </a:lnTo>
                    <a:lnTo>
                      <a:pt x="384" y="864"/>
                    </a:lnTo>
                  </a:path>
                </a:pathLst>
              </a:custGeom>
              <a:noFill/>
              <a:ln w="38100" cmpd="sng">
                <a:solidFill>
                  <a:schemeClr val="tx1"/>
                </a:solidFill>
                <a:round/>
                <a:headEnd/>
                <a:tailEnd type="triangle" w="lg" len="lg"/>
              </a:ln>
              <a:effectLst>
                <a:outerShdw dist="35921" dir="2700000" algn="ctr" rotWithShape="0">
                  <a:schemeClr val="bg2">
                    <a:alpha val="50000"/>
                  </a:schemeClr>
                </a:outerShdw>
              </a:effectLst>
            </p:spPr>
            <p:txBody>
              <a:bodyPr wrap="none" anchor="ctr"/>
              <a:lstStyle/>
              <a:p>
                <a:pPr>
                  <a:defRPr/>
                </a:pPr>
                <a:endParaRPr lang="en-US"/>
              </a:p>
            </p:txBody>
          </p:sp>
        </p:grpSp>
        <p:sp>
          <p:nvSpPr>
            <p:cNvPr id="61453" name="Line 13"/>
            <p:cNvSpPr>
              <a:spLocks noChangeShapeType="1"/>
            </p:cNvSpPr>
            <p:nvPr/>
          </p:nvSpPr>
          <p:spPr bwMode="blackWhite">
            <a:xfrm rot="5400000">
              <a:off x="2664" y="2384"/>
              <a:ext cx="432" cy="0"/>
            </a:xfrm>
            <a:prstGeom prst="line">
              <a:avLst/>
            </a:prstGeom>
            <a:noFill/>
            <a:ln w="38100">
              <a:solidFill>
                <a:schemeClr val="tx1"/>
              </a:solidFill>
              <a:round/>
              <a:headEnd/>
              <a:tailEnd type="triangle" w="lg" len="lg"/>
            </a:ln>
            <a:effectLst>
              <a:outerShdw dist="35921" dir="2700000" algn="ctr" rotWithShape="0">
                <a:schemeClr val="bg2">
                  <a:alpha val="50000"/>
                </a:schemeClr>
              </a:outerShdw>
            </a:effectLst>
          </p:spPr>
          <p:txBody>
            <a:bodyPr wrap="none" anchor="ctr"/>
            <a:lstStyle/>
            <a:p>
              <a:pPr>
                <a:defRPr/>
              </a:pPr>
              <a:endParaRPr lang="en-US"/>
            </a:p>
          </p:txBody>
        </p:sp>
      </p:grpSp>
    </p:spTree>
    <p:extLst>
      <p:ext uri="{BB962C8B-B14F-4D97-AF65-F5344CB8AC3E}">
        <p14:creationId xmlns:p14="http://schemas.microsoft.com/office/powerpoint/2010/main" val="2208077063"/>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1444"/>
                                        </p:tgtEl>
                                        <p:attrNameLst>
                                          <p:attrName>style.visibility</p:attrName>
                                        </p:attrNameLst>
                                      </p:cBhvr>
                                      <p:to>
                                        <p:strVal val="visible"/>
                                      </p:to>
                                    </p:set>
                                    <p:animEffect transition="in" filter="wipe(up)">
                                      <p:cBhvr>
                                        <p:cTn id="7" dur="500"/>
                                        <p:tgtEl>
                                          <p:spTgt spid="61444"/>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61443"/>
                                        </p:tgtEl>
                                        <p:attrNameLst>
                                          <p:attrName>style.visibility</p:attrName>
                                        </p:attrNameLst>
                                      </p:cBhvr>
                                      <p:to>
                                        <p:strVal val="visible"/>
                                      </p:to>
                                    </p:set>
                                    <p:animEffect transition="in" filter="wipe(up)">
                                      <p:cBhvr>
                                        <p:cTn id="11" dur="500"/>
                                        <p:tgtEl>
                                          <p:spTgt spid="61443"/>
                                        </p:tgtEl>
                                      </p:cBhvr>
                                    </p:animEffect>
                                  </p:childTnLst>
                                </p:cTn>
                              </p:par>
                            </p:childTnLst>
                          </p:cTn>
                        </p:par>
                        <p:par>
                          <p:cTn id="12" fill="hold" nodeType="afterGroup">
                            <p:stCondLst>
                              <p:cond delay="1000"/>
                            </p:stCondLst>
                            <p:childTnLst>
                              <p:par>
                                <p:cTn id="13" presetID="17" presetClass="entr" presetSubtype="10"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p:cTn id="15" dur="500" fill="hold"/>
                                        <p:tgtEl>
                                          <p:spTgt spid="3"/>
                                        </p:tgtEl>
                                        <p:attrNameLst>
                                          <p:attrName>ppt_w</p:attrName>
                                        </p:attrNameLst>
                                      </p:cBhvr>
                                      <p:tavLst>
                                        <p:tav tm="0">
                                          <p:val>
                                            <p:fltVal val="0"/>
                                          </p:val>
                                        </p:tav>
                                        <p:tav tm="100000">
                                          <p:val>
                                            <p:strVal val="#ppt_w"/>
                                          </p:val>
                                        </p:tav>
                                      </p:tavLst>
                                    </p:anim>
                                    <p:anim calcmode="lin" valueType="num">
                                      <p:cBhvr>
                                        <p:cTn id="16" dur="500" fill="hold"/>
                                        <p:tgtEl>
                                          <p:spTgt spid="3"/>
                                        </p:tgtEl>
                                        <p:attrNameLst>
                                          <p:attrName>ppt_h</p:attrName>
                                        </p:attrNameLst>
                                      </p:cBhvr>
                                      <p:tavLst>
                                        <p:tav tm="0">
                                          <p:val>
                                            <p:strVal val="#ppt_h"/>
                                          </p:val>
                                        </p:tav>
                                        <p:tav tm="100000">
                                          <p:val>
                                            <p:strVal val="#ppt_h"/>
                                          </p:val>
                                        </p:tav>
                                      </p:tavLst>
                                    </p:anim>
                                  </p:childTnLst>
                                </p:cTn>
                              </p:par>
                            </p:childTnLst>
                          </p:cTn>
                        </p:par>
                        <p:par>
                          <p:cTn id="17" fill="hold" nodeType="afterGroup">
                            <p:stCondLst>
                              <p:cond delay="1500"/>
                            </p:stCondLst>
                            <p:childTnLst>
                              <p:par>
                                <p:cTn id="18" presetID="22" presetClass="entr" presetSubtype="1"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up)">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4"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normAutofit/>
          </a:bodyPr>
          <a:lstStyle/>
          <a:p>
            <a:r>
              <a:rPr lang="en-US" sz="4000" i="1" dirty="0">
                <a:solidFill>
                  <a:schemeClr val="tx1"/>
                </a:solidFill>
              </a:rPr>
              <a:t>Keep in Mind…</a:t>
            </a:r>
          </a:p>
        </p:txBody>
      </p:sp>
      <p:sp>
        <p:nvSpPr>
          <p:cNvPr id="4" name="Rectangle 6"/>
          <p:cNvSpPr>
            <a:spLocks noGrp="1" noChangeArrowheads="1"/>
          </p:cNvSpPr>
          <p:nvPr>
            <p:ph type="sldNum" sz="quarter" idx="12"/>
          </p:nvPr>
        </p:nvSpPr>
        <p:spPr>
          <a:ln/>
        </p:spPr>
        <p:txBody>
          <a:bodyPr>
            <a:normAutofit fontScale="47500" lnSpcReduction="20000"/>
          </a:bodyPr>
          <a:lstStyle/>
          <a:p>
            <a:r>
              <a:rPr lang="en-US"/>
              <a:t>1-</a:t>
            </a:r>
            <a:fld id="{B4789263-2110-402E-8C23-4FC2FCA3CCEE}" type="slidenum">
              <a:rPr lang="en-US"/>
              <a:pPr/>
              <a:t>31</a:t>
            </a:fld>
            <a:endParaRPr lang="en-US"/>
          </a:p>
        </p:txBody>
      </p:sp>
      <p:sp>
        <p:nvSpPr>
          <p:cNvPr id="3" name="Content Placeholder 2"/>
          <p:cNvSpPr>
            <a:spLocks noGrp="1"/>
          </p:cNvSpPr>
          <p:nvPr>
            <p:ph sz="quarter" idx="13"/>
          </p:nvPr>
        </p:nvSpPr>
        <p:spPr/>
        <p:txBody>
          <a:bodyPr>
            <a:normAutofit/>
          </a:bodyPr>
          <a:lstStyle/>
          <a:p>
            <a:r>
              <a:rPr lang="en-US" sz="2400" dirty="0"/>
              <a:t>OB’s goal is to understand and predict human behavior in organizations.</a:t>
            </a:r>
          </a:p>
          <a:p>
            <a:r>
              <a:rPr lang="en-US" sz="2400" dirty="0"/>
              <a:t>Fundamental consistencies underlie behavior.</a:t>
            </a:r>
          </a:p>
          <a:p>
            <a:r>
              <a:rPr lang="en-US" sz="2400" dirty="0"/>
              <a:t>It is more important than ever to learn OB concepts.</a:t>
            </a:r>
          </a:p>
          <a:p>
            <a:r>
              <a:rPr lang="en-US" sz="2400" dirty="0"/>
              <a:t>Both managers and employees must learn to cope with temporariness.</a:t>
            </a:r>
          </a:p>
        </p:txBody>
      </p:sp>
    </p:spTree>
    <p:extLst>
      <p:ext uri="{BB962C8B-B14F-4D97-AF65-F5344CB8AC3E}">
        <p14:creationId xmlns:p14="http://schemas.microsoft.com/office/powerpoint/2010/main" val="2621543202"/>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par>
                          <p:cTn id="8" fill="hold" nodeType="afterGroup">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1000"/>
                                        <p:tgtEl>
                                          <p:spTgt spid="3">
                                            <p:txEl>
                                              <p:pRg st="1" end="1"/>
                                            </p:txEl>
                                          </p:spTgt>
                                        </p:tgtEl>
                                      </p:cBhvr>
                                    </p:animEffect>
                                  </p:childTnLst>
                                </p:cTn>
                              </p:par>
                            </p:childTnLst>
                          </p:cTn>
                        </p:par>
                        <p:par>
                          <p:cTn id="12" fill="hold" nodeType="afterGroup">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1000"/>
                                        <p:tgtEl>
                                          <p:spTgt spid="3">
                                            <p:txEl>
                                              <p:pRg st="2" end="2"/>
                                            </p:txEl>
                                          </p:spTgt>
                                        </p:tgtEl>
                                      </p:cBhvr>
                                    </p:animEffect>
                                  </p:childTnLst>
                                </p:cTn>
                              </p:par>
                            </p:childTnLst>
                          </p:cTn>
                        </p:par>
                        <p:par>
                          <p:cTn id="16" fill="hold" nodeType="afterGroup">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idescreenPresentatio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WidescreenPresentation</Template>
  <TotalTime>19</TotalTime>
  <Words>1640</Words>
  <Application>Microsoft Office PowerPoint</Application>
  <PresentationFormat>On-screen Show (16:9)</PresentationFormat>
  <Paragraphs>260</Paragraphs>
  <Slides>31</Slides>
  <Notes>19</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31</vt:i4>
      </vt:variant>
    </vt:vector>
  </HeadingPairs>
  <TitlesOfParts>
    <vt:vector size="46" baseType="lpstr">
      <vt:lpstr>新細明體</vt:lpstr>
      <vt:lpstr>Aharoni</vt:lpstr>
      <vt:lpstr>Arial</vt:lpstr>
      <vt:lpstr>Calibri</vt:lpstr>
      <vt:lpstr>Century Schoolbook</vt:lpstr>
      <vt:lpstr>Harlow Solid Italic</vt:lpstr>
      <vt:lpstr>Rockwell Extra Bold</vt:lpstr>
      <vt:lpstr>Tahoma</vt:lpstr>
      <vt:lpstr>Times New Roman</vt:lpstr>
      <vt:lpstr>Tw Cen MT</vt:lpstr>
      <vt:lpstr>UniversLTStd-BoldCn</vt:lpstr>
      <vt:lpstr>UniversLTStd-Obl</vt:lpstr>
      <vt:lpstr>Wingdings</vt:lpstr>
      <vt:lpstr>Wingdings 2</vt:lpstr>
      <vt:lpstr>WidescreenPresentation</vt:lpstr>
      <vt:lpstr>Organizational Behavior</vt:lpstr>
      <vt:lpstr>Books to follow</vt:lpstr>
      <vt:lpstr>Course Objectives</vt:lpstr>
      <vt:lpstr>PowerPoint Presentation</vt:lpstr>
      <vt:lpstr>PowerPoint Presentation</vt:lpstr>
      <vt:lpstr>PowerPoint Presentation</vt:lpstr>
      <vt:lpstr>Three Levels of OB Analysis</vt:lpstr>
      <vt:lpstr>Why Do We Study OB?</vt:lpstr>
      <vt:lpstr>What Managers Do?</vt:lpstr>
      <vt:lpstr>Where Managers Work</vt:lpstr>
      <vt:lpstr>Management?</vt:lpstr>
      <vt:lpstr>Management Functions (cont’d)</vt:lpstr>
      <vt:lpstr>Mintzberg’s Managerial Roles</vt:lpstr>
      <vt:lpstr>Management Skills</vt:lpstr>
      <vt:lpstr>There Are Few Absolutes in OB</vt:lpstr>
      <vt:lpstr>Challenges and Opportunities for OB </vt:lpstr>
      <vt:lpstr>Responding to Globalization</vt:lpstr>
      <vt:lpstr>Managing Workforce Diversity</vt:lpstr>
      <vt:lpstr>OB support in Dealing With</vt:lpstr>
      <vt:lpstr>Focal Points of OB</vt:lpstr>
      <vt:lpstr>OB Offers Insights Into:</vt:lpstr>
      <vt:lpstr>Complementing Intuition with Systematic Study</vt:lpstr>
      <vt:lpstr>OB Model</vt:lpstr>
      <vt:lpstr>Systematic Study</vt:lpstr>
      <vt:lpstr>The Dependent Variables</vt:lpstr>
      <vt:lpstr>The Dependent Variables (cont’d)</vt:lpstr>
      <vt:lpstr>The Dependent Variables (cont’d)</vt:lpstr>
      <vt:lpstr>The Dependent Variables (cont’d)</vt:lpstr>
      <vt:lpstr>The Dependent Variables (cont’d)</vt:lpstr>
      <vt:lpstr>The Independent Variables</vt:lpstr>
      <vt:lpstr>Keep in Mind…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Dr Muhammad  Rafiq</cp:lastModifiedBy>
  <cp:revision>2</cp:revision>
  <dcterms:created xsi:type="dcterms:W3CDTF">2017-08-17T02:20:37Z</dcterms:created>
  <dcterms:modified xsi:type="dcterms:W3CDTF">2025-08-21T10:15:44Z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LCID">
    <vt:i4>1033</vt:i4>
  </property>
  <property fmtid="{D5CDD505-2E9C-101B-9397-08002B2CF9AE}" pid="3" name="_Version">
    <vt:lpwstr>12.0.4518</vt:lpwstr>
  </property>
</Properties>
</file>