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1"/>
  </p:notesMasterIdLst>
  <p:handoutMasterIdLst>
    <p:handoutMasterId r:id="rId22"/>
  </p:handoutMasterIdLst>
  <p:sldIdLst>
    <p:sldId id="265" r:id="rId2"/>
    <p:sldId id="290" r:id="rId3"/>
    <p:sldId id="267" r:id="rId4"/>
    <p:sldId id="296" r:id="rId5"/>
    <p:sldId id="291" r:id="rId6"/>
    <p:sldId id="294" r:id="rId7"/>
    <p:sldId id="268" r:id="rId8"/>
    <p:sldId id="269" r:id="rId9"/>
    <p:sldId id="285" r:id="rId10"/>
    <p:sldId id="275" r:id="rId11"/>
    <p:sldId id="271" r:id="rId12"/>
    <p:sldId id="284" r:id="rId13"/>
    <p:sldId id="286" r:id="rId14"/>
    <p:sldId id="287" r:id="rId15"/>
    <p:sldId id="277" r:id="rId16"/>
    <p:sldId id="278" r:id="rId17"/>
    <p:sldId id="279" r:id="rId18"/>
    <p:sldId id="280" r:id="rId19"/>
    <p:sldId id="295" r:id="rId20"/>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3126" autoAdjust="0"/>
  </p:normalViewPr>
  <p:slideViewPr>
    <p:cSldViewPr>
      <p:cViewPr varScale="1">
        <p:scale>
          <a:sx n="90" d="100"/>
          <a:sy n="90" d="100"/>
        </p:scale>
        <p:origin x="1118" y="6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9/24/2024</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9/24/2024</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extLst/>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4D5156"/>
                </a:solidFill>
                <a:effectLst/>
                <a:latin typeface="Arial" panose="020B0604020202020204" pitchFamily="34" charset="0"/>
              </a:rPr>
              <a:t>Attitude is; manner, disposition, feeling, position, etc., with regard to a person or thing; tendency or orientation, especially of the mind</a:t>
            </a:r>
            <a:endParaRPr lang="en-PK" dirty="0"/>
          </a:p>
        </p:txBody>
      </p:sp>
      <p:sp>
        <p:nvSpPr>
          <p:cNvPr id="4" name="Slide Number Placeholder 3"/>
          <p:cNvSpPr>
            <a:spLocks noGrp="1"/>
          </p:cNvSpPr>
          <p:nvPr>
            <p:ph type="sldNum" sz="quarter" idx="5"/>
          </p:nvPr>
        </p:nvSpPr>
        <p:spPr/>
        <p:txBody>
          <a:bodyPr/>
          <a:lstStyle/>
          <a:p>
            <a:fld id="{CA5D3BF3-D352-46FC-8343-31F56E6730EA}" type="slidenum">
              <a:rPr lang="en-US" smtClean="0"/>
              <a:pPr/>
              <a:t>2</a:t>
            </a:fld>
            <a:endParaRPr lang="en-US"/>
          </a:p>
        </p:txBody>
      </p:sp>
    </p:spTree>
    <p:extLst>
      <p:ext uri="{BB962C8B-B14F-4D97-AF65-F5344CB8AC3E}">
        <p14:creationId xmlns:p14="http://schemas.microsoft.com/office/powerpoint/2010/main" val="1543753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40F2903F-57AE-4A8E-B70A-F99894C38669}" type="slidenum">
              <a:rPr lang="en-US" sz="1300" b="0">
                <a:latin typeface="Times New Roman" pitchFamily="18" charset="0"/>
              </a:rPr>
              <a:pPr eaLnBrk="1" hangingPunct="1"/>
              <a:t>3</a:t>
            </a:fld>
            <a:endParaRPr lang="en-US" sz="1300" b="0">
              <a:latin typeface="Times New Roman" pitchFamily="18"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 </a:t>
            </a:r>
            <a:r>
              <a:rPr lang="en-US" b="1" dirty="0"/>
              <a:t>attitude</a:t>
            </a:r>
            <a:r>
              <a:rPr lang="en-US" dirty="0"/>
              <a:t> is a positive or negative evaluation that predisposes a person to act in a certain way.  An employee with an attitude problem might be hard to get along with, might gripe, and consistently resist new ideas.  Understanding employee attitudes is important to managers because attitudes determine how people perceive the work environment, interact with others, and behave on the job.  Effective managers strive to develop and reinforce positive attitudes among employees.  Managers should recognize that negative attitudes can be the result of underlying problems in the workplace as well as a contributor to forthcoming problems.</a:t>
            </a:r>
          </a:p>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are precise answers to your questions:</a:t>
            </a:r>
          </a:p>
          <a:p>
            <a:endParaRPr lang="en-GB" dirty="0"/>
          </a:p>
          <a:p>
            <a:r>
              <a:rPr lang="en-GB" dirty="0"/>
              <a:t>1. **What are the main components of attitude?**  </a:t>
            </a:r>
          </a:p>
          <a:p>
            <a:r>
              <a:rPr lang="en-GB" dirty="0"/>
              <a:t>   The main components of attitude are:</a:t>
            </a:r>
          </a:p>
          <a:p>
            <a:r>
              <a:rPr lang="en-GB" dirty="0"/>
              <a:t>   - **Cognitive**: Beliefs or thoughts about something.</a:t>
            </a:r>
          </a:p>
          <a:p>
            <a:r>
              <a:rPr lang="en-GB" dirty="0"/>
              <a:t>   - **Affective**: Emotional feelings toward something.</a:t>
            </a:r>
          </a:p>
          <a:p>
            <a:r>
              <a:rPr lang="en-GB" dirty="0"/>
              <a:t>   - **</a:t>
            </a:r>
            <a:r>
              <a:rPr lang="en-GB" dirty="0" err="1"/>
              <a:t>Behavioral</a:t>
            </a:r>
            <a:r>
              <a:rPr lang="en-GB" dirty="0"/>
              <a:t>**: Intentions or actions related to the object.</a:t>
            </a:r>
          </a:p>
          <a:p>
            <a:endParaRPr lang="en-GB" dirty="0"/>
          </a:p>
          <a:p>
            <a:r>
              <a:rPr lang="en-GB" dirty="0"/>
              <a:t>2. **How consistent are attitudes?**  </a:t>
            </a:r>
          </a:p>
          <a:p>
            <a:r>
              <a:rPr lang="en-GB" dirty="0"/>
              <a:t>   Attitudes are generally consistent but not always perfectly aligned. While cognitive and affective components typically influence </a:t>
            </a:r>
            <a:r>
              <a:rPr lang="en-GB" dirty="0" err="1"/>
              <a:t>behavior</a:t>
            </a:r>
            <a:r>
              <a:rPr lang="en-GB" dirty="0"/>
              <a:t>, external factors, social norms, or situational constraints can create inconsistencies between attitudes and </a:t>
            </a:r>
            <a:r>
              <a:rPr lang="en-GB" dirty="0" err="1"/>
              <a:t>behaviors</a:t>
            </a:r>
            <a:r>
              <a:rPr lang="en-GB" dirty="0"/>
              <a:t>.</a:t>
            </a:r>
          </a:p>
          <a:p>
            <a:endParaRPr lang="en-GB" dirty="0"/>
          </a:p>
          <a:p>
            <a:r>
              <a:rPr lang="en-GB" dirty="0"/>
              <a:t>3. **Does </a:t>
            </a:r>
            <a:r>
              <a:rPr lang="en-GB" dirty="0" err="1"/>
              <a:t>behavior</a:t>
            </a:r>
            <a:r>
              <a:rPr lang="en-GB" dirty="0"/>
              <a:t> always follow from attitudes?**  </a:t>
            </a:r>
          </a:p>
          <a:p>
            <a:r>
              <a:rPr lang="en-GB" dirty="0"/>
              <a:t>   No, </a:t>
            </a:r>
            <a:r>
              <a:rPr lang="en-GB" dirty="0" err="1"/>
              <a:t>behavior</a:t>
            </a:r>
            <a:r>
              <a:rPr lang="en-GB" dirty="0"/>
              <a:t> does not always follow from attitudes. Various factors, such as situational constraints, social pressures, or lack of opportunity, can prevent </a:t>
            </a:r>
            <a:r>
              <a:rPr lang="en-GB" dirty="0" err="1"/>
              <a:t>behaviors</a:t>
            </a:r>
            <a:r>
              <a:rPr lang="en-GB" dirty="0"/>
              <a:t> from aligning with personal attitudes.</a:t>
            </a:r>
          </a:p>
          <a:p>
            <a:endParaRPr lang="en-GB" dirty="0"/>
          </a:p>
          <a:p>
            <a:r>
              <a:rPr lang="en-GB" dirty="0"/>
              <a:t>4. **What are the main job attitudes?**  </a:t>
            </a:r>
          </a:p>
          <a:p>
            <a:r>
              <a:rPr lang="en-GB" dirty="0"/>
              <a:t>   Key job attitudes include:</a:t>
            </a:r>
          </a:p>
          <a:p>
            <a:r>
              <a:rPr lang="en-GB" dirty="0"/>
              <a:t>   - **Job Satisfaction**: Positive or negative feelings about one’s job.</a:t>
            </a:r>
          </a:p>
          <a:p>
            <a:r>
              <a:rPr lang="en-GB" dirty="0"/>
              <a:t>   - **Organizational Commitment**: Emotional attachment and loyalty to the organization.</a:t>
            </a:r>
          </a:p>
          <a:p>
            <a:r>
              <a:rPr lang="en-GB" dirty="0"/>
              <a:t>   - **Job Involvement**: The degree to which a person identifies with their job.</a:t>
            </a:r>
          </a:p>
          <a:p>
            <a:r>
              <a:rPr lang="en-GB" dirty="0"/>
              <a:t>   - **Perceived Organizational Support**: Beliefs about how much the organization values the employee.</a:t>
            </a:r>
          </a:p>
          <a:p>
            <a:r>
              <a:rPr lang="en-GB" dirty="0"/>
              <a:t>   - **Employee Engagement**: Enthusiasm and dedication toward work.</a:t>
            </a:r>
          </a:p>
          <a:p>
            <a:endParaRPr lang="en-GB" dirty="0"/>
          </a:p>
          <a:p>
            <a:r>
              <a:rPr lang="en-GB" dirty="0"/>
              <a:t>5. **How are employees' attitudes measured?**  </a:t>
            </a:r>
          </a:p>
          <a:p>
            <a:r>
              <a:rPr lang="en-GB" dirty="0"/>
              <a:t>   Employee attitudes are typically measured through:</a:t>
            </a:r>
          </a:p>
          <a:p>
            <a:r>
              <a:rPr lang="en-GB" dirty="0"/>
              <a:t>   - **Surveys and Questionnaires**: Standardized tools like the Job Descriptive Index (JDI) or Employee Engagement Surveys.</a:t>
            </a:r>
          </a:p>
          <a:p>
            <a:r>
              <a:rPr lang="en-GB" dirty="0"/>
              <a:t>   - **Interviews**: Structured or semi-structured discussions about job experiences.</a:t>
            </a:r>
          </a:p>
          <a:p>
            <a:r>
              <a:rPr lang="en-GB" dirty="0"/>
              <a:t>   - **Focus Groups**: Group discussions to gauge collective employee attitudes.</a:t>
            </a:r>
          </a:p>
          <a:p>
            <a:r>
              <a:rPr lang="en-GB" dirty="0"/>
              <a:t>   - **Observation**: Monitoring </a:t>
            </a:r>
            <a:r>
              <a:rPr lang="en-GB" dirty="0" err="1"/>
              <a:t>behaviors</a:t>
            </a:r>
            <a:r>
              <a:rPr lang="en-GB" dirty="0"/>
              <a:t> that reflect job attitudes (e.g., turnover, absenteeism).</a:t>
            </a:r>
          </a:p>
          <a:p>
            <a:endParaRPr lang="en-GB" dirty="0"/>
          </a:p>
          <a:p>
            <a:r>
              <a:rPr lang="en-GB" dirty="0"/>
              <a:t>6. **What is the importance of attitudes to workplace diversity?**  </a:t>
            </a:r>
          </a:p>
          <a:p>
            <a:r>
              <a:rPr lang="en-GB" dirty="0"/>
              <a:t>   Attitudes toward workplace diversity are crucial because they influence inclusivity, collaboration, and morale. Positive attitudes can foster an environment of acceptance and respect, while negative attitudes can lead to discrimination, bias, and conflict. Managing and improving attitudes toward diversity enhances team performance and organizational effectiveness.</a:t>
            </a:r>
            <a:endParaRPr lang="en-PK" dirty="0"/>
          </a:p>
        </p:txBody>
      </p:sp>
      <p:sp>
        <p:nvSpPr>
          <p:cNvPr id="4" name="Slide Number Placeholder 3"/>
          <p:cNvSpPr>
            <a:spLocks noGrp="1"/>
          </p:cNvSpPr>
          <p:nvPr>
            <p:ph type="sldNum" sz="quarter" idx="5"/>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46758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42186A43-239A-40C6-9A3E-9CC88CFF8A39}" type="slidenum">
              <a:rPr lang="en-US" sz="1300" b="0">
                <a:latin typeface="Times New Roman" pitchFamily="18" charset="0"/>
              </a:rPr>
              <a:pPr eaLnBrk="1" hangingPunct="1"/>
              <a:t>7</a:t>
            </a:fld>
            <a:endParaRPr lang="en-US" sz="1300" b="0">
              <a:latin typeface="Times New Roman"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Psychologist Leon 1957 proposed this theory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3FE267E8-CE91-4E14-9508-2F458EEC85AC}" type="slidenum">
              <a:rPr lang="en-US" sz="1300" b="0">
                <a:latin typeface="Times New Roman" pitchFamily="18" charset="0"/>
              </a:rPr>
              <a:pPr eaLnBrk="1" hangingPunct="1"/>
              <a:t>8</a:t>
            </a:fld>
            <a:endParaRPr lang="en-US" sz="1300" b="0">
              <a:latin typeface="Times New Roman" pitchFamily="18"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a:defRPr/>
            </a:pPr>
            <a:r>
              <a:rPr lang="en-US" b="1" dirty="0"/>
              <a:t>Job satisfaction</a:t>
            </a:r>
            <a:r>
              <a:rPr lang="en-US" dirty="0"/>
              <a:t> is </a:t>
            </a:r>
            <a:r>
              <a:rPr lang="en-US" u="sng" dirty="0"/>
              <a:t>a positive attitude to one’s job</a:t>
            </a:r>
            <a:r>
              <a:rPr lang="en-US" dirty="0"/>
              <a:t>.  People experience this attitude </a:t>
            </a:r>
            <a:r>
              <a:rPr lang="en-US" u="sng" dirty="0"/>
              <a:t>when their work </a:t>
            </a:r>
            <a:r>
              <a:rPr lang="en-US" b="1" u="sng" dirty="0"/>
              <a:t>matches</a:t>
            </a:r>
            <a:r>
              <a:rPr lang="en-US" u="sng" dirty="0"/>
              <a:t> their needs and interests</a:t>
            </a:r>
            <a:r>
              <a:rPr lang="en-US" dirty="0"/>
              <a:t> and they </a:t>
            </a:r>
            <a:r>
              <a:rPr lang="en-US" u="sng" dirty="0"/>
              <a:t>like their co-workers</a:t>
            </a:r>
            <a:r>
              <a:rPr lang="en-US" dirty="0"/>
              <a:t>.  Job satisfaction also occurs </a:t>
            </a:r>
            <a:r>
              <a:rPr lang="en-US" u="sng" dirty="0"/>
              <a:t>when </a:t>
            </a:r>
            <a:r>
              <a:rPr lang="en-US" b="1" u="sng" dirty="0"/>
              <a:t>working conditions and rewards are satisfactory</a:t>
            </a:r>
            <a:r>
              <a:rPr lang="en-US" dirty="0"/>
              <a:t> and </a:t>
            </a:r>
            <a:r>
              <a:rPr lang="en-US" u="sng" dirty="0"/>
              <a:t>when people have </a:t>
            </a:r>
            <a:r>
              <a:rPr lang="en-US" b="1" u="sng" dirty="0"/>
              <a:t>positive relationships with supervisors</a:t>
            </a:r>
            <a:r>
              <a:rPr lang="en-US" dirty="0"/>
              <a:t>.</a:t>
            </a:r>
          </a:p>
          <a:p>
            <a:pPr eaLnBrk="1">
              <a:defRPr/>
            </a:pPr>
            <a:r>
              <a:rPr lang="en-US" dirty="0"/>
              <a:t> </a:t>
            </a:r>
          </a:p>
          <a:p>
            <a:pPr eaLnBrk="1">
              <a:defRPr/>
            </a:pPr>
            <a:r>
              <a:rPr lang="en-US" dirty="0"/>
              <a:t>Research shows that </a:t>
            </a:r>
            <a:r>
              <a:rPr lang="en-US" u="sng" dirty="0"/>
              <a:t>the link between job satisfaction and performance is small and is affected by other factors</a:t>
            </a:r>
            <a:r>
              <a:rPr lang="en-US" dirty="0"/>
              <a:t>.  </a:t>
            </a:r>
            <a:r>
              <a:rPr lang="en-US" u="sng" dirty="0"/>
              <a:t>Satisfaction varies according to the amount of control the employee has (Autonomy)</a:t>
            </a:r>
            <a:r>
              <a:rPr lang="en-US" dirty="0"/>
              <a:t>.  </a:t>
            </a:r>
            <a:r>
              <a:rPr lang="en-US" u="sng" dirty="0"/>
              <a:t>Managers play an important role</a:t>
            </a:r>
            <a:r>
              <a:rPr lang="en-US" dirty="0"/>
              <a:t> in whether employees have positive or negative attitudes about their jobs. </a:t>
            </a:r>
          </a:p>
          <a:p>
            <a:pPr eaLnBrk="1">
              <a:defRPr/>
            </a:pPr>
            <a:r>
              <a:rPr lang="en-US" dirty="0"/>
              <a:t> </a:t>
            </a:r>
          </a:p>
          <a:p>
            <a:pPr eaLnBrk="1">
              <a:defRPr/>
            </a:pPr>
            <a:r>
              <a:rPr lang="en-US" b="1" dirty="0"/>
              <a:t>Organizational commitment</a:t>
            </a:r>
            <a:r>
              <a:rPr lang="en-US" dirty="0"/>
              <a:t> is </a:t>
            </a:r>
            <a:r>
              <a:rPr lang="en-US" u="sng" dirty="0"/>
              <a:t>loyalty to and engagement in one’s organization</a:t>
            </a:r>
            <a:r>
              <a:rPr lang="en-US" dirty="0"/>
              <a:t>.  Most managers want to enjoy the benefits of loyal, committed employees, including </a:t>
            </a:r>
            <a:r>
              <a:rPr lang="en-US" u="sng" dirty="0"/>
              <a:t>low turnover and willingness to do more than the job’s basic requirements</a:t>
            </a:r>
            <a:r>
              <a:rPr lang="en-US" dirty="0"/>
              <a:t>.</a:t>
            </a:r>
          </a:p>
          <a:p>
            <a:pPr eaLnBrk="1">
              <a:defRPr/>
            </a:pPr>
            <a:endParaRPr lang="en-US" dirty="0"/>
          </a:p>
          <a:p>
            <a:pPr eaLnBrk="1">
              <a:defRPr/>
            </a:pPr>
            <a:r>
              <a:rPr lang="en-US" dirty="0"/>
              <a:t>A recent study of 650,000 employees in global organizations found that </a:t>
            </a:r>
            <a:r>
              <a:rPr lang="en-US" u="sng" dirty="0"/>
              <a:t>companies with </a:t>
            </a:r>
            <a:r>
              <a:rPr lang="en-US" b="1" u="sng" dirty="0"/>
              <a:t>highly committed</a:t>
            </a:r>
            <a:r>
              <a:rPr lang="en-US" u="sng" dirty="0"/>
              <a:t> employees outperformed the industry average by 6 percent</a:t>
            </a:r>
            <a:r>
              <a:rPr lang="en-US" dirty="0"/>
              <a:t>. </a:t>
            </a:r>
            <a:r>
              <a:rPr lang="en-US" u="sng" dirty="0"/>
              <a:t>High motivation and engagement</a:t>
            </a:r>
            <a:r>
              <a:rPr lang="en-US" dirty="0"/>
              <a:t> that comes with organizational commitment are essential to the success of knowledge-based organizations that depend on </a:t>
            </a:r>
            <a:r>
              <a:rPr lang="en-US" u="sng" dirty="0"/>
              <a:t>creativity</a:t>
            </a:r>
            <a:r>
              <a:rPr lang="en-US" dirty="0"/>
              <a:t>.</a:t>
            </a:r>
          </a:p>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9</a:t>
            </a:fld>
            <a:endParaRPr lang="en-US"/>
          </a:p>
        </p:txBody>
      </p:sp>
    </p:spTree>
    <p:extLst>
      <p:ext uri="{BB962C8B-B14F-4D97-AF65-F5344CB8AC3E}">
        <p14:creationId xmlns:p14="http://schemas.microsoft.com/office/powerpoint/2010/main" val="4124981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97601639-2E29-4FE7-B166-AA38A58AA2E9}" type="slidenum">
              <a:rPr lang="en-US" sz="1300" b="0">
                <a:latin typeface="Times New Roman" pitchFamily="18" charset="0"/>
              </a:rPr>
              <a:pPr eaLnBrk="1" hangingPunct="1"/>
              <a:t>10</a:t>
            </a:fld>
            <a:endParaRPr lang="en-US" sz="1300" b="0">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3B577A1E-6B15-4D1E-B147-E672F4266EC1}" type="slidenum">
              <a:rPr lang="en-US" sz="1300" b="0">
                <a:latin typeface="Times New Roman" pitchFamily="18" charset="0"/>
              </a:rPr>
              <a:pPr eaLnBrk="1" hangingPunct="1"/>
              <a:t>11</a:t>
            </a:fld>
            <a:endParaRPr lang="en-US" sz="1300" b="0">
              <a:latin typeface="Times New Roman"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p>
        </p:txBody>
      </p:sp>
      <p:sp>
        <p:nvSpPr>
          <p:cNvPr id="4" name="Slide Number Placeholder 3"/>
          <p:cNvSpPr>
            <a:spLocks noGrp="1"/>
          </p:cNvSpPr>
          <p:nvPr>
            <p:ph type="sldNum" sz="quarter" idx="5"/>
          </p:nvPr>
        </p:nvSpPr>
        <p:spPr/>
        <p:txBody>
          <a:bodyPr/>
          <a:lstStyle/>
          <a:p>
            <a:pPr>
              <a:defRPr/>
            </a:pPr>
            <a:fld id="{AF448973-C8AD-43E1-A8A6-763C530F1DC6}" type="slidenum">
              <a:rPr lang="en-US" smtClean="0"/>
              <a:pPr>
                <a:defRPr/>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13</a:t>
            </a:fld>
            <a:endParaRPr lang="en-US"/>
          </a:p>
        </p:txBody>
      </p:sp>
    </p:spTree>
    <p:extLst>
      <p:ext uri="{BB962C8B-B14F-4D97-AF65-F5344CB8AC3E}">
        <p14:creationId xmlns:p14="http://schemas.microsoft.com/office/powerpoint/2010/main" val="4254275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14</a:t>
            </a:fld>
            <a:endParaRPr lang="en-US"/>
          </a:p>
        </p:txBody>
      </p:sp>
    </p:spTree>
    <p:extLst>
      <p:ext uri="{BB962C8B-B14F-4D97-AF65-F5344CB8AC3E}">
        <p14:creationId xmlns:p14="http://schemas.microsoft.com/office/powerpoint/2010/main" val="770756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FA7A9FF2-F75D-4D2A-855C-8D194F8D700C}" type="slidenum">
              <a:rPr lang="en-US" sz="1300" b="0">
                <a:latin typeface="Times New Roman" pitchFamily="18" charset="0"/>
              </a:rPr>
              <a:pPr eaLnBrk="1" hangingPunct="1"/>
              <a:t>15</a:t>
            </a:fld>
            <a:endParaRPr lang="en-US" sz="1300" b="0">
              <a:latin typeface="Times New Roman"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24FAEE01-11D8-4071-8DDF-B5DE6F000274}" type="slidenum">
              <a:rPr lang="en-US" sz="1300" b="0">
                <a:latin typeface="Times New Roman" pitchFamily="18" charset="0"/>
              </a:rPr>
              <a:pPr eaLnBrk="1" hangingPunct="1"/>
              <a:t>16</a:t>
            </a:fld>
            <a:endParaRPr lang="en-US" sz="1300" b="0">
              <a:latin typeface="Times New Roman"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FB3D2771-2669-403F-9A98-4F2099D28152}" type="slidenum">
              <a:rPr lang="en-US" sz="1300" b="0">
                <a:latin typeface="Times New Roman" pitchFamily="18" charset="0"/>
              </a:rPr>
              <a:pPr eaLnBrk="1" hangingPunct="1"/>
              <a:t>17</a:t>
            </a:fld>
            <a:endParaRPr lang="en-US" sz="1300" b="0">
              <a:latin typeface="Times New Roman"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Satisfied employees who feel fairly treated by and are trusting of the organization are more willing to engage in behaviors that go beyond the normal expectations of their job.</a:t>
            </a:r>
          </a:p>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000" b="1">
                <a:solidFill>
                  <a:schemeClr val="tx1"/>
                </a:solidFill>
                <a:latin typeface="Arial" charset="0"/>
              </a:defRPr>
            </a:lvl1pPr>
            <a:lvl2pPr marL="788493" indent="-303266" defTabSz="967083" eaLnBrk="0" hangingPunct="0">
              <a:defRPr sz="1000" b="1">
                <a:solidFill>
                  <a:schemeClr val="tx1"/>
                </a:solidFill>
                <a:latin typeface="Arial" charset="0"/>
              </a:defRPr>
            </a:lvl2pPr>
            <a:lvl3pPr marL="1213066" indent="-242613" defTabSz="967083" eaLnBrk="0" hangingPunct="0">
              <a:defRPr sz="1000" b="1">
                <a:solidFill>
                  <a:schemeClr val="tx1"/>
                </a:solidFill>
                <a:latin typeface="Arial" charset="0"/>
              </a:defRPr>
            </a:lvl3pPr>
            <a:lvl4pPr marL="1698292" indent="-242613" defTabSz="967083" eaLnBrk="0" hangingPunct="0">
              <a:defRPr sz="1000" b="1">
                <a:solidFill>
                  <a:schemeClr val="tx1"/>
                </a:solidFill>
                <a:latin typeface="Arial" charset="0"/>
              </a:defRPr>
            </a:lvl4pPr>
            <a:lvl5pPr marL="2183519" indent="-242613" defTabSz="967083" eaLnBrk="0" hangingPunct="0">
              <a:defRPr sz="1000" b="1">
                <a:solidFill>
                  <a:schemeClr val="tx1"/>
                </a:solidFill>
                <a:latin typeface="Arial" charset="0"/>
              </a:defRPr>
            </a:lvl5pPr>
            <a:lvl6pPr marL="2668745" indent="-242613" defTabSz="967083" eaLnBrk="0" fontAlgn="base" hangingPunct="0">
              <a:spcBef>
                <a:spcPct val="0"/>
              </a:spcBef>
              <a:spcAft>
                <a:spcPct val="0"/>
              </a:spcAft>
              <a:defRPr sz="1000" b="1">
                <a:solidFill>
                  <a:schemeClr val="tx1"/>
                </a:solidFill>
                <a:latin typeface="Arial" charset="0"/>
              </a:defRPr>
            </a:lvl6pPr>
            <a:lvl7pPr marL="3153971" indent="-242613" defTabSz="967083" eaLnBrk="0" fontAlgn="base" hangingPunct="0">
              <a:spcBef>
                <a:spcPct val="0"/>
              </a:spcBef>
              <a:spcAft>
                <a:spcPct val="0"/>
              </a:spcAft>
              <a:defRPr sz="1000" b="1">
                <a:solidFill>
                  <a:schemeClr val="tx1"/>
                </a:solidFill>
                <a:latin typeface="Arial" charset="0"/>
              </a:defRPr>
            </a:lvl7pPr>
            <a:lvl8pPr marL="3639198" indent="-242613" defTabSz="967083" eaLnBrk="0" fontAlgn="base" hangingPunct="0">
              <a:spcBef>
                <a:spcPct val="0"/>
              </a:spcBef>
              <a:spcAft>
                <a:spcPct val="0"/>
              </a:spcAft>
              <a:defRPr sz="1000" b="1">
                <a:solidFill>
                  <a:schemeClr val="tx1"/>
                </a:solidFill>
                <a:latin typeface="Arial" charset="0"/>
              </a:defRPr>
            </a:lvl8pPr>
            <a:lvl9pPr marL="4124424" indent="-242613" defTabSz="967083" eaLnBrk="0" fontAlgn="base" hangingPunct="0">
              <a:spcBef>
                <a:spcPct val="0"/>
              </a:spcBef>
              <a:spcAft>
                <a:spcPct val="0"/>
              </a:spcAft>
              <a:defRPr sz="1000" b="1">
                <a:solidFill>
                  <a:schemeClr val="tx1"/>
                </a:solidFill>
                <a:latin typeface="Arial" charset="0"/>
              </a:defRPr>
            </a:lvl9pPr>
          </a:lstStyle>
          <a:p>
            <a:pPr eaLnBrk="1" hangingPunct="1"/>
            <a:fld id="{C8FDF321-3047-4CF7-89F5-99B676D31FEE}" type="slidenum">
              <a:rPr lang="en-US" sz="1300" b="0">
                <a:latin typeface="Times New Roman" pitchFamily="18" charset="0"/>
              </a:rPr>
              <a:pPr eaLnBrk="1" hangingPunct="1"/>
              <a:t>18</a:t>
            </a:fld>
            <a:endParaRPr lang="en-US" sz="1300" b="0">
              <a:latin typeface="Times New Roman"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hbsp.harvard.edu/search?author=Heather%20Beckham" TargetMode="External"/><Relationship Id="rId3" Type="http://schemas.openxmlformats.org/officeDocument/2006/relationships/hyperlink" Target="https://www.youtube.com/watch?v=8DOR3AnyLOQ" TargetMode="External"/><Relationship Id="rId7" Type="http://schemas.openxmlformats.org/officeDocument/2006/relationships/hyperlink" Target="https://hbsp.harvard.edu/search?author=C.%20Wickham%20Skinner" TargetMode="External"/><Relationship Id="rId2" Type="http://schemas.openxmlformats.org/officeDocument/2006/relationships/hyperlink" Target="https://www.youtube.com/watch?v=qXayH99GbCw" TargetMode="External"/><Relationship Id="rId1" Type="http://schemas.openxmlformats.org/officeDocument/2006/relationships/slideLayout" Target="../slideLayouts/slideLayout2.xml"/><Relationship Id="rId6" Type="http://schemas.openxmlformats.org/officeDocument/2006/relationships/hyperlink" Target="https://hbsp.harvard.edu/search?author=Jagrook%20Dawra" TargetMode="External"/><Relationship Id="rId5" Type="http://schemas.openxmlformats.org/officeDocument/2006/relationships/hyperlink" Target="https://hbsp.harvard.edu/search?author=Kanupriya%20Katyal" TargetMode="External"/><Relationship Id="rId4" Type="http://schemas.openxmlformats.org/officeDocument/2006/relationships/hyperlink" Target="https://study.com/academy/lesson/what-is-employee-satisfaction-examples-factors-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3</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rmAutofit fontScale="90000"/>
          </a:bodyPr>
          <a:lstStyle/>
          <a:p>
            <a:pPr marL="342900" indent="-342900">
              <a:spcBef>
                <a:spcPct val="20000"/>
              </a:spcBef>
            </a:pPr>
            <a:r>
              <a:rPr lang="en-US" dirty="0"/>
              <a:t>Attitudes and Job Satisfaction</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pPr eaLnBrk="1" hangingPunct="1">
              <a:defRPr/>
            </a:pPr>
            <a:r>
              <a:rPr lang="en-GB" dirty="0"/>
              <a:t>Attitude</a:t>
            </a:r>
            <a:endParaRPr lang="en-US" dirty="0"/>
          </a:p>
        </p:txBody>
      </p:sp>
      <p:sp>
        <p:nvSpPr>
          <p:cNvPr id="4099" name="Rectangle 4"/>
          <p:cNvSpPr>
            <a:spLocks noGrp="1" noChangeArrowheads="1"/>
          </p:cNvSpPr>
          <p:nvPr>
            <p:ph sz="quarter" idx="13"/>
          </p:nvPr>
        </p:nvSpPr>
        <p:spPr>
          <a:xfrm>
            <a:off x="609600" y="1352550"/>
            <a:ext cx="6400800" cy="3276600"/>
          </a:xfrm>
          <a:noFill/>
        </p:spPr>
        <p:txBody>
          <a:bodyPr>
            <a:normAutofit fontScale="92500" lnSpcReduction="10000"/>
          </a:bodyPr>
          <a:lstStyle/>
          <a:p>
            <a:pPr eaLnBrk="1" hangingPunct="1"/>
            <a:r>
              <a:rPr lang="en-US" sz="2400" dirty="0"/>
              <a:t>Briefly defined, an “attitude” represents a tendency to respond in a </a:t>
            </a:r>
            <a:r>
              <a:rPr lang="en-US" sz="2400" dirty="0">
                <a:solidFill>
                  <a:srgbClr val="FF0000"/>
                </a:solidFill>
              </a:rPr>
              <a:t>favorable or unfavorable </a:t>
            </a:r>
            <a:r>
              <a:rPr lang="en-US" sz="2400" dirty="0"/>
              <a:t>way to persons or objects in one’s environment.</a:t>
            </a:r>
          </a:p>
          <a:p>
            <a:pPr eaLnBrk="1" hangingPunct="1"/>
            <a:r>
              <a:rPr lang="en-US" sz="2400" dirty="0"/>
              <a:t>For instance, when we say we “like” something or “dislike” something, we are in effect expressing an attitude toward the person or object.</a:t>
            </a:r>
          </a:p>
          <a:p>
            <a:pPr eaLnBrk="1" hangingPunct="1"/>
            <a:r>
              <a:rPr lang="en-US" sz="2400" i="1" dirty="0"/>
              <a:t>Attitude could be defined also as a </a:t>
            </a:r>
            <a:r>
              <a:rPr lang="en-US" sz="2400" b="1" i="1" dirty="0"/>
              <a:t>mental predisposition to act in a particular way towards a person or an object</a:t>
            </a:r>
            <a:r>
              <a:rPr lang="en-US" sz="2400" dirty="0"/>
              <a:t>.</a:t>
            </a:r>
          </a:p>
        </p:txBody>
      </p:sp>
      <p:pic>
        <p:nvPicPr>
          <p:cNvPr id="23554"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75" y="1581150"/>
            <a:ext cx="2524125" cy="2752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294709"/>
      </p:ext>
    </p:extLst>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defRPr/>
            </a:pPr>
            <a:r>
              <a:rPr lang="en-US" dirty="0"/>
              <a:t>Attitudes</a:t>
            </a:r>
          </a:p>
        </p:txBody>
      </p:sp>
      <p:sp>
        <p:nvSpPr>
          <p:cNvPr id="220167" name="Line 7"/>
          <p:cNvSpPr>
            <a:spLocks noChangeShapeType="1"/>
          </p:cNvSpPr>
          <p:nvPr/>
        </p:nvSpPr>
        <p:spPr bwMode="auto">
          <a:xfrm>
            <a:off x="3200400" y="2495550"/>
            <a:ext cx="35814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168" name="Line 8"/>
          <p:cNvSpPr>
            <a:spLocks noChangeShapeType="1"/>
          </p:cNvSpPr>
          <p:nvPr/>
        </p:nvSpPr>
        <p:spPr bwMode="auto">
          <a:xfrm>
            <a:off x="3200400" y="3562350"/>
            <a:ext cx="35814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169" name="Text Box 9"/>
          <p:cNvSpPr txBox="1">
            <a:spLocks noChangeArrowheads="1"/>
          </p:cNvSpPr>
          <p:nvPr/>
        </p:nvSpPr>
        <p:spPr bwMode="auto">
          <a:xfrm>
            <a:off x="152400" y="1340178"/>
            <a:ext cx="2971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marL="342900" indent="-342900" eaLnBrk="1" hangingPunct="1">
              <a:buFont typeface="Wingdings" pitchFamily="2" charset="2"/>
              <a:buChar char="§"/>
            </a:pPr>
            <a:r>
              <a:rPr lang="en-GB" sz="1800" i="1" dirty="0">
                <a:latin typeface="+mn-lt"/>
              </a:rPr>
              <a:t>Attitudes</a:t>
            </a:r>
            <a:r>
              <a:rPr lang="en-GB" sz="1800" b="0" dirty="0">
                <a:latin typeface="+mn-lt"/>
              </a:rPr>
              <a:t> are the </a:t>
            </a:r>
            <a:r>
              <a:rPr lang="en-GB" sz="1800" b="0" u="sng" dirty="0">
                <a:latin typeface="+mn-lt"/>
              </a:rPr>
              <a:t>feelings and beliefs</a:t>
            </a:r>
            <a:r>
              <a:rPr lang="en-GB" sz="1800" b="0" dirty="0">
                <a:latin typeface="+mn-lt"/>
              </a:rPr>
              <a:t> that largely determine how employees will perceive their environment, commit themselves to intend actions and ultimately behave </a:t>
            </a:r>
          </a:p>
          <a:p>
            <a:pPr marL="342900" indent="-342900" eaLnBrk="1" hangingPunct="1">
              <a:buFont typeface="Wingdings" pitchFamily="2" charset="2"/>
              <a:buChar char="§"/>
            </a:pPr>
            <a:r>
              <a:rPr lang="en-GB" sz="1800" b="0" dirty="0">
                <a:latin typeface="+mn-lt"/>
              </a:rPr>
              <a:t>Evaluative</a:t>
            </a:r>
            <a:r>
              <a:rPr lang="en-US" sz="1800" b="0" dirty="0">
                <a:latin typeface="+mn-lt"/>
              </a:rPr>
              <a:t> statements or judgments concerning objects, people, or events.</a:t>
            </a:r>
          </a:p>
          <a:p>
            <a:pPr marL="342900" indent="-342900" eaLnBrk="1" hangingPunct="1">
              <a:buFont typeface="Wingdings" pitchFamily="2" charset="2"/>
              <a:buChar char="§"/>
            </a:pPr>
            <a:r>
              <a:rPr lang="en-US" sz="1800" b="0" dirty="0">
                <a:latin typeface="+mn-lt"/>
              </a:rPr>
              <a:t>Less stable than values</a:t>
            </a:r>
          </a:p>
        </p:txBody>
      </p:sp>
      <p:sp>
        <p:nvSpPr>
          <p:cNvPr id="220170" name="Text Box 10"/>
          <p:cNvSpPr txBox="1">
            <a:spLocks noChangeArrowheads="1"/>
          </p:cNvSpPr>
          <p:nvPr/>
        </p:nvSpPr>
        <p:spPr bwMode="auto">
          <a:xfrm>
            <a:off x="3200400" y="2485132"/>
            <a:ext cx="3581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400" dirty="0">
                <a:latin typeface="+mn-lt"/>
              </a:rPr>
              <a:t>Affective Component</a:t>
            </a:r>
            <a:br>
              <a:rPr lang="en-US" sz="2400" dirty="0">
                <a:latin typeface="+mn-lt"/>
              </a:rPr>
            </a:br>
            <a:r>
              <a:rPr lang="en-US" sz="2000" b="0" dirty="0">
                <a:latin typeface="+mn-lt"/>
              </a:rPr>
              <a:t>The emotional or feeling segment of an attitude.</a:t>
            </a:r>
          </a:p>
        </p:txBody>
      </p:sp>
      <p:sp>
        <p:nvSpPr>
          <p:cNvPr id="220171" name="Text Box 11"/>
          <p:cNvSpPr txBox="1">
            <a:spLocks noChangeArrowheads="1"/>
          </p:cNvSpPr>
          <p:nvPr/>
        </p:nvSpPr>
        <p:spPr bwMode="auto">
          <a:xfrm>
            <a:off x="3200400" y="1418332"/>
            <a:ext cx="3581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400" dirty="0">
                <a:latin typeface="+mn-lt"/>
              </a:rPr>
              <a:t>Cognitive component</a:t>
            </a:r>
            <a:br>
              <a:rPr lang="en-US" sz="2400" dirty="0">
                <a:latin typeface="+mn-lt"/>
              </a:rPr>
            </a:br>
            <a:r>
              <a:rPr lang="en-US" sz="2000" b="0" dirty="0">
                <a:latin typeface="+mn-lt"/>
              </a:rPr>
              <a:t>The opinion or belief segment of an attitude.</a:t>
            </a:r>
          </a:p>
        </p:txBody>
      </p:sp>
      <p:sp>
        <p:nvSpPr>
          <p:cNvPr id="220172" name="Text Box 12"/>
          <p:cNvSpPr txBox="1">
            <a:spLocks noChangeArrowheads="1"/>
          </p:cNvSpPr>
          <p:nvPr/>
        </p:nvSpPr>
        <p:spPr bwMode="auto">
          <a:xfrm>
            <a:off x="3200400" y="3562350"/>
            <a:ext cx="3810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400" dirty="0">
                <a:latin typeface="+mn-lt"/>
              </a:rPr>
              <a:t>Behavioral Component</a:t>
            </a:r>
            <a:br>
              <a:rPr lang="en-US" sz="2400" dirty="0">
                <a:latin typeface="+mn-lt"/>
              </a:rPr>
            </a:br>
            <a:r>
              <a:rPr lang="en-US" sz="2000" b="0" dirty="0">
                <a:latin typeface="+mn-lt"/>
              </a:rPr>
              <a:t>An intention to behave in a certain way toward someone or something.</a:t>
            </a:r>
          </a:p>
        </p:txBody>
      </p:sp>
      <p:sp>
        <p:nvSpPr>
          <p:cNvPr id="220173" name="AutoShape 13"/>
          <p:cNvSpPr>
            <a:spLocks/>
          </p:cNvSpPr>
          <p:nvPr/>
        </p:nvSpPr>
        <p:spPr bwMode="auto">
          <a:xfrm>
            <a:off x="2641948" y="1447800"/>
            <a:ext cx="1066800" cy="3257550"/>
          </a:xfrm>
          <a:prstGeom prst="leftBrace">
            <a:avLst>
              <a:gd name="adj1" fmla="val 0"/>
              <a:gd name="adj2" fmla="val 16188"/>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 name="Rectangle 1">
            <a:extLst>
              <a:ext uri="{FF2B5EF4-FFF2-40B4-BE49-F238E27FC236}">
                <a16:creationId xmlns:a16="http://schemas.microsoft.com/office/drawing/2014/main" id="{8EACE1A4-726A-5E0C-BDD7-D46AB05E217E}"/>
              </a:ext>
            </a:extLst>
          </p:cNvPr>
          <p:cNvSpPr/>
          <p:nvPr/>
        </p:nvSpPr>
        <p:spPr>
          <a:xfrm>
            <a:off x="5664200" y="2256215"/>
            <a:ext cx="3352800" cy="609600"/>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i="1" dirty="0"/>
              <a:t>Example</a:t>
            </a:r>
            <a:r>
              <a:rPr lang="en-GB" sz="1600" dirty="0"/>
              <a:t>: Feeling excited or anxious about AI-driven technologies</a:t>
            </a:r>
            <a:endParaRPr lang="en-PK" sz="1600" dirty="0"/>
          </a:p>
        </p:txBody>
      </p:sp>
      <p:sp>
        <p:nvSpPr>
          <p:cNvPr id="3" name="Rectangle 2">
            <a:extLst>
              <a:ext uri="{FF2B5EF4-FFF2-40B4-BE49-F238E27FC236}">
                <a16:creationId xmlns:a16="http://schemas.microsoft.com/office/drawing/2014/main" id="{F667636C-A5B3-CDCC-90DF-4FE435CD2732}"/>
              </a:ext>
            </a:extLst>
          </p:cNvPr>
          <p:cNvSpPr/>
          <p:nvPr/>
        </p:nvSpPr>
        <p:spPr>
          <a:xfrm>
            <a:off x="5681133" y="1298348"/>
            <a:ext cx="3352800"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Example</a:t>
            </a:r>
            <a:r>
              <a:rPr lang="en-GB" dirty="0"/>
              <a:t>: Believing that "AI can automate complex tasks."</a:t>
            </a:r>
            <a:endParaRPr lang="en-PK" dirty="0"/>
          </a:p>
        </p:txBody>
      </p:sp>
      <p:sp>
        <p:nvSpPr>
          <p:cNvPr id="4" name="Rectangle 3">
            <a:extLst>
              <a:ext uri="{FF2B5EF4-FFF2-40B4-BE49-F238E27FC236}">
                <a16:creationId xmlns:a16="http://schemas.microsoft.com/office/drawing/2014/main" id="{2579D4AB-8F9B-DC31-D3A9-E45B4EF6787D}"/>
              </a:ext>
            </a:extLst>
          </p:cNvPr>
          <p:cNvSpPr/>
          <p:nvPr/>
        </p:nvSpPr>
        <p:spPr>
          <a:xfrm>
            <a:off x="4208281" y="4248150"/>
            <a:ext cx="4825652" cy="95786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dirty="0"/>
              <a:t>Example</a:t>
            </a:r>
            <a:r>
              <a:rPr lang="en-GB" sz="1400" dirty="0"/>
              <a:t>: Choosing to use AI-based tools because you believe they improve efficiency and you feel positively about technological progress</a:t>
            </a:r>
            <a:endParaRPr lang="en-PK" sz="1400" dirty="0"/>
          </a:p>
        </p:txBody>
      </p:sp>
    </p:spTree>
    <p:extLst>
      <p:ext uri="{BB962C8B-B14F-4D97-AF65-F5344CB8AC3E}">
        <p14:creationId xmlns:p14="http://schemas.microsoft.com/office/powerpoint/2010/main" val="3038323857"/>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0169"/>
                                        </p:tgtEl>
                                        <p:attrNameLst>
                                          <p:attrName>style.visibility</p:attrName>
                                        </p:attrNameLst>
                                      </p:cBhvr>
                                      <p:to>
                                        <p:strVal val="visible"/>
                                      </p:to>
                                    </p:set>
                                    <p:animEffect transition="in" filter="fade">
                                      <p:cBhvr>
                                        <p:cTn id="7" dur="1000"/>
                                        <p:tgtEl>
                                          <p:spTgt spid="220169"/>
                                        </p:tgtEl>
                                      </p:cBhvr>
                                    </p:animEffect>
                                    <p:anim calcmode="lin" valueType="num">
                                      <p:cBhvr>
                                        <p:cTn id="8" dur="1000" fill="hold"/>
                                        <p:tgtEl>
                                          <p:spTgt spid="220169"/>
                                        </p:tgtEl>
                                        <p:attrNameLst>
                                          <p:attrName>ppt_x</p:attrName>
                                        </p:attrNameLst>
                                      </p:cBhvr>
                                      <p:tavLst>
                                        <p:tav tm="0">
                                          <p:val>
                                            <p:strVal val="#ppt_x"/>
                                          </p:val>
                                        </p:tav>
                                        <p:tav tm="100000">
                                          <p:val>
                                            <p:strVal val="#ppt_x"/>
                                          </p:val>
                                        </p:tav>
                                      </p:tavLst>
                                    </p:anim>
                                    <p:anim calcmode="lin" valueType="num">
                                      <p:cBhvr>
                                        <p:cTn id="9" dur="1000" fill="hold"/>
                                        <p:tgtEl>
                                          <p:spTgt spid="22016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7" presetClass="entr" presetSubtype="8" fill="hold" grpId="0" nodeType="afterEffect">
                                  <p:stCondLst>
                                    <p:cond delay="0"/>
                                  </p:stCondLst>
                                  <p:childTnLst>
                                    <p:set>
                                      <p:cBhvr>
                                        <p:cTn id="12" dur="1" fill="hold">
                                          <p:stCondLst>
                                            <p:cond delay="0"/>
                                          </p:stCondLst>
                                        </p:cTn>
                                        <p:tgtEl>
                                          <p:spTgt spid="220173"/>
                                        </p:tgtEl>
                                        <p:attrNameLst>
                                          <p:attrName>style.visibility</p:attrName>
                                        </p:attrNameLst>
                                      </p:cBhvr>
                                      <p:to>
                                        <p:strVal val="visible"/>
                                      </p:to>
                                    </p:set>
                                    <p:anim calcmode="lin" valueType="num">
                                      <p:cBhvr>
                                        <p:cTn id="13" dur="500" fill="hold"/>
                                        <p:tgtEl>
                                          <p:spTgt spid="220173"/>
                                        </p:tgtEl>
                                        <p:attrNameLst>
                                          <p:attrName>ppt_x</p:attrName>
                                        </p:attrNameLst>
                                      </p:cBhvr>
                                      <p:tavLst>
                                        <p:tav tm="0">
                                          <p:val>
                                            <p:strVal val="#ppt_x-#ppt_w/2"/>
                                          </p:val>
                                        </p:tav>
                                        <p:tav tm="100000">
                                          <p:val>
                                            <p:strVal val="#ppt_x"/>
                                          </p:val>
                                        </p:tav>
                                      </p:tavLst>
                                    </p:anim>
                                    <p:anim calcmode="lin" valueType="num">
                                      <p:cBhvr>
                                        <p:cTn id="14" dur="500" fill="hold"/>
                                        <p:tgtEl>
                                          <p:spTgt spid="220173"/>
                                        </p:tgtEl>
                                        <p:attrNameLst>
                                          <p:attrName>ppt_y</p:attrName>
                                        </p:attrNameLst>
                                      </p:cBhvr>
                                      <p:tavLst>
                                        <p:tav tm="0">
                                          <p:val>
                                            <p:strVal val="#ppt_y"/>
                                          </p:val>
                                        </p:tav>
                                        <p:tav tm="100000">
                                          <p:val>
                                            <p:strVal val="#ppt_y"/>
                                          </p:val>
                                        </p:tav>
                                      </p:tavLst>
                                    </p:anim>
                                    <p:anim calcmode="lin" valueType="num">
                                      <p:cBhvr>
                                        <p:cTn id="15" dur="500" fill="hold"/>
                                        <p:tgtEl>
                                          <p:spTgt spid="220173"/>
                                        </p:tgtEl>
                                        <p:attrNameLst>
                                          <p:attrName>ppt_w</p:attrName>
                                        </p:attrNameLst>
                                      </p:cBhvr>
                                      <p:tavLst>
                                        <p:tav tm="0">
                                          <p:val>
                                            <p:fltVal val="0"/>
                                          </p:val>
                                        </p:tav>
                                        <p:tav tm="100000">
                                          <p:val>
                                            <p:strVal val="#ppt_w"/>
                                          </p:val>
                                        </p:tav>
                                      </p:tavLst>
                                    </p:anim>
                                    <p:anim calcmode="lin" valueType="num">
                                      <p:cBhvr>
                                        <p:cTn id="16" dur="500" fill="hold"/>
                                        <p:tgtEl>
                                          <p:spTgt spid="220173"/>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nodeType="afterGroup">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220171"/>
                                        </p:tgtEl>
                                        <p:attrNameLst>
                                          <p:attrName>style.visibility</p:attrName>
                                        </p:attrNameLst>
                                      </p:cBhvr>
                                      <p:to>
                                        <p:strVal val="visible"/>
                                      </p:to>
                                    </p:set>
                                    <p:animEffect transition="in" filter="wheel(1)">
                                      <p:cBhvr>
                                        <p:cTn id="21" dur="2000"/>
                                        <p:tgtEl>
                                          <p:spTgt spid="220171"/>
                                        </p:tgtEl>
                                      </p:cBhvr>
                                    </p:animEffect>
                                  </p:childTnLst>
                                </p:cTn>
                              </p:par>
                            </p:childTnLst>
                          </p:cTn>
                        </p:par>
                        <p:par>
                          <p:cTn id="22" fill="hold">
                            <p:stCondLst>
                              <p:cond delay="2000"/>
                            </p:stCondLst>
                            <p:childTnLst>
                              <p:par>
                                <p:cTn id="23" presetID="17" presetClass="entr" presetSubtype="10" fill="hold" grpId="0" nodeType="afterEffect">
                                  <p:stCondLst>
                                    <p:cond delay="0"/>
                                  </p:stCondLst>
                                  <p:childTnLst>
                                    <p:set>
                                      <p:cBhvr>
                                        <p:cTn id="24" dur="1" fill="hold">
                                          <p:stCondLst>
                                            <p:cond delay="0"/>
                                          </p:stCondLst>
                                        </p:cTn>
                                        <p:tgtEl>
                                          <p:spTgt spid="220167"/>
                                        </p:tgtEl>
                                        <p:attrNameLst>
                                          <p:attrName>style.visibility</p:attrName>
                                        </p:attrNameLst>
                                      </p:cBhvr>
                                      <p:to>
                                        <p:strVal val="visible"/>
                                      </p:to>
                                    </p:set>
                                    <p:anim calcmode="lin" valueType="num">
                                      <p:cBhvr>
                                        <p:cTn id="25" dur="500" fill="hold"/>
                                        <p:tgtEl>
                                          <p:spTgt spid="220167"/>
                                        </p:tgtEl>
                                        <p:attrNameLst>
                                          <p:attrName>ppt_w</p:attrName>
                                        </p:attrNameLst>
                                      </p:cBhvr>
                                      <p:tavLst>
                                        <p:tav tm="0">
                                          <p:val>
                                            <p:fltVal val="0"/>
                                          </p:val>
                                        </p:tav>
                                        <p:tav tm="100000">
                                          <p:val>
                                            <p:strVal val="#ppt_w"/>
                                          </p:val>
                                        </p:tav>
                                      </p:tavLst>
                                    </p:anim>
                                    <p:anim calcmode="lin" valueType="num">
                                      <p:cBhvr>
                                        <p:cTn id="26" dur="500" fill="hold"/>
                                        <p:tgtEl>
                                          <p:spTgt spid="220167"/>
                                        </p:tgtEl>
                                        <p:attrNameLst>
                                          <p:attrName>ppt_h</p:attrName>
                                        </p:attrNameLst>
                                      </p:cBhvr>
                                      <p:tavLst>
                                        <p:tav tm="0">
                                          <p:val>
                                            <p:strVal val="#ppt_h"/>
                                          </p:val>
                                        </p:tav>
                                        <p:tav tm="100000">
                                          <p:val>
                                            <p:strVal val="#ppt_h"/>
                                          </p:val>
                                        </p:tav>
                                      </p:tavLst>
                                    </p:anim>
                                  </p:childTnLst>
                                </p:cTn>
                              </p:par>
                              <p:par>
                                <p:cTn id="27" presetID="21" presetClass="entr" presetSubtype="1" fill="hold" grpId="0" nodeType="withEffect">
                                  <p:stCondLst>
                                    <p:cond delay="0"/>
                                  </p:stCondLst>
                                  <p:childTnLst>
                                    <p:set>
                                      <p:cBhvr>
                                        <p:cTn id="28" dur="1" fill="hold">
                                          <p:stCondLst>
                                            <p:cond delay="0"/>
                                          </p:stCondLst>
                                        </p:cTn>
                                        <p:tgtEl>
                                          <p:spTgt spid="220170"/>
                                        </p:tgtEl>
                                        <p:attrNameLst>
                                          <p:attrName>style.visibility</p:attrName>
                                        </p:attrNameLst>
                                      </p:cBhvr>
                                      <p:to>
                                        <p:strVal val="visible"/>
                                      </p:to>
                                    </p:set>
                                    <p:animEffect transition="in" filter="wheel(1)">
                                      <p:cBhvr>
                                        <p:cTn id="29" dur="2000"/>
                                        <p:tgtEl>
                                          <p:spTgt spid="220170"/>
                                        </p:tgtEl>
                                      </p:cBhvr>
                                    </p:animEffect>
                                  </p:childTnLst>
                                </p:cTn>
                              </p:par>
                            </p:childTnLst>
                          </p:cTn>
                        </p:par>
                        <p:par>
                          <p:cTn id="30" fill="hold">
                            <p:stCondLst>
                              <p:cond delay="4000"/>
                            </p:stCondLst>
                            <p:childTnLst>
                              <p:par>
                                <p:cTn id="31" presetID="17" presetClass="entr" presetSubtype="10" fill="hold" grpId="0" nodeType="afterEffect">
                                  <p:stCondLst>
                                    <p:cond delay="0"/>
                                  </p:stCondLst>
                                  <p:childTnLst>
                                    <p:set>
                                      <p:cBhvr>
                                        <p:cTn id="32" dur="1" fill="hold">
                                          <p:stCondLst>
                                            <p:cond delay="0"/>
                                          </p:stCondLst>
                                        </p:cTn>
                                        <p:tgtEl>
                                          <p:spTgt spid="220168"/>
                                        </p:tgtEl>
                                        <p:attrNameLst>
                                          <p:attrName>style.visibility</p:attrName>
                                        </p:attrNameLst>
                                      </p:cBhvr>
                                      <p:to>
                                        <p:strVal val="visible"/>
                                      </p:to>
                                    </p:set>
                                    <p:anim calcmode="lin" valueType="num">
                                      <p:cBhvr>
                                        <p:cTn id="33" dur="500" fill="hold"/>
                                        <p:tgtEl>
                                          <p:spTgt spid="220168"/>
                                        </p:tgtEl>
                                        <p:attrNameLst>
                                          <p:attrName>ppt_w</p:attrName>
                                        </p:attrNameLst>
                                      </p:cBhvr>
                                      <p:tavLst>
                                        <p:tav tm="0">
                                          <p:val>
                                            <p:fltVal val="0"/>
                                          </p:val>
                                        </p:tav>
                                        <p:tav tm="100000">
                                          <p:val>
                                            <p:strVal val="#ppt_w"/>
                                          </p:val>
                                        </p:tav>
                                      </p:tavLst>
                                    </p:anim>
                                    <p:anim calcmode="lin" valueType="num">
                                      <p:cBhvr>
                                        <p:cTn id="34" dur="500" fill="hold"/>
                                        <p:tgtEl>
                                          <p:spTgt spid="220168"/>
                                        </p:tgtEl>
                                        <p:attrNameLst>
                                          <p:attrName>ppt_h</p:attrName>
                                        </p:attrNameLst>
                                      </p:cBhvr>
                                      <p:tavLst>
                                        <p:tav tm="0">
                                          <p:val>
                                            <p:strVal val="#ppt_h"/>
                                          </p:val>
                                        </p:tav>
                                        <p:tav tm="100000">
                                          <p:val>
                                            <p:strVal val="#ppt_h"/>
                                          </p:val>
                                        </p:tav>
                                      </p:tavLst>
                                    </p:anim>
                                  </p:childTnLst>
                                </p:cTn>
                              </p:par>
                              <p:par>
                                <p:cTn id="35" presetID="21" presetClass="entr" presetSubtype="1" fill="hold" grpId="0" nodeType="withEffect">
                                  <p:stCondLst>
                                    <p:cond delay="0"/>
                                  </p:stCondLst>
                                  <p:childTnLst>
                                    <p:set>
                                      <p:cBhvr>
                                        <p:cTn id="36" dur="1" fill="hold">
                                          <p:stCondLst>
                                            <p:cond delay="0"/>
                                          </p:stCondLst>
                                        </p:cTn>
                                        <p:tgtEl>
                                          <p:spTgt spid="220172"/>
                                        </p:tgtEl>
                                        <p:attrNameLst>
                                          <p:attrName>style.visibility</p:attrName>
                                        </p:attrNameLst>
                                      </p:cBhvr>
                                      <p:to>
                                        <p:strVal val="visible"/>
                                      </p:to>
                                    </p:set>
                                    <p:animEffect transition="in" filter="wheel(1)">
                                      <p:cBhvr>
                                        <p:cTn id="37" dur="2000"/>
                                        <p:tgtEl>
                                          <p:spTgt spid="220172"/>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heel(1)">
                                      <p:cBhvr>
                                        <p:cTn id="42" dur="2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anim calcmode="lin" valueType="num">
                                      <p:cBhvr>
                                        <p:cTn id="48" dur="1000" fill="hold"/>
                                        <p:tgtEl>
                                          <p:spTgt spid="2"/>
                                        </p:tgtEl>
                                        <p:attrNameLst>
                                          <p:attrName>ppt_x</p:attrName>
                                        </p:attrNameLst>
                                      </p:cBhvr>
                                      <p:tavLst>
                                        <p:tav tm="0">
                                          <p:val>
                                            <p:strVal val="#ppt_x"/>
                                          </p:val>
                                        </p:tav>
                                        <p:tav tm="100000">
                                          <p:val>
                                            <p:strVal val="#ppt_x"/>
                                          </p:val>
                                        </p:tav>
                                      </p:tavLst>
                                    </p:anim>
                                    <p:anim calcmode="lin" valueType="num">
                                      <p:cBhvr>
                                        <p:cTn id="4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circle(in)">
                                      <p:cBhvr>
                                        <p:cTn id="5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7" grpId="0" animBg="1"/>
      <p:bldP spid="220168" grpId="0" animBg="1"/>
      <p:bldP spid="220169" grpId="0"/>
      <p:bldP spid="220170" grpId="0"/>
      <p:bldP spid="220171" grpId="0"/>
      <p:bldP spid="220172" grpId="0"/>
      <p:bldP spid="220173" grpId="0" animBg="1"/>
      <p:bldP spid="2" grpId="0" animBg="1"/>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480F-7BFF-85E1-D7B3-CF47C97341CB}"/>
              </a:ext>
            </a:extLst>
          </p:cNvPr>
          <p:cNvSpPr>
            <a:spLocks noGrp="1"/>
          </p:cNvSpPr>
          <p:nvPr>
            <p:ph type="title"/>
          </p:nvPr>
        </p:nvSpPr>
        <p:spPr>
          <a:xfrm>
            <a:off x="76200" y="117667"/>
            <a:ext cx="8153400" cy="1005840"/>
          </a:xfrm>
        </p:spPr>
        <p:txBody>
          <a:bodyPr>
            <a:normAutofit fontScale="90000"/>
          </a:bodyPr>
          <a:lstStyle/>
          <a:p>
            <a:r>
              <a:rPr lang="en-GB" dirty="0"/>
              <a:t>Combining all three components together</a:t>
            </a:r>
            <a:endParaRPr lang="en-PK" dirty="0"/>
          </a:p>
        </p:txBody>
      </p:sp>
      <p:sp>
        <p:nvSpPr>
          <p:cNvPr id="3" name="Slide Number Placeholder 2">
            <a:extLst>
              <a:ext uri="{FF2B5EF4-FFF2-40B4-BE49-F238E27FC236}">
                <a16:creationId xmlns:a16="http://schemas.microsoft.com/office/drawing/2014/main" id="{ABF10213-2FFB-7391-AAC5-6D4A2080AAD2}"/>
              </a:ext>
            </a:extLst>
          </p:cNvPr>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4</a:t>
            </a:fld>
            <a:endParaRPr lang="en-US" dirty="0">
              <a:solidFill>
                <a:srgbClr val="FFFFFF"/>
              </a:solidFill>
            </a:endParaRPr>
          </a:p>
        </p:txBody>
      </p:sp>
      <p:sp>
        <p:nvSpPr>
          <p:cNvPr id="5" name="TextBox 4">
            <a:extLst>
              <a:ext uri="{FF2B5EF4-FFF2-40B4-BE49-F238E27FC236}">
                <a16:creationId xmlns:a16="http://schemas.microsoft.com/office/drawing/2014/main" id="{037177FE-45E6-8FB4-BAE6-963F7D917848}"/>
              </a:ext>
            </a:extLst>
          </p:cNvPr>
          <p:cNvSpPr txBox="1"/>
          <p:nvPr/>
        </p:nvSpPr>
        <p:spPr>
          <a:xfrm>
            <a:off x="838200" y="1696703"/>
            <a:ext cx="7391400" cy="1477328"/>
          </a:xfrm>
          <a:prstGeom prst="rect">
            <a:avLst/>
          </a:prstGeom>
          <a:solidFill>
            <a:schemeClr val="accent3">
              <a:lumMod val="20000"/>
              <a:lumOff val="80000"/>
            </a:schemeClr>
          </a:solidFill>
        </p:spPr>
        <p:txBody>
          <a:bodyPr wrap="square">
            <a:spAutoFit/>
          </a:bodyPr>
          <a:lstStyle/>
          <a:p>
            <a:r>
              <a:rPr lang="en-GB" dirty="0"/>
              <a:t>These three components together create a comprehensive attitude toward something, and they are often interdependent. </a:t>
            </a:r>
          </a:p>
          <a:p>
            <a:endParaRPr lang="en-GB" dirty="0"/>
          </a:p>
          <a:p>
            <a:r>
              <a:rPr lang="en-GB" dirty="0"/>
              <a:t>For example, positive thoughts about a product (</a:t>
            </a:r>
            <a:r>
              <a:rPr lang="en-GB" b="1" dirty="0"/>
              <a:t>cognitive</a:t>
            </a:r>
            <a:r>
              <a:rPr lang="en-GB" dirty="0"/>
              <a:t>) may generate positive feelings (</a:t>
            </a:r>
            <a:r>
              <a:rPr lang="en-GB" b="1" dirty="0"/>
              <a:t>affective</a:t>
            </a:r>
            <a:r>
              <a:rPr lang="en-GB" dirty="0"/>
              <a:t>) and lead to purchasing </a:t>
            </a:r>
            <a:r>
              <a:rPr lang="en-GB" dirty="0" err="1"/>
              <a:t>behavior</a:t>
            </a:r>
            <a:r>
              <a:rPr lang="en-GB" dirty="0"/>
              <a:t> (</a:t>
            </a:r>
            <a:r>
              <a:rPr lang="en-GB" b="1" dirty="0" err="1"/>
              <a:t>behavioral</a:t>
            </a:r>
            <a:r>
              <a:rPr lang="en-GB" dirty="0"/>
              <a:t>).</a:t>
            </a:r>
            <a:endParaRPr lang="en-PK" dirty="0"/>
          </a:p>
        </p:txBody>
      </p:sp>
    </p:spTree>
    <p:extLst>
      <p:ext uri="{BB962C8B-B14F-4D97-AF65-F5344CB8AC3E}">
        <p14:creationId xmlns:p14="http://schemas.microsoft.com/office/powerpoint/2010/main" val="2698028923"/>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4310"/>
            <a:ext cx="8153400" cy="1005840"/>
          </a:xfrm>
        </p:spPr>
        <p:txBody>
          <a:bodyPr>
            <a:noAutofit/>
          </a:bodyPr>
          <a:lstStyle/>
          <a:p>
            <a:pPr eaLnBrk="1" hangingPunct="1">
              <a:defRPr/>
            </a:pPr>
            <a:r>
              <a:rPr lang="en-US" sz="4000" dirty="0"/>
              <a:t>Some issues that matter in the study of attitudes</a:t>
            </a:r>
          </a:p>
        </p:txBody>
      </p:sp>
      <p:sp>
        <p:nvSpPr>
          <p:cNvPr id="5123" name="Content Placeholder 2"/>
          <p:cNvSpPr>
            <a:spLocks noGrp="1"/>
          </p:cNvSpPr>
          <p:nvPr>
            <p:ph sz="quarter" idx="13"/>
          </p:nvPr>
        </p:nvSpPr>
        <p:spPr/>
        <p:txBody>
          <a:bodyPr>
            <a:normAutofit/>
          </a:bodyPr>
          <a:lstStyle/>
          <a:p>
            <a:pPr eaLnBrk="1" hangingPunct="1"/>
            <a:r>
              <a:rPr lang="en-US" sz="2400" dirty="0"/>
              <a:t>What are the main components of attitude?</a:t>
            </a:r>
          </a:p>
          <a:p>
            <a:pPr eaLnBrk="1" hangingPunct="1"/>
            <a:r>
              <a:rPr lang="en-US" sz="2400" dirty="0"/>
              <a:t>How consistent are attitudes?</a:t>
            </a:r>
          </a:p>
          <a:p>
            <a:pPr eaLnBrk="1" hangingPunct="1"/>
            <a:r>
              <a:rPr lang="en-US" sz="2400" dirty="0"/>
              <a:t>Does behavior always follow from attitudes?</a:t>
            </a:r>
          </a:p>
          <a:p>
            <a:pPr eaLnBrk="1" hangingPunct="1"/>
            <a:r>
              <a:rPr lang="en-US" sz="2400" dirty="0"/>
              <a:t>What are the main job attitudes?</a:t>
            </a:r>
          </a:p>
          <a:p>
            <a:pPr eaLnBrk="1" hangingPunct="1"/>
            <a:r>
              <a:rPr lang="en-US" sz="2400" dirty="0"/>
              <a:t>How are employees' attitudes measured?</a:t>
            </a:r>
          </a:p>
          <a:p>
            <a:pPr eaLnBrk="1" hangingPunct="1"/>
            <a:r>
              <a:rPr lang="en-US" sz="2400" dirty="0"/>
              <a:t>What are the importance of attitudes to workplace diversity?</a:t>
            </a:r>
            <a:endParaRPr lang="en-US" dirty="0"/>
          </a:p>
          <a:p>
            <a:pPr eaLnBrk="1" hangingPunct="1"/>
            <a:endParaRPr lang="en-US" dirty="0"/>
          </a:p>
        </p:txBody>
      </p:sp>
    </p:spTree>
    <p:extLst>
      <p:ext uri="{BB962C8B-B14F-4D97-AF65-F5344CB8AC3E}">
        <p14:creationId xmlns:p14="http://schemas.microsoft.com/office/powerpoint/2010/main" val="3248099530"/>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How consistent are attitudes</a:t>
            </a:r>
          </a:p>
        </p:txBody>
      </p:sp>
      <p:sp>
        <p:nvSpPr>
          <p:cNvPr id="8195" name="Content Placeholder 2"/>
          <p:cNvSpPr>
            <a:spLocks noGrp="1"/>
          </p:cNvSpPr>
          <p:nvPr>
            <p:ph sz="quarter" idx="13"/>
          </p:nvPr>
        </p:nvSpPr>
        <p:spPr/>
        <p:txBody>
          <a:bodyPr>
            <a:normAutofit lnSpcReduction="10000"/>
          </a:bodyPr>
          <a:lstStyle/>
          <a:p>
            <a:r>
              <a:rPr lang="en-US" dirty="0"/>
              <a:t>People change their attitudes although attitudes are relatively stable mental predispositions. </a:t>
            </a:r>
          </a:p>
          <a:p>
            <a:r>
              <a:rPr lang="en-US" dirty="0"/>
              <a:t>Sometimes, attitudes change even very quickly as if it does not have any stability.</a:t>
            </a:r>
          </a:p>
          <a:p>
            <a:pPr>
              <a:buFont typeface="Wingdings" pitchFamily="2" charset="2"/>
              <a:buNone/>
            </a:pPr>
            <a:endParaRPr lang="en-US" dirty="0"/>
          </a:p>
          <a:p>
            <a:pPr lvl="1"/>
            <a:r>
              <a:rPr lang="en-US" dirty="0"/>
              <a:t>When there is inconsistency, people seek to return to a level of equilibrium state.</a:t>
            </a:r>
          </a:p>
          <a:p>
            <a:endParaRPr lang="en-US" dirty="0"/>
          </a:p>
          <a:p>
            <a:endParaRPr lang="en-US" dirty="0"/>
          </a:p>
        </p:txBody>
      </p:sp>
    </p:spTree>
    <p:extLst>
      <p:ext uri="{BB962C8B-B14F-4D97-AF65-F5344CB8AC3E}">
        <p14:creationId xmlns:p14="http://schemas.microsoft.com/office/powerpoint/2010/main" val="2712288796"/>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eaLnBrk="1" hangingPunct="1">
              <a:defRPr/>
            </a:pPr>
            <a:r>
              <a:rPr lang="en-US" dirty="0"/>
              <a:t>The Theory of Cognitive Dissonance</a:t>
            </a:r>
          </a:p>
        </p:txBody>
      </p:sp>
      <p:sp>
        <p:nvSpPr>
          <p:cNvPr id="2" name="Content Placeholder 1"/>
          <p:cNvSpPr>
            <a:spLocks noGrp="1"/>
          </p:cNvSpPr>
          <p:nvPr>
            <p:ph sz="quarter" idx="13"/>
          </p:nvPr>
        </p:nvSpPr>
        <p:spPr>
          <a:xfrm>
            <a:off x="609600" y="1352550"/>
            <a:ext cx="5727526" cy="3276600"/>
          </a:xfrm>
        </p:spPr>
        <p:txBody>
          <a:bodyPr>
            <a:normAutofit/>
          </a:bodyPr>
          <a:lstStyle/>
          <a:p>
            <a:pPr marL="0" indent="0">
              <a:spcBef>
                <a:spcPct val="50000"/>
              </a:spcBef>
              <a:buNone/>
            </a:pPr>
            <a:r>
              <a:rPr lang="en-US" sz="2000" b="1" dirty="0"/>
              <a:t>Cognitive Dissonance</a:t>
            </a:r>
          </a:p>
          <a:p>
            <a:pPr>
              <a:spcBef>
                <a:spcPct val="50000"/>
              </a:spcBef>
              <a:buFont typeface="Wingdings" pitchFamily="2" charset="2"/>
              <a:buChar char="q"/>
            </a:pPr>
            <a:r>
              <a:rPr lang="en-US" sz="2000" dirty="0"/>
              <a:t>Any incompatibility between two or more attitudes or between behavior and attitudes. </a:t>
            </a:r>
          </a:p>
          <a:p>
            <a:pPr>
              <a:spcBef>
                <a:spcPct val="50000"/>
              </a:spcBef>
              <a:buFont typeface="Wingdings" pitchFamily="2" charset="2"/>
              <a:buChar char="q"/>
            </a:pPr>
            <a:r>
              <a:rPr lang="en-US" sz="2000" dirty="0"/>
              <a:t>Individuals seek to reduce this gap, or “dissonance” </a:t>
            </a:r>
          </a:p>
        </p:txBody>
      </p:sp>
      <p:sp>
        <p:nvSpPr>
          <p:cNvPr id="256003" name="Text Box 3"/>
          <p:cNvSpPr txBox="1">
            <a:spLocks noChangeArrowheads="1"/>
          </p:cNvSpPr>
          <p:nvPr/>
        </p:nvSpPr>
        <p:spPr bwMode="blackWhite">
          <a:xfrm>
            <a:off x="685800" y="3028950"/>
            <a:ext cx="5486400" cy="1714500"/>
          </a:xfrm>
          <a:prstGeom prst="rect">
            <a:avLst/>
          </a:prstGeom>
          <a:solidFill>
            <a:srgbClr val="CC6600"/>
          </a:solidFill>
          <a:ln w="12700">
            <a:solidFill>
              <a:schemeClr val="tx1"/>
            </a:solidFill>
            <a:miter lim="800000"/>
            <a:headEnd/>
            <a:tailEnd/>
          </a:ln>
          <a:effectLst>
            <a:outerShdw dist="135003" dir="2471156" algn="ctr" rotWithShape="0">
              <a:schemeClr val="folHlink">
                <a:alpha val="50000"/>
              </a:schemeClr>
            </a:outerShdw>
          </a:effectLst>
        </p:spPr>
        <p:txBody>
          <a:bodyPr wrap="none" anchor="ctr"/>
          <a:lstStyle/>
          <a:p>
            <a:pPr marL="284163" indent="-173038">
              <a:lnSpc>
                <a:spcPct val="90000"/>
              </a:lnSpc>
              <a:spcBef>
                <a:spcPct val="50000"/>
              </a:spcBef>
              <a:defRPr/>
            </a:pPr>
            <a:r>
              <a:rPr lang="en-US" sz="2400" dirty="0">
                <a:solidFill>
                  <a:srgbClr val="FFFFCC"/>
                </a:solidFill>
              </a:rPr>
              <a:t>Desire to reduce dissonance depends on </a:t>
            </a:r>
          </a:p>
          <a:p>
            <a:pPr marL="284163" indent="-173038">
              <a:lnSpc>
                <a:spcPct val="90000"/>
              </a:lnSpc>
              <a:spcBef>
                <a:spcPct val="50000"/>
              </a:spcBef>
              <a:buFontTx/>
              <a:buChar char="•"/>
              <a:defRPr/>
            </a:pPr>
            <a:r>
              <a:rPr lang="en-US" sz="2000" b="1" u="sng" dirty="0">
                <a:solidFill>
                  <a:schemeClr val="bg1"/>
                </a:solidFill>
              </a:rPr>
              <a:t>Importance</a:t>
            </a:r>
            <a:r>
              <a:rPr lang="en-US" sz="2000" dirty="0">
                <a:solidFill>
                  <a:schemeClr val="bg1"/>
                </a:solidFill>
              </a:rPr>
              <a:t> of elements creating dissonance</a:t>
            </a:r>
          </a:p>
          <a:p>
            <a:pPr marL="284163" indent="-173038">
              <a:lnSpc>
                <a:spcPct val="90000"/>
              </a:lnSpc>
              <a:spcBef>
                <a:spcPct val="50000"/>
              </a:spcBef>
              <a:buFontTx/>
              <a:buChar char="•"/>
              <a:defRPr/>
            </a:pPr>
            <a:r>
              <a:rPr lang="en-US" sz="2000" dirty="0">
                <a:solidFill>
                  <a:schemeClr val="bg1"/>
                </a:solidFill>
              </a:rPr>
              <a:t>Degree of individual </a:t>
            </a:r>
            <a:r>
              <a:rPr lang="en-US" sz="2000" b="1" u="sng" dirty="0">
                <a:solidFill>
                  <a:schemeClr val="bg1"/>
                </a:solidFill>
              </a:rPr>
              <a:t>influence</a:t>
            </a:r>
            <a:r>
              <a:rPr lang="en-US" sz="2000" dirty="0">
                <a:solidFill>
                  <a:schemeClr val="bg1"/>
                </a:solidFill>
              </a:rPr>
              <a:t> over elements</a:t>
            </a:r>
          </a:p>
          <a:p>
            <a:pPr marL="284163" indent="-173038">
              <a:lnSpc>
                <a:spcPct val="90000"/>
              </a:lnSpc>
              <a:spcBef>
                <a:spcPct val="50000"/>
              </a:spcBef>
              <a:buFontTx/>
              <a:buChar char="•"/>
              <a:defRPr/>
            </a:pPr>
            <a:r>
              <a:rPr lang="en-US" sz="2000" b="1" u="sng" dirty="0">
                <a:solidFill>
                  <a:schemeClr val="bg1"/>
                </a:solidFill>
              </a:rPr>
              <a:t>Rewards</a:t>
            </a:r>
            <a:r>
              <a:rPr lang="en-US" sz="2000" dirty="0">
                <a:solidFill>
                  <a:schemeClr val="bg1"/>
                </a:solidFill>
              </a:rPr>
              <a:t> involved in dissonance</a:t>
            </a:r>
          </a:p>
        </p:txBody>
      </p:sp>
      <p:pic>
        <p:nvPicPr>
          <p:cNvPr id="1026" name="Picture 2" descr="Image result for cognitive disson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7126" y="1338980"/>
            <a:ext cx="2743200" cy="3270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384395"/>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slide(fromTop)">
                                      <p:cBhvr>
                                        <p:cTn id="7" dur="500"/>
                                        <p:tgtEl>
                                          <p:spTgt spid="256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normAutofit/>
          </a:bodyPr>
          <a:lstStyle/>
          <a:p>
            <a:pPr>
              <a:defRPr/>
            </a:pPr>
            <a:r>
              <a:rPr lang="en-US" dirty="0"/>
              <a:t>Types of Work Attitudes</a:t>
            </a:r>
          </a:p>
        </p:txBody>
      </p:sp>
      <p:sp>
        <p:nvSpPr>
          <p:cNvPr id="258051" name="Line 3"/>
          <p:cNvSpPr>
            <a:spLocks noChangeShapeType="1"/>
          </p:cNvSpPr>
          <p:nvPr/>
        </p:nvSpPr>
        <p:spPr bwMode="auto">
          <a:xfrm>
            <a:off x="762000" y="3497488"/>
            <a:ext cx="73914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052" name="Text Box 4"/>
          <p:cNvSpPr txBox="1">
            <a:spLocks noChangeArrowheads="1"/>
          </p:cNvSpPr>
          <p:nvPr/>
        </p:nvSpPr>
        <p:spPr bwMode="auto">
          <a:xfrm>
            <a:off x="762000" y="2297159"/>
            <a:ext cx="7696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Job Involvement</a:t>
            </a:r>
            <a:br>
              <a:rPr lang="en-US" sz="2000" dirty="0">
                <a:latin typeface="+mn-lt"/>
              </a:rPr>
            </a:br>
            <a:r>
              <a:rPr lang="en-US" sz="2000" b="0" dirty="0">
                <a:latin typeface="+mn-lt"/>
              </a:rPr>
              <a:t>Identifying with the job, actively participating in it, and considering performance important to self-worth.</a:t>
            </a:r>
          </a:p>
        </p:txBody>
      </p:sp>
      <p:sp>
        <p:nvSpPr>
          <p:cNvPr id="258053" name="Text Box 5"/>
          <p:cNvSpPr txBox="1">
            <a:spLocks noChangeArrowheads="1"/>
          </p:cNvSpPr>
          <p:nvPr/>
        </p:nvSpPr>
        <p:spPr bwMode="auto">
          <a:xfrm>
            <a:off x="762000" y="3498271"/>
            <a:ext cx="7543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Organizational Commitment</a:t>
            </a:r>
            <a:br>
              <a:rPr lang="en-US" sz="2000" dirty="0">
                <a:latin typeface="+mn-lt"/>
              </a:rPr>
            </a:br>
            <a:r>
              <a:rPr lang="en-US" sz="2000" b="0" dirty="0">
                <a:latin typeface="+mn-lt"/>
              </a:rPr>
              <a:t>Identifying with a particular organization and its goals, and wishing to maintain membership in the organization (Affective, Normative, and Continuance Commitment)</a:t>
            </a:r>
          </a:p>
        </p:txBody>
      </p:sp>
      <p:sp>
        <p:nvSpPr>
          <p:cNvPr id="258054" name="Text Box 6"/>
          <p:cNvSpPr txBox="1">
            <a:spLocks noChangeArrowheads="1"/>
          </p:cNvSpPr>
          <p:nvPr/>
        </p:nvSpPr>
        <p:spPr bwMode="auto">
          <a:xfrm>
            <a:off x="762000" y="1275505"/>
            <a:ext cx="77724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Job Satisfaction</a:t>
            </a:r>
            <a:br>
              <a:rPr lang="en-US" sz="2000" dirty="0">
                <a:latin typeface="+mn-lt"/>
              </a:rPr>
            </a:br>
            <a:r>
              <a:rPr lang="en-US" sz="2000" b="0" dirty="0">
                <a:latin typeface="+mn-lt"/>
              </a:rPr>
              <a:t>A collection of positive feelings that an individual holds toward his or her job. </a:t>
            </a:r>
          </a:p>
        </p:txBody>
      </p:sp>
      <p:sp>
        <p:nvSpPr>
          <p:cNvPr id="258055" name="Line 7"/>
          <p:cNvSpPr>
            <a:spLocks noChangeShapeType="1"/>
          </p:cNvSpPr>
          <p:nvPr/>
        </p:nvSpPr>
        <p:spPr bwMode="auto">
          <a:xfrm>
            <a:off x="762000" y="2297159"/>
            <a:ext cx="73914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59510233"/>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8054"/>
                                        </p:tgtEl>
                                        <p:attrNameLst>
                                          <p:attrName>style.visibility</p:attrName>
                                        </p:attrNameLst>
                                      </p:cBhvr>
                                      <p:to>
                                        <p:strVal val="visible"/>
                                      </p:to>
                                    </p:set>
                                    <p:animEffect transition="in" filter="wipe(up)">
                                      <p:cBhvr>
                                        <p:cTn id="7" dur="500"/>
                                        <p:tgtEl>
                                          <p:spTgt spid="258054"/>
                                        </p:tgtEl>
                                      </p:cBhvr>
                                    </p:animEffect>
                                  </p:childTnLst>
                                </p:cTn>
                              </p:par>
                            </p:childTnLst>
                          </p:cTn>
                        </p:par>
                        <p:par>
                          <p:cTn id="8" fill="hold" nodeType="afterGroup">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258055"/>
                                        </p:tgtEl>
                                        <p:attrNameLst>
                                          <p:attrName>style.visibility</p:attrName>
                                        </p:attrNameLst>
                                      </p:cBhvr>
                                      <p:to>
                                        <p:strVal val="visible"/>
                                      </p:to>
                                    </p:set>
                                    <p:anim calcmode="lin" valueType="num">
                                      <p:cBhvr>
                                        <p:cTn id="11" dur="500" fill="hold"/>
                                        <p:tgtEl>
                                          <p:spTgt spid="258055"/>
                                        </p:tgtEl>
                                        <p:attrNameLst>
                                          <p:attrName>ppt_w</p:attrName>
                                        </p:attrNameLst>
                                      </p:cBhvr>
                                      <p:tavLst>
                                        <p:tav tm="0">
                                          <p:val>
                                            <p:fltVal val="0"/>
                                          </p:val>
                                        </p:tav>
                                        <p:tav tm="100000">
                                          <p:val>
                                            <p:strVal val="#ppt_w"/>
                                          </p:val>
                                        </p:tav>
                                      </p:tavLst>
                                    </p:anim>
                                    <p:anim calcmode="lin" valueType="num">
                                      <p:cBhvr>
                                        <p:cTn id="12" dur="500" fill="hold"/>
                                        <p:tgtEl>
                                          <p:spTgt spid="258055"/>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8052"/>
                                        </p:tgtEl>
                                        <p:attrNameLst>
                                          <p:attrName>style.visibility</p:attrName>
                                        </p:attrNameLst>
                                      </p:cBhvr>
                                      <p:to>
                                        <p:strVal val="visible"/>
                                      </p:to>
                                    </p:set>
                                    <p:animEffect transition="in" filter="wipe(up)">
                                      <p:cBhvr>
                                        <p:cTn id="17" dur="500"/>
                                        <p:tgtEl>
                                          <p:spTgt spid="258052"/>
                                        </p:tgtEl>
                                      </p:cBhvr>
                                    </p:animEffect>
                                  </p:childTnLst>
                                </p:cTn>
                              </p:par>
                            </p:childTnLst>
                          </p:cTn>
                        </p:par>
                        <p:par>
                          <p:cTn id="18" fill="hold" nodeType="afterGroup">
                            <p:stCondLst>
                              <p:cond delay="500"/>
                            </p:stCondLst>
                            <p:childTnLst>
                              <p:par>
                                <p:cTn id="19" presetID="17" presetClass="entr" presetSubtype="10" fill="hold" grpId="0" nodeType="afterEffect">
                                  <p:stCondLst>
                                    <p:cond delay="0"/>
                                  </p:stCondLst>
                                  <p:childTnLst>
                                    <p:set>
                                      <p:cBhvr>
                                        <p:cTn id="20" dur="1" fill="hold">
                                          <p:stCondLst>
                                            <p:cond delay="0"/>
                                          </p:stCondLst>
                                        </p:cTn>
                                        <p:tgtEl>
                                          <p:spTgt spid="258051"/>
                                        </p:tgtEl>
                                        <p:attrNameLst>
                                          <p:attrName>style.visibility</p:attrName>
                                        </p:attrNameLst>
                                      </p:cBhvr>
                                      <p:to>
                                        <p:strVal val="visible"/>
                                      </p:to>
                                    </p:set>
                                    <p:anim calcmode="lin" valueType="num">
                                      <p:cBhvr>
                                        <p:cTn id="21" dur="500" fill="hold"/>
                                        <p:tgtEl>
                                          <p:spTgt spid="258051"/>
                                        </p:tgtEl>
                                        <p:attrNameLst>
                                          <p:attrName>ppt_w</p:attrName>
                                        </p:attrNameLst>
                                      </p:cBhvr>
                                      <p:tavLst>
                                        <p:tav tm="0">
                                          <p:val>
                                            <p:fltVal val="0"/>
                                          </p:val>
                                        </p:tav>
                                        <p:tav tm="100000">
                                          <p:val>
                                            <p:strVal val="#ppt_w"/>
                                          </p:val>
                                        </p:tav>
                                      </p:tavLst>
                                    </p:anim>
                                    <p:anim calcmode="lin" valueType="num">
                                      <p:cBhvr>
                                        <p:cTn id="22" dur="500" fill="hold"/>
                                        <p:tgtEl>
                                          <p:spTgt spid="258051"/>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8053"/>
                                        </p:tgtEl>
                                        <p:attrNameLst>
                                          <p:attrName>style.visibility</p:attrName>
                                        </p:attrNameLst>
                                      </p:cBhvr>
                                      <p:to>
                                        <p:strVal val="visible"/>
                                      </p:to>
                                    </p:set>
                                    <p:animEffect transition="in" filter="wipe(up)">
                                      <p:cBhvr>
                                        <p:cTn id="27" dur="500"/>
                                        <p:tgtEl>
                                          <p:spTgt spid="258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animBg="1"/>
      <p:bldP spid="258052" grpId="0" autoUpdateAnimBg="0"/>
      <p:bldP spid="258053" grpId="0" autoUpdateAnimBg="0"/>
      <p:bldP spid="258054" grpId="0" autoUpdateAnimBg="0"/>
      <p:bldP spid="2580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Work Attitudes (Cont.)</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9</a:t>
            </a:fld>
            <a:endParaRPr lang="en-US"/>
          </a:p>
        </p:txBody>
      </p:sp>
      <p:sp>
        <p:nvSpPr>
          <p:cNvPr id="4" name="Content Placeholder 3"/>
          <p:cNvSpPr>
            <a:spLocks noGrp="1"/>
          </p:cNvSpPr>
          <p:nvPr>
            <p:ph sz="quarter" idx="13"/>
          </p:nvPr>
        </p:nvSpPr>
        <p:spPr/>
        <p:txBody>
          <a:bodyPr>
            <a:normAutofit/>
          </a:bodyPr>
          <a:lstStyle/>
          <a:p>
            <a:pPr>
              <a:spcBef>
                <a:spcPct val="50000"/>
              </a:spcBef>
            </a:pPr>
            <a:r>
              <a:rPr lang="en-US" sz="2400" b="1" dirty="0"/>
              <a:t>Perceived Organizational Support (POS) </a:t>
            </a:r>
          </a:p>
          <a:p>
            <a:pPr marL="338138" indent="-338138">
              <a:spcBef>
                <a:spcPct val="50000"/>
              </a:spcBef>
              <a:buNone/>
            </a:pPr>
            <a:r>
              <a:rPr lang="en-US" sz="2400" dirty="0"/>
              <a:t>	Degree to which employees feel the organization cares about their well-being.</a:t>
            </a:r>
          </a:p>
          <a:p>
            <a:pPr>
              <a:spcBef>
                <a:spcPct val="50000"/>
              </a:spcBef>
            </a:pPr>
            <a:r>
              <a:rPr lang="en-US" sz="2400" b="1" dirty="0"/>
              <a:t>Employee Engagement </a:t>
            </a:r>
          </a:p>
          <a:p>
            <a:pPr marL="338138" indent="0">
              <a:spcBef>
                <a:spcPct val="50000"/>
              </a:spcBef>
              <a:buNone/>
            </a:pPr>
            <a:r>
              <a:rPr lang="en-US" sz="2400" dirty="0"/>
              <a:t>An individual’s involvement with, satisfaction with, and enthusiasm for the organization. </a:t>
            </a:r>
          </a:p>
          <a:p>
            <a:endParaRPr lang="en-US" dirty="0"/>
          </a:p>
        </p:txBody>
      </p:sp>
      <p:sp>
        <p:nvSpPr>
          <p:cNvPr id="5" name="Line 7"/>
          <p:cNvSpPr>
            <a:spLocks noChangeShapeType="1"/>
          </p:cNvSpPr>
          <p:nvPr/>
        </p:nvSpPr>
        <p:spPr bwMode="auto">
          <a:xfrm>
            <a:off x="762000" y="2800350"/>
            <a:ext cx="77724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5202676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defRPr/>
            </a:pPr>
            <a:r>
              <a:rPr lang="en-US"/>
              <a:t>Job Satisfaction</a:t>
            </a:r>
          </a:p>
        </p:txBody>
      </p:sp>
      <p:sp>
        <p:nvSpPr>
          <p:cNvPr id="11268" name="Rectangle 3"/>
          <p:cNvSpPr>
            <a:spLocks noGrp="1" noChangeArrowheads="1"/>
          </p:cNvSpPr>
          <p:nvPr>
            <p:ph sz="quarter" idx="13"/>
          </p:nvPr>
        </p:nvSpPr>
        <p:spPr>
          <a:xfrm>
            <a:off x="609600" y="1352550"/>
            <a:ext cx="7772400" cy="3276600"/>
          </a:xfrm>
        </p:spPr>
        <p:txBody>
          <a:bodyPr>
            <a:normAutofit lnSpcReduction="10000"/>
          </a:bodyPr>
          <a:lstStyle/>
          <a:p>
            <a:r>
              <a:rPr lang="en-US" sz="2000" dirty="0"/>
              <a:t>A positive feeling about a job resulting from an evaluation of its characteristics—is clearly broad.</a:t>
            </a:r>
          </a:p>
          <a:p>
            <a:pPr eaLnBrk="1" hangingPunct="1"/>
            <a:r>
              <a:rPr lang="en-US" sz="2000" b="1" dirty="0"/>
              <a:t>Measuring Job Satisfaction</a:t>
            </a:r>
          </a:p>
          <a:p>
            <a:pPr lvl="1" eaLnBrk="1" hangingPunct="1"/>
            <a:r>
              <a:rPr lang="en-US" sz="2000" dirty="0"/>
              <a:t>Single global rating</a:t>
            </a:r>
          </a:p>
          <a:p>
            <a:pPr lvl="1" eaLnBrk="1" hangingPunct="1"/>
            <a:r>
              <a:rPr lang="en-US" sz="2000" dirty="0"/>
              <a:t>Summation score</a:t>
            </a:r>
          </a:p>
          <a:p>
            <a:pPr eaLnBrk="1" hangingPunct="1"/>
            <a:r>
              <a:rPr lang="en-US" sz="2000" b="1" dirty="0"/>
              <a:t>How Satisfied Are People in Their Jobs?</a:t>
            </a:r>
          </a:p>
          <a:p>
            <a:pPr lvl="1" eaLnBrk="1" hangingPunct="1"/>
            <a:r>
              <a:rPr lang="en-US" sz="2000" dirty="0"/>
              <a:t>In general, people are satisfied with their jobs. </a:t>
            </a:r>
          </a:p>
          <a:p>
            <a:pPr lvl="1" eaLnBrk="1" hangingPunct="1"/>
            <a:r>
              <a:rPr lang="en-US" sz="2000" dirty="0"/>
              <a:t>Depends on factors of satisfaction—tend to be less satisfied with pay and promotion opportunities. </a:t>
            </a:r>
          </a:p>
        </p:txBody>
      </p:sp>
      <p:pic>
        <p:nvPicPr>
          <p:cNvPr id="11269" name="Picture 4" descr="BD20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708" y="22048"/>
            <a:ext cx="1919092" cy="1120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t="4526" b="6576"/>
          <a:stretch/>
        </p:blipFill>
        <p:spPr bwMode="auto">
          <a:xfrm>
            <a:off x="5308947" y="1721024"/>
            <a:ext cx="3771487"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289563"/>
      </p:ext>
    </p:extLst>
  </p:cSld>
  <p:clrMapOvr>
    <a:masterClrMapping/>
  </p:clrMapOvr>
  <p:transition spd="med">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3"/>
          <p:cNvSpPr>
            <a:spLocks noGrp="1" noChangeArrowheads="1"/>
          </p:cNvSpPr>
          <p:nvPr>
            <p:ph type="title"/>
          </p:nvPr>
        </p:nvSpPr>
        <p:spPr/>
        <p:txBody>
          <a:bodyPr/>
          <a:lstStyle/>
          <a:p>
            <a:pPr eaLnBrk="1" hangingPunct="1">
              <a:defRPr/>
            </a:pPr>
            <a:r>
              <a:rPr lang="en-US"/>
              <a:t>An Application: Attitude Surveys</a:t>
            </a:r>
          </a:p>
        </p:txBody>
      </p:sp>
      <p:pic>
        <p:nvPicPr>
          <p:cNvPr id="7172" name="Picture 4" descr="pe0312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5692" y="2800350"/>
            <a:ext cx="424348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5"/>
          <p:cNvSpPr txBox="1">
            <a:spLocks noChangeArrowheads="1"/>
          </p:cNvSpPr>
          <p:nvPr/>
        </p:nvSpPr>
        <p:spPr bwMode="auto">
          <a:xfrm>
            <a:off x="609600" y="1350824"/>
            <a:ext cx="807720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200" dirty="0">
                <a:latin typeface="+mn-lt"/>
              </a:rPr>
              <a:t>Attitude Surveys</a:t>
            </a:r>
          </a:p>
          <a:p>
            <a:pPr eaLnBrk="1" hangingPunct="1">
              <a:spcBef>
                <a:spcPct val="50000"/>
              </a:spcBef>
            </a:pPr>
            <a:r>
              <a:rPr lang="en-US" sz="2200" b="0" dirty="0">
                <a:latin typeface="+mn-lt"/>
              </a:rPr>
              <a:t>Producing responses from employees through questionnaires about how they feel about their jobs, work groups, supervisors, and the organization.</a:t>
            </a:r>
          </a:p>
        </p:txBody>
      </p:sp>
    </p:spTree>
    <p:extLst>
      <p:ext uri="{BB962C8B-B14F-4D97-AF65-F5344CB8AC3E}">
        <p14:creationId xmlns:p14="http://schemas.microsoft.com/office/powerpoint/2010/main" val="1958967678"/>
      </p:ext>
    </p:extLst>
  </p:cSld>
  <p:clrMapOvr>
    <a:masterClrMapping/>
  </p:clrMapOvr>
  <p:transition spd="med">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Rate Your Job Satisfaction</a:t>
            </a:r>
          </a:p>
        </p:txBody>
      </p:sp>
      <p:sp>
        <p:nvSpPr>
          <p:cNvPr id="2" name="Content Placeholder 1"/>
          <p:cNvSpPr>
            <a:spLocks noGrp="1"/>
          </p:cNvSpPr>
          <p:nvPr>
            <p:ph sz="quarter" idx="13"/>
          </p:nvPr>
        </p:nvSpPr>
        <p:spPr/>
        <p:txBody>
          <a:bodyPr/>
          <a:lstStyle/>
          <a:p>
            <a:endParaRPr lang="en-GB"/>
          </a:p>
        </p:txBody>
      </p:sp>
      <p:pic>
        <p:nvPicPr>
          <p:cNvPr id="1024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1525"/>
          <a:stretch/>
        </p:blipFill>
        <p:spPr bwMode="auto">
          <a:xfrm>
            <a:off x="533400" y="1276350"/>
            <a:ext cx="8531667"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8685997"/>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13</a:t>
            </a:fld>
            <a:endParaRPr lang="en-US" dirty="0">
              <a:solidFill>
                <a:schemeClr val="tx2"/>
              </a:solidFill>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8767" t="24341" r="11781" b="14016"/>
          <a:stretch/>
        </p:blipFill>
        <p:spPr>
          <a:xfrm>
            <a:off x="762000" y="285750"/>
            <a:ext cx="7320019" cy="4267200"/>
          </a:xfrm>
          <a:prstGeom prst="rect">
            <a:avLst/>
          </a:prstGeom>
        </p:spPr>
      </p:pic>
    </p:spTree>
    <p:extLst>
      <p:ext uri="{BB962C8B-B14F-4D97-AF65-F5344CB8AC3E}">
        <p14:creationId xmlns:p14="http://schemas.microsoft.com/office/powerpoint/2010/main" val="4071730272"/>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14</a:t>
            </a:fld>
            <a:endParaRPr lang="en-US" dirty="0">
              <a:solidFill>
                <a:schemeClr val="tx2"/>
              </a:solidFill>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35341" t="17762" r="13288" b="14016"/>
          <a:stretch/>
        </p:blipFill>
        <p:spPr>
          <a:xfrm>
            <a:off x="76200" y="13309"/>
            <a:ext cx="4140859" cy="3091841"/>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38083" t="15326" r="10684" b="25224"/>
          <a:stretch/>
        </p:blipFill>
        <p:spPr>
          <a:xfrm>
            <a:off x="4217059" y="2004724"/>
            <a:ext cx="4811075" cy="3138776"/>
          </a:xfrm>
          <a:prstGeom prst="rect">
            <a:avLst/>
          </a:prstGeom>
        </p:spPr>
      </p:pic>
    </p:spTree>
    <p:extLst>
      <p:ext uri="{BB962C8B-B14F-4D97-AF65-F5344CB8AC3E}">
        <p14:creationId xmlns:p14="http://schemas.microsoft.com/office/powerpoint/2010/main" val="1418006688"/>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normAutofit fontScale="90000"/>
          </a:bodyPr>
          <a:lstStyle/>
          <a:p>
            <a:r>
              <a:rPr lang="en-US" dirty="0"/>
              <a:t>The Impact of Satisfied and Dissatisfied</a:t>
            </a:r>
            <a:br>
              <a:rPr lang="en-US" dirty="0"/>
            </a:br>
            <a:r>
              <a:rPr lang="en-US" dirty="0"/>
              <a:t>Employees on the Workplace</a:t>
            </a:r>
          </a:p>
        </p:txBody>
      </p:sp>
      <p:sp>
        <p:nvSpPr>
          <p:cNvPr id="230407" name="Line 7"/>
          <p:cNvSpPr>
            <a:spLocks noChangeShapeType="1"/>
          </p:cNvSpPr>
          <p:nvPr/>
        </p:nvSpPr>
        <p:spPr bwMode="auto">
          <a:xfrm>
            <a:off x="685800" y="2647950"/>
            <a:ext cx="35052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408" name="Line 8"/>
          <p:cNvSpPr>
            <a:spLocks noChangeShapeType="1"/>
          </p:cNvSpPr>
          <p:nvPr/>
        </p:nvSpPr>
        <p:spPr bwMode="auto">
          <a:xfrm>
            <a:off x="4876800" y="2647950"/>
            <a:ext cx="35052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409" name="Text Box 9"/>
          <p:cNvSpPr txBox="1">
            <a:spLocks noChangeArrowheads="1"/>
          </p:cNvSpPr>
          <p:nvPr/>
        </p:nvSpPr>
        <p:spPr bwMode="auto">
          <a:xfrm>
            <a:off x="4800600" y="1428750"/>
            <a:ext cx="38100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Exit</a:t>
            </a:r>
          </a:p>
          <a:p>
            <a:pPr eaLnBrk="1" hangingPunct="1">
              <a:spcBef>
                <a:spcPct val="50000"/>
              </a:spcBef>
            </a:pPr>
            <a:r>
              <a:rPr lang="en-US" sz="2000" b="0" dirty="0">
                <a:latin typeface="+mn-lt"/>
              </a:rPr>
              <a:t>Behavior directed toward leaving the organization.</a:t>
            </a:r>
          </a:p>
        </p:txBody>
      </p:sp>
      <p:sp>
        <p:nvSpPr>
          <p:cNvPr id="230410" name="Text Box 10"/>
          <p:cNvSpPr txBox="1">
            <a:spLocks noChangeArrowheads="1"/>
          </p:cNvSpPr>
          <p:nvPr/>
        </p:nvSpPr>
        <p:spPr bwMode="auto">
          <a:xfrm>
            <a:off x="609600" y="1365467"/>
            <a:ext cx="3581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Voice</a:t>
            </a:r>
          </a:p>
          <a:p>
            <a:pPr eaLnBrk="1" hangingPunct="1">
              <a:spcBef>
                <a:spcPct val="50000"/>
              </a:spcBef>
            </a:pPr>
            <a:r>
              <a:rPr lang="en-US" sz="2000" b="0" dirty="0">
                <a:latin typeface="+mn-lt"/>
              </a:rPr>
              <a:t>Active and constructive attempts to improve conditions.</a:t>
            </a:r>
          </a:p>
        </p:txBody>
      </p:sp>
      <p:sp>
        <p:nvSpPr>
          <p:cNvPr id="230411" name="Text Box 11"/>
          <p:cNvSpPr txBox="1">
            <a:spLocks noChangeArrowheads="1"/>
          </p:cNvSpPr>
          <p:nvPr/>
        </p:nvSpPr>
        <p:spPr bwMode="auto">
          <a:xfrm>
            <a:off x="4876800" y="2724150"/>
            <a:ext cx="3352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Neglect</a:t>
            </a:r>
          </a:p>
          <a:p>
            <a:pPr eaLnBrk="1" hangingPunct="1">
              <a:spcBef>
                <a:spcPct val="50000"/>
              </a:spcBef>
            </a:pPr>
            <a:r>
              <a:rPr lang="en-US" sz="2000" b="0" dirty="0">
                <a:latin typeface="+mn-lt"/>
              </a:rPr>
              <a:t>Allowing conditions to worsen.</a:t>
            </a:r>
          </a:p>
        </p:txBody>
      </p:sp>
      <p:sp>
        <p:nvSpPr>
          <p:cNvPr id="230412" name="Text Box 12"/>
          <p:cNvSpPr txBox="1">
            <a:spLocks noChangeArrowheads="1"/>
          </p:cNvSpPr>
          <p:nvPr/>
        </p:nvSpPr>
        <p:spPr bwMode="auto">
          <a:xfrm>
            <a:off x="685800" y="2724150"/>
            <a:ext cx="36576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900" b="1">
                <a:solidFill>
                  <a:schemeClr val="tx1"/>
                </a:solidFill>
                <a:latin typeface="Arial" charset="0"/>
              </a:defRPr>
            </a:lvl1pPr>
            <a:lvl2pPr marL="742950" indent="-285750" eaLnBrk="0" hangingPunct="0">
              <a:defRPr sz="900" b="1">
                <a:solidFill>
                  <a:schemeClr val="tx1"/>
                </a:solidFill>
                <a:latin typeface="Arial" charset="0"/>
              </a:defRPr>
            </a:lvl2pPr>
            <a:lvl3pPr marL="1143000" indent="-228600" eaLnBrk="0" hangingPunct="0">
              <a:defRPr sz="900" b="1">
                <a:solidFill>
                  <a:schemeClr val="tx1"/>
                </a:solidFill>
                <a:latin typeface="Arial" charset="0"/>
              </a:defRPr>
            </a:lvl3pPr>
            <a:lvl4pPr marL="1600200" indent="-228600" eaLnBrk="0" hangingPunct="0">
              <a:defRPr sz="900" b="1">
                <a:solidFill>
                  <a:schemeClr val="tx1"/>
                </a:solidFill>
                <a:latin typeface="Arial" charset="0"/>
              </a:defRPr>
            </a:lvl4pPr>
            <a:lvl5pPr marL="2057400" indent="-228600" eaLnBrk="0" hangingPunct="0">
              <a:defRPr sz="900" b="1">
                <a:solidFill>
                  <a:schemeClr val="tx1"/>
                </a:solidFill>
                <a:latin typeface="Arial" charset="0"/>
              </a:defRPr>
            </a:lvl5pPr>
            <a:lvl6pPr marL="2514600" indent="-228600" eaLnBrk="0" fontAlgn="base" hangingPunct="0">
              <a:spcBef>
                <a:spcPct val="0"/>
              </a:spcBef>
              <a:spcAft>
                <a:spcPct val="0"/>
              </a:spcAft>
              <a:defRPr sz="900" b="1">
                <a:solidFill>
                  <a:schemeClr val="tx1"/>
                </a:solidFill>
                <a:latin typeface="Arial" charset="0"/>
              </a:defRPr>
            </a:lvl6pPr>
            <a:lvl7pPr marL="2971800" indent="-228600" eaLnBrk="0" fontAlgn="base" hangingPunct="0">
              <a:spcBef>
                <a:spcPct val="0"/>
              </a:spcBef>
              <a:spcAft>
                <a:spcPct val="0"/>
              </a:spcAft>
              <a:defRPr sz="900" b="1">
                <a:solidFill>
                  <a:schemeClr val="tx1"/>
                </a:solidFill>
                <a:latin typeface="Arial" charset="0"/>
              </a:defRPr>
            </a:lvl7pPr>
            <a:lvl8pPr marL="3429000" indent="-228600" eaLnBrk="0" fontAlgn="base" hangingPunct="0">
              <a:spcBef>
                <a:spcPct val="0"/>
              </a:spcBef>
              <a:spcAft>
                <a:spcPct val="0"/>
              </a:spcAft>
              <a:defRPr sz="900" b="1">
                <a:solidFill>
                  <a:schemeClr val="tx1"/>
                </a:solidFill>
                <a:latin typeface="Arial" charset="0"/>
              </a:defRPr>
            </a:lvl8pPr>
            <a:lvl9pPr marL="3886200" indent="-228600" eaLnBrk="0" fontAlgn="base" hangingPunct="0">
              <a:spcBef>
                <a:spcPct val="0"/>
              </a:spcBef>
              <a:spcAft>
                <a:spcPct val="0"/>
              </a:spcAft>
              <a:defRPr sz="900" b="1">
                <a:solidFill>
                  <a:schemeClr val="tx1"/>
                </a:solidFill>
                <a:latin typeface="Arial" charset="0"/>
              </a:defRPr>
            </a:lvl9pPr>
          </a:lstStyle>
          <a:p>
            <a:pPr eaLnBrk="1" hangingPunct="1">
              <a:spcBef>
                <a:spcPct val="50000"/>
              </a:spcBef>
            </a:pPr>
            <a:r>
              <a:rPr lang="en-US" sz="2000" dirty="0">
                <a:latin typeface="+mn-lt"/>
              </a:rPr>
              <a:t>Loyalty</a:t>
            </a:r>
          </a:p>
          <a:p>
            <a:pPr eaLnBrk="1" hangingPunct="1">
              <a:spcBef>
                <a:spcPct val="50000"/>
              </a:spcBef>
            </a:pPr>
            <a:r>
              <a:rPr lang="en-US" sz="2000" b="0" dirty="0">
                <a:latin typeface="+mn-lt"/>
              </a:rPr>
              <a:t>Passively waiting for conditions to improve.</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46713" t="30188" r="20822" b="22056"/>
          <a:stretch/>
        </p:blipFill>
        <p:spPr>
          <a:xfrm>
            <a:off x="3360058" y="3529310"/>
            <a:ext cx="1966683" cy="1626455"/>
          </a:xfrm>
          <a:prstGeom prst="rect">
            <a:avLst/>
          </a:prstGeom>
        </p:spPr>
      </p:pic>
    </p:spTree>
    <p:extLst>
      <p:ext uri="{BB962C8B-B14F-4D97-AF65-F5344CB8AC3E}">
        <p14:creationId xmlns:p14="http://schemas.microsoft.com/office/powerpoint/2010/main" val="3843022248"/>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0407"/>
                                        </p:tgtEl>
                                        <p:attrNameLst>
                                          <p:attrName>style.visibility</p:attrName>
                                        </p:attrNameLst>
                                      </p:cBhvr>
                                      <p:to>
                                        <p:strVal val="visible"/>
                                      </p:to>
                                    </p:set>
                                    <p:anim calcmode="lin" valueType="num">
                                      <p:cBhvr>
                                        <p:cTn id="7" dur="500" fill="hold"/>
                                        <p:tgtEl>
                                          <p:spTgt spid="230407"/>
                                        </p:tgtEl>
                                        <p:attrNameLst>
                                          <p:attrName>ppt_w</p:attrName>
                                        </p:attrNameLst>
                                      </p:cBhvr>
                                      <p:tavLst>
                                        <p:tav tm="0">
                                          <p:val>
                                            <p:fltVal val="0"/>
                                          </p:val>
                                        </p:tav>
                                        <p:tav tm="100000">
                                          <p:val>
                                            <p:strVal val="#ppt_w"/>
                                          </p:val>
                                        </p:tav>
                                      </p:tavLst>
                                    </p:anim>
                                    <p:anim calcmode="lin" valueType="num">
                                      <p:cBhvr>
                                        <p:cTn id="8" dur="500" fill="hold"/>
                                        <p:tgtEl>
                                          <p:spTgt spid="230407"/>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230409"/>
                                        </p:tgtEl>
                                        <p:attrNameLst>
                                          <p:attrName>style.visibility</p:attrName>
                                        </p:attrNameLst>
                                      </p:cBhvr>
                                      <p:to>
                                        <p:strVal val="visible"/>
                                      </p:to>
                                    </p:set>
                                    <p:animEffect transition="in" filter="wipe(down)">
                                      <p:cBhvr>
                                        <p:cTn id="12" dur="500"/>
                                        <p:tgtEl>
                                          <p:spTgt spid="23040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30412"/>
                                        </p:tgtEl>
                                        <p:attrNameLst>
                                          <p:attrName>style.visibility</p:attrName>
                                        </p:attrNameLst>
                                      </p:cBhvr>
                                      <p:to>
                                        <p:strVal val="visible"/>
                                      </p:to>
                                    </p:set>
                                    <p:animEffect transition="in" filter="wipe(up)">
                                      <p:cBhvr>
                                        <p:cTn id="15" dur="500"/>
                                        <p:tgtEl>
                                          <p:spTgt spid="230412"/>
                                        </p:tgtEl>
                                      </p:cBhvr>
                                    </p:animEffect>
                                  </p:childTnLst>
                                </p:cTn>
                              </p:par>
                            </p:childTnLst>
                          </p:cTn>
                        </p:par>
                        <p:par>
                          <p:cTn id="16" fill="hold" nodeType="afterGroup">
                            <p:stCondLst>
                              <p:cond delay="1000"/>
                            </p:stCondLst>
                            <p:childTnLst>
                              <p:par>
                                <p:cTn id="17" presetID="17" presetClass="entr" presetSubtype="10" fill="hold" grpId="0" nodeType="afterEffect">
                                  <p:stCondLst>
                                    <p:cond delay="0"/>
                                  </p:stCondLst>
                                  <p:childTnLst>
                                    <p:set>
                                      <p:cBhvr>
                                        <p:cTn id="18" dur="1" fill="hold">
                                          <p:stCondLst>
                                            <p:cond delay="0"/>
                                          </p:stCondLst>
                                        </p:cTn>
                                        <p:tgtEl>
                                          <p:spTgt spid="230408"/>
                                        </p:tgtEl>
                                        <p:attrNameLst>
                                          <p:attrName>style.visibility</p:attrName>
                                        </p:attrNameLst>
                                      </p:cBhvr>
                                      <p:to>
                                        <p:strVal val="visible"/>
                                      </p:to>
                                    </p:set>
                                    <p:anim calcmode="lin" valueType="num">
                                      <p:cBhvr>
                                        <p:cTn id="19" dur="500" fill="hold"/>
                                        <p:tgtEl>
                                          <p:spTgt spid="230408"/>
                                        </p:tgtEl>
                                        <p:attrNameLst>
                                          <p:attrName>ppt_w</p:attrName>
                                        </p:attrNameLst>
                                      </p:cBhvr>
                                      <p:tavLst>
                                        <p:tav tm="0">
                                          <p:val>
                                            <p:fltVal val="0"/>
                                          </p:val>
                                        </p:tav>
                                        <p:tav tm="100000">
                                          <p:val>
                                            <p:strVal val="#ppt_w"/>
                                          </p:val>
                                        </p:tav>
                                      </p:tavLst>
                                    </p:anim>
                                    <p:anim calcmode="lin" valueType="num">
                                      <p:cBhvr>
                                        <p:cTn id="20" dur="500" fill="hold"/>
                                        <p:tgtEl>
                                          <p:spTgt spid="230408"/>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230410"/>
                                        </p:tgtEl>
                                        <p:attrNameLst>
                                          <p:attrName>style.visibility</p:attrName>
                                        </p:attrNameLst>
                                      </p:cBhvr>
                                      <p:to>
                                        <p:strVal val="visible"/>
                                      </p:to>
                                    </p:set>
                                    <p:animEffect transition="in" filter="wipe(down)">
                                      <p:cBhvr>
                                        <p:cTn id="24" dur="500"/>
                                        <p:tgtEl>
                                          <p:spTgt spid="230410"/>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30411"/>
                                        </p:tgtEl>
                                        <p:attrNameLst>
                                          <p:attrName>style.visibility</p:attrName>
                                        </p:attrNameLst>
                                      </p:cBhvr>
                                      <p:to>
                                        <p:strVal val="visible"/>
                                      </p:to>
                                    </p:set>
                                    <p:animEffect transition="in" filter="wipe(up)">
                                      <p:cBhvr>
                                        <p:cTn id="27" dur="500"/>
                                        <p:tgtEl>
                                          <p:spTgt spid="230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7" grpId="0" animBg="1"/>
      <p:bldP spid="230408" grpId="0" animBg="1"/>
      <p:bldP spid="230409" grpId="0"/>
      <p:bldP spid="230410" grpId="0"/>
      <p:bldP spid="230411" grpId="0"/>
      <p:bldP spid="2304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normAutofit fontScale="90000"/>
          </a:bodyPr>
          <a:lstStyle/>
          <a:p>
            <a:pPr eaLnBrk="1" hangingPunct="1">
              <a:defRPr/>
            </a:pPr>
            <a:r>
              <a:rPr lang="en-US"/>
              <a:t>The Effect of Job Satisfaction on Employee Performance</a:t>
            </a:r>
          </a:p>
        </p:txBody>
      </p:sp>
      <p:sp>
        <p:nvSpPr>
          <p:cNvPr id="14340" name="Rectangle 3"/>
          <p:cNvSpPr>
            <a:spLocks noGrp="1" noChangeArrowheads="1"/>
          </p:cNvSpPr>
          <p:nvPr>
            <p:ph sz="quarter" idx="13"/>
          </p:nvPr>
        </p:nvSpPr>
        <p:spPr/>
        <p:txBody>
          <a:bodyPr>
            <a:normAutofit fontScale="70000" lnSpcReduction="20000"/>
          </a:bodyPr>
          <a:lstStyle/>
          <a:p>
            <a:pPr eaLnBrk="1" hangingPunct="1"/>
            <a:r>
              <a:rPr lang="en-US" b="1" dirty="0"/>
              <a:t>Satisfaction and Productivity</a:t>
            </a:r>
          </a:p>
          <a:p>
            <a:pPr lvl="1" eaLnBrk="1" hangingPunct="1"/>
            <a:r>
              <a:rPr lang="en-US" dirty="0"/>
              <a:t>Satisfied workers are more productive AND more productive workers are more satisfied! </a:t>
            </a:r>
          </a:p>
          <a:p>
            <a:pPr lvl="1" eaLnBrk="1" hangingPunct="1"/>
            <a:r>
              <a:rPr lang="en-US" dirty="0"/>
              <a:t>Worker productivity is higher in organizations with more satisfied workers.</a:t>
            </a:r>
          </a:p>
          <a:p>
            <a:pPr eaLnBrk="1" hangingPunct="1"/>
            <a:r>
              <a:rPr lang="en-US" b="1" dirty="0"/>
              <a:t>Satisfaction and Absenteeism</a:t>
            </a:r>
          </a:p>
          <a:p>
            <a:pPr lvl="1" eaLnBrk="1" hangingPunct="1"/>
            <a:r>
              <a:rPr lang="en-US" dirty="0"/>
              <a:t>Satisfied employees have fewer avoidable absences.</a:t>
            </a:r>
          </a:p>
          <a:p>
            <a:pPr eaLnBrk="1" hangingPunct="1"/>
            <a:r>
              <a:rPr lang="en-US" b="1" dirty="0"/>
              <a:t>Satisfaction and Turnover</a:t>
            </a:r>
          </a:p>
          <a:p>
            <a:pPr lvl="1" eaLnBrk="1" hangingPunct="1"/>
            <a:r>
              <a:rPr lang="en-US" dirty="0"/>
              <a:t>Satisfied employees are less likely to quit.</a:t>
            </a:r>
          </a:p>
          <a:p>
            <a:pPr lvl="1" eaLnBrk="1" hangingPunct="1"/>
            <a:r>
              <a:rPr lang="en-US" dirty="0"/>
              <a:t>Organizations take actions to retain high performers and to weed out lower performers.</a:t>
            </a:r>
          </a:p>
        </p:txBody>
      </p:sp>
    </p:spTree>
    <p:extLst>
      <p:ext uri="{BB962C8B-B14F-4D97-AF65-F5344CB8AC3E}">
        <p14:creationId xmlns:p14="http://schemas.microsoft.com/office/powerpoint/2010/main" val="1894333311"/>
      </p:ext>
    </p:extLst>
  </p:cSld>
  <p:clrMapOvr>
    <a:masterClrMapping/>
  </p:clrMapOvr>
  <p:transition spd="med">
    <p:blinds dir="vert"/>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normAutofit fontScale="90000"/>
          </a:bodyPr>
          <a:lstStyle/>
          <a:p>
            <a:pPr eaLnBrk="1" hangingPunct="1">
              <a:defRPr/>
            </a:pPr>
            <a:r>
              <a:rPr lang="en-US" dirty="0"/>
              <a:t>Job Satisfaction and Organizational Citizenship Behavior</a:t>
            </a:r>
          </a:p>
        </p:txBody>
      </p:sp>
      <p:sp>
        <p:nvSpPr>
          <p:cNvPr id="231427" name="Rectangle 3"/>
          <p:cNvSpPr>
            <a:spLocks noGrp="1" noChangeArrowheads="1"/>
          </p:cNvSpPr>
          <p:nvPr>
            <p:ph sz="quarter" idx="13"/>
          </p:nvPr>
        </p:nvSpPr>
        <p:spPr>
          <a:xfrm>
            <a:off x="573505" y="1352550"/>
            <a:ext cx="8153400" cy="3276600"/>
          </a:xfrm>
        </p:spPr>
        <p:txBody>
          <a:bodyPr>
            <a:normAutofit/>
          </a:bodyPr>
          <a:lstStyle/>
          <a:p>
            <a:pPr eaLnBrk="1" hangingPunct="1"/>
            <a:r>
              <a:rPr lang="en-US" sz="2200" b="1" dirty="0"/>
              <a:t>Satisfaction and OCBs</a:t>
            </a:r>
          </a:p>
          <a:p>
            <a:pPr lvl="1" eaLnBrk="1" hangingPunct="1"/>
            <a:r>
              <a:rPr lang="en-US" sz="2200" dirty="0"/>
              <a:t>Work behavior can be seen in terms of in-role and extra-role behavior.</a:t>
            </a:r>
          </a:p>
          <a:p>
            <a:pPr lvl="1" eaLnBrk="1" hangingPunct="1"/>
            <a:r>
              <a:rPr lang="en-US" sz="2200" dirty="0"/>
              <a:t>Willingness to engage in extra-role is indicative of high OCB</a:t>
            </a:r>
          </a:p>
          <a:p>
            <a:pPr lvl="1"/>
            <a:r>
              <a:rPr lang="en-US" sz="2200" dirty="0"/>
              <a:t>OCB is willingness to go</a:t>
            </a:r>
            <a:r>
              <a:rPr lang="en-US" sz="2400" dirty="0"/>
              <a:t> beyond the normal expectations of their job.</a:t>
            </a:r>
            <a:endParaRPr lang="en-US" sz="2200" dirty="0"/>
          </a:p>
          <a:p>
            <a:pPr lvl="1" eaLnBrk="1" hangingPunct="1"/>
            <a:r>
              <a:rPr lang="en-US" sz="2200" dirty="0"/>
              <a:t>OCB is due to high level of Job Satisfaction and commitment.</a:t>
            </a:r>
          </a:p>
        </p:txBody>
      </p:sp>
      <p:pic>
        <p:nvPicPr>
          <p:cNvPr id="15365" name="Picture 4" descr="j014939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7000" y="4137660"/>
            <a:ext cx="2205699" cy="10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Image result for organizational citizenship behavior">
            <a:extLst>
              <a:ext uri="{FF2B5EF4-FFF2-40B4-BE49-F238E27FC236}">
                <a16:creationId xmlns:a16="http://schemas.microsoft.com/office/drawing/2014/main" id="{4B92A63B-0DA8-4548-8A85-E1081FBF2D9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47" t="17361" r="21053" b="9876"/>
          <a:stretch/>
        </p:blipFill>
        <p:spPr bwMode="auto">
          <a:xfrm>
            <a:off x="7696201" y="4098089"/>
            <a:ext cx="1447800" cy="1045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058116"/>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wipe(left)">
                                      <p:cBhvr>
                                        <p:cTn id="7" dur="500"/>
                                        <p:tgtEl>
                                          <p:spTgt spid="23142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31427">
                                            <p:txEl>
                                              <p:pRg st="1" end="1"/>
                                            </p:txEl>
                                          </p:spTgt>
                                        </p:tgtEl>
                                        <p:attrNameLst>
                                          <p:attrName>style.visibility</p:attrName>
                                        </p:attrNameLst>
                                      </p:cBhvr>
                                      <p:to>
                                        <p:strVal val="visible"/>
                                      </p:to>
                                    </p:set>
                                    <p:animEffect transition="in" filter="wipe(left)">
                                      <p:cBhvr>
                                        <p:cTn id="10" dur="500"/>
                                        <p:tgtEl>
                                          <p:spTgt spid="23142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31427">
                                            <p:txEl>
                                              <p:pRg st="2" end="2"/>
                                            </p:txEl>
                                          </p:spTgt>
                                        </p:tgtEl>
                                        <p:attrNameLst>
                                          <p:attrName>style.visibility</p:attrName>
                                        </p:attrNameLst>
                                      </p:cBhvr>
                                      <p:to>
                                        <p:strVal val="visible"/>
                                      </p:to>
                                    </p:set>
                                    <p:animEffect transition="in" filter="wipe(left)">
                                      <p:cBhvr>
                                        <p:cTn id="13" dur="500"/>
                                        <p:tgtEl>
                                          <p:spTgt spid="23142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31427">
                                            <p:txEl>
                                              <p:pRg st="3" end="3"/>
                                            </p:txEl>
                                          </p:spTgt>
                                        </p:tgtEl>
                                        <p:attrNameLst>
                                          <p:attrName>style.visibility</p:attrName>
                                        </p:attrNameLst>
                                      </p:cBhvr>
                                      <p:to>
                                        <p:strVal val="visible"/>
                                      </p:to>
                                    </p:set>
                                    <p:animEffect transition="in" filter="wipe(left)">
                                      <p:cBhvr>
                                        <p:cTn id="16" dur="500"/>
                                        <p:tgtEl>
                                          <p:spTgt spid="231427">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31427">
                                            <p:txEl>
                                              <p:pRg st="4" end="4"/>
                                            </p:txEl>
                                          </p:spTgt>
                                        </p:tgtEl>
                                        <p:attrNameLst>
                                          <p:attrName>style.visibility</p:attrName>
                                        </p:attrNameLst>
                                      </p:cBhvr>
                                      <p:to>
                                        <p:strVal val="visible"/>
                                      </p:to>
                                    </p:set>
                                    <p:animEffect transition="in" filter="wipe(left)">
                                      <p:cBhvr>
                                        <p:cTn id="19" dur="500"/>
                                        <p:tgtEl>
                                          <p:spTgt spid="231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normAutofit fontScale="90000"/>
          </a:bodyPr>
          <a:lstStyle/>
          <a:p>
            <a:pPr eaLnBrk="1" hangingPunct="1">
              <a:defRPr/>
            </a:pPr>
            <a:r>
              <a:rPr lang="en-US"/>
              <a:t>Job Satisfaction and Customer Satisfaction</a:t>
            </a:r>
          </a:p>
        </p:txBody>
      </p:sp>
      <p:sp>
        <p:nvSpPr>
          <p:cNvPr id="234499" name="Rectangle 3"/>
          <p:cNvSpPr>
            <a:spLocks noGrp="1" noChangeArrowheads="1"/>
          </p:cNvSpPr>
          <p:nvPr>
            <p:ph sz="quarter" idx="13"/>
          </p:nvPr>
        </p:nvSpPr>
        <p:spPr/>
        <p:txBody>
          <a:bodyPr>
            <a:normAutofit fontScale="85000" lnSpcReduction="10000"/>
          </a:bodyPr>
          <a:lstStyle/>
          <a:p>
            <a:pPr eaLnBrk="1" hangingPunct="1"/>
            <a:r>
              <a:rPr lang="en-US" b="1" dirty="0"/>
              <a:t>Satisfaction and Customer Satisfaction</a:t>
            </a:r>
          </a:p>
          <a:p>
            <a:pPr lvl="1" eaLnBrk="1" hangingPunct="1"/>
            <a:r>
              <a:rPr lang="en-US" dirty="0"/>
              <a:t>Satisfied workers provide better customer service</a:t>
            </a:r>
          </a:p>
          <a:p>
            <a:pPr eaLnBrk="1" hangingPunct="1"/>
            <a:r>
              <a:rPr lang="en-US" dirty="0"/>
              <a:t>Satisfied employees increase customer satisfaction because:</a:t>
            </a:r>
          </a:p>
          <a:p>
            <a:pPr lvl="1" eaLnBrk="1" hangingPunct="1"/>
            <a:r>
              <a:rPr lang="en-US" dirty="0"/>
              <a:t>They are more friendly, cheerful, and responsive.</a:t>
            </a:r>
          </a:p>
          <a:p>
            <a:pPr lvl="1" eaLnBrk="1" hangingPunct="1"/>
            <a:r>
              <a:rPr lang="en-US" dirty="0"/>
              <a:t>They are less likely to turnover, which helps build long-term customer relationships.</a:t>
            </a:r>
          </a:p>
          <a:p>
            <a:pPr lvl="1" eaLnBrk="1" hangingPunct="1"/>
            <a:r>
              <a:rPr lang="en-US" dirty="0"/>
              <a:t>They are experienced.</a:t>
            </a:r>
          </a:p>
          <a:p>
            <a:pPr eaLnBrk="1" hangingPunct="1"/>
            <a:r>
              <a:rPr lang="en-US" dirty="0"/>
              <a:t>Dissatisfied customers increase employee job dissatisfaction.</a:t>
            </a:r>
          </a:p>
        </p:txBody>
      </p:sp>
      <p:pic>
        <p:nvPicPr>
          <p:cNvPr id="16389" name="Picture 6" descr="PE02428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6672" y="2979821"/>
            <a:ext cx="1219200" cy="106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6825795"/>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animEffect transition="in" filter="wipe(left)">
                                      <p:cBhvr>
                                        <p:cTn id="7" dur="500"/>
                                        <p:tgtEl>
                                          <p:spTgt spid="23449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34499">
                                            <p:txEl>
                                              <p:pRg st="1" end="1"/>
                                            </p:txEl>
                                          </p:spTgt>
                                        </p:tgtEl>
                                        <p:attrNameLst>
                                          <p:attrName>style.visibility</p:attrName>
                                        </p:attrNameLst>
                                      </p:cBhvr>
                                      <p:to>
                                        <p:strVal val="visible"/>
                                      </p:to>
                                    </p:set>
                                    <p:animEffect transition="in" filter="wipe(left)">
                                      <p:cBhvr>
                                        <p:cTn id="10" dur="500"/>
                                        <p:tgtEl>
                                          <p:spTgt spid="234499">
                                            <p:txEl>
                                              <p:pRg st="1" end="1"/>
                                            </p:txEl>
                                          </p:spTgt>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34499">
                                            <p:txEl>
                                              <p:pRg st="2" end="2"/>
                                            </p:txEl>
                                          </p:spTgt>
                                        </p:tgtEl>
                                        <p:attrNameLst>
                                          <p:attrName>style.visibility</p:attrName>
                                        </p:attrNameLst>
                                      </p:cBhvr>
                                      <p:to>
                                        <p:strVal val="visible"/>
                                      </p:to>
                                    </p:set>
                                    <p:animEffect transition="in" filter="wipe(left)">
                                      <p:cBhvr>
                                        <p:cTn id="14" dur="500"/>
                                        <p:tgtEl>
                                          <p:spTgt spid="234499">
                                            <p:txEl>
                                              <p:pRg st="2" end="2"/>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34499">
                                            <p:txEl>
                                              <p:pRg st="3" end="3"/>
                                            </p:txEl>
                                          </p:spTgt>
                                        </p:tgtEl>
                                        <p:attrNameLst>
                                          <p:attrName>style.visibility</p:attrName>
                                        </p:attrNameLst>
                                      </p:cBhvr>
                                      <p:to>
                                        <p:strVal val="visible"/>
                                      </p:to>
                                    </p:set>
                                    <p:animEffect transition="in" filter="wipe(left)">
                                      <p:cBhvr>
                                        <p:cTn id="17" dur="500"/>
                                        <p:tgtEl>
                                          <p:spTgt spid="234499">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34499">
                                            <p:txEl>
                                              <p:pRg st="4" end="4"/>
                                            </p:txEl>
                                          </p:spTgt>
                                        </p:tgtEl>
                                        <p:attrNameLst>
                                          <p:attrName>style.visibility</p:attrName>
                                        </p:attrNameLst>
                                      </p:cBhvr>
                                      <p:to>
                                        <p:strVal val="visible"/>
                                      </p:to>
                                    </p:set>
                                    <p:animEffect transition="in" filter="wipe(left)">
                                      <p:cBhvr>
                                        <p:cTn id="20" dur="500"/>
                                        <p:tgtEl>
                                          <p:spTgt spid="234499">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34499">
                                            <p:txEl>
                                              <p:pRg st="5" end="5"/>
                                            </p:txEl>
                                          </p:spTgt>
                                        </p:tgtEl>
                                        <p:attrNameLst>
                                          <p:attrName>style.visibility</p:attrName>
                                        </p:attrNameLst>
                                      </p:cBhvr>
                                      <p:to>
                                        <p:strVal val="visible"/>
                                      </p:to>
                                    </p:set>
                                    <p:animEffect transition="in" filter="wipe(left)">
                                      <p:cBhvr>
                                        <p:cTn id="23" dur="500"/>
                                        <p:tgtEl>
                                          <p:spTgt spid="234499">
                                            <p:txEl>
                                              <p:pRg st="5" end="5"/>
                                            </p:txEl>
                                          </p:spTgt>
                                        </p:tgtEl>
                                      </p:cBhvr>
                                    </p:animEffect>
                                  </p:childTnLst>
                                </p:cTn>
                              </p:par>
                            </p:childTnLst>
                          </p:cTn>
                        </p:par>
                        <p:par>
                          <p:cTn id="24" fill="hold" nodeType="afterGroup">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234499">
                                            <p:txEl>
                                              <p:pRg st="6" end="6"/>
                                            </p:txEl>
                                          </p:spTgt>
                                        </p:tgtEl>
                                        <p:attrNameLst>
                                          <p:attrName>style.visibility</p:attrName>
                                        </p:attrNameLst>
                                      </p:cBhvr>
                                      <p:to>
                                        <p:strVal val="visible"/>
                                      </p:to>
                                    </p:set>
                                    <p:animEffect transition="in" filter="wipe(left)">
                                      <p:cBhvr>
                                        <p:cTn id="27" dur="500"/>
                                        <p:tgtEl>
                                          <p:spTgt spid="2344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9C37C-982C-454C-B5DB-2F57F70010CD}"/>
              </a:ext>
            </a:extLst>
          </p:cNvPr>
          <p:cNvSpPr>
            <a:spLocks noGrp="1"/>
          </p:cNvSpPr>
          <p:nvPr>
            <p:ph type="title"/>
          </p:nvPr>
        </p:nvSpPr>
        <p:spPr/>
        <p:txBody>
          <a:bodyPr/>
          <a:lstStyle/>
          <a:p>
            <a:r>
              <a:rPr lang="en-US" dirty="0"/>
              <a:t>Supplementary Material</a:t>
            </a:r>
          </a:p>
        </p:txBody>
      </p:sp>
      <p:sp>
        <p:nvSpPr>
          <p:cNvPr id="3" name="Slide Number Placeholder 2">
            <a:extLst>
              <a:ext uri="{FF2B5EF4-FFF2-40B4-BE49-F238E27FC236}">
                <a16:creationId xmlns:a16="http://schemas.microsoft.com/office/drawing/2014/main" id="{F4A79823-6E2A-467B-9D88-C4CBE60D6361}"/>
              </a:ext>
            </a:extLst>
          </p:cNvPr>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19</a:t>
            </a:fld>
            <a:endParaRPr lang="en-US" dirty="0">
              <a:solidFill>
                <a:srgbClr val="FFFFFF"/>
              </a:solidFill>
            </a:endParaRPr>
          </a:p>
        </p:txBody>
      </p:sp>
      <p:sp>
        <p:nvSpPr>
          <p:cNvPr id="4" name="Content Placeholder 3">
            <a:extLst>
              <a:ext uri="{FF2B5EF4-FFF2-40B4-BE49-F238E27FC236}">
                <a16:creationId xmlns:a16="http://schemas.microsoft.com/office/drawing/2014/main" id="{470D1DEE-8C37-4086-8533-956603B05B27}"/>
              </a:ext>
            </a:extLst>
          </p:cNvPr>
          <p:cNvSpPr>
            <a:spLocks noGrp="1"/>
          </p:cNvSpPr>
          <p:nvPr>
            <p:ph sz="quarter" idx="13"/>
          </p:nvPr>
        </p:nvSpPr>
        <p:spPr/>
        <p:txBody>
          <a:bodyPr>
            <a:noAutofit/>
          </a:bodyPr>
          <a:lstStyle/>
          <a:p>
            <a:pPr>
              <a:spcBef>
                <a:spcPts val="1200"/>
              </a:spcBef>
            </a:pPr>
            <a:r>
              <a:rPr lang="en-US" sz="1800" b="1" dirty="0"/>
              <a:t>Video 1:</a:t>
            </a:r>
            <a:r>
              <a:rPr lang="en-US" sz="1800" dirty="0"/>
              <a:t> </a:t>
            </a:r>
            <a:r>
              <a:rPr lang="en-US" sz="1800" dirty="0">
                <a:hlinkClick r:id="rId2"/>
              </a:rPr>
              <a:t>https://www.youtube.com/watch?v=qXayH99GbCw</a:t>
            </a:r>
            <a:endParaRPr lang="en-US" sz="1800" dirty="0"/>
          </a:p>
          <a:p>
            <a:pPr>
              <a:spcBef>
                <a:spcPts val="1200"/>
              </a:spcBef>
            </a:pPr>
            <a:r>
              <a:rPr lang="en-US" sz="1800" b="1" dirty="0"/>
              <a:t>Video 2: </a:t>
            </a:r>
            <a:r>
              <a:rPr lang="en-US" sz="1800" dirty="0">
                <a:hlinkClick r:id="rId3"/>
              </a:rPr>
              <a:t>https://www.youtube.com/watch?v=8DOR3AnyLOQ</a:t>
            </a:r>
            <a:endParaRPr lang="en-US" sz="1800" dirty="0"/>
          </a:p>
          <a:p>
            <a:pPr>
              <a:spcBef>
                <a:spcPts val="1200"/>
              </a:spcBef>
            </a:pPr>
            <a:r>
              <a:rPr lang="en-US" sz="1800" b="1" dirty="0"/>
              <a:t>Video 3:</a:t>
            </a:r>
            <a:r>
              <a:rPr lang="en-US" sz="1800" dirty="0"/>
              <a:t> </a:t>
            </a:r>
            <a:r>
              <a:rPr lang="en-US" sz="1800" dirty="0">
                <a:hlinkClick r:id="rId4"/>
              </a:rPr>
              <a:t>https://study.com/academy/lesson/what-is-employee-satisfaction-examples-factors-quiz.html</a:t>
            </a:r>
            <a:endParaRPr lang="en-US" sz="1800" dirty="0"/>
          </a:p>
          <a:p>
            <a:pPr>
              <a:spcBef>
                <a:spcPts val="1200"/>
              </a:spcBef>
            </a:pPr>
            <a:r>
              <a:rPr lang="en-US" sz="1800" b="1" i="1" dirty="0"/>
              <a:t>Case: </a:t>
            </a:r>
            <a:r>
              <a:rPr lang="en-US" sz="1800" dirty="0"/>
              <a:t>GACL: Balancing Employee Satisfaction and Productivity. Author: </a:t>
            </a:r>
            <a:r>
              <a:rPr lang="en-US" sz="1800" i="1" dirty="0">
                <a:hlinkClick r:id="rId5"/>
              </a:rPr>
              <a:t>Kanupriya </a:t>
            </a:r>
            <a:r>
              <a:rPr lang="en-US" sz="1800" i="1" dirty="0" err="1">
                <a:hlinkClick r:id="rId5"/>
              </a:rPr>
              <a:t>Katyal</a:t>
            </a:r>
            <a:r>
              <a:rPr lang="en-US" sz="1800" i="1" dirty="0">
                <a:hlinkClick r:id="rId5"/>
              </a:rPr>
              <a:t>, </a:t>
            </a:r>
            <a:r>
              <a:rPr lang="en-US" sz="1800" i="1" dirty="0" err="1">
                <a:hlinkClick r:id="rId6"/>
              </a:rPr>
              <a:t>Jagrook</a:t>
            </a:r>
            <a:r>
              <a:rPr lang="en-US" sz="1800" i="1" dirty="0">
                <a:hlinkClick r:id="rId6"/>
              </a:rPr>
              <a:t> </a:t>
            </a:r>
            <a:r>
              <a:rPr lang="en-US" sz="1800" i="1" dirty="0" err="1">
                <a:hlinkClick r:id="rId6"/>
              </a:rPr>
              <a:t>Dawra</a:t>
            </a:r>
            <a:endParaRPr lang="en-US" sz="1800" i="1" dirty="0"/>
          </a:p>
          <a:p>
            <a:pPr>
              <a:spcBef>
                <a:spcPts val="1200"/>
              </a:spcBef>
            </a:pPr>
            <a:r>
              <a:rPr lang="en-US" sz="1800" b="1" dirty="0"/>
              <a:t>Case:</a:t>
            </a:r>
            <a:r>
              <a:rPr lang="en-US" sz="1800" dirty="0"/>
              <a:t> Treadway Tire Company: Job Dissatisfaction and High Turnover at the Lima Plant. Author: </a:t>
            </a:r>
            <a:r>
              <a:rPr lang="en-US" sz="1800" i="1" dirty="0">
                <a:hlinkClick r:id="rId7"/>
              </a:rPr>
              <a:t>C. Wickham Skinner, </a:t>
            </a:r>
            <a:r>
              <a:rPr lang="en-US" sz="1800" i="1" dirty="0">
                <a:hlinkClick r:id="rId8"/>
              </a:rPr>
              <a:t>Heather Beckham</a:t>
            </a:r>
            <a:endParaRPr lang="en-US" sz="1800" dirty="0"/>
          </a:p>
          <a:p>
            <a:endParaRPr lang="en-US" sz="1800" dirty="0"/>
          </a:p>
          <a:p>
            <a:r>
              <a:rPr lang="en-US" sz="1800" dirty="0"/>
              <a:t>Cases available on Slate</a:t>
            </a:r>
          </a:p>
        </p:txBody>
      </p:sp>
    </p:spTree>
    <p:extLst>
      <p:ext uri="{BB962C8B-B14F-4D97-AF65-F5344CB8AC3E}">
        <p14:creationId xmlns:p14="http://schemas.microsoft.com/office/powerpoint/2010/main" val="2705402379"/>
      </p:ext>
    </p:extLst>
  </p:cSld>
  <p:clrMapOvr>
    <a:masterClrMapping/>
  </p:clrMapOvr>
  <p:transition>
    <p:pull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1724</Words>
  <Application>Microsoft Office PowerPoint</Application>
  <PresentationFormat>On-screen Show (16:9)</PresentationFormat>
  <Paragraphs>166</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Century Schoolbook</vt:lpstr>
      <vt:lpstr>Times New Roman</vt:lpstr>
      <vt:lpstr>Tw Cen MT</vt:lpstr>
      <vt:lpstr>Wingdings</vt:lpstr>
      <vt:lpstr>Wingdings 2</vt:lpstr>
      <vt:lpstr>WidescreenPresentation</vt:lpstr>
      <vt:lpstr>Attitudes and Job Satisfaction</vt:lpstr>
      <vt:lpstr>Attitude</vt:lpstr>
      <vt:lpstr>Attitudes</vt:lpstr>
      <vt:lpstr>Combining all three components together</vt:lpstr>
      <vt:lpstr>Some issues that matter in the study of attitudes</vt:lpstr>
      <vt:lpstr>How consistent are attitudes</vt:lpstr>
      <vt:lpstr>The Theory of Cognitive Dissonance</vt:lpstr>
      <vt:lpstr>Types of Work Attitudes</vt:lpstr>
      <vt:lpstr>Types of Work Attitudes (Cont.)</vt:lpstr>
      <vt:lpstr>Job Satisfaction</vt:lpstr>
      <vt:lpstr>An Application: Attitude Surveys</vt:lpstr>
      <vt:lpstr>Rate Your Job Satisfaction</vt:lpstr>
      <vt:lpstr>PowerPoint Presentation</vt:lpstr>
      <vt:lpstr>PowerPoint Presentation</vt:lpstr>
      <vt:lpstr>The Impact of Satisfied and Dissatisfied Employees on the Workplace</vt:lpstr>
      <vt:lpstr>The Effect of Job Satisfaction on Employee Performance</vt:lpstr>
      <vt:lpstr>Job Satisfaction and Organizational Citizenship Behavior</vt:lpstr>
      <vt:lpstr>Job Satisfaction and Customer Satisfaction</vt:lpstr>
      <vt:lpstr>Supplementary Material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2024-09-24T18:07:26Z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