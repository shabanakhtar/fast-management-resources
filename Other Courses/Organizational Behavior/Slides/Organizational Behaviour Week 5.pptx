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theme/themeOverride1.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1"/>
  </p:notesMasterIdLst>
  <p:handoutMasterIdLst>
    <p:handoutMasterId r:id="rId32"/>
  </p:handoutMasterIdLst>
  <p:sldIdLst>
    <p:sldId id="265" r:id="rId2"/>
    <p:sldId id="437" r:id="rId3"/>
    <p:sldId id="455" r:id="rId4"/>
    <p:sldId id="439" r:id="rId5"/>
    <p:sldId id="440" r:id="rId6"/>
    <p:sldId id="457" r:id="rId7"/>
    <p:sldId id="458" r:id="rId8"/>
    <p:sldId id="444" r:id="rId9"/>
    <p:sldId id="445" r:id="rId10"/>
    <p:sldId id="446" r:id="rId11"/>
    <p:sldId id="447" r:id="rId12"/>
    <p:sldId id="448" r:id="rId13"/>
    <p:sldId id="449" r:id="rId14"/>
    <p:sldId id="456" r:id="rId15"/>
    <p:sldId id="257" r:id="rId16"/>
    <p:sldId id="476" r:id="rId17"/>
    <p:sldId id="454" r:id="rId18"/>
    <p:sldId id="480" r:id="rId19"/>
    <p:sldId id="481" r:id="rId20"/>
    <p:sldId id="485" r:id="rId21"/>
    <p:sldId id="491" r:id="rId22"/>
    <p:sldId id="486" r:id="rId23"/>
    <p:sldId id="487" r:id="rId24"/>
    <p:sldId id="460" r:id="rId25"/>
    <p:sldId id="461" r:id="rId26"/>
    <p:sldId id="469" r:id="rId27"/>
    <p:sldId id="462" r:id="rId28"/>
    <p:sldId id="471" r:id="rId29"/>
    <p:sldId id="472" r:id="rId30"/>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30" autoAdjust="0"/>
    <p:restoredTop sz="95033" autoAdjust="0"/>
  </p:normalViewPr>
  <p:slideViewPr>
    <p:cSldViewPr>
      <p:cViewPr varScale="1">
        <p:scale>
          <a:sx n="109" d="100"/>
          <a:sy n="109" d="100"/>
        </p:scale>
        <p:origin x="590" y="82"/>
      </p:cViewPr>
      <p:guideLst>
        <p:guide orient="horz" pos="1620"/>
        <p:guide pos="2880"/>
      </p:guideLst>
    </p:cSldViewPr>
  </p:slideViewPr>
  <p:notesTextViewPr>
    <p:cViewPr>
      <p:scale>
        <a:sx n="100" d="100"/>
        <a:sy n="100" d="100"/>
      </p:scale>
      <p:origin x="0" y="0"/>
    </p:cViewPr>
  </p:notesTextViewPr>
  <p:notesViewPr>
    <p:cSldViewPr>
      <p:cViewPr varScale="1">
        <p:scale>
          <a:sx n="50" d="100"/>
          <a:sy n="50" d="100"/>
        </p:scale>
        <p:origin x="-2862" y="-1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2" Type="http://schemas.openxmlformats.org/officeDocument/2006/relationships/oleObject" Target="Book1"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0-529B-4C16-895F-A30C8BC4F78D}"/>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529B-4C16-895F-A30C8BC4F78D}"/>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PK"/>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Sheet1!$D$6:$E$6</c:f>
              <c:strCache>
                <c:ptCount val="2"/>
                <c:pt idx="0">
                  <c:v>IQ</c:v>
                </c:pt>
                <c:pt idx="1">
                  <c:v>EQ</c:v>
                </c:pt>
              </c:strCache>
            </c:strRef>
          </c:cat>
          <c:val>
            <c:numRef>
              <c:f>Sheet1!$D$7:$E$7</c:f>
              <c:numCache>
                <c:formatCode>0%</c:formatCode>
                <c:ptCount val="2"/>
                <c:pt idx="0">
                  <c:v>0.2</c:v>
                </c:pt>
                <c:pt idx="1">
                  <c:v>0.8</c:v>
                </c:pt>
              </c:numCache>
            </c:numRef>
          </c:val>
          <c:extLst>
            <c:ext xmlns:c16="http://schemas.microsoft.com/office/drawing/2014/chart" uri="{C3380CC4-5D6E-409C-BE32-E72D297353CC}">
              <c16:uniqueId val="{00000002-529B-4C16-895F-A30C8BC4F78D}"/>
            </c:ext>
          </c:extLst>
        </c:ser>
        <c:dLbls>
          <c:showLegendKey val="0"/>
          <c:showVal val="0"/>
          <c:showCatName val="0"/>
          <c:showSerName val="0"/>
          <c:showPercent val="1"/>
          <c:showBubbleSize val="0"/>
          <c:showLeaderLines val="1"/>
        </c:dLbls>
        <c:firstSliceAng val="0"/>
      </c:pieChart>
      <c:spPr>
        <a:noFill/>
        <a:ln>
          <a:noFill/>
        </a:ln>
        <a:effectLst/>
      </c:spPr>
    </c:plotArea>
    <c:plotVisOnly val="1"/>
    <c:dispBlanksAs val="zero"/>
    <c:showDLblsOverMax val="0"/>
  </c:chart>
  <c:spPr>
    <a:noFill/>
    <a:ln w="9525" cap="flat" cmpd="sng" algn="ctr">
      <a:noFill/>
      <a:round/>
    </a:ln>
    <a:effectLst/>
  </c:spPr>
  <c:txPr>
    <a:bodyPr/>
    <a:lstStyle/>
    <a:p>
      <a:pPr>
        <a:defRPr/>
      </a:pPr>
      <a:endParaRPr lang="en-PK"/>
    </a:p>
  </c:txPr>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478B22-8013-4881-ACAD-BDDE11F05E4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F0A0C29-504B-4C5A-A669-BA8F9D7A69B0}">
      <dgm:prSet phldrT="[Text]"/>
      <dgm:spPr/>
      <dgm:t>
        <a:bodyPr/>
        <a:lstStyle/>
        <a:p>
          <a:r>
            <a:rPr lang="en-US" dirty="0"/>
            <a:t>Affect</a:t>
          </a:r>
        </a:p>
      </dgm:t>
    </dgm:pt>
    <dgm:pt modelId="{96F53642-1994-4F8C-A0B4-43236CF77697}" type="parTrans" cxnId="{9D794324-7D76-4D93-AB10-2D675CD89304}">
      <dgm:prSet/>
      <dgm:spPr/>
      <dgm:t>
        <a:bodyPr/>
        <a:lstStyle/>
        <a:p>
          <a:endParaRPr lang="en-US"/>
        </a:p>
      </dgm:t>
    </dgm:pt>
    <dgm:pt modelId="{F7508A24-8CAF-4F5E-9A2F-2C5388E76617}" type="sibTrans" cxnId="{9D794324-7D76-4D93-AB10-2D675CD89304}">
      <dgm:prSet/>
      <dgm:spPr/>
      <dgm:t>
        <a:bodyPr/>
        <a:lstStyle/>
        <a:p>
          <a:endParaRPr lang="en-US"/>
        </a:p>
      </dgm:t>
    </dgm:pt>
    <dgm:pt modelId="{B0073759-801E-4188-9054-540D747F936D}">
      <dgm:prSet phldrT="[Text]"/>
      <dgm:spPr>
        <a:solidFill>
          <a:srgbClr val="002060"/>
        </a:solidFill>
      </dgm:spPr>
      <dgm:t>
        <a:bodyPr/>
        <a:lstStyle/>
        <a:p>
          <a:r>
            <a:rPr lang="en-US" dirty="0"/>
            <a:t>Emotions</a:t>
          </a:r>
        </a:p>
      </dgm:t>
    </dgm:pt>
    <dgm:pt modelId="{B20B9569-5E2D-4C9D-BA90-611AAC2923DA}" type="parTrans" cxnId="{C8E18659-626A-4252-9DF3-66B77D66E441}">
      <dgm:prSet/>
      <dgm:spPr/>
      <dgm:t>
        <a:bodyPr/>
        <a:lstStyle/>
        <a:p>
          <a:endParaRPr lang="en-US"/>
        </a:p>
      </dgm:t>
    </dgm:pt>
    <dgm:pt modelId="{F71E366B-AC50-4682-872E-FDCE3C70B2F4}" type="sibTrans" cxnId="{C8E18659-626A-4252-9DF3-66B77D66E441}">
      <dgm:prSet/>
      <dgm:spPr/>
      <dgm:t>
        <a:bodyPr/>
        <a:lstStyle/>
        <a:p>
          <a:endParaRPr lang="en-US"/>
        </a:p>
      </dgm:t>
    </dgm:pt>
    <dgm:pt modelId="{12D9E9E9-F5F1-4A02-A8A6-38F73ADB5C1B}">
      <dgm:prSet phldrT="[Text]"/>
      <dgm:spPr>
        <a:solidFill>
          <a:schemeClr val="accent3">
            <a:lumMod val="50000"/>
          </a:schemeClr>
        </a:solidFill>
      </dgm:spPr>
      <dgm:t>
        <a:bodyPr/>
        <a:lstStyle/>
        <a:p>
          <a:r>
            <a:rPr lang="en-US" dirty="0"/>
            <a:t>Moods</a:t>
          </a:r>
        </a:p>
      </dgm:t>
    </dgm:pt>
    <dgm:pt modelId="{76180DA5-2759-47D2-B24E-F8682C11DE4E}" type="parTrans" cxnId="{6596DF58-E6C2-49E1-B4A6-4D20F31734E9}">
      <dgm:prSet/>
      <dgm:spPr/>
      <dgm:t>
        <a:bodyPr/>
        <a:lstStyle/>
        <a:p>
          <a:endParaRPr lang="en-US"/>
        </a:p>
      </dgm:t>
    </dgm:pt>
    <dgm:pt modelId="{A49CE422-DC98-4FB4-B31E-149BE812B1B9}" type="sibTrans" cxnId="{6596DF58-E6C2-49E1-B4A6-4D20F31734E9}">
      <dgm:prSet/>
      <dgm:spPr/>
      <dgm:t>
        <a:bodyPr/>
        <a:lstStyle/>
        <a:p>
          <a:endParaRPr lang="en-US"/>
        </a:p>
      </dgm:t>
    </dgm:pt>
    <dgm:pt modelId="{141CA69A-9C6B-4E85-A6A2-91EB12CC0FD3}" type="pres">
      <dgm:prSet presAssocID="{37478B22-8013-4881-ACAD-BDDE11F05E47}" presName="hierChild1" presStyleCnt="0">
        <dgm:presLayoutVars>
          <dgm:orgChart val="1"/>
          <dgm:chPref val="1"/>
          <dgm:dir/>
          <dgm:animOne val="branch"/>
          <dgm:animLvl val="lvl"/>
          <dgm:resizeHandles/>
        </dgm:presLayoutVars>
      </dgm:prSet>
      <dgm:spPr/>
    </dgm:pt>
    <dgm:pt modelId="{183C9785-D02A-4758-8F30-5BE5D08B6938}" type="pres">
      <dgm:prSet presAssocID="{CF0A0C29-504B-4C5A-A669-BA8F9D7A69B0}" presName="hierRoot1" presStyleCnt="0">
        <dgm:presLayoutVars>
          <dgm:hierBranch val="init"/>
        </dgm:presLayoutVars>
      </dgm:prSet>
      <dgm:spPr/>
    </dgm:pt>
    <dgm:pt modelId="{F0C1B8C7-C46F-42A4-8C1D-928B21EBCC10}" type="pres">
      <dgm:prSet presAssocID="{CF0A0C29-504B-4C5A-A669-BA8F9D7A69B0}" presName="rootComposite1" presStyleCnt="0"/>
      <dgm:spPr/>
    </dgm:pt>
    <dgm:pt modelId="{F745D565-7B25-4650-B15D-0D13BEB5C1F2}" type="pres">
      <dgm:prSet presAssocID="{CF0A0C29-504B-4C5A-A669-BA8F9D7A69B0}" presName="rootText1" presStyleLbl="node0" presStyleIdx="0" presStyleCnt="1">
        <dgm:presLayoutVars>
          <dgm:chPref val="3"/>
        </dgm:presLayoutVars>
      </dgm:prSet>
      <dgm:spPr/>
    </dgm:pt>
    <dgm:pt modelId="{1347F4D6-6F8C-47EB-9A83-A07321E6DC4C}" type="pres">
      <dgm:prSet presAssocID="{CF0A0C29-504B-4C5A-A669-BA8F9D7A69B0}" presName="rootConnector1" presStyleLbl="node1" presStyleIdx="0" presStyleCnt="0"/>
      <dgm:spPr/>
    </dgm:pt>
    <dgm:pt modelId="{E6678D57-79FD-4D3A-885F-16257028F391}" type="pres">
      <dgm:prSet presAssocID="{CF0A0C29-504B-4C5A-A669-BA8F9D7A69B0}" presName="hierChild2" presStyleCnt="0"/>
      <dgm:spPr/>
    </dgm:pt>
    <dgm:pt modelId="{7FDE801A-55AF-4D57-8B3C-13393040065D}" type="pres">
      <dgm:prSet presAssocID="{B20B9569-5E2D-4C9D-BA90-611AAC2923DA}" presName="Name37" presStyleLbl="parChTrans1D2" presStyleIdx="0" presStyleCnt="2"/>
      <dgm:spPr/>
    </dgm:pt>
    <dgm:pt modelId="{A6177F5C-23E1-406C-AB8E-0DCA9966872B}" type="pres">
      <dgm:prSet presAssocID="{B0073759-801E-4188-9054-540D747F936D}" presName="hierRoot2" presStyleCnt="0">
        <dgm:presLayoutVars>
          <dgm:hierBranch val="init"/>
        </dgm:presLayoutVars>
      </dgm:prSet>
      <dgm:spPr/>
    </dgm:pt>
    <dgm:pt modelId="{B8905A1E-991B-4F8F-989B-9044DAD0A976}" type="pres">
      <dgm:prSet presAssocID="{B0073759-801E-4188-9054-540D747F936D}" presName="rootComposite" presStyleCnt="0"/>
      <dgm:spPr/>
    </dgm:pt>
    <dgm:pt modelId="{7DD99E32-5586-4DE4-8602-34F1E88DB505}" type="pres">
      <dgm:prSet presAssocID="{B0073759-801E-4188-9054-540D747F936D}" presName="rootText" presStyleLbl="node2" presStyleIdx="0" presStyleCnt="2">
        <dgm:presLayoutVars>
          <dgm:chPref val="3"/>
        </dgm:presLayoutVars>
      </dgm:prSet>
      <dgm:spPr/>
    </dgm:pt>
    <dgm:pt modelId="{976C883A-2A29-4BE3-8B7F-7554F7462370}" type="pres">
      <dgm:prSet presAssocID="{B0073759-801E-4188-9054-540D747F936D}" presName="rootConnector" presStyleLbl="node2" presStyleIdx="0" presStyleCnt="2"/>
      <dgm:spPr/>
    </dgm:pt>
    <dgm:pt modelId="{20F5D5DD-25FB-4DB4-81D5-EF6BC6F225F3}" type="pres">
      <dgm:prSet presAssocID="{B0073759-801E-4188-9054-540D747F936D}" presName="hierChild4" presStyleCnt="0"/>
      <dgm:spPr/>
    </dgm:pt>
    <dgm:pt modelId="{77AE23E5-28ED-4FEA-8B99-03D763C5C8F5}" type="pres">
      <dgm:prSet presAssocID="{B0073759-801E-4188-9054-540D747F936D}" presName="hierChild5" presStyleCnt="0"/>
      <dgm:spPr/>
    </dgm:pt>
    <dgm:pt modelId="{7987E4F3-858E-4714-94E8-27DEC4128CC3}" type="pres">
      <dgm:prSet presAssocID="{76180DA5-2759-47D2-B24E-F8682C11DE4E}" presName="Name37" presStyleLbl="parChTrans1D2" presStyleIdx="1" presStyleCnt="2"/>
      <dgm:spPr/>
    </dgm:pt>
    <dgm:pt modelId="{C58CD3E3-967D-48A4-8230-80A5C06A3B0F}" type="pres">
      <dgm:prSet presAssocID="{12D9E9E9-F5F1-4A02-A8A6-38F73ADB5C1B}" presName="hierRoot2" presStyleCnt="0">
        <dgm:presLayoutVars>
          <dgm:hierBranch val="init"/>
        </dgm:presLayoutVars>
      </dgm:prSet>
      <dgm:spPr/>
    </dgm:pt>
    <dgm:pt modelId="{261017E0-189C-498B-84A8-21F9E4D6AA4A}" type="pres">
      <dgm:prSet presAssocID="{12D9E9E9-F5F1-4A02-A8A6-38F73ADB5C1B}" presName="rootComposite" presStyleCnt="0"/>
      <dgm:spPr/>
    </dgm:pt>
    <dgm:pt modelId="{43062570-8E9E-4C94-8ADA-D8C50D88A40D}" type="pres">
      <dgm:prSet presAssocID="{12D9E9E9-F5F1-4A02-A8A6-38F73ADB5C1B}" presName="rootText" presStyleLbl="node2" presStyleIdx="1" presStyleCnt="2">
        <dgm:presLayoutVars>
          <dgm:chPref val="3"/>
        </dgm:presLayoutVars>
      </dgm:prSet>
      <dgm:spPr/>
    </dgm:pt>
    <dgm:pt modelId="{3B941E5F-5FA9-43D2-B897-0547AD253A88}" type="pres">
      <dgm:prSet presAssocID="{12D9E9E9-F5F1-4A02-A8A6-38F73ADB5C1B}" presName="rootConnector" presStyleLbl="node2" presStyleIdx="1" presStyleCnt="2"/>
      <dgm:spPr/>
    </dgm:pt>
    <dgm:pt modelId="{F8648003-8E83-4427-9C58-74775E07BE63}" type="pres">
      <dgm:prSet presAssocID="{12D9E9E9-F5F1-4A02-A8A6-38F73ADB5C1B}" presName="hierChild4" presStyleCnt="0"/>
      <dgm:spPr/>
    </dgm:pt>
    <dgm:pt modelId="{0D01E072-5D61-4775-A578-A0A538C1BB7B}" type="pres">
      <dgm:prSet presAssocID="{12D9E9E9-F5F1-4A02-A8A6-38F73ADB5C1B}" presName="hierChild5" presStyleCnt="0"/>
      <dgm:spPr/>
    </dgm:pt>
    <dgm:pt modelId="{C32BA27E-B4B5-490F-8D27-BAC78F2BC079}" type="pres">
      <dgm:prSet presAssocID="{CF0A0C29-504B-4C5A-A669-BA8F9D7A69B0}" presName="hierChild3" presStyleCnt="0"/>
      <dgm:spPr/>
    </dgm:pt>
  </dgm:ptLst>
  <dgm:cxnLst>
    <dgm:cxn modelId="{9D794324-7D76-4D93-AB10-2D675CD89304}" srcId="{37478B22-8013-4881-ACAD-BDDE11F05E47}" destId="{CF0A0C29-504B-4C5A-A669-BA8F9D7A69B0}" srcOrd="0" destOrd="0" parTransId="{96F53642-1994-4F8C-A0B4-43236CF77697}" sibTransId="{F7508A24-8CAF-4F5E-9A2F-2C5388E76617}"/>
    <dgm:cxn modelId="{93474925-29EE-4B06-8AEC-DB38304362F3}" type="presOf" srcId="{37478B22-8013-4881-ACAD-BDDE11F05E47}" destId="{141CA69A-9C6B-4E85-A6A2-91EB12CC0FD3}" srcOrd="0" destOrd="0" presId="urn:microsoft.com/office/officeart/2005/8/layout/orgChart1"/>
    <dgm:cxn modelId="{64819A62-5FFC-4A21-BC58-D9A0FA4A9F4A}" type="presOf" srcId="{12D9E9E9-F5F1-4A02-A8A6-38F73ADB5C1B}" destId="{3B941E5F-5FA9-43D2-B897-0547AD253A88}" srcOrd="1" destOrd="0" presId="urn:microsoft.com/office/officeart/2005/8/layout/orgChart1"/>
    <dgm:cxn modelId="{79D99D69-2E3D-41FE-8E0D-2DD8B0E4EF6A}" type="presOf" srcId="{CF0A0C29-504B-4C5A-A669-BA8F9D7A69B0}" destId="{1347F4D6-6F8C-47EB-9A83-A07321E6DC4C}" srcOrd="1" destOrd="0" presId="urn:microsoft.com/office/officeart/2005/8/layout/orgChart1"/>
    <dgm:cxn modelId="{EF623675-E08B-4C48-841E-C7D5591E49C9}" type="presOf" srcId="{B0073759-801E-4188-9054-540D747F936D}" destId="{976C883A-2A29-4BE3-8B7F-7554F7462370}" srcOrd="1" destOrd="0" presId="urn:microsoft.com/office/officeart/2005/8/layout/orgChart1"/>
    <dgm:cxn modelId="{6596DF58-E6C2-49E1-B4A6-4D20F31734E9}" srcId="{CF0A0C29-504B-4C5A-A669-BA8F9D7A69B0}" destId="{12D9E9E9-F5F1-4A02-A8A6-38F73ADB5C1B}" srcOrd="1" destOrd="0" parTransId="{76180DA5-2759-47D2-B24E-F8682C11DE4E}" sibTransId="{A49CE422-DC98-4FB4-B31E-149BE812B1B9}"/>
    <dgm:cxn modelId="{C8E18659-626A-4252-9DF3-66B77D66E441}" srcId="{CF0A0C29-504B-4C5A-A669-BA8F9D7A69B0}" destId="{B0073759-801E-4188-9054-540D747F936D}" srcOrd="0" destOrd="0" parTransId="{B20B9569-5E2D-4C9D-BA90-611AAC2923DA}" sibTransId="{F71E366B-AC50-4682-872E-FDCE3C70B2F4}"/>
    <dgm:cxn modelId="{35409394-D25A-42F5-AF5C-15DCB5CD2B5A}" type="presOf" srcId="{76180DA5-2759-47D2-B24E-F8682C11DE4E}" destId="{7987E4F3-858E-4714-94E8-27DEC4128CC3}" srcOrd="0" destOrd="0" presId="urn:microsoft.com/office/officeart/2005/8/layout/orgChart1"/>
    <dgm:cxn modelId="{084D01AC-8C02-41C5-A553-0A8A575D710C}" type="presOf" srcId="{B0073759-801E-4188-9054-540D747F936D}" destId="{7DD99E32-5586-4DE4-8602-34F1E88DB505}" srcOrd="0" destOrd="0" presId="urn:microsoft.com/office/officeart/2005/8/layout/orgChart1"/>
    <dgm:cxn modelId="{89395BC9-C006-4F22-9596-C016956602C7}" type="presOf" srcId="{B20B9569-5E2D-4C9D-BA90-611AAC2923DA}" destId="{7FDE801A-55AF-4D57-8B3C-13393040065D}" srcOrd="0" destOrd="0" presId="urn:microsoft.com/office/officeart/2005/8/layout/orgChart1"/>
    <dgm:cxn modelId="{91754CEC-42A9-4FDE-AD56-16C636FB8FAA}" type="presOf" srcId="{12D9E9E9-F5F1-4A02-A8A6-38F73ADB5C1B}" destId="{43062570-8E9E-4C94-8ADA-D8C50D88A40D}" srcOrd="0" destOrd="0" presId="urn:microsoft.com/office/officeart/2005/8/layout/orgChart1"/>
    <dgm:cxn modelId="{A1F6F4F5-64BF-49F0-B846-04180B5FD363}" type="presOf" srcId="{CF0A0C29-504B-4C5A-A669-BA8F9D7A69B0}" destId="{F745D565-7B25-4650-B15D-0D13BEB5C1F2}" srcOrd="0" destOrd="0" presId="urn:microsoft.com/office/officeart/2005/8/layout/orgChart1"/>
    <dgm:cxn modelId="{68C631E9-DC1E-422D-ADE9-086933FD5733}" type="presParOf" srcId="{141CA69A-9C6B-4E85-A6A2-91EB12CC0FD3}" destId="{183C9785-D02A-4758-8F30-5BE5D08B6938}" srcOrd="0" destOrd="0" presId="urn:microsoft.com/office/officeart/2005/8/layout/orgChart1"/>
    <dgm:cxn modelId="{F9A5D526-75EE-476A-B78C-C94FDD2A71AC}" type="presParOf" srcId="{183C9785-D02A-4758-8F30-5BE5D08B6938}" destId="{F0C1B8C7-C46F-42A4-8C1D-928B21EBCC10}" srcOrd="0" destOrd="0" presId="urn:microsoft.com/office/officeart/2005/8/layout/orgChart1"/>
    <dgm:cxn modelId="{28DEEB0A-1CBA-44F0-BDB1-B93AF05B6F01}" type="presParOf" srcId="{F0C1B8C7-C46F-42A4-8C1D-928B21EBCC10}" destId="{F745D565-7B25-4650-B15D-0D13BEB5C1F2}" srcOrd="0" destOrd="0" presId="urn:microsoft.com/office/officeart/2005/8/layout/orgChart1"/>
    <dgm:cxn modelId="{B6B295AC-D32A-4194-9281-6ACF69AA744C}" type="presParOf" srcId="{F0C1B8C7-C46F-42A4-8C1D-928B21EBCC10}" destId="{1347F4D6-6F8C-47EB-9A83-A07321E6DC4C}" srcOrd="1" destOrd="0" presId="urn:microsoft.com/office/officeart/2005/8/layout/orgChart1"/>
    <dgm:cxn modelId="{E2659F07-F3A1-49C7-A4D6-6A52C1976EBD}" type="presParOf" srcId="{183C9785-D02A-4758-8F30-5BE5D08B6938}" destId="{E6678D57-79FD-4D3A-885F-16257028F391}" srcOrd="1" destOrd="0" presId="urn:microsoft.com/office/officeart/2005/8/layout/orgChart1"/>
    <dgm:cxn modelId="{C1E5D8A8-0238-45C6-BA17-75CDDF1A482E}" type="presParOf" srcId="{E6678D57-79FD-4D3A-885F-16257028F391}" destId="{7FDE801A-55AF-4D57-8B3C-13393040065D}" srcOrd="0" destOrd="0" presId="urn:microsoft.com/office/officeart/2005/8/layout/orgChart1"/>
    <dgm:cxn modelId="{DF3D68EC-511C-4FCD-B1C2-02F5B6952D6C}" type="presParOf" srcId="{E6678D57-79FD-4D3A-885F-16257028F391}" destId="{A6177F5C-23E1-406C-AB8E-0DCA9966872B}" srcOrd="1" destOrd="0" presId="urn:microsoft.com/office/officeart/2005/8/layout/orgChart1"/>
    <dgm:cxn modelId="{C7B34E82-BD25-495F-BE16-D7137B126CCE}" type="presParOf" srcId="{A6177F5C-23E1-406C-AB8E-0DCA9966872B}" destId="{B8905A1E-991B-4F8F-989B-9044DAD0A976}" srcOrd="0" destOrd="0" presId="urn:microsoft.com/office/officeart/2005/8/layout/orgChart1"/>
    <dgm:cxn modelId="{5B1D0790-9B31-469C-83F4-B997EBA16CFC}" type="presParOf" srcId="{B8905A1E-991B-4F8F-989B-9044DAD0A976}" destId="{7DD99E32-5586-4DE4-8602-34F1E88DB505}" srcOrd="0" destOrd="0" presId="urn:microsoft.com/office/officeart/2005/8/layout/orgChart1"/>
    <dgm:cxn modelId="{91052FB1-4F82-41B6-BD23-B60DAF131294}" type="presParOf" srcId="{B8905A1E-991B-4F8F-989B-9044DAD0A976}" destId="{976C883A-2A29-4BE3-8B7F-7554F7462370}" srcOrd="1" destOrd="0" presId="urn:microsoft.com/office/officeart/2005/8/layout/orgChart1"/>
    <dgm:cxn modelId="{62C5CD2E-6B8C-41A6-BC09-08748B9F329F}" type="presParOf" srcId="{A6177F5C-23E1-406C-AB8E-0DCA9966872B}" destId="{20F5D5DD-25FB-4DB4-81D5-EF6BC6F225F3}" srcOrd="1" destOrd="0" presId="urn:microsoft.com/office/officeart/2005/8/layout/orgChart1"/>
    <dgm:cxn modelId="{D710B5FC-D865-49C4-8FC0-6566193F3ABE}" type="presParOf" srcId="{A6177F5C-23E1-406C-AB8E-0DCA9966872B}" destId="{77AE23E5-28ED-4FEA-8B99-03D763C5C8F5}" srcOrd="2" destOrd="0" presId="urn:microsoft.com/office/officeart/2005/8/layout/orgChart1"/>
    <dgm:cxn modelId="{76306923-4798-4ABF-A6C1-B76CC6F40676}" type="presParOf" srcId="{E6678D57-79FD-4D3A-885F-16257028F391}" destId="{7987E4F3-858E-4714-94E8-27DEC4128CC3}" srcOrd="2" destOrd="0" presId="urn:microsoft.com/office/officeart/2005/8/layout/orgChart1"/>
    <dgm:cxn modelId="{5519F284-6D41-4355-B4DA-7944E8513F25}" type="presParOf" srcId="{E6678D57-79FD-4D3A-885F-16257028F391}" destId="{C58CD3E3-967D-48A4-8230-80A5C06A3B0F}" srcOrd="3" destOrd="0" presId="urn:microsoft.com/office/officeart/2005/8/layout/orgChart1"/>
    <dgm:cxn modelId="{06C86ADC-E40E-4B2E-895C-DE412AA83165}" type="presParOf" srcId="{C58CD3E3-967D-48A4-8230-80A5C06A3B0F}" destId="{261017E0-189C-498B-84A8-21F9E4D6AA4A}" srcOrd="0" destOrd="0" presId="urn:microsoft.com/office/officeart/2005/8/layout/orgChart1"/>
    <dgm:cxn modelId="{62634462-5FF7-471A-9FC7-4D133010316C}" type="presParOf" srcId="{261017E0-189C-498B-84A8-21F9E4D6AA4A}" destId="{43062570-8E9E-4C94-8ADA-D8C50D88A40D}" srcOrd="0" destOrd="0" presId="urn:microsoft.com/office/officeart/2005/8/layout/orgChart1"/>
    <dgm:cxn modelId="{5B8897F3-4570-4FCF-853D-58A8ACD72CF4}" type="presParOf" srcId="{261017E0-189C-498B-84A8-21F9E4D6AA4A}" destId="{3B941E5F-5FA9-43D2-B897-0547AD253A88}" srcOrd="1" destOrd="0" presId="urn:microsoft.com/office/officeart/2005/8/layout/orgChart1"/>
    <dgm:cxn modelId="{6ED353BA-1794-42A7-AB3C-5388E036D62D}" type="presParOf" srcId="{C58CD3E3-967D-48A4-8230-80A5C06A3B0F}" destId="{F8648003-8E83-4427-9C58-74775E07BE63}" srcOrd="1" destOrd="0" presId="urn:microsoft.com/office/officeart/2005/8/layout/orgChart1"/>
    <dgm:cxn modelId="{0E9042F3-2474-4D7A-AA29-61856E6D6BA0}" type="presParOf" srcId="{C58CD3E3-967D-48A4-8230-80A5C06A3B0F}" destId="{0D01E072-5D61-4775-A578-A0A538C1BB7B}" srcOrd="2" destOrd="0" presId="urn:microsoft.com/office/officeart/2005/8/layout/orgChart1"/>
    <dgm:cxn modelId="{BF8A9F6D-D4C9-48BA-9009-5E95656BEE14}" type="presParOf" srcId="{183C9785-D02A-4758-8F30-5BE5D08B6938}" destId="{C32BA27E-B4B5-490F-8D27-BAC78F2BC079}"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D846F3-8189-477C-989B-DBBED7B4B8A0}" type="doc">
      <dgm:prSet loTypeId="urn:microsoft.com/office/officeart/2005/8/layout/funnel1" loCatId="relationship" qsTypeId="urn:microsoft.com/office/officeart/2005/8/quickstyle/3d3" qsCatId="3D" csTypeId="urn:microsoft.com/office/officeart/2005/8/colors/accent1_2" csCatId="accent1" phldr="1"/>
      <dgm:spPr/>
      <dgm:t>
        <a:bodyPr/>
        <a:lstStyle/>
        <a:p>
          <a:endParaRPr lang="en-US"/>
        </a:p>
      </dgm:t>
    </dgm:pt>
    <dgm:pt modelId="{167DD388-27E8-4BC7-8A3E-736A078571F5}">
      <dgm:prSet phldrT="[Text]"/>
      <dgm:spPr/>
      <dgm:t>
        <a:bodyPr/>
        <a:lstStyle/>
        <a:p>
          <a:r>
            <a:rPr lang="en-US"/>
            <a:t>Thinking</a:t>
          </a:r>
          <a:endParaRPr lang="en-US" dirty="0"/>
        </a:p>
      </dgm:t>
    </dgm:pt>
    <dgm:pt modelId="{4B66CA17-E911-41E0-B93D-866C735AD6E2}" type="parTrans" cxnId="{27827343-D0C3-4D57-928F-2F0B81161CB8}">
      <dgm:prSet/>
      <dgm:spPr/>
      <dgm:t>
        <a:bodyPr/>
        <a:lstStyle/>
        <a:p>
          <a:endParaRPr lang="en-US"/>
        </a:p>
      </dgm:t>
    </dgm:pt>
    <dgm:pt modelId="{48994676-E2C1-4879-B3CC-B865A7E4C5E7}" type="sibTrans" cxnId="{27827343-D0C3-4D57-928F-2F0B81161CB8}">
      <dgm:prSet/>
      <dgm:spPr/>
      <dgm:t>
        <a:bodyPr/>
        <a:lstStyle/>
        <a:p>
          <a:endParaRPr lang="en-US"/>
        </a:p>
      </dgm:t>
    </dgm:pt>
    <dgm:pt modelId="{5F493F21-C103-463C-AF98-147F0C74ECD4}">
      <dgm:prSet phldrT="[Text]"/>
      <dgm:spPr/>
      <dgm:t>
        <a:bodyPr/>
        <a:lstStyle/>
        <a:p>
          <a:r>
            <a:rPr lang="en-US" dirty="0"/>
            <a:t>Decision Making</a:t>
          </a:r>
        </a:p>
      </dgm:t>
    </dgm:pt>
    <dgm:pt modelId="{BFCD078D-B362-4BF5-AED5-921463332CD6}" type="parTrans" cxnId="{E63FA5B0-3B48-4C25-815D-3DAE89BB5B04}">
      <dgm:prSet/>
      <dgm:spPr/>
      <dgm:t>
        <a:bodyPr/>
        <a:lstStyle/>
        <a:p>
          <a:endParaRPr lang="en-US"/>
        </a:p>
      </dgm:t>
    </dgm:pt>
    <dgm:pt modelId="{447B7286-D148-45E4-8663-BF59AA115136}" type="sibTrans" cxnId="{E63FA5B0-3B48-4C25-815D-3DAE89BB5B04}">
      <dgm:prSet/>
      <dgm:spPr/>
      <dgm:t>
        <a:bodyPr/>
        <a:lstStyle/>
        <a:p>
          <a:endParaRPr lang="en-US"/>
        </a:p>
      </dgm:t>
    </dgm:pt>
    <dgm:pt modelId="{5902124B-084E-4F8C-890C-8E3AA00DEB7D}">
      <dgm:prSet phldrT="[Text]"/>
      <dgm:spPr/>
      <dgm:t>
        <a:bodyPr/>
        <a:lstStyle/>
        <a:p>
          <a:r>
            <a:rPr lang="en-US" dirty="0"/>
            <a:t>Feeling</a:t>
          </a:r>
        </a:p>
      </dgm:t>
    </dgm:pt>
    <dgm:pt modelId="{99FE5097-3EC5-4C76-B7C7-89FD02A6238F}" type="parTrans" cxnId="{3034A1F6-82AA-4D0B-B1FC-2953D8E627B0}">
      <dgm:prSet/>
      <dgm:spPr/>
      <dgm:t>
        <a:bodyPr/>
        <a:lstStyle/>
        <a:p>
          <a:endParaRPr lang="en-US"/>
        </a:p>
      </dgm:t>
    </dgm:pt>
    <dgm:pt modelId="{A550732B-4F4C-487F-8CA2-D1AB31927290}" type="sibTrans" cxnId="{3034A1F6-82AA-4D0B-B1FC-2953D8E627B0}">
      <dgm:prSet/>
      <dgm:spPr/>
      <dgm:t>
        <a:bodyPr/>
        <a:lstStyle/>
        <a:p>
          <a:endParaRPr lang="en-US"/>
        </a:p>
      </dgm:t>
    </dgm:pt>
    <dgm:pt modelId="{364FE30A-6E5B-49D7-8365-952D1479EE89}" type="pres">
      <dgm:prSet presAssocID="{2FD846F3-8189-477C-989B-DBBED7B4B8A0}" presName="Name0" presStyleCnt="0">
        <dgm:presLayoutVars>
          <dgm:chMax val="4"/>
          <dgm:resizeHandles val="exact"/>
        </dgm:presLayoutVars>
      </dgm:prSet>
      <dgm:spPr/>
    </dgm:pt>
    <dgm:pt modelId="{30A27CCC-7AE4-4939-B8BD-079544E950B1}" type="pres">
      <dgm:prSet presAssocID="{2FD846F3-8189-477C-989B-DBBED7B4B8A0}" presName="ellipse" presStyleLbl="trBgShp" presStyleIdx="0" presStyleCnt="1"/>
      <dgm:spPr/>
    </dgm:pt>
    <dgm:pt modelId="{C3E761B4-E83D-45E0-94F8-7C1DE9E4ADD0}" type="pres">
      <dgm:prSet presAssocID="{2FD846F3-8189-477C-989B-DBBED7B4B8A0}" presName="arrow1" presStyleLbl="fgShp" presStyleIdx="0" presStyleCnt="1"/>
      <dgm:spPr/>
    </dgm:pt>
    <dgm:pt modelId="{FB702F88-120A-41BC-86E5-D3C5B120AB1A}" type="pres">
      <dgm:prSet presAssocID="{2FD846F3-8189-477C-989B-DBBED7B4B8A0}" presName="rectangle" presStyleLbl="revTx" presStyleIdx="0" presStyleCnt="1">
        <dgm:presLayoutVars>
          <dgm:bulletEnabled val="1"/>
        </dgm:presLayoutVars>
      </dgm:prSet>
      <dgm:spPr/>
    </dgm:pt>
    <dgm:pt modelId="{57390BA0-39AD-40BC-80F7-1E52AA752976}" type="pres">
      <dgm:prSet presAssocID="{5902124B-084E-4F8C-890C-8E3AA00DEB7D}" presName="item1" presStyleLbl="node1" presStyleIdx="0" presStyleCnt="2">
        <dgm:presLayoutVars>
          <dgm:bulletEnabled val="1"/>
        </dgm:presLayoutVars>
      </dgm:prSet>
      <dgm:spPr/>
    </dgm:pt>
    <dgm:pt modelId="{45B977F8-58E2-46E7-9121-37196DD31078}" type="pres">
      <dgm:prSet presAssocID="{5F493F21-C103-463C-AF98-147F0C74ECD4}" presName="item2" presStyleLbl="node1" presStyleIdx="1" presStyleCnt="2">
        <dgm:presLayoutVars>
          <dgm:bulletEnabled val="1"/>
        </dgm:presLayoutVars>
      </dgm:prSet>
      <dgm:spPr/>
    </dgm:pt>
    <dgm:pt modelId="{A82141AE-18EB-4EBE-9C77-4BCE7F91461E}" type="pres">
      <dgm:prSet presAssocID="{2FD846F3-8189-477C-989B-DBBED7B4B8A0}" presName="funnel" presStyleLbl="trAlignAcc1" presStyleIdx="0" presStyleCnt="1"/>
      <dgm:spPr/>
    </dgm:pt>
  </dgm:ptLst>
  <dgm:cxnLst>
    <dgm:cxn modelId="{27827343-D0C3-4D57-928F-2F0B81161CB8}" srcId="{2FD846F3-8189-477C-989B-DBBED7B4B8A0}" destId="{167DD388-27E8-4BC7-8A3E-736A078571F5}" srcOrd="0" destOrd="0" parTransId="{4B66CA17-E911-41E0-B93D-866C735AD6E2}" sibTransId="{48994676-E2C1-4879-B3CC-B865A7E4C5E7}"/>
    <dgm:cxn modelId="{AD4D5654-8CB7-4476-867E-A9D3E6C54413}" type="presOf" srcId="{5902124B-084E-4F8C-890C-8E3AA00DEB7D}" destId="{57390BA0-39AD-40BC-80F7-1E52AA752976}" srcOrd="0" destOrd="0" presId="urn:microsoft.com/office/officeart/2005/8/layout/funnel1"/>
    <dgm:cxn modelId="{011D4D89-30C4-4B07-A968-20C214A5D2BC}" type="presOf" srcId="{2FD846F3-8189-477C-989B-DBBED7B4B8A0}" destId="{364FE30A-6E5B-49D7-8365-952D1479EE89}" srcOrd="0" destOrd="0" presId="urn:microsoft.com/office/officeart/2005/8/layout/funnel1"/>
    <dgm:cxn modelId="{E63FA5B0-3B48-4C25-815D-3DAE89BB5B04}" srcId="{2FD846F3-8189-477C-989B-DBBED7B4B8A0}" destId="{5F493F21-C103-463C-AF98-147F0C74ECD4}" srcOrd="2" destOrd="0" parTransId="{BFCD078D-B362-4BF5-AED5-921463332CD6}" sibTransId="{447B7286-D148-45E4-8663-BF59AA115136}"/>
    <dgm:cxn modelId="{1E064ED7-51DA-4050-9A08-A2F97FBF8ACE}" type="presOf" srcId="{5F493F21-C103-463C-AF98-147F0C74ECD4}" destId="{FB702F88-120A-41BC-86E5-D3C5B120AB1A}" srcOrd="0" destOrd="0" presId="urn:microsoft.com/office/officeart/2005/8/layout/funnel1"/>
    <dgm:cxn modelId="{8D173AF4-8EFA-4125-9456-67321B3860C6}" type="presOf" srcId="{167DD388-27E8-4BC7-8A3E-736A078571F5}" destId="{45B977F8-58E2-46E7-9121-37196DD31078}" srcOrd="0" destOrd="0" presId="urn:microsoft.com/office/officeart/2005/8/layout/funnel1"/>
    <dgm:cxn modelId="{3034A1F6-82AA-4D0B-B1FC-2953D8E627B0}" srcId="{2FD846F3-8189-477C-989B-DBBED7B4B8A0}" destId="{5902124B-084E-4F8C-890C-8E3AA00DEB7D}" srcOrd="1" destOrd="0" parTransId="{99FE5097-3EC5-4C76-B7C7-89FD02A6238F}" sibTransId="{A550732B-4F4C-487F-8CA2-D1AB31927290}"/>
    <dgm:cxn modelId="{DB20E92A-69C0-4D80-A632-BA79FAF64AAC}" type="presParOf" srcId="{364FE30A-6E5B-49D7-8365-952D1479EE89}" destId="{30A27CCC-7AE4-4939-B8BD-079544E950B1}" srcOrd="0" destOrd="0" presId="urn:microsoft.com/office/officeart/2005/8/layout/funnel1"/>
    <dgm:cxn modelId="{2DDE581E-4A04-46A9-9C26-A7B3581344C4}" type="presParOf" srcId="{364FE30A-6E5B-49D7-8365-952D1479EE89}" destId="{C3E761B4-E83D-45E0-94F8-7C1DE9E4ADD0}" srcOrd="1" destOrd="0" presId="urn:microsoft.com/office/officeart/2005/8/layout/funnel1"/>
    <dgm:cxn modelId="{74ADEDC3-453F-419B-9F89-EA80A849438F}" type="presParOf" srcId="{364FE30A-6E5B-49D7-8365-952D1479EE89}" destId="{FB702F88-120A-41BC-86E5-D3C5B120AB1A}" srcOrd="2" destOrd="0" presId="urn:microsoft.com/office/officeart/2005/8/layout/funnel1"/>
    <dgm:cxn modelId="{846D5F5C-A6BD-4C4D-B954-894D86272649}" type="presParOf" srcId="{364FE30A-6E5B-49D7-8365-952D1479EE89}" destId="{57390BA0-39AD-40BC-80F7-1E52AA752976}" srcOrd="3" destOrd="0" presId="urn:microsoft.com/office/officeart/2005/8/layout/funnel1"/>
    <dgm:cxn modelId="{35F9FE73-789E-43A0-8FF6-B0AB0529B80E}" type="presParOf" srcId="{364FE30A-6E5B-49D7-8365-952D1479EE89}" destId="{45B977F8-58E2-46E7-9121-37196DD31078}" srcOrd="4" destOrd="0" presId="urn:microsoft.com/office/officeart/2005/8/layout/funnel1"/>
    <dgm:cxn modelId="{A2AFF321-E080-454C-BB50-23CD8148E4A0}" type="presParOf" srcId="{364FE30A-6E5B-49D7-8365-952D1479EE89}" destId="{A82141AE-18EB-4EBE-9C77-4BCE7F91461E}" srcOrd="5"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7E4F3-858E-4714-94E8-27DEC4128CC3}">
      <dsp:nvSpPr>
        <dsp:cNvPr id="0" name=""/>
        <dsp:cNvSpPr/>
      </dsp:nvSpPr>
      <dsp:spPr>
        <a:xfrm>
          <a:off x="2133600" y="850396"/>
          <a:ext cx="1027367" cy="356607"/>
        </a:xfrm>
        <a:custGeom>
          <a:avLst/>
          <a:gdLst/>
          <a:ahLst/>
          <a:cxnLst/>
          <a:rect l="0" t="0" r="0" b="0"/>
          <a:pathLst>
            <a:path>
              <a:moveTo>
                <a:pt x="0" y="0"/>
              </a:moveTo>
              <a:lnTo>
                <a:pt x="0" y="178303"/>
              </a:lnTo>
              <a:lnTo>
                <a:pt x="1027367" y="178303"/>
              </a:lnTo>
              <a:lnTo>
                <a:pt x="1027367" y="356607"/>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DE801A-55AF-4D57-8B3C-13393040065D}">
      <dsp:nvSpPr>
        <dsp:cNvPr id="0" name=""/>
        <dsp:cNvSpPr/>
      </dsp:nvSpPr>
      <dsp:spPr>
        <a:xfrm>
          <a:off x="1106232" y="850396"/>
          <a:ext cx="1027367" cy="356607"/>
        </a:xfrm>
        <a:custGeom>
          <a:avLst/>
          <a:gdLst/>
          <a:ahLst/>
          <a:cxnLst/>
          <a:rect l="0" t="0" r="0" b="0"/>
          <a:pathLst>
            <a:path>
              <a:moveTo>
                <a:pt x="1027367" y="0"/>
              </a:moveTo>
              <a:lnTo>
                <a:pt x="1027367" y="178303"/>
              </a:lnTo>
              <a:lnTo>
                <a:pt x="0" y="178303"/>
              </a:lnTo>
              <a:lnTo>
                <a:pt x="0" y="356607"/>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45D565-7B25-4650-B15D-0D13BEB5C1F2}">
      <dsp:nvSpPr>
        <dsp:cNvPr id="0" name=""/>
        <dsp:cNvSpPr/>
      </dsp:nvSpPr>
      <dsp:spPr>
        <a:xfrm>
          <a:off x="1284535" y="1332"/>
          <a:ext cx="1698128" cy="8490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Affect</a:t>
          </a:r>
        </a:p>
      </dsp:txBody>
      <dsp:txXfrm>
        <a:off x="1284535" y="1332"/>
        <a:ext cx="1698128" cy="849064"/>
      </dsp:txXfrm>
    </dsp:sp>
    <dsp:sp modelId="{7DD99E32-5586-4DE4-8602-34F1E88DB505}">
      <dsp:nvSpPr>
        <dsp:cNvPr id="0" name=""/>
        <dsp:cNvSpPr/>
      </dsp:nvSpPr>
      <dsp:spPr>
        <a:xfrm>
          <a:off x="257167" y="1207003"/>
          <a:ext cx="1698128" cy="849064"/>
        </a:xfrm>
        <a:prstGeom prst="rect">
          <a:avLst/>
        </a:prstGeom>
        <a:solidFill>
          <a:srgbClr val="00206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Emotions</a:t>
          </a:r>
        </a:p>
      </dsp:txBody>
      <dsp:txXfrm>
        <a:off x="257167" y="1207003"/>
        <a:ext cx="1698128" cy="849064"/>
      </dsp:txXfrm>
    </dsp:sp>
    <dsp:sp modelId="{43062570-8E9E-4C94-8ADA-D8C50D88A40D}">
      <dsp:nvSpPr>
        <dsp:cNvPr id="0" name=""/>
        <dsp:cNvSpPr/>
      </dsp:nvSpPr>
      <dsp:spPr>
        <a:xfrm>
          <a:off x="2311903" y="1207003"/>
          <a:ext cx="1698128" cy="849064"/>
        </a:xfrm>
        <a:prstGeom prst="rect">
          <a:avLst/>
        </a:prstGeom>
        <a:solidFill>
          <a:schemeClr val="accent3">
            <a:lumMod val="5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Moods</a:t>
          </a:r>
        </a:p>
      </dsp:txBody>
      <dsp:txXfrm>
        <a:off x="2311903" y="1207003"/>
        <a:ext cx="1698128" cy="8490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27CCC-7AE4-4939-B8BD-079544E950B1}">
      <dsp:nvSpPr>
        <dsp:cNvPr id="0" name=""/>
        <dsp:cNvSpPr/>
      </dsp:nvSpPr>
      <dsp:spPr>
        <a:xfrm>
          <a:off x="1815465" y="123825"/>
          <a:ext cx="2457450" cy="853440"/>
        </a:xfrm>
        <a:prstGeom prst="ellipse">
          <a:avLst/>
        </a:prstGeom>
        <a:solidFill>
          <a:schemeClr val="accent1">
            <a:tint val="50000"/>
            <a:alpha val="40000"/>
            <a:hueOff val="0"/>
            <a:satOff val="0"/>
            <a:lumOff val="0"/>
            <a:alphaOff val="0"/>
          </a:schemeClr>
        </a:solidFill>
        <a:ln w="100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52400" prstMaterial="matte"/>
      </dsp:spPr>
      <dsp:style>
        <a:lnRef idx="1">
          <a:scrgbClr r="0" g="0" b="0"/>
        </a:lnRef>
        <a:fillRef idx="1">
          <a:scrgbClr r="0" g="0" b="0"/>
        </a:fillRef>
        <a:effectRef idx="0">
          <a:scrgbClr r="0" g="0" b="0"/>
        </a:effectRef>
        <a:fontRef idx="minor"/>
      </dsp:style>
    </dsp:sp>
    <dsp:sp modelId="{C3E761B4-E83D-45E0-94F8-7C1DE9E4ADD0}">
      <dsp:nvSpPr>
        <dsp:cNvPr id="0" name=""/>
        <dsp:cNvSpPr/>
      </dsp:nvSpPr>
      <dsp:spPr>
        <a:xfrm>
          <a:off x="2809875" y="2213610"/>
          <a:ext cx="476250" cy="304800"/>
        </a:xfrm>
        <a:prstGeom prst="downArrow">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B702F88-120A-41BC-86E5-D3C5B120AB1A}">
      <dsp:nvSpPr>
        <dsp:cNvPr id="0" name=""/>
        <dsp:cNvSpPr/>
      </dsp:nvSpPr>
      <dsp:spPr>
        <a:xfrm>
          <a:off x="1905000" y="2457450"/>
          <a:ext cx="2286000" cy="571500"/>
        </a:xfrm>
        <a:prstGeom prst="rect">
          <a:avLst/>
        </a:prstGeom>
        <a:noFill/>
        <a:ln w="100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Decision Making</a:t>
          </a:r>
        </a:p>
      </dsp:txBody>
      <dsp:txXfrm>
        <a:off x="1905000" y="2457450"/>
        <a:ext cx="2286000" cy="571500"/>
      </dsp:txXfrm>
    </dsp:sp>
    <dsp:sp modelId="{57390BA0-39AD-40BC-80F7-1E52AA752976}">
      <dsp:nvSpPr>
        <dsp:cNvPr id="0" name=""/>
        <dsp:cNvSpPr/>
      </dsp:nvSpPr>
      <dsp:spPr>
        <a:xfrm>
          <a:off x="2708910" y="1043178"/>
          <a:ext cx="857250" cy="857250"/>
        </a:xfrm>
        <a:prstGeom prst="ellipse">
          <a:avLst/>
        </a:prstGeom>
        <a:solidFill>
          <a:schemeClr val="accent1">
            <a:hueOff val="0"/>
            <a:satOff val="0"/>
            <a:lumOff val="0"/>
            <a:alphaOff val="0"/>
          </a:schemeClr>
        </a:solidFill>
        <a:ln>
          <a:noFill/>
        </a:ln>
        <a:effectLst>
          <a:outerShdw blurRad="38100" dist="300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Feeling</a:t>
          </a:r>
        </a:p>
      </dsp:txBody>
      <dsp:txXfrm>
        <a:off x="2834451" y="1168719"/>
        <a:ext cx="606168" cy="606168"/>
      </dsp:txXfrm>
    </dsp:sp>
    <dsp:sp modelId="{45B977F8-58E2-46E7-9121-37196DD31078}">
      <dsp:nvSpPr>
        <dsp:cNvPr id="0" name=""/>
        <dsp:cNvSpPr/>
      </dsp:nvSpPr>
      <dsp:spPr>
        <a:xfrm>
          <a:off x="2095500" y="400050"/>
          <a:ext cx="857250" cy="857250"/>
        </a:xfrm>
        <a:prstGeom prst="ellipse">
          <a:avLst/>
        </a:prstGeom>
        <a:solidFill>
          <a:schemeClr val="accent1">
            <a:hueOff val="0"/>
            <a:satOff val="0"/>
            <a:lumOff val="0"/>
            <a:alphaOff val="0"/>
          </a:schemeClr>
        </a:solidFill>
        <a:ln>
          <a:noFill/>
        </a:ln>
        <a:effectLst>
          <a:outerShdw blurRad="38100" dist="300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Thinking</a:t>
          </a:r>
          <a:endParaRPr lang="en-US" sz="1400" kern="1200" dirty="0"/>
        </a:p>
      </dsp:txBody>
      <dsp:txXfrm>
        <a:off x="2221041" y="525591"/>
        <a:ext cx="606168" cy="606168"/>
      </dsp:txXfrm>
    </dsp:sp>
    <dsp:sp modelId="{A82141AE-18EB-4EBE-9C77-4BCE7F91461E}">
      <dsp:nvSpPr>
        <dsp:cNvPr id="0" name=""/>
        <dsp:cNvSpPr/>
      </dsp:nvSpPr>
      <dsp:spPr>
        <a:xfrm>
          <a:off x="1714500" y="19050"/>
          <a:ext cx="2667000" cy="2133600"/>
        </a:xfrm>
        <a:prstGeom prst="funnel">
          <a:avLst/>
        </a:prstGeom>
        <a:solidFill>
          <a:schemeClr val="lt1">
            <a:alpha val="40000"/>
            <a:hueOff val="0"/>
            <a:satOff val="0"/>
            <a:lumOff val="0"/>
            <a:alphaOff val="0"/>
          </a:schemeClr>
        </a:solidFill>
        <a:ln>
          <a:noFill/>
        </a:ln>
        <a:effectLst>
          <a:outerShdw blurRad="38100" dist="300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10/9/2024</a:t>
            </a:fld>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10/9/2024</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hf hdr="0" dt="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37E95523-DC34-4BAA-8ACF-E3F0EC19814C}" type="slidenum">
              <a:rPr lang="en-US" sz="1300" b="0">
                <a:latin typeface="Times New Roman" pitchFamily="18" charset="0"/>
              </a:rPr>
              <a:pPr eaLnBrk="1" hangingPunct="1"/>
              <a:t>2</a:t>
            </a:fld>
            <a:endParaRPr lang="en-US" sz="1300" b="0">
              <a:latin typeface="Times New Roman"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eaLnBrk="1" hangingPunct="1"/>
            <a:r>
              <a:rPr lang="en-US" sz="1200" dirty="0">
                <a:latin typeface="+mn-lt"/>
              </a:rPr>
              <a:t>The “myth of rationality”</a:t>
            </a:r>
          </a:p>
          <a:p>
            <a:pPr lvl="1"/>
            <a:r>
              <a:rPr lang="en-US" altLang="zh-CN" sz="1200" dirty="0">
                <a:latin typeface="+mn-lt"/>
                <a:ea typeface="宋体" charset="-122"/>
              </a:rPr>
              <a:t>- Emotions were the antithesis of rationality and should not be seen in the workplace.</a:t>
            </a:r>
          </a:p>
          <a:p>
            <a:pPr lvl="1"/>
            <a:r>
              <a:rPr lang="en-US" sz="1200" dirty="0">
                <a:latin typeface="+mn-lt"/>
              </a:rPr>
              <a:t>- Organizations are not emotion-free.</a:t>
            </a:r>
          </a:p>
          <a:p>
            <a:pPr eaLnBrk="1" hangingPunct="1"/>
            <a:r>
              <a:rPr lang="en-US" sz="1200" dirty="0">
                <a:latin typeface="+mn-lt"/>
              </a:rPr>
              <a:t>Emotions of any kind are disruptive to organizations.</a:t>
            </a:r>
          </a:p>
          <a:p>
            <a:pPr lvl="1" eaLnBrk="1" hangingPunct="1"/>
            <a:r>
              <a:rPr lang="en-US" sz="1200" dirty="0">
                <a:latin typeface="+mn-lt"/>
              </a:rPr>
              <a:t>Original OB focus was solely on the effects of strong negative emotions that interfered with individual and organizational efficiency.</a:t>
            </a:r>
          </a:p>
          <a:p>
            <a:pPr lvl="1" eaLnBrk="1" hangingPunct="1"/>
            <a:endParaRPr lang="en-US" sz="1200" dirty="0">
              <a:latin typeface="+mn-lt"/>
            </a:endParaRPr>
          </a:p>
          <a:p>
            <a:r>
              <a:rPr lang="en-US" sz="1200" dirty="0">
                <a:latin typeface="+mn-lt"/>
              </a:rPr>
              <a:t>Historically the study of organizational behavior has not given much attention to emotions.  Emotions were typically seen as irrational so managers tended to work to make the workplace emotion-free.  </a:t>
            </a:r>
          </a:p>
          <a:p>
            <a:endParaRPr lang="en-US" sz="1200" dirty="0">
              <a:latin typeface="+mn-lt"/>
            </a:endParaRPr>
          </a:p>
          <a:p>
            <a:r>
              <a:rPr lang="en-US" sz="1200" dirty="0">
                <a:latin typeface="+mn-lt"/>
              </a:rPr>
              <a:t>Often managers viewed emotions as disruptive to the workplace and therefore a hindrance to productivity.  However, when thinking about emotions, typically managers were focusing on negative emotions.  Even though there are some negative emotions that could hinder productivity, there is no doubt that workers bring their emotions to the workplace.  Therefore, any study in organizational behavior would not be complete without considering the roles of emotions in the workplace.</a:t>
            </a:r>
          </a:p>
          <a:p>
            <a:pPr lvl="1" eaLnBrk="1" hangingPunct="1"/>
            <a:endParaRPr lang="en-US" sz="1200" dirty="0">
              <a:latin typeface="+mn-l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Affect </a:t>
            </a:r>
            <a:r>
              <a:rPr lang="en-US" sz="1200" b="0" i="0" u="none" strike="noStrike" kern="1200" baseline="0" dirty="0">
                <a:solidFill>
                  <a:schemeClr val="tx1"/>
                </a:solidFill>
                <a:latin typeface="+mn-lt"/>
                <a:ea typeface="+mn-ea"/>
                <a:cs typeface="+mn-cs"/>
              </a:rPr>
              <a:t>is a generic term that covers a broad range of feelings people experience, including both emotions and moods. </a:t>
            </a:r>
            <a:r>
              <a:rPr lang="en-US" sz="1200" b="1" i="0" u="none" strike="noStrike" kern="1200" baseline="0" dirty="0">
                <a:solidFill>
                  <a:schemeClr val="tx1"/>
                </a:solidFill>
                <a:latin typeface="+mn-lt"/>
                <a:ea typeface="+mn-ea"/>
                <a:cs typeface="+mn-cs"/>
              </a:rPr>
              <a:t>Emotions </a:t>
            </a:r>
            <a:r>
              <a:rPr lang="en-US" sz="1200" b="0" i="0" u="none" strike="noStrike" kern="1200" baseline="0" dirty="0">
                <a:solidFill>
                  <a:schemeClr val="tx1"/>
                </a:solidFill>
                <a:latin typeface="+mn-lt"/>
                <a:ea typeface="+mn-ea"/>
                <a:cs typeface="+mn-cs"/>
              </a:rPr>
              <a:t>are intense feelings directed at someone or something. </a:t>
            </a:r>
            <a:r>
              <a:rPr lang="en-US" sz="1200" b="1" i="0" u="none" strike="noStrike" kern="1200" baseline="0" dirty="0">
                <a:solidFill>
                  <a:schemeClr val="tx1"/>
                </a:solidFill>
                <a:latin typeface="+mn-lt"/>
                <a:ea typeface="+mn-ea"/>
                <a:cs typeface="+mn-cs"/>
              </a:rPr>
              <a:t>Moods </a:t>
            </a:r>
            <a:r>
              <a:rPr lang="en-US" sz="1200" b="0" i="0" u="none" strike="noStrike" kern="1200" baseline="0" dirty="0">
                <a:solidFill>
                  <a:schemeClr val="tx1"/>
                </a:solidFill>
                <a:latin typeface="+mn-lt"/>
                <a:ea typeface="+mn-ea"/>
                <a:cs typeface="+mn-cs"/>
              </a:rPr>
              <a:t>are less intense feelings than emotions and often (though not always) arise without a specific event acting as a stimulus.</a:t>
            </a:r>
            <a:endParaRPr lang="en-US" dirty="0"/>
          </a:p>
          <a:p>
            <a:endParaRPr lang="en-US" dirty="0"/>
          </a:p>
          <a:p>
            <a:r>
              <a:rPr lang="en-US" dirty="0">
                <a:latin typeface="Times New Roman" pitchFamily="-1" charset="0"/>
              </a:rPr>
              <a:t>Affect is a generic term that covers a broad range of feelings people experience.  This includes both emotions and moods.  Emotions are intense feelings that are directed at someone or something.  Moods are the feelings that tend to be less intense than emotions and that lack a contextual stimulus.  </a:t>
            </a:r>
          </a:p>
        </p:txBody>
      </p:sp>
      <p:sp>
        <p:nvSpPr>
          <p:cNvPr id="4" name="Slide Number Placeholder 3"/>
          <p:cNvSpPr>
            <a:spLocks noGrp="1"/>
          </p:cNvSpPr>
          <p:nvPr>
            <p:ph type="sldNum" sz="quarter" idx="10"/>
          </p:nvPr>
        </p:nvSpPr>
        <p:spPr/>
        <p:txBody>
          <a:bodyPr/>
          <a:lstStyle/>
          <a:p>
            <a:fld id="{CA5D3BF3-D352-46FC-8343-31F56E6730EA}" type="slidenum">
              <a:rPr lang="en-US" smtClean="0"/>
              <a:pPr/>
              <a:t>3</a:t>
            </a:fld>
            <a:endParaRPr lang="en-US"/>
          </a:p>
        </p:txBody>
      </p:sp>
    </p:spTree>
    <p:extLst>
      <p:ext uri="{BB962C8B-B14F-4D97-AF65-F5344CB8AC3E}">
        <p14:creationId xmlns:p14="http://schemas.microsoft.com/office/powerpoint/2010/main" val="749192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B743D245-7494-4BA4-A29C-10461C0A8625}" type="slidenum">
              <a:rPr lang="en-US" sz="1300" b="0">
                <a:latin typeface="Times New Roman" pitchFamily="18" charset="0"/>
              </a:rPr>
              <a:pPr eaLnBrk="1" hangingPunct="1"/>
              <a:t>4</a:t>
            </a:fld>
            <a:endParaRPr lang="en-US" sz="1300" b="0">
              <a:latin typeface="Times New Roman" pitchFamily="18"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Times New Roman" pitchFamily="-1" charset="0"/>
              </a:rPr>
              <a:t>Not all psychologists agree; however, there do seem to be six basic emotions that emerge in studies:  anger, fear, sadness, happiness, disgust, surprise.  All other emotions fall under these six.  Some psychologists even place these basic six on a spectrum of emotion.</a:t>
            </a:r>
          </a:p>
        </p:txBody>
      </p:sp>
      <p:sp>
        <p:nvSpPr>
          <p:cNvPr id="4" name="Slide Number Placeholder 3"/>
          <p:cNvSpPr>
            <a:spLocks noGrp="1"/>
          </p:cNvSpPr>
          <p:nvPr>
            <p:ph type="sldNum" sz="quarter" idx="10"/>
          </p:nvPr>
        </p:nvSpPr>
        <p:spPr/>
        <p:txBody>
          <a:bodyPr/>
          <a:lstStyle/>
          <a:p>
            <a:fld id="{CA5D3BF3-D352-46FC-8343-31F56E6730EA}"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r>
              <a:rPr lang="en-US" dirty="0">
                <a:latin typeface="Times New Roman" pitchFamily="-1" charset="0"/>
              </a:rPr>
              <a:t>There are many things that impact our mood and emotions.  Personality is a key component and will definitely impact the intensity of the emotions we feel.  The day and time of the week is a common pattern for all of us.  Many are happier toward the end of the week.  Weather is thought to have an impact on our emotions, but there is no proven effect.  </a:t>
            </a:r>
          </a:p>
          <a:p>
            <a:endParaRPr lang="en-US" dirty="0">
              <a:latin typeface="Times New Roman" pitchFamily="-1" charset="0"/>
            </a:endParaRPr>
          </a:p>
          <a:p>
            <a:r>
              <a:rPr lang="en-US" dirty="0">
                <a:latin typeface="Times New Roman" pitchFamily="-1" charset="0"/>
              </a:rPr>
              <a:t>Stress is an important factor and even at low levels it can cause our mood to change.  It is important to maintain a low level of stress to help us control our psychological as well as our physical health.  Social activities have been shown to have a positive impact on our moods.  This could be physical outlets such as playing in a basketball league or it can be going out to dinner with friends.  These types of activities are found to have a positive impact on our mood.</a:t>
            </a:r>
          </a:p>
        </p:txBody>
      </p:sp>
      <p:sp>
        <p:nvSpPr>
          <p:cNvPr id="24580" name="Footer Placeholder 3"/>
          <p:cNvSpPr>
            <a:spLocks noGrp="1"/>
          </p:cNvSpPr>
          <p:nvPr>
            <p:ph type="ftr" sz="quarter" idx="4"/>
          </p:nvPr>
        </p:nvSpPr>
        <p:spPr>
          <a:xfrm>
            <a:off x="0" y="9119474"/>
            <a:ext cx="3169920" cy="480060"/>
          </a:xfrm>
          <a:prstGeom prst="rect">
            <a:avLst/>
          </a:prstGeom>
          <a:noFill/>
        </p:spPr>
        <p:txBody>
          <a:bodyPr/>
          <a:lstStyle/>
          <a:p>
            <a:r>
              <a:rPr lang="en-US">
                <a:latin typeface="Times New Roman" pitchFamily="-1" charset="0"/>
                <a:ea typeface="ＭＳ Ｐゴシック" pitchFamily="-1" charset="-128"/>
              </a:rPr>
              <a:t>MG225</a:t>
            </a:r>
          </a:p>
        </p:txBody>
      </p:sp>
      <p:sp>
        <p:nvSpPr>
          <p:cNvPr id="24581" name="Slide Number Placeholder 4"/>
          <p:cNvSpPr>
            <a:spLocks noGrp="1"/>
          </p:cNvSpPr>
          <p:nvPr>
            <p:ph type="sldNum" sz="quarter" idx="5"/>
          </p:nvPr>
        </p:nvSpPr>
        <p:spPr>
          <a:noFill/>
        </p:spPr>
        <p:txBody>
          <a:bodyPr/>
          <a:lstStyle/>
          <a:p>
            <a:fld id="{C82D4D6B-B013-4C40-9928-18F50D6F4C95}" type="slidenum">
              <a:rPr lang="en-US"/>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p:spPr>
        <p:txBody>
          <a:bodyPr/>
          <a:lstStyle/>
          <a:p>
            <a:r>
              <a:rPr lang="en-US" dirty="0">
                <a:latin typeface="Times New Roman" pitchFamily="-1" charset="0"/>
              </a:rPr>
              <a:t>Some additional sources of emotion and mood include such factors as sleep and exercise.  It is important to get enough and high-quality levels of sleep.  Physical activity can also aid in keeping our moods upbeat.</a:t>
            </a:r>
          </a:p>
          <a:p>
            <a:endParaRPr lang="en-US" dirty="0">
              <a:latin typeface="Times New Roman" pitchFamily="-1" charset="0"/>
            </a:endParaRPr>
          </a:p>
          <a:p>
            <a:r>
              <a:rPr lang="en-US" dirty="0">
                <a:latin typeface="Times New Roman" pitchFamily="-1" charset="0"/>
              </a:rPr>
              <a:t>Some characteristics that are beyond our control can impact our moods, such as age and gender.  Elderly people tend to have fewer negative emotions.  Women tend to express their emotions readily and their moods tend to last longer.  Research has shown that this is due more to cultural socialization than to biology.  </a:t>
            </a:r>
          </a:p>
        </p:txBody>
      </p:sp>
      <p:sp>
        <p:nvSpPr>
          <p:cNvPr id="26628" name="Footer Placeholder 3"/>
          <p:cNvSpPr>
            <a:spLocks noGrp="1"/>
          </p:cNvSpPr>
          <p:nvPr>
            <p:ph type="ftr" sz="quarter" idx="4"/>
          </p:nvPr>
        </p:nvSpPr>
        <p:spPr>
          <a:xfrm>
            <a:off x="0" y="9119474"/>
            <a:ext cx="3169920" cy="480060"/>
          </a:xfrm>
          <a:prstGeom prst="rect">
            <a:avLst/>
          </a:prstGeom>
          <a:noFill/>
        </p:spPr>
        <p:txBody>
          <a:bodyPr/>
          <a:lstStyle/>
          <a:p>
            <a:r>
              <a:rPr lang="en-US">
                <a:latin typeface="Times New Roman" pitchFamily="-1" charset="0"/>
                <a:ea typeface="ＭＳ Ｐゴシック" pitchFamily="-1" charset="-128"/>
              </a:rPr>
              <a:t>MG225</a:t>
            </a:r>
          </a:p>
        </p:txBody>
      </p:sp>
      <p:sp>
        <p:nvSpPr>
          <p:cNvPr id="26629" name="Slide Number Placeholder 4"/>
          <p:cNvSpPr>
            <a:spLocks noGrp="1"/>
          </p:cNvSpPr>
          <p:nvPr>
            <p:ph type="sldNum" sz="quarter" idx="5"/>
          </p:nvPr>
        </p:nvSpPr>
        <p:spPr>
          <a:noFill/>
        </p:spPr>
        <p:txBody>
          <a:bodyPr/>
          <a:lstStyle/>
          <a:p>
            <a:fld id="{9C675193-A718-4D47-99AF-0157B976E9C3}" type="slidenum">
              <a:rPr lang="en-US"/>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43E3AFD7-E898-463A-9146-3D73DF84D8D8}" type="slidenum">
              <a:rPr lang="en-US" sz="1300" b="0">
                <a:latin typeface="Times New Roman" pitchFamily="18" charset="0"/>
              </a:rPr>
              <a:pPr eaLnBrk="1" hangingPunct="1"/>
              <a:t>8</a:t>
            </a:fld>
            <a:endParaRPr lang="en-US" sz="1300" b="0">
              <a:latin typeface="Times New Roman"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EDD6A4B9-CB5B-488D-BC4C-73C217B370B3}" type="slidenum">
              <a:rPr lang="en-US" sz="1300" b="0">
                <a:latin typeface="Times New Roman" pitchFamily="18" charset="0"/>
              </a:rPr>
              <a:pPr eaLnBrk="1" hangingPunct="1"/>
              <a:t>9</a:t>
            </a:fld>
            <a:endParaRPr lang="en-US" sz="1300" b="0">
              <a:latin typeface="Times New Roman"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F4AAC429-EC81-498C-81B1-64BE062096CF}" type="slidenum">
              <a:rPr lang="en-US" sz="1300" b="0">
                <a:latin typeface="Times New Roman" pitchFamily="18" charset="0"/>
              </a:rPr>
              <a:pPr eaLnBrk="1" hangingPunct="1"/>
              <a:t>10</a:t>
            </a:fld>
            <a:endParaRPr lang="en-US" sz="1300" b="0">
              <a:latin typeface="Times New Roman"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200" b="1" i="0" kern="1200" dirty="0">
                <a:solidFill>
                  <a:schemeClr val="tx1"/>
                </a:solidFill>
                <a:latin typeface="+mn-lt"/>
                <a:ea typeface="+mn-ea"/>
                <a:cs typeface="+mn-cs"/>
              </a:rPr>
              <a:t>Emotional labor</a:t>
            </a:r>
            <a:r>
              <a:rPr lang="en-US" sz="1200" b="0" i="0" kern="1200" dirty="0">
                <a:solidFill>
                  <a:schemeClr val="tx1"/>
                </a:solidFill>
                <a:latin typeface="+mn-lt"/>
                <a:ea typeface="+mn-ea"/>
                <a:cs typeface="+mn-cs"/>
              </a:rPr>
              <a:t> is the process of managing feelings and expressions to fulfill the </a:t>
            </a:r>
            <a:r>
              <a:rPr lang="en-US" sz="1200" b="1" i="0" kern="1200" dirty="0">
                <a:solidFill>
                  <a:schemeClr val="tx1"/>
                </a:solidFill>
                <a:latin typeface="+mn-lt"/>
                <a:ea typeface="+mn-ea"/>
                <a:cs typeface="+mn-cs"/>
              </a:rPr>
              <a:t>emotional</a:t>
            </a:r>
            <a:r>
              <a:rPr lang="en-US" sz="1200" b="0" i="0" kern="1200" dirty="0">
                <a:solidFill>
                  <a:schemeClr val="tx1"/>
                </a:solidFill>
                <a:latin typeface="+mn-lt"/>
                <a:ea typeface="+mn-ea"/>
                <a:cs typeface="+mn-cs"/>
              </a:rPr>
              <a:t> requirements of a job. More specifically, workers are expected to regulate their </a:t>
            </a:r>
            <a:r>
              <a:rPr lang="en-US" sz="1200" b="1" i="0" kern="1200" dirty="0">
                <a:solidFill>
                  <a:schemeClr val="tx1"/>
                </a:solidFill>
                <a:latin typeface="+mn-lt"/>
                <a:ea typeface="+mn-ea"/>
                <a:cs typeface="+mn-cs"/>
              </a:rPr>
              <a:t>emotions</a:t>
            </a:r>
            <a:r>
              <a:rPr lang="en-US" sz="1200" b="0" i="0" kern="1200" dirty="0">
                <a:solidFill>
                  <a:schemeClr val="tx1"/>
                </a:solidFill>
                <a:latin typeface="+mn-lt"/>
                <a:ea typeface="+mn-ea"/>
                <a:cs typeface="+mn-cs"/>
              </a:rPr>
              <a:t> during interactions with customers, co-workers and superiors.</a:t>
            </a:r>
          </a:p>
          <a:p>
            <a:pPr eaLnBrk="1" hangingPunct="1"/>
            <a:endParaRPr lang="en-US" sz="1200" b="0" i="0" kern="1200" dirty="0">
              <a:solidFill>
                <a:schemeClr val="tx1"/>
              </a:solidFill>
              <a:latin typeface="+mn-lt"/>
              <a:ea typeface="+mn-ea"/>
              <a:cs typeface="+mn-cs"/>
            </a:endParaRPr>
          </a:p>
          <a:p>
            <a:pPr eaLnBrk="1" hangingPunct="1"/>
            <a:r>
              <a:rPr lang="en-US" sz="1200" b="1" i="0" kern="1200" dirty="0">
                <a:solidFill>
                  <a:schemeClr val="tx1"/>
                </a:solidFill>
                <a:latin typeface="+mn-lt"/>
                <a:ea typeface="+mn-ea"/>
                <a:cs typeface="+mn-cs"/>
              </a:rPr>
              <a:t>Job burnout</a:t>
            </a:r>
            <a:r>
              <a:rPr lang="en-US" sz="1200" b="0" i="0" kern="1200" dirty="0">
                <a:solidFill>
                  <a:schemeClr val="tx1"/>
                </a:solidFill>
                <a:latin typeface="+mn-lt"/>
                <a:ea typeface="+mn-ea"/>
                <a:cs typeface="+mn-cs"/>
              </a:rPr>
              <a:t> is a special type of </a:t>
            </a:r>
            <a:r>
              <a:rPr lang="en-US" sz="1200" b="1" i="0" kern="1200" dirty="0">
                <a:solidFill>
                  <a:schemeClr val="tx1"/>
                </a:solidFill>
                <a:latin typeface="+mn-lt"/>
                <a:ea typeface="+mn-ea"/>
                <a:cs typeface="+mn-cs"/>
              </a:rPr>
              <a:t>job</a:t>
            </a:r>
            <a:r>
              <a:rPr lang="en-US" sz="1200" b="0" i="0" kern="1200" dirty="0">
                <a:solidFill>
                  <a:schemeClr val="tx1"/>
                </a:solidFill>
                <a:latin typeface="+mn-lt"/>
                <a:ea typeface="+mn-ea"/>
                <a:cs typeface="+mn-cs"/>
              </a:rPr>
              <a:t> stress — a state of physical, emotional or mental exhaustion combined with doubts about your competence and the value of your work</a:t>
            </a:r>
          </a:p>
          <a:p>
            <a:pPr eaLnBrk="1" hangingPunct="1"/>
            <a:endParaRPr lang="en-US" sz="1200" b="0" i="0" kern="1200" dirty="0">
              <a:solidFill>
                <a:schemeClr val="tx1"/>
              </a:solidFill>
              <a:latin typeface="+mn-lt"/>
              <a:ea typeface="+mn-ea"/>
              <a:cs typeface="+mn-cs"/>
            </a:endParaRPr>
          </a:p>
          <a:p>
            <a:r>
              <a:rPr lang="en-US" dirty="0">
                <a:latin typeface="Times New Roman" pitchFamily="-1" charset="0"/>
              </a:rPr>
              <a:t>In many jobs there is an implied agreement on the types of emotions that should be expressed. For example, waitresses are supposed to be friendly and cheerful, whether they are currently feeling that emotion or not. When employees don’t feel the emotion they are required to express, they may experience emotional dissonance. This can lead to burnout and frustration with the job.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EC221AAD-E5FA-4B14-90D8-87873599FD4C}" type="slidenum">
              <a:rPr lang="en-US" sz="1300" b="0">
                <a:latin typeface="Times New Roman" pitchFamily="18" charset="0"/>
              </a:rPr>
              <a:pPr eaLnBrk="1" hangingPunct="1"/>
              <a:t>11</a:t>
            </a:fld>
            <a:endParaRPr lang="en-US" sz="1300" b="0">
              <a:latin typeface="Times New Roman" pitchFamily="18"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itchFamily="-1" charset="0"/>
              </a:rPr>
              <a:t>An employee’s actual emotions are their felt emotions and this is in contrast to the emotions that are required or deemed appropriate, which are called displayed emotions. There are two levels of displayed emotions that can be expressed. They are both appropriately called acting.  Surface acting is when an employee displays the appropriate emotions even when they don’t feel those emotions.  Deep acting is when the employee actually changes their internal feelings to match displayed rules; this level of acting can be very stressful.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16199ED7-2913-4D6E-8DF9-63191096FA25}" type="slidenum">
              <a:rPr lang="en-US" sz="1300" b="0">
                <a:latin typeface="Times New Roman" pitchFamily="18" charset="0"/>
              </a:rPr>
              <a:pPr eaLnBrk="1" hangingPunct="1"/>
              <a:t>12</a:t>
            </a:fld>
            <a:endParaRPr lang="en-US" sz="1300" b="0">
              <a:latin typeface="Times New Roman" pitchFamily="18"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 charset="0"/>
              </a:rPr>
              <a:t>Affective Events Theory demonstrates that employees react emotionally to things that happen to them at work and this can influence their job performance and job satisfaction. The intensity of these responses will be based on emotion and mood.  </a:t>
            </a:r>
          </a:p>
          <a:p>
            <a:pPr eaLnBrk="1" hangingPunct="1"/>
            <a:endParaRPr lang="en-US" dirty="0"/>
          </a:p>
          <a:p>
            <a:pPr>
              <a:defRPr/>
            </a:pPr>
            <a:r>
              <a:rPr lang="en-US" dirty="0">
                <a:ea typeface="+mn-ea"/>
              </a:rPr>
              <a:t>AET has a number of implications.  These implications are as follows:</a:t>
            </a:r>
          </a:p>
          <a:p>
            <a:pPr>
              <a:defRPr/>
            </a:pPr>
            <a:endParaRPr lang="en-US" dirty="0">
              <a:ea typeface="+mn-ea"/>
            </a:endParaRPr>
          </a:p>
          <a:p>
            <a:pPr marL="241653" indent="-241653">
              <a:buFontTx/>
              <a:buAutoNum type="arabicPeriod"/>
              <a:defRPr/>
            </a:pPr>
            <a:r>
              <a:rPr lang="en-US" dirty="0">
                <a:ea typeface="+mn-ea"/>
              </a:rPr>
              <a:t>When an employee has an emotional episode, it is actually the result of a series of emotional experiences that are triggered by a single event.</a:t>
            </a:r>
          </a:p>
          <a:p>
            <a:pPr marL="241653" indent="-241653">
              <a:buFontTx/>
              <a:buAutoNum type="arabicPeriod"/>
              <a:defRPr/>
            </a:pPr>
            <a:r>
              <a:rPr lang="en-US" dirty="0">
                <a:ea typeface="+mn-ea"/>
              </a:rPr>
              <a:t>Your job satisfaction is impacted by current and past emotions.</a:t>
            </a:r>
          </a:p>
          <a:p>
            <a:pPr marL="241653" indent="-241653">
              <a:buFontTx/>
              <a:buAutoNum type="arabicPeriod"/>
              <a:defRPr/>
            </a:pPr>
            <a:r>
              <a:rPr lang="en-US" dirty="0">
                <a:ea typeface="+mn-ea"/>
              </a:rPr>
              <a:t>As your emotions fluctuate over time, it will create variations in job performance.</a:t>
            </a:r>
          </a:p>
          <a:p>
            <a:pPr marL="241653" indent="-241653">
              <a:buFontTx/>
              <a:buAutoNum type="arabicPeriod"/>
              <a:defRPr/>
            </a:pPr>
            <a:r>
              <a:rPr lang="en-US" dirty="0">
                <a:ea typeface="+mn-ea"/>
              </a:rPr>
              <a:t>Behaviors that are driven by emotions are typically brief and variable.</a:t>
            </a:r>
          </a:p>
          <a:p>
            <a:pPr marL="241653" indent="-241653">
              <a:buFontTx/>
              <a:buAutoNum type="arabicPeriod"/>
              <a:defRPr/>
            </a:pPr>
            <a:r>
              <a:rPr lang="en-US" dirty="0">
                <a:ea typeface="+mn-ea"/>
              </a:rPr>
              <a:t>Both positive and negative emotions can distract workers and reduce job performance.</a:t>
            </a:r>
          </a:p>
          <a:p>
            <a:pPr marL="241653" indent="-241653">
              <a:buFontTx/>
              <a:buAutoNum type="arabicPeriod"/>
              <a:defRPr/>
            </a:pPr>
            <a:endParaRPr lang="en-US" dirty="0">
              <a:ea typeface="+mn-ea"/>
            </a:endParaRPr>
          </a:p>
          <a:p>
            <a:pPr marL="241653" indent="-241653">
              <a:defRPr/>
            </a:pPr>
            <a:r>
              <a:rPr lang="en-US" dirty="0">
                <a:ea typeface="+mn-ea"/>
              </a:rPr>
              <a:t>In summary, emotions do provide very valuable information and predict factors about behavior.  In addition, it is important not to ignore minor events as they will accumulate over time.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083" eaLnBrk="0" hangingPunct="0">
              <a:defRPr sz="1100" b="1">
                <a:solidFill>
                  <a:schemeClr val="tx1"/>
                </a:solidFill>
                <a:latin typeface="Arial" charset="0"/>
              </a:defRPr>
            </a:lvl1pPr>
            <a:lvl2pPr marL="788493" indent="-303266" defTabSz="967083" eaLnBrk="0" hangingPunct="0">
              <a:defRPr sz="1100" b="1">
                <a:solidFill>
                  <a:schemeClr val="tx1"/>
                </a:solidFill>
                <a:latin typeface="Arial" charset="0"/>
              </a:defRPr>
            </a:lvl2pPr>
            <a:lvl3pPr marL="1213066" indent="-242613" defTabSz="967083" eaLnBrk="0" hangingPunct="0">
              <a:defRPr sz="1100" b="1">
                <a:solidFill>
                  <a:schemeClr val="tx1"/>
                </a:solidFill>
                <a:latin typeface="Arial" charset="0"/>
              </a:defRPr>
            </a:lvl3pPr>
            <a:lvl4pPr marL="1698292" indent="-242613" defTabSz="967083" eaLnBrk="0" hangingPunct="0">
              <a:defRPr sz="1100" b="1">
                <a:solidFill>
                  <a:schemeClr val="tx1"/>
                </a:solidFill>
                <a:latin typeface="Arial" charset="0"/>
              </a:defRPr>
            </a:lvl4pPr>
            <a:lvl5pPr marL="2183519" indent="-242613" defTabSz="967083" eaLnBrk="0" hangingPunct="0">
              <a:defRPr sz="1100" b="1">
                <a:solidFill>
                  <a:schemeClr val="tx1"/>
                </a:solidFill>
                <a:latin typeface="Arial" charset="0"/>
              </a:defRPr>
            </a:lvl5pPr>
            <a:lvl6pPr marL="2668745" indent="-242613" defTabSz="967083" eaLnBrk="0" fontAlgn="base" hangingPunct="0">
              <a:spcBef>
                <a:spcPct val="0"/>
              </a:spcBef>
              <a:spcAft>
                <a:spcPct val="0"/>
              </a:spcAft>
              <a:defRPr sz="1100" b="1">
                <a:solidFill>
                  <a:schemeClr val="tx1"/>
                </a:solidFill>
                <a:latin typeface="Arial" charset="0"/>
              </a:defRPr>
            </a:lvl6pPr>
            <a:lvl7pPr marL="3153971" indent="-242613" defTabSz="967083" eaLnBrk="0" fontAlgn="base" hangingPunct="0">
              <a:spcBef>
                <a:spcPct val="0"/>
              </a:spcBef>
              <a:spcAft>
                <a:spcPct val="0"/>
              </a:spcAft>
              <a:defRPr sz="1100" b="1">
                <a:solidFill>
                  <a:schemeClr val="tx1"/>
                </a:solidFill>
                <a:latin typeface="Arial" charset="0"/>
              </a:defRPr>
            </a:lvl7pPr>
            <a:lvl8pPr marL="3639198" indent="-242613" defTabSz="967083" eaLnBrk="0" fontAlgn="base" hangingPunct="0">
              <a:spcBef>
                <a:spcPct val="0"/>
              </a:spcBef>
              <a:spcAft>
                <a:spcPct val="0"/>
              </a:spcAft>
              <a:defRPr sz="1100" b="1">
                <a:solidFill>
                  <a:schemeClr val="tx1"/>
                </a:solidFill>
                <a:latin typeface="Arial" charset="0"/>
              </a:defRPr>
            </a:lvl8pPr>
            <a:lvl9pPr marL="4124424" indent="-242613" defTabSz="967083" eaLnBrk="0" fontAlgn="base" hangingPunct="0">
              <a:spcBef>
                <a:spcPct val="0"/>
              </a:spcBef>
              <a:spcAft>
                <a:spcPct val="0"/>
              </a:spcAft>
              <a:defRPr sz="1100" b="1">
                <a:solidFill>
                  <a:schemeClr val="tx1"/>
                </a:solidFill>
                <a:latin typeface="Arial" charset="0"/>
              </a:defRPr>
            </a:lvl9pPr>
          </a:lstStyle>
          <a:p>
            <a:pPr eaLnBrk="1" hangingPunct="1"/>
            <a:fld id="{0CB5273E-0D69-4469-83DB-12A413B560A9}" type="slidenum">
              <a:rPr lang="en-US" sz="1300" b="0">
                <a:latin typeface="Times New Roman" pitchFamily="18" charset="0"/>
              </a:rPr>
              <a:pPr eaLnBrk="1" hangingPunct="1"/>
              <a:t>13</a:t>
            </a:fld>
            <a:endParaRPr lang="en-US" sz="1300" b="0">
              <a:latin typeface="Times New Roman"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p:spPr>
        <p:txBody>
          <a:bodyPr/>
          <a:lstStyle/>
          <a:p>
            <a:r>
              <a:rPr lang="en-US" dirty="0">
                <a:latin typeface="Times New Roman" pitchFamily="-1" charset="0"/>
              </a:rPr>
              <a:t>There are some who think that emotions are linked to irrationality and that expressing emotions in public may be damaging to your career or status.  However, research has shown that emotions are necessary for rational thinking.  They help us make better decisions and help us understand the world around us.  If we are going to make decisions, we need to incorporate both thinking and feeling.</a:t>
            </a:r>
          </a:p>
        </p:txBody>
      </p:sp>
      <p:sp>
        <p:nvSpPr>
          <p:cNvPr id="22532" name="Footer Placeholder 3"/>
          <p:cNvSpPr>
            <a:spLocks noGrp="1"/>
          </p:cNvSpPr>
          <p:nvPr>
            <p:ph type="ftr" sz="quarter" idx="4"/>
          </p:nvPr>
        </p:nvSpPr>
        <p:spPr>
          <a:xfrm>
            <a:off x="0" y="9119474"/>
            <a:ext cx="3169920" cy="480060"/>
          </a:xfrm>
          <a:prstGeom prst="rect">
            <a:avLst/>
          </a:prstGeom>
          <a:noFill/>
        </p:spPr>
        <p:txBody>
          <a:bodyPr/>
          <a:lstStyle/>
          <a:p>
            <a:r>
              <a:rPr lang="en-US">
                <a:latin typeface="Times New Roman" pitchFamily="-1" charset="0"/>
                <a:ea typeface="ＭＳ Ｐゴシック" pitchFamily="-1" charset="-128"/>
              </a:rPr>
              <a:t>MG225</a:t>
            </a:r>
          </a:p>
        </p:txBody>
      </p:sp>
      <p:sp>
        <p:nvSpPr>
          <p:cNvPr id="22533" name="Slide Number Placeholder 4"/>
          <p:cNvSpPr>
            <a:spLocks noGrp="1"/>
          </p:cNvSpPr>
          <p:nvPr>
            <p:ph type="sldNum" sz="quarter" idx="5"/>
          </p:nvPr>
        </p:nvSpPr>
        <p:spPr>
          <a:noFill/>
        </p:spPr>
        <p:txBody>
          <a:bodyPr/>
          <a:lstStyle/>
          <a:p>
            <a:fld id="{9F7531AF-02E3-49D7-BF07-7D33981F4478}" type="slidenum">
              <a:rPr lang="en-US"/>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sz="1200" dirty="0">
                <a:latin typeface="+mn-lt"/>
              </a:rPr>
              <a:t>There are numerous applications of emotions and moods.  These include selection of employees, decision making, creativity, motivation, and leadership.</a:t>
            </a:r>
          </a:p>
          <a:p>
            <a:endParaRPr lang="en-US" sz="1200" dirty="0">
              <a:latin typeface="+mn-lt"/>
            </a:endParaRPr>
          </a:p>
          <a:p>
            <a:pPr eaLnBrk="1" hangingPunct="1">
              <a:spcAft>
                <a:spcPts val="1800"/>
              </a:spcAft>
            </a:pPr>
            <a:r>
              <a:rPr lang="en-US" altLang="zh-CN" sz="1200" b="1" dirty="0">
                <a:latin typeface="+mn-lt"/>
                <a:ea typeface="宋体" charset="-122"/>
              </a:rPr>
              <a:t>Selection</a:t>
            </a:r>
            <a:r>
              <a:rPr lang="en-US" altLang="zh-CN" sz="1200" dirty="0">
                <a:latin typeface="+mn-lt"/>
                <a:ea typeface="宋体" charset="-122"/>
              </a:rPr>
              <a:t> – Employers should consider EI a factor in hiring for jobs that demand a high degree of social interaction</a:t>
            </a:r>
          </a:p>
          <a:p>
            <a:pPr eaLnBrk="1" hangingPunct="1">
              <a:spcAft>
                <a:spcPts val="1200"/>
              </a:spcAft>
            </a:pPr>
            <a:r>
              <a:rPr lang="en-US" altLang="zh-CN" sz="1200" b="1" dirty="0">
                <a:latin typeface="+mn-lt"/>
                <a:ea typeface="宋体" charset="-122"/>
              </a:rPr>
              <a:t>Decision Making </a:t>
            </a:r>
            <a:r>
              <a:rPr lang="en-US" altLang="zh-CN" sz="1200" dirty="0">
                <a:latin typeface="+mn-lt"/>
                <a:ea typeface="宋体" charset="-122"/>
              </a:rPr>
              <a:t>– Positive emotions can increase problem-solving skills and help us understand and analyze new information</a:t>
            </a:r>
          </a:p>
          <a:p>
            <a:pPr eaLnBrk="1" hangingPunct="1"/>
            <a:r>
              <a:rPr lang="en-US" altLang="zh-CN" sz="1200" b="1" dirty="0">
                <a:latin typeface="+mn-lt"/>
                <a:ea typeface="宋体" charset="-122"/>
              </a:rPr>
              <a:t>Creativity</a:t>
            </a:r>
            <a:r>
              <a:rPr lang="en-US" altLang="zh-CN" sz="1200" dirty="0">
                <a:latin typeface="+mn-lt"/>
                <a:ea typeface="宋体" charset="-122"/>
              </a:rPr>
              <a:t> – Positive moods and feedback may increase creativity.</a:t>
            </a:r>
          </a:p>
          <a:p>
            <a:pPr eaLnBrk="1" hangingPunct="1">
              <a:lnSpc>
                <a:spcPct val="90000"/>
              </a:lnSpc>
            </a:pPr>
            <a:r>
              <a:rPr lang="en-US" altLang="zh-CN" sz="1200" b="1" dirty="0">
                <a:latin typeface="+mn-lt"/>
                <a:ea typeface="宋体" charset="-122"/>
              </a:rPr>
              <a:t>Motivation</a:t>
            </a:r>
            <a:r>
              <a:rPr lang="en-US" altLang="zh-CN" sz="1200" dirty="0">
                <a:latin typeface="+mn-lt"/>
                <a:ea typeface="宋体" charset="-122"/>
              </a:rPr>
              <a:t> – Promoting positive moods may give a more motivated workforce</a:t>
            </a:r>
          </a:p>
          <a:p>
            <a:pPr eaLnBrk="1" hangingPunct="1">
              <a:lnSpc>
                <a:spcPct val="90000"/>
              </a:lnSpc>
            </a:pPr>
            <a:r>
              <a:rPr lang="en-US" altLang="zh-CN" sz="1200" b="1" dirty="0">
                <a:latin typeface="+mn-lt"/>
                <a:ea typeface="宋体" charset="-122"/>
              </a:rPr>
              <a:t>Leadership</a:t>
            </a:r>
            <a:r>
              <a:rPr lang="en-US" altLang="zh-CN" sz="1200" dirty="0">
                <a:latin typeface="+mn-lt"/>
                <a:ea typeface="宋体" charset="-122"/>
              </a:rPr>
              <a:t> – Emotions help convey messages more effectively</a:t>
            </a:r>
          </a:p>
        </p:txBody>
      </p:sp>
      <p:sp>
        <p:nvSpPr>
          <p:cNvPr id="36868" name="Footer Placeholder 3"/>
          <p:cNvSpPr>
            <a:spLocks noGrp="1"/>
          </p:cNvSpPr>
          <p:nvPr>
            <p:ph type="ftr" sz="quarter" idx="4"/>
          </p:nvPr>
        </p:nvSpPr>
        <p:spPr>
          <a:xfrm>
            <a:off x="0" y="9119474"/>
            <a:ext cx="3169920" cy="480060"/>
          </a:xfrm>
          <a:prstGeom prst="rect">
            <a:avLst/>
          </a:prstGeom>
          <a:noFill/>
        </p:spPr>
        <p:txBody>
          <a:bodyPr/>
          <a:lstStyle/>
          <a:p>
            <a:r>
              <a:rPr lang="en-US">
                <a:latin typeface="Times New Roman" pitchFamily="-1" charset="0"/>
                <a:ea typeface="ＭＳ Ｐゴシック" pitchFamily="-1" charset="-128"/>
              </a:rPr>
              <a:t>MG225</a:t>
            </a:r>
          </a:p>
        </p:txBody>
      </p:sp>
      <p:sp>
        <p:nvSpPr>
          <p:cNvPr id="36869" name="Slide Number Placeholder 4"/>
          <p:cNvSpPr>
            <a:spLocks noGrp="1"/>
          </p:cNvSpPr>
          <p:nvPr>
            <p:ph type="sldNum" sz="quarter" idx="5"/>
          </p:nvPr>
        </p:nvSpPr>
        <p:spPr>
          <a:noFill/>
        </p:spPr>
        <p:txBody>
          <a:bodyPr/>
          <a:lstStyle/>
          <a:p>
            <a:fld id="{09040490-F678-4F03-B608-8F003AEC3F79}" type="slidenum">
              <a:rPr lang="en-US"/>
              <a:pPr/>
              <a:t>24</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r>
              <a:rPr lang="en-US" sz="1200" dirty="0">
                <a:latin typeface="+mn-lt"/>
              </a:rPr>
              <a:t>Some additional applications of emotions and mood include negotiation, customer service, job attitudes, deviant workplace behaviors, and manager’s influence.</a:t>
            </a:r>
          </a:p>
          <a:p>
            <a:pPr eaLnBrk="1" hangingPunct="1">
              <a:lnSpc>
                <a:spcPct val="90000"/>
              </a:lnSpc>
            </a:pPr>
            <a:r>
              <a:rPr lang="en-US" altLang="zh-CN" sz="1200" b="1" dirty="0">
                <a:latin typeface="+mn-lt"/>
                <a:ea typeface="宋体" charset="-122"/>
              </a:rPr>
              <a:t>Negotiation</a:t>
            </a:r>
            <a:r>
              <a:rPr lang="en-US" altLang="zh-CN" sz="1200" dirty="0">
                <a:latin typeface="+mn-lt"/>
                <a:ea typeface="宋体" charset="-122"/>
              </a:rPr>
              <a:t> – Emotions may impair negotiator performance</a:t>
            </a:r>
          </a:p>
          <a:p>
            <a:pPr eaLnBrk="1" hangingPunct="1">
              <a:lnSpc>
                <a:spcPct val="90000"/>
              </a:lnSpc>
            </a:pPr>
            <a:r>
              <a:rPr lang="en-US" altLang="zh-CN" sz="1200" b="1" dirty="0">
                <a:latin typeface="+mn-lt"/>
                <a:ea typeface="宋体" charset="-122"/>
              </a:rPr>
              <a:t>Customer Service </a:t>
            </a:r>
            <a:r>
              <a:rPr lang="en-US" altLang="zh-CN" sz="1200" dirty="0">
                <a:latin typeface="+mn-lt"/>
                <a:ea typeface="宋体" charset="-122"/>
              </a:rPr>
              <a:t>– Customers “catch” emotions from employees, called </a:t>
            </a:r>
            <a:r>
              <a:rPr lang="en-US" altLang="zh-CN" sz="1200" i="1" dirty="0">
                <a:latin typeface="+mn-lt"/>
                <a:ea typeface="宋体" charset="-122"/>
              </a:rPr>
              <a:t>emotional contagion. </a:t>
            </a:r>
            <a:r>
              <a:rPr lang="en-US" sz="1200" b="1" i="0" kern="1200" dirty="0">
                <a:solidFill>
                  <a:schemeClr val="tx1"/>
                </a:solidFill>
                <a:latin typeface="+mn-lt"/>
                <a:ea typeface="+mn-ea"/>
                <a:cs typeface="+mn-cs"/>
              </a:rPr>
              <a:t>Emotional contagion</a:t>
            </a:r>
            <a:r>
              <a:rPr lang="en-US" sz="1200" b="0" i="0" kern="1200" dirty="0">
                <a:solidFill>
                  <a:schemeClr val="tx1"/>
                </a:solidFill>
                <a:latin typeface="+mn-lt"/>
                <a:ea typeface="+mn-ea"/>
                <a:cs typeface="+mn-cs"/>
              </a:rPr>
              <a:t> is the phenomenon of having one person's </a:t>
            </a:r>
            <a:r>
              <a:rPr lang="en-US" sz="1200" b="1" i="0" kern="1200" dirty="0">
                <a:solidFill>
                  <a:schemeClr val="tx1"/>
                </a:solidFill>
                <a:latin typeface="+mn-lt"/>
                <a:ea typeface="+mn-ea"/>
                <a:cs typeface="+mn-cs"/>
              </a:rPr>
              <a:t>emotions</a:t>
            </a:r>
            <a:r>
              <a:rPr lang="en-US" sz="1200" b="0" i="0" kern="1200" dirty="0">
                <a:solidFill>
                  <a:schemeClr val="tx1"/>
                </a:solidFill>
                <a:latin typeface="+mn-lt"/>
                <a:ea typeface="+mn-ea"/>
                <a:cs typeface="+mn-cs"/>
              </a:rPr>
              <a:t> and related behaviors directly trigger similar </a:t>
            </a:r>
            <a:r>
              <a:rPr lang="en-US" sz="1200" b="1" i="0" kern="1200" dirty="0">
                <a:solidFill>
                  <a:schemeClr val="tx1"/>
                </a:solidFill>
                <a:latin typeface="+mn-lt"/>
                <a:ea typeface="+mn-ea"/>
                <a:cs typeface="+mn-cs"/>
              </a:rPr>
              <a:t>emotions</a:t>
            </a:r>
            <a:r>
              <a:rPr lang="en-US" sz="1200" b="0" i="0" kern="1200" dirty="0">
                <a:solidFill>
                  <a:schemeClr val="tx1"/>
                </a:solidFill>
                <a:latin typeface="+mn-lt"/>
                <a:ea typeface="+mn-ea"/>
                <a:cs typeface="+mn-cs"/>
              </a:rPr>
              <a:t> and behaviors in other people.</a:t>
            </a:r>
            <a:endParaRPr lang="en-US" sz="1200" b="0" i="1" kern="1200" dirty="0">
              <a:solidFill>
                <a:schemeClr val="tx1"/>
              </a:solidFill>
              <a:latin typeface="+mn-lt"/>
              <a:ea typeface="宋体" charset="-122"/>
              <a:cs typeface="+mn-cs"/>
            </a:endParaRPr>
          </a:p>
          <a:p>
            <a:pPr eaLnBrk="1" hangingPunct="1">
              <a:lnSpc>
                <a:spcPct val="90000"/>
              </a:lnSpc>
            </a:pPr>
            <a:endParaRPr lang="en-US" altLang="zh-CN" sz="1200" dirty="0">
              <a:latin typeface="+mn-lt"/>
              <a:ea typeface="宋体" charset="-122"/>
            </a:endParaRPr>
          </a:p>
          <a:p>
            <a:pPr eaLnBrk="1" hangingPunct="1"/>
            <a:r>
              <a:rPr lang="en-US" altLang="zh-CN" sz="1200" b="1" dirty="0">
                <a:latin typeface="+mn-lt"/>
                <a:ea typeface="宋体" charset="-122"/>
              </a:rPr>
              <a:t>Job Attitudes </a:t>
            </a:r>
            <a:r>
              <a:rPr lang="en-US" altLang="zh-CN" sz="1200" dirty="0">
                <a:latin typeface="+mn-lt"/>
                <a:ea typeface="宋体" charset="-122"/>
              </a:rPr>
              <a:t>– Emotions at work get carried home but rarely carry over to the next day</a:t>
            </a:r>
          </a:p>
          <a:p>
            <a:pPr eaLnBrk="1" hangingPunct="1">
              <a:spcBef>
                <a:spcPts val="12600"/>
              </a:spcBef>
            </a:pPr>
            <a:r>
              <a:rPr lang="en-US" altLang="zh-CN" sz="1200" b="1" dirty="0">
                <a:latin typeface="+mn-lt"/>
                <a:ea typeface="宋体" charset="-122"/>
              </a:rPr>
              <a:t>Deviant Workplace Behaviors </a:t>
            </a:r>
            <a:r>
              <a:rPr lang="en-US" altLang="zh-CN" sz="1200" dirty="0">
                <a:latin typeface="+mn-lt"/>
                <a:ea typeface="宋体" charset="-122"/>
              </a:rPr>
              <a:t>– Those who feel negative emotions are more likely to engage in deviant behavior at work</a:t>
            </a:r>
            <a:endParaRPr lang="en-US" sz="1200" dirty="0">
              <a:latin typeface="+mn-lt"/>
            </a:endParaRPr>
          </a:p>
        </p:txBody>
      </p:sp>
      <p:sp>
        <p:nvSpPr>
          <p:cNvPr id="38916" name="Footer Placeholder 3"/>
          <p:cNvSpPr>
            <a:spLocks noGrp="1"/>
          </p:cNvSpPr>
          <p:nvPr>
            <p:ph type="ftr" sz="quarter" idx="4"/>
          </p:nvPr>
        </p:nvSpPr>
        <p:spPr>
          <a:xfrm>
            <a:off x="0" y="9119474"/>
            <a:ext cx="3169920" cy="480060"/>
          </a:xfrm>
          <a:prstGeom prst="rect">
            <a:avLst/>
          </a:prstGeom>
          <a:noFill/>
        </p:spPr>
        <p:txBody>
          <a:bodyPr/>
          <a:lstStyle/>
          <a:p>
            <a:r>
              <a:rPr lang="en-US">
                <a:latin typeface="Times New Roman" pitchFamily="-1" charset="0"/>
                <a:ea typeface="ＭＳ Ｐゴシック" pitchFamily="-1" charset="-128"/>
              </a:rPr>
              <a:t>MG225</a:t>
            </a:r>
          </a:p>
        </p:txBody>
      </p:sp>
      <p:sp>
        <p:nvSpPr>
          <p:cNvPr id="38917" name="Slide Number Placeholder 4"/>
          <p:cNvSpPr>
            <a:spLocks noGrp="1"/>
          </p:cNvSpPr>
          <p:nvPr>
            <p:ph type="sldNum" sz="quarter" idx="5"/>
          </p:nvPr>
        </p:nvSpPr>
        <p:spPr>
          <a:noFill/>
        </p:spPr>
        <p:txBody>
          <a:bodyPr/>
          <a:lstStyle/>
          <a:p>
            <a:fld id="{EF090DA4-2BB6-4A6E-AB87-2C24C6FDFF91}" type="slidenum">
              <a:rPr lang="en-US"/>
              <a:pPr/>
              <a:t>25</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26</a:t>
            </a:fld>
            <a:endParaRPr lang="en-US"/>
          </a:p>
        </p:txBody>
      </p:sp>
    </p:spTree>
    <p:extLst>
      <p:ext uri="{BB962C8B-B14F-4D97-AF65-F5344CB8AC3E}">
        <p14:creationId xmlns:p14="http://schemas.microsoft.com/office/powerpoint/2010/main" val="2260012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r>
              <a:rPr lang="en-US">
                <a:latin typeface="Times New Roman" pitchFamily="-1" charset="0"/>
              </a:rPr>
              <a:t>Across cultures there do not seem to be differences in how people experience emotions.  However, it is shown that in different cultures there are different interpretations of emotions.  Some cultures are more accepting of emotional expression than others.  When you are engaging with other cultures, be sure to understand their cultural norms.</a:t>
            </a:r>
          </a:p>
        </p:txBody>
      </p:sp>
      <p:sp>
        <p:nvSpPr>
          <p:cNvPr id="40964" name="Footer Placeholder 3"/>
          <p:cNvSpPr>
            <a:spLocks noGrp="1"/>
          </p:cNvSpPr>
          <p:nvPr>
            <p:ph type="ftr" sz="quarter" idx="4"/>
          </p:nvPr>
        </p:nvSpPr>
        <p:spPr>
          <a:xfrm>
            <a:off x="0" y="9119474"/>
            <a:ext cx="3169920" cy="480060"/>
          </a:xfrm>
          <a:prstGeom prst="rect">
            <a:avLst/>
          </a:prstGeom>
          <a:noFill/>
        </p:spPr>
        <p:txBody>
          <a:bodyPr/>
          <a:lstStyle/>
          <a:p>
            <a:r>
              <a:rPr lang="en-US">
                <a:latin typeface="Times New Roman" pitchFamily="-1" charset="0"/>
                <a:ea typeface="ＭＳ Ｐゴシック" pitchFamily="-1" charset="-128"/>
              </a:rPr>
              <a:t>MG225</a:t>
            </a:r>
          </a:p>
        </p:txBody>
      </p:sp>
      <p:sp>
        <p:nvSpPr>
          <p:cNvPr id="40965" name="Slide Number Placeholder 4"/>
          <p:cNvSpPr>
            <a:spLocks noGrp="1"/>
          </p:cNvSpPr>
          <p:nvPr>
            <p:ph type="sldNum" sz="quarter" idx="5"/>
          </p:nvPr>
        </p:nvSpPr>
        <p:spPr>
          <a:noFill/>
        </p:spPr>
        <p:txBody>
          <a:bodyPr/>
          <a:lstStyle/>
          <a:p>
            <a:fld id="{513E5180-3288-4CE2-8B3A-DE914E19F1DD}" type="slidenum">
              <a:rPr lang="en-US"/>
              <a:pPr/>
              <a:t>27</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28</a:t>
            </a:fld>
            <a:endParaRPr lang="en-US"/>
          </a:p>
        </p:txBody>
      </p:sp>
    </p:spTree>
    <p:extLst>
      <p:ext uri="{BB962C8B-B14F-4D97-AF65-F5344CB8AC3E}">
        <p14:creationId xmlns:p14="http://schemas.microsoft.com/office/powerpoint/2010/main" val="1359833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29</a:t>
            </a:fld>
            <a:endParaRPr lang="en-US"/>
          </a:p>
        </p:txBody>
      </p:sp>
    </p:spTree>
    <p:extLst>
      <p:ext uri="{BB962C8B-B14F-4D97-AF65-F5344CB8AC3E}">
        <p14:creationId xmlns:p14="http://schemas.microsoft.com/office/powerpoint/2010/main" val="31250549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r>
              <a:rPr lang="en-US"/>
              <a:t>13 - </a:t>
            </a:r>
            <a:fld id="{0243B14E-2E71-49E8-B830-10FBF1D8D85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3.jpeg"/><Relationship Id="rId7" Type="http://schemas.openxmlformats.org/officeDocument/2006/relationships/image" Target="../media/image17.wmf"/><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9" Type="http://schemas.openxmlformats.org/officeDocument/2006/relationships/image" Target="../media/image19.wmf"/></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SZ6mVumHY9I"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1.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742951"/>
          </a:xfrm>
        </p:spPr>
        <p:txBody>
          <a:bodyPr>
            <a:normAutofit/>
          </a:bodyPr>
          <a:lstStyle/>
          <a:p>
            <a:r>
              <a:rPr lang="en-US" dirty="0"/>
              <a:t>Instructor: Dr. </a:t>
            </a:r>
            <a:r>
              <a:rPr lang="en-US"/>
              <a:t>Muhammad Rafiq</a:t>
            </a:r>
            <a:endParaRPr lang="en-US" dirty="0"/>
          </a:p>
          <a:p>
            <a:r>
              <a:rPr lang="en-US" b="1" dirty="0"/>
              <a:t>Chapter 4</a:t>
            </a:r>
            <a:r>
              <a:rPr lang="en-US" dirty="0"/>
              <a:t>: Organizational Behavior – 15</a:t>
            </a:r>
            <a:r>
              <a:rPr lang="en-US" baseline="30000" dirty="0"/>
              <a:t>th</a:t>
            </a:r>
            <a:r>
              <a:rPr lang="en-US" dirty="0"/>
              <a:t> Edition</a:t>
            </a:r>
          </a:p>
        </p:txBody>
      </p:sp>
      <p:sp>
        <p:nvSpPr>
          <p:cNvPr id="4" name="Title 3"/>
          <p:cNvSpPr>
            <a:spLocks noGrp="1"/>
          </p:cNvSpPr>
          <p:nvPr>
            <p:ph type="title"/>
          </p:nvPr>
        </p:nvSpPr>
        <p:spPr/>
        <p:txBody>
          <a:bodyPr>
            <a:normAutofit fontScale="90000"/>
          </a:bodyPr>
          <a:lstStyle/>
          <a:p>
            <a:pPr marL="342900" indent="-342900">
              <a:spcBef>
                <a:spcPct val="20000"/>
              </a:spcBef>
            </a:pPr>
            <a:r>
              <a:rPr lang="en-US" b="1">
                <a:solidFill>
                  <a:schemeClr val="tx1"/>
                </a:solidFill>
              </a:rPr>
              <a:t>Emotions and </a:t>
            </a:r>
            <a:r>
              <a:rPr lang="en-US" b="1" dirty="0">
                <a:solidFill>
                  <a:schemeClr val="tx1"/>
                </a:solidFill>
              </a:rPr>
              <a:t>Moods</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lnSpcReduction="10000"/>
          </a:bodyPr>
          <a:lstStyle/>
          <a:p>
            <a:pPr algn="ctr"/>
            <a:r>
              <a:rPr lang="en-US" dirty="0"/>
              <a:t>MG225</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Placeholder 1"/>
          <p:cNvPicPr>
            <a:picLocks noGrp="1" noChangeAspect="1"/>
          </p:cNvPicPr>
          <p:nvPr>
            <p:ph type="pic" idx="1"/>
          </p:nvPr>
        </p:nvPicPr>
        <p:blipFill>
          <a:blip r:embed="rId4">
            <a:extLst>
              <a:ext uri="{28A0092B-C50C-407E-A947-70E740481C1C}">
                <a14:useLocalDpi xmlns:a14="http://schemas.microsoft.com/office/drawing/2010/main" val="0"/>
              </a:ext>
            </a:extLst>
          </a:blip>
          <a:srcRect t="19710" b="19710"/>
          <a:stretch>
            <a:fillRect/>
          </a:stretch>
        </p:blipFill>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19127"/>
          <a:stretch/>
        </p:blipFill>
        <p:spPr>
          <a:xfrm>
            <a:off x="1524000" y="0"/>
            <a:ext cx="7543801" cy="343176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a:xfrm>
            <a:off x="609600" y="194310"/>
            <a:ext cx="8153400" cy="1005840"/>
          </a:xfrm>
          <a:noFill/>
        </p:spPr>
        <p:txBody>
          <a:bodyPr>
            <a:normAutofit fontScale="90000"/>
          </a:bodyPr>
          <a:lstStyle/>
          <a:p>
            <a:pPr eaLnBrk="1" hangingPunct="1">
              <a:defRPr/>
            </a:pPr>
            <a:r>
              <a:rPr lang="en-US" sz="4400" dirty="0"/>
              <a:t>Emotions</a:t>
            </a:r>
            <a:br>
              <a:rPr lang="en-US" dirty="0"/>
            </a:br>
            <a:r>
              <a:rPr lang="en-US" sz="3600" dirty="0"/>
              <a:t>Why Emotions Were Ignored in OB?</a:t>
            </a:r>
          </a:p>
        </p:txBody>
      </p:sp>
      <p:sp>
        <p:nvSpPr>
          <p:cNvPr id="364547" name="Rectangle 3"/>
          <p:cNvSpPr>
            <a:spLocks noGrp="1" noChangeArrowheads="1"/>
          </p:cNvSpPr>
          <p:nvPr>
            <p:ph sz="quarter" idx="13"/>
          </p:nvPr>
        </p:nvSpPr>
        <p:spPr/>
        <p:txBody>
          <a:bodyPr>
            <a:noAutofit/>
          </a:bodyPr>
          <a:lstStyle/>
          <a:p>
            <a:r>
              <a:rPr lang="en-US" sz="1800" dirty="0"/>
              <a:t>The “Myth of Rationality”</a:t>
            </a:r>
          </a:p>
          <a:p>
            <a:pPr lvl="1"/>
            <a:r>
              <a:rPr lang="en-US" sz="1800" dirty="0"/>
              <a:t>Emotions were seen as irrational</a:t>
            </a:r>
          </a:p>
          <a:p>
            <a:pPr lvl="1"/>
            <a:r>
              <a:rPr lang="en-US" sz="1800" dirty="0"/>
              <a:t>Managers worked to make emotion-free environments</a:t>
            </a:r>
          </a:p>
          <a:p>
            <a:r>
              <a:rPr lang="en-US" sz="1800" dirty="0"/>
              <a:t>View of Emotionality</a:t>
            </a:r>
          </a:p>
          <a:p>
            <a:pPr lvl="1"/>
            <a:r>
              <a:rPr lang="en-US" sz="1800" dirty="0"/>
              <a:t>Emotions were believed to be disruptive</a:t>
            </a:r>
          </a:p>
          <a:p>
            <a:pPr lvl="1"/>
            <a:r>
              <a:rPr lang="en-US" sz="1800" dirty="0"/>
              <a:t>Emotions interfered with productivity</a:t>
            </a:r>
          </a:p>
          <a:p>
            <a:pPr lvl="1"/>
            <a:r>
              <a:rPr lang="en-US" sz="1800" dirty="0"/>
              <a:t>Only negative emotions were observed</a:t>
            </a:r>
          </a:p>
          <a:p>
            <a:endParaRPr lang="en-US" sz="1800" dirty="0"/>
          </a:p>
          <a:p>
            <a:r>
              <a:rPr lang="en-US" sz="2000" i="1" dirty="0"/>
              <a:t>Now we know emotions can’t be separated from the workplace</a:t>
            </a:r>
          </a:p>
        </p:txBody>
      </p:sp>
      <p:pic>
        <p:nvPicPr>
          <p:cNvPr id="3074" name="Picture 2" descr="Image result for Emotions vs. moo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1200" y="2724150"/>
            <a:ext cx="144780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2800350"/>
            <a:ext cx="1371599" cy="137159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elated 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1352550"/>
            <a:ext cx="1434308" cy="143430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a:t>
            </a:fld>
            <a:endParaRPr lang="en-US"/>
          </a:p>
        </p:txBody>
      </p:sp>
    </p:spTree>
    <p:extLst>
      <p:ext uri="{BB962C8B-B14F-4D97-AF65-F5344CB8AC3E}">
        <p14:creationId xmlns:p14="http://schemas.microsoft.com/office/powerpoint/2010/main" val="60880045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4547">
                                            <p:txEl>
                                              <p:pRg st="0" end="0"/>
                                            </p:txEl>
                                          </p:spTgt>
                                        </p:tgtEl>
                                        <p:attrNameLst>
                                          <p:attrName>style.visibility</p:attrName>
                                        </p:attrNameLst>
                                      </p:cBhvr>
                                      <p:to>
                                        <p:strVal val="visible"/>
                                      </p:to>
                                    </p:set>
                                    <p:animEffect transition="in" filter="wipe(left)">
                                      <p:cBhvr>
                                        <p:cTn id="7" dur="500"/>
                                        <p:tgtEl>
                                          <p:spTgt spid="36454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64547">
                                            <p:txEl>
                                              <p:pRg st="1" end="1"/>
                                            </p:txEl>
                                          </p:spTgt>
                                        </p:tgtEl>
                                        <p:attrNameLst>
                                          <p:attrName>style.visibility</p:attrName>
                                        </p:attrNameLst>
                                      </p:cBhvr>
                                      <p:to>
                                        <p:strVal val="visible"/>
                                      </p:to>
                                    </p:set>
                                    <p:animEffect transition="in" filter="wipe(left)">
                                      <p:cBhvr>
                                        <p:cTn id="10" dur="500"/>
                                        <p:tgtEl>
                                          <p:spTgt spid="36454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64547">
                                            <p:txEl>
                                              <p:pRg st="2" end="2"/>
                                            </p:txEl>
                                          </p:spTgt>
                                        </p:tgtEl>
                                        <p:attrNameLst>
                                          <p:attrName>style.visibility</p:attrName>
                                        </p:attrNameLst>
                                      </p:cBhvr>
                                      <p:to>
                                        <p:strVal val="visible"/>
                                      </p:to>
                                    </p:set>
                                    <p:animEffect transition="in" filter="wipe(left)">
                                      <p:cBhvr>
                                        <p:cTn id="13" dur="500"/>
                                        <p:tgtEl>
                                          <p:spTgt spid="36454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64547">
                                            <p:txEl>
                                              <p:pRg st="3" end="3"/>
                                            </p:txEl>
                                          </p:spTgt>
                                        </p:tgtEl>
                                        <p:attrNameLst>
                                          <p:attrName>style.visibility</p:attrName>
                                        </p:attrNameLst>
                                      </p:cBhvr>
                                      <p:to>
                                        <p:strVal val="visible"/>
                                      </p:to>
                                    </p:set>
                                    <p:animEffect transition="in" filter="wipe(left)">
                                      <p:cBhvr>
                                        <p:cTn id="18" dur="500"/>
                                        <p:tgtEl>
                                          <p:spTgt spid="36454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64547">
                                            <p:txEl>
                                              <p:pRg st="4" end="4"/>
                                            </p:txEl>
                                          </p:spTgt>
                                        </p:tgtEl>
                                        <p:attrNameLst>
                                          <p:attrName>style.visibility</p:attrName>
                                        </p:attrNameLst>
                                      </p:cBhvr>
                                      <p:to>
                                        <p:strVal val="visible"/>
                                      </p:to>
                                    </p:set>
                                    <p:animEffect transition="in" filter="wipe(left)">
                                      <p:cBhvr>
                                        <p:cTn id="21" dur="500"/>
                                        <p:tgtEl>
                                          <p:spTgt spid="364547">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64547">
                                            <p:txEl>
                                              <p:pRg st="5" end="5"/>
                                            </p:txEl>
                                          </p:spTgt>
                                        </p:tgtEl>
                                        <p:attrNameLst>
                                          <p:attrName>style.visibility</p:attrName>
                                        </p:attrNameLst>
                                      </p:cBhvr>
                                      <p:to>
                                        <p:strVal val="visible"/>
                                      </p:to>
                                    </p:set>
                                    <p:animEffect transition="in" filter="wipe(left)">
                                      <p:cBhvr>
                                        <p:cTn id="24" dur="500"/>
                                        <p:tgtEl>
                                          <p:spTgt spid="364547">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64547">
                                            <p:txEl>
                                              <p:pRg st="6" end="6"/>
                                            </p:txEl>
                                          </p:spTgt>
                                        </p:tgtEl>
                                        <p:attrNameLst>
                                          <p:attrName>style.visibility</p:attrName>
                                        </p:attrNameLst>
                                      </p:cBhvr>
                                      <p:to>
                                        <p:strVal val="visible"/>
                                      </p:to>
                                    </p:set>
                                    <p:animEffect transition="in" filter="wipe(left)">
                                      <p:cBhvr>
                                        <p:cTn id="27" dur="500"/>
                                        <p:tgtEl>
                                          <p:spTgt spid="36454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64547">
                                            <p:txEl>
                                              <p:pRg st="8" end="8"/>
                                            </p:txEl>
                                          </p:spTgt>
                                        </p:tgtEl>
                                        <p:attrNameLst>
                                          <p:attrName>style.visibility</p:attrName>
                                        </p:attrNameLst>
                                      </p:cBhvr>
                                      <p:to>
                                        <p:strVal val="visible"/>
                                      </p:to>
                                    </p:set>
                                    <p:animEffect transition="in" filter="wipe(left)">
                                      <p:cBhvr>
                                        <p:cTn id="32" dur="500"/>
                                        <p:tgtEl>
                                          <p:spTgt spid="3645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What Are Emotions?</a:t>
            </a:r>
            <a:endParaRPr lang="en-US" dirty="0"/>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3</a:t>
            </a:fld>
            <a:endParaRPr lang="en-US" dirty="0">
              <a:solidFill>
                <a:srgbClr val="FFFFFF"/>
              </a:solidFill>
            </a:endParaRPr>
          </a:p>
        </p:txBody>
      </p:sp>
      <p:graphicFrame>
        <p:nvGraphicFramePr>
          <p:cNvPr id="4" name="Diagram 3"/>
          <p:cNvGraphicFramePr/>
          <p:nvPr>
            <p:extLst>
              <p:ext uri="{D42A27DB-BD31-4B8C-83A1-F6EECF244321}">
                <p14:modId xmlns:p14="http://schemas.microsoft.com/office/powerpoint/2010/main" val="3731908275"/>
              </p:ext>
            </p:extLst>
          </p:nvPr>
        </p:nvGraphicFramePr>
        <p:xfrm>
          <a:off x="2438400" y="1358900"/>
          <a:ext cx="4267200" cy="205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ounded Rectangular Callout 4"/>
          <p:cNvSpPr/>
          <p:nvPr/>
        </p:nvSpPr>
        <p:spPr>
          <a:xfrm>
            <a:off x="6667500" y="1352550"/>
            <a:ext cx="2324100" cy="914400"/>
          </a:xfrm>
          <a:prstGeom prst="wedgeRoundRectCallout">
            <a:avLst>
              <a:gd name="adj1" fmla="val -109577"/>
              <a:gd name="adj2" fmla="val -14423"/>
              <a:gd name="adj3" fmla="val 1666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broad range of emotions that people experience.</a:t>
            </a:r>
          </a:p>
        </p:txBody>
      </p:sp>
      <p:sp>
        <p:nvSpPr>
          <p:cNvPr id="6" name="Oval Callout 5"/>
          <p:cNvSpPr/>
          <p:nvPr/>
        </p:nvSpPr>
        <p:spPr>
          <a:xfrm>
            <a:off x="228600" y="3867150"/>
            <a:ext cx="2514600" cy="1219200"/>
          </a:xfrm>
          <a:prstGeom prst="wedgeEllipseCallout">
            <a:avLst>
              <a:gd name="adj1" fmla="val 48397"/>
              <a:gd name="adj2" fmla="val -8869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Intense feelings that are directed at someone or something.</a:t>
            </a:r>
          </a:p>
        </p:txBody>
      </p:sp>
      <p:sp>
        <p:nvSpPr>
          <p:cNvPr id="7" name="Oval Callout 6"/>
          <p:cNvSpPr/>
          <p:nvPr/>
        </p:nvSpPr>
        <p:spPr>
          <a:xfrm>
            <a:off x="6096000" y="3638550"/>
            <a:ext cx="2895600" cy="1447800"/>
          </a:xfrm>
          <a:prstGeom prst="wedgeEllipseCallout">
            <a:avLst>
              <a:gd name="adj1" fmla="val -38697"/>
              <a:gd name="adj2" fmla="val -671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defRPr/>
            </a:pPr>
            <a:r>
              <a:rPr lang="en-US" sz="1600" dirty="0">
                <a:solidFill>
                  <a:schemeClr val="tx1"/>
                </a:solidFill>
              </a:rPr>
              <a:t>Feelings that tend to be less intense than emotions and that lack a contextual stimulus.</a:t>
            </a:r>
          </a:p>
        </p:txBody>
      </p:sp>
      <p:pic>
        <p:nvPicPr>
          <p:cNvPr id="2050" name="Picture 2" descr="Image result for Emotions vs. moo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3409950"/>
            <a:ext cx="16764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170555"/>
      </p:ext>
    </p:extLst>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6259" t="14855" r="5583" b="13406"/>
          <a:stretch/>
        </p:blipFill>
        <p:spPr bwMode="auto">
          <a:xfrm>
            <a:off x="581843" y="228600"/>
            <a:ext cx="7114357" cy="493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4</a:t>
            </a:fld>
            <a:endParaRPr lang="en-US" dirty="0">
              <a:solidFill>
                <a:srgbClr val="FFFFFF"/>
              </a:solidFill>
            </a:endParaRPr>
          </a:p>
        </p:txBody>
      </p:sp>
    </p:spTree>
    <p:extLst>
      <p:ext uri="{BB962C8B-B14F-4D97-AF65-F5344CB8AC3E}">
        <p14:creationId xmlns:p14="http://schemas.microsoft.com/office/powerpoint/2010/main" val="3792564836"/>
      </p:ext>
    </p:extLst>
  </p:cSld>
  <p:clrMapOvr>
    <a:masterClrMapping/>
  </p:clrMapOvr>
  <p:transition>
    <p:cut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4864" eaLnBrk="1" fontAlgn="auto" hangingPunct="1">
              <a:spcAft>
                <a:spcPts val="0"/>
              </a:spcAft>
              <a:defRPr/>
            </a:pPr>
            <a:r>
              <a:rPr lang="en-US" sz="4000" dirty="0">
                <a:solidFill>
                  <a:schemeClr val="tx2">
                    <a:tint val="100000"/>
                    <a:shade val="90000"/>
                    <a:satMod val="250000"/>
                    <a:alpha val="100000"/>
                  </a:schemeClr>
                </a:solidFill>
              </a:rPr>
              <a:t>Basic Emotions</a:t>
            </a:r>
          </a:p>
        </p:txBody>
      </p:sp>
      <p:sp>
        <p:nvSpPr>
          <p:cNvPr id="4" name="Content Placeholder 2"/>
          <p:cNvSpPr txBox="1">
            <a:spLocks/>
          </p:cNvSpPr>
          <p:nvPr/>
        </p:nvSpPr>
        <p:spPr>
          <a:xfrm>
            <a:off x="685800" y="1352550"/>
            <a:ext cx="6324600" cy="3101579"/>
          </a:xfrm>
          <a:prstGeom prst="rect">
            <a:avLst/>
          </a:prstGeom>
        </p:spPr>
        <p:txBody>
          <a:bodyPr/>
          <a:lstStyle/>
          <a:p>
            <a:pPr marL="342900" indent="-342900" eaLnBrk="0" hangingPunct="0">
              <a:spcBef>
                <a:spcPct val="20000"/>
              </a:spcBef>
              <a:buClr>
                <a:schemeClr val="tx1"/>
              </a:buClr>
              <a:buFont typeface="Wingdings" pitchFamily="2" charset="2"/>
              <a:buChar char="Ø"/>
              <a:defRPr/>
            </a:pPr>
            <a:r>
              <a:rPr lang="en-US" sz="2400" kern="0" dirty="0">
                <a:latin typeface="+mn-lt"/>
              </a:rPr>
              <a:t>Happiness</a:t>
            </a:r>
          </a:p>
          <a:p>
            <a:pPr marL="342900" indent="-342900" eaLnBrk="0" hangingPunct="0">
              <a:spcBef>
                <a:spcPct val="20000"/>
              </a:spcBef>
              <a:buClr>
                <a:schemeClr val="tx1"/>
              </a:buClr>
              <a:buFont typeface="Wingdings" pitchFamily="2" charset="2"/>
              <a:buChar char="Ø"/>
              <a:defRPr/>
            </a:pPr>
            <a:r>
              <a:rPr lang="en-US" sz="2400" kern="0" dirty="0">
                <a:latin typeface="+mn-lt"/>
              </a:rPr>
              <a:t>Surprise</a:t>
            </a:r>
          </a:p>
          <a:p>
            <a:pPr marL="342900" indent="-342900" eaLnBrk="0" hangingPunct="0">
              <a:spcBef>
                <a:spcPct val="20000"/>
              </a:spcBef>
              <a:buClr>
                <a:schemeClr val="tx1"/>
              </a:buClr>
              <a:buFont typeface="Wingdings" pitchFamily="2" charset="2"/>
              <a:buChar char="Ø"/>
              <a:defRPr/>
            </a:pPr>
            <a:r>
              <a:rPr lang="en-US" sz="2400" kern="0" dirty="0">
                <a:latin typeface="+mn-lt"/>
              </a:rPr>
              <a:t>Fear</a:t>
            </a:r>
          </a:p>
          <a:p>
            <a:pPr marL="342900" indent="-342900" eaLnBrk="0" hangingPunct="0">
              <a:spcBef>
                <a:spcPct val="20000"/>
              </a:spcBef>
              <a:buClr>
                <a:schemeClr val="tx1"/>
              </a:buClr>
              <a:buFont typeface="Wingdings" pitchFamily="2" charset="2"/>
              <a:buChar char="Ø"/>
              <a:defRPr/>
            </a:pPr>
            <a:r>
              <a:rPr lang="en-US" sz="2400" kern="0" dirty="0">
                <a:latin typeface="+mn-lt"/>
              </a:rPr>
              <a:t>Sadness</a:t>
            </a:r>
          </a:p>
          <a:p>
            <a:pPr marL="342900" indent="-342900" eaLnBrk="0" hangingPunct="0">
              <a:spcBef>
                <a:spcPct val="20000"/>
              </a:spcBef>
              <a:buClr>
                <a:schemeClr val="tx1"/>
              </a:buClr>
              <a:buFont typeface="Wingdings" pitchFamily="2" charset="2"/>
              <a:buChar char="Ø"/>
              <a:defRPr/>
            </a:pPr>
            <a:r>
              <a:rPr lang="en-US" sz="2400" kern="0" dirty="0">
                <a:latin typeface="+mn-lt"/>
              </a:rPr>
              <a:t>Anger</a:t>
            </a:r>
          </a:p>
          <a:p>
            <a:pPr marL="342900" indent="-342900" eaLnBrk="0" hangingPunct="0">
              <a:spcBef>
                <a:spcPct val="20000"/>
              </a:spcBef>
              <a:buClr>
                <a:schemeClr val="tx1"/>
              </a:buClr>
              <a:buFont typeface="Wingdings" pitchFamily="2" charset="2"/>
              <a:buChar char="Ø"/>
              <a:defRPr/>
            </a:pPr>
            <a:r>
              <a:rPr lang="en-US" sz="2400" kern="0" dirty="0">
                <a:latin typeface="+mn-lt"/>
              </a:rPr>
              <a:t>Disgust</a:t>
            </a:r>
          </a:p>
        </p:txBody>
      </p:sp>
      <p:sp>
        <p:nvSpPr>
          <p:cNvPr id="3" name="AutoShape 4" descr="Image result for Happiness, surprise, fea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2" name="Picture 6" descr="http://www.emotionadvisor.com/assets/media/pom-universal-emotions.jpg"/>
          <p:cNvPicPr>
            <a:picLocks noChangeAspect="1" noChangeArrowheads="1"/>
          </p:cNvPicPr>
          <p:nvPr/>
        </p:nvPicPr>
        <p:blipFill rotWithShape="1">
          <a:blip r:embed="rId3">
            <a:extLst>
              <a:ext uri="{28A0092B-C50C-407E-A947-70E740481C1C}">
                <a14:useLocalDpi xmlns:a14="http://schemas.microsoft.com/office/drawing/2010/main" val="0"/>
              </a:ext>
            </a:extLst>
          </a:blip>
          <a:srcRect l="1666" t="7500" b="12076"/>
          <a:stretch/>
        </p:blipFill>
        <p:spPr bwMode="auto">
          <a:xfrm>
            <a:off x="4038600" y="1303838"/>
            <a:ext cx="4953000" cy="27343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7" descr="C:\Users\Bob Stretch\AppData\Local\Microsoft\Windows\Temporary Internet Files\Content.IE5\H1JVA1FE\MCj04238360000[1].wmf"/>
          <p:cNvPicPr>
            <a:picLocks noChangeAspect="1" noChangeArrowheads="1"/>
          </p:cNvPicPr>
          <p:nvPr/>
        </p:nvPicPr>
        <p:blipFill>
          <a:blip r:embed="rId4"/>
          <a:srcRect/>
          <a:stretch>
            <a:fillRect/>
          </a:stretch>
        </p:blipFill>
        <p:spPr bwMode="auto">
          <a:xfrm>
            <a:off x="4343400" y="4086930"/>
            <a:ext cx="1074477" cy="1056569"/>
          </a:xfrm>
          <a:prstGeom prst="rect">
            <a:avLst/>
          </a:prstGeom>
          <a:noFill/>
          <a:ln w="9525">
            <a:noFill/>
            <a:miter lim="800000"/>
            <a:headEnd/>
            <a:tailEnd/>
          </a:ln>
        </p:spPr>
      </p:pic>
      <p:pic>
        <p:nvPicPr>
          <p:cNvPr id="7" name="Picture 8" descr="C:\Users\Bob Stretch\AppData\Local\Microsoft\Windows\Temporary Internet Files\Content.IE5\118DJOWU\MCj04258080000[1].wmf"/>
          <p:cNvPicPr>
            <a:picLocks noChangeAspect="1" noChangeArrowheads="1"/>
          </p:cNvPicPr>
          <p:nvPr/>
        </p:nvPicPr>
        <p:blipFill>
          <a:blip r:embed="rId5"/>
          <a:srcRect/>
          <a:stretch>
            <a:fillRect/>
          </a:stretch>
        </p:blipFill>
        <p:spPr bwMode="auto">
          <a:xfrm>
            <a:off x="7620000" y="3333750"/>
            <a:ext cx="1274763" cy="1195388"/>
          </a:xfrm>
          <a:prstGeom prst="rect">
            <a:avLst/>
          </a:prstGeom>
          <a:noFill/>
          <a:ln w="9525">
            <a:noFill/>
            <a:miter lim="800000"/>
            <a:headEnd/>
            <a:tailEnd/>
          </a:ln>
        </p:spPr>
      </p:pic>
      <p:pic>
        <p:nvPicPr>
          <p:cNvPr id="8" name="Picture 9" descr="C:\Users\Bob Stretch\AppData\Local\Microsoft\Windows\Temporary Internet Files\Content.IE5\7421JAUB\MCj04281290000[1].wmf"/>
          <p:cNvPicPr>
            <a:picLocks noChangeAspect="1" noChangeArrowheads="1"/>
          </p:cNvPicPr>
          <p:nvPr/>
        </p:nvPicPr>
        <p:blipFill>
          <a:blip r:embed="rId6"/>
          <a:srcRect/>
          <a:stretch>
            <a:fillRect/>
          </a:stretch>
        </p:blipFill>
        <p:spPr bwMode="auto">
          <a:xfrm>
            <a:off x="2590801" y="3848100"/>
            <a:ext cx="1388784" cy="1295400"/>
          </a:xfrm>
          <a:prstGeom prst="rect">
            <a:avLst/>
          </a:prstGeom>
          <a:noFill/>
          <a:ln w="9525">
            <a:noFill/>
            <a:miter lim="800000"/>
            <a:headEnd/>
            <a:tailEnd/>
          </a:ln>
        </p:spPr>
      </p:pic>
      <p:pic>
        <p:nvPicPr>
          <p:cNvPr id="9" name="Picture 10" descr="C:\Users\Bob Stretch\AppData\Local\Microsoft\Windows\Temporary Internet Files\Content.IE5\118DJOWU\MCj04238400000[1].wmf"/>
          <p:cNvPicPr>
            <a:picLocks noChangeAspect="1" noChangeArrowheads="1"/>
          </p:cNvPicPr>
          <p:nvPr/>
        </p:nvPicPr>
        <p:blipFill>
          <a:blip r:embed="rId7"/>
          <a:srcRect/>
          <a:stretch>
            <a:fillRect/>
          </a:stretch>
        </p:blipFill>
        <p:spPr bwMode="auto">
          <a:xfrm>
            <a:off x="2819400" y="1381972"/>
            <a:ext cx="990600" cy="1037378"/>
          </a:xfrm>
          <a:prstGeom prst="rect">
            <a:avLst/>
          </a:prstGeom>
          <a:noFill/>
          <a:ln w="9525">
            <a:noFill/>
            <a:miter lim="800000"/>
            <a:headEnd/>
            <a:tailEnd/>
          </a:ln>
        </p:spPr>
      </p:pic>
      <p:pic>
        <p:nvPicPr>
          <p:cNvPr id="10" name="Picture 11" descr="C:\Users\Bob Stretch\AppData\Local\Microsoft\Windows\Temporary Internet Files\Content.IE5\7421JAUB\MCj04238260000[1].wmf"/>
          <p:cNvPicPr>
            <a:picLocks noChangeAspect="1" noChangeArrowheads="1"/>
          </p:cNvPicPr>
          <p:nvPr/>
        </p:nvPicPr>
        <p:blipFill>
          <a:blip r:embed="rId8"/>
          <a:srcRect/>
          <a:stretch>
            <a:fillRect/>
          </a:stretch>
        </p:blipFill>
        <p:spPr bwMode="auto">
          <a:xfrm>
            <a:off x="5791200" y="4114418"/>
            <a:ext cx="1045160" cy="1029081"/>
          </a:xfrm>
          <a:prstGeom prst="rect">
            <a:avLst/>
          </a:prstGeom>
          <a:noFill/>
          <a:ln w="9525">
            <a:noFill/>
            <a:miter lim="800000"/>
            <a:headEnd/>
            <a:tailEnd/>
          </a:ln>
        </p:spPr>
      </p:pic>
      <p:pic>
        <p:nvPicPr>
          <p:cNvPr id="11" name="Picture 12" descr="C:\Users\Bob Stretch\AppData\Local\Microsoft\Windows\Temporary Internet Files\Content.IE5\7421JAUB\MCj04238420000[1].wmf"/>
          <p:cNvPicPr>
            <a:picLocks noChangeAspect="1" noChangeArrowheads="1"/>
          </p:cNvPicPr>
          <p:nvPr/>
        </p:nvPicPr>
        <p:blipFill>
          <a:blip r:embed="rId9"/>
          <a:srcRect/>
          <a:stretch>
            <a:fillRect/>
          </a:stretch>
        </p:blipFill>
        <p:spPr bwMode="auto">
          <a:xfrm>
            <a:off x="2362201" y="2561526"/>
            <a:ext cx="1066800" cy="1153224"/>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5</a:t>
            </a:fld>
            <a:endParaRPr lang="en-US" dirty="0">
              <a:solidFill>
                <a:srgbClr val="FFFFFF"/>
              </a:solidFill>
            </a:endParaRPr>
          </a:p>
        </p:txBody>
      </p:sp>
    </p:spTree>
    <p:extLst>
      <p:ext uri="{BB962C8B-B14F-4D97-AF65-F5344CB8AC3E}">
        <p14:creationId xmlns:p14="http://schemas.microsoft.com/office/powerpoint/2010/main" val="3527561084"/>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a:t>Sources of Emotion and Mood</a:t>
            </a:r>
          </a:p>
        </p:txBody>
      </p:sp>
      <p:sp>
        <p:nvSpPr>
          <p:cNvPr id="23557" name="Slide Number Placeholder 4"/>
          <p:cNvSpPr>
            <a:spLocks noGrp="1"/>
          </p:cNvSpPr>
          <p:nvPr>
            <p:ph type="sldNum" sz="quarter" idx="12"/>
          </p:nvPr>
        </p:nvSpPr>
        <p:spPr bwMode="auto">
          <a:noFill/>
          <a:ln>
            <a:miter lim="800000"/>
            <a:headEnd/>
            <a:tailEnd/>
          </a:ln>
        </p:spPr>
        <p:txBody>
          <a:bodyPr>
            <a:normAutofit fontScale="47500" lnSpcReduction="20000"/>
          </a:bodyPr>
          <a:lstStyle/>
          <a:p>
            <a:r>
              <a:rPr lang="en-US"/>
              <a:t>4-</a:t>
            </a:r>
            <a:fld id="{8E84632E-15E8-4847-AB04-C5088CC8B90D}" type="slidenum">
              <a:rPr lang="en-US"/>
              <a:pPr/>
              <a:t>6</a:t>
            </a:fld>
            <a:endParaRPr lang="en-US"/>
          </a:p>
        </p:txBody>
      </p:sp>
      <p:sp>
        <p:nvSpPr>
          <p:cNvPr id="23555" name="Content Placeholder 2"/>
          <p:cNvSpPr>
            <a:spLocks noGrp="1"/>
          </p:cNvSpPr>
          <p:nvPr>
            <p:ph sz="quarter" idx="13"/>
          </p:nvPr>
        </p:nvSpPr>
        <p:spPr/>
        <p:txBody>
          <a:bodyPr>
            <a:normAutofit fontScale="85000" lnSpcReduction="20000"/>
          </a:bodyPr>
          <a:lstStyle/>
          <a:p>
            <a:pPr eaLnBrk="1" hangingPunct="1">
              <a:lnSpc>
                <a:spcPct val="90000"/>
              </a:lnSpc>
            </a:pPr>
            <a:r>
              <a:rPr lang="en-US" sz="2200" b="0" dirty="0"/>
              <a:t>Personality </a:t>
            </a:r>
          </a:p>
          <a:p>
            <a:pPr lvl="1" eaLnBrk="1" hangingPunct="1">
              <a:lnSpc>
                <a:spcPct val="90000"/>
              </a:lnSpc>
            </a:pPr>
            <a:r>
              <a:rPr lang="en-US" sz="2000" dirty="0"/>
              <a:t>There is a trait component – affect intensity</a:t>
            </a:r>
          </a:p>
          <a:p>
            <a:pPr eaLnBrk="1" hangingPunct="1">
              <a:lnSpc>
                <a:spcPct val="90000"/>
              </a:lnSpc>
            </a:pPr>
            <a:r>
              <a:rPr lang="en-US" sz="2200" b="0" dirty="0"/>
              <a:t>Day and Time of the Week</a:t>
            </a:r>
          </a:p>
          <a:p>
            <a:pPr lvl="1" eaLnBrk="1" hangingPunct="1">
              <a:lnSpc>
                <a:spcPct val="90000"/>
              </a:lnSpc>
            </a:pPr>
            <a:r>
              <a:rPr lang="en-US" sz="2000" dirty="0"/>
              <a:t>There is a common pattern for all of us</a:t>
            </a:r>
          </a:p>
          <a:p>
            <a:pPr lvl="2" eaLnBrk="1" hangingPunct="1">
              <a:lnSpc>
                <a:spcPct val="90000"/>
              </a:lnSpc>
            </a:pPr>
            <a:r>
              <a:rPr lang="en-US" sz="1900" dirty="0"/>
              <a:t>Happier in the midpoint of the daily awake period </a:t>
            </a:r>
          </a:p>
          <a:p>
            <a:pPr lvl="2" eaLnBrk="1" hangingPunct="1">
              <a:lnSpc>
                <a:spcPct val="90000"/>
              </a:lnSpc>
            </a:pPr>
            <a:r>
              <a:rPr lang="en-US" sz="1900" dirty="0"/>
              <a:t>Happier toward the end of the week</a:t>
            </a:r>
          </a:p>
          <a:p>
            <a:pPr eaLnBrk="1" hangingPunct="1">
              <a:lnSpc>
                <a:spcPct val="90000"/>
              </a:lnSpc>
            </a:pPr>
            <a:r>
              <a:rPr lang="en-US" sz="2200" b="0" dirty="0"/>
              <a:t>Weather</a:t>
            </a:r>
          </a:p>
          <a:p>
            <a:pPr lvl="1" eaLnBrk="1" hangingPunct="1">
              <a:lnSpc>
                <a:spcPct val="90000"/>
              </a:lnSpc>
            </a:pPr>
            <a:r>
              <a:rPr lang="en-US" sz="2000" dirty="0"/>
              <a:t>Illusory correlation – no effect </a:t>
            </a:r>
          </a:p>
          <a:p>
            <a:pPr eaLnBrk="1" hangingPunct="1">
              <a:lnSpc>
                <a:spcPct val="90000"/>
              </a:lnSpc>
            </a:pPr>
            <a:r>
              <a:rPr lang="en-US" sz="2200" b="0" dirty="0"/>
              <a:t>Stress</a:t>
            </a:r>
          </a:p>
          <a:p>
            <a:pPr lvl="1" eaLnBrk="1" hangingPunct="1">
              <a:lnSpc>
                <a:spcPct val="90000"/>
              </a:lnSpc>
            </a:pPr>
            <a:r>
              <a:rPr lang="en-US" sz="2000" dirty="0"/>
              <a:t>Even low levels of constant stress can worsen moods</a:t>
            </a:r>
          </a:p>
          <a:p>
            <a:pPr eaLnBrk="1" hangingPunct="1">
              <a:lnSpc>
                <a:spcPct val="90000"/>
              </a:lnSpc>
            </a:pPr>
            <a:r>
              <a:rPr lang="en-US" sz="2200" b="0" dirty="0"/>
              <a:t>Social Activities</a:t>
            </a:r>
          </a:p>
          <a:p>
            <a:pPr lvl="1" eaLnBrk="1" hangingPunct="1">
              <a:lnSpc>
                <a:spcPct val="90000"/>
              </a:lnSpc>
            </a:pPr>
            <a:r>
              <a:rPr lang="en-US" sz="2000" dirty="0"/>
              <a:t>Physical, informal, and dining activities increase positive moods</a:t>
            </a:r>
          </a:p>
        </p:txBody>
      </p:sp>
      <p:pic>
        <p:nvPicPr>
          <p:cNvPr id="23559" name="Picture 2" descr="C:\Users\Bob Stretch\AppData\Local\Microsoft\Windows\Temporary Internet Files\Content.IE5\H1JVA1FE\MCj04325870000[1].png"/>
          <p:cNvPicPr>
            <a:picLocks noChangeAspect="1" noChangeArrowheads="1"/>
          </p:cNvPicPr>
          <p:nvPr/>
        </p:nvPicPr>
        <p:blipFill>
          <a:blip r:embed="rId3"/>
          <a:srcRect/>
          <a:stretch>
            <a:fillRect/>
          </a:stretch>
        </p:blipFill>
        <p:spPr bwMode="auto">
          <a:xfrm>
            <a:off x="6553200" y="1428750"/>
            <a:ext cx="2438400" cy="1828800"/>
          </a:xfrm>
          <a:prstGeom prst="rect">
            <a:avLst/>
          </a:prstGeom>
          <a:noFill/>
          <a:ln w="9525">
            <a:noFill/>
            <a:miter lim="800000"/>
            <a:headEnd/>
            <a:tailEnd/>
          </a:ln>
        </p:spPr>
      </p:pic>
      <p:pic>
        <p:nvPicPr>
          <p:cNvPr id="23560" name="Picture 3" descr="C:\Users\Bob Stretch\AppData\Local\Microsoft\Windows\Temporary Internet Files\Content.IE5\118DJOWU\MCj04325380000[1].png"/>
          <p:cNvPicPr>
            <a:picLocks noChangeAspect="1" noChangeArrowheads="1"/>
          </p:cNvPicPr>
          <p:nvPr/>
        </p:nvPicPr>
        <p:blipFill>
          <a:blip r:embed="rId4"/>
          <a:srcRect/>
          <a:stretch>
            <a:fillRect/>
          </a:stretch>
        </p:blipFill>
        <p:spPr bwMode="auto">
          <a:xfrm>
            <a:off x="7162800" y="1843087"/>
            <a:ext cx="1295400" cy="957263"/>
          </a:xfrm>
          <a:prstGeom prst="rect">
            <a:avLst/>
          </a:prstGeom>
          <a:noFill/>
          <a:ln w="9525">
            <a:noFill/>
            <a:miter lim="800000"/>
            <a:headEnd/>
            <a:tailEnd/>
          </a:ln>
        </p:spPr>
      </p:pic>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r>
              <a:rPr lang="en-US"/>
              <a:t>More Sources of Emotion and Mood</a:t>
            </a:r>
          </a:p>
        </p:txBody>
      </p:sp>
      <p:sp>
        <p:nvSpPr>
          <p:cNvPr id="25605" name="Slide Number Placeholder 4"/>
          <p:cNvSpPr>
            <a:spLocks noGrp="1"/>
          </p:cNvSpPr>
          <p:nvPr>
            <p:ph type="sldNum" sz="quarter" idx="12"/>
          </p:nvPr>
        </p:nvSpPr>
        <p:spPr bwMode="auto">
          <a:noFill/>
          <a:ln>
            <a:miter lim="800000"/>
            <a:headEnd/>
            <a:tailEnd/>
          </a:ln>
        </p:spPr>
        <p:txBody>
          <a:bodyPr>
            <a:normAutofit fontScale="47500" lnSpcReduction="20000"/>
          </a:bodyPr>
          <a:lstStyle/>
          <a:p>
            <a:r>
              <a:rPr lang="en-US"/>
              <a:t>4-</a:t>
            </a:r>
            <a:fld id="{808C8366-04FF-4EE0-A787-E2810F11F087}" type="slidenum">
              <a:rPr lang="en-US"/>
              <a:pPr/>
              <a:t>7</a:t>
            </a:fld>
            <a:endParaRPr lang="en-US"/>
          </a:p>
        </p:txBody>
      </p:sp>
      <p:sp>
        <p:nvSpPr>
          <p:cNvPr id="25603" name="Content Placeholder 2"/>
          <p:cNvSpPr>
            <a:spLocks noGrp="1"/>
          </p:cNvSpPr>
          <p:nvPr>
            <p:ph sz="quarter" idx="13"/>
          </p:nvPr>
        </p:nvSpPr>
        <p:spPr/>
        <p:txBody>
          <a:bodyPr>
            <a:noAutofit/>
          </a:bodyPr>
          <a:lstStyle/>
          <a:p>
            <a:pPr eaLnBrk="1" hangingPunct="1">
              <a:spcBef>
                <a:spcPts val="0"/>
              </a:spcBef>
            </a:pPr>
            <a:r>
              <a:rPr lang="en-US" sz="2000" b="0" dirty="0"/>
              <a:t>Sleep </a:t>
            </a:r>
          </a:p>
          <a:p>
            <a:pPr lvl="1" eaLnBrk="1" hangingPunct="1">
              <a:spcBef>
                <a:spcPts val="0"/>
              </a:spcBef>
            </a:pPr>
            <a:r>
              <a:rPr lang="en-US" sz="1800" dirty="0"/>
              <a:t>Poor sleep quality increases negative affect</a:t>
            </a:r>
          </a:p>
          <a:p>
            <a:pPr eaLnBrk="1" hangingPunct="1">
              <a:spcBef>
                <a:spcPts val="0"/>
              </a:spcBef>
            </a:pPr>
            <a:r>
              <a:rPr lang="en-US" sz="2000" b="0" dirty="0"/>
              <a:t>Exercise</a:t>
            </a:r>
          </a:p>
          <a:p>
            <a:pPr lvl="1" eaLnBrk="1" hangingPunct="1">
              <a:spcBef>
                <a:spcPts val="0"/>
              </a:spcBef>
            </a:pPr>
            <a:r>
              <a:rPr lang="en-US" sz="1800" dirty="0"/>
              <a:t>Does somewhat improve mood, especially for depressed people</a:t>
            </a:r>
          </a:p>
          <a:p>
            <a:pPr eaLnBrk="1" hangingPunct="1">
              <a:spcBef>
                <a:spcPts val="0"/>
              </a:spcBef>
            </a:pPr>
            <a:r>
              <a:rPr lang="en-US" sz="2000" b="0" dirty="0"/>
              <a:t>Age</a:t>
            </a:r>
          </a:p>
          <a:p>
            <a:pPr lvl="1" eaLnBrk="1" hangingPunct="1">
              <a:spcBef>
                <a:spcPts val="0"/>
              </a:spcBef>
            </a:pPr>
            <a:r>
              <a:rPr lang="en-US" sz="1800" dirty="0"/>
              <a:t>Older folks experience fewer negative emotions</a:t>
            </a:r>
          </a:p>
          <a:p>
            <a:pPr eaLnBrk="1" hangingPunct="1">
              <a:spcBef>
                <a:spcPts val="0"/>
              </a:spcBef>
            </a:pPr>
            <a:r>
              <a:rPr lang="en-US" sz="2000" b="0" dirty="0"/>
              <a:t>Gender</a:t>
            </a:r>
          </a:p>
          <a:p>
            <a:pPr lvl="1" eaLnBrk="1" hangingPunct="1">
              <a:spcBef>
                <a:spcPts val="0"/>
              </a:spcBef>
            </a:pPr>
            <a:r>
              <a:rPr lang="en-US" sz="1800" dirty="0"/>
              <a:t>Women vs. men</a:t>
            </a:r>
          </a:p>
        </p:txBody>
      </p:sp>
      <p:pic>
        <p:nvPicPr>
          <p:cNvPr id="1026" name="Picture 2" descr="Image result for Sleep">
            <a:extLst>
              <a:ext uri="{FF2B5EF4-FFF2-40B4-BE49-F238E27FC236}">
                <a16:creationId xmlns:a16="http://schemas.microsoft.com/office/drawing/2014/main" id="{C3B48D08-87C0-4695-B2FC-AF5B67901A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7037" y="3745752"/>
            <a:ext cx="2087563" cy="13977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exercise">
            <a:extLst>
              <a:ext uri="{FF2B5EF4-FFF2-40B4-BE49-F238E27FC236}">
                <a16:creationId xmlns:a16="http://schemas.microsoft.com/office/drawing/2014/main" id="{1BA8F5B0-DF0E-4C38-A1EE-AC0D975DB15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82862" y="3613945"/>
            <a:ext cx="1531938" cy="147240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Age">
            <a:extLst>
              <a:ext uri="{FF2B5EF4-FFF2-40B4-BE49-F238E27FC236}">
                <a16:creationId xmlns:a16="http://schemas.microsoft.com/office/drawing/2014/main" id="{D1030C4F-5472-46F5-996C-06C9914631E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4561" y="3709195"/>
            <a:ext cx="2175839" cy="152955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gender">
            <a:extLst>
              <a:ext uri="{FF2B5EF4-FFF2-40B4-BE49-F238E27FC236}">
                <a16:creationId xmlns:a16="http://schemas.microsoft.com/office/drawing/2014/main" id="{A4CDCA80-9D6B-465F-B7DF-52E4E398E9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6390" y="2657475"/>
            <a:ext cx="2555210" cy="1666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a:noFill/>
        </p:spPr>
        <p:txBody>
          <a:bodyPr>
            <a:normAutofit/>
          </a:bodyPr>
          <a:lstStyle/>
          <a:p>
            <a:pPr eaLnBrk="1" hangingPunct="1">
              <a:defRPr/>
            </a:pPr>
            <a:r>
              <a:rPr lang="en-US" sz="4000" dirty="0"/>
              <a:t>Gender and Emotions</a:t>
            </a:r>
          </a:p>
        </p:txBody>
      </p:sp>
      <p:sp>
        <p:nvSpPr>
          <p:cNvPr id="2" name="Slide Number Placeholder 1"/>
          <p:cNvSpPr>
            <a:spLocks noGrp="1"/>
          </p:cNvSpPr>
          <p:nvPr>
            <p:ph type="sldNum" sz="quarter" idx="12"/>
          </p:nvPr>
        </p:nvSpPr>
        <p:spPr/>
        <p:txBody>
          <a:bodyPr>
            <a:normAutofit fontScale="47500" lnSpcReduction="20000"/>
          </a:bodyPr>
          <a:lstStyle/>
          <a:p>
            <a:pPr>
              <a:defRPr/>
            </a:pPr>
            <a:r>
              <a:rPr lang="en-US"/>
              <a:t>13 - </a:t>
            </a:r>
            <a:fld id="{0243B14E-2E71-49E8-B830-10FBF1D8D852}" type="slidenum">
              <a:rPr lang="en-US" smtClean="0"/>
              <a:pPr>
                <a:defRPr/>
              </a:pPr>
              <a:t>8</a:t>
            </a:fld>
            <a:endParaRPr lang="en-US"/>
          </a:p>
        </p:txBody>
      </p:sp>
      <p:sp>
        <p:nvSpPr>
          <p:cNvPr id="403459" name="Rectangle 3"/>
          <p:cNvSpPr>
            <a:spLocks noGrp="1" noChangeArrowheads="1"/>
          </p:cNvSpPr>
          <p:nvPr>
            <p:ph sz="quarter" idx="13"/>
          </p:nvPr>
        </p:nvSpPr>
        <p:spPr/>
        <p:txBody>
          <a:bodyPr>
            <a:normAutofit fontScale="70000" lnSpcReduction="20000"/>
          </a:bodyPr>
          <a:lstStyle/>
          <a:p>
            <a:pPr eaLnBrk="1" hangingPunct="1">
              <a:lnSpc>
                <a:spcPct val="90000"/>
              </a:lnSpc>
            </a:pPr>
            <a:r>
              <a:rPr lang="en-US" sz="2600" u="sng" dirty="0"/>
              <a:t>Women</a:t>
            </a:r>
          </a:p>
          <a:p>
            <a:pPr lvl="1" eaLnBrk="1" hangingPunct="1">
              <a:lnSpc>
                <a:spcPct val="90000"/>
              </a:lnSpc>
            </a:pPr>
            <a:r>
              <a:rPr lang="en-US" dirty="0"/>
              <a:t>Can show greater emotional expression.</a:t>
            </a:r>
          </a:p>
          <a:p>
            <a:pPr lvl="1" eaLnBrk="1" hangingPunct="1">
              <a:lnSpc>
                <a:spcPct val="90000"/>
              </a:lnSpc>
            </a:pPr>
            <a:r>
              <a:rPr lang="en-US" dirty="0"/>
              <a:t>Experience emotions more intensely.</a:t>
            </a:r>
          </a:p>
          <a:p>
            <a:pPr lvl="1" eaLnBrk="1" hangingPunct="1">
              <a:lnSpc>
                <a:spcPct val="90000"/>
              </a:lnSpc>
            </a:pPr>
            <a:r>
              <a:rPr lang="en-US" dirty="0"/>
              <a:t>Display emotions more frequently.</a:t>
            </a:r>
          </a:p>
          <a:p>
            <a:pPr lvl="1" eaLnBrk="1" hangingPunct="1">
              <a:lnSpc>
                <a:spcPct val="90000"/>
              </a:lnSpc>
            </a:pPr>
            <a:r>
              <a:rPr lang="en-US" dirty="0"/>
              <a:t>Are more comfortable in expressing emotions.</a:t>
            </a:r>
          </a:p>
          <a:p>
            <a:pPr lvl="1" eaLnBrk="1" hangingPunct="1">
              <a:lnSpc>
                <a:spcPct val="90000"/>
              </a:lnSpc>
            </a:pPr>
            <a:r>
              <a:rPr lang="en-US" dirty="0"/>
              <a:t>Are better at reading others’ emotions.</a:t>
            </a:r>
          </a:p>
          <a:p>
            <a:pPr eaLnBrk="1" hangingPunct="1">
              <a:lnSpc>
                <a:spcPct val="90000"/>
              </a:lnSpc>
            </a:pPr>
            <a:r>
              <a:rPr lang="en-US" sz="2600" u="sng" dirty="0"/>
              <a:t>Men</a:t>
            </a:r>
          </a:p>
          <a:p>
            <a:pPr lvl="1" eaLnBrk="1" hangingPunct="1">
              <a:lnSpc>
                <a:spcPct val="90000"/>
              </a:lnSpc>
            </a:pPr>
            <a:r>
              <a:rPr lang="en-US" dirty="0"/>
              <a:t>Believe that displaying emotions is inconsistent with the male image.</a:t>
            </a:r>
          </a:p>
          <a:p>
            <a:pPr lvl="1" eaLnBrk="1" hangingPunct="1">
              <a:lnSpc>
                <a:spcPct val="90000"/>
              </a:lnSpc>
            </a:pPr>
            <a:r>
              <a:rPr lang="en-US" dirty="0"/>
              <a:t>Are less able to read and to identify others’ emotions.</a:t>
            </a:r>
          </a:p>
          <a:p>
            <a:pPr lvl="1" eaLnBrk="1" hangingPunct="1">
              <a:lnSpc>
                <a:spcPct val="90000"/>
              </a:lnSpc>
            </a:pPr>
            <a:r>
              <a:rPr lang="en-US" dirty="0"/>
              <a:t>Have less need to seek social approval by showing positive emotions.</a:t>
            </a:r>
          </a:p>
          <a:p>
            <a:pPr marL="365760" lvl="1" indent="0" eaLnBrk="1" hangingPunct="1">
              <a:lnSpc>
                <a:spcPct val="90000"/>
              </a:lnSpc>
              <a:buNone/>
            </a:pPr>
            <a:endParaRPr lang="en-US" dirty="0"/>
          </a:p>
          <a:p>
            <a:pPr marL="365760" lvl="1" indent="0">
              <a:lnSpc>
                <a:spcPct val="90000"/>
              </a:lnSpc>
              <a:buNone/>
            </a:pPr>
            <a:r>
              <a:rPr lang="en-US" dirty="0"/>
              <a:t>Video: </a:t>
            </a:r>
            <a:r>
              <a:rPr lang="en-US" dirty="0">
                <a:hlinkClick r:id="rId3"/>
              </a:rPr>
              <a:t>https://www.youtube.com/watch?v=SZ6mVumHY9I</a:t>
            </a:r>
            <a:r>
              <a:rPr lang="en-US" dirty="0"/>
              <a:t> </a:t>
            </a:r>
          </a:p>
        </p:txBody>
      </p:sp>
      <p:pic>
        <p:nvPicPr>
          <p:cNvPr id="2050" name="Picture 2" descr="Image result for women emotions">
            <a:extLst>
              <a:ext uri="{FF2B5EF4-FFF2-40B4-BE49-F238E27FC236}">
                <a16:creationId xmlns:a16="http://schemas.microsoft.com/office/drawing/2014/main" id="{E7EC6B83-E707-4FFA-9F8B-00563FEB62D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81800" y="1504950"/>
            <a:ext cx="21336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05514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Effect transition="in" filter="wipe(up)">
                                      <p:cBhvr>
                                        <p:cTn id="7" dur="500"/>
                                        <p:tgtEl>
                                          <p:spTgt spid="403459">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03459">
                                            <p:txEl>
                                              <p:pRg st="1" end="1"/>
                                            </p:txEl>
                                          </p:spTgt>
                                        </p:tgtEl>
                                        <p:attrNameLst>
                                          <p:attrName>style.visibility</p:attrName>
                                        </p:attrNameLst>
                                      </p:cBhvr>
                                      <p:to>
                                        <p:strVal val="visible"/>
                                      </p:to>
                                    </p:set>
                                    <p:animEffect transition="in" filter="wipe(up)">
                                      <p:cBhvr>
                                        <p:cTn id="10" dur="500"/>
                                        <p:tgtEl>
                                          <p:spTgt spid="403459">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403459">
                                            <p:txEl>
                                              <p:pRg st="2" end="2"/>
                                            </p:txEl>
                                          </p:spTgt>
                                        </p:tgtEl>
                                        <p:attrNameLst>
                                          <p:attrName>style.visibility</p:attrName>
                                        </p:attrNameLst>
                                      </p:cBhvr>
                                      <p:to>
                                        <p:strVal val="visible"/>
                                      </p:to>
                                    </p:set>
                                    <p:animEffect transition="in" filter="wipe(up)">
                                      <p:cBhvr>
                                        <p:cTn id="13" dur="500"/>
                                        <p:tgtEl>
                                          <p:spTgt spid="403459">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403459">
                                            <p:txEl>
                                              <p:pRg st="3" end="3"/>
                                            </p:txEl>
                                          </p:spTgt>
                                        </p:tgtEl>
                                        <p:attrNameLst>
                                          <p:attrName>style.visibility</p:attrName>
                                        </p:attrNameLst>
                                      </p:cBhvr>
                                      <p:to>
                                        <p:strVal val="visible"/>
                                      </p:to>
                                    </p:set>
                                    <p:animEffect transition="in" filter="wipe(up)">
                                      <p:cBhvr>
                                        <p:cTn id="16" dur="500"/>
                                        <p:tgtEl>
                                          <p:spTgt spid="403459">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403459">
                                            <p:txEl>
                                              <p:pRg st="4" end="4"/>
                                            </p:txEl>
                                          </p:spTgt>
                                        </p:tgtEl>
                                        <p:attrNameLst>
                                          <p:attrName>style.visibility</p:attrName>
                                        </p:attrNameLst>
                                      </p:cBhvr>
                                      <p:to>
                                        <p:strVal val="visible"/>
                                      </p:to>
                                    </p:set>
                                    <p:animEffect transition="in" filter="wipe(up)">
                                      <p:cBhvr>
                                        <p:cTn id="19" dur="500"/>
                                        <p:tgtEl>
                                          <p:spTgt spid="403459">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403459">
                                            <p:txEl>
                                              <p:pRg st="5" end="5"/>
                                            </p:txEl>
                                          </p:spTgt>
                                        </p:tgtEl>
                                        <p:attrNameLst>
                                          <p:attrName>style.visibility</p:attrName>
                                        </p:attrNameLst>
                                      </p:cBhvr>
                                      <p:to>
                                        <p:strVal val="visible"/>
                                      </p:to>
                                    </p:set>
                                    <p:animEffect transition="in" filter="wipe(up)">
                                      <p:cBhvr>
                                        <p:cTn id="22" dur="500"/>
                                        <p:tgtEl>
                                          <p:spTgt spid="40345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03459">
                                            <p:txEl>
                                              <p:pRg st="6" end="6"/>
                                            </p:txEl>
                                          </p:spTgt>
                                        </p:tgtEl>
                                        <p:attrNameLst>
                                          <p:attrName>style.visibility</p:attrName>
                                        </p:attrNameLst>
                                      </p:cBhvr>
                                      <p:to>
                                        <p:strVal val="visible"/>
                                      </p:to>
                                    </p:set>
                                    <p:animEffect transition="in" filter="wipe(up)">
                                      <p:cBhvr>
                                        <p:cTn id="27" dur="500"/>
                                        <p:tgtEl>
                                          <p:spTgt spid="403459">
                                            <p:txEl>
                                              <p:pRg st="6" end="6"/>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03459">
                                            <p:txEl>
                                              <p:pRg st="7" end="7"/>
                                            </p:txEl>
                                          </p:spTgt>
                                        </p:tgtEl>
                                        <p:attrNameLst>
                                          <p:attrName>style.visibility</p:attrName>
                                        </p:attrNameLst>
                                      </p:cBhvr>
                                      <p:to>
                                        <p:strVal val="visible"/>
                                      </p:to>
                                    </p:set>
                                    <p:animEffect transition="in" filter="wipe(up)">
                                      <p:cBhvr>
                                        <p:cTn id="30" dur="500"/>
                                        <p:tgtEl>
                                          <p:spTgt spid="403459">
                                            <p:txEl>
                                              <p:pRg st="7" end="7"/>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403459">
                                            <p:txEl>
                                              <p:pRg st="8" end="8"/>
                                            </p:txEl>
                                          </p:spTgt>
                                        </p:tgtEl>
                                        <p:attrNameLst>
                                          <p:attrName>style.visibility</p:attrName>
                                        </p:attrNameLst>
                                      </p:cBhvr>
                                      <p:to>
                                        <p:strVal val="visible"/>
                                      </p:to>
                                    </p:set>
                                    <p:animEffect transition="in" filter="wipe(up)">
                                      <p:cBhvr>
                                        <p:cTn id="33" dur="500"/>
                                        <p:tgtEl>
                                          <p:spTgt spid="403459">
                                            <p:txEl>
                                              <p:pRg st="8" end="8"/>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403459">
                                            <p:txEl>
                                              <p:pRg st="9" end="9"/>
                                            </p:txEl>
                                          </p:spTgt>
                                        </p:tgtEl>
                                        <p:attrNameLst>
                                          <p:attrName>style.visibility</p:attrName>
                                        </p:attrNameLst>
                                      </p:cBhvr>
                                      <p:to>
                                        <p:strVal val="visible"/>
                                      </p:to>
                                    </p:set>
                                    <p:animEffect transition="in" filter="wipe(up)">
                                      <p:cBhvr>
                                        <p:cTn id="36" dur="500"/>
                                        <p:tgtEl>
                                          <p:spTgt spid="403459">
                                            <p:txEl>
                                              <p:pRg st="9" end="9"/>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03459">
                                            <p:txEl>
                                              <p:pRg st="11" end="11"/>
                                            </p:txEl>
                                          </p:spTgt>
                                        </p:tgtEl>
                                        <p:attrNameLst>
                                          <p:attrName>style.visibility</p:attrName>
                                        </p:attrNameLst>
                                      </p:cBhvr>
                                      <p:to>
                                        <p:strVal val="visible"/>
                                      </p:to>
                                    </p:set>
                                    <p:animEffect transition="in" filter="wipe(up)">
                                      <p:cBhvr>
                                        <p:cTn id="39" dur="500"/>
                                        <p:tgtEl>
                                          <p:spTgt spid="40345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noFill/>
        </p:spPr>
        <p:txBody>
          <a:bodyPr>
            <a:normAutofit/>
          </a:bodyPr>
          <a:lstStyle/>
          <a:p>
            <a:pPr eaLnBrk="1" hangingPunct="1">
              <a:defRPr/>
            </a:pPr>
            <a:r>
              <a:rPr lang="en-US" sz="4000" dirty="0"/>
              <a:t>External Constraints on Emotions</a:t>
            </a:r>
          </a:p>
        </p:txBody>
      </p:sp>
      <p:sp>
        <p:nvSpPr>
          <p:cNvPr id="371715" name="Line 3"/>
          <p:cNvSpPr>
            <a:spLocks noChangeShapeType="1"/>
          </p:cNvSpPr>
          <p:nvPr/>
        </p:nvSpPr>
        <p:spPr bwMode="blackWhite">
          <a:xfrm rot="-8132954">
            <a:off x="2514600" y="2343150"/>
            <a:ext cx="1295400" cy="1191"/>
          </a:xfrm>
          <a:prstGeom prst="line">
            <a:avLst/>
          </a:prstGeom>
          <a:noFill/>
          <a:ln w="76200">
            <a:solidFill>
              <a:srgbClr val="F42E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371716" name="Line 4"/>
          <p:cNvSpPr>
            <a:spLocks noChangeShapeType="1"/>
          </p:cNvSpPr>
          <p:nvPr/>
        </p:nvSpPr>
        <p:spPr bwMode="blackWhite">
          <a:xfrm rot="-2727649">
            <a:off x="5502871" y="2391371"/>
            <a:ext cx="856059" cy="0"/>
          </a:xfrm>
          <a:prstGeom prst="line">
            <a:avLst/>
          </a:prstGeom>
          <a:noFill/>
          <a:ln w="76200">
            <a:solidFill>
              <a:srgbClr val="F42E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371717" name="Rectangle 5"/>
          <p:cNvSpPr>
            <a:spLocks noChangeArrowheads="1"/>
          </p:cNvSpPr>
          <p:nvPr/>
        </p:nvSpPr>
        <p:spPr bwMode="blackWhite">
          <a:xfrm>
            <a:off x="1069976" y="1543050"/>
            <a:ext cx="2587625" cy="742950"/>
          </a:xfrm>
          <a:prstGeom prst="rect">
            <a:avLst/>
          </a:prstGeom>
          <a:solidFill>
            <a:srgbClr val="996633"/>
          </a:solidFill>
          <a:ln w="12700">
            <a:solidFill>
              <a:schemeClr val="tx1"/>
            </a:solidFill>
            <a:miter lim="800000"/>
            <a:headEnd/>
            <a:tailEnd/>
          </a:ln>
          <a:effectLst>
            <a:outerShdw dist="107763" dir="2700000" algn="ctr" rotWithShape="0">
              <a:schemeClr val="bg2">
                <a:alpha val="50000"/>
              </a:schemeClr>
            </a:outerShdw>
          </a:effectLst>
        </p:spPr>
        <p:txBody>
          <a:bodyPr anchor="ctr"/>
          <a:lstStyle/>
          <a:p>
            <a:pPr algn="ctr" eaLnBrk="0" hangingPunct="0">
              <a:defRPr/>
            </a:pPr>
            <a:r>
              <a:rPr lang="en-US" sz="2000">
                <a:solidFill>
                  <a:schemeClr val="bg1"/>
                </a:solidFill>
                <a:effectLst>
                  <a:outerShdw blurRad="38100" dist="38100" dir="2700000" algn="tl">
                    <a:srgbClr val="000000"/>
                  </a:outerShdw>
                </a:effectLst>
                <a:latin typeface="Arial" pitchFamily="34" charset="0"/>
              </a:rPr>
              <a:t>Organizational</a:t>
            </a:r>
            <a:br>
              <a:rPr lang="en-US" sz="2000">
                <a:solidFill>
                  <a:schemeClr val="bg1"/>
                </a:solidFill>
                <a:effectLst>
                  <a:outerShdw blurRad="38100" dist="38100" dir="2700000" algn="tl">
                    <a:srgbClr val="000000"/>
                  </a:outerShdw>
                </a:effectLst>
                <a:latin typeface="Arial" pitchFamily="34" charset="0"/>
              </a:rPr>
            </a:br>
            <a:r>
              <a:rPr lang="en-US" sz="2000">
                <a:solidFill>
                  <a:schemeClr val="bg1"/>
                </a:solidFill>
                <a:effectLst>
                  <a:outerShdw blurRad="38100" dist="38100" dir="2700000" algn="tl">
                    <a:srgbClr val="000000"/>
                  </a:outerShdw>
                </a:effectLst>
                <a:latin typeface="Arial" pitchFamily="34" charset="0"/>
              </a:rPr>
              <a:t>Influences</a:t>
            </a:r>
          </a:p>
        </p:txBody>
      </p:sp>
      <p:sp>
        <p:nvSpPr>
          <p:cNvPr id="371718" name="Rectangle 6"/>
          <p:cNvSpPr>
            <a:spLocks noChangeArrowheads="1"/>
          </p:cNvSpPr>
          <p:nvPr/>
        </p:nvSpPr>
        <p:spPr bwMode="blackWhite">
          <a:xfrm>
            <a:off x="5410201" y="1543050"/>
            <a:ext cx="2587625" cy="742950"/>
          </a:xfrm>
          <a:prstGeom prst="rect">
            <a:avLst/>
          </a:prstGeom>
          <a:solidFill>
            <a:schemeClr val="accent2"/>
          </a:solidFill>
          <a:ln w="12700">
            <a:solidFill>
              <a:schemeClr val="tx1"/>
            </a:solidFill>
            <a:miter lim="800000"/>
            <a:headEnd/>
            <a:tailEnd/>
          </a:ln>
          <a:effectLst>
            <a:outerShdw dist="107763" dir="2700000" algn="ctr" rotWithShape="0">
              <a:schemeClr val="bg2">
                <a:alpha val="50000"/>
              </a:schemeClr>
            </a:outerShdw>
          </a:effectLst>
        </p:spPr>
        <p:txBody>
          <a:bodyPr anchor="ctr"/>
          <a:lstStyle/>
          <a:p>
            <a:pPr algn="ctr" eaLnBrk="0" hangingPunct="0">
              <a:defRPr/>
            </a:pPr>
            <a:r>
              <a:rPr lang="en-US" sz="2000">
                <a:solidFill>
                  <a:schemeClr val="bg1"/>
                </a:solidFill>
                <a:effectLst>
                  <a:outerShdw blurRad="38100" dist="38100" dir="2700000" algn="tl">
                    <a:srgbClr val="000000"/>
                  </a:outerShdw>
                </a:effectLst>
                <a:latin typeface="Arial" pitchFamily="34" charset="0"/>
              </a:rPr>
              <a:t>Cultural</a:t>
            </a:r>
            <a:br>
              <a:rPr lang="en-US" sz="2000">
                <a:solidFill>
                  <a:schemeClr val="bg1"/>
                </a:solidFill>
                <a:effectLst>
                  <a:outerShdw blurRad="38100" dist="38100" dir="2700000" algn="tl">
                    <a:srgbClr val="000000"/>
                  </a:outerShdw>
                </a:effectLst>
                <a:latin typeface="Arial" pitchFamily="34" charset="0"/>
              </a:rPr>
            </a:br>
            <a:r>
              <a:rPr lang="en-US" sz="2000">
                <a:solidFill>
                  <a:schemeClr val="bg1"/>
                </a:solidFill>
                <a:effectLst>
                  <a:outerShdw blurRad="38100" dist="38100" dir="2700000" algn="tl">
                    <a:srgbClr val="000000"/>
                  </a:outerShdw>
                </a:effectLst>
                <a:latin typeface="Arial" pitchFamily="34" charset="0"/>
              </a:rPr>
              <a:t>Influences</a:t>
            </a:r>
          </a:p>
        </p:txBody>
      </p:sp>
      <p:sp>
        <p:nvSpPr>
          <p:cNvPr id="371719" name="Oval 7"/>
          <p:cNvSpPr>
            <a:spLocks noChangeArrowheads="1"/>
          </p:cNvSpPr>
          <p:nvPr/>
        </p:nvSpPr>
        <p:spPr bwMode="blackWhite">
          <a:xfrm>
            <a:off x="3416300" y="2695575"/>
            <a:ext cx="2603500" cy="1019175"/>
          </a:xfrm>
          <a:prstGeom prst="ellipse">
            <a:avLst/>
          </a:prstGeom>
          <a:solidFill>
            <a:srgbClr val="CC6600"/>
          </a:solidFill>
          <a:ln w="12700">
            <a:solidFill>
              <a:schemeClr val="tx1"/>
            </a:solidFill>
            <a:round/>
            <a:headEnd/>
            <a:tailEnd/>
          </a:ln>
          <a:effectLst>
            <a:outerShdw dist="107763" dir="2700000" algn="ctr" rotWithShape="0">
              <a:schemeClr val="bg2"/>
            </a:outerShdw>
          </a:effectLst>
        </p:spPr>
        <p:txBody>
          <a:bodyPr anchor="ctr"/>
          <a:lstStyle/>
          <a:p>
            <a:pPr algn="ctr" eaLnBrk="0" hangingPunct="0">
              <a:defRPr/>
            </a:pPr>
            <a:r>
              <a:rPr lang="en-US" sz="2000">
                <a:solidFill>
                  <a:schemeClr val="bg1"/>
                </a:solidFill>
                <a:effectLst>
                  <a:outerShdw blurRad="38100" dist="38100" dir="2700000" algn="tl">
                    <a:srgbClr val="000000"/>
                  </a:outerShdw>
                </a:effectLst>
                <a:latin typeface="Arial" pitchFamily="34" charset="0"/>
              </a:rPr>
              <a:t>Individual</a:t>
            </a:r>
            <a:br>
              <a:rPr lang="en-US" sz="2000">
                <a:solidFill>
                  <a:schemeClr val="bg1"/>
                </a:solidFill>
                <a:effectLst>
                  <a:outerShdw blurRad="38100" dist="38100" dir="2700000" algn="tl">
                    <a:srgbClr val="000000"/>
                  </a:outerShdw>
                </a:effectLst>
                <a:latin typeface="Arial" pitchFamily="34" charset="0"/>
              </a:rPr>
            </a:br>
            <a:r>
              <a:rPr lang="en-US" sz="2000">
                <a:solidFill>
                  <a:schemeClr val="bg1"/>
                </a:solidFill>
                <a:effectLst>
                  <a:outerShdw blurRad="38100" dist="38100" dir="2700000" algn="tl">
                    <a:srgbClr val="000000"/>
                  </a:outerShdw>
                </a:effectLst>
                <a:latin typeface="Arial" pitchFamily="34" charset="0"/>
              </a:rPr>
              <a:t>Emotions</a:t>
            </a:r>
          </a:p>
        </p:txBody>
      </p:sp>
      <p:sp>
        <p:nvSpPr>
          <p:cNvPr id="2" name="Slide Number Placeholder 1"/>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9</a:t>
            </a:fld>
            <a:endParaRPr lang="en-US" dirty="0">
              <a:solidFill>
                <a:srgbClr val="FFFFFF"/>
              </a:solidFill>
            </a:endParaRPr>
          </a:p>
        </p:txBody>
      </p:sp>
    </p:spTree>
    <p:extLst>
      <p:ext uri="{BB962C8B-B14F-4D97-AF65-F5344CB8AC3E}">
        <p14:creationId xmlns:p14="http://schemas.microsoft.com/office/powerpoint/2010/main" val="3439163158"/>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371719"/>
                                        </p:tgtEl>
                                        <p:attrNameLst>
                                          <p:attrName>style.visibility</p:attrName>
                                        </p:attrNameLst>
                                      </p:cBhvr>
                                      <p:to>
                                        <p:strVal val="visible"/>
                                      </p:to>
                                    </p:set>
                                    <p:animEffect transition="in" filter="box(out)">
                                      <p:cBhvr>
                                        <p:cTn id="7" dur="500"/>
                                        <p:tgtEl>
                                          <p:spTgt spid="371719"/>
                                        </p:tgtEl>
                                      </p:cBhvr>
                                    </p:animEffect>
                                  </p:childTnLst>
                                </p:cTn>
                              </p:par>
                            </p:childTnLst>
                          </p:cTn>
                        </p:par>
                        <p:par>
                          <p:cTn id="8" fill="hold" nodeType="afterGroup">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371717"/>
                                        </p:tgtEl>
                                        <p:attrNameLst>
                                          <p:attrName>style.visibility</p:attrName>
                                        </p:attrNameLst>
                                      </p:cBhvr>
                                      <p:to>
                                        <p:strVal val="visible"/>
                                      </p:to>
                                    </p:set>
                                    <p:animEffect transition="in" filter="strips(downRight)">
                                      <p:cBhvr>
                                        <p:cTn id="11" dur="500"/>
                                        <p:tgtEl>
                                          <p:spTgt spid="371717"/>
                                        </p:tgtEl>
                                      </p:cBhvr>
                                    </p:animEffect>
                                  </p:childTnLst>
                                </p:cTn>
                              </p:par>
                            </p:childTnLst>
                          </p:cTn>
                        </p:par>
                        <p:par>
                          <p:cTn id="12" fill="hold" nodeType="afterGroup">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371715"/>
                                        </p:tgtEl>
                                        <p:attrNameLst>
                                          <p:attrName>style.visibility</p:attrName>
                                        </p:attrNameLst>
                                      </p:cBhvr>
                                      <p:to>
                                        <p:strVal val="visible"/>
                                      </p:to>
                                    </p:set>
                                    <p:animEffect transition="in" filter="strips(downRight)">
                                      <p:cBhvr>
                                        <p:cTn id="15" dur="500"/>
                                        <p:tgtEl>
                                          <p:spTgt spid="371715"/>
                                        </p:tgtEl>
                                      </p:cBhvr>
                                    </p:animEffect>
                                  </p:childTnLst>
                                </p:cTn>
                              </p:par>
                            </p:childTnLst>
                          </p:cTn>
                        </p:par>
                        <p:par>
                          <p:cTn id="16" fill="hold" nodeType="afterGroup">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371718"/>
                                        </p:tgtEl>
                                        <p:attrNameLst>
                                          <p:attrName>style.visibility</p:attrName>
                                        </p:attrNameLst>
                                      </p:cBhvr>
                                      <p:to>
                                        <p:strVal val="visible"/>
                                      </p:to>
                                    </p:set>
                                    <p:animEffect transition="in" filter="wipe(right)">
                                      <p:cBhvr>
                                        <p:cTn id="19" dur="500"/>
                                        <p:tgtEl>
                                          <p:spTgt spid="371718"/>
                                        </p:tgtEl>
                                      </p:cBhvr>
                                    </p:animEffect>
                                  </p:childTnLst>
                                </p:cTn>
                              </p:par>
                            </p:childTnLst>
                          </p:cTn>
                        </p:par>
                        <p:par>
                          <p:cTn id="20" fill="hold" nodeType="afterGroup">
                            <p:stCondLst>
                              <p:cond delay="2000"/>
                            </p:stCondLst>
                            <p:childTnLst>
                              <p:par>
                                <p:cTn id="21" presetID="18" presetClass="entr" presetSubtype="12" fill="hold" grpId="0" nodeType="afterEffect">
                                  <p:stCondLst>
                                    <p:cond delay="0"/>
                                  </p:stCondLst>
                                  <p:childTnLst>
                                    <p:set>
                                      <p:cBhvr>
                                        <p:cTn id="22" dur="1" fill="hold">
                                          <p:stCondLst>
                                            <p:cond delay="0"/>
                                          </p:stCondLst>
                                        </p:cTn>
                                        <p:tgtEl>
                                          <p:spTgt spid="371716"/>
                                        </p:tgtEl>
                                        <p:attrNameLst>
                                          <p:attrName>style.visibility</p:attrName>
                                        </p:attrNameLst>
                                      </p:cBhvr>
                                      <p:to>
                                        <p:strVal val="visible"/>
                                      </p:to>
                                    </p:set>
                                    <p:animEffect transition="in" filter="strips(downLeft)">
                                      <p:cBhvr>
                                        <p:cTn id="23" dur="500"/>
                                        <p:tgtEl>
                                          <p:spTgt spid="371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animBg="1"/>
      <p:bldP spid="371716" grpId="0" animBg="1"/>
      <p:bldP spid="371717" grpId="0" animBg="1" autoUpdateAnimBg="0"/>
      <p:bldP spid="371718" grpId="0" animBg="1" autoUpdateAnimBg="0"/>
      <p:bldP spid="371719"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noFill/>
        </p:spPr>
        <p:txBody>
          <a:bodyPr>
            <a:normAutofit/>
          </a:bodyPr>
          <a:lstStyle/>
          <a:p>
            <a:pPr eaLnBrk="1" hangingPunct="1">
              <a:defRPr/>
            </a:pPr>
            <a:r>
              <a:rPr lang="en-US" sz="4000" dirty="0"/>
              <a:t>Emotional Labor</a:t>
            </a:r>
          </a:p>
        </p:txBody>
      </p:sp>
      <p:sp>
        <p:nvSpPr>
          <p:cNvPr id="6" name="Content Placeholder 5"/>
          <p:cNvSpPr>
            <a:spLocks noGrp="1"/>
          </p:cNvSpPr>
          <p:nvPr>
            <p:ph sz="quarter" idx="13"/>
          </p:nvPr>
        </p:nvSpPr>
        <p:spPr>
          <a:xfrm>
            <a:off x="609600" y="1352550"/>
            <a:ext cx="8153400" cy="3276600"/>
          </a:xfrm>
        </p:spPr>
        <p:txBody>
          <a:bodyPr>
            <a:noAutofit/>
          </a:bodyPr>
          <a:lstStyle/>
          <a:p>
            <a:pPr>
              <a:spcBef>
                <a:spcPts val="0"/>
              </a:spcBef>
            </a:pPr>
            <a:r>
              <a:rPr lang="en-US" sz="2000" b="1" dirty="0"/>
              <a:t>Emotional Labor</a:t>
            </a:r>
          </a:p>
          <a:p>
            <a:pPr lvl="1">
              <a:spcBef>
                <a:spcPts val="0"/>
              </a:spcBef>
            </a:pPr>
            <a:r>
              <a:rPr lang="en-US" sz="2000" i="1" dirty="0"/>
              <a:t>An employee’s expression of organizationally desired emotions during interpersonal transactions at work.</a:t>
            </a:r>
            <a:endParaRPr lang="en-US" sz="2000" dirty="0"/>
          </a:p>
          <a:p>
            <a:pPr>
              <a:spcBef>
                <a:spcPts val="0"/>
              </a:spcBef>
            </a:pPr>
            <a:r>
              <a:rPr lang="en-US" sz="2000" b="1" dirty="0"/>
              <a:t>Emotional Dissonance:</a:t>
            </a:r>
          </a:p>
          <a:p>
            <a:pPr lvl="1">
              <a:spcBef>
                <a:spcPts val="0"/>
              </a:spcBef>
            </a:pPr>
            <a:r>
              <a:rPr lang="en-US" sz="2000" dirty="0"/>
              <a:t>Employees have to project one emotion while simultaneously feeling another</a:t>
            </a:r>
          </a:p>
          <a:p>
            <a:pPr lvl="1">
              <a:spcBef>
                <a:spcPts val="0"/>
              </a:spcBef>
            </a:pPr>
            <a:r>
              <a:rPr lang="en-US" sz="2000" dirty="0"/>
              <a:t>Can be very damaging and lead to burnout.</a:t>
            </a:r>
          </a:p>
        </p:txBody>
      </p:sp>
      <p:pic>
        <p:nvPicPr>
          <p:cNvPr id="387077" name="Picture 5"/>
          <p:cNvPicPr>
            <a:picLocks noChangeAspect="1" noChangeArrowheads="1"/>
          </p:cNvPicPr>
          <p:nvPr/>
        </p:nvPicPr>
        <p:blipFill>
          <a:blip r:embed="rId4">
            <a:extLst>
              <a:ext uri="{28A0092B-C50C-407E-A947-70E740481C1C}">
                <a14:useLocalDpi xmlns:a14="http://schemas.microsoft.com/office/drawing/2010/main" val="0"/>
              </a:ext>
            </a:extLst>
          </a:blip>
          <a:srcRect t="2822" r="5079"/>
          <a:stretch>
            <a:fillRect/>
          </a:stretch>
        </p:blipFill>
        <p:spPr bwMode="auto">
          <a:xfrm>
            <a:off x="6172200" y="3471862"/>
            <a:ext cx="2971800"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10</a:t>
            </a:fld>
            <a:endParaRPr lang="en-US"/>
          </a:p>
        </p:txBody>
      </p:sp>
      <p:pic>
        <p:nvPicPr>
          <p:cNvPr id="1026" name="Picture 2" descr="Image result for emotional labo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7353" y="3591707"/>
            <a:ext cx="1258647" cy="1494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903192"/>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87077"/>
                                        </p:tgtEl>
                                        <p:attrNameLst>
                                          <p:attrName>style.visibility</p:attrName>
                                        </p:attrNameLst>
                                      </p:cBhvr>
                                      <p:to>
                                        <p:strVal val="visible"/>
                                      </p:to>
                                    </p:set>
                                    <p:anim calcmode="lin" valueType="num">
                                      <p:cBhvr additive="base">
                                        <p:cTn id="7" dur="500" fill="hold"/>
                                        <p:tgtEl>
                                          <p:spTgt spid="387077"/>
                                        </p:tgtEl>
                                        <p:attrNameLst>
                                          <p:attrName>ppt_x</p:attrName>
                                        </p:attrNameLst>
                                      </p:cBhvr>
                                      <p:tavLst>
                                        <p:tav tm="0">
                                          <p:val>
                                            <p:strVal val="0-#ppt_w/2"/>
                                          </p:val>
                                        </p:tav>
                                        <p:tav tm="100000">
                                          <p:val>
                                            <p:strVal val="#ppt_x"/>
                                          </p:val>
                                        </p:tav>
                                      </p:tavLst>
                                    </p:anim>
                                    <p:anim calcmode="lin" valueType="num">
                                      <p:cBhvr additive="base">
                                        <p:cTn id="8" dur="500" fill="hold"/>
                                        <p:tgtEl>
                                          <p:spTgt spid="38707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noFill/>
        </p:spPr>
        <p:txBody>
          <a:bodyPr>
            <a:normAutofit/>
          </a:bodyPr>
          <a:lstStyle/>
          <a:p>
            <a:pPr eaLnBrk="1" hangingPunct="1">
              <a:defRPr/>
            </a:pPr>
            <a:r>
              <a:rPr lang="en-US" sz="4000" dirty="0"/>
              <a:t>Types of Emotions</a:t>
            </a:r>
          </a:p>
        </p:txBody>
      </p:sp>
      <p:sp>
        <p:nvSpPr>
          <p:cNvPr id="388329" name="Line 233"/>
          <p:cNvSpPr>
            <a:spLocks noChangeShapeType="1"/>
          </p:cNvSpPr>
          <p:nvPr/>
        </p:nvSpPr>
        <p:spPr bwMode="auto">
          <a:xfrm>
            <a:off x="990600" y="2647950"/>
            <a:ext cx="4267200"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8330" name="Text Box 234"/>
          <p:cNvSpPr txBox="1">
            <a:spLocks noChangeArrowheads="1"/>
          </p:cNvSpPr>
          <p:nvPr/>
        </p:nvSpPr>
        <p:spPr bwMode="auto">
          <a:xfrm>
            <a:off x="914400" y="1276350"/>
            <a:ext cx="46482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eaLnBrk="1" hangingPunct="1">
              <a:spcBef>
                <a:spcPct val="50000"/>
              </a:spcBef>
            </a:pPr>
            <a:r>
              <a:rPr lang="en-US" sz="2400" dirty="0"/>
              <a:t>Felt Emotions</a:t>
            </a:r>
          </a:p>
          <a:p>
            <a:pPr eaLnBrk="1" hangingPunct="1">
              <a:spcBef>
                <a:spcPct val="50000"/>
              </a:spcBef>
            </a:pPr>
            <a:r>
              <a:rPr lang="en-US" sz="1800" b="0" dirty="0">
                <a:latin typeface="+mn-lt"/>
              </a:rPr>
              <a:t>An individual’s actual emotions. </a:t>
            </a:r>
          </a:p>
          <a:p>
            <a:pPr eaLnBrk="1" hangingPunct="1">
              <a:spcBef>
                <a:spcPct val="50000"/>
              </a:spcBef>
            </a:pPr>
            <a:r>
              <a:rPr lang="en-US" sz="1800" b="0" dirty="0">
                <a:latin typeface="+mn-lt"/>
              </a:rPr>
              <a:t>Actual Feelings, In-born, Natural Response</a:t>
            </a:r>
          </a:p>
        </p:txBody>
      </p:sp>
      <p:sp>
        <p:nvSpPr>
          <p:cNvPr id="388331" name="Text Box 235"/>
          <p:cNvSpPr txBox="1">
            <a:spLocks noChangeArrowheads="1"/>
          </p:cNvSpPr>
          <p:nvPr/>
        </p:nvSpPr>
        <p:spPr bwMode="auto">
          <a:xfrm>
            <a:off x="958850" y="2671048"/>
            <a:ext cx="5594350"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000" b="1">
                <a:solidFill>
                  <a:schemeClr val="tx1"/>
                </a:solidFill>
                <a:latin typeface="Arial" charset="0"/>
              </a:defRPr>
            </a:lvl1pPr>
            <a:lvl2pPr marL="742950" indent="-285750" eaLnBrk="0" hangingPunct="0">
              <a:defRPr sz="1000" b="1">
                <a:solidFill>
                  <a:schemeClr val="tx1"/>
                </a:solidFill>
                <a:latin typeface="Arial" charset="0"/>
              </a:defRPr>
            </a:lvl2pPr>
            <a:lvl3pPr marL="1143000" indent="-228600" eaLnBrk="0" hangingPunct="0">
              <a:defRPr sz="1000" b="1">
                <a:solidFill>
                  <a:schemeClr val="tx1"/>
                </a:solidFill>
                <a:latin typeface="Arial" charset="0"/>
              </a:defRPr>
            </a:lvl3pPr>
            <a:lvl4pPr marL="1600200" indent="-228600" eaLnBrk="0" hangingPunct="0">
              <a:defRPr sz="1000" b="1">
                <a:solidFill>
                  <a:schemeClr val="tx1"/>
                </a:solidFill>
                <a:latin typeface="Arial" charset="0"/>
              </a:defRPr>
            </a:lvl4pPr>
            <a:lvl5pPr marL="2057400" indent="-228600" eaLnBrk="0" hangingPunct="0">
              <a:defRPr sz="1000" b="1">
                <a:solidFill>
                  <a:schemeClr val="tx1"/>
                </a:solidFill>
                <a:latin typeface="Arial" charset="0"/>
              </a:defRPr>
            </a:lvl5pPr>
            <a:lvl6pPr marL="2514600" indent="-228600" eaLnBrk="0" fontAlgn="base" hangingPunct="0">
              <a:spcBef>
                <a:spcPct val="0"/>
              </a:spcBef>
              <a:spcAft>
                <a:spcPct val="0"/>
              </a:spcAft>
              <a:defRPr sz="1000" b="1">
                <a:solidFill>
                  <a:schemeClr val="tx1"/>
                </a:solidFill>
                <a:latin typeface="Arial" charset="0"/>
              </a:defRPr>
            </a:lvl6pPr>
            <a:lvl7pPr marL="2971800" indent="-228600" eaLnBrk="0" fontAlgn="base" hangingPunct="0">
              <a:spcBef>
                <a:spcPct val="0"/>
              </a:spcBef>
              <a:spcAft>
                <a:spcPct val="0"/>
              </a:spcAft>
              <a:defRPr sz="1000" b="1">
                <a:solidFill>
                  <a:schemeClr val="tx1"/>
                </a:solidFill>
                <a:latin typeface="Arial" charset="0"/>
              </a:defRPr>
            </a:lvl7pPr>
            <a:lvl8pPr marL="3429000" indent="-228600" eaLnBrk="0" fontAlgn="base" hangingPunct="0">
              <a:spcBef>
                <a:spcPct val="0"/>
              </a:spcBef>
              <a:spcAft>
                <a:spcPct val="0"/>
              </a:spcAft>
              <a:defRPr sz="1000" b="1">
                <a:solidFill>
                  <a:schemeClr val="tx1"/>
                </a:solidFill>
                <a:latin typeface="Arial" charset="0"/>
              </a:defRPr>
            </a:lvl8pPr>
            <a:lvl9pPr marL="3886200" indent="-228600" eaLnBrk="0" fontAlgn="base" hangingPunct="0">
              <a:spcBef>
                <a:spcPct val="0"/>
              </a:spcBef>
              <a:spcAft>
                <a:spcPct val="0"/>
              </a:spcAft>
              <a:defRPr sz="1000" b="1">
                <a:solidFill>
                  <a:schemeClr val="tx1"/>
                </a:solidFill>
                <a:latin typeface="Arial" charset="0"/>
              </a:defRPr>
            </a:lvl9pPr>
          </a:lstStyle>
          <a:p>
            <a:pPr eaLnBrk="1" hangingPunct="1">
              <a:spcBef>
                <a:spcPct val="50000"/>
              </a:spcBef>
            </a:pPr>
            <a:r>
              <a:rPr lang="en-US" sz="2400" dirty="0"/>
              <a:t>Displayed Emotions</a:t>
            </a:r>
          </a:p>
          <a:p>
            <a:pPr eaLnBrk="1" hangingPunct="1">
              <a:spcBef>
                <a:spcPct val="50000"/>
              </a:spcBef>
            </a:pPr>
            <a:r>
              <a:rPr lang="en-US" sz="2000" b="0" dirty="0">
                <a:latin typeface="+mn-lt"/>
              </a:rPr>
              <a:t>Emotions that are organizationally required and considered appropriate in a given job.</a:t>
            </a:r>
          </a:p>
          <a:p>
            <a:pPr marL="1828800" lvl="2" indent="-1597025">
              <a:spcBef>
                <a:spcPts val="0"/>
              </a:spcBef>
            </a:pPr>
            <a:r>
              <a:rPr lang="en-US" sz="1800" u="sng" dirty="0">
                <a:latin typeface="+mn-lt"/>
              </a:rPr>
              <a:t>Surface Acting</a:t>
            </a:r>
            <a:r>
              <a:rPr lang="en-US" sz="1800" dirty="0">
                <a:latin typeface="+mn-lt"/>
              </a:rPr>
              <a:t>: </a:t>
            </a:r>
            <a:r>
              <a:rPr lang="en-US" sz="1800" b="0" dirty="0">
                <a:latin typeface="+mn-lt"/>
              </a:rPr>
              <a:t>displaying appropriately but not feeling those emotions internally </a:t>
            </a:r>
          </a:p>
          <a:p>
            <a:pPr marL="1828800" lvl="2" indent="-1597025">
              <a:spcBef>
                <a:spcPts val="0"/>
              </a:spcBef>
            </a:pPr>
            <a:r>
              <a:rPr lang="en-US" sz="1800" u="sng" dirty="0">
                <a:latin typeface="+mn-lt"/>
              </a:rPr>
              <a:t>Deep Acting</a:t>
            </a:r>
            <a:r>
              <a:rPr lang="en-US" sz="1800" dirty="0">
                <a:latin typeface="+mn-lt"/>
              </a:rPr>
              <a:t>: </a:t>
            </a:r>
            <a:r>
              <a:rPr lang="en-US" sz="1800" b="0" dirty="0">
                <a:latin typeface="+mn-lt"/>
              </a:rPr>
              <a:t>changing internal feelings to match display rules - very stressful</a:t>
            </a:r>
          </a:p>
        </p:txBody>
      </p:sp>
      <p:pic>
        <p:nvPicPr>
          <p:cNvPr id="14343" name="Picture 2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7637" y="3656409"/>
            <a:ext cx="2646363" cy="1487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2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1352550"/>
            <a:ext cx="155098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11</a:t>
            </a:fld>
            <a:endParaRPr lang="en-US" dirty="0">
              <a:solidFill>
                <a:srgbClr val="FFFFFF"/>
              </a:solidFill>
            </a:endParaRPr>
          </a:p>
        </p:txBody>
      </p:sp>
    </p:spTree>
    <p:extLst>
      <p:ext uri="{BB962C8B-B14F-4D97-AF65-F5344CB8AC3E}">
        <p14:creationId xmlns:p14="http://schemas.microsoft.com/office/powerpoint/2010/main" val="662429388"/>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8330"/>
                                        </p:tgtEl>
                                        <p:attrNameLst>
                                          <p:attrName>style.visibility</p:attrName>
                                        </p:attrNameLst>
                                      </p:cBhvr>
                                      <p:to>
                                        <p:strVal val="visible"/>
                                      </p:to>
                                    </p:set>
                                    <p:animEffect transition="in" filter="wipe(up)">
                                      <p:cBhvr>
                                        <p:cTn id="7" dur="500"/>
                                        <p:tgtEl>
                                          <p:spTgt spid="388330"/>
                                        </p:tgtEl>
                                      </p:cBhvr>
                                    </p:animEffect>
                                  </p:childTnLst>
                                </p:cTn>
                              </p:par>
                            </p:childTnLst>
                          </p:cTn>
                        </p:par>
                        <p:par>
                          <p:cTn id="8" fill="hold" nodeType="afterGroup">
                            <p:stCondLst>
                              <p:cond delay="500"/>
                            </p:stCondLst>
                            <p:childTnLst>
                              <p:par>
                                <p:cTn id="9" presetID="17" presetClass="entr" presetSubtype="8" fill="hold" grpId="0" nodeType="afterEffect">
                                  <p:stCondLst>
                                    <p:cond delay="0"/>
                                  </p:stCondLst>
                                  <p:childTnLst>
                                    <p:set>
                                      <p:cBhvr>
                                        <p:cTn id="10" dur="1" fill="hold">
                                          <p:stCondLst>
                                            <p:cond delay="0"/>
                                          </p:stCondLst>
                                        </p:cTn>
                                        <p:tgtEl>
                                          <p:spTgt spid="388329"/>
                                        </p:tgtEl>
                                        <p:attrNameLst>
                                          <p:attrName>style.visibility</p:attrName>
                                        </p:attrNameLst>
                                      </p:cBhvr>
                                      <p:to>
                                        <p:strVal val="visible"/>
                                      </p:to>
                                    </p:set>
                                    <p:anim calcmode="lin" valueType="num">
                                      <p:cBhvr>
                                        <p:cTn id="11" dur="500" fill="hold"/>
                                        <p:tgtEl>
                                          <p:spTgt spid="388329"/>
                                        </p:tgtEl>
                                        <p:attrNameLst>
                                          <p:attrName>ppt_x</p:attrName>
                                        </p:attrNameLst>
                                      </p:cBhvr>
                                      <p:tavLst>
                                        <p:tav tm="0">
                                          <p:val>
                                            <p:strVal val="#ppt_x-#ppt_w/2"/>
                                          </p:val>
                                        </p:tav>
                                        <p:tav tm="100000">
                                          <p:val>
                                            <p:strVal val="#ppt_x"/>
                                          </p:val>
                                        </p:tav>
                                      </p:tavLst>
                                    </p:anim>
                                    <p:anim calcmode="lin" valueType="num">
                                      <p:cBhvr>
                                        <p:cTn id="12" dur="500" fill="hold"/>
                                        <p:tgtEl>
                                          <p:spTgt spid="388329"/>
                                        </p:tgtEl>
                                        <p:attrNameLst>
                                          <p:attrName>ppt_y</p:attrName>
                                        </p:attrNameLst>
                                      </p:cBhvr>
                                      <p:tavLst>
                                        <p:tav tm="0">
                                          <p:val>
                                            <p:strVal val="#ppt_y"/>
                                          </p:val>
                                        </p:tav>
                                        <p:tav tm="100000">
                                          <p:val>
                                            <p:strVal val="#ppt_y"/>
                                          </p:val>
                                        </p:tav>
                                      </p:tavLst>
                                    </p:anim>
                                    <p:anim calcmode="lin" valueType="num">
                                      <p:cBhvr>
                                        <p:cTn id="13" dur="500" fill="hold"/>
                                        <p:tgtEl>
                                          <p:spTgt spid="388329"/>
                                        </p:tgtEl>
                                        <p:attrNameLst>
                                          <p:attrName>ppt_w</p:attrName>
                                        </p:attrNameLst>
                                      </p:cBhvr>
                                      <p:tavLst>
                                        <p:tav tm="0">
                                          <p:val>
                                            <p:fltVal val="0"/>
                                          </p:val>
                                        </p:tav>
                                        <p:tav tm="100000">
                                          <p:val>
                                            <p:strVal val="#ppt_w"/>
                                          </p:val>
                                        </p:tav>
                                      </p:tavLst>
                                    </p:anim>
                                    <p:anim calcmode="lin" valueType="num">
                                      <p:cBhvr>
                                        <p:cTn id="14" dur="500" fill="hold"/>
                                        <p:tgtEl>
                                          <p:spTgt spid="388329"/>
                                        </p:tgtEl>
                                        <p:attrNameLst>
                                          <p:attrName>ppt_h</p:attrName>
                                        </p:attrNameLst>
                                      </p:cBhvr>
                                      <p:tavLst>
                                        <p:tav tm="0">
                                          <p:val>
                                            <p:strVal val="#ppt_h"/>
                                          </p:val>
                                        </p:tav>
                                        <p:tav tm="100000">
                                          <p:val>
                                            <p:strVal val="#ppt_h"/>
                                          </p:val>
                                        </p:tav>
                                      </p:tavLst>
                                    </p:anim>
                                  </p:childTnLst>
                                </p:cTn>
                              </p:par>
                            </p:childTnLst>
                          </p:cTn>
                        </p:par>
                        <p:par>
                          <p:cTn id="15" fill="hold" nodeType="afterGroup">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388331"/>
                                        </p:tgtEl>
                                        <p:attrNameLst>
                                          <p:attrName>style.visibility</p:attrName>
                                        </p:attrNameLst>
                                      </p:cBhvr>
                                      <p:to>
                                        <p:strVal val="visible"/>
                                      </p:to>
                                    </p:set>
                                    <p:animEffect transition="in" filter="wipe(up)">
                                      <p:cBhvr>
                                        <p:cTn id="18" dur="500"/>
                                        <p:tgtEl>
                                          <p:spTgt spid="388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329" grpId="0" animBg="1"/>
      <p:bldP spid="388330" grpId="0" autoUpdateAnimBg="0"/>
      <p:bldP spid="38833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noFill/>
        </p:spPr>
        <p:txBody>
          <a:bodyPr>
            <a:normAutofit/>
          </a:bodyPr>
          <a:lstStyle/>
          <a:p>
            <a:pPr eaLnBrk="1" hangingPunct="1">
              <a:defRPr/>
            </a:pPr>
            <a:r>
              <a:rPr lang="en-US" sz="4000" dirty="0"/>
              <a:t>Affective Events Theory (AET)</a:t>
            </a:r>
          </a:p>
        </p:txBody>
      </p:sp>
      <p:sp>
        <p:nvSpPr>
          <p:cNvPr id="2" name="Slide Number Placeholder 1"/>
          <p:cNvSpPr>
            <a:spLocks noGrp="1"/>
          </p:cNvSpPr>
          <p:nvPr>
            <p:ph type="sldNum" sz="quarter" idx="12"/>
          </p:nvPr>
        </p:nvSpPr>
        <p:spPr/>
        <p:txBody>
          <a:bodyPr>
            <a:normAutofit fontScale="47500" lnSpcReduction="20000"/>
          </a:bodyPr>
          <a:lstStyle/>
          <a:p>
            <a:pPr>
              <a:defRPr/>
            </a:pPr>
            <a:r>
              <a:rPr lang="en-US"/>
              <a:t>13 - </a:t>
            </a:r>
            <a:fld id="{0243B14E-2E71-49E8-B830-10FBF1D8D852}" type="slidenum">
              <a:rPr lang="en-US" smtClean="0"/>
              <a:pPr>
                <a:defRPr/>
              </a:pPr>
              <a:t>12</a:t>
            </a:fld>
            <a:endParaRPr lang="en-US"/>
          </a:p>
        </p:txBody>
      </p:sp>
      <p:sp>
        <p:nvSpPr>
          <p:cNvPr id="15364" name="Rectangle 3"/>
          <p:cNvSpPr>
            <a:spLocks noGrp="1" noChangeArrowheads="1"/>
          </p:cNvSpPr>
          <p:nvPr>
            <p:ph sz="quarter" idx="13"/>
          </p:nvPr>
        </p:nvSpPr>
        <p:spPr/>
        <p:txBody>
          <a:bodyPr>
            <a:noAutofit/>
          </a:bodyPr>
          <a:lstStyle/>
          <a:p>
            <a:pPr>
              <a:spcBef>
                <a:spcPts val="300"/>
              </a:spcBef>
            </a:pPr>
            <a:r>
              <a:rPr lang="en-US" sz="1800" dirty="0"/>
              <a:t>An event in the work environment triggers </a:t>
            </a:r>
            <a:r>
              <a:rPr lang="en-US" sz="1800" b="1" dirty="0"/>
              <a:t>positive or negative </a:t>
            </a:r>
            <a:r>
              <a:rPr lang="en-US" sz="1800" dirty="0"/>
              <a:t>emotional reactions</a:t>
            </a:r>
          </a:p>
          <a:p>
            <a:pPr lvl="1">
              <a:spcBef>
                <a:spcPts val="300"/>
              </a:spcBef>
            </a:pPr>
            <a:r>
              <a:rPr lang="en-US" sz="1800" dirty="0"/>
              <a:t>Personality and mood determine response intensity </a:t>
            </a:r>
          </a:p>
          <a:p>
            <a:pPr lvl="1">
              <a:spcBef>
                <a:spcPts val="300"/>
              </a:spcBef>
            </a:pPr>
            <a:r>
              <a:rPr lang="en-US" sz="1800" dirty="0"/>
              <a:t>Emotions can influence a broad range of work performance and job satisfaction variables.</a:t>
            </a:r>
          </a:p>
          <a:p>
            <a:pPr eaLnBrk="1" hangingPunct="1">
              <a:spcBef>
                <a:spcPts val="300"/>
              </a:spcBef>
            </a:pPr>
            <a:r>
              <a:rPr lang="en-US" sz="1800" b="1" dirty="0"/>
              <a:t>Implications of the theory:</a:t>
            </a:r>
          </a:p>
          <a:p>
            <a:pPr lvl="1" eaLnBrk="1" hangingPunct="1">
              <a:spcBef>
                <a:spcPts val="300"/>
              </a:spcBef>
            </a:pPr>
            <a:r>
              <a:rPr lang="en-US" sz="1800" dirty="0"/>
              <a:t>Individual response reflects emotions and mood cycles.</a:t>
            </a:r>
          </a:p>
          <a:p>
            <a:pPr lvl="1" eaLnBrk="1" hangingPunct="1">
              <a:spcBef>
                <a:spcPts val="300"/>
              </a:spcBef>
            </a:pPr>
            <a:r>
              <a:rPr lang="en-US" sz="1800" dirty="0"/>
              <a:t>Current and past emotions affect job satisfaction.</a:t>
            </a:r>
          </a:p>
          <a:p>
            <a:pPr lvl="1" eaLnBrk="1" hangingPunct="1">
              <a:spcBef>
                <a:spcPts val="300"/>
              </a:spcBef>
            </a:pPr>
            <a:r>
              <a:rPr lang="en-US" sz="1800" dirty="0"/>
              <a:t>Emotional fluctuations create variations in job satisfaction and performance.</a:t>
            </a:r>
          </a:p>
          <a:p>
            <a:pPr lvl="1" eaLnBrk="1" hangingPunct="1">
              <a:spcBef>
                <a:spcPts val="300"/>
              </a:spcBef>
            </a:pPr>
            <a:r>
              <a:rPr lang="en-US" sz="1800" dirty="0"/>
              <a:t>Both negative and positive emotions can distract workers and reduce job performance. </a:t>
            </a:r>
          </a:p>
        </p:txBody>
      </p:sp>
    </p:spTree>
    <p:extLst>
      <p:ext uri="{BB962C8B-B14F-4D97-AF65-F5344CB8AC3E}">
        <p14:creationId xmlns:p14="http://schemas.microsoft.com/office/powerpoint/2010/main" val="77701459"/>
      </p:ext>
    </p:extLst>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noFill/>
        </p:spPr>
        <p:txBody>
          <a:bodyPr>
            <a:normAutofit/>
          </a:bodyPr>
          <a:lstStyle/>
          <a:p>
            <a:pPr eaLnBrk="1" hangingPunct="1">
              <a:defRPr/>
            </a:pPr>
            <a:r>
              <a:rPr lang="en-US" sz="4000" dirty="0"/>
              <a:t>Affective Events Theory (AET)</a:t>
            </a:r>
          </a:p>
        </p:txBody>
      </p:sp>
      <p:pic>
        <p:nvPicPr>
          <p:cNvPr id="2050" name="Picture 2"/>
          <p:cNvPicPr>
            <a:picLocks noChangeAspect="1" noChangeArrowheads="1"/>
          </p:cNvPicPr>
          <p:nvPr/>
        </p:nvPicPr>
        <p:blipFill>
          <a:blip r:embed="rId3"/>
          <a:srcRect l="9375" t="17750" r="25000" b="14250"/>
          <a:stretch>
            <a:fillRect/>
          </a:stretch>
        </p:blipFill>
        <p:spPr bwMode="auto">
          <a:xfrm>
            <a:off x="533399" y="1352550"/>
            <a:ext cx="6206659" cy="3790950"/>
          </a:xfrm>
          <a:prstGeom prst="rect">
            <a:avLst/>
          </a:prstGeom>
          <a:noFill/>
          <a:ln w="9525">
            <a:noFill/>
            <a:miter lim="800000"/>
            <a:headEnd/>
            <a:tailEnd/>
          </a:ln>
          <a:effectLst/>
        </p:spPr>
      </p:pic>
      <p:sp>
        <p:nvSpPr>
          <p:cNvPr id="8" name="TextBox 7"/>
          <p:cNvSpPr txBox="1"/>
          <p:nvPr/>
        </p:nvSpPr>
        <p:spPr>
          <a:xfrm>
            <a:off x="6781800" y="1352550"/>
            <a:ext cx="2286000" cy="2862322"/>
          </a:xfrm>
          <a:prstGeom prst="rect">
            <a:avLst/>
          </a:prstGeom>
          <a:noFill/>
        </p:spPr>
        <p:txBody>
          <a:bodyPr wrap="square" rtlCol="0">
            <a:spAutoFit/>
          </a:bodyPr>
          <a:lstStyle/>
          <a:p>
            <a:r>
              <a:rPr lang="en-US" b="1" dirty="0"/>
              <a:t>Affective Events Theory (AET) demonstrates that employees react</a:t>
            </a:r>
          </a:p>
          <a:p>
            <a:r>
              <a:rPr lang="en-US" dirty="0"/>
              <a:t>emotionally to things that happen to them at work, and this reaction influences their job performance and satisfaction.</a:t>
            </a:r>
          </a:p>
        </p:txBody>
      </p:sp>
      <p:sp>
        <p:nvSpPr>
          <p:cNvPr id="2" name="Slide Number Placeholder 1"/>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13</a:t>
            </a:fld>
            <a:endParaRPr lang="en-US" dirty="0">
              <a:solidFill>
                <a:srgbClr val="FFFFFF"/>
              </a:solidFill>
            </a:endParaRPr>
          </a:p>
        </p:txBody>
      </p:sp>
    </p:spTree>
    <p:extLst>
      <p:ext uri="{BB962C8B-B14F-4D97-AF65-F5344CB8AC3E}">
        <p14:creationId xmlns:p14="http://schemas.microsoft.com/office/powerpoint/2010/main" val="2483753627"/>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sz="4000" dirty="0">
                <a:solidFill>
                  <a:schemeClr val="tx1"/>
                </a:solidFill>
                <a:ea typeface="+mj-ea"/>
              </a:rPr>
              <a:t>What Is the Function of Emotion?</a:t>
            </a:r>
          </a:p>
        </p:txBody>
      </p:sp>
      <p:sp>
        <p:nvSpPr>
          <p:cNvPr id="21508" name="Slide Number Placeholder 4"/>
          <p:cNvSpPr>
            <a:spLocks noGrp="1"/>
          </p:cNvSpPr>
          <p:nvPr>
            <p:ph type="sldNum" sz="quarter" idx="12"/>
          </p:nvPr>
        </p:nvSpPr>
        <p:spPr bwMode="auto">
          <a:noFill/>
          <a:ln>
            <a:miter lim="800000"/>
            <a:headEnd/>
            <a:tailEnd/>
          </a:ln>
        </p:spPr>
        <p:txBody>
          <a:bodyPr>
            <a:normAutofit fontScale="47500" lnSpcReduction="20000"/>
          </a:bodyPr>
          <a:lstStyle/>
          <a:p>
            <a:r>
              <a:rPr lang="en-US"/>
              <a:t>4-</a:t>
            </a:r>
            <a:fld id="{BD974966-D990-434B-84FA-A7930E20C0AD}" type="slidenum">
              <a:rPr lang="en-US"/>
              <a:pPr/>
              <a:t>14</a:t>
            </a:fld>
            <a:endParaRPr lang="en-US"/>
          </a:p>
        </p:txBody>
      </p:sp>
      <p:sp>
        <p:nvSpPr>
          <p:cNvPr id="21509" name="Content Placeholder 6"/>
          <p:cNvSpPr>
            <a:spLocks noGrp="1"/>
          </p:cNvSpPr>
          <p:nvPr>
            <p:ph idx="4294967295"/>
          </p:nvPr>
        </p:nvSpPr>
        <p:spPr>
          <a:xfrm>
            <a:off x="609600" y="1352550"/>
            <a:ext cx="7772400" cy="971550"/>
          </a:xfrm>
        </p:spPr>
        <p:txBody>
          <a:bodyPr>
            <a:noAutofit/>
          </a:bodyPr>
          <a:lstStyle/>
          <a:p>
            <a:r>
              <a:rPr lang="en-US" sz="1800" dirty="0"/>
              <a:t>Emotions can aid in our decision-making process.  Many researchers have shown that emotions are necessary for rational decisions.  </a:t>
            </a:r>
          </a:p>
        </p:txBody>
      </p:sp>
      <p:graphicFrame>
        <p:nvGraphicFramePr>
          <p:cNvPr id="8" name="Diagram 7"/>
          <p:cNvGraphicFramePr/>
          <p:nvPr/>
        </p:nvGraphicFramePr>
        <p:xfrm>
          <a:off x="685800" y="2038350"/>
          <a:ext cx="6096000" cy="30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5410200" y="2445425"/>
            <a:ext cx="3657600" cy="2031325"/>
          </a:xfrm>
          <a:prstGeom prst="rect">
            <a:avLst/>
          </a:prstGeom>
          <a:noFill/>
        </p:spPr>
        <p:txBody>
          <a:bodyPr wrap="square" rtlCol="0">
            <a:spAutoFit/>
          </a:bodyPr>
          <a:lstStyle/>
          <a:p>
            <a:pPr marL="457200" indent="-457200" eaLnBrk="1" hangingPunct="1"/>
            <a:r>
              <a:rPr lang="en-US" i="1" dirty="0">
                <a:latin typeface="Times New Roman" pitchFamily="-1" charset="0"/>
              </a:rPr>
              <a:t>Emotions provide valuable insights about behavior.</a:t>
            </a:r>
          </a:p>
          <a:p>
            <a:pPr marL="457200" indent="-457200" eaLnBrk="1" hangingPunct="1"/>
            <a:endParaRPr lang="en-US" i="1" dirty="0">
              <a:latin typeface="Times New Roman" pitchFamily="-1" charset="0"/>
            </a:endParaRPr>
          </a:p>
          <a:p>
            <a:pPr marL="457200" indent="-457200" eaLnBrk="1" hangingPunct="1"/>
            <a:r>
              <a:rPr lang="en-US" i="1" dirty="0">
                <a:latin typeface="Times New Roman" pitchFamily="-1" charset="0"/>
              </a:rPr>
              <a:t>Emotions, and the minor events that cause them, should not be ignored at work; they accumulate.</a:t>
            </a:r>
            <a:endParaRPr lang="en-US" dirty="0"/>
          </a:p>
        </p:txBody>
      </p:sp>
    </p:spTree>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069A-2883-965D-B005-4C66552E912B}"/>
              </a:ext>
            </a:extLst>
          </p:cNvPr>
          <p:cNvSpPr>
            <a:spLocks noGrp="1"/>
          </p:cNvSpPr>
          <p:nvPr>
            <p:ph type="title"/>
          </p:nvPr>
        </p:nvSpPr>
        <p:spPr>
          <a:xfrm>
            <a:off x="709613" y="298847"/>
            <a:ext cx="7560469" cy="3123009"/>
          </a:xfrm>
        </p:spPr>
        <p:txBody>
          <a:bodyPr/>
          <a:lstStyle/>
          <a:p>
            <a:pPr algn="ctr">
              <a:defRPr/>
            </a:pPr>
            <a:r>
              <a:rPr lang="en-US" sz="4050" b="1" dirty="0">
                <a:solidFill>
                  <a:schemeClr val="tx1"/>
                </a:solidFill>
              </a:rPr>
              <a:t>Part-I</a:t>
            </a:r>
            <a:br>
              <a:rPr lang="en-US" sz="3300" b="1" dirty="0">
                <a:solidFill>
                  <a:schemeClr val="tx1"/>
                </a:solidFill>
              </a:rPr>
            </a:br>
            <a:br>
              <a:rPr lang="en-US" sz="3300" b="1" dirty="0">
                <a:solidFill>
                  <a:schemeClr val="tx1"/>
                </a:solidFill>
              </a:rPr>
            </a:br>
            <a:r>
              <a:rPr lang="en-US" sz="3300" b="1" dirty="0">
                <a:solidFill>
                  <a:schemeClr val="tx1"/>
                </a:solidFill>
              </a:rPr>
              <a:t>Emotional Intelligence: A Key to success </a:t>
            </a:r>
          </a:p>
        </p:txBody>
      </p:sp>
      <p:pic>
        <p:nvPicPr>
          <p:cNvPr id="23555" name="Picture 3" descr="Image result for emotional intelligence">
            <a:extLst>
              <a:ext uri="{FF2B5EF4-FFF2-40B4-BE49-F238E27FC236}">
                <a16:creationId xmlns:a16="http://schemas.microsoft.com/office/drawing/2014/main" id="{5D29FAC9-34A8-04EE-BA73-21BFDCE0B9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9172" y="3421856"/>
            <a:ext cx="318135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58FC3-3FC4-690D-446E-84AB895B18AE}"/>
              </a:ext>
            </a:extLst>
          </p:cNvPr>
          <p:cNvSpPr>
            <a:spLocks noGrp="1"/>
          </p:cNvSpPr>
          <p:nvPr>
            <p:ph type="title"/>
          </p:nvPr>
        </p:nvSpPr>
        <p:spPr/>
        <p:txBody>
          <a:bodyPr/>
          <a:lstStyle/>
          <a:p>
            <a:pPr>
              <a:defRPr/>
            </a:pPr>
            <a:r>
              <a:rPr lang="en-US" dirty="0">
                <a:solidFill>
                  <a:schemeClr val="tx1">
                    <a:lumMod val="95000"/>
                    <a:lumOff val="5000"/>
                  </a:schemeClr>
                </a:solidFill>
              </a:rPr>
              <a:t>What is Emotional INTELLIGENCE</a:t>
            </a:r>
          </a:p>
        </p:txBody>
      </p:sp>
      <p:sp>
        <p:nvSpPr>
          <p:cNvPr id="3" name="Content Placeholder 2">
            <a:extLst>
              <a:ext uri="{FF2B5EF4-FFF2-40B4-BE49-F238E27FC236}">
                <a16:creationId xmlns:a16="http://schemas.microsoft.com/office/drawing/2014/main" id="{9E6BF943-FF46-8D81-4FC5-F3094C7AB0F9}"/>
              </a:ext>
            </a:extLst>
          </p:cNvPr>
          <p:cNvSpPr>
            <a:spLocks noGrp="1"/>
          </p:cNvSpPr>
          <p:nvPr>
            <p:ph idx="1"/>
          </p:nvPr>
        </p:nvSpPr>
        <p:spPr>
          <a:xfrm>
            <a:off x="2943225" y="1714500"/>
            <a:ext cx="5114925" cy="3017044"/>
          </a:xfrm>
        </p:spPr>
        <p:txBody>
          <a:bodyPr/>
          <a:lstStyle/>
          <a:p>
            <a:pPr algn="just" eaLnBrk="1" hangingPunct="1"/>
            <a:r>
              <a:rPr lang="en-US" altLang="en-US" sz="2400"/>
              <a:t>Emotional intelligence is your ability to </a:t>
            </a:r>
            <a:r>
              <a:rPr lang="en-US" altLang="en-US" sz="2400" u="sng"/>
              <a:t>recognize</a:t>
            </a:r>
            <a:r>
              <a:rPr lang="en-US" altLang="en-US" sz="2400"/>
              <a:t> and </a:t>
            </a:r>
            <a:r>
              <a:rPr lang="en-US" altLang="en-US" sz="2400" u="sng"/>
              <a:t>understand</a:t>
            </a:r>
            <a:r>
              <a:rPr lang="en-US" altLang="en-US" sz="2400"/>
              <a:t> emotions and your skill at using this awareness to </a:t>
            </a:r>
            <a:r>
              <a:rPr lang="en-US" altLang="en-US" sz="2400" u="sng"/>
              <a:t>manage</a:t>
            </a:r>
            <a:r>
              <a:rPr lang="en-US" altLang="en-US" sz="2400"/>
              <a:t> yourself and your relationship with others. </a:t>
            </a:r>
          </a:p>
        </p:txBody>
      </p:sp>
      <p:pic>
        <p:nvPicPr>
          <p:cNvPr id="24580" name="Picture 4">
            <a:extLst>
              <a:ext uri="{FF2B5EF4-FFF2-40B4-BE49-F238E27FC236}">
                <a16:creationId xmlns:a16="http://schemas.microsoft.com/office/drawing/2014/main" id="{94CE5B5B-2AD6-4672-057A-AA0428EC7279}"/>
              </a:ext>
            </a:extLst>
          </p:cNvPr>
          <p:cNvPicPr>
            <a:picLocks noChangeAspect="1"/>
          </p:cNvPicPr>
          <p:nvPr/>
        </p:nvPicPr>
        <p:blipFill>
          <a:blip r:embed="rId2">
            <a:extLst>
              <a:ext uri="{28A0092B-C50C-407E-A947-70E740481C1C}">
                <a14:useLocalDpi xmlns:a14="http://schemas.microsoft.com/office/drawing/2010/main" val="0"/>
              </a:ext>
            </a:extLst>
          </a:blip>
          <a:srcRect l="19270" t="26471" r="60059" b="30331"/>
          <a:stretch>
            <a:fillRect/>
          </a:stretch>
        </p:blipFill>
        <p:spPr bwMode="auto">
          <a:xfrm>
            <a:off x="625079" y="1563291"/>
            <a:ext cx="2239565"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DBC26-9FA0-13BC-E4D6-AC0123F6C08F}"/>
              </a:ext>
            </a:extLst>
          </p:cNvPr>
          <p:cNvSpPr>
            <a:spLocks noGrp="1"/>
          </p:cNvSpPr>
          <p:nvPr>
            <p:ph type="title"/>
          </p:nvPr>
        </p:nvSpPr>
        <p:spPr/>
        <p:txBody>
          <a:bodyPr/>
          <a:lstStyle/>
          <a:p>
            <a:pPr>
              <a:defRPr/>
            </a:pPr>
            <a:r>
              <a:rPr lang="en-US" dirty="0">
                <a:solidFill>
                  <a:schemeClr val="tx1">
                    <a:lumMod val="95000"/>
                    <a:lumOff val="5000"/>
                  </a:schemeClr>
                </a:solidFill>
              </a:rPr>
              <a:t>Why emotional intelligence </a:t>
            </a:r>
          </a:p>
        </p:txBody>
      </p:sp>
      <p:sp>
        <p:nvSpPr>
          <p:cNvPr id="3" name="Content Placeholder 2">
            <a:extLst>
              <a:ext uri="{FF2B5EF4-FFF2-40B4-BE49-F238E27FC236}">
                <a16:creationId xmlns:a16="http://schemas.microsoft.com/office/drawing/2014/main" id="{D8E551AC-910F-C7F7-8EC2-8F67C93B0A1D}"/>
              </a:ext>
            </a:extLst>
          </p:cNvPr>
          <p:cNvSpPr>
            <a:spLocks noGrp="1"/>
          </p:cNvSpPr>
          <p:nvPr>
            <p:ph idx="1"/>
          </p:nvPr>
        </p:nvSpPr>
        <p:spPr>
          <a:xfrm>
            <a:off x="767953" y="1387079"/>
            <a:ext cx="7290197" cy="3017044"/>
          </a:xfrm>
        </p:spPr>
        <p:txBody>
          <a:bodyPr/>
          <a:lstStyle/>
          <a:p>
            <a:pPr marL="214313" lvl="2" indent="-214313" algn="just">
              <a:spcBef>
                <a:spcPts val="900"/>
              </a:spcBef>
              <a:spcAft>
                <a:spcPts val="150"/>
              </a:spcAft>
              <a:buFont typeface="Wingdings" panose="05000000000000000000" pitchFamily="2" charset="2"/>
              <a:buChar char="§"/>
            </a:pPr>
            <a:r>
              <a:rPr lang="en-US" altLang="en-US" sz="2400"/>
              <a:t>Academic intellect isn’t enough</a:t>
            </a:r>
          </a:p>
          <a:p>
            <a:pPr marL="214313" lvl="2" indent="-214313" algn="just">
              <a:spcBef>
                <a:spcPts val="900"/>
              </a:spcBef>
              <a:spcAft>
                <a:spcPts val="150"/>
              </a:spcAft>
              <a:buFont typeface="Wingdings" panose="05000000000000000000" pitchFamily="2" charset="2"/>
              <a:buChar char="§"/>
            </a:pPr>
            <a:endParaRPr lang="en-US" altLang="en-US" sz="1800"/>
          </a:p>
          <a:p>
            <a:pPr marL="214313" lvl="2" indent="-214313" algn="just">
              <a:spcBef>
                <a:spcPts val="900"/>
              </a:spcBef>
              <a:spcAft>
                <a:spcPts val="150"/>
              </a:spcAft>
              <a:buFont typeface="Wingdings" panose="05000000000000000000" pitchFamily="2" charset="2"/>
              <a:buChar char="§"/>
            </a:pPr>
            <a:endParaRPr lang="en-US" altLang="en-US" sz="1800"/>
          </a:p>
          <a:p>
            <a:pPr marL="214313" lvl="2" indent="-214313" algn="just">
              <a:spcBef>
                <a:spcPts val="900"/>
              </a:spcBef>
              <a:spcAft>
                <a:spcPts val="150"/>
              </a:spcAft>
              <a:buFont typeface="Wingdings" panose="05000000000000000000" pitchFamily="2" charset="2"/>
              <a:buChar char="§"/>
            </a:pPr>
            <a:endParaRPr lang="en-US" altLang="en-US" sz="1800"/>
          </a:p>
          <a:p>
            <a:pPr marL="214313" lvl="2" indent="-214313" algn="just">
              <a:spcBef>
                <a:spcPts val="900"/>
              </a:spcBef>
              <a:spcAft>
                <a:spcPts val="150"/>
              </a:spcAft>
              <a:buFont typeface="Wingdings" panose="05000000000000000000" pitchFamily="2" charset="2"/>
              <a:buChar char="§"/>
            </a:pPr>
            <a:r>
              <a:rPr lang="en-US" altLang="en-US" sz="2400"/>
              <a:t>Technical proficiency doesn’t win the price  </a:t>
            </a:r>
            <a:endParaRPr lang="en-US" altLang="en-US" sz="1200"/>
          </a:p>
          <a:p>
            <a:pPr eaLnBrk="1" hangingPunct="1">
              <a:buFont typeface="Wingdings" panose="05000000000000000000" pitchFamily="2" charset="2"/>
              <a:buChar char="§"/>
            </a:pPr>
            <a:endParaRPr lang="en-US" altLang="en-US"/>
          </a:p>
        </p:txBody>
      </p:sp>
      <p:graphicFrame>
        <p:nvGraphicFramePr>
          <p:cNvPr id="4" name="Chart 3">
            <a:extLst>
              <a:ext uri="{FF2B5EF4-FFF2-40B4-BE49-F238E27FC236}">
                <a16:creationId xmlns:a16="http://schemas.microsoft.com/office/drawing/2014/main" id="{69E2ACC9-CA75-A6DF-9186-66FE84BA0E5B}"/>
              </a:ext>
            </a:extLst>
          </p:cNvPr>
          <p:cNvGraphicFramePr/>
          <p:nvPr/>
        </p:nvGraphicFramePr>
        <p:xfrm>
          <a:off x="3947615" y="1144543"/>
          <a:ext cx="3518440" cy="1971449"/>
        </p:xfrm>
        <a:graphic>
          <a:graphicData uri="http://schemas.openxmlformats.org/drawingml/2006/chart">
            <c:chart xmlns:c="http://schemas.openxmlformats.org/drawingml/2006/chart" xmlns:r="http://schemas.openxmlformats.org/officeDocument/2006/relationships" r:id="rId2"/>
          </a:graphicData>
        </a:graphic>
      </p:graphicFrame>
      <p:grpSp>
        <p:nvGrpSpPr>
          <p:cNvPr id="5" name="Group 4">
            <a:extLst>
              <a:ext uri="{FF2B5EF4-FFF2-40B4-BE49-F238E27FC236}">
                <a16:creationId xmlns:a16="http://schemas.microsoft.com/office/drawing/2014/main" id="{6169A2AA-74F5-D266-CBFB-FDCF43692421}"/>
              </a:ext>
            </a:extLst>
          </p:cNvPr>
          <p:cNvGrpSpPr>
            <a:grpSpLocks/>
          </p:cNvGrpSpPr>
          <p:nvPr/>
        </p:nvGrpSpPr>
        <p:grpSpPr bwMode="auto">
          <a:xfrm>
            <a:off x="2787254" y="3429001"/>
            <a:ext cx="3571875" cy="1583531"/>
            <a:chOff x="0" y="0"/>
            <a:chExt cx="3250565" cy="1348078"/>
          </a:xfrm>
        </p:grpSpPr>
        <p:sp>
          <p:nvSpPr>
            <p:cNvPr id="6" name="Rounded Rectangle 5">
              <a:extLst>
                <a:ext uri="{FF2B5EF4-FFF2-40B4-BE49-F238E27FC236}">
                  <a16:creationId xmlns:a16="http://schemas.microsoft.com/office/drawing/2014/main" id="{B2BFD8B8-BE13-FC93-C61B-78B486D6D970}"/>
                </a:ext>
              </a:extLst>
            </p:cNvPr>
            <p:cNvSpPr/>
            <p:nvPr/>
          </p:nvSpPr>
          <p:spPr>
            <a:xfrm>
              <a:off x="28172" y="0"/>
              <a:ext cx="802889" cy="3496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spcAft>
                  <a:spcPts val="750"/>
                </a:spcAft>
                <a:defRPr/>
              </a:pPr>
              <a:r>
                <a:rPr lang="en-US" sz="2700" dirty="0">
                  <a:solidFill>
                    <a:schemeClr val="tx1"/>
                  </a:solidFill>
                  <a:ea typeface="Calibri" panose="020F0502020204030204" pitchFamily="34" charset="0"/>
                  <a:cs typeface="Times New Roman" panose="02020603050405020304" pitchFamily="18" charset="0"/>
                </a:rPr>
                <a:t>IQ</a:t>
              </a:r>
            </a:p>
          </p:txBody>
        </p:sp>
        <p:sp>
          <p:nvSpPr>
            <p:cNvPr id="7" name="Rounded Rectangle 6">
              <a:extLst>
                <a:ext uri="{FF2B5EF4-FFF2-40B4-BE49-F238E27FC236}">
                  <a16:creationId xmlns:a16="http://schemas.microsoft.com/office/drawing/2014/main" id="{53951A43-B764-143A-2133-97016C649402}"/>
                </a:ext>
              </a:extLst>
            </p:cNvPr>
            <p:cNvSpPr/>
            <p:nvPr/>
          </p:nvSpPr>
          <p:spPr>
            <a:xfrm>
              <a:off x="2400000" y="0"/>
              <a:ext cx="802890" cy="3811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spcAft>
                  <a:spcPts val="750"/>
                </a:spcAft>
                <a:defRPr/>
              </a:pPr>
              <a:r>
                <a:rPr lang="en-US" sz="2700" dirty="0">
                  <a:solidFill>
                    <a:schemeClr val="tx1"/>
                  </a:solidFill>
                  <a:ea typeface="Calibri" panose="020F0502020204030204" pitchFamily="34" charset="0"/>
                  <a:cs typeface="Times New Roman" panose="02020603050405020304" pitchFamily="18" charset="0"/>
                </a:rPr>
                <a:t>EQ</a:t>
              </a:r>
            </a:p>
          </p:txBody>
        </p:sp>
        <p:sp>
          <p:nvSpPr>
            <p:cNvPr id="8" name="Down Arrow 7">
              <a:extLst>
                <a:ext uri="{FF2B5EF4-FFF2-40B4-BE49-F238E27FC236}">
                  <a16:creationId xmlns:a16="http://schemas.microsoft.com/office/drawing/2014/main" id="{AFF1DA41-7CC4-A906-9BC6-19B4975D856C}"/>
                </a:ext>
              </a:extLst>
            </p:cNvPr>
            <p:cNvSpPr/>
            <p:nvPr/>
          </p:nvSpPr>
          <p:spPr>
            <a:xfrm>
              <a:off x="314221" y="361853"/>
              <a:ext cx="190700" cy="2625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350"/>
            </a:p>
          </p:txBody>
        </p:sp>
        <p:sp>
          <p:nvSpPr>
            <p:cNvPr id="9" name="Down Arrow 8">
              <a:extLst>
                <a:ext uri="{FF2B5EF4-FFF2-40B4-BE49-F238E27FC236}">
                  <a16:creationId xmlns:a16="http://schemas.microsoft.com/office/drawing/2014/main" id="{DD1934E4-6A1F-99C9-7467-5D2DE80D4D09}"/>
                </a:ext>
              </a:extLst>
            </p:cNvPr>
            <p:cNvSpPr/>
            <p:nvPr/>
          </p:nvSpPr>
          <p:spPr>
            <a:xfrm>
              <a:off x="2733725" y="381111"/>
              <a:ext cx="190700" cy="2625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350"/>
            </a:p>
          </p:txBody>
        </p:sp>
        <p:sp>
          <p:nvSpPr>
            <p:cNvPr id="10" name="Rounded Rectangle 9">
              <a:extLst>
                <a:ext uri="{FF2B5EF4-FFF2-40B4-BE49-F238E27FC236}">
                  <a16:creationId xmlns:a16="http://schemas.microsoft.com/office/drawing/2014/main" id="{FBAC7C54-4FE9-2B83-7929-D967C3637698}"/>
                </a:ext>
              </a:extLst>
            </p:cNvPr>
            <p:cNvSpPr/>
            <p:nvPr/>
          </p:nvSpPr>
          <p:spPr>
            <a:xfrm>
              <a:off x="0" y="647686"/>
              <a:ext cx="802889" cy="5564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spcAft>
                  <a:spcPts val="750"/>
                </a:spcAft>
                <a:defRPr/>
              </a:pPr>
              <a:r>
                <a:rPr lang="en-US" sz="1500" b="1" dirty="0">
                  <a:solidFill>
                    <a:schemeClr val="tx1"/>
                  </a:solidFill>
                  <a:ea typeface="Calibri" panose="020F0502020204030204" pitchFamily="34" charset="0"/>
                  <a:cs typeface="Times New Roman" panose="02020603050405020304" pitchFamily="18" charset="0"/>
                </a:rPr>
                <a:t>Gets you hire </a:t>
              </a:r>
            </a:p>
          </p:txBody>
        </p:sp>
        <p:sp>
          <p:nvSpPr>
            <p:cNvPr id="11" name="Rounded Rectangle 10">
              <a:extLst>
                <a:ext uri="{FF2B5EF4-FFF2-40B4-BE49-F238E27FC236}">
                  <a16:creationId xmlns:a16="http://schemas.microsoft.com/office/drawing/2014/main" id="{5A523DF9-1DE4-ACA6-B79D-C88D9D475ED9}"/>
                </a:ext>
              </a:extLst>
            </p:cNvPr>
            <p:cNvSpPr/>
            <p:nvPr/>
          </p:nvSpPr>
          <p:spPr>
            <a:xfrm>
              <a:off x="2447675" y="656808"/>
              <a:ext cx="802890" cy="5169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spcAft>
                  <a:spcPts val="750"/>
                </a:spcAft>
                <a:defRPr/>
              </a:pPr>
              <a:r>
                <a:rPr lang="en-US" sz="1350" b="1" dirty="0">
                  <a:solidFill>
                    <a:schemeClr val="tx1"/>
                  </a:solidFill>
                  <a:ea typeface="Calibri" panose="020F0502020204030204" pitchFamily="34" charset="0"/>
                  <a:cs typeface="Times New Roman" panose="02020603050405020304" pitchFamily="18" charset="0"/>
                </a:rPr>
                <a:t>Gets you Promote</a:t>
              </a:r>
            </a:p>
          </p:txBody>
        </p:sp>
        <p:cxnSp>
          <p:nvCxnSpPr>
            <p:cNvPr id="12" name="Straight Connector 11">
              <a:extLst>
                <a:ext uri="{FF2B5EF4-FFF2-40B4-BE49-F238E27FC236}">
                  <a16:creationId xmlns:a16="http://schemas.microsoft.com/office/drawing/2014/main" id="{50B89CAF-3B1D-AD37-DBCF-3221061AD3DF}"/>
                </a:ext>
              </a:extLst>
            </p:cNvPr>
            <p:cNvCxnSpPr/>
            <p:nvPr/>
          </p:nvCxnSpPr>
          <p:spPr>
            <a:xfrm>
              <a:off x="381400" y="1209216"/>
              <a:ext cx="0" cy="1277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B67B61-9E36-7A92-09B6-5085D1B37223}"/>
                </a:ext>
              </a:extLst>
            </p:cNvPr>
            <p:cNvCxnSpPr/>
            <p:nvPr/>
          </p:nvCxnSpPr>
          <p:spPr>
            <a:xfrm>
              <a:off x="2847495" y="1180836"/>
              <a:ext cx="0" cy="1672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DB6BA91-23DF-2E0E-D0D4-7CA345B438E2}"/>
                </a:ext>
              </a:extLst>
            </p:cNvPr>
            <p:cNvCxnSpPr/>
            <p:nvPr/>
          </p:nvCxnSpPr>
          <p:spPr>
            <a:xfrm>
              <a:off x="381400" y="1343010"/>
              <a:ext cx="2480181" cy="0"/>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26B03-A021-AC12-1425-1284AAD468AD}"/>
              </a:ext>
            </a:extLst>
          </p:cNvPr>
          <p:cNvSpPr>
            <a:spLocks noGrp="1"/>
          </p:cNvSpPr>
          <p:nvPr>
            <p:ph type="title"/>
          </p:nvPr>
        </p:nvSpPr>
        <p:spPr/>
        <p:txBody>
          <a:bodyPr/>
          <a:lstStyle/>
          <a:p>
            <a:pPr>
              <a:defRPr/>
            </a:pPr>
            <a:r>
              <a:rPr lang="en-US" dirty="0">
                <a:solidFill>
                  <a:schemeClr val="tx1">
                    <a:lumMod val="95000"/>
                    <a:lumOff val="5000"/>
                  </a:schemeClr>
                </a:solidFill>
              </a:rPr>
              <a:t>Why emotional intelligence </a:t>
            </a:r>
          </a:p>
        </p:txBody>
      </p:sp>
      <p:sp>
        <p:nvSpPr>
          <p:cNvPr id="3" name="Content Placeholder 2">
            <a:extLst>
              <a:ext uri="{FF2B5EF4-FFF2-40B4-BE49-F238E27FC236}">
                <a16:creationId xmlns:a16="http://schemas.microsoft.com/office/drawing/2014/main" id="{FB66ED9F-F7D4-DBEF-9D97-E347CA4B6A89}"/>
              </a:ext>
            </a:extLst>
          </p:cNvPr>
          <p:cNvSpPr>
            <a:spLocks noGrp="1"/>
          </p:cNvSpPr>
          <p:nvPr>
            <p:ph idx="1"/>
          </p:nvPr>
        </p:nvSpPr>
        <p:spPr>
          <a:xfrm>
            <a:off x="767953" y="1387079"/>
            <a:ext cx="7290197" cy="3017044"/>
          </a:xfrm>
        </p:spPr>
        <p:txBody>
          <a:bodyPr rtlCol="0">
            <a:normAutofit fontScale="92500" lnSpcReduction="20000"/>
          </a:bodyPr>
          <a:lstStyle/>
          <a:p>
            <a:pPr marL="214313" lvl="2" indent="-214313" algn="just">
              <a:spcBef>
                <a:spcPts val="900"/>
              </a:spcBef>
              <a:spcAft>
                <a:spcPts val="150"/>
              </a:spcAft>
              <a:buClr>
                <a:schemeClr val="accent3"/>
              </a:buClr>
              <a:buSzPct val="100000"/>
              <a:buFont typeface="Wingdings" panose="05000000000000000000" pitchFamily="2" charset="2"/>
              <a:buChar char="§"/>
              <a:defRPr/>
            </a:pPr>
            <a:r>
              <a:rPr lang="en-US" sz="1800" dirty="0"/>
              <a:t>Research has shown the following facts: </a:t>
            </a:r>
          </a:p>
          <a:p>
            <a:pPr marL="554831" lvl="1" indent="-205979">
              <a:buClr>
                <a:schemeClr val="accent3"/>
              </a:buClr>
              <a:defRPr/>
            </a:pPr>
            <a:r>
              <a:rPr lang="en-US" sz="1650" dirty="0"/>
              <a:t>90% of top performers are high in EQ. </a:t>
            </a:r>
          </a:p>
          <a:p>
            <a:pPr marL="554831" lvl="1" indent="-205979">
              <a:buClr>
                <a:schemeClr val="accent3"/>
              </a:buClr>
              <a:defRPr/>
            </a:pPr>
            <a:r>
              <a:rPr lang="en-US" sz="1650" dirty="0"/>
              <a:t>75% of careers are derailed for reasons related to emotional competence</a:t>
            </a:r>
          </a:p>
          <a:p>
            <a:pPr marL="554831" lvl="1" indent="-205979">
              <a:buClr>
                <a:schemeClr val="accent3"/>
              </a:buClr>
              <a:defRPr/>
            </a:pPr>
            <a:r>
              <a:rPr lang="en-US" sz="1650" dirty="0"/>
              <a:t>Emotional intelligence is the basic difference between a good leader and excellent leader </a:t>
            </a:r>
          </a:p>
          <a:p>
            <a:pPr marL="214313" lvl="2" indent="-214313" algn="just">
              <a:spcBef>
                <a:spcPts val="900"/>
              </a:spcBef>
              <a:spcAft>
                <a:spcPts val="150"/>
              </a:spcAft>
              <a:buClr>
                <a:schemeClr val="accent3"/>
              </a:buClr>
              <a:buSzPct val="100000"/>
              <a:buFont typeface="Wingdings" panose="05000000000000000000" pitchFamily="2" charset="2"/>
              <a:buChar char="§"/>
              <a:defRPr/>
            </a:pPr>
            <a:r>
              <a:rPr lang="en-US" sz="1800" dirty="0"/>
              <a:t>In order to develop an ability to let your feelings guide you what is important to think about </a:t>
            </a:r>
          </a:p>
          <a:p>
            <a:pPr marL="214313" lvl="2" indent="-214313" algn="just">
              <a:spcBef>
                <a:spcPts val="900"/>
              </a:spcBef>
              <a:spcAft>
                <a:spcPts val="150"/>
              </a:spcAft>
              <a:buClr>
                <a:schemeClr val="accent3"/>
              </a:buClr>
              <a:buSzPct val="100000"/>
              <a:buFont typeface="Wingdings" panose="05000000000000000000" pitchFamily="2" charset="2"/>
              <a:buChar char="§"/>
              <a:defRPr/>
            </a:pPr>
            <a:r>
              <a:rPr lang="en-US" sz="1800" dirty="0"/>
              <a:t>In order to develop the ability to use our feelings to help us make better decisions</a:t>
            </a:r>
          </a:p>
          <a:p>
            <a:pPr marL="214313" lvl="2" indent="-214313" algn="just">
              <a:spcBef>
                <a:spcPts val="900"/>
              </a:spcBef>
              <a:spcAft>
                <a:spcPts val="150"/>
              </a:spcAft>
              <a:buClr>
                <a:schemeClr val="accent3"/>
              </a:buClr>
              <a:buSzPct val="100000"/>
              <a:buFont typeface="Wingdings" panose="05000000000000000000" pitchFamily="2" charset="2"/>
              <a:buChar char="§"/>
              <a:defRPr/>
            </a:pPr>
            <a:r>
              <a:rPr lang="en-US" sz="1800" dirty="0"/>
              <a:t>In order to ensure the feeling do not control reactions before the brain has the chances to fully process the information </a:t>
            </a:r>
          </a:p>
          <a:p>
            <a:pPr marL="214313" lvl="2" indent="-214313" algn="just">
              <a:spcBef>
                <a:spcPts val="900"/>
              </a:spcBef>
              <a:spcAft>
                <a:spcPts val="150"/>
              </a:spcAft>
              <a:buClr>
                <a:schemeClr val="accent3"/>
              </a:buClr>
              <a:buSzPct val="100000"/>
              <a:buFont typeface="Wingdings" panose="05000000000000000000" pitchFamily="2" charset="2"/>
              <a:buChar char="§"/>
              <a:defRPr/>
            </a:pPr>
            <a:endParaRPr lang="en-US" sz="1800" dirty="0"/>
          </a:p>
          <a:p>
            <a:pPr marL="68580" indent="-68580">
              <a:buClr>
                <a:schemeClr val="accent3"/>
              </a:buClr>
              <a:buFont typeface="Wingdings" panose="05000000000000000000" pitchFamily="2" charset="2"/>
              <a:buChar cha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3416CB-8FFD-329E-692A-E96073C3F97B}"/>
              </a:ext>
            </a:extLst>
          </p:cNvPr>
          <p:cNvPicPr>
            <a:picLocks noChangeAspect="1"/>
          </p:cNvPicPr>
          <p:nvPr/>
        </p:nvPicPr>
        <p:blipFill>
          <a:blip r:embed="rId2">
            <a:extLst>
              <a:ext uri="{28A0092B-C50C-407E-A947-70E740481C1C}">
                <a14:useLocalDpi xmlns:a14="http://schemas.microsoft.com/office/drawing/2010/main" val="0"/>
              </a:ext>
            </a:extLst>
          </a:blip>
          <a:srcRect l="26251" t="11765" r="23680" b="8455"/>
          <a:stretch>
            <a:fillRect/>
          </a:stretch>
        </p:blipFill>
        <p:spPr bwMode="auto">
          <a:xfrm>
            <a:off x="1140619" y="541735"/>
            <a:ext cx="6585347" cy="445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FE1FE61B-5B42-2687-4E47-6D5BA9B5E5E6}"/>
              </a:ext>
            </a:extLst>
          </p:cNvPr>
          <p:cNvSpPr>
            <a:spLocks noGrp="1"/>
          </p:cNvSpPr>
          <p:nvPr>
            <p:ph type="title"/>
          </p:nvPr>
        </p:nvSpPr>
        <p:spPr>
          <a:xfrm>
            <a:off x="572692" y="234554"/>
            <a:ext cx="5022056" cy="1390650"/>
          </a:xfrm>
        </p:spPr>
        <p:txBody>
          <a:bodyPr>
            <a:normAutofit fontScale="90000"/>
          </a:bodyPr>
          <a:lstStyle/>
          <a:p>
            <a:pPr>
              <a:defRPr/>
            </a:pPr>
            <a:r>
              <a:rPr lang="en-US" dirty="0">
                <a:solidFill>
                  <a:schemeClr val="tx1">
                    <a:lumMod val="95000"/>
                    <a:lumOff val="5000"/>
                  </a:schemeClr>
                </a:solidFill>
              </a:rPr>
              <a:t>Technicalities of emotional intelligence – the biological approach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2024A-CF9A-ED98-348A-0EC8D08961F5}"/>
              </a:ext>
            </a:extLst>
          </p:cNvPr>
          <p:cNvSpPr>
            <a:spLocks noGrp="1"/>
          </p:cNvSpPr>
          <p:nvPr>
            <p:ph type="title"/>
          </p:nvPr>
        </p:nvSpPr>
        <p:spPr/>
        <p:txBody>
          <a:bodyPr/>
          <a:lstStyle/>
          <a:p>
            <a:pPr>
              <a:defRPr/>
            </a:pPr>
            <a:r>
              <a:rPr lang="en-US" dirty="0">
                <a:solidFill>
                  <a:schemeClr val="tx1">
                    <a:lumMod val="95000"/>
                    <a:lumOff val="5000"/>
                  </a:schemeClr>
                </a:solidFill>
              </a:rPr>
              <a:t>An Amygdala Hijack!!</a:t>
            </a:r>
          </a:p>
        </p:txBody>
      </p:sp>
      <p:sp>
        <p:nvSpPr>
          <p:cNvPr id="3" name="Content Placeholder 2">
            <a:extLst>
              <a:ext uri="{FF2B5EF4-FFF2-40B4-BE49-F238E27FC236}">
                <a16:creationId xmlns:a16="http://schemas.microsoft.com/office/drawing/2014/main" id="{253908BA-62E8-FEDC-96FC-C2BC6A147F47}"/>
              </a:ext>
            </a:extLst>
          </p:cNvPr>
          <p:cNvSpPr>
            <a:spLocks noGrp="1"/>
          </p:cNvSpPr>
          <p:nvPr>
            <p:ph idx="1"/>
          </p:nvPr>
        </p:nvSpPr>
        <p:spPr>
          <a:xfrm>
            <a:off x="767953" y="1371600"/>
            <a:ext cx="7290197" cy="3359944"/>
          </a:xfrm>
        </p:spPr>
        <p:txBody>
          <a:bodyPr rtlCol="0">
            <a:normAutofit fontScale="70000" lnSpcReduction="20000"/>
          </a:bodyPr>
          <a:lstStyle/>
          <a:p>
            <a:pPr marL="68580" indent="-68580">
              <a:buClr>
                <a:schemeClr val="accent3"/>
              </a:buClr>
              <a:defRPr/>
            </a:pPr>
            <a:r>
              <a:rPr lang="en-US" dirty="0"/>
              <a:t>You know that you’ve been hijacked when… </a:t>
            </a:r>
          </a:p>
          <a:p>
            <a:pPr marL="171450" indent="-171450">
              <a:buClr>
                <a:schemeClr val="accent3"/>
              </a:buClr>
              <a:buFont typeface="Wingdings" panose="05000000000000000000" pitchFamily="2" charset="2"/>
              <a:buChar char="§"/>
              <a:defRPr/>
            </a:pPr>
            <a:r>
              <a:rPr lang="en-US" dirty="0"/>
              <a:t>Emotions control your thinking and actions. </a:t>
            </a:r>
          </a:p>
          <a:p>
            <a:pPr marL="171450" indent="-171450">
              <a:buClr>
                <a:schemeClr val="accent3"/>
              </a:buClr>
              <a:buFont typeface="Wingdings" panose="05000000000000000000" pitchFamily="2" charset="2"/>
              <a:buChar char="§"/>
              <a:defRPr/>
            </a:pPr>
            <a:r>
              <a:rPr lang="en-US" dirty="0"/>
              <a:t>You are thinking and acting against your own will! </a:t>
            </a:r>
          </a:p>
          <a:p>
            <a:pPr marL="171450" indent="-171450">
              <a:buClr>
                <a:schemeClr val="accent3"/>
              </a:buClr>
              <a:buFont typeface="Wingdings" panose="05000000000000000000" pitchFamily="2" charset="2"/>
              <a:buChar char="§"/>
              <a:defRPr/>
            </a:pPr>
            <a:r>
              <a:rPr lang="en-US" dirty="0"/>
              <a:t>You are unable to accurately read others’ emotions </a:t>
            </a:r>
          </a:p>
          <a:p>
            <a:pPr marL="171450" indent="-171450">
              <a:buClr>
                <a:schemeClr val="accent3"/>
              </a:buClr>
              <a:buFont typeface="Wingdings" panose="05000000000000000000" pitchFamily="2" charset="2"/>
              <a:buChar char="§"/>
              <a:defRPr/>
            </a:pPr>
            <a:r>
              <a:rPr lang="en-US" dirty="0"/>
              <a:t>You can’t find the right words . . . (stumbling when you try to speak) </a:t>
            </a:r>
          </a:p>
          <a:p>
            <a:pPr marL="171450" indent="-171450">
              <a:buClr>
                <a:schemeClr val="accent3"/>
              </a:buClr>
              <a:buFont typeface="Wingdings" panose="05000000000000000000" pitchFamily="2" charset="2"/>
              <a:buChar char="§"/>
              <a:defRPr/>
            </a:pPr>
            <a:r>
              <a:rPr lang="en-US" dirty="0"/>
              <a:t>You are unable to focus your thinking or actions </a:t>
            </a:r>
          </a:p>
          <a:p>
            <a:pPr marL="171450" indent="-171450">
              <a:buClr>
                <a:schemeClr val="accent3"/>
              </a:buClr>
              <a:buFont typeface="Wingdings" panose="05000000000000000000" pitchFamily="2" charset="2"/>
              <a:buChar char="§"/>
              <a:defRPr/>
            </a:pPr>
            <a:r>
              <a:rPr lang="en-US" dirty="0"/>
              <a:t>Your “fight or flight” response kicks in . . . heart races, blood pressure increases, sweating profusely, uneasy feeling in the “gut,” clenched jaw, twitching, tapping foot, cold extremities as the brain rushes blood to muscles needed for fighting or fleeing . .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584EA-CE63-00BD-EC07-720DD1A72867}"/>
              </a:ext>
            </a:extLst>
          </p:cNvPr>
          <p:cNvSpPr>
            <a:spLocks noGrp="1"/>
          </p:cNvSpPr>
          <p:nvPr>
            <p:ph type="title"/>
          </p:nvPr>
        </p:nvSpPr>
        <p:spPr/>
        <p:txBody>
          <a:bodyPr>
            <a:normAutofit fontScale="90000"/>
          </a:bodyPr>
          <a:lstStyle/>
          <a:p>
            <a:pPr>
              <a:defRPr/>
            </a:pPr>
            <a:r>
              <a:rPr lang="en-US" dirty="0">
                <a:solidFill>
                  <a:schemeClr val="tx1">
                    <a:lumMod val="95000"/>
                    <a:lumOff val="5000"/>
                  </a:schemeClr>
                </a:solidFill>
              </a:rPr>
              <a:t>Understanding and managing emotions</a:t>
            </a:r>
          </a:p>
        </p:txBody>
      </p:sp>
      <p:sp>
        <p:nvSpPr>
          <p:cNvPr id="3" name="Content Placeholder 2">
            <a:extLst>
              <a:ext uri="{FF2B5EF4-FFF2-40B4-BE49-F238E27FC236}">
                <a16:creationId xmlns:a16="http://schemas.microsoft.com/office/drawing/2014/main" id="{06C675CF-6AF8-4E02-00CC-F546E35E90BD}"/>
              </a:ext>
            </a:extLst>
          </p:cNvPr>
          <p:cNvSpPr>
            <a:spLocks noGrp="1"/>
          </p:cNvSpPr>
          <p:nvPr>
            <p:ph idx="1"/>
          </p:nvPr>
        </p:nvSpPr>
        <p:spPr/>
        <p:txBody>
          <a:bodyPr/>
          <a:lstStyle/>
          <a:p>
            <a:pPr eaLnBrk="1" hangingPunct="1"/>
            <a:r>
              <a:rPr lang="en-US" altLang="en-US" sz="2400" dirty="0"/>
              <a:t>Identification of emotions means we can describe what is happening, we can label our feelings and others and we can communicate and discuss these emotions. There are five core feelings in which all other emotions are rooted. Happiness, sadness, anger, fear and shame. </a:t>
            </a:r>
          </a:p>
          <a:p>
            <a:pPr eaLnBrk="1" hangingPunct="1"/>
            <a:endParaRPr lang="en-US" altLang="en-US" dirty="0"/>
          </a:p>
        </p:txBody>
      </p:sp>
      <p:grpSp>
        <p:nvGrpSpPr>
          <p:cNvPr id="4" name="Group 27">
            <a:extLst>
              <a:ext uri="{FF2B5EF4-FFF2-40B4-BE49-F238E27FC236}">
                <a16:creationId xmlns:a16="http://schemas.microsoft.com/office/drawing/2014/main" id="{CEAE7B88-15F0-EDE5-F99D-17FE4C955D83}"/>
              </a:ext>
            </a:extLst>
          </p:cNvPr>
          <p:cNvGrpSpPr>
            <a:grpSpLocks/>
          </p:cNvGrpSpPr>
          <p:nvPr/>
        </p:nvGrpSpPr>
        <p:grpSpPr bwMode="auto">
          <a:xfrm>
            <a:off x="1295400" y="3562350"/>
            <a:ext cx="5838825" cy="1305463"/>
            <a:chOff x="2508321" y="2170645"/>
            <a:chExt cx="6523077" cy="1741098"/>
          </a:xfrm>
        </p:grpSpPr>
        <p:pic>
          <p:nvPicPr>
            <p:cNvPr id="29702" name="Picture 12" descr="http://thumbs.dreamstime.com/z/angry-emoticon-29404932.jpg">
              <a:extLst>
                <a:ext uri="{FF2B5EF4-FFF2-40B4-BE49-F238E27FC236}">
                  <a16:creationId xmlns:a16="http://schemas.microsoft.com/office/drawing/2014/main" id="{DA2E36B7-28F4-B9D0-8149-D74E7FE44B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7088"/>
            <a:stretch>
              <a:fillRect/>
            </a:stretch>
          </p:blipFill>
          <p:spPr bwMode="auto">
            <a:xfrm>
              <a:off x="7780262" y="2202240"/>
              <a:ext cx="1228501" cy="1300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TextBox 29">
              <a:extLst>
                <a:ext uri="{FF2B5EF4-FFF2-40B4-BE49-F238E27FC236}">
                  <a16:creationId xmlns:a16="http://schemas.microsoft.com/office/drawing/2014/main" id="{BDC7BDA8-BBD5-F935-634C-E735D02052C7}"/>
                </a:ext>
              </a:extLst>
            </p:cNvPr>
            <p:cNvSpPr txBox="1">
              <a:spLocks noChangeArrowheads="1"/>
            </p:cNvSpPr>
            <p:nvPr/>
          </p:nvSpPr>
          <p:spPr bwMode="auto">
            <a:xfrm>
              <a:off x="2676410" y="3511522"/>
              <a:ext cx="874058" cy="40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350" b="1">
                  <a:latin typeface="Tw Cen MT" panose="020B0602020104020603" pitchFamily="34" charset="0"/>
                </a:rPr>
                <a:t>Happy</a:t>
              </a:r>
            </a:p>
          </p:txBody>
        </p:sp>
        <p:sp>
          <p:nvSpPr>
            <p:cNvPr id="29704" name="TextBox 30">
              <a:extLst>
                <a:ext uri="{FF2B5EF4-FFF2-40B4-BE49-F238E27FC236}">
                  <a16:creationId xmlns:a16="http://schemas.microsoft.com/office/drawing/2014/main" id="{EE00F4D7-BE39-D1D2-D6DA-3F0C06ED1A2D}"/>
                </a:ext>
              </a:extLst>
            </p:cNvPr>
            <p:cNvSpPr txBox="1">
              <a:spLocks noChangeArrowheads="1"/>
            </p:cNvSpPr>
            <p:nvPr/>
          </p:nvSpPr>
          <p:spPr bwMode="auto">
            <a:xfrm>
              <a:off x="4068097" y="3511523"/>
              <a:ext cx="874058" cy="40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350" b="1">
                  <a:latin typeface="Tw Cen MT" panose="020B0602020104020603" pitchFamily="34" charset="0"/>
                </a:rPr>
                <a:t>Sad</a:t>
              </a:r>
            </a:p>
          </p:txBody>
        </p:sp>
        <p:sp>
          <p:nvSpPr>
            <p:cNvPr id="29705" name="TextBox 31">
              <a:extLst>
                <a:ext uri="{FF2B5EF4-FFF2-40B4-BE49-F238E27FC236}">
                  <a16:creationId xmlns:a16="http://schemas.microsoft.com/office/drawing/2014/main" id="{561844CA-2FFB-D162-4EE0-180A96F5EEE6}"/>
                </a:ext>
              </a:extLst>
            </p:cNvPr>
            <p:cNvSpPr txBox="1">
              <a:spLocks noChangeArrowheads="1"/>
            </p:cNvSpPr>
            <p:nvPr/>
          </p:nvSpPr>
          <p:spPr bwMode="auto">
            <a:xfrm>
              <a:off x="5200969" y="3501671"/>
              <a:ext cx="874058" cy="40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350" b="1">
                  <a:latin typeface="Tw Cen MT" panose="020B0602020104020603" pitchFamily="34" charset="0"/>
                </a:rPr>
                <a:t>Fear</a:t>
              </a:r>
            </a:p>
          </p:txBody>
        </p:sp>
        <p:sp>
          <p:nvSpPr>
            <p:cNvPr id="29706" name="TextBox 32">
              <a:extLst>
                <a:ext uri="{FF2B5EF4-FFF2-40B4-BE49-F238E27FC236}">
                  <a16:creationId xmlns:a16="http://schemas.microsoft.com/office/drawing/2014/main" id="{C519D6B8-8707-4E2B-B0B6-9C3696F7A933}"/>
                </a:ext>
              </a:extLst>
            </p:cNvPr>
            <p:cNvSpPr txBox="1">
              <a:spLocks noChangeArrowheads="1"/>
            </p:cNvSpPr>
            <p:nvPr/>
          </p:nvSpPr>
          <p:spPr bwMode="auto">
            <a:xfrm>
              <a:off x="6496154" y="3511523"/>
              <a:ext cx="1141775" cy="40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350" b="1">
                  <a:latin typeface="Tw Cen MT" panose="020B0602020104020603" pitchFamily="34" charset="0"/>
                </a:rPr>
                <a:t>Surprised</a:t>
              </a:r>
            </a:p>
          </p:txBody>
        </p:sp>
        <p:sp>
          <p:nvSpPr>
            <p:cNvPr id="29707" name="TextBox 33">
              <a:extLst>
                <a:ext uri="{FF2B5EF4-FFF2-40B4-BE49-F238E27FC236}">
                  <a16:creationId xmlns:a16="http://schemas.microsoft.com/office/drawing/2014/main" id="{C1E16A59-2322-9D60-00EE-DBD3213CACBA}"/>
                </a:ext>
              </a:extLst>
            </p:cNvPr>
            <p:cNvSpPr txBox="1">
              <a:spLocks noChangeArrowheads="1"/>
            </p:cNvSpPr>
            <p:nvPr/>
          </p:nvSpPr>
          <p:spPr bwMode="auto">
            <a:xfrm>
              <a:off x="7889623" y="3499921"/>
              <a:ext cx="1141775" cy="40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350" b="1">
                  <a:latin typeface="Tw Cen MT" panose="020B0602020104020603" pitchFamily="34" charset="0"/>
                </a:rPr>
                <a:t>Anger</a:t>
              </a:r>
            </a:p>
          </p:txBody>
        </p:sp>
        <p:pic>
          <p:nvPicPr>
            <p:cNvPr id="29708" name="Picture 4" descr="https://s-media-cache-ak0.pinimg.com/736x/23/83/b8/2383b8c0a126d1d6e45c69e1f1d8c835.jpg">
              <a:extLst>
                <a:ext uri="{FF2B5EF4-FFF2-40B4-BE49-F238E27FC236}">
                  <a16:creationId xmlns:a16="http://schemas.microsoft.com/office/drawing/2014/main" id="{C4B6A7F1-494B-A787-0CDB-8DB25EC1E4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8321" y="2248872"/>
              <a:ext cx="1210236" cy="125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9" name="Picture 8" descr="http://t0.gstatic.com/images?q=tbn:ANd9GcT01z7q3j_7r7cC3p1ybldrJ8izAS2on2ImuB8-MaR2JppPKLG3">
              <a:extLst>
                <a:ext uri="{FF2B5EF4-FFF2-40B4-BE49-F238E27FC236}">
                  <a16:creationId xmlns:a16="http://schemas.microsoft.com/office/drawing/2014/main" id="{186B41E8-1981-C388-20CD-1C200A7AA3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2162" y="2259001"/>
              <a:ext cx="1224933" cy="125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0" name="Picture 10" descr="http://t0.gstatic.com/images?q=tbn:ANd9GcRTs8C0EXGJhzYX9Dpn6IK41OnvW63Csh7xkt8UgcCcQ0HUKJCT">
              <a:extLst>
                <a:ext uri="{FF2B5EF4-FFF2-40B4-BE49-F238E27FC236}">
                  <a16:creationId xmlns:a16="http://schemas.microsoft.com/office/drawing/2014/main" id="{7A767631-E73E-92E5-37A8-3FB5E2712D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5745" r="25591"/>
            <a:stretch>
              <a:fillRect/>
            </a:stretch>
          </p:blipFill>
          <p:spPr bwMode="auto">
            <a:xfrm>
              <a:off x="5129207" y="2170645"/>
              <a:ext cx="1184837" cy="142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1" name="Picture 14" descr="http://ecx.images-amazon.com/images/I/41J3DB-gWwL._SY355_.jpg">
              <a:extLst>
                <a:ext uri="{FF2B5EF4-FFF2-40B4-BE49-F238E27FC236}">
                  <a16:creationId xmlns:a16="http://schemas.microsoft.com/office/drawing/2014/main" id="{FE24DBDA-D4DB-5C6B-4D16-6D813CD207B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16156" y="2237927"/>
              <a:ext cx="1261994" cy="126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7FD84-3683-6D1D-5E57-BD0013B07C23}"/>
              </a:ext>
            </a:extLst>
          </p:cNvPr>
          <p:cNvSpPr>
            <a:spLocks noGrp="1"/>
          </p:cNvSpPr>
          <p:nvPr>
            <p:ph type="title"/>
          </p:nvPr>
        </p:nvSpPr>
        <p:spPr>
          <a:xfrm>
            <a:off x="747713" y="97631"/>
            <a:ext cx="7290197" cy="933450"/>
          </a:xfrm>
        </p:spPr>
        <p:txBody>
          <a:bodyPr/>
          <a:lstStyle/>
          <a:p>
            <a:pPr algn="ctr">
              <a:defRPr/>
            </a:pPr>
            <a:r>
              <a:rPr lang="en-US" dirty="0">
                <a:solidFill>
                  <a:schemeClr val="tx1">
                    <a:lumMod val="95000"/>
                    <a:lumOff val="5000"/>
                  </a:schemeClr>
                </a:solidFill>
              </a:rPr>
              <a:t>Emotional intelligence skills </a:t>
            </a:r>
          </a:p>
        </p:txBody>
      </p:sp>
      <p:sp>
        <p:nvSpPr>
          <p:cNvPr id="4" name="Rectangle 3">
            <a:extLst>
              <a:ext uri="{FF2B5EF4-FFF2-40B4-BE49-F238E27FC236}">
                <a16:creationId xmlns:a16="http://schemas.microsoft.com/office/drawing/2014/main" id="{2C321C0E-D906-EF0D-210F-A2EE00FB67CE}"/>
              </a:ext>
            </a:extLst>
          </p:cNvPr>
          <p:cNvSpPr/>
          <p:nvPr/>
        </p:nvSpPr>
        <p:spPr>
          <a:xfrm>
            <a:off x="2188369" y="1309687"/>
            <a:ext cx="2833688" cy="197762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Self-awareness</a:t>
            </a:r>
          </a:p>
          <a:p>
            <a:pPr algn="ctr">
              <a:defRPr/>
            </a:pPr>
            <a:endParaRPr lang="en-US" alt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eaLnBrk="1" hangingPunct="1">
              <a:defRPr/>
            </a:pPr>
            <a:r>
              <a:rPr lang="en-US" altLang="en-US" sz="1350" b="1" i="1" dirty="0">
                <a:solidFill>
                  <a:schemeClr val="tx1"/>
                </a:solidFill>
                <a:latin typeface="Calibri" panose="020F0502020204030204" pitchFamily="34" charset="0"/>
                <a:ea typeface="Calibri" panose="020F0502020204030204" pitchFamily="34" charset="0"/>
                <a:cs typeface="Times New Roman" panose="02020603050405020304" pitchFamily="18" charset="0"/>
              </a:rPr>
              <a:t>Can I accurately identify my emotions as they happen?</a:t>
            </a:r>
          </a:p>
        </p:txBody>
      </p:sp>
      <p:sp>
        <p:nvSpPr>
          <p:cNvPr id="5" name="Rectangle 4">
            <a:extLst>
              <a:ext uri="{FF2B5EF4-FFF2-40B4-BE49-F238E27FC236}">
                <a16:creationId xmlns:a16="http://schemas.microsoft.com/office/drawing/2014/main" id="{8A69B987-393C-201B-F732-16DA6401FD0A}"/>
              </a:ext>
            </a:extLst>
          </p:cNvPr>
          <p:cNvSpPr/>
          <p:nvPr/>
        </p:nvSpPr>
        <p:spPr>
          <a:xfrm>
            <a:off x="5032772" y="1307306"/>
            <a:ext cx="3257550" cy="199072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Self-management</a:t>
            </a:r>
          </a:p>
          <a:p>
            <a:pPr algn="ctr">
              <a:defRPr/>
            </a:pPr>
            <a:endParaRPr 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defRPr/>
            </a:pPr>
            <a:r>
              <a:rPr lang="en-US" sz="1350" b="1" i="1" dirty="0">
                <a:solidFill>
                  <a:schemeClr val="tx1"/>
                </a:solidFill>
                <a:latin typeface="Calibri" panose="020F0502020204030204" pitchFamily="34" charset="0"/>
                <a:ea typeface="Calibri" panose="020F0502020204030204" pitchFamily="34" charset="0"/>
                <a:cs typeface="Times New Roman" panose="02020603050405020304" pitchFamily="18" charset="0"/>
              </a:rPr>
              <a:t>Can I manage my emotions and behavior to a positive outcome?</a:t>
            </a:r>
            <a:endParaRPr lang="en-US" sz="1350" i="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31DEF94-C499-660C-A41E-D81CE7FA50C3}"/>
              </a:ext>
            </a:extLst>
          </p:cNvPr>
          <p:cNvSpPr/>
          <p:nvPr/>
        </p:nvSpPr>
        <p:spPr>
          <a:xfrm>
            <a:off x="2200275" y="3287316"/>
            <a:ext cx="2844404" cy="176569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100" b="1" dirty="0">
                <a:solidFill>
                  <a:schemeClr val="tx1"/>
                </a:solidFill>
              </a:rPr>
              <a:t>Social awareness</a:t>
            </a:r>
          </a:p>
          <a:p>
            <a:pPr algn="ctr">
              <a:defRPr/>
            </a:pPr>
            <a:endParaRPr lang="en-US" sz="2100" b="1" dirty="0">
              <a:solidFill>
                <a:schemeClr val="tx1"/>
              </a:solidFill>
            </a:endParaRPr>
          </a:p>
          <a:p>
            <a:pPr>
              <a:defRPr/>
            </a:pPr>
            <a:r>
              <a:rPr lang="en-US" sz="1350" b="1" i="1" dirty="0">
                <a:solidFill>
                  <a:schemeClr val="tx1"/>
                </a:solidFill>
                <a:latin typeface="Calibri" panose="020F0502020204030204" pitchFamily="34" charset="0"/>
                <a:ea typeface="Calibri" panose="020F0502020204030204" pitchFamily="34" charset="0"/>
                <a:cs typeface="Times New Roman" panose="02020603050405020304" pitchFamily="18" charset="0"/>
              </a:rPr>
              <a:t>Can I accurately identify your emotions and tendencies as I interact with you or a group?</a:t>
            </a:r>
          </a:p>
        </p:txBody>
      </p:sp>
      <p:sp>
        <p:nvSpPr>
          <p:cNvPr id="7" name="Rectangle 6">
            <a:extLst>
              <a:ext uri="{FF2B5EF4-FFF2-40B4-BE49-F238E27FC236}">
                <a16:creationId xmlns:a16="http://schemas.microsoft.com/office/drawing/2014/main" id="{2BB71E3A-050D-F694-B0B4-2E890A9EF388}"/>
              </a:ext>
            </a:extLst>
          </p:cNvPr>
          <p:cNvSpPr/>
          <p:nvPr/>
        </p:nvSpPr>
        <p:spPr>
          <a:xfrm>
            <a:off x="5032772" y="3287316"/>
            <a:ext cx="3257550" cy="176569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Relationship management</a:t>
            </a:r>
          </a:p>
          <a:p>
            <a:pPr algn="ctr">
              <a:defRPr/>
            </a:pPr>
            <a:endParaRPr lang="en-US" b="1" dirty="0">
              <a:solidFill>
                <a:schemeClr val="tx1"/>
              </a:solidFill>
            </a:endParaRPr>
          </a:p>
          <a:p>
            <a:pPr>
              <a:defRPr/>
            </a:pPr>
            <a:r>
              <a:rPr lang="en-US" sz="1350" b="1" i="1" dirty="0">
                <a:solidFill>
                  <a:schemeClr val="tx1"/>
                </a:solidFill>
                <a:latin typeface="Calibri" panose="020F0502020204030204" pitchFamily="34" charset="0"/>
                <a:ea typeface="Calibri" panose="020F0502020204030204" pitchFamily="34" charset="0"/>
                <a:cs typeface="Times New Roman" panose="02020603050405020304" pitchFamily="18" charset="0"/>
              </a:rPr>
              <a:t>Can I mange the interaction I have with others constructively and to a positive outcome?</a:t>
            </a:r>
          </a:p>
        </p:txBody>
      </p:sp>
      <p:sp>
        <p:nvSpPr>
          <p:cNvPr id="8" name="TextBox 7">
            <a:extLst>
              <a:ext uri="{FF2B5EF4-FFF2-40B4-BE49-F238E27FC236}">
                <a16:creationId xmlns:a16="http://schemas.microsoft.com/office/drawing/2014/main" id="{45DBFE27-B067-4304-C735-D8B11A71F1EF}"/>
              </a:ext>
            </a:extLst>
          </p:cNvPr>
          <p:cNvSpPr txBox="1"/>
          <p:nvPr/>
        </p:nvSpPr>
        <p:spPr>
          <a:xfrm>
            <a:off x="2738438" y="895350"/>
            <a:ext cx="1654969" cy="415498"/>
          </a:xfrm>
          <a:prstGeom prst="rect">
            <a:avLst/>
          </a:prstGeom>
          <a:solidFill>
            <a:schemeClr val="accent6">
              <a:lumMod val="50000"/>
            </a:schemeClr>
          </a:solidFill>
        </p:spPr>
        <p:txBody>
          <a:bodyPr>
            <a:spAutoFit/>
          </a:bodyPr>
          <a:lstStyle/>
          <a:p>
            <a:pPr algn="ctr">
              <a:defRPr/>
            </a:pPr>
            <a:r>
              <a:rPr lang="en-US" sz="2100" dirty="0">
                <a:solidFill>
                  <a:schemeClr val="bg1"/>
                </a:solidFill>
              </a:rPr>
              <a:t>What I see</a:t>
            </a:r>
          </a:p>
        </p:txBody>
      </p:sp>
      <p:sp>
        <p:nvSpPr>
          <p:cNvPr id="9" name="TextBox 8">
            <a:extLst>
              <a:ext uri="{FF2B5EF4-FFF2-40B4-BE49-F238E27FC236}">
                <a16:creationId xmlns:a16="http://schemas.microsoft.com/office/drawing/2014/main" id="{CAB5F679-717A-A47A-AE77-73E4B2144E28}"/>
              </a:ext>
            </a:extLst>
          </p:cNvPr>
          <p:cNvSpPr txBox="1"/>
          <p:nvPr/>
        </p:nvSpPr>
        <p:spPr>
          <a:xfrm>
            <a:off x="5686425" y="895350"/>
            <a:ext cx="1653779" cy="415498"/>
          </a:xfrm>
          <a:prstGeom prst="rect">
            <a:avLst/>
          </a:prstGeom>
          <a:solidFill>
            <a:schemeClr val="accent6">
              <a:lumMod val="50000"/>
            </a:schemeClr>
          </a:solidFill>
        </p:spPr>
        <p:txBody>
          <a:bodyPr>
            <a:spAutoFit/>
          </a:bodyPr>
          <a:lstStyle/>
          <a:p>
            <a:pPr algn="ctr">
              <a:defRPr/>
            </a:pPr>
            <a:r>
              <a:rPr lang="en-US" sz="2100" dirty="0">
                <a:solidFill>
                  <a:schemeClr val="bg1"/>
                </a:solidFill>
              </a:rPr>
              <a:t>What I do</a:t>
            </a:r>
          </a:p>
        </p:txBody>
      </p:sp>
      <p:sp>
        <p:nvSpPr>
          <p:cNvPr id="10" name="Rounded Rectangle 9">
            <a:extLst>
              <a:ext uri="{FF2B5EF4-FFF2-40B4-BE49-F238E27FC236}">
                <a16:creationId xmlns:a16="http://schemas.microsoft.com/office/drawing/2014/main" id="{B723F3C0-B34C-6F3B-E1DA-4358966E649E}"/>
              </a:ext>
            </a:extLst>
          </p:cNvPr>
          <p:cNvSpPr/>
          <p:nvPr/>
        </p:nvSpPr>
        <p:spPr>
          <a:xfrm>
            <a:off x="381000" y="2150269"/>
            <a:ext cx="1166813" cy="448866"/>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b="1" dirty="0">
                <a:solidFill>
                  <a:schemeClr val="bg1"/>
                </a:solidFill>
              </a:rPr>
              <a:t>Personal competence</a:t>
            </a:r>
          </a:p>
        </p:txBody>
      </p:sp>
      <p:sp>
        <p:nvSpPr>
          <p:cNvPr id="11" name="Rounded Rectangle 10">
            <a:extLst>
              <a:ext uri="{FF2B5EF4-FFF2-40B4-BE49-F238E27FC236}">
                <a16:creationId xmlns:a16="http://schemas.microsoft.com/office/drawing/2014/main" id="{F91FC37F-C3E8-0B5C-34B8-27B01ABA5D7A}"/>
              </a:ext>
            </a:extLst>
          </p:cNvPr>
          <p:cNvSpPr/>
          <p:nvPr/>
        </p:nvSpPr>
        <p:spPr>
          <a:xfrm>
            <a:off x="457200" y="3482579"/>
            <a:ext cx="1090613" cy="448865"/>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b="1" dirty="0">
                <a:solidFill>
                  <a:schemeClr val="bg1"/>
                </a:solidFill>
              </a:rPr>
              <a:t>Social competence</a:t>
            </a:r>
          </a:p>
        </p:txBody>
      </p:sp>
      <p:sp>
        <p:nvSpPr>
          <p:cNvPr id="12" name="Pentagon 11">
            <a:extLst>
              <a:ext uri="{FF2B5EF4-FFF2-40B4-BE49-F238E27FC236}">
                <a16:creationId xmlns:a16="http://schemas.microsoft.com/office/drawing/2014/main" id="{568DCE90-984D-E104-4E43-32960E81BA3C}"/>
              </a:ext>
            </a:extLst>
          </p:cNvPr>
          <p:cNvSpPr/>
          <p:nvPr/>
        </p:nvSpPr>
        <p:spPr>
          <a:xfrm>
            <a:off x="1678781" y="2178844"/>
            <a:ext cx="525066" cy="392906"/>
          </a:xfrm>
          <a:prstGeom prst="homePlat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Pentagon 12">
            <a:extLst>
              <a:ext uri="{FF2B5EF4-FFF2-40B4-BE49-F238E27FC236}">
                <a16:creationId xmlns:a16="http://schemas.microsoft.com/office/drawing/2014/main" id="{DFD88094-454B-37ED-F99A-7BD74E475EF8}"/>
              </a:ext>
            </a:extLst>
          </p:cNvPr>
          <p:cNvSpPr/>
          <p:nvPr/>
        </p:nvSpPr>
        <p:spPr>
          <a:xfrm>
            <a:off x="1665685" y="3538538"/>
            <a:ext cx="525065" cy="392906"/>
          </a:xfrm>
          <a:prstGeom prst="homePlat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1757" name="Rectangle 5">
            <a:extLst>
              <a:ext uri="{FF2B5EF4-FFF2-40B4-BE49-F238E27FC236}">
                <a16:creationId xmlns:a16="http://schemas.microsoft.com/office/drawing/2014/main" id="{A9DA97D9-9676-1BA2-3CE2-FFA098BE620A}"/>
              </a:ext>
            </a:extLst>
          </p:cNvPr>
          <p:cNvSpPr>
            <a:spLocks noChangeArrowheads="1"/>
          </p:cNvSpPr>
          <p:nvPr/>
        </p:nvSpPr>
        <p:spPr bwMode="auto">
          <a:xfrm>
            <a:off x="1" y="2140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350">
              <a:latin typeface="Tw Cen MT" panose="020B0602020104020603" pitchFamily="34" charset="0"/>
            </a:endParaRPr>
          </a:p>
        </p:txBody>
      </p:sp>
      <p:sp>
        <p:nvSpPr>
          <p:cNvPr id="31758" name="Rectangle 6">
            <a:extLst>
              <a:ext uri="{FF2B5EF4-FFF2-40B4-BE49-F238E27FC236}">
                <a16:creationId xmlns:a16="http://schemas.microsoft.com/office/drawing/2014/main" id="{272D8F91-97D8-4737-CDE4-EA3093E83EC9}"/>
              </a:ext>
            </a:extLst>
          </p:cNvPr>
          <p:cNvSpPr>
            <a:spLocks noChangeArrowheads="1"/>
          </p:cNvSpPr>
          <p:nvPr/>
        </p:nvSpPr>
        <p:spPr bwMode="auto">
          <a:xfrm>
            <a:off x="4479636" y="36430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endParaRPr lang="en-US" altLang="en-US" sz="135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2957B-BBA9-8CEF-EFA3-29BE4C7D32D4}"/>
              </a:ext>
            </a:extLst>
          </p:cNvPr>
          <p:cNvSpPr>
            <a:spLocks noGrp="1"/>
          </p:cNvSpPr>
          <p:nvPr>
            <p:ph type="title"/>
          </p:nvPr>
        </p:nvSpPr>
        <p:spPr>
          <a:xfrm>
            <a:off x="747713" y="97631"/>
            <a:ext cx="7290197" cy="933450"/>
          </a:xfrm>
        </p:spPr>
        <p:txBody>
          <a:bodyPr>
            <a:normAutofit fontScale="90000"/>
          </a:bodyPr>
          <a:lstStyle/>
          <a:p>
            <a:pPr algn="ctr">
              <a:defRPr/>
            </a:pPr>
            <a:r>
              <a:rPr lang="en-US" dirty="0">
                <a:solidFill>
                  <a:schemeClr val="tx1">
                    <a:lumMod val="95000"/>
                    <a:lumOff val="5000"/>
                  </a:schemeClr>
                </a:solidFill>
              </a:rPr>
              <a:t>Emotional intelligence competencies</a:t>
            </a:r>
          </a:p>
        </p:txBody>
      </p:sp>
      <p:sp>
        <p:nvSpPr>
          <p:cNvPr id="4" name="Rectangle 3">
            <a:extLst>
              <a:ext uri="{FF2B5EF4-FFF2-40B4-BE49-F238E27FC236}">
                <a16:creationId xmlns:a16="http://schemas.microsoft.com/office/drawing/2014/main" id="{7B22FD18-EF0F-EA48-1019-7E22B890477E}"/>
              </a:ext>
            </a:extLst>
          </p:cNvPr>
          <p:cNvSpPr/>
          <p:nvPr/>
        </p:nvSpPr>
        <p:spPr>
          <a:xfrm>
            <a:off x="2188369" y="1309687"/>
            <a:ext cx="2833688" cy="197762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hlinkClick r:id="" action="ppaction://noaction"/>
              </a:rPr>
              <a:t>Self-awareness</a:t>
            </a:r>
            <a:endParaRPr lang="en-US" alt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gn="ctr">
              <a:defRPr/>
            </a:pPr>
            <a:endParaRPr lang="en-US" alt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214313" indent="-214313">
              <a:buFont typeface="Wingdings" panose="05000000000000000000" pitchFamily="2" charset="2"/>
              <a:buChar char="§"/>
              <a:defRPr/>
            </a:pPr>
            <a:r>
              <a:rPr lang="en-US" sz="1350" dirty="0">
                <a:solidFill>
                  <a:schemeClr val="tx1"/>
                </a:solidFill>
              </a:rPr>
              <a:t>Emotional self-awareness </a:t>
            </a:r>
          </a:p>
          <a:p>
            <a:pPr marL="214313" indent="-214313">
              <a:buFont typeface="Wingdings" panose="05000000000000000000" pitchFamily="2" charset="2"/>
              <a:buChar char="§"/>
              <a:defRPr/>
            </a:pPr>
            <a:r>
              <a:rPr lang="en-US" sz="1350" dirty="0">
                <a:solidFill>
                  <a:schemeClr val="tx1"/>
                </a:solidFill>
              </a:rPr>
              <a:t>Accurate self-assessment </a:t>
            </a:r>
          </a:p>
          <a:p>
            <a:pPr marL="214313" indent="-214313">
              <a:buFont typeface="Wingdings" panose="05000000000000000000" pitchFamily="2" charset="2"/>
              <a:buChar char="§"/>
              <a:defRPr/>
            </a:pPr>
            <a:r>
              <a:rPr lang="en-US" sz="1350" dirty="0">
                <a:solidFill>
                  <a:schemeClr val="tx1"/>
                </a:solidFill>
              </a:rPr>
              <a:t>Self-confidence </a:t>
            </a:r>
          </a:p>
          <a:p>
            <a:pPr marL="214313" indent="-214313">
              <a:buFont typeface="Wingdings" panose="05000000000000000000" pitchFamily="2" charset="2"/>
              <a:buChar char="§"/>
              <a:defRPr/>
            </a:pPr>
            <a:endParaRPr lang="en-US" sz="1350" dirty="0">
              <a:solidFill>
                <a:schemeClr val="tx1"/>
              </a:solidFill>
            </a:endParaRPr>
          </a:p>
          <a:p>
            <a:pPr marL="214313" indent="-214313">
              <a:buFont typeface="Wingdings" panose="05000000000000000000" pitchFamily="2" charset="2"/>
              <a:buChar char="§"/>
              <a:defRPr/>
            </a:pPr>
            <a:endParaRPr lang="en-US" sz="1350" dirty="0">
              <a:solidFill>
                <a:schemeClr val="tx1"/>
              </a:solidFill>
            </a:endParaRPr>
          </a:p>
        </p:txBody>
      </p:sp>
      <p:sp>
        <p:nvSpPr>
          <p:cNvPr id="5" name="Rectangle 4">
            <a:extLst>
              <a:ext uri="{FF2B5EF4-FFF2-40B4-BE49-F238E27FC236}">
                <a16:creationId xmlns:a16="http://schemas.microsoft.com/office/drawing/2014/main" id="{1E76B0E8-3248-5FCA-B493-727159802732}"/>
              </a:ext>
            </a:extLst>
          </p:cNvPr>
          <p:cNvSpPr/>
          <p:nvPr/>
        </p:nvSpPr>
        <p:spPr>
          <a:xfrm>
            <a:off x="5032772" y="1307306"/>
            <a:ext cx="3257550" cy="199072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hlinkClick r:id="" action="ppaction://noaction"/>
              </a:rPr>
              <a:t>Self-management</a:t>
            </a:r>
            <a:endParaRPr lang="en-US" sz="21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214313" indent="-214313">
              <a:buFont typeface="Wingdings" panose="05000000000000000000" pitchFamily="2" charset="2"/>
              <a:buChar char="§"/>
              <a:defRPr/>
            </a:pPr>
            <a:endParaRPr lang="en-US" sz="1350" dirty="0">
              <a:solidFill>
                <a:schemeClr val="tx1"/>
              </a:solidFill>
            </a:endParaRPr>
          </a:p>
          <a:p>
            <a:pPr marL="214313" indent="-214313">
              <a:buFont typeface="Wingdings" panose="05000000000000000000" pitchFamily="2" charset="2"/>
              <a:buChar char="§"/>
              <a:defRPr/>
            </a:pPr>
            <a:r>
              <a:rPr lang="en-US" sz="1350" dirty="0">
                <a:solidFill>
                  <a:schemeClr val="tx1"/>
                </a:solidFill>
              </a:rPr>
              <a:t>Emotional self-control </a:t>
            </a:r>
          </a:p>
          <a:p>
            <a:pPr marL="214313" indent="-214313">
              <a:buFont typeface="Wingdings" panose="05000000000000000000" pitchFamily="2" charset="2"/>
              <a:buChar char="§"/>
              <a:defRPr/>
            </a:pPr>
            <a:r>
              <a:rPr lang="en-US" sz="1350" dirty="0">
                <a:solidFill>
                  <a:schemeClr val="tx1"/>
                </a:solidFill>
              </a:rPr>
              <a:t>Transparency </a:t>
            </a:r>
          </a:p>
          <a:p>
            <a:pPr marL="214313" indent="-214313">
              <a:buFont typeface="Wingdings" panose="05000000000000000000" pitchFamily="2" charset="2"/>
              <a:buChar char="§"/>
              <a:defRPr/>
            </a:pPr>
            <a:r>
              <a:rPr lang="en-US" sz="1350" dirty="0">
                <a:solidFill>
                  <a:schemeClr val="tx1"/>
                </a:solidFill>
              </a:rPr>
              <a:t>Adaptability </a:t>
            </a:r>
          </a:p>
          <a:p>
            <a:pPr marL="214313" indent="-214313">
              <a:buFont typeface="Wingdings" panose="05000000000000000000" pitchFamily="2" charset="2"/>
              <a:buChar char="§"/>
              <a:defRPr/>
            </a:pPr>
            <a:r>
              <a:rPr lang="en-US" sz="1350" dirty="0">
                <a:solidFill>
                  <a:schemeClr val="tx1"/>
                </a:solidFill>
              </a:rPr>
              <a:t>Achievement orientation </a:t>
            </a:r>
          </a:p>
          <a:p>
            <a:pPr marL="214313" indent="-214313">
              <a:buFont typeface="Wingdings" panose="05000000000000000000" pitchFamily="2" charset="2"/>
              <a:buChar char="§"/>
              <a:defRPr/>
            </a:pPr>
            <a:r>
              <a:rPr lang="en-US" sz="1350" dirty="0">
                <a:solidFill>
                  <a:schemeClr val="tx1"/>
                </a:solidFill>
              </a:rPr>
              <a:t>Initiative </a:t>
            </a:r>
          </a:p>
          <a:p>
            <a:pPr marL="214313" indent="-214313">
              <a:buFont typeface="Wingdings" panose="05000000000000000000" pitchFamily="2" charset="2"/>
              <a:buChar char="§"/>
              <a:defRPr/>
            </a:pPr>
            <a:r>
              <a:rPr lang="en-US" sz="1350" dirty="0">
                <a:solidFill>
                  <a:schemeClr val="tx1"/>
                </a:solidFill>
              </a:rPr>
              <a:t>Optimism </a:t>
            </a:r>
          </a:p>
        </p:txBody>
      </p:sp>
      <p:sp>
        <p:nvSpPr>
          <p:cNvPr id="6" name="Rectangle 5">
            <a:extLst>
              <a:ext uri="{FF2B5EF4-FFF2-40B4-BE49-F238E27FC236}">
                <a16:creationId xmlns:a16="http://schemas.microsoft.com/office/drawing/2014/main" id="{35C71E5C-B41B-2D5C-6CB9-7AE4988848D3}"/>
              </a:ext>
            </a:extLst>
          </p:cNvPr>
          <p:cNvSpPr/>
          <p:nvPr/>
        </p:nvSpPr>
        <p:spPr>
          <a:xfrm>
            <a:off x="2200275" y="3287316"/>
            <a:ext cx="2844404" cy="176569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100" b="1" dirty="0">
                <a:solidFill>
                  <a:schemeClr val="tx1"/>
                </a:solidFill>
                <a:hlinkClick r:id="" action="ppaction://noaction"/>
              </a:rPr>
              <a:t>Social awareness</a:t>
            </a:r>
            <a:endParaRPr lang="en-US" sz="2100" b="1" dirty="0">
              <a:solidFill>
                <a:schemeClr val="tx1"/>
              </a:solidFill>
            </a:endParaRPr>
          </a:p>
          <a:p>
            <a:pPr algn="ctr">
              <a:defRPr/>
            </a:pPr>
            <a:endParaRPr lang="en-US" sz="2100" b="1" dirty="0">
              <a:solidFill>
                <a:schemeClr val="tx1"/>
              </a:solidFill>
            </a:endParaRPr>
          </a:p>
          <a:p>
            <a:pPr marL="214313" indent="-214313">
              <a:buFont typeface="Wingdings" panose="05000000000000000000" pitchFamily="2" charset="2"/>
              <a:buChar char="§"/>
              <a:defRPr/>
            </a:pPr>
            <a:r>
              <a:rPr lang="en-US" sz="1350" dirty="0">
                <a:solidFill>
                  <a:schemeClr val="tx1"/>
                </a:solidFill>
              </a:rPr>
              <a:t>Empathy </a:t>
            </a:r>
          </a:p>
          <a:p>
            <a:pPr marL="214313" indent="-214313">
              <a:buFont typeface="Wingdings" panose="05000000000000000000" pitchFamily="2" charset="2"/>
              <a:buChar char="§"/>
              <a:defRPr/>
            </a:pPr>
            <a:r>
              <a:rPr lang="en-US" sz="1350" dirty="0">
                <a:solidFill>
                  <a:schemeClr val="tx1"/>
                </a:solidFill>
              </a:rPr>
              <a:t>Organizational awareness</a:t>
            </a:r>
          </a:p>
          <a:p>
            <a:pPr marL="214313" indent="-214313">
              <a:buFont typeface="Wingdings" panose="05000000000000000000" pitchFamily="2" charset="2"/>
              <a:buChar char="§"/>
              <a:defRPr/>
            </a:pPr>
            <a:r>
              <a:rPr lang="en-US" sz="1350" dirty="0">
                <a:solidFill>
                  <a:schemeClr val="tx1"/>
                </a:solidFill>
              </a:rPr>
              <a:t>Service orientation</a:t>
            </a:r>
          </a:p>
          <a:p>
            <a:pPr marL="214313" indent="-214313">
              <a:buFont typeface="Wingdings" panose="05000000000000000000" pitchFamily="2" charset="2"/>
              <a:buChar char="§"/>
              <a:defRPr/>
            </a:pPr>
            <a:endParaRPr lang="en-US" sz="1350" dirty="0">
              <a:solidFill>
                <a:schemeClr val="tx1"/>
              </a:solidFill>
            </a:endParaRPr>
          </a:p>
          <a:p>
            <a:pPr marL="214313" indent="-214313">
              <a:buFont typeface="Wingdings" panose="05000000000000000000" pitchFamily="2" charset="2"/>
              <a:buChar char="§"/>
              <a:defRPr/>
            </a:pPr>
            <a:endParaRPr lang="en-US" sz="1350" dirty="0">
              <a:solidFill>
                <a:schemeClr val="tx1"/>
              </a:solidFill>
            </a:endParaRPr>
          </a:p>
        </p:txBody>
      </p:sp>
      <p:sp>
        <p:nvSpPr>
          <p:cNvPr id="7" name="Rectangle 6">
            <a:extLst>
              <a:ext uri="{FF2B5EF4-FFF2-40B4-BE49-F238E27FC236}">
                <a16:creationId xmlns:a16="http://schemas.microsoft.com/office/drawing/2014/main" id="{6F544E0A-3049-A3FA-475F-CC50FF7A4DE4}"/>
              </a:ext>
            </a:extLst>
          </p:cNvPr>
          <p:cNvSpPr/>
          <p:nvPr/>
        </p:nvSpPr>
        <p:spPr>
          <a:xfrm>
            <a:off x="5032772" y="3287316"/>
            <a:ext cx="3257550" cy="176569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hlinkClick r:id="" action="ppaction://noaction"/>
              </a:rPr>
              <a:t>Relationship management</a:t>
            </a:r>
            <a:endParaRPr lang="en-US" b="1" dirty="0">
              <a:solidFill>
                <a:schemeClr val="tx1"/>
              </a:solidFill>
            </a:endParaRPr>
          </a:p>
          <a:p>
            <a:pPr algn="ctr">
              <a:defRPr/>
            </a:pPr>
            <a:endParaRPr lang="en-US" sz="675" b="1" dirty="0">
              <a:solidFill>
                <a:schemeClr val="tx1"/>
              </a:solidFill>
            </a:endParaRPr>
          </a:p>
          <a:p>
            <a:pPr marL="214313" indent="-214313">
              <a:buFont typeface="Wingdings" panose="05000000000000000000" pitchFamily="2" charset="2"/>
              <a:buChar char="§"/>
              <a:defRPr/>
            </a:pPr>
            <a:r>
              <a:rPr lang="en-US" sz="1350" dirty="0">
                <a:solidFill>
                  <a:schemeClr val="tx1"/>
                </a:solidFill>
              </a:rPr>
              <a:t>Influence </a:t>
            </a:r>
          </a:p>
          <a:p>
            <a:pPr marL="214313" indent="-214313">
              <a:buFont typeface="Wingdings" panose="05000000000000000000" pitchFamily="2" charset="2"/>
              <a:buChar char="§"/>
              <a:defRPr/>
            </a:pPr>
            <a:r>
              <a:rPr lang="en-US" sz="1350" dirty="0">
                <a:solidFill>
                  <a:schemeClr val="tx1"/>
                </a:solidFill>
              </a:rPr>
              <a:t>Developing others</a:t>
            </a:r>
          </a:p>
          <a:p>
            <a:pPr marL="214313" indent="-214313">
              <a:buFont typeface="Wingdings" panose="05000000000000000000" pitchFamily="2" charset="2"/>
              <a:buChar char="§"/>
              <a:defRPr/>
            </a:pPr>
            <a:r>
              <a:rPr lang="en-US" sz="1350" dirty="0">
                <a:solidFill>
                  <a:schemeClr val="tx1"/>
                </a:solidFill>
              </a:rPr>
              <a:t>Inspirational Leadership </a:t>
            </a:r>
          </a:p>
          <a:p>
            <a:pPr marL="214313" indent="-214313">
              <a:buFont typeface="Wingdings" panose="05000000000000000000" pitchFamily="2" charset="2"/>
              <a:buChar char="§"/>
              <a:defRPr/>
            </a:pPr>
            <a:r>
              <a:rPr lang="en-US" sz="1350" dirty="0">
                <a:solidFill>
                  <a:schemeClr val="tx1"/>
                </a:solidFill>
              </a:rPr>
              <a:t>Change catalyst </a:t>
            </a:r>
          </a:p>
          <a:p>
            <a:pPr marL="214313" indent="-214313">
              <a:buFont typeface="Wingdings" panose="05000000000000000000" pitchFamily="2" charset="2"/>
              <a:buChar char="§"/>
              <a:defRPr/>
            </a:pPr>
            <a:r>
              <a:rPr lang="en-US" sz="1350" dirty="0">
                <a:solidFill>
                  <a:schemeClr val="tx1"/>
                </a:solidFill>
              </a:rPr>
              <a:t>Conflict management </a:t>
            </a:r>
          </a:p>
          <a:p>
            <a:pPr marL="214313" indent="-214313">
              <a:buFont typeface="Wingdings" panose="05000000000000000000" pitchFamily="2" charset="2"/>
              <a:buChar char="§"/>
              <a:defRPr/>
            </a:pPr>
            <a:r>
              <a:rPr lang="en-US" sz="1350" dirty="0">
                <a:solidFill>
                  <a:schemeClr val="tx1"/>
                </a:solidFill>
              </a:rPr>
              <a:t>Teamwork and collaboration</a:t>
            </a:r>
          </a:p>
        </p:txBody>
      </p:sp>
      <p:sp>
        <p:nvSpPr>
          <p:cNvPr id="8" name="TextBox 7">
            <a:extLst>
              <a:ext uri="{FF2B5EF4-FFF2-40B4-BE49-F238E27FC236}">
                <a16:creationId xmlns:a16="http://schemas.microsoft.com/office/drawing/2014/main" id="{9670DE3A-CC07-7319-5838-DBDFCF99DE1E}"/>
              </a:ext>
            </a:extLst>
          </p:cNvPr>
          <p:cNvSpPr txBox="1"/>
          <p:nvPr/>
        </p:nvSpPr>
        <p:spPr>
          <a:xfrm>
            <a:off x="2738438" y="895350"/>
            <a:ext cx="1654969" cy="415498"/>
          </a:xfrm>
          <a:prstGeom prst="rect">
            <a:avLst/>
          </a:prstGeom>
          <a:solidFill>
            <a:schemeClr val="accent6">
              <a:lumMod val="50000"/>
            </a:schemeClr>
          </a:solidFill>
        </p:spPr>
        <p:txBody>
          <a:bodyPr>
            <a:spAutoFit/>
          </a:bodyPr>
          <a:lstStyle/>
          <a:p>
            <a:pPr algn="ctr">
              <a:defRPr/>
            </a:pPr>
            <a:r>
              <a:rPr lang="en-US" sz="2100">
                <a:solidFill>
                  <a:schemeClr val="bg1"/>
                </a:solidFill>
              </a:rPr>
              <a:t>Recognition</a:t>
            </a:r>
            <a:endParaRPr lang="en-US" sz="2100" dirty="0">
              <a:solidFill>
                <a:schemeClr val="bg1"/>
              </a:solidFill>
            </a:endParaRPr>
          </a:p>
        </p:txBody>
      </p:sp>
      <p:sp>
        <p:nvSpPr>
          <p:cNvPr id="9" name="TextBox 8">
            <a:extLst>
              <a:ext uri="{FF2B5EF4-FFF2-40B4-BE49-F238E27FC236}">
                <a16:creationId xmlns:a16="http://schemas.microsoft.com/office/drawing/2014/main" id="{DB131D1C-104D-45BE-65D4-E22AFA59D147}"/>
              </a:ext>
            </a:extLst>
          </p:cNvPr>
          <p:cNvSpPr txBox="1"/>
          <p:nvPr/>
        </p:nvSpPr>
        <p:spPr>
          <a:xfrm>
            <a:off x="5686425" y="895350"/>
            <a:ext cx="1653779" cy="415498"/>
          </a:xfrm>
          <a:prstGeom prst="rect">
            <a:avLst/>
          </a:prstGeom>
          <a:solidFill>
            <a:schemeClr val="accent6">
              <a:lumMod val="50000"/>
            </a:schemeClr>
          </a:solidFill>
        </p:spPr>
        <p:txBody>
          <a:bodyPr>
            <a:spAutoFit/>
          </a:bodyPr>
          <a:lstStyle/>
          <a:p>
            <a:pPr algn="ctr">
              <a:defRPr/>
            </a:pPr>
            <a:r>
              <a:rPr lang="en-US" sz="2100" dirty="0">
                <a:solidFill>
                  <a:schemeClr val="bg1"/>
                </a:solidFill>
              </a:rPr>
              <a:t>Regulation </a:t>
            </a:r>
          </a:p>
        </p:txBody>
      </p:sp>
      <p:sp>
        <p:nvSpPr>
          <p:cNvPr id="10" name="Rounded Rectangle 9">
            <a:extLst>
              <a:ext uri="{FF2B5EF4-FFF2-40B4-BE49-F238E27FC236}">
                <a16:creationId xmlns:a16="http://schemas.microsoft.com/office/drawing/2014/main" id="{219F0F70-5182-480B-5F0C-E1AE3B4DD21D}"/>
              </a:ext>
            </a:extLst>
          </p:cNvPr>
          <p:cNvSpPr/>
          <p:nvPr/>
        </p:nvSpPr>
        <p:spPr>
          <a:xfrm>
            <a:off x="381000" y="2150269"/>
            <a:ext cx="1166813" cy="448866"/>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b="1" dirty="0">
                <a:solidFill>
                  <a:schemeClr val="bg1"/>
                </a:solidFill>
              </a:rPr>
              <a:t>Personal competence</a:t>
            </a:r>
          </a:p>
        </p:txBody>
      </p:sp>
      <p:sp>
        <p:nvSpPr>
          <p:cNvPr id="11" name="Rounded Rectangle 10">
            <a:extLst>
              <a:ext uri="{FF2B5EF4-FFF2-40B4-BE49-F238E27FC236}">
                <a16:creationId xmlns:a16="http://schemas.microsoft.com/office/drawing/2014/main" id="{F08F3B2F-9328-790B-8B6D-C8F5AB6A9255}"/>
              </a:ext>
            </a:extLst>
          </p:cNvPr>
          <p:cNvSpPr/>
          <p:nvPr/>
        </p:nvSpPr>
        <p:spPr>
          <a:xfrm>
            <a:off x="457200" y="3482579"/>
            <a:ext cx="1090613" cy="448865"/>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b="1" dirty="0">
                <a:solidFill>
                  <a:schemeClr val="bg1"/>
                </a:solidFill>
              </a:rPr>
              <a:t>Social competence</a:t>
            </a:r>
          </a:p>
        </p:txBody>
      </p:sp>
      <p:sp>
        <p:nvSpPr>
          <p:cNvPr id="12" name="Pentagon 11">
            <a:extLst>
              <a:ext uri="{FF2B5EF4-FFF2-40B4-BE49-F238E27FC236}">
                <a16:creationId xmlns:a16="http://schemas.microsoft.com/office/drawing/2014/main" id="{42E5EF39-E163-513A-6DFB-5826AB3EC66E}"/>
              </a:ext>
            </a:extLst>
          </p:cNvPr>
          <p:cNvSpPr/>
          <p:nvPr/>
        </p:nvSpPr>
        <p:spPr>
          <a:xfrm>
            <a:off x="1678781" y="2178844"/>
            <a:ext cx="525066" cy="392906"/>
          </a:xfrm>
          <a:prstGeom prst="homePlat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Pentagon 12">
            <a:extLst>
              <a:ext uri="{FF2B5EF4-FFF2-40B4-BE49-F238E27FC236}">
                <a16:creationId xmlns:a16="http://schemas.microsoft.com/office/drawing/2014/main" id="{E1754F90-3979-3CA2-8494-EDF20459E171}"/>
              </a:ext>
            </a:extLst>
          </p:cNvPr>
          <p:cNvSpPr/>
          <p:nvPr/>
        </p:nvSpPr>
        <p:spPr>
          <a:xfrm>
            <a:off x="1665685" y="3538538"/>
            <a:ext cx="525065" cy="392906"/>
          </a:xfrm>
          <a:prstGeom prst="homePlat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781" name="Rectangle 5">
            <a:extLst>
              <a:ext uri="{FF2B5EF4-FFF2-40B4-BE49-F238E27FC236}">
                <a16:creationId xmlns:a16="http://schemas.microsoft.com/office/drawing/2014/main" id="{5B4D9A41-EE26-EFA6-9EDC-73A32AD65C33}"/>
              </a:ext>
            </a:extLst>
          </p:cNvPr>
          <p:cNvSpPr>
            <a:spLocks noChangeArrowheads="1"/>
          </p:cNvSpPr>
          <p:nvPr/>
        </p:nvSpPr>
        <p:spPr bwMode="auto">
          <a:xfrm>
            <a:off x="1" y="2140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350">
              <a:latin typeface="Tw Cen MT" panose="020B0602020104020603" pitchFamily="34" charset="0"/>
            </a:endParaRPr>
          </a:p>
        </p:txBody>
      </p:sp>
      <p:sp>
        <p:nvSpPr>
          <p:cNvPr id="32782" name="Rectangle 6">
            <a:extLst>
              <a:ext uri="{FF2B5EF4-FFF2-40B4-BE49-F238E27FC236}">
                <a16:creationId xmlns:a16="http://schemas.microsoft.com/office/drawing/2014/main" id="{81641A02-9E5D-B502-8956-BA60927C2CE6}"/>
              </a:ext>
            </a:extLst>
          </p:cNvPr>
          <p:cNvSpPr>
            <a:spLocks noChangeArrowheads="1"/>
          </p:cNvSpPr>
          <p:nvPr/>
        </p:nvSpPr>
        <p:spPr bwMode="auto">
          <a:xfrm>
            <a:off x="4479636" y="36430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endParaRPr lang="en-US" altLang="en-US" sz="135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7">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xEl>
                                              <p:pRg st="3" end="3"/>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xEl>
                                              <p:pRg st="4" end="4"/>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
                                            <p:txEl>
                                              <p:pRg st="5" end="5"/>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
                                            <p:txEl>
                                              <p:pRg st="6" end="6"/>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hangingPunct="1"/>
            <a:r>
              <a:rPr lang="en-US" dirty="0"/>
              <a:t>OB Applications of Emotions and Moods</a:t>
            </a:r>
          </a:p>
        </p:txBody>
      </p:sp>
      <p:sp>
        <p:nvSpPr>
          <p:cNvPr id="35845" name="Slide Number Placeholder 4"/>
          <p:cNvSpPr>
            <a:spLocks noGrp="1"/>
          </p:cNvSpPr>
          <p:nvPr>
            <p:ph type="sldNum" sz="quarter" idx="12"/>
          </p:nvPr>
        </p:nvSpPr>
        <p:spPr bwMode="auto">
          <a:noFill/>
          <a:ln>
            <a:miter lim="800000"/>
            <a:headEnd/>
            <a:tailEnd/>
          </a:ln>
        </p:spPr>
        <p:txBody>
          <a:bodyPr>
            <a:normAutofit fontScale="47500" lnSpcReduction="20000"/>
          </a:bodyPr>
          <a:lstStyle/>
          <a:p>
            <a:r>
              <a:rPr lang="en-US"/>
              <a:t>4-</a:t>
            </a:r>
            <a:fld id="{C8E776D7-6DFF-431D-96A4-E3A6805A24CE}" type="slidenum">
              <a:rPr lang="en-US"/>
              <a:pPr/>
              <a:t>24</a:t>
            </a:fld>
            <a:endParaRPr lang="en-US"/>
          </a:p>
        </p:txBody>
      </p:sp>
      <p:sp>
        <p:nvSpPr>
          <p:cNvPr id="35843" name="Content Placeholder 2"/>
          <p:cNvSpPr>
            <a:spLocks noGrp="1"/>
          </p:cNvSpPr>
          <p:nvPr>
            <p:ph sz="quarter" idx="13"/>
          </p:nvPr>
        </p:nvSpPr>
        <p:spPr/>
        <p:txBody>
          <a:bodyPr>
            <a:noAutofit/>
          </a:bodyPr>
          <a:lstStyle/>
          <a:p>
            <a:pPr eaLnBrk="1" hangingPunct="1">
              <a:spcBef>
                <a:spcPts val="0"/>
              </a:spcBef>
            </a:pPr>
            <a:r>
              <a:rPr lang="en-US" sz="1800" b="1" dirty="0"/>
              <a:t>Selection</a:t>
            </a:r>
          </a:p>
          <a:p>
            <a:pPr lvl="1" eaLnBrk="1" hangingPunct="1">
              <a:spcBef>
                <a:spcPts val="0"/>
              </a:spcBef>
            </a:pPr>
            <a:r>
              <a:rPr lang="en-US" sz="1800" dirty="0"/>
              <a:t>EI should be a hiring factor, especially for social jobs.  </a:t>
            </a:r>
          </a:p>
          <a:p>
            <a:pPr eaLnBrk="1" hangingPunct="1">
              <a:spcBef>
                <a:spcPts val="0"/>
              </a:spcBef>
            </a:pPr>
            <a:r>
              <a:rPr lang="en-US" sz="1800" b="1" dirty="0"/>
              <a:t>Decision Making</a:t>
            </a:r>
          </a:p>
          <a:p>
            <a:pPr lvl="1">
              <a:spcBef>
                <a:spcPts val="0"/>
              </a:spcBef>
            </a:pPr>
            <a:r>
              <a:rPr lang="en-US" sz="1800" dirty="0"/>
              <a:t>Emotions are an important part of the decision-making process in organizations. Positive emotions can lead to better decisions.</a:t>
            </a:r>
          </a:p>
          <a:p>
            <a:pPr eaLnBrk="1" hangingPunct="1">
              <a:spcBef>
                <a:spcPts val="0"/>
              </a:spcBef>
            </a:pPr>
            <a:r>
              <a:rPr lang="en-US" sz="1800" b="1" dirty="0"/>
              <a:t>Creativity</a:t>
            </a:r>
          </a:p>
          <a:p>
            <a:pPr lvl="1" eaLnBrk="1" hangingPunct="1">
              <a:spcBef>
                <a:spcPts val="0"/>
              </a:spcBef>
            </a:pPr>
            <a:r>
              <a:rPr lang="en-US" sz="1800" dirty="0"/>
              <a:t>Positive mood increases flexibility, openness, and creativity.</a:t>
            </a:r>
          </a:p>
          <a:p>
            <a:pPr eaLnBrk="1" hangingPunct="1">
              <a:spcBef>
                <a:spcPts val="0"/>
              </a:spcBef>
            </a:pPr>
            <a:r>
              <a:rPr lang="en-US" sz="1800" b="1" dirty="0"/>
              <a:t>Motivation</a:t>
            </a:r>
          </a:p>
          <a:p>
            <a:pPr lvl="1">
              <a:spcBef>
                <a:spcPts val="0"/>
              </a:spcBef>
            </a:pPr>
            <a:r>
              <a:rPr lang="en-US" sz="1800" dirty="0"/>
              <a:t>Positive mood and emotional commitment to work is highly linked to motivation and expectations of success; feedback amplifies this effect.</a:t>
            </a:r>
          </a:p>
          <a:p>
            <a:pPr eaLnBrk="1" hangingPunct="1">
              <a:spcBef>
                <a:spcPts val="0"/>
              </a:spcBef>
            </a:pPr>
            <a:r>
              <a:rPr lang="en-US" sz="1800" b="1" dirty="0"/>
              <a:t>Leadership</a:t>
            </a:r>
          </a:p>
          <a:p>
            <a:pPr lvl="1" eaLnBrk="1" hangingPunct="1">
              <a:spcBef>
                <a:spcPts val="0"/>
              </a:spcBef>
            </a:pPr>
            <a:r>
              <a:rPr lang="en-US" sz="1800" dirty="0"/>
              <a:t>Emotions are important to acceptance of messages from organizational leaders.</a:t>
            </a:r>
          </a:p>
        </p:txBody>
      </p:sp>
    </p:spTree>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hangingPunct="1"/>
            <a:r>
              <a:rPr lang="en-US" sz="3600" dirty="0"/>
              <a:t>More OB Applications of Emotions and Moods</a:t>
            </a:r>
          </a:p>
        </p:txBody>
      </p:sp>
      <p:sp>
        <p:nvSpPr>
          <p:cNvPr id="37893" name="Slide Number Placeholder 4"/>
          <p:cNvSpPr>
            <a:spLocks noGrp="1"/>
          </p:cNvSpPr>
          <p:nvPr>
            <p:ph type="sldNum" sz="quarter" idx="12"/>
          </p:nvPr>
        </p:nvSpPr>
        <p:spPr bwMode="auto">
          <a:noFill/>
          <a:ln>
            <a:miter lim="800000"/>
            <a:headEnd/>
            <a:tailEnd/>
          </a:ln>
        </p:spPr>
        <p:txBody>
          <a:bodyPr>
            <a:normAutofit fontScale="47500" lnSpcReduction="20000"/>
          </a:bodyPr>
          <a:lstStyle/>
          <a:p>
            <a:r>
              <a:rPr lang="en-US"/>
              <a:t>4-</a:t>
            </a:r>
            <a:fld id="{93B4CB01-8D32-419D-BDFA-8F2779147C4D}" type="slidenum">
              <a:rPr lang="en-US"/>
              <a:pPr/>
              <a:t>25</a:t>
            </a:fld>
            <a:endParaRPr lang="en-US"/>
          </a:p>
        </p:txBody>
      </p:sp>
      <p:sp>
        <p:nvSpPr>
          <p:cNvPr id="37891" name="Content Placeholder 2"/>
          <p:cNvSpPr>
            <a:spLocks noGrp="1"/>
          </p:cNvSpPr>
          <p:nvPr>
            <p:ph sz="quarter" idx="13"/>
          </p:nvPr>
        </p:nvSpPr>
        <p:spPr>
          <a:xfrm>
            <a:off x="609600" y="1227446"/>
            <a:ext cx="8153400" cy="3276600"/>
          </a:xfrm>
        </p:spPr>
        <p:txBody>
          <a:bodyPr>
            <a:noAutofit/>
          </a:bodyPr>
          <a:lstStyle/>
          <a:p>
            <a:pPr eaLnBrk="1" hangingPunct="1">
              <a:spcBef>
                <a:spcPts val="0"/>
              </a:spcBef>
            </a:pPr>
            <a:r>
              <a:rPr lang="en-US" sz="1600" b="1" dirty="0"/>
              <a:t>Negotiation </a:t>
            </a:r>
          </a:p>
          <a:p>
            <a:pPr lvl="1">
              <a:spcBef>
                <a:spcPts val="0"/>
              </a:spcBef>
            </a:pPr>
            <a:r>
              <a:rPr lang="en-US" sz="1600" dirty="0"/>
              <a:t>Emotions can impair negotiations. Skillfully displayed emotions can affect negotiations.</a:t>
            </a:r>
          </a:p>
          <a:p>
            <a:pPr eaLnBrk="1" hangingPunct="1">
              <a:spcBef>
                <a:spcPts val="0"/>
              </a:spcBef>
            </a:pPr>
            <a:r>
              <a:rPr lang="en-US" sz="1600" b="1" dirty="0"/>
              <a:t>Customer Services</a:t>
            </a:r>
          </a:p>
          <a:p>
            <a:pPr lvl="1" eaLnBrk="1" hangingPunct="1">
              <a:spcBef>
                <a:spcPts val="0"/>
              </a:spcBef>
            </a:pPr>
            <a:r>
              <a:rPr lang="en-US" sz="1600" dirty="0"/>
              <a:t>Emotions affect service quality delivered to customers which, in turn, affects customer relationships</a:t>
            </a:r>
          </a:p>
          <a:p>
            <a:pPr lvl="1" eaLnBrk="1" hangingPunct="1">
              <a:spcBef>
                <a:spcPts val="0"/>
              </a:spcBef>
            </a:pPr>
            <a:r>
              <a:rPr lang="en-US" sz="1600" i="1" dirty="0"/>
              <a:t>Emotional Contagion</a:t>
            </a:r>
            <a:r>
              <a:rPr lang="en-US" sz="1600" dirty="0"/>
              <a:t>: “catching” emotions from others</a:t>
            </a:r>
          </a:p>
          <a:p>
            <a:pPr eaLnBrk="1" hangingPunct="1">
              <a:spcBef>
                <a:spcPts val="0"/>
              </a:spcBef>
            </a:pPr>
            <a:r>
              <a:rPr lang="en-US" sz="1600" b="1" dirty="0"/>
              <a:t>Job Attitudes</a:t>
            </a:r>
          </a:p>
          <a:p>
            <a:pPr lvl="1" eaLnBrk="1" hangingPunct="1">
              <a:spcBef>
                <a:spcPts val="0"/>
              </a:spcBef>
            </a:pPr>
            <a:r>
              <a:rPr lang="en-US" sz="1600" dirty="0"/>
              <a:t>Can carry over to home, but dissipate overnight</a:t>
            </a:r>
          </a:p>
          <a:p>
            <a:pPr eaLnBrk="1" hangingPunct="1">
              <a:spcBef>
                <a:spcPts val="0"/>
              </a:spcBef>
            </a:pPr>
            <a:r>
              <a:rPr lang="en-US" sz="1600" b="1" dirty="0"/>
              <a:t>Deviant Workplace Behaviors</a:t>
            </a:r>
          </a:p>
          <a:p>
            <a:pPr lvl="1" eaLnBrk="1" hangingPunct="1">
              <a:spcBef>
                <a:spcPts val="0"/>
              </a:spcBef>
            </a:pPr>
            <a:r>
              <a:rPr lang="en-US" sz="1600" dirty="0"/>
              <a:t>Negative emotions lead to </a:t>
            </a:r>
            <a:r>
              <a:rPr lang="en-US" sz="1600" i="1" dirty="0"/>
              <a:t>employee deviance</a:t>
            </a:r>
            <a:r>
              <a:rPr lang="en-US" sz="1600" dirty="0"/>
              <a:t>  (actions that violate norms and threaten the organization)</a:t>
            </a:r>
          </a:p>
          <a:p>
            <a:pPr lvl="2">
              <a:spcBef>
                <a:spcPts val="0"/>
              </a:spcBef>
            </a:pPr>
            <a:r>
              <a:rPr lang="en-US" sz="1600" dirty="0"/>
              <a:t>Productivity failures</a:t>
            </a:r>
          </a:p>
          <a:p>
            <a:pPr lvl="2">
              <a:spcBef>
                <a:spcPts val="0"/>
              </a:spcBef>
            </a:pPr>
            <a:r>
              <a:rPr lang="en-US" sz="1600" dirty="0"/>
              <a:t>Property theft and destruction</a:t>
            </a:r>
          </a:p>
          <a:p>
            <a:pPr lvl="2">
              <a:spcBef>
                <a:spcPts val="0"/>
              </a:spcBef>
            </a:pPr>
            <a:r>
              <a:rPr lang="en-US" sz="1600" dirty="0"/>
              <a:t>Political actions</a:t>
            </a:r>
          </a:p>
          <a:p>
            <a:pPr lvl="2">
              <a:spcBef>
                <a:spcPts val="0"/>
              </a:spcBef>
            </a:pPr>
            <a:r>
              <a:rPr lang="en-US" sz="1600" dirty="0"/>
              <a:t>Personal aggression</a:t>
            </a:r>
          </a:p>
        </p:txBody>
      </p:sp>
    </p:spTree>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normAutofit/>
          </a:bodyPr>
          <a:lstStyle/>
          <a:p>
            <a:pPr eaLnBrk="1" hangingPunct="1"/>
            <a:r>
              <a:rPr lang="en-US" altLang="zh-CN" sz="3600" dirty="0">
                <a:ea typeface="宋体" charset="-122"/>
              </a:rPr>
              <a:t>How Can Managers Influence Moods?</a:t>
            </a:r>
          </a:p>
        </p:txBody>
      </p:sp>
      <p:sp>
        <p:nvSpPr>
          <p:cNvPr id="22532" name="Rectangle 3"/>
          <p:cNvSpPr>
            <a:spLocks noGrp="1" noChangeArrowheads="1"/>
          </p:cNvSpPr>
          <p:nvPr>
            <p:ph sz="quarter" idx="13"/>
          </p:nvPr>
        </p:nvSpPr>
        <p:spPr>
          <a:xfrm>
            <a:off x="609600" y="1352550"/>
            <a:ext cx="6019800" cy="3276600"/>
          </a:xfrm>
        </p:spPr>
        <p:txBody>
          <a:bodyPr>
            <a:normAutofit/>
          </a:bodyPr>
          <a:lstStyle/>
          <a:p>
            <a:pPr eaLnBrk="1" hangingPunct="1"/>
            <a:r>
              <a:rPr lang="en-US" altLang="zh-CN" sz="2000" dirty="0">
                <a:ea typeface="宋体" charset="-122"/>
              </a:rPr>
              <a:t>Use humor to lighten the moment</a:t>
            </a:r>
          </a:p>
          <a:p>
            <a:pPr eaLnBrk="1" hangingPunct="1"/>
            <a:r>
              <a:rPr lang="en-US" altLang="zh-CN" sz="2000" dirty="0">
                <a:ea typeface="宋体" charset="-122"/>
              </a:rPr>
              <a:t>Give small tokens of appreciation</a:t>
            </a:r>
          </a:p>
          <a:p>
            <a:pPr eaLnBrk="1" hangingPunct="1"/>
            <a:r>
              <a:rPr lang="en-US" altLang="zh-CN" sz="2000" dirty="0">
                <a:ea typeface="宋体" charset="-122"/>
              </a:rPr>
              <a:t>Stay in a good mood themselves – lead by example</a:t>
            </a:r>
          </a:p>
          <a:p>
            <a:pPr eaLnBrk="1" hangingPunct="1"/>
            <a:r>
              <a:rPr lang="en-US" altLang="zh-CN" sz="2000" dirty="0">
                <a:ea typeface="宋体" charset="-122"/>
              </a:rPr>
              <a:t>Hire positive people</a:t>
            </a:r>
          </a:p>
        </p:txBody>
      </p:sp>
      <p:pic>
        <p:nvPicPr>
          <p:cNvPr id="7170" name="Picture 2" descr="Image result for managing emotions at workplace"/>
          <p:cNvPicPr>
            <a:picLocks noChangeAspect="1" noChangeArrowheads="1"/>
          </p:cNvPicPr>
          <p:nvPr/>
        </p:nvPicPr>
        <p:blipFill>
          <a:blip r:embed="rId3"/>
          <a:srcRect/>
          <a:stretch>
            <a:fillRect/>
          </a:stretch>
        </p:blipFill>
        <p:spPr bwMode="auto">
          <a:xfrm>
            <a:off x="990599" y="3333750"/>
            <a:ext cx="3637687" cy="1809750"/>
          </a:xfrm>
          <a:prstGeom prst="rect">
            <a:avLst/>
          </a:prstGeom>
          <a:noFill/>
        </p:spPr>
      </p:pic>
      <p:pic>
        <p:nvPicPr>
          <p:cNvPr id="7172" name="Picture 4" descr="Image result for managing emotions at workplace"/>
          <p:cNvPicPr>
            <a:picLocks noChangeAspect="1" noChangeArrowheads="1"/>
          </p:cNvPicPr>
          <p:nvPr/>
        </p:nvPicPr>
        <p:blipFill>
          <a:blip r:embed="rId4"/>
          <a:srcRect/>
          <a:stretch>
            <a:fillRect/>
          </a:stretch>
        </p:blipFill>
        <p:spPr bwMode="auto">
          <a:xfrm>
            <a:off x="5257801" y="2552701"/>
            <a:ext cx="3886200" cy="2590800"/>
          </a:xfrm>
          <a:prstGeom prst="rect">
            <a:avLst/>
          </a:prstGeom>
          <a:noFill/>
        </p:spPr>
      </p:pic>
      <p:sp>
        <p:nvSpPr>
          <p:cNvPr id="2" name="Slide Number Placeholder 1"/>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26</a:t>
            </a:fld>
            <a:endParaRPr lang="en-US"/>
          </a:p>
        </p:txBody>
      </p:sp>
    </p:spTree>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r>
              <a:rPr lang="en-US" sz="4000" dirty="0"/>
              <a:t>Global Implications</a:t>
            </a:r>
          </a:p>
        </p:txBody>
      </p:sp>
      <p:sp>
        <p:nvSpPr>
          <p:cNvPr id="39941" name="Slide Number Placeholder 5"/>
          <p:cNvSpPr>
            <a:spLocks noGrp="1"/>
          </p:cNvSpPr>
          <p:nvPr>
            <p:ph type="sldNum" sz="quarter" idx="12"/>
          </p:nvPr>
        </p:nvSpPr>
        <p:spPr bwMode="auto">
          <a:noFill/>
          <a:ln>
            <a:miter lim="800000"/>
            <a:headEnd/>
            <a:tailEnd/>
          </a:ln>
        </p:spPr>
        <p:txBody>
          <a:bodyPr>
            <a:normAutofit fontScale="47500" lnSpcReduction="20000"/>
          </a:bodyPr>
          <a:lstStyle/>
          <a:p>
            <a:r>
              <a:rPr lang="en-US"/>
              <a:t>4-</a:t>
            </a:r>
            <a:fld id="{1EBB5139-37E5-492D-BB18-1D4CB357B030}" type="slidenum">
              <a:rPr lang="en-US"/>
              <a:pPr/>
              <a:t>27</a:t>
            </a:fld>
            <a:endParaRPr lang="en-US"/>
          </a:p>
        </p:txBody>
      </p:sp>
      <p:sp>
        <p:nvSpPr>
          <p:cNvPr id="39940" name="Content Placeholder 8"/>
          <p:cNvSpPr>
            <a:spLocks noGrp="1"/>
          </p:cNvSpPr>
          <p:nvPr>
            <p:ph sz="quarter" idx="13"/>
          </p:nvPr>
        </p:nvSpPr>
        <p:spPr>
          <a:xfrm>
            <a:off x="609600" y="1276350"/>
            <a:ext cx="8153400" cy="3276600"/>
          </a:xfrm>
        </p:spPr>
        <p:txBody>
          <a:bodyPr>
            <a:noAutofit/>
          </a:bodyPr>
          <a:lstStyle/>
          <a:p>
            <a:pPr eaLnBrk="1" hangingPunct="1">
              <a:spcBef>
                <a:spcPts val="600"/>
              </a:spcBef>
            </a:pPr>
            <a:r>
              <a:rPr lang="en-US" sz="1800" i="1" dirty="0">
                <a:solidFill>
                  <a:srgbClr val="FF0000"/>
                </a:solidFill>
              </a:rPr>
              <a:t>Do people experience emotions equally?</a:t>
            </a:r>
          </a:p>
          <a:p>
            <a:pPr lvl="1" eaLnBrk="1" hangingPunct="1">
              <a:spcBef>
                <a:spcPts val="600"/>
              </a:spcBef>
            </a:pPr>
            <a:r>
              <a:rPr lang="en-US" sz="1800" dirty="0"/>
              <a:t>No.  Culture can determine type, frequency, and depth of experienced emotions.</a:t>
            </a:r>
          </a:p>
          <a:p>
            <a:pPr eaLnBrk="1" hangingPunct="1">
              <a:spcBef>
                <a:spcPts val="600"/>
              </a:spcBef>
            </a:pPr>
            <a:r>
              <a:rPr lang="en-US" sz="1800" i="1" dirty="0"/>
              <a:t>D</a:t>
            </a:r>
            <a:r>
              <a:rPr lang="en-US" sz="1800" i="1" dirty="0">
                <a:solidFill>
                  <a:srgbClr val="FF0000"/>
                </a:solidFill>
              </a:rPr>
              <a:t>o people interpret emotions the same way?</a:t>
            </a:r>
          </a:p>
          <a:p>
            <a:pPr lvl="1" eaLnBrk="1" hangingPunct="1">
              <a:spcBef>
                <a:spcPts val="600"/>
              </a:spcBef>
            </a:pPr>
            <a:r>
              <a:rPr lang="en-US" sz="1800" dirty="0"/>
              <a:t>Yes. Negative emotions are seen as undesirable and positive emotions are desirable. However, value of each emotion varies across cultures</a:t>
            </a:r>
          </a:p>
          <a:p>
            <a:pPr eaLnBrk="1" hangingPunct="1">
              <a:spcBef>
                <a:spcPts val="600"/>
              </a:spcBef>
            </a:pPr>
            <a:r>
              <a:rPr lang="en-US" sz="1800" i="1" dirty="0"/>
              <a:t>Do norms of emotional expression vary?</a:t>
            </a:r>
          </a:p>
          <a:p>
            <a:pPr lvl="1" eaLnBrk="1" hangingPunct="1">
              <a:spcBef>
                <a:spcPts val="600"/>
              </a:spcBef>
            </a:pPr>
            <a:r>
              <a:rPr lang="en-US" sz="1800" dirty="0"/>
              <a:t>Yes. Some cultures have a bias against emotional expression; others demand some display of emotion.</a:t>
            </a:r>
          </a:p>
          <a:p>
            <a:pPr lvl="1" eaLnBrk="1" hangingPunct="1">
              <a:spcBef>
                <a:spcPts val="600"/>
              </a:spcBef>
            </a:pPr>
            <a:r>
              <a:rPr lang="en-US" sz="1800" dirty="0"/>
              <a:t>How the emotions are expressed may make interpretation outside of one’s culture difficult .</a:t>
            </a:r>
          </a:p>
        </p:txBody>
      </p:sp>
      <p:pic>
        <p:nvPicPr>
          <p:cNvPr id="39939" name="Picture 4" descr="C:\Users\Bob Stretch\AppData\Local\Microsoft\Windows\Temporary Internet Files\Content.IE5\H1JVA1FE\MCj04325690000[1].png"/>
          <p:cNvPicPr>
            <a:picLocks noChangeAspect="1" noChangeArrowheads="1"/>
          </p:cNvPicPr>
          <p:nvPr/>
        </p:nvPicPr>
        <p:blipFill>
          <a:blip r:embed="rId3"/>
          <a:srcRect/>
          <a:stretch>
            <a:fillRect/>
          </a:stretch>
        </p:blipFill>
        <p:spPr bwMode="auto">
          <a:xfrm>
            <a:off x="6781800" y="-95250"/>
            <a:ext cx="1371600" cy="1345223"/>
          </a:xfrm>
          <a:prstGeom prst="rect">
            <a:avLst/>
          </a:prstGeom>
          <a:noFill/>
          <a:ln w="9525">
            <a:noFill/>
            <a:miter lim="800000"/>
            <a:headEnd/>
            <a:tailEnd/>
          </a:ln>
        </p:spPr>
      </p:pic>
    </p:spTree>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4"/>
          <p:cNvSpPr>
            <a:spLocks noGrp="1" noChangeArrowheads="1"/>
          </p:cNvSpPr>
          <p:nvPr>
            <p:ph type="title"/>
          </p:nvPr>
        </p:nvSpPr>
        <p:spPr/>
        <p:txBody>
          <a:bodyPr/>
          <a:lstStyle/>
          <a:p>
            <a:pPr eaLnBrk="1" hangingPunct="1"/>
            <a:r>
              <a:rPr lang="en-US" altLang="zh-CN">
                <a:ea typeface="宋体" charset="-122"/>
              </a:rPr>
              <a:t>Implications for Managers</a:t>
            </a:r>
          </a:p>
        </p:txBody>
      </p:sp>
      <p:sp>
        <p:nvSpPr>
          <p:cNvPr id="24578" name="Rectangle 6"/>
          <p:cNvSpPr>
            <a:spLocks noGrp="1" noChangeArrowheads="1"/>
          </p:cNvSpPr>
          <p:nvPr>
            <p:ph type="sldNum" sz="quarter" idx="12"/>
          </p:nvPr>
        </p:nvSpPr>
        <p:spPr>
          <a:noFill/>
        </p:spPr>
        <p:txBody>
          <a:bodyPr>
            <a:normAutofit fontScale="47500" lnSpcReduction="20000"/>
          </a:bodyPr>
          <a:lstStyle/>
          <a:p>
            <a:r>
              <a:rPr lang="en-US" altLang="zh-CN"/>
              <a:t>7-</a:t>
            </a:r>
            <a:fld id="{5352A5E3-1A70-4993-A446-68C00F539E6F}" type="slidenum">
              <a:rPr lang="en-US" altLang="zh-CN"/>
              <a:pPr/>
              <a:t>28</a:t>
            </a:fld>
            <a:endParaRPr lang="en-US" altLang="zh-CN"/>
          </a:p>
        </p:txBody>
      </p:sp>
      <p:sp>
        <p:nvSpPr>
          <p:cNvPr id="24580" name="Rectangle 5"/>
          <p:cNvSpPr>
            <a:spLocks noGrp="1" noChangeArrowheads="1"/>
          </p:cNvSpPr>
          <p:nvPr>
            <p:ph sz="quarter" idx="13"/>
          </p:nvPr>
        </p:nvSpPr>
        <p:spPr/>
        <p:txBody>
          <a:bodyPr>
            <a:normAutofit/>
          </a:bodyPr>
          <a:lstStyle/>
          <a:p>
            <a:pPr eaLnBrk="1" hangingPunct="1">
              <a:lnSpc>
                <a:spcPct val="90000"/>
              </a:lnSpc>
              <a:spcAft>
                <a:spcPts val="1800"/>
              </a:spcAft>
            </a:pPr>
            <a:r>
              <a:rPr lang="en-US" altLang="zh-CN" sz="2000" dirty="0">
                <a:ea typeface="宋体" charset="-122"/>
              </a:rPr>
              <a:t>Understand the role of emotions and moods to better explain and predict behavior</a:t>
            </a:r>
          </a:p>
          <a:p>
            <a:pPr eaLnBrk="1" hangingPunct="1">
              <a:lnSpc>
                <a:spcPct val="90000"/>
              </a:lnSpc>
              <a:spcAft>
                <a:spcPts val="1800"/>
              </a:spcAft>
            </a:pPr>
            <a:r>
              <a:rPr lang="en-US" altLang="zh-CN" sz="2000" dirty="0">
                <a:ea typeface="宋体" charset="-122"/>
              </a:rPr>
              <a:t>Emotions and moods do affect workplace performance</a:t>
            </a:r>
          </a:p>
          <a:p>
            <a:pPr eaLnBrk="1" hangingPunct="1">
              <a:lnSpc>
                <a:spcPct val="90000"/>
              </a:lnSpc>
            </a:pPr>
            <a:r>
              <a:rPr lang="en-US" altLang="zh-CN" sz="2000" dirty="0">
                <a:ea typeface="宋体" charset="-122"/>
              </a:rPr>
              <a:t>While managing emotions may be possible, absolute control of worker emotions is not</a:t>
            </a: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itle 1"/>
          <p:cNvSpPr>
            <a:spLocks noGrp="1"/>
          </p:cNvSpPr>
          <p:nvPr>
            <p:ph type="title"/>
          </p:nvPr>
        </p:nvSpPr>
        <p:spPr/>
        <p:txBody>
          <a:bodyPr/>
          <a:lstStyle/>
          <a:p>
            <a:pPr eaLnBrk="1" hangingPunct="1"/>
            <a:r>
              <a:rPr lang="en-US" altLang="zh-CN" dirty="0">
                <a:ea typeface="宋体" charset="-122"/>
              </a:rPr>
              <a:t>Keep in Mind…</a:t>
            </a:r>
          </a:p>
        </p:txBody>
      </p:sp>
      <p:sp>
        <p:nvSpPr>
          <p:cNvPr id="3" name="Content Placeholder 2"/>
          <p:cNvSpPr>
            <a:spLocks noGrp="1"/>
          </p:cNvSpPr>
          <p:nvPr>
            <p:ph sz="quarter" idx="13"/>
          </p:nvPr>
        </p:nvSpPr>
        <p:spPr/>
        <p:txBody>
          <a:bodyPr>
            <a:normAutofit/>
          </a:bodyPr>
          <a:lstStyle/>
          <a:p>
            <a:pPr eaLnBrk="1" hangingPunct="1">
              <a:spcAft>
                <a:spcPts val="1200"/>
              </a:spcAft>
            </a:pPr>
            <a:r>
              <a:rPr lang="en-US" altLang="zh-CN" sz="2000" i="1" dirty="0">
                <a:ea typeface="宋体" charset="-122"/>
              </a:rPr>
              <a:t>Positive emotions can increase problem-solving skills</a:t>
            </a:r>
          </a:p>
          <a:p>
            <a:pPr eaLnBrk="1" hangingPunct="1">
              <a:spcAft>
                <a:spcPts val="1200"/>
              </a:spcAft>
            </a:pPr>
            <a:r>
              <a:rPr lang="en-US" altLang="zh-CN" sz="2000" i="1" dirty="0">
                <a:ea typeface="宋体" charset="-122"/>
              </a:rPr>
              <a:t>People with high EI may be more effective in their jobs</a:t>
            </a:r>
          </a:p>
          <a:p>
            <a:pPr eaLnBrk="1" hangingPunct="1"/>
            <a:r>
              <a:rPr lang="en-US" altLang="zh-CN" sz="2000" i="1" dirty="0">
                <a:ea typeface="宋体" charset="-122"/>
              </a:rPr>
              <a:t>Managers need to know the emotional norms for each culture they do business with</a:t>
            </a:r>
          </a:p>
        </p:txBody>
      </p:sp>
      <p:sp>
        <p:nvSpPr>
          <p:cNvPr id="2" name="Slide Number Placeholder 1"/>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29</a:t>
            </a:fld>
            <a:endParaRPr lang="en-US"/>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Override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image" Target="../media/image34.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Override>
</file>

<file path=docProps/app.xml><?xml version="1.0" encoding="utf-8"?>
<Properties xmlns="http://schemas.openxmlformats.org/officeDocument/2006/extended-properties" xmlns:vt="http://schemas.openxmlformats.org/officeDocument/2006/docPropsVTypes">
  <Template>WidescreenPresentation</Template>
  <TotalTime>0</TotalTime>
  <Words>2786</Words>
  <Application>Microsoft Office PowerPoint</Application>
  <PresentationFormat>On-screen Show (16:9)</PresentationFormat>
  <Paragraphs>328</Paragraphs>
  <Slides>29</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宋体</vt:lpstr>
      <vt:lpstr>Arial</vt:lpstr>
      <vt:lpstr>Calibri</vt:lpstr>
      <vt:lpstr>Century Schoolbook</vt:lpstr>
      <vt:lpstr>Times New Roman</vt:lpstr>
      <vt:lpstr>Tw Cen MT</vt:lpstr>
      <vt:lpstr>Wingdings</vt:lpstr>
      <vt:lpstr>Wingdings 2</vt:lpstr>
      <vt:lpstr>WidescreenPresentation</vt:lpstr>
      <vt:lpstr>Emotions and Moods</vt:lpstr>
      <vt:lpstr>Emotions Why Emotions Were Ignored in OB?</vt:lpstr>
      <vt:lpstr>What Are Emotions?</vt:lpstr>
      <vt:lpstr>PowerPoint Presentation</vt:lpstr>
      <vt:lpstr>Basic Emotions</vt:lpstr>
      <vt:lpstr>Sources of Emotion and Mood</vt:lpstr>
      <vt:lpstr>More Sources of Emotion and Mood</vt:lpstr>
      <vt:lpstr>Gender and Emotions</vt:lpstr>
      <vt:lpstr>External Constraints on Emotions</vt:lpstr>
      <vt:lpstr>Emotional Labor</vt:lpstr>
      <vt:lpstr>Types of Emotions</vt:lpstr>
      <vt:lpstr>Affective Events Theory (AET)</vt:lpstr>
      <vt:lpstr>Affective Events Theory (AET)</vt:lpstr>
      <vt:lpstr>What Is the Function of Emotion?</vt:lpstr>
      <vt:lpstr>Part-I  Emotional Intelligence: A Key to success </vt:lpstr>
      <vt:lpstr>What is Emotional INTELLIGENCE</vt:lpstr>
      <vt:lpstr>Why emotional intelligence </vt:lpstr>
      <vt:lpstr>Why emotional intelligence </vt:lpstr>
      <vt:lpstr>Technicalities of emotional intelligence – the biological approach </vt:lpstr>
      <vt:lpstr>An Amygdala Hijack!!</vt:lpstr>
      <vt:lpstr>Understanding and managing emotions</vt:lpstr>
      <vt:lpstr>Emotional intelligence skills </vt:lpstr>
      <vt:lpstr>Emotional intelligence competencies</vt:lpstr>
      <vt:lpstr>OB Applications of Emotions and Moods</vt:lpstr>
      <vt:lpstr>More OB Applications of Emotions and Moods</vt:lpstr>
      <vt:lpstr>How Can Managers Influence Moods?</vt:lpstr>
      <vt:lpstr>Global Implications</vt:lpstr>
      <vt:lpstr>Implications for Managers</vt:lpstr>
      <vt:lpstr>Keep in Mind…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2017-08-17T02:20:37Z</dcterms:created>
  <dcterms:modified xsi:type="dcterms:W3CDTF">2024-10-09T05:10:29Z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