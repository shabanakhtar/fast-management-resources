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26" autoAdjust="0"/>
    <p:restoredTop sz="94660"/>
  </p:normalViewPr>
  <p:slideViewPr>
    <p:cSldViewPr snapToGrid="0">
      <p:cViewPr varScale="1">
        <p:scale>
          <a:sx n="69" d="100"/>
          <a:sy n="69" d="100"/>
        </p:scale>
        <p:origin x="7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194125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4054638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762021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8BFF917-26A7-487B-8FAE-7140D8ED1CE4}" type="datetimeFigureOut">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3318928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8BFF917-26A7-487B-8FAE-7140D8ED1CE4}" type="datetimeFigureOut">
              <a:rPr lang="en-US" smtClean="0"/>
              <a:t>12/12/2023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414849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8BFF917-26A7-487B-8FAE-7140D8ED1CE4}" type="datetimeFigureOut">
              <a:rPr lang="en-US" smtClean="0"/>
              <a:t>12/12/2023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527193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BFF917-26A7-487B-8FAE-7140D8ED1CE4}" type="datetimeFigureOut">
              <a:rPr lang="en-US" smtClean="0"/>
              <a:t>12/12/2023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1401929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BFF917-26A7-487B-8FAE-7140D8ED1CE4}" type="datetimeFigureOut">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367356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BFF917-26A7-487B-8FAE-7140D8ED1CE4}" type="datetimeFigureOut">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2732433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BFF917-26A7-487B-8FAE-7140D8ED1CE4}" type="datetimeFigureOut">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105510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3773631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156075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923591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8BFF917-26A7-487B-8FAE-7140D8ED1CE4}" type="datetimeFigureOut">
              <a:rPr lang="en-US" smtClean="0"/>
              <a:t>12/12/2023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33463639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8BFF917-26A7-487B-8FAE-7140D8ED1CE4}" type="datetimeFigureOut">
              <a:rPr lang="en-US" smtClean="0"/>
              <a:t>12/12/2023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1102910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1333450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D8BFF917-26A7-487B-8FAE-7140D8ED1CE4}"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288EBFC-20DF-4BDE-8F13-39CA9748119F}" type="slidenum">
              <a:rPr lang="en-US" smtClean="0"/>
              <a:t>‹#›</a:t>
            </a:fld>
            <a:endParaRPr lang="en-US"/>
          </a:p>
        </p:txBody>
      </p:sp>
    </p:spTree>
    <p:extLst>
      <p:ext uri="{BB962C8B-B14F-4D97-AF65-F5344CB8AC3E}">
        <p14:creationId xmlns:p14="http://schemas.microsoft.com/office/powerpoint/2010/main" val="925957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8BFF917-26A7-487B-8FAE-7140D8ED1CE4}" type="datetimeFigureOut">
              <a:rPr lang="en-US" smtClean="0"/>
              <a:t>12/12/2023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288EBFC-20DF-4BDE-8F13-39CA9748119F}" type="slidenum">
              <a:rPr lang="en-US" smtClean="0"/>
              <a:t>‹#›</a:t>
            </a:fld>
            <a:endParaRPr lang="en-US"/>
          </a:p>
        </p:txBody>
      </p:sp>
    </p:spTree>
    <p:extLst>
      <p:ext uri="{BB962C8B-B14F-4D97-AF65-F5344CB8AC3E}">
        <p14:creationId xmlns:p14="http://schemas.microsoft.com/office/powerpoint/2010/main" val="12644602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15.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5.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397" y="501036"/>
            <a:ext cx="11204620" cy="5858176"/>
          </a:xfrm>
          <a:prstGeom prst="rect">
            <a:avLst/>
          </a:prstGeom>
        </p:spPr>
      </p:pic>
      <p:sp>
        <p:nvSpPr>
          <p:cNvPr id="2" name="Title 1"/>
          <p:cNvSpPr>
            <a:spLocks noGrp="1"/>
          </p:cNvSpPr>
          <p:nvPr>
            <p:ph type="ctrTitle"/>
          </p:nvPr>
        </p:nvSpPr>
        <p:spPr/>
        <p:txBody>
          <a:bodyPr>
            <a:normAutofit/>
          </a:bodyPr>
          <a:lstStyle/>
          <a:p>
            <a:r>
              <a:rPr lang="en-US" sz="3200" b="1" dirty="0" err="1" smtClean="0">
                <a:latin typeface="Bahnschrift" panose="020B0502040204020203" pitchFamily="34" charset="0"/>
              </a:rPr>
              <a:t>Topic:</a:t>
            </a:r>
            <a:r>
              <a:rPr lang="en-US" sz="3200" b="1" dirty="0" err="1">
                <a:latin typeface="Bahnschrift" panose="020B0502040204020203" pitchFamily="34" charset="0"/>
              </a:rPr>
              <a:t>Apple</a:t>
            </a:r>
            <a:r>
              <a:rPr lang="en-US" sz="3200" b="1" dirty="0">
                <a:latin typeface="Bahnschrift" panose="020B0502040204020203" pitchFamily="34" charset="0"/>
              </a:rPr>
              <a:t>: A Leader in AI-powered Customer Satisfaction</a:t>
            </a:r>
          </a:p>
        </p:txBody>
      </p:sp>
      <p:sp>
        <p:nvSpPr>
          <p:cNvPr id="3" name="Subtitle 2"/>
          <p:cNvSpPr>
            <a:spLocks noGrp="1"/>
          </p:cNvSpPr>
          <p:nvPr>
            <p:ph type="subTitle" idx="1"/>
          </p:nvPr>
        </p:nvSpPr>
        <p:spPr/>
        <p:txBody>
          <a:bodyPr/>
          <a:lstStyle/>
          <a:p>
            <a:r>
              <a:rPr lang="en-US" dirty="0">
                <a:solidFill>
                  <a:schemeClr val="bg1">
                    <a:lumMod val="95000"/>
                  </a:schemeClr>
                </a:solidFill>
                <a:latin typeface="Agency FB" panose="020B0503020202020204" pitchFamily="34" charset="0"/>
              </a:rPr>
              <a:t>How Apple uses AI to enhance its products, services, and customer experience</a:t>
            </a:r>
          </a:p>
        </p:txBody>
      </p:sp>
    </p:spTree>
    <p:extLst>
      <p:ext uri="{BB962C8B-B14F-4D97-AF65-F5344CB8AC3E}">
        <p14:creationId xmlns:p14="http://schemas.microsoft.com/office/powerpoint/2010/main" val="393880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2836" y="1063417"/>
            <a:ext cx="3048000" cy="1372986"/>
          </a:xfrm>
        </p:spPr>
        <p:txBody>
          <a:bodyPr/>
          <a:lstStyle/>
          <a:p>
            <a:pPr algn="ctr"/>
            <a:r>
              <a:rPr lang="en-US" i="1" u="sng" dirty="0" smtClean="0">
                <a:latin typeface="Franklin Gothic Heavy" panose="020B0903020102020204" pitchFamily="34" charset="0"/>
              </a:rPr>
              <a:t> MEET  </a:t>
            </a:r>
            <a:br>
              <a:rPr lang="en-US" i="1" u="sng" dirty="0" smtClean="0">
                <a:latin typeface="Franklin Gothic Heavy" panose="020B0903020102020204" pitchFamily="34" charset="0"/>
              </a:rPr>
            </a:br>
            <a:r>
              <a:rPr lang="en-US" i="1" u="sng" dirty="0" smtClean="0">
                <a:latin typeface="Franklin Gothic Heavy" panose="020B0903020102020204" pitchFamily="34" charset="0"/>
              </a:rPr>
              <a:t> OUR TEAM</a:t>
            </a:r>
            <a:endParaRPr lang="en-US" i="1" u="sng" dirty="0">
              <a:latin typeface="Franklin Gothic Heavy" panose="020B0903020102020204" pitchFamily="34" charset="0"/>
            </a:endParaRPr>
          </a:p>
        </p:txBody>
      </p:sp>
      <p:sp>
        <p:nvSpPr>
          <p:cNvPr id="3" name="Text Placeholder 2"/>
          <p:cNvSpPr>
            <a:spLocks noGrp="1"/>
          </p:cNvSpPr>
          <p:nvPr>
            <p:ph type="body" sz="half" idx="2"/>
          </p:nvPr>
        </p:nvSpPr>
        <p:spPr>
          <a:xfrm>
            <a:off x="1154954" y="3543300"/>
            <a:ext cx="8825659" cy="2802082"/>
          </a:xfrm>
        </p:spPr>
        <p:txBody>
          <a:bodyPr>
            <a:noAutofit/>
          </a:bodyPr>
          <a:lstStyle/>
          <a:p>
            <a:pPr marL="285750" indent="-285750">
              <a:buFont typeface="Arial" panose="020B0604020202020204" pitchFamily="34" charset="0"/>
              <a:buChar char="•"/>
            </a:pPr>
            <a:r>
              <a:rPr lang="en-US" sz="2800" u="sng" dirty="0" smtClean="0">
                <a:latin typeface="Arial Rounded MT Bold" panose="020F0704030504030204" pitchFamily="34" charset="0"/>
              </a:rPr>
              <a:t>ZAINAB RIAZ</a:t>
            </a:r>
          </a:p>
          <a:p>
            <a:pPr marL="285750" indent="-285750">
              <a:buFont typeface="Arial" panose="020B0604020202020204" pitchFamily="34" charset="0"/>
              <a:buChar char="•"/>
            </a:pPr>
            <a:r>
              <a:rPr lang="en-US" sz="2800" u="sng" dirty="0" smtClean="0">
                <a:latin typeface="Arial Rounded MT Bold" panose="020F0704030504030204" pitchFamily="34" charset="0"/>
              </a:rPr>
              <a:t>BUSHRA WASEEM</a:t>
            </a:r>
          </a:p>
          <a:p>
            <a:pPr marL="285750" indent="-285750">
              <a:buFont typeface="Arial" panose="020B0604020202020204" pitchFamily="34" charset="0"/>
              <a:buChar char="•"/>
            </a:pPr>
            <a:r>
              <a:rPr lang="en-US" sz="2800" u="sng" dirty="0" smtClean="0">
                <a:latin typeface="Arial Rounded MT Bold" panose="020F0704030504030204" pitchFamily="34" charset="0"/>
              </a:rPr>
              <a:t>SHAHMEER KHAN</a:t>
            </a:r>
          </a:p>
          <a:p>
            <a:pPr marL="285750" indent="-285750">
              <a:buFont typeface="Arial" panose="020B0604020202020204" pitchFamily="34" charset="0"/>
              <a:buChar char="•"/>
            </a:pPr>
            <a:r>
              <a:rPr lang="en-US" sz="2800" u="sng" dirty="0" smtClean="0">
                <a:latin typeface="Arial Rounded MT Bold" panose="020F0704030504030204" pitchFamily="34" charset="0"/>
              </a:rPr>
              <a:t>MUSA TARIQ</a:t>
            </a:r>
          </a:p>
          <a:p>
            <a:pPr marL="285750" indent="-285750">
              <a:buFont typeface="Arial" panose="020B0604020202020204" pitchFamily="34" charset="0"/>
              <a:buChar char="•"/>
            </a:pPr>
            <a:r>
              <a:rPr lang="en-US" sz="2800" u="sng" dirty="0" smtClean="0">
                <a:latin typeface="Arial Rounded MT Bold" panose="020F0704030504030204" pitchFamily="34" charset="0"/>
              </a:rPr>
              <a:t>MOIZ SHAHID</a:t>
            </a:r>
            <a:endParaRPr lang="en-US" sz="2800" u="sng" dirty="0">
              <a:latin typeface="Arial Rounded MT Bold" panose="020F0704030504030204" pitchFamily="34" charset="0"/>
            </a:endParaRPr>
          </a:p>
        </p:txBody>
      </p:sp>
      <p:sp>
        <p:nvSpPr>
          <p:cNvPr id="4" name="Curved Right Arrow 3"/>
          <p:cNvSpPr/>
          <p:nvPr/>
        </p:nvSpPr>
        <p:spPr>
          <a:xfrm>
            <a:off x="748145" y="3543300"/>
            <a:ext cx="581891" cy="439882"/>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Curved Right Arrow 4"/>
          <p:cNvSpPr/>
          <p:nvPr/>
        </p:nvSpPr>
        <p:spPr>
          <a:xfrm>
            <a:off x="748145" y="4135582"/>
            <a:ext cx="581891" cy="464127"/>
          </a:xfrm>
          <a:prstGeom prst="curvedRightArrow">
            <a:avLst>
              <a:gd name="adj1" fmla="val 25000"/>
              <a:gd name="adj2" fmla="val 50000"/>
              <a:gd name="adj3" fmla="val 190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urved Right Arrow 5"/>
          <p:cNvSpPr/>
          <p:nvPr/>
        </p:nvSpPr>
        <p:spPr>
          <a:xfrm>
            <a:off x="748145" y="4675909"/>
            <a:ext cx="581891" cy="429491"/>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urved Right Arrow 6"/>
          <p:cNvSpPr/>
          <p:nvPr/>
        </p:nvSpPr>
        <p:spPr>
          <a:xfrm>
            <a:off x="748145" y="5264727"/>
            <a:ext cx="581891" cy="38792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urved Right Arrow 7"/>
          <p:cNvSpPr/>
          <p:nvPr/>
        </p:nvSpPr>
        <p:spPr>
          <a:xfrm>
            <a:off x="748145" y="5805055"/>
            <a:ext cx="581891" cy="38792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225221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Apple as a company</a:t>
            </a:r>
            <a:endParaRPr lang="en-US" dirty="0"/>
          </a:p>
        </p:txBody>
      </p:sp>
      <p:sp>
        <p:nvSpPr>
          <p:cNvPr id="3" name="Content Placeholder 2"/>
          <p:cNvSpPr>
            <a:spLocks noGrp="1"/>
          </p:cNvSpPr>
          <p:nvPr>
            <p:ph sz="half" idx="1"/>
          </p:nvPr>
        </p:nvSpPr>
        <p:spPr/>
        <p:txBody>
          <a:bodyPr/>
          <a:lstStyle/>
          <a:p>
            <a:pPr marL="0" indent="0">
              <a:buNone/>
            </a:pPr>
            <a:r>
              <a:rPr lang="en-US" dirty="0"/>
              <a:t>Established in 1976 through Steve Jobs, Steve Wozniak, and Ronald Wayne, Apple Inc. Stands as a global leader inside the technology quarter, specializing in the layout, development, and sale of patron electronics, software, and offerings</a:t>
            </a:r>
            <a:r>
              <a:rPr lang="en-US" dirty="0" smtClean="0"/>
              <a:t>.</a:t>
            </a:r>
            <a:r>
              <a:rPr lang="en-US" dirty="0"/>
              <a:t> </a:t>
            </a:r>
            <a:r>
              <a:rPr lang="en-US" dirty="0" smtClean="0"/>
              <a:t>In recent </a:t>
            </a:r>
            <a:r>
              <a:rPr lang="en-US" dirty="0" err="1" smtClean="0"/>
              <a:t>times,by</a:t>
            </a:r>
            <a:r>
              <a:rPr lang="en-US" dirty="0" smtClean="0"/>
              <a:t> Prioritizing </a:t>
            </a:r>
            <a:r>
              <a:rPr lang="en-US" dirty="0"/>
              <a:t>sleek layout, intuitive interfaces, and non-stop innovation, Apple has cemented its status as an impressive entity inside the technological panorama.</a:t>
            </a:r>
          </a:p>
          <a:p>
            <a:pPr marL="0" indent="0">
              <a:buNone/>
            </a:pPr>
            <a:endParaRPr lang="en-US" dirty="0"/>
          </a:p>
        </p:txBody>
      </p:sp>
      <p:pic>
        <p:nvPicPr>
          <p:cNvPr id="5"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343386" y="2603500"/>
            <a:ext cx="4555066" cy="3416300"/>
          </a:xfrm>
        </p:spPr>
      </p:pic>
    </p:spTree>
    <p:extLst>
      <p:ext uri="{BB962C8B-B14F-4D97-AF65-F5344CB8AC3E}">
        <p14:creationId xmlns:p14="http://schemas.microsoft.com/office/powerpoint/2010/main" val="68865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Apple uses AI</a:t>
            </a:r>
            <a:r>
              <a:rPr lang="en-US" dirty="0" smtClean="0">
                <a:latin typeface="Bahnschrift" panose="020B0502040204020203" pitchFamily="34" charset="0"/>
              </a:rPr>
              <a:t>?</a:t>
            </a:r>
            <a:endParaRPr lang="en-US" dirty="0"/>
          </a:p>
        </p:txBody>
      </p:sp>
      <p:pic>
        <p:nvPicPr>
          <p:cNvPr id="5" name="Content Placeholder 4"/>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155700" y="2498500"/>
            <a:ext cx="4824413" cy="3258355"/>
          </a:xfrm>
        </p:spPr>
      </p:pic>
      <p:sp>
        <p:nvSpPr>
          <p:cNvPr id="4" name="Content Placeholder 3"/>
          <p:cNvSpPr>
            <a:spLocks noGrp="1"/>
          </p:cNvSpPr>
          <p:nvPr>
            <p:ph sz="half" idx="2"/>
          </p:nvPr>
        </p:nvSpPr>
        <p:spPr/>
        <p:txBody>
          <a:bodyPr/>
          <a:lstStyle/>
          <a:p>
            <a:pPr marL="0" indent="0">
              <a:buNone/>
            </a:pPr>
            <a:r>
              <a:rPr lang="en-US" dirty="0"/>
              <a:t>Apple's Integration of Artificial Intelligence: Apple Inc. Exhibits a steadfast determination to augmenting user studies and device</a:t>
            </a:r>
            <a:r>
              <a:rPr lang="en-US" b="1" dirty="0"/>
              <a:t> </a:t>
            </a:r>
            <a:r>
              <a:rPr lang="en-US" dirty="0"/>
              <a:t>functionality, underscored by way of its persistent funding in artificial intelligence (AI) research and </a:t>
            </a:r>
            <a:r>
              <a:rPr lang="en-US" dirty="0" smtClean="0"/>
              <a:t>development.</a:t>
            </a:r>
            <a:endParaRPr lang="en-US" dirty="0"/>
          </a:p>
        </p:txBody>
      </p:sp>
    </p:spTree>
    <p:extLst>
      <p:ext uri="{BB962C8B-B14F-4D97-AF65-F5344CB8AC3E}">
        <p14:creationId xmlns:p14="http://schemas.microsoft.com/office/powerpoint/2010/main" val="1494412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t>AI integration in Apple enterprise version</a:t>
            </a:r>
            <a:endParaRPr lang="en-US" sz="1800"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err="1" smtClean="0"/>
              <a:t>Siri</a:t>
            </a:r>
            <a:r>
              <a:rPr lang="en-US" b="1" dirty="0" err="1"/>
              <a:t>:</a:t>
            </a:r>
            <a:r>
              <a:rPr lang="en-US" b="1" dirty="0" err="1" smtClean="0"/>
              <a:t>AI-Powered</a:t>
            </a:r>
            <a:r>
              <a:rPr lang="en-US" b="1" dirty="0" smtClean="0"/>
              <a:t> </a:t>
            </a:r>
            <a:r>
              <a:rPr lang="en-US" b="1" dirty="0"/>
              <a:t>Virtual </a:t>
            </a:r>
            <a:r>
              <a:rPr lang="en-US" b="1" dirty="0" smtClean="0"/>
              <a:t>Assistant</a:t>
            </a:r>
          </a:p>
          <a:p>
            <a:pPr>
              <a:buFont typeface="Wingdings" panose="05000000000000000000" pitchFamily="2" charset="2"/>
              <a:buChar char="Ø"/>
            </a:pPr>
            <a:r>
              <a:rPr lang="en-US" b="1" dirty="0"/>
              <a:t>Machine Learning in </a:t>
            </a:r>
            <a:r>
              <a:rPr lang="en-US" b="1" dirty="0" smtClean="0"/>
              <a:t>Apps</a:t>
            </a:r>
          </a:p>
          <a:p>
            <a:pPr>
              <a:buFont typeface="Wingdings" panose="05000000000000000000" pitchFamily="2" charset="2"/>
              <a:buChar char="Ø"/>
            </a:pPr>
            <a:r>
              <a:rPr lang="en-US" b="1" dirty="0"/>
              <a:t>Predictive Text and </a:t>
            </a:r>
            <a:r>
              <a:rPr lang="en-US" b="1" dirty="0" smtClean="0"/>
              <a:t>Keyboard</a:t>
            </a:r>
          </a:p>
          <a:p>
            <a:pPr>
              <a:buFont typeface="Wingdings" panose="05000000000000000000" pitchFamily="2" charset="2"/>
              <a:buChar char="Ø"/>
            </a:pPr>
            <a:r>
              <a:rPr lang="en-US" b="1" dirty="0"/>
              <a:t>Health and Fitness </a:t>
            </a:r>
            <a:r>
              <a:rPr lang="en-US" b="1" dirty="0" smtClean="0"/>
              <a:t>Tracking</a:t>
            </a:r>
          </a:p>
          <a:p>
            <a:pPr>
              <a:buFont typeface="Wingdings" panose="05000000000000000000" pitchFamily="2" charset="2"/>
              <a:buChar char="Ø"/>
            </a:pPr>
            <a:r>
              <a:rPr lang="en-US" b="1" dirty="0"/>
              <a:t>Optimization and Battery </a:t>
            </a:r>
            <a:r>
              <a:rPr lang="en-US" b="1" dirty="0" smtClean="0"/>
              <a:t>Management</a:t>
            </a:r>
          </a:p>
          <a:p>
            <a:pPr>
              <a:buFont typeface="Wingdings" panose="05000000000000000000" pitchFamily="2" charset="2"/>
              <a:buChar char="Ø"/>
            </a:pPr>
            <a:r>
              <a:rPr lang="en-US" b="1" dirty="0"/>
              <a:t>Recommendation </a:t>
            </a:r>
            <a:r>
              <a:rPr lang="en-US" b="1" dirty="0" smtClean="0"/>
              <a:t>Engines</a:t>
            </a:r>
          </a:p>
          <a:p>
            <a:pPr>
              <a:buFont typeface="Wingdings" panose="05000000000000000000" pitchFamily="2" charset="2"/>
              <a:buChar char="Ø"/>
            </a:pPr>
            <a:r>
              <a:rPr lang="en-US" b="1" dirty="0"/>
              <a:t>Face ID and </a:t>
            </a:r>
            <a:r>
              <a:rPr lang="en-US" b="1" dirty="0" smtClean="0"/>
              <a:t>Biometrics</a:t>
            </a:r>
          </a:p>
          <a:p>
            <a:pPr>
              <a:buFont typeface="Wingdings" panose="05000000000000000000" pitchFamily="2" charset="2"/>
              <a:buChar char="Ø"/>
            </a:pPr>
            <a:endParaRPr lang="en-US" dirty="0" smtClean="0"/>
          </a:p>
          <a:p>
            <a:pPr>
              <a:buFont typeface="Wingdings" panose="05000000000000000000" pitchFamily="2" charset="2"/>
              <a:buChar char="Ø"/>
            </a:pPr>
            <a:endParaRPr lang="en-US" dirty="0"/>
          </a:p>
        </p:txBody>
      </p:sp>
      <p:sp>
        <p:nvSpPr>
          <p:cNvPr id="4" name="Text Placeholder 3"/>
          <p:cNvSpPr>
            <a:spLocks noGrp="1"/>
          </p:cNvSpPr>
          <p:nvPr>
            <p:ph type="body" sz="half" idx="2"/>
          </p:nvPr>
        </p:nvSpPr>
        <p:spPr/>
        <p:txBody>
          <a:bodyPr>
            <a:normAutofit/>
          </a:bodyPr>
          <a:lstStyle/>
          <a:p>
            <a:r>
              <a:rPr lang="en-US" sz="1800" dirty="0" smtClean="0"/>
              <a:t>Apple integrates Ai with their various  innovations and </a:t>
            </a:r>
            <a:r>
              <a:rPr lang="en-US" sz="1800" dirty="0" err="1" smtClean="0"/>
              <a:t>teachnologies</a:t>
            </a:r>
            <a:r>
              <a:rPr lang="en-US" sz="1800" dirty="0" smtClean="0"/>
              <a:t>.</a:t>
            </a:r>
            <a:endParaRPr lang="en-US" sz="1800" dirty="0"/>
          </a:p>
        </p:txBody>
      </p:sp>
    </p:spTree>
    <p:extLst>
      <p:ext uri="{BB962C8B-B14F-4D97-AF65-F5344CB8AC3E}">
        <p14:creationId xmlns:p14="http://schemas.microsoft.com/office/powerpoint/2010/main" val="3537710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integrated technologies of Apple</a:t>
            </a:r>
            <a:endParaRPr lang="en-US" dirty="0"/>
          </a:p>
        </p:txBody>
      </p:sp>
      <p:sp>
        <p:nvSpPr>
          <p:cNvPr id="3" name="Text Placeholder 2"/>
          <p:cNvSpPr>
            <a:spLocks noGrp="1"/>
          </p:cNvSpPr>
          <p:nvPr>
            <p:ph type="body" idx="1"/>
          </p:nvPr>
        </p:nvSpPr>
        <p:spPr/>
        <p:txBody>
          <a:bodyPr/>
          <a:lstStyle/>
          <a:p>
            <a:r>
              <a:rPr lang="en-US" dirty="0" err="1" smtClean="0"/>
              <a:t>Siri</a:t>
            </a:r>
            <a:endParaRPr lang="en-US" dirty="0"/>
          </a:p>
        </p:txBody>
      </p:sp>
      <p:pic>
        <p:nvPicPr>
          <p:cNvPr id="12" name="Picture Placeholder 11"/>
          <p:cNvPicPr>
            <a:picLocks noGrp="1" noChangeAspect="1"/>
          </p:cNvPicPr>
          <p:nvPr>
            <p:ph type="pic" idx="15"/>
          </p:nvPr>
        </p:nvPicPr>
        <p:blipFill>
          <a:blip r:embed="rId2">
            <a:extLst>
              <a:ext uri="{28A0092B-C50C-407E-A947-70E740481C1C}">
                <a14:useLocalDpi xmlns:a14="http://schemas.microsoft.com/office/drawing/2010/main" val="0"/>
              </a:ext>
            </a:extLst>
          </a:blip>
          <a:srcRect l="2471" r="2471"/>
          <a:stretch>
            <a:fillRect/>
          </a:stretch>
        </p:blipFill>
        <p:spPr/>
      </p:pic>
      <p:sp>
        <p:nvSpPr>
          <p:cNvPr id="5" name="Text Placeholder 4"/>
          <p:cNvSpPr>
            <a:spLocks noGrp="1"/>
          </p:cNvSpPr>
          <p:nvPr>
            <p:ph type="body" sz="half" idx="18"/>
          </p:nvPr>
        </p:nvSpPr>
        <p:spPr/>
        <p:txBody>
          <a:bodyPr>
            <a:normAutofit lnSpcReduction="10000"/>
          </a:bodyPr>
          <a:lstStyle/>
          <a:p>
            <a:r>
              <a:rPr lang="en-US" dirty="0"/>
              <a:t>AI-powered digital assistant that helps user interaction with devices thru natural language processing</a:t>
            </a:r>
          </a:p>
        </p:txBody>
      </p:sp>
      <p:sp>
        <p:nvSpPr>
          <p:cNvPr id="6" name="Text Placeholder 5"/>
          <p:cNvSpPr>
            <a:spLocks noGrp="1"/>
          </p:cNvSpPr>
          <p:nvPr>
            <p:ph type="body" sz="quarter" idx="3"/>
          </p:nvPr>
        </p:nvSpPr>
        <p:spPr/>
        <p:txBody>
          <a:bodyPr/>
          <a:lstStyle/>
          <a:p>
            <a:r>
              <a:rPr lang="en-US" dirty="0" smtClean="0"/>
              <a:t>Machine learning</a:t>
            </a:r>
            <a:endParaRPr lang="en-US" dirty="0"/>
          </a:p>
        </p:txBody>
      </p:sp>
      <p:pic>
        <p:nvPicPr>
          <p:cNvPr id="13" name="Picture Placeholder 12"/>
          <p:cNvPicPr>
            <a:picLocks noGrp="1" noChangeAspect="1"/>
          </p:cNvPicPr>
          <p:nvPr>
            <p:ph type="pic" idx="21"/>
          </p:nvPr>
        </p:nvPicPr>
        <p:blipFill>
          <a:blip r:embed="rId3" cstate="print">
            <a:extLst>
              <a:ext uri="{28A0092B-C50C-407E-A947-70E740481C1C}">
                <a14:useLocalDpi xmlns:a14="http://schemas.microsoft.com/office/drawing/2010/main" val="0"/>
              </a:ext>
            </a:extLst>
          </a:blip>
          <a:srcRect t="8187" b="8187"/>
          <a:stretch>
            <a:fillRect/>
          </a:stretch>
        </p:blipFill>
        <p:spPr/>
      </p:pic>
      <p:sp>
        <p:nvSpPr>
          <p:cNvPr id="8" name="Text Placeholder 7"/>
          <p:cNvSpPr>
            <a:spLocks noGrp="1"/>
          </p:cNvSpPr>
          <p:nvPr>
            <p:ph type="body" sz="half" idx="19"/>
          </p:nvPr>
        </p:nvSpPr>
        <p:spPr/>
        <p:txBody>
          <a:bodyPr>
            <a:normAutofit fontScale="92500" lnSpcReduction="20000"/>
          </a:bodyPr>
          <a:lstStyle/>
          <a:p>
            <a:r>
              <a:rPr lang="en-US" dirty="0"/>
              <a:t>Integration of Machine Learning in </a:t>
            </a:r>
            <a:r>
              <a:rPr lang="en-US" dirty="0" smtClean="0"/>
              <a:t>Applications</a:t>
            </a:r>
            <a:r>
              <a:rPr lang="en-US" dirty="0"/>
              <a:t> </a:t>
            </a:r>
            <a:r>
              <a:rPr lang="en-US" dirty="0" smtClean="0"/>
              <a:t>such as </a:t>
            </a:r>
            <a:r>
              <a:rPr lang="en-US" dirty="0"/>
              <a:t>categorize snap shots, perform facial recognition, and propose enhancements to snap shots.</a:t>
            </a:r>
          </a:p>
        </p:txBody>
      </p:sp>
      <p:sp>
        <p:nvSpPr>
          <p:cNvPr id="9" name="Text Placeholder 8"/>
          <p:cNvSpPr>
            <a:spLocks noGrp="1"/>
          </p:cNvSpPr>
          <p:nvPr>
            <p:ph type="body" sz="quarter" idx="13"/>
          </p:nvPr>
        </p:nvSpPr>
        <p:spPr/>
        <p:txBody>
          <a:bodyPr/>
          <a:lstStyle/>
          <a:p>
            <a:r>
              <a:rPr lang="en-US" sz="1600" b="1" dirty="0"/>
              <a:t>Predictive Text and Keyboard</a:t>
            </a:r>
            <a:endParaRPr lang="en-US" sz="1600" dirty="0"/>
          </a:p>
        </p:txBody>
      </p:sp>
      <p:pic>
        <p:nvPicPr>
          <p:cNvPr id="14" name="Picture Placeholder 13"/>
          <p:cNvPicPr>
            <a:picLocks noGrp="1" noChangeAspect="1"/>
          </p:cNvPicPr>
          <p:nvPr>
            <p:ph type="pic" idx="22"/>
          </p:nvPr>
        </p:nvPicPr>
        <p:blipFill>
          <a:blip r:embed="rId4">
            <a:extLst>
              <a:ext uri="{28A0092B-C50C-407E-A947-70E740481C1C}">
                <a14:useLocalDpi xmlns:a14="http://schemas.microsoft.com/office/drawing/2010/main" val="0"/>
              </a:ext>
            </a:extLst>
          </a:blip>
          <a:srcRect t="5584" b="5584"/>
          <a:stretch>
            <a:fillRect/>
          </a:stretch>
        </p:blipFill>
        <p:spPr/>
      </p:pic>
      <p:sp>
        <p:nvSpPr>
          <p:cNvPr id="11" name="Text Placeholder 10"/>
          <p:cNvSpPr>
            <a:spLocks noGrp="1"/>
          </p:cNvSpPr>
          <p:nvPr>
            <p:ph type="body" sz="half" idx="20"/>
          </p:nvPr>
        </p:nvSpPr>
        <p:spPr/>
        <p:txBody>
          <a:bodyPr>
            <a:normAutofit fontScale="77500" lnSpcReduction="20000"/>
          </a:bodyPr>
          <a:lstStyle/>
          <a:p>
            <a:r>
              <a:rPr lang="en-US" dirty="0"/>
              <a:t>This innovation is powered by way of machine getting to know algorithms that adapt to individual typing patterns, showcasing Apple's dedication to enhancing consumer interplay with their devices</a:t>
            </a:r>
            <a:r>
              <a:rPr lang="en-US" b="1" dirty="0"/>
              <a:t>.</a:t>
            </a:r>
            <a:endParaRPr lang="en-US" dirty="0"/>
          </a:p>
          <a:p>
            <a:endParaRPr lang="en-US" dirty="0"/>
          </a:p>
        </p:txBody>
      </p:sp>
    </p:spTree>
    <p:extLst>
      <p:ext uri="{BB962C8B-B14F-4D97-AF65-F5344CB8AC3E}">
        <p14:creationId xmlns:p14="http://schemas.microsoft.com/office/powerpoint/2010/main" val="803543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integrated technologies of Apple</a:t>
            </a:r>
          </a:p>
        </p:txBody>
      </p:sp>
      <p:sp>
        <p:nvSpPr>
          <p:cNvPr id="3" name="Text Placeholder 2"/>
          <p:cNvSpPr>
            <a:spLocks noGrp="1"/>
          </p:cNvSpPr>
          <p:nvPr>
            <p:ph type="body" idx="1"/>
          </p:nvPr>
        </p:nvSpPr>
        <p:spPr/>
        <p:txBody>
          <a:bodyPr/>
          <a:lstStyle/>
          <a:p>
            <a:r>
              <a:rPr lang="en-US" sz="2000" dirty="0" smtClean="0"/>
              <a:t>Face id and biometrics</a:t>
            </a:r>
            <a:endParaRPr lang="en-US" sz="2000" dirty="0"/>
          </a:p>
        </p:txBody>
      </p:sp>
      <p:pic>
        <p:nvPicPr>
          <p:cNvPr id="12" name="Picture Placeholder 11"/>
          <p:cNvPicPr>
            <a:picLocks noGrp="1" noChangeAspect="1"/>
          </p:cNvPicPr>
          <p:nvPr>
            <p:ph type="pic" idx="15"/>
          </p:nvPr>
        </p:nvPicPr>
        <p:blipFill>
          <a:blip r:embed="rId2" cstate="print">
            <a:extLst>
              <a:ext uri="{28A0092B-C50C-407E-A947-70E740481C1C}">
                <a14:useLocalDpi xmlns:a14="http://schemas.microsoft.com/office/drawing/2010/main" val="0"/>
              </a:ext>
            </a:extLst>
          </a:blip>
          <a:srcRect l="1555" r="1555"/>
          <a:stretch>
            <a:fillRect/>
          </a:stretch>
        </p:blipFill>
        <p:spPr/>
      </p:pic>
      <p:sp>
        <p:nvSpPr>
          <p:cNvPr id="5" name="Text Placeholder 4"/>
          <p:cNvSpPr>
            <a:spLocks noGrp="1"/>
          </p:cNvSpPr>
          <p:nvPr>
            <p:ph type="body" sz="half" idx="18"/>
          </p:nvPr>
        </p:nvSpPr>
        <p:spPr/>
        <p:txBody>
          <a:bodyPr>
            <a:normAutofit fontScale="92500"/>
          </a:bodyPr>
          <a:lstStyle/>
          <a:p>
            <a:r>
              <a:rPr lang="en-US" dirty="0"/>
              <a:t>These complicated AI fashions are indispensable to the device, enhancing both the safety and the consumer enjoy of Apple gadgets.</a:t>
            </a:r>
          </a:p>
          <a:p>
            <a:endParaRPr lang="en-US" dirty="0"/>
          </a:p>
        </p:txBody>
      </p:sp>
      <p:sp>
        <p:nvSpPr>
          <p:cNvPr id="6" name="Text Placeholder 5"/>
          <p:cNvSpPr>
            <a:spLocks noGrp="1"/>
          </p:cNvSpPr>
          <p:nvPr>
            <p:ph type="body" sz="quarter" idx="3"/>
          </p:nvPr>
        </p:nvSpPr>
        <p:spPr/>
        <p:txBody>
          <a:bodyPr/>
          <a:lstStyle/>
          <a:p>
            <a:r>
              <a:rPr lang="en-US" sz="2000" dirty="0" smtClean="0"/>
              <a:t>Recommendation engines</a:t>
            </a:r>
            <a:endParaRPr lang="en-US" sz="2000" dirty="0"/>
          </a:p>
        </p:txBody>
      </p:sp>
      <p:pic>
        <p:nvPicPr>
          <p:cNvPr id="13" name="Picture Placeholder 12"/>
          <p:cNvPicPr>
            <a:picLocks noGrp="1" noChangeAspect="1"/>
          </p:cNvPicPr>
          <p:nvPr>
            <p:ph type="pic" idx="21"/>
          </p:nvPr>
        </p:nvPicPr>
        <p:blipFill>
          <a:blip r:embed="rId3" cstate="print">
            <a:extLst>
              <a:ext uri="{28A0092B-C50C-407E-A947-70E740481C1C}">
                <a14:useLocalDpi xmlns:a14="http://schemas.microsoft.com/office/drawing/2010/main" val="0"/>
              </a:ext>
            </a:extLst>
          </a:blip>
          <a:srcRect t="5642" b="5642"/>
          <a:stretch>
            <a:fillRect/>
          </a:stretch>
        </p:blipFill>
        <p:spPr/>
      </p:pic>
      <p:sp>
        <p:nvSpPr>
          <p:cNvPr id="8" name="Text Placeholder 7"/>
          <p:cNvSpPr>
            <a:spLocks noGrp="1"/>
          </p:cNvSpPr>
          <p:nvPr>
            <p:ph type="body" sz="half" idx="19"/>
          </p:nvPr>
        </p:nvSpPr>
        <p:spPr/>
        <p:txBody>
          <a:bodyPr>
            <a:normAutofit fontScale="77500" lnSpcReduction="20000"/>
          </a:bodyPr>
          <a:lstStyle/>
          <a:p>
            <a:r>
              <a:rPr lang="en-US" dirty="0"/>
              <a:t>These AI-primarily based structures analyze consumer preferences and behavioral patterns to curate tailored content guidelines throughout diverse Apple offerings, together with Apple Music, App Store, and Apple News.</a:t>
            </a:r>
          </a:p>
        </p:txBody>
      </p:sp>
      <p:sp>
        <p:nvSpPr>
          <p:cNvPr id="9" name="Text Placeholder 8"/>
          <p:cNvSpPr>
            <a:spLocks noGrp="1"/>
          </p:cNvSpPr>
          <p:nvPr>
            <p:ph type="body" sz="quarter" idx="13"/>
          </p:nvPr>
        </p:nvSpPr>
        <p:spPr/>
        <p:txBody>
          <a:bodyPr/>
          <a:lstStyle/>
          <a:p>
            <a:r>
              <a:rPr lang="en-US" sz="1800" dirty="0" smtClean="0"/>
              <a:t>Health tracking and fitness</a:t>
            </a:r>
            <a:endParaRPr lang="en-US" sz="1800" dirty="0"/>
          </a:p>
        </p:txBody>
      </p:sp>
      <p:pic>
        <p:nvPicPr>
          <p:cNvPr id="14" name="Picture Placeholder 13"/>
          <p:cNvPicPr>
            <a:picLocks noGrp="1" noChangeAspect="1"/>
          </p:cNvPicPr>
          <p:nvPr>
            <p:ph type="pic" idx="22"/>
          </p:nvPr>
        </p:nvPicPr>
        <p:blipFill>
          <a:blip r:embed="rId4" cstate="print">
            <a:extLst>
              <a:ext uri="{28A0092B-C50C-407E-A947-70E740481C1C}">
                <a14:useLocalDpi xmlns:a14="http://schemas.microsoft.com/office/drawing/2010/main" val="0"/>
              </a:ext>
            </a:extLst>
          </a:blip>
          <a:srcRect t="5619" b="5619"/>
          <a:stretch>
            <a:fillRect/>
          </a:stretch>
        </p:blipFill>
        <p:spPr/>
      </p:pic>
      <p:sp>
        <p:nvSpPr>
          <p:cNvPr id="11" name="Text Placeholder 10"/>
          <p:cNvSpPr>
            <a:spLocks noGrp="1"/>
          </p:cNvSpPr>
          <p:nvPr>
            <p:ph type="body" sz="half" idx="20"/>
          </p:nvPr>
        </p:nvSpPr>
        <p:spPr/>
        <p:txBody>
          <a:bodyPr/>
          <a:lstStyle/>
          <a:p>
            <a:r>
              <a:rPr lang="en-US" dirty="0"/>
              <a:t>Apple Watch and Health app for meticulous monitoring of health and health metrics. </a:t>
            </a:r>
          </a:p>
        </p:txBody>
      </p:sp>
    </p:spTree>
    <p:extLst>
      <p:ext uri="{BB962C8B-B14F-4D97-AF65-F5344CB8AC3E}">
        <p14:creationId xmlns:p14="http://schemas.microsoft.com/office/powerpoint/2010/main" val="327637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Attention to detail</a:t>
            </a:r>
            <a:endParaRPr lang="en-US" dirty="0"/>
          </a:p>
        </p:txBody>
      </p:sp>
      <p:sp>
        <p:nvSpPr>
          <p:cNvPr id="4" name="Text Placeholder 3"/>
          <p:cNvSpPr>
            <a:spLocks noGrp="1"/>
          </p:cNvSpPr>
          <p:nvPr>
            <p:ph type="body" sz="half" idx="2"/>
          </p:nvPr>
        </p:nvSpPr>
        <p:spPr/>
        <p:txBody>
          <a:bodyPr/>
          <a:lstStyle/>
          <a:p>
            <a:r>
              <a:rPr lang="en-US" dirty="0" smtClean="0"/>
              <a:t>This figure elaborates how much apple company focuses on the minor details.</a:t>
            </a:r>
            <a:endParaRPr lang="en-US" dirty="0"/>
          </a:p>
        </p:txBody>
      </p:sp>
      <p:pic>
        <p:nvPicPr>
          <p:cNvPr id="5" name="Content Placeholder 4"/>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6647900" y="1447800"/>
            <a:ext cx="3457088" cy="4572000"/>
          </a:xfrm>
          <a:prstGeom prst="rect">
            <a:avLst/>
          </a:prstGeom>
        </p:spPr>
      </p:pic>
    </p:spTree>
    <p:extLst>
      <p:ext uri="{BB962C8B-B14F-4D97-AF65-F5344CB8AC3E}">
        <p14:creationId xmlns:p14="http://schemas.microsoft.com/office/powerpoint/2010/main" val="511996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Use of AI by Apple for customer satisfaction</a:t>
            </a:r>
            <a:endParaRPr lang="en-US" sz="3200" dirty="0"/>
          </a:p>
        </p:txBody>
      </p:sp>
      <p:sp>
        <p:nvSpPr>
          <p:cNvPr id="3" name="Content Placeholder 2"/>
          <p:cNvSpPr>
            <a:spLocks noGrp="1"/>
          </p:cNvSpPr>
          <p:nvPr>
            <p:ph idx="1"/>
          </p:nvPr>
        </p:nvSpPr>
        <p:spPr/>
        <p:txBody>
          <a:bodyPr/>
          <a:lstStyle/>
          <a:p>
            <a:pPr marL="0" indent="0">
              <a:buNone/>
            </a:pPr>
            <a:r>
              <a:rPr lang="en-US" dirty="0"/>
              <a:t>Apple has used CRM to construct and hold relationships with its customers. Sending a sequence of emails to clients who have visited Apple stores is considered one of Apple’s fundamental advertising and marketing techniques; though, the cause of those emails isn't to promote it new products.</a:t>
            </a:r>
          </a:p>
        </p:txBody>
      </p:sp>
    </p:spTree>
    <p:extLst>
      <p:ext uri="{BB962C8B-B14F-4D97-AF65-F5344CB8AC3E}">
        <p14:creationId xmlns:p14="http://schemas.microsoft.com/office/powerpoint/2010/main" val="5980343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Apple strategic polices for customers</a:t>
            </a:r>
            <a:endParaRPr lang="en-US" dirty="0"/>
          </a:p>
        </p:txBody>
      </p:sp>
      <p:sp>
        <p:nvSpPr>
          <p:cNvPr id="3" name="Text Placeholder 2"/>
          <p:cNvSpPr>
            <a:spLocks noGrp="1"/>
          </p:cNvSpPr>
          <p:nvPr>
            <p:ph type="body" idx="1"/>
          </p:nvPr>
        </p:nvSpPr>
        <p:spPr/>
        <p:txBody>
          <a:bodyPr/>
          <a:lstStyle/>
          <a:p>
            <a:endParaRPr lang="en-US" dirty="0"/>
          </a:p>
          <a:p>
            <a:r>
              <a:rPr lang="en-US" sz="1800" dirty="0" smtClean="0"/>
              <a:t>Customer acquisition</a:t>
            </a:r>
            <a:endParaRPr lang="en-US" sz="1800" dirty="0"/>
          </a:p>
        </p:txBody>
      </p:sp>
      <p:sp>
        <p:nvSpPr>
          <p:cNvPr id="4" name="Text Placeholder 3"/>
          <p:cNvSpPr>
            <a:spLocks noGrp="1"/>
          </p:cNvSpPr>
          <p:nvPr>
            <p:ph type="body" sz="half" idx="15"/>
          </p:nvPr>
        </p:nvSpPr>
        <p:spPr/>
        <p:txBody>
          <a:bodyPr/>
          <a:lstStyle/>
          <a:p>
            <a:r>
              <a:rPr lang="en-US" dirty="0"/>
              <a:t>Well-known shows an in-intensity know-how of its consumer base, correctly making use of its Customer Relationship Management (CRM) </a:t>
            </a:r>
            <a:r>
              <a:rPr lang="en-US" dirty="0" smtClean="0"/>
              <a:t>gadget</a:t>
            </a:r>
            <a:r>
              <a:rPr lang="en-US" dirty="0"/>
              <a:t> </a:t>
            </a:r>
            <a:r>
              <a:rPr lang="en-US" dirty="0" smtClean="0"/>
              <a:t>which </a:t>
            </a:r>
            <a:r>
              <a:rPr lang="en-US" dirty="0"/>
              <a:t>robotically collects facts when clients sign in for an Apple ID, allowing Apple to provide instructional and enlightening content material about the advantages in their merchandise. </a:t>
            </a:r>
          </a:p>
        </p:txBody>
      </p:sp>
      <p:sp>
        <p:nvSpPr>
          <p:cNvPr id="5" name="Text Placeholder 4"/>
          <p:cNvSpPr>
            <a:spLocks noGrp="1"/>
          </p:cNvSpPr>
          <p:nvPr>
            <p:ph type="body" sz="quarter" idx="3"/>
          </p:nvPr>
        </p:nvSpPr>
        <p:spPr/>
        <p:txBody>
          <a:bodyPr/>
          <a:lstStyle/>
          <a:p>
            <a:r>
              <a:rPr lang="en-US" sz="1800" dirty="0" smtClean="0"/>
              <a:t>Customer experience</a:t>
            </a:r>
            <a:endParaRPr lang="en-US" sz="1800" dirty="0"/>
          </a:p>
        </p:txBody>
      </p:sp>
      <p:sp>
        <p:nvSpPr>
          <p:cNvPr id="6" name="Text Placeholder 5"/>
          <p:cNvSpPr>
            <a:spLocks noGrp="1"/>
          </p:cNvSpPr>
          <p:nvPr>
            <p:ph type="body" sz="half" idx="16"/>
          </p:nvPr>
        </p:nvSpPr>
        <p:spPr/>
        <p:txBody>
          <a:bodyPr/>
          <a:lstStyle/>
          <a:p>
            <a:r>
              <a:rPr lang="en-US" dirty="0"/>
              <a:t>Unlike conventional sales techniques, Apple stores awareness on encouraging clients to realize the value and blessings of merchandise along with iPhones, iPads, and Apple Watches, thereby adding extra intensity to the shopping experience.</a:t>
            </a:r>
          </a:p>
        </p:txBody>
      </p:sp>
      <p:sp>
        <p:nvSpPr>
          <p:cNvPr id="7" name="Text Placeholder 6"/>
          <p:cNvSpPr>
            <a:spLocks noGrp="1"/>
          </p:cNvSpPr>
          <p:nvPr>
            <p:ph type="body" sz="quarter" idx="13"/>
          </p:nvPr>
        </p:nvSpPr>
        <p:spPr/>
        <p:txBody>
          <a:bodyPr/>
          <a:lstStyle/>
          <a:p>
            <a:r>
              <a:rPr lang="en-US" sz="1800" dirty="0" smtClean="0"/>
              <a:t>Digital marketing</a:t>
            </a:r>
            <a:endParaRPr lang="en-US" sz="1800" dirty="0"/>
          </a:p>
        </p:txBody>
      </p:sp>
      <p:sp>
        <p:nvSpPr>
          <p:cNvPr id="8" name="Text Placeholder 7"/>
          <p:cNvSpPr>
            <a:spLocks noGrp="1"/>
          </p:cNvSpPr>
          <p:nvPr>
            <p:ph type="body" sz="half" idx="17"/>
          </p:nvPr>
        </p:nvSpPr>
        <p:spPr/>
        <p:txBody>
          <a:bodyPr/>
          <a:lstStyle/>
          <a:p>
            <a:r>
              <a:rPr lang="en-US" dirty="0"/>
              <a:t>The employer actively engages with its target market on social media, responding to feedback and queries. This interplay demonstrates Apple's willpower to valuing customer feedback, thereby fostering customer loyalty. </a:t>
            </a:r>
          </a:p>
        </p:txBody>
      </p:sp>
    </p:spTree>
    <p:extLst>
      <p:ext uri="{BB962C8B-B14F-4D97-AF65-F5344CB8AC3E}">
        <p14:creationId xmlns:p14="http://schemas.microsoft.com/office/powerpoint/2010/main" val="2703482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Apple strategic polices for customers</a:t>
            </a:r>
          </a:p>
        </p:txBody>
      </p:sp>
      <p:sp>
        <p:nvSpPr>
          <p:cNvPr id="3" name="Content Placeholder 2"/>
          <p:cNvSpPr>
            <a:spLocks noGrp="1"/>
          </p:cNvSpPr>
          <p:nvPr>
            <p:ph sz="half" idx="1"/>
          </p:nvPr>
        </p:nvSpPr>
        <p:spPr/>
        <p:txBody>
          <a:bodyPr/>
          <a:lstStyle/>
          <a:p>
            <a:pPr marL="0" indent="0">
              <a:buNone/>
            </a:pPr>
            <a:r>
              <a:rPr lang="en-US" dirty="0" smtClean="0"/>
              <a:t>Online </a:t>
            </a:r>
            <a:r>
              <a:rPr lang="en-US" dirty="0" err="1" smtClean="0"/>
              <a:t>engagement:</a:t>
            </a:r>
            <a:r>
              <a:rPr lang="en-US" dirty="0" err="1"/>
              <a:t>Customers</a:t>
            </a:r>
            <a:r>
              <a:rPr lang="en-US" dirty="0"/>
              <a:t> visit the Apple website or retail stores without a doubt to discover products like iPhones, iPads, Macs, and greater. They can configure and personalize their favored devices</a:t>
            </a:r>
            <a:r>
              <a:rPr lang="en-US" dirty="0" smtClean="0"/>
              <a:t>.</a:t>
            </a:r>
          </a:p>
          <a:p>
            <a:r>
              <a:rPr lang="en-US" dirty="0" smtClean="0"/>
              <a:t>This figure illustrates how beneficial services offered by Apple are in terms </a:t>
            </a:r>
            <a:r>
              <a:rPr lang="en-US" smtClean="0"/>
              <a:t>of growth</a:t>
            </a:r>
            <a:endParaRPr lang="en-US" dirty="0"/>
          </a:p>
        </p:txBody>
      </p:sp>
      <p:pic>
        <p:nvPicPr>
          <p:cNvPr id="5" name="Content Placeholder 4" descr="Growth Strategy In Action: Apple Plants New Seeds"/>
          <p:cNvPicPr>
            <a:picLocks noGrp="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78828" y="2369713"/>
            <a:ext cx="5215943" cy="3650087"/>
          </a:xfrm>
          <a:prstGeom prst="rect">
            <a:avLst/>
          </a:prstGeom>
          <a:noFill/>
          <a:ln>
            <a:noFill/>
          </a:ln>
        </p:spPr>
      </p:pic>
    </p:spTree>
    <p:extLst>
      <p:ext uri="{BB962C8B-B14F-4D97-AF65-F5344CB8AC3E}">
        <p14:creationId xmlns:p14="http://schemas.microsoft.com/office/powerpoint/2010/main" val="1787755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Implementations of AI by Apple</a:t>
            </a:r>
            <a:endParaRPr lang="en-US" dirty="0"/>
          </a:p>
        </p:txBody>
      </p:sp>
      <p:sp>
        <p:nvSpPr>
          <p:cNvPr id="3" name="Text Placeholder 2"/>
          <p:cNvSpPr>
            <a:spLocks noGrp="1"/>
          </p:cNvSpPr>
          <p:nvPr>
            <p:ph type="body" sz="half" idx="2"/>
          </p:nvPr>
        </p:nvSpPr>
        <p:spPr>
          <a:xfrm>
            <a:off x="1154954" y="3214255"/>
            <a:ext cx="8825659" cy="3643746"/>
          </a:xfrm>
        </p:spPr>
        <p:txBody>
          <a:bodyPr>
            <a:normAutofit fontScale="32500" lnSpcReduction="20000"/>
          </a:bodyPr>
          <a:lstStyle/>
          <a:p>
            <a:pPr marL="1143000" lvl="0" indent="-1143000">
              <a:lnSpc>
                <a:spcPct val="120000"/>
              </a:lnSpc>
              <a:buFont typeface="Arial" panose="020B0604020202020204" pitchFamily="34" charset="0"/>
              <a:buChar char="•"/>
            </a:pPr>
            <a:r>
              <a:rPr lang="en-US" sz="8000" b="1" dirty="0">
                <a:latin typeface="Arial Rounded MT Bold" panose="020F0704030504030204" pitchFamily="34" charset="0"/>
              </a:rPr>
              <a:t>Siri and Natural Language </a:t>
            </a:r>
            <a:r>
              <a:rPr lang="en-US" sz="8000" b="1" dirty="0" smtClean="0">
                <a:latin typeface="Arial Rounded MT Bold" panose="020F0704030504030204" pitchFamily="34" charset="0"/>
              </a:rPr>
              <a:t>Processing</a:t>
            </a:r>
            <a:endParaRPr lang="en-US" sz="8000" dirty="0">
              <a:latin typeface="Arial Rounded MT Bold" panose="020F0704030504030204" pitchFamily="34" charset="0"/>
            </a:endParaRPr>
          </a:p>
          <a:p>
            <a:pPr marL="1143000" lvl="0" indent="-1143000">
              <a:lnSpc>
                <a:spcPct val="120000"/>
              </a:lnSpc>
              <a:buFont typeface="Arial" panose="020B0604020202020204" pitchFamily="34" charset="0"/>
              <a:buChar char="•"/>
            </a:pPr>
            <a:r>
              <a:rPr lang="en-US" sz="8000" b="1" dirty="0">
                <a:latin typeface="Arial Rounded MT Bold" panose="020F0704030504030204" pitchFamily="34" charset="0"/>
              </a:rPr>
              <a:t>Machine Learning in </a:t>
            </a:r>
            <a:r>
              <a:rPr lang="en-US" sz="8000" b="1" dirty="0" smtClean="0">
                <a:latin typeface="Arial Rounded MT Bold" panose="020F0704030504030204" pitchFamily="34" charset="0"/>
              </a:rPr>
              <a:t>Applications</a:t>
            </a:r>
            <a:endParaRPr lang="en-US" sz="8000" dirty="0">
              <a:latin typeface="Arial Rounded MT Bold" panose="020F0704030504030204" pitchFamily="34" charset="0"/>
            </a:endParaRPr>
          </a:p>
          <a:p>
            <a:pPr marL="1143000" lvl="0" indent="-1143000">
              <a:lnSpc>
                <a:spcPct val="120000"/>
              </a:lnSpc>
              <a:buFont typeface="Arial" panose="020B0604020202020204" pitchFamily="34" charset="0"/>
              <a:buChar char="•"/>
            </a:pPr>
            <a:r>
              <a:rPr lang="en-US" sz="8000" b="1" dirty="0">
                <a:latin typeface="Arial Rounded MT Bold" panose="020F0704030504030204" pitchFamily="34" charset="0"/>
              </a:rPr>
              <a:t>Facial Recognition (Face ID</a:t>
            </a:r>
            <a:r>
              <a:rPr lang="en-US" sz="8000" b="1" dirty="0" smtClean="0">
                <a:latin typeface="Arial Rounded MT Bold" panose="020F0704030504030204" pitchFamily="34" charset="0"/>
              </a:rPr>
              <a:t>)</a:t>
            </a:r>
            <a:endParaRPr lang="en-US" sz="8000" dirty="0">
              <a:latin typeface="Arial Rounded MT Bold" panose="020F0704030504030204" pitchFamily="34" charset="0"/>
            </a:endParaRPr>
          </a:p>
          <a:p>
            <a:pPr marL="1143000" lvl="0" indent="-1143000">
              <a:lnSpc>
                <a:spcPct val="120000"/>
              </a:lnSpc>
              <a:buFont typeface="Arial" panose="020B0604020202020204" pitchFamily="34" charset="0"/>
              <a:buChar char="•"/>
            </a:pPr>
            <a:r>
              <a:rPr lang="en-US" sz="8000" b="1" dirty="0">
                <a:latin typeface="Arial Rounded MT Bold" panose="020F0704030504030204" pitchFamily="34" charset="0"/>
              </a:rPr>
              <a:t>Predictive Text and </a:t>
            </a:r>
            <a:r>
              <a:rPr lang="en-US" sz="8000" b="1" dirty="0" smtClean="0">
                <a:latin typeface="Arial Rounded MT Bold" panose="020F0704030504030204" pitchFamily="34" charset="0"/>
              </a:rPr>
              <a:t>Keyboard</a:t>
            </a:r>
            <a:endParaRPr lang="en-US" sz="8000" dirty="0">
              <a:latin typeface="Arial Rounded MT Bold" panose="020F0704030504030204" pitchFamily="34" charset="0"/>
            </a:endParaRPr>
          </a:p>
          <a:p>
            <a:pPr marL="1143000" lvl="0" indent="-1143000">
              <a:lnSpc>
                <a:spcPct val="120000"/>
              </a:lnSpc>
              <a:buFont typeface="Arial" panose="020B0604020202020204" pitchFamily="34" charset="0"/>
              <a:buChar char="•"/>
            </a:pPr>
            <a:r>
              <a:rPr lang="en-US" sz="8000" b="1" dirty="0">
                <a:latin typeface="Arial Rounded MT Bold" panose="020F0704030504030204" pitchFamily="34" charset="0"/>
              </a:rPr>
              <a:t>Optimization and Battery </a:t>
            </a:r>
            <a:r>
              <a:rPr lang="en-US" sz="8000" b="1" dirty="0" smtClean="0">
                <a:latin typeface="Arial Rounded MT Bold" panose="020F0704030504030204" pitchFamily="34" charset="0"/>
              </a:rPr>
              <a:t>Management</a:t>
            </a:r>
          </a:p>
          <a:p>
            <a:pPr marL="1143000" lvl="0" indent="-1143000">
              <a:lnSpc>
                <a:spcPct val="120000"/>
              </a:lnSpc>
              <a:buFont typeface="Arial" panose="020B0604020202020204" pitchFamily="34" charset="0"/>
              <a:buChar char="•"/>
            </a:pPr>
            <a:r>
              <a:rPr lang="en-US" sz="8000" b="1" dirty="0" smtClean="0">
                <a:latin typeface="Arial Rounded MT Bold" panose="020F0704030504030204" pitchFamily="34" charset="0"/>
              </a:rPr>
              <a:t>Recommendation Engines</a:t>
            </a:r>
            <a:endParaRPr lang="en-US" sz="8000" dirty="0">
              <a:latin typeface="Arial Rounded MT Bold" panose="020F0704030504030204" pitchFamily="34" charset="0"/>
            </a:endParaRPr>
          </a:p>
          <a:p>
            <a:r>
              <a:rPr lang="en-US" b="1" dirty="0"/>
              <a:t> </a:t>
            </a:r>
            <a:endParaRPr lang="en-US" dirty="0"/>
          </a:p>
          <a:p>
            <a:r>
              <a:rPr lang="en-US" b="1" dirty="0"/>
              <a:t> </a:t>
            </a:r>
            <a:endParaRPr lang="en-US" dirty="0"/>
          </a:p>
        </p:txBody>
      </p:sp>
    </p:spTree>
    <p:extLst>
      <p:ext uri="{BB962C8B-B14F-4D97-AF65-F5344CB8AC3E}">
        <p14:creationId xmlns:p14="http://schemas.microsoft.com/office/powerpoint/2010/main" val="761123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Arial Rounded MT Bold" panose="020F0704030504030204" pitchFamily="34" charset="0"/>
              </a:rPr>
              <a:t>Impacts of Apple's Incorporation of AI</a:t>
            </a:r>
            <a:endParaRPr lang="en-US" sz="3600" dirty="0">
              <a:latin typeface="Arial Rounded MT Bold" panose="020F0704030504030204" pitchFamily="34" charset="0"/>
            </a:endParaRPr>
          </a:p>
        </p:txBody>
      </p:sp>
      <p:sp>
        <p:nvSpPr>
          <p:cNvPr id="3" name="Text Placeholder 2"/>
          <p:cNvSpPr>
            <a:spLocks noGrp="1"/>
          </p:cNvSpPr>
          <p:nvPr>
            <p:ph type="body" sz="half" idx="2"/>
          </p:nvPr>
        </p:nvSpPr>
        <p:spPr>
          <a:xfrm>
            <a:off x="845128" y="3131127"/>
            <a:ext cx="9135486" cy="3435928"/>
          </a:xfrm>
        </p:spPr>
        <p:txBody>
          <a:bodyPr>
            <a:normAutofit fontScale="92500" lnSpcReduction="10000"/>
          </a:bodyPr>
          <a:lstStyle/>
          <a:p>
            <a:pPr marL="285750" lvl="0" indent="-285750">
              <a:buFont typeface="Arial" panose="020B0604020202020204" pitchFamily="34" charset="0"/>
              <a:buChar char="•"/>
            </a:pPr>
            <a:r>
              <a:rPr lang="en-US" sz="3300" b="1" dirty="0" smtClean="0">
                <a:latin typeface="Arial Rounded MT Bold" panose="020F0704030504030204" pitchFamily="34" charset="0"/>
              </a:rPr>
              <a:t>  Enhanced </a:t>
            </a:r>
            <a:r>
              <a:rPr lang="en-US" sz="3300" b="1" dirty="0">
                <a:latin typeface="Arial Rounded MT Bold" panose="020F0704030504030204" pitchFamily="34" charset="0"/>
              </a:rPr>
              <a:t>User </a:t>
            </a:r>
            <a:r>
              <a:rPr lang="en-US" sz="3300" b="1" dirty="0" smtClean="0">
                <a:latin typeface="Arial Rounded MT Bold" panose="020F0704030504030204" pitchFamily="34" charset="0"/>
              </a:rPr>
              <a:t>Experience</a:t>
            </a:r>
            <a:endParaRPr lang="en-US" sz="3300" dirty="0">
              <a:latin typeface="Arial Rounded MT Bold" panose="020F0704030504030204" pitchFamily="34" charset="0"/>
            </a:endParaRPr>
          </a:p>
          <a:p>
            <a:pPr marL="285750" lvl="0" indent="-285750">
              <a:buFont typeface="Arial" panose="020B0604020202020204" pitchFamily="34" charset="0"/>
              <a:buChar char="•"/>
            </a:pPr>
            <a:r>
              <a:rPr lang="en-US" sz="3300" b="1" dirty="0" smtClean="0">
                <a:latin typeface="Arial Rounded MT Bold" panose="020F0704030504030204" pitchFamily="34" charset="0"/>
              </a:rPr>
              <a:t>  Innovative </a:t>
            </a:r>
            <a:r>
              <a:rPr lang="en-US" sz="3300" b="1" dirty="0">
                <a:latin typeface="Arial Rounded MT Bold" panose="020F0704030504030204" pitchFamily="34" charset="0"/>
              </a:rPr>
              <a:t>Product </a:t>
            </a:r>
            <a:r>
              <a:rPr lang="en-US" sz="3300" b="1" dirty="0" smtClean="0">
                <a:latin typeface="Arial Rounded MT Bold" panose="020F0704030504030204" pitchFamily="34" charset="0"/>
              </a:rPr>
              <a:t>Features</a:t>
            </a:r>
            <a:endParaRPr lang="en-US" sz="3300" dirty="0">
              <a:latin typeface="Arial Rounded MT Bold" panose="020F0704030504030204" pitchFamily="34" charset="0"/>
            </a:endParaRPr>
          </a:p>
          <a:p>
            <a:pPr marL="285750" lvl="0" indent="-285750">
              <a:buFont typeface="Arial" panose="020B0604020202020204" pitchFamily="34" charset="0"/>
              <a:buChar char="•"/>
            </a:pPr>
            <a:r>
              <a:rPr lang="en-US" sz="3300" b="1" dirty="0" smtClean="0">
                <a:latin typeface="Arial Rounded MT Bold" panose="020F0704030504030204" pitchFamily="34" charset="0"/>
              </a:rPr>
              <a:t>  Optimized </a:t>
            </a:r>
            <a:r>
              <a:rPr lang="en-US" sz="3300" b="1" dirty="0">
                <a:latin typeface="Arial Rounded MT Bold" panose="020F0704030504030204" pitchFamily="34" charset="0"/>
              </a:rPr>
              <a:t>Device </a:t>
            </a:r>
            <a:r>
              <a:rPr lang="en-US" sz="3300" b="1" dirty="0" smtClean="0">
                <a:latin typeface="Arial Rounded MT Bold" panose="020F0704030504030204" pitchFamily="34" charset="0"/>
              </a:rPr>
              <a:t>Performance</a:t>
            </a:r>
          </a:p>
          <a:p>
            <a:pPr marL="457200" lvl="0" indent="-457200">
              <a:buFont typeface="Arial" panose="020B0604020202020204" pitchFamily="34" charset="0"/>
              <a:buChar char="•"/>
            </a:pPr>
            <a:r>
              <a:rPr lang="en-US" sz="3300" b="1" dirty="0" smtClean="0">
                <a:latin typeface="Arial Rounded MT Bold" panose="020F0704030504030204" pitchFamily="34" charset="0"/>
              </a:rPr>
              <a:t>Personalized Recommendations </a:t>
            </a:r>
          </a:p>
          <a:p>
            <a:pPr marL="457200" lvl="0" indent="-457200">
              <a:buFont typeface="Arial" panose="020B0604020202020204" pitchFamily="34" charset="0"/>
              <a:buChar char="•"/>
            </a:pPr>
            <a:r>
              <a:rPr lang="en-US" sz="3300" b="1" dirty="0" smtClean="0">
                <a:latin typeface="Arial Rounded MT Bold" panose="020F0704030504030204" pitchFamily="34" charset="0"/>
              </a:rPr>
              <a:t>Health </a:t>
            </a:r>
            <a:r>
              <a:rPr lang="en-US" sz="3300" b="1" dirty="0">
                <a:latin typeface="Arial Rounded MT Bold" panose="020F0704030504030204" pitchFamily="34" charset="0"/>
              </a:rPr>
              <a:t>and Fitness </a:t>
            </a:r>
            <a:r>
              <a:rPr lang="en-US" sz="3300" b="1" dirty="0" smtClean="0">
                <a:latin typeface="Arial Rounded MT Bold" panose="020F0704030504030204" pitchFamily="34" charset="0"/>
              </a:rPr>
              <a:t>Tracking</a:t>
            </a:r>
            <a:endParaRPr lang="en-US" sz="3300" dirty="0">
              <a:latin typeface="Arial Rounded MT Bold" panose="020F0704030504030204" pitchFamily="34" charset="0"/>
            </a:endParaRPr>
          </a:p>
          <a:p>
            <a:r>
              <a:rPr lang="en-US" dirty="0"/>
              <a:t/>
            </a:r>
            <a:br>
              <a:rPr lang="en-US" dirty="0"/>
            </a:br>
            <a:endParaRPr lang="en-US" dirty="0"/>
          </a:p>
        </p:txBody>
      </p:sp>
    </p:spTree>
    <p:extLst>
      <p:ext uri="{BB962C8B-B14F-4D97-AF65-F5344CB8AC3E}">
        <p14:creationId xmlns:p14="http://schemas.microsoft.com/office/powerpoint/2010/main" val="36336256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Arial Rounded MT Bold" panose="020F0704030504030204" pitchFamily="34" charset="0"/>
              </a:rPr>
              <a:t>Lessons Learned from Apple's Approach</a:t>
            </a:r>
            <a:endParaRPr lang="en-US" sz="3200" dirty="0">
              <a:latin typeface="Arial Rounded MT Bold" panose="020F0704030504030204" pitchFamily="34" charset="0"/>
            </a:endParaRPr>
          </a:p>
        </p:txBody>
      </p:sp>
      <p:sp>
        <p:nvSpPr>
          <p:cNvPr id="3" name="Text Placeholder 2"/>
          <p:cNvSpPr>
            <a:spLocks noGrp="1"/>
          </p:cNvSpPr>
          <p:nvPr>
            <p:ph type="body" sz="half" idx="2"/>
          </p:nvPr>
        </p:nvSpPr>
        <p:spPr>
          <a:xfrm>
            <a:off x="1154954" y="3269673"/>
            <a:ext cx="8825659" cy="3352800"/>
          </a:xfrm>
        </p:spPr>
        <p:txBody>
          <a:bodyPr>
            <a:normAutofit/>
          </a:bodyPr>
          <a:lstStyle/>
          <a:p>
            <a:pPr marL="342900" lvl="0" indent="-342900">
              <a:buFont typeface="Arial" panose="020B0604020202020204" pitchFamily="34" charset="0"/>
              <a:buChar char="•"/>
            </a:pPr>
            <a:r>
              <a:rPr lang="en-US" sz="2400" b="1" dirty="0">
                <a:latin typeface="Arial Rounded MT Bold" panose="020F0704030504030204" pitchFamily="34" charset="0"/>
              </a:rPr>
              <a:t>User-Centric </a:t>
            </a:r>
            <a:r>
              <a:rPr lang="en-US" sz="2400" b="1" dirty="0" smtClean="0">
                <a:latin typeface="Arial Rounded MT Bold" panose="020F0704030504030204" pitchFamily="34" charset="0"/>
              </a:rPr>
              <a:t>CRM</a:t>
            </a:r>
            <a:endParaRPr lang="en-US" sz="2400" dirty="0">
              <a:latin typeface="Arial Rounded MT Bold" panose="020F0704030504030204" pitchFamily="34" charset="0"/>
            </a:endParaRPr>
          </a:p>
          <a:p>
            <a:pPr marL="342900" lvl="0" indent="-342900">
              <a:buFont typeface="Arial" panose="020B0604020202020204" pitchFamily="34" charset="0"/>
              <a:buChar char="•"/>
            </a:pPr>
            <a:r>
              <a:rPr lang="en-US" sz="2400" b="1" dirty="0">
                <a:latin typeface="Arial Rounded MT Bold" panose="020F0704030504030204" pitchFamily="34" charset="0"/>
              </a:rPr>
              <a:t>Long-Term Customer </a:t>
            </a:r>
            <a:r>
              <a:rPr lang="en-US" sz="2400" b="1" dirty="0" smtClean="0">
                <a:latin typeface="Arial Rounded MT Bold" panose="020F0704030504030204" pitchFamily="34" charset="0"/>
              </a:rPr>
              <a:t>Relationships</a:t>
            </a:r>
            <a:endParaRPr lang="en-US" sz="2400" dirty="0">
              <a:latin typeface="Arial Rounded MT Bold" panose="020F0704030504030204" pitchFamily="34" charset="0"/>
            </a:endParaRPr>
          </a:p>
          <a:p>
            <a:pPr marL="342900" lvl="0" indent="-342900">
              <a:buFont typeface="Arial" panose="020B0604020202020204" pitchFamily="34" charset="0"/>
              <a:buChar char="•"/>
            </a:pPr>
            <a:r>
              <a:rPr lang="en-US" sz="2400" b="1" dirty="0">
                <a:latin typeface="Arial Rounded MT Bold" panose="020F0704030504030204" pitchFamily="34" charset="0"/>
              </a:rPr>
              <a:t>Digital Marketing and Online </a:t>
            </a:r>
            <a:r>
              <a:rPr lang="en-US" sz="2400" b="1" dirty="0" smtClean="0">
                <a:latin typeface="Arial Rounded MT Bold" panose="020F0704030504030204" pitchFamily="34" charset="0"/>
              </a:rPr>
              <a:t>Engagement</a:t>
            </a:r>
          </a:p>
          <a:p>
            <a:pPr marL="342900" lvl="0" indent="-342900">
              <a:buFont typeface="Arial" panose="020B0604020202020204" pitchFamily="34" charset="0"/>
              <a:buChar char="•"/>
            </a:pPr>
            <a:r>
              <a:rPr lang="en-US" sz="2400" b="1" dirty="0" smtClean="0">
                <a:latin typeface="Arial Rounded MT Bold" panose="020F0704030504030204" pitchFamily="34" charset="0"/>
              </a:rPr>
              <a:t>Engagement </a:t>
            </a:r>
            <a:r>
              <a:rPr lang="en-US" sz="2400" b="1" dirty="0">
                <a:latin typeface="Arial Rounded MT Bold" panose="020F0704030504030204" pitchFamily="34" charset="0"/>
              </a:rPr>
              <a:t>through Social </a:t>
            </a:r>
            <a:r>
              <a:rPr lang="en-US" sz="2400" b="1" dirty="0" smtClean="0">
                <a:latin typeface="Arial Rounded MT Bold" panose="020F0704030504030204" pitchFamily="34" charset="0"/>
              </a:rPr>
              <a:t>Media</a:t>
            </a:r>
            <a:endParaRPr lang="en-US" sz="2400" dirty="0">
              <a:latin typeface="Arial Rounded MT Bold" panose="020F0704030504030204" pitchFamily="34" charset="0"/>
            </a:endParaRPr>
          </a:p>
          <a:p>
            <a:pPr marL="342900" lvl="0" indent="-342900">
              <a:buFont typeface="Arial" panose="020B0604020202020204" pitchFamily="34" charset="0"/>
              <a:buChar char="•"/>
            </a:pPr>
            <a:r>
              <a:rPr lang="en-US" sz="2400" b="1" dirty="0">
                <a:latin typeface="Arial Rounded MT Bold" panose="020F0704030504030204" pitchFamily="34" charset="0"/>
              </a:rPr>
              <a:t>AI in Innovative </a:t>
            </a:r>
            <a:r>
              <a:rPr lang="en-US" sz="2400" b="1" dirty="0" smtClean="0">
                <a:latin typeface="Arial Rounded MT Bold" panose="020F0704030504030204" pitchFamily="34" charset="0"/>
              </a:rPr>
              <a:t>Solutions</a:t>
            </a:r>
            <a:endParaRPr lang="en-US" sz="2400" dirty="0">
              <a:latin typeface="Arial Rounded MT Bold" panose="020F0704030504030204" pitchFamily="34" charset="0"/>
            </a:endParaRPr>
          </a:p>
          <a:p>
            <a:pPr marL="342900" indent="-342900">
              <a:buFont typeface="Arial" panose="020B0604020202020204" pitchFamily="34" charset="0"/>
              <a:buChar char="•"/>
            </a:pPr>
            <a:r>
              <a:rPr lang="en-US" sz="2400" b="1" dirty="0" smtClean="0">
                <a:latin typeface="Arial Rounded MT Bold" panose="020F0704030504030204" pitchFamily="34" charset="0"/>
              </a:rPr>
              <a:t>Continuous Improvement</a:t>
            </a:r>
            <a:endParaRPr lang="en-US" sz="2400" dirty="0">
              <a:latin typeface="Arial Rounded MT Bold" panose="020F0704030504030204" pitchFamily="34" charset="0"/>
            </a:endParaRPr>
          </a:p>
        </p:txBody>
      </p:sp>
    </p:spTree>
    <p:extLst>
      <p:ext uri="{BB962C8B-B14F-4D97-AF65-F5344CB8AC3E}">
        <p14:creationId xmlns:p14="http://schemas.microsoft.com/office/powerpoint/2010/main" val="3109670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Rounded MT Bold" panose="020F0704030504030204" pitchFamily="34" charset="0"/>
              </a:rPr>
              <a:t>Conclusion</a:t>
            </a:r>
            <a:endParaRPr lang="en-US" dirty="0">
              <a:latin typeface="Arial Rounded MT Bold" panose="020F0704030504030204" pitchFamily="34" charset="0"/>
            </a:endParaRPr>
          </a:p>
        </p:txBody>
      </p:sp>
      <p:sp>
        <p:nvSpPr>
          <p:cNvPr id="3" name="Text Placeholder 2"/>
          <p:cNvSpPr>
            <a:spLocks noGrp="1"/>
          </p:cNvSpPr>
          <p:nvPr>
            <p:ph type="body" sz="half" idx="2"/>
          </p:nvPr>
        </p:nvSpPr>
        <p:spPr>
          <a:xfrm>
            <a:off x="1154954" y="3366655"/>
            <a:ext cx="9610028" cy="3394363"/>
          </a:xfrm>
        </p:spPr>
        <p:txBody>
          <a:bodyPr>
            <a:noAutofit/>
          </a:bodyPr>
          <a:lstStyle/>
          <a:p>
            <a:r>
              <a:rPr lang="en-US" sz="2200" b="1" dirty="0" smtClean="0">
                <a:latin typeface="Times New Roman" panose="02020603050405020304" pitchFamily="18" charset="0"/>
                <a:cs typeface="Times New Roman" panose="02020603050405020304" pitchFamily="18" charset="0"/>
              </a:rPr>
              <a:t>In </a:t>
            </a:r>
            <a:r>
              <a:rPr lang="en-US" sz="2200" b="1" dirty="0">
                <a:latin typeface="Times New Roman" panose="02020603050405020304" pitchFamily="18" charset="0"/>
                <a:cs typeface="Times New Roman" panose="02020603050405020304" pitchFamily="18" charset="0"/>
              </a:rPr>
              <a:t>summary, Apple Inc. is a global technology powerhouse known for innovation and user-centric design since its founding in 1976. The integration of artificial intelligence, including Siri and facial recognition (Face ID), reinforces its technological leadership. Apple prioritizes user experience, privacy, and data security through AI research. The use of CRM is crucial for customer satisfaction, employing strategies in acquisition, experience, and digital marketing. Online engagement, iconic branding, and responsiveness on social media contribute to strong customer loyalty. Apple's dedication to cutting-edge solutions, like ARKit for augmented reality, showcases its continuous pursuit of technological excellence, making it a leader in the evolving tech landscape</a:t>
            </a: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98572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186</TotalTime>
  <Words>831</Words>
  <Application>Microsoft Office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Agency FB</vt:lpstr>
      <vt:lpstr>Arial</vt:lpstr>
      <vt:lpstr>Arial Rounded MT Bold</vt:lpstr>
      <vt:lpstr>Bahnschrift</vt:lpstr>
      <vt:lpstr>Century Gothic</vt:lpstr>
      <vt:lpstr>Franklin Gothic Heavy</vt:lpstr>
      <vt:lpstr>Times New Roman</vt:lpstr>
      <vt:lpstr>Wingdings</vt:lpstr>
      <vt:lpstr>Wingdings 3</vt:lpstr>
      <vt:lpstr>Ion Boardroom</vt:lpstr>
      <vt:lpstr>Topic:Apple: A Leader in AI-powered Customer Satisfaction</vt:lpstr>
      <vt:lpstr> MEET    OUR TEAM</vt:lpstr>
      <vt:lpstr>Apple as a company</vt:lpstr>
      <vt:lpstr>How  Apple uses AI?</vt:lpstr>
      <vt:lpstr>AI integration in Apple enterprise version</vt:lpstr>
      <vt:lpstr>AI integrated technologies of Apple</vt:lpstr>
      <vt:lpstr>AI integrated technologies of Apple</vt:lpstr>
      <vt:lpstr>Attention to detail</vt:lpstr>
      <vt:lpstr>Use of AI by Apple for customer satisfaction</vt:lpstr>
      <vt:lpstr>Apple strategic polices for customers</vt:lpstr>
      <vt:lpstr>Apple strategic polices for customers</vt:lpstr>
      <vt:lpstr>Implementations of AI by Apple</vt:lpstr>
      <vt:lpstr>Impacts of Apple's Incorporation of AI</vt:lpstr>
      <vt:lpstr>Lessons Learned from Apple's Approach</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Topic:Apple: A Leader in AI-powered Customer Satisfaction</dc:title>
  <dc:creator>PC</dc:creator>
  <cp:lastModifiedBy>Faizan Metla</cp:lastModifiedBy>
  <cp:revision>19</cp:revision>
  <dcterms:created xsi:type="dcterms:W3CDTF">2023-12-11T11:32:07Z</dcterms:created>
  <dcterms:modified xsi:type="dcterms:W3CDTF">2023-12-12T17:20:49Z</dcterms:modified>
</cp:coreProperties>
</file>