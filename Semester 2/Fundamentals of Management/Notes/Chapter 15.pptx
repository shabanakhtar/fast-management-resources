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handoutMasterIdLst>
    <p:handoutMasterId r:id="rId52"/>
  </p:handoutMasterIdLst>
  <p:sldIdLst>
    <p:sldId id="445" r:id="rId2"/>
    <p:sldId id="349" r:id="rId3"/>
    <p:sldId id="351" r:id="rId4"/>
    <p:sldId id="354" r:id="rId5"/>
    <p:sldId id="405" r:id="rId6"/>
    <p:sldId id="406" r:id="rId7"/>
    <p:sldId id="407" r:id="rId8"/>
    <p:sldId id="408" r:id="rId9"/>
    <p:sldId id="409" r:id="rId10"/>
    <p:sldId id="412" r:id="rId11"/>
    <p:sldId id="413" r:id="rId12"/>
    <p:sldId id="414" r:id="rId13"/>
    <p:sldId id="415" r:id="rId14"/>
    <p:sldId id="416" r:id="rId15"/>
    <p:sldId id="417" r:id="rId16"/>
    <p:sldId id="418" r:id="rId17"/>
    <p:sldId id="360" r:id="rId18"/>
    <p:sldId id="419" r:id="rId19"/>
    <p:sldId id="420" r:id="rId20"/>
    <p:sldId id="421" r:id="rId21"/>
    <p:sldId id="446" r:id="rId22"/>
    <p:sldId id="423" r:id="rId23"/>
    <p:sldId id="424" r:id="rId24"/>
    <p:sldId id="425" r:id="rId25"/>
    <p:sldId id="426" r:id="rId26"/>
    <p:sldId id="427" r:id="rId27"/>
    <p:sldId id="428" r:id="rId28"/>
    <p:sldId id="429" r:id="rId29"/>
    <p:sldId id="430" r:id="rId30"/>
    <p:sldId id="431" r:id="rId31"/>
    <p:sldId id="432" r:id="rId32"/>
    <p:sldId id="433" r:id="rId33"/>
    <p:sldId id="434" r:id="rId34"/>
    <p:sldId id="435" r:id="rId35"/>
    <p:sldId id="437" r:id="rId36"/>
    <p:sldId id="436" r:id="rId37"/>
    <p:sldId id="438" r:id="rId38"/>
    <p:sldId id="439" r:id="rId39"/>
    <p:sldId id="440" r:id="rId40"/>
    <p:sldId id="441" r:id="rId41"/>
    <p:sldId id="442" r:id="rId42"/>
    <p:sldId id="443" r:id="rId43"/>
    <p:sldId id="444" r:id="rId44"/>
    <p:sldId id="395" r:id="rId45"/>
    <p:sldId id="397" r:id="rId46"/>
    <p:sldId id="399" r:id="rId47"/>
    <p:sldId id="401" r:id="rId48"/>
    <p:sldId id="403" r:id="rId49"/>
    <p:sldId id="404"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5" autoAdjust="0"/>
    <p:restoredTop sz="87136" autoAdjust="0"/>
  </p:normalViewPr>
  <p:slideViewPr>
    <p:cSldViewPr>
      <p:cViewPr>
        <p:scale>
          <a:sx n="100" d="100"/>
          <a:sy n="100" d="100"/>
        </p:scale>
        <p:origin x="-1260" y="-354"/>
      </p:cViewPr>
      <p:guideLst>
        <p:guide orient="horz" pos="2160"/>
        <p:guide pos="2880"/>
      </p:guideLst>
    </p:cSldViewPr>
  </p:slideViewPr>
  <p:outlineViewPr>
    <p:cViewPr>
      <p:scale>
        <a:sx n="33" d="100"/>
        <a:sy n="33" d="100"/>
      </p:scale>
      <p:origin x="0" y="2073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4/6/2017</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4/6/2017</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549718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Managers need good people skills. The material in this and the next three chapters draws heavily on the field of study that’s known as </a:t>
            </a:r>
            <a:r>
              <a:rPr lang="en-US" i="1" dirty="0" smtClean="0">
                <a:cs typeface="Arial" charset="0"/>
              </a:rPr>
              <a:t>organizational behavior (OB). </a:t>
            </a:r>
            <a:r>
              <a:rPr lang="en-US" dirty="0" smtClean="0">
                <a:cs typeface="Arial" charset="0"/>
              </a:rPr>
              <a:t>Although it’s concerned with the subject of </a:t>
            </a:r>
            <a:r>
              <a:rPr lang="en-US" b="1" dirty="0" smtClean="0">
                <a:cs typeface="Arial" charset="0"/>
              </a:rPr>
              <a:t>behavior</a:t>
            </a:r>
            <a:r>
              <a:rPr lang="en-US" dirty="0" smtClean="0">
                <a:cs typeface="Arial" charset="0"/>
              </a:rPr>
              <a:t>—that is, the actions of people—</a:t>
            </a:r>
            <a:r>
              <a:rPr lang="en-US" b="1" dirty="0" smtClean="0">
                <a:cs typeface="Arial" charset="0"/>
              </a:rPr>
              <a:t>organizational behavior </a:t>
            </a:r>
            <a:r>
              <a:rPr lang="en-US" dirty="0" smtClean="0">
                <a:cs typeface="Arial" charset="0"/>
              </a:rPr>
              <a:t>is the study of the actions of people at work.</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1100985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One of the challenges in understanding organizational behavior is that it addresses issues that aren’t obvious. Like an iceberg, OB has a small visible dimension and a much larger hidden portion. (See Exhibit 15-1.)</a:t>
            </a:r>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62579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Organizational behavior focuses on three major areas. First, OB looks at </a:t>
            </a:r>
            <a:r>
              <a:rPr lang="en-US" i="1" dirty="0" smtClean="0">
                <a:cs typeface="Arial" charset="0"/>
              </a:rPr>
              <a:t>individual behavior. </a:t>
            </a:r>
            <a:r>
              <a:rPr lang="en-US" dirty="0" smtClean="0">
                <a:cs typeface="Arial" charset="0"/>
              </a:rPr>
              <a:t>Based predominantly on contributions from psychologists, this area includes topics such as attitudes, personality, perception, learning, and motivation. Second, OB is concerned with </a:t>
            </a:r>
            <a:r>
              <a:rPr lang="en-US" i="1" dirty="0" smtClean="0">
                <a:cs typeface="Arial" charset="0"/>
              </a:rPr>
              <a:t>group behavior</a:t>
            </a:r>
            <a:r>
              <a:rPr lang="en-US" dirty="0" smtClean="0">
                <a:cs typeface="Arial" charset="0"/>
              </a:rPr>
              <a:t>, which includes norms, roles, team building, leadership, and conflict. Our knowledge about groups comes basically</a:t>
            </a:r>
            <a:r>
              <a:rPr lang="en-US" baseline="0" dirty="0" smtClean="0">
                <a:cs typeface="Arial" charset="0"/>
              </a:rPr>
              <a:t> </a:t>
            </a:r>
            <a:r>
              <a:rPr lang="en-US" dirty="0" smtClean="0">
                <a:cs typeface="Arial" charset="0"/>
              </a:rPr>
              <a:t>from the work of sociologists and social psychologists. Finally, OB also looks at </a:t>
            </a:r>
            <a:r>
              <a:rPr lang="en-US" i="1" dirty="0" smtClean="0">
                <a:cs typeface="Arial" charset="0"/>
              </a:rPr>
              <a:t>organizational </a:t>
            </a:r>
            <a:r>
              <a:rPr lang="en-US" dirty="0" smtClean="0">
                <a:cs typeface="Arial" charset="0"/>
              </a:rPr>
              <a:t>aspects including structure, culture, and human resource policies and practices. We’ve addressed group and organizational aspects in previous chapters. In this chapter, we’ll look at individual behavior.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1252246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goals of OB are to </a:t>
            </a:r>
            <a:r>
              <a:rPr lang="en-US" i="1" dirty="0" smtClean="0">
                <a:cs typeface="Arial" charset="0"/>
              </a:rPr>
              <a:t>explain, predict, </a:t>
            </a:r>
            <a:r>
              <a:rPr lang="en-US" dirty="0" smtClean="0">
                <a:cs typeface="Arial" charset="0"/>
              </a:rPr>
              <a:t>and </a:t>
            </a:r>
            <a:r>
              <a:rPr lang="en-US" i="1" dirty="0" smtClean="0">
                <a:cs typeface="Arial" charset="0"/>
              </a:rPr>
              <a:t>influence </a:t>
            </a:r>
            <a:r>
              <a:rPr lang="en-US" dirty="0" smtClean="0">
                <a:cs typeface="Arial" charset="0"/>
              </a:rPr>
              <a:t>behavior. Managers need to be able to </a:t>
            </a:r>
            <a:r>
              <a:rPr lang="en-US" i="1" dirty="0" smtClean="0">
                <a:cs typeface="Arial" charset="0"/>
              </a:rPr>
              <a:t>explain </a:t>
            </a:r>
            <a:r>
              <a:rPr lang="en-US" dirty="0" smtClean="0">
                <a:cs typeface="Arial" charset="0"/>
              </a:rPr>
              <a:t>why employees engage in some behaviors rather than others, </a:t>
            </a:r>
            <a:r>
              <a:rPr lang="en-US" i="1" dirty="0" smtClean="0">
                <a:cs typeface="Arial" charset="0"/>
              </a:rPr>
              <a:t>predict </a:t>
            </a:r>
            <a:r>
              <a:rPr lang="en-US" dirty="0" smtClean="0">
                <a:cs typeface="Arial" charset="0"/>
              </a:rPr>
              <a:t>how employees will respond to various actions and decisions, and </a:t>
            </a:r>
            <a:r>
              <a:rPr lang="en-US" i="1" dirty="0" smtClean="0">
                <a:cs typeface="Arial" charset="0"/>
              </a:rPr>
              <a:t>influence </a:t>
            </a:r>
            <a:r>
              <a:rPr lang="en-US" dirty="0" smtClean="0">
                <a:cs typeface="Arial" charset="0"/>
              </a:rPr>
              <a:t>how employees behave.</a:t>
            </a:r>
          </a:p>
          <a:p>
            <a:pPr eaLnBrk="1" hangingPunct="1"/>
            <a:endParaRPr lang="en-US" dirty="0" smtClean="0">
              <a:cs typeface="Arial" charset="0"/>
            </a:endParaRPr>
          </a:p>
          <a:p>
            <a:pPr eaLnBrk="1" hangingPunct="1"/>
            <a:r>
              <a:rPr lang="en-US" dirty="0" smtClean="0">
                <a:cs typeface="Arial" charset="0"/>
              </a:rPr>
              <a:t>What employee behaviors are we specifically concerned with explaining, predicting, and influencing? Six important ones have been identified: employee productivity, absenteeism, turnover, organizational citizenship behavior (OCB), job satisfaction, and workplace misbehavior. </a:t>
            </a:r>
            <a:r>
              <a:rPr lang="en-US" b="1" dirty="0" smtClean="0">
                <a:cs typeface="Arial" charset="0"/>
              </a:rPr>
              <a:t>Employee productivity </a:t>
            </a:r>
            <a:r>
              <a:rPr lang="en-US" dirty="0" smtClean="0">
                <a:cs typeface="Arial" charset="0"/>
              </a:rPr>
              <a:t>is a performance measure of both efficiency and effectiveness. Managers want to know what factors will influence</a:t>
            </a:r>
            <a:r>
              <a:rPr lang="en-US" baseline="0" dirty="0" smtClean="0">
                <a:cs typeface="Arial" charset="0"/>
              </a:rPr>
              <a:t> </a:t>
            </a:r>
            <a:r>
              <a:rPr lang="en-US" dirty="0" smtClean="0">
                <a:cs typeface="Arial" charset="0"/>
              </a:rPr>
              <a:t>the efficiency and effectiveness of employees. </a:t>
            </a:r>
            <a:r>
              <a:rPr lang="en-US" b="1" dirty="0" smtClean="0">
                <a:cs typeface="Arial" charset="0"/>
              </a:rPr>
              <a:t>Absenteeism </a:t>
            </a:r>
            <a:r>
              <a:rPr lang="en-US" dirty="0" smtClean="0">
                <a:cs typeface="Arial" charset="0"/>
              </a:rPr>
              <a:t>is the failure to show up for work. It’s difficult for work to get done if employees don’t show up. </a:t>
            </a:r>
            <a:r>
              <a:rPr lang="en-US" b="1" dirty="0" smtClean="0">
                <a:cs typeface="Arial" charset="0"/>
              </a:rPr>
              <a:t>Turnover </a:t>
            </a:r>
            <a:r>
              <a:rPr lang="en-US" dirty="0" smtClean="0">
                <a:cs typeface="Arial" charset="0"/>
              </a:rPr>
              <a:t>is the voluntary and involuntary permanent withdrawal from an organization. It can be a problem because of increased recruiting, selection, and training costs and work disruptions.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959925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Organizational citizenship behavior (OCB) </a:t>
            </a:r>
            <a:r>
              <a:rPr lang="en-US" dirty="0" smtClean="0">
                <a:cs typeface="Arial" charset="0"/>
              </a:rPr>
              <a:t>is discretionary behavior that’s not part of an employee’s formal job requirements but promotes the effective functioning of the organization.</a:t>
            </a:r>
          </a:p>
          <a:p>
            <a:pPr eaLnBrk="1" hangingPunct="1"/>
            <a:endParaRPr lang="en-US" dirty="0" smtClean="0">
              <a:cs typeface="Arial" charset="0"/>
            </a:endParaRPr>
          </a:p>
          <a:p>
            <a:pPr eaLnBrk="1" hangingPunct="1"/>
            <a:r>
              <a:rPr lang="en-US" b="1" dirty="0" smtClean="0">
                <a:cs typeface="Arial" charset="0"/>
              </a:rPr>
              <a:t>Job satisfaction </a:t>
            </a:r>
            <a:r>
              <a:rPr lang="en-US" dirty="0" smtClean="0">
                <a:cs typeface="Arial" charset="0"/>
              </a:rPr>
              <a:t>refers to an employee’s general attitude toward his or her job. Although job satisfaction is an attitude rather than a behavior, it’s an outcome that concerns many managers because satisfied employees are more likely to show up for work, have higher levels of performance, and stay with an organization.</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cs typeface="Arial" charset="0"/>
              </a:rPr>
              <a:t>Counterproductive</a:t>
            </a:r>
            <a:r>
              <a:rPr lang="en-US" b="1" baseline="0" dirty="0" smtClean="0">
                <a:cs typeface="Arial" charset="0"/>
              </a:rPr>
              <a:t> w</a:t>
            </a:r>
            <a:r>
              <a:rPr lang="en-US" b="1" dirty="0" smtClean="0">
                <a:cs typeface="Arial" charset="0"/>
              </a:rPr>
              <a:t>orkplace behavior </a:t>
            </a:r>
            <a:r>
              <a:rPr lang="en-US" dirty="0" smtClean="0">
                <a:cs typeface="Arial" charset="0"/>
              </a:rPr>
              <a:t>is any intentional employee behavior that is potentially harmful to the organization or individuals within the organization. Workplace misbehavior shows up in organizations in four ways: deviance, aggression, antisocial behavior, and violence. Such behaviors can range from playing loud music just to irritate coworkers to verbal aggression to sabotaging work, all of which can create</a:t>
            </a:r>
            <a:r>
              <a:rPr lang="en-US" baseline="0" dirty="0" smtClean="0">
                <a:cs typeface="Arial" charset="0"/>
              </a:rPr>
              <a:t> </a:t>
            </a:r>
            <a:r>
              <a:rPr lang="en-US" dirty="0" smtClean="0">
                <a:cs typeface="Arial" charset="0"/>
              </a:rPr>
              <a:t>havoc in any organization.</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746124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Attitudes </a:t>
            </a:r>
            <a:r>
              <a:rPr lang="en-US" dirty="0" smtClean="0">
                <a:cs typeface="Arial" charset="0"/>
              </a:rPr>
              <a:t>are evaluative statements—favorable or unfavorable—concerning objects, people, or events. They reflect how an individual feels about something. When a person says, “I like my job,” he or she is expressing an attitude about work. An attitude is made up of three components: cognition, affect, and behavior.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78428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a:t>
            </a:r>
            <a:r>
              <a:rPr lang="en-US" b="1" dirty="0" smtClean="0">
                <a:cs typeface="Arial" charset="0"/>
              </a:rPr>
              <a:t>cognitive component </a:t>
            </a:r>
            <a:r>
              <a:rPr lang="en-US" dirty="0" smtClean="0">
                <a:cs typeface="Arial" charset="0"/>
              </a:rPr>
              <a:t>of an attitude refers to the beliefs, opinions, knowledge, or information held by a person (for instance, the belief that “discrimination is wrong”). The </a:t>
            </a:r>
            <a:r>
              <a:rPr lang="en-US" b="1" dirty="0" smtClean="0">
                <a:cs typeface="Arial" charset="0"/>
              </a:rPr>
              <a:t>affective component </a:t>
            </a:r>
            <a:r>
              <a:rPr lang="en-US" dirty="0" smtClean="0">
                <a:cs typeface="Arial" charset="0"/>
              </a:rPr>
              <a:t>of an attitude is the emotional or feeling part of an attitude. Using our example, this component would be reflected by the statement, “I don’t like Pat because he discriminates against minorities.” Finally, affect can lead</a:t>
            </a:r>
            <a:r>
              <a:rPr lang="en-US" baseline="0" dirty="0" smtClean="0">
                <a:cs typeface="Arial" charset="0"/>
              </a:rPr>
              <a:t> </a:t>
            </a:r>
            <a:r>
              <a:rPr lang="en-US" dirty="0" smtClean="0">
                <a:cs typeface="Arial" charset="0"/>
              </a:rPr>
              <a:t>to behavioral outcomes. The </a:t>
            </a:r>
            <a:r>
              <a:rPr lang="en-US" b="1" dirty="0" smtClean="0">
                <a:cs typeface="Arial" charset="0"/>
              </a:rPr>
              <a:t>behavioral component </a:t>
            </a:r>
            <a:r>
              <a:rPr lang="en-US" dirty="0" smtClean="0">
                <a:cs typeface="Arial" charset="0"/>
              </a:rPr>
              <a:t>of an attitude refers to an intention to behave in a certain way toward someone or something.</a:t>
            </a: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572128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 person with a high level of job satisfaction has a positive attitude toward his or her job. A person who is dissatisfied has a negative</a:t>
            </a:r>
            <a:r>
              <a:rPr lang="en-US" baseline="0" dirty="0" smtClean="0">
                <a:cs typeface="Arial" charset="0"/>
              </a:rPr>
              <a:t> </a:t>
            </a:r>
            <a:r>
              <a:rPr lang="en-US" dirty="0" smtClean="0">
                <a:cs typeface="Arial" charset="0"/>
              </a:rPr>
              <a:t>attitude. When people speak of employee attitudes, they usually are referring to job satisfaction.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20027941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Job involvement </a:t>
            </a:r>
            <a:r>
              <a:rPr lang="en-US" dirty="0" smtClean="0">
                <a:cs typeface="Arial" charset="0"/>
              </a:rPr>
              <a:t>is the degree to which an employee identifies with his or her job, actively participates in it, and considers his or her job performance to be important to his or her self-worth. Employees with a high level of job involvement strongly identify with and really care about the kind of work they do. Their positive attitude leads them to contribute in positive ways to their work.</a:t>
            </a:r>
          </a:p>
          <a:p>
            <a:pPr eaLnBrk="1" hangingPunct="1"/>
            <a:endParaRPr lang="en-US" dirty="0" smtClean="0">
              <a:cs typeface="Arial" charset="0"/>
            </a:endParaRPr>
          </a:p>
          <a:p>
            <a:pPr eaLnBrk="1" hangingPunct="1"/>
            <a:r>
              <a:rPr lang="en-US" b="1" dirty="0" smtClean="0">
                <a:cs typeface="Arial" charset="0"/>
              </a:rPr>
              <a:t>Organizational commitment </a:t>
            </a:r>
            <a:r>
              <a:rPr lang="en-US" dirty="0" smtClean="0">
                <a:cs typeface="Arial" charset="0"/>
              </a:rPr>
              <a:t>is the degree to which an employee identifies with a particular organization and its goals and wishes to maintain membership in that organization. Whereas job involvement is identifying with your job, organizational commitment is identifying with your employing organization.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1155995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Although the commitment of </a:t>
            </a:r>
            <a:r>
              <a:rPr lang="en-US" i="1" dirty="0" smtClean="0">
                <a:cs typeface="Arial" charset="0"/>
              </a:rPr>
              <a:t>an employee to an organization </a:t>
            </a:r>
            <a:r>
              <a:rPr lang="en-US" dirty="0" smtClean="0">
                <a:cs typeface="Arial" charset="0"/>
              </a:rPr>
              <a:t>may not be as important as it once was, research about </a:t>
            </a:r>
            <a:r>
              <a:rPr lang="en-US" b="1" dirty="0" smtClean="0">
                <a:cs typeface="Arial" charset="0"/>
              </a:rPr>
              <a:t>perceived</a:t>
            </a:r>
            <a:r>
              <a:rPr lang="en-US" b="1" baseline="0" dirty="0" smtClean="0">
                <a:cs typeface="Arial" charset="0"/>
              </a:rPr>
              <a:t> </a:t>
            </a:r>
            <a:r>
              <a:rPr lang="en-US" b="1" dirty="0" smtClean="0">
                <a:cs typeface="Arial" charset="0"/>
              </a:rPr>
              <a:t>organizational support</a:t>
            </a:r>
            <a:r>
              <a:rPr lang="en-US" dirty="0" smtClean="0">
                <a:cs typeface="Arial" charset="0"/>
              </a:rPr>
              <a:t>—employees’ general belief that their organization values their contribution and cares about their well-being—shows that the commitment of </a:t>
            </a:r>
            <a:r>
              <a:rPr lang="en-US" i="1" dirty="0" smtClean="0">
                <a:cs typeface="Arial" charset="0"/>
              </a:rPr>
              <a:t>the organization to the employee </a:t>
            </a:r>
            <a:r>
              <a:rPr lang="en-US" dirty="0" smtClean="0">
                <a:cs typeface="Arial" charset="0"/>
              </a:rPr>
              <a:t>can be beneficial. High levels of perceived organizational support lead to increased job satisfaction and lower turnover.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12863348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Managers want their employees to be connected to, satisfied with, and enthusiastic about their jobs. This concept is known as </a:t>
            </a:r>
            <a:r>
              <a:rPr lang="en-US" b="1" dirty="0" smtClean="0">
                <a:cs typeface="Arial" charset="0"/>
              </a:rPr>
              <a:t>employee engagement</a:t>
            </a:r>
            <a:r>
              <a:rPr lang="en-US" dirty="0" smtClean="0">
                <a:cs typeface="Arial" charset="0"/>
              </a:rPr>
              <a:t>. Highly engaged employees are passionate about and deeply connected to their work. Disengaged employees have essentially “checked out” and don’t care. They show up for work, but have no energy or passion for it.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1241203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M</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695880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Cognitive dissonance theory sought to explain the relationship between attitudes and behavior. </a:t>
            </a:r>
            <a:r>
              <a:rPr lang="en-US" b="1" dirty="0" smtClean="0">
                <a:cs typeface="Arial" charset="0"/>
              </a:rPr>
              <a:t>Cognitive dissonance </a:t>
            </a:r>
            <a:r>
              <a:rPr lang="en-US" dirty="0" smtClean="0">
                <a:cs typeface="Arial" charset="0"/>
              </a:rPr>
              <a:t>is any incompatibility or inconsistency between attitudes or between behavior and attitudes. The theory argued that inconsistency is uncomfortable and that individuals will try to reduce the discomfort and thus, the dissonance.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1533153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Many organizations regularly survey their employees about their attitudes. Typically, </a:t>
            </a:r>
            <a:r>
              <a:rPr lang="en-US" b="1" dirty="0" smtClean="0">
                <a:cs typeface="Arial" charset="0"/>
              </a:rPr>
              <a:t>attitude surveys </a:t>
            </a:r>
            <a:r>
              <a:rPr lang="en-US" dirty="0" smtClean="0">
                <a:cs typeface="Arial" charset="0"/>
              </a:rPr>
              <a:t>present the employee with a set of statements or questions eliciting how they feel about their jobs, work groups, supervisors, or the organization. Ideally, the items will be</a:t>
            </a:r>
            <a:r>
              <a:rPr lang="en-US" baseline="0" dirty="0" smtClean="0">
                <a:cs typeface="Arial" charset="0"/>
              </a:rPr>
              <a:t> </a:t>
            </a:r>
            <a:r>
              <a:rPr lang="en-US" dirty="0" smtClean="0">
                <a:cs typeface="Arial" charset="0"/>
              </a:rPr>
              <a:t>designed to obtain the specific information that managers desire. An attitude score is achieved by summing up responses to individual questionnaire items. These scores can then be averaged for work groups, departments, divisions, or the organization as a whole.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2072940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Exhibit 15-2 shows an example of an actual attitude survey.</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1998696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Satisfied and committed employees, for instance, have lower rates of turnover and absenteeism. If managers want to keep resignations and absences down—especially among their more productive employees—they’ll want to do things that generate positive job attitudes.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1260581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An individual’s </a:t>
            </a:r>
            <a:r>
              <a:rPr lang="en-US" b="1" dirty="0" smtClean="0">
                <a:cs typeface="Arial" charset="0"/>
              </a:rPr>
              <a:t>personality </a:t>
            </a:r>
            <a:r>
              <a:rPr lang="en-US" dirty="0" smtClean="0">
                <a:cs typeface="Arial" charset="0"/>
              </a:rPr>
              <a:t>is a unique combination of emotional, thought, and behavioral patterns that affect how a person reacts to situations and interacts with others. It’s our natural way of doing things and relating to others. Personality is most often described in terms of measurable traits a person exhibits. We’re interested in looking at personality because just like attitudes, it too, affects how and why people behave the way they do.</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8086458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One popular approach to classifying personality traits is the personality-assessment instrument known as the MBTI®. This 100-question assessment asks people how they usually act or feel in different situations. On the basis of their answers, individuals are classified as exhibiting a preference in four categories: extraversion or introversion (E or I), sensing or intuition (S or N), thinking or feeling (T or F), and judging or perceiving (J or P).</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8907369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Combining these preferences provides descriptions of 16 personality types, with every person identified with one of the items in each of the four pairs. Exhibit 15-3 summarizes two of them. As you can see from these descriptions, each personality type would approach work and relationships differently—neither one better than the other, just different.</a:t>
            </a:r>
          </a:p>
          <a:p>
            <a:pPr eaLnBrk="1" hangingPunct="1"/>
            <a:endParaRPr lang="en-US" dirty="0" smtClean="0">
              <a:cs typeface="Arial"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i="1" kern="1200" dirty="0" smtClean="0">
                <a:solidFill>
                  <a:schemeClr val="tx1"/>
                </a:solidFill>
                <a:effectLst/>
                <a:latin typeface="+mn-lt"/>
                <a:ea typeface="+mn-ea"/>
                <a:cs typeface="+mn-cs"/>
              </a:rPr>
              <a:t>Source: </a:t>
            </a:r>
            <a:r>
              <a:rPr lang="en-US" sz="1200" kern="1200" dirty="0" smtClean="0">
                <a:solidFill>
                  <a:schemeClr val="tx1"/>
                </a:solidFill>
                <a:effectLst/>
                <a:latin typeface="+mn-lt"/>
                <a:ea typeface="+mn-ea"/>
                <a:cs typeface="+mn-cs"/>
              </a:rPr>
              <a:t>Based on I. Briggs-Myers, </a:t>
            </a:r>
            <a:r>
              <a:rPr lang="en-US" sz="1200" i="1" kern="1200" dirty="0" smtClean="0">
                <a:solidFill>
                  <a:schemeClr val="tx1"/>
                </a:solidFill>
                <a:effectLst/>
                <a:latin typeface="+mn-lt"/>
                <a:ea typeface="+mn-ea"/>
                <a:cs typeface="+mn-cs"/>
              </a:rPr>
              <a:t>Introduction to Type </a:t>
            </a:r>
            <a:r>
              <a:rPr lang="en-US" sz="1200" kern="1200" dirty="0" smtClean="0">
                <a:solidFill>
                  <a:schemeClr val="tx1"/>
                </a:solidFill>
                <a:effectLst/>
                <a:latin typeface="+mn-lt"/>
                <a:ea typeface="+mn-ea"/>
                <a:cs typeface="+mn-cs"/>
              </a:rPr>
              <a:t>(Palo Alto, CA: Consulting Psychologists Press, 1980), pp. </a:t>
            </a:r>
            <a:r>
              <a:rPr lang="en-US" sz="1200" kern="1200" smtClean="0">
                <a:solidFill>
                  <a:schemeClr val="tx1"/>
                </a:solidFill>
                <a:effectLst/>
                <a:latin typeface="+mn-lt"/>
                <a:ea typeface="+mn-ea"/>
                <a:cs typeface="+mn-cs"/>
              </a:rPr>
              <a:t>7–8. </a:t>
            </a:r>
            <a:endParaRPr lang="en-US"/>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10762133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In recent years, research has shown that five basic personality dimensions underlie all others and encompass most of the significant variation in human personality. The five personality traits in the </a:t>
            </a:r>
            <a:r>
              <a:rPr lang="en-US" b="1" dirty="0" smtClean="0">
                <a:cs typeface="Arial" charset="0"/>
              </a:rPr>
              <a:t>Big Five Model </a:t>
            </a:r>
            <a:r>
              <a:rPr lang="en-US" dirty="0" smtClean="0">
                <a:cs typeface="Arial" charset="0"/>
              </a:rPr>
              <a:t>are:</a:t>
            </a:r>
          </a:p>
          <a:p>
            <a:pPr eaLnBrk="1" hangingPunct="1"/>
            <a:endParaRPr lang="en-US" dirty="0" smtClean="0">
              <a:cs typeface="Arial" charset="0"/>
            </a:endParaRPr>
          </a:p>
          <a:p>
            <a:pPr eaLnBrk="1" hangingPunct="1"/>
            <a:r>
              <a:rPr lang="en-US" b="1" dirty="0" smtClean="0">
                <a:cs typeface="Arial" charset="0"/>
              </a:rPr>
              <a:t>1. </a:t>
            </a:r>
            <a:r>
              <a:rPr lang="en-US" i="1" dirty="0" smtClean="0">
                <a:cs typeface="Arial" charset="0"/>
              </a:rPr>
              <a:t>Extraversion: </a:t>
            </a:r>
            <a:r>
              <a:rPr lang="en-US" dirty="0" smtClean="0">
                <a:cs typeface="Arial" charset="0"/>
              </a:rPr>
              <a:t>The degree to which someone is sociable, talkative, assertive, and</a:t>
            </a:r>
            <a:r>
              <a:rPr lang="en-US" baseline="0" dirty="0" smtClean="0">
                <a:cs typeface="Arial" charset="0"/>
              </a:rPr>
              <a:t> </a:t>
            </a:r>
            <a:r>
              <a:rPr lang="en-US" dirty="0" smtClean="0">
                <a:cs typeface="Arial" charset="0"/>
              </a:rPr>
              <a:t>comfortable in relationships with others.</a:t>
            </a:r>
          </a:p>
          <a:p>
            <a:pPr eaLnBrk="1" hangingPunct="1"/>
            <a:r>
              <a:rPr lang="en-US" b="1" dirty="0" smtClean="0">
                <a:cs typeface="Arial" charset="0"/>
              </a:rPr>
              <a:t>2. </a:t>
            </a:r>
            <a:r>
              <a:rPr lang="en-US" i="1" dirty="0" smtClean="0">
                <a:cs typeface="Arial" charset="0"/>
              </a:rPr>
              <a:t>Agreeableness: </a:t>
            </a:r>
            <a:r>
              <a:rPr lang="en-US" dirty="0" smtClean="0">
                <a:cs typeface="Arial" charset="0"/>
              </a:rPr>
              <a:t>The degree to which someone is good-natured, cooperative, and</a:t>
            </a:r>
            <a:r>
              <a:rPr lang="en-US" baseline="0" dirty="0" smtClean="0">
                <a:cs typeface="Arial" charset="0"/>
              </a:rPr>
              <a:t> </a:t>
            </a:r>
            <a:r>
              <a:rPr lang="en-US" dirty="0" smtClean="0">
                <a:cs typeface="Arial" charset="0"/>
              </a:rPr>
              <a:t>trusting.</a:t>
            </a:r>
          </a:p>
          <a:p>
            <a:pPr eaLnBrk="1" hangingPunct="1"/>
            <a:r>
              <a:rPr lang="en-US" b="1" dirty="0" smtClean="0">
                <a:cs typeface="Arial" charset="0"/>
              </a:rPr>
              <a:t>3. </a:t>
            </a:r>
            <a:r>
              <a:rPr lang="en-US" i="1" dirty="0" smtClean="0">
                <a:cs typeface="Arial" charset="0"/>
              </a:rPr>
              <a:t>Conscientiousness: </a:t>
            </a:r>
            <a:r>
              <a:rPr lang="en-US" dirty="0" smtClean="0">
                <a:cs typeface="Arial" charset="0"/>
              </a:rPr>
              <a:t>The degree to which someone is reliable, responsible,</a:t>
            </a:r>
            <a:r>
              <a:rPr lang="en-US" baseline="0" dirty="0" smtClean="0">
                <a:cs typeface="Arial" charset="0"/>
              </a:rPr>
              <a:t> </a:t>
            </a:r>
            <a:r>
              <a:rPr lang="en-US" dirty="0" smtClean="0">
                <a:cs typeface="Arial" charset="0"/>
              </a:rPr>
              <a:t>dependable, persistent, and achievement oriented.</a:t>
            </a:r>
          </a:p>
          <a:p>
            <a:pPr eaLnBrk="1" hangingPunct="1"/>
            <a:r>
              <a:rPr lang="en-US" b="1" dirty="0" smtClean="0">
                <a:cs typeface="Arial" charset="0"/>
              </a:rPr>
              <a:t>4. </a:t>
            </a:r>
            <a:r>
              <a:rPr lang="en-US" i="1" dirty="0" smtClean="0">
                <a:cs typeface="Arial" charset="0"/>
              </a:rPr>
              <a:t>Emotional stability: </a:t>
            </a:r>
            <a:r>
              <a:rPr lang="en-US" dirty="0" smtClean="0">
                <a:cs typeface="Arial" charset="0"/>
              </a:rPr>
              <a:t>The degree to which someone is calm, enthusiastic, and</a:t>
            </a:r>
            <a:r>
              <a:rPr lang="en-US" baseline="0" dirty="0" smtClean="0">
                <a:cs typeface="Arial" charset="0"/>
              </a:rPr>
              <a:t> </a:t>
            </a:r>
            <a:r>
              <a:rPr lang="en-US" dirty="0" smtClean="0">
                <a:cs typeface="Arial" charset="0"/>
              </a:rPr>
              <a:t>secure (positive) or tense, nervous, depressed, and insecure (negative).</a:t>
            </a:r>
          </a:p>
          <a:p>
            <a:pPr eaLnBrk="1" hangingPunct="1"/>
            <a:r>
              <a:rPr lang="en-US" b="1" dirty="0" smtClean="0">
                <a:cs typeface="Arial" charset="0"/>
              </a:rPr>
              <a:t>5. </a:t>
            </a:r>
            <a:r>
              <a:rPr lang="en-US" i="1" dirty="0" smtClean="0">
                <a:cs typeface="Arial" charset="0"/>
              </a:rPr>
              <a:t>Openness to experience: </a:t>
            </a:r>
            <a:r>
              <a:rPr lang="en-US" dirty="0" smtClean="0">
                <a:cs typeface="Arial" charset="0"/>
              </a:rPr>
              <a:t>The degree to which someone has a wide range of</a:t>
            </a:r>
            <a:r>
              <a:rPr lang="en-US" baseline="0" dirty="0" smtClean="0">
                <a:cs typeface="Arial" charset="0"/>
              </a:rPr>
              <a:t> </a:t>
            </a:r>
            <a:r>
              <a:rPr lang="en-US" dirty="0" smtClean="0">
                <a:cs typeface="Arial" charset="0"/>
              </a:rPr>
              <a:t>interests and is imaginative, fascinated with novelty, artistically sensitive, and</a:t>
            </a:r>
            <a:r>
              <a:rPr lang="en-US" baseline="0" dirty="0" smtClean="0">
                <a:cs typeface="Arial" charset="0"/>
              </a:rPr>
              <a:t> </a:t>
            </a:r>
            <a:r>
              <a:rPr lang="en-US" dirty="0" smtClean="0">
                <a:cs typeface="Arial" charset="0"/>
              </a:rPr>
              <a:t>intellectual.</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7865653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Some people believe they control their own fate. Others see themselves as pawns, believing that what happens to them in their lives is due to</a:t>
            </a:r>
            <a:r>
              <a:rPr lang="en-US" baseline="0" dirty="0" smtClean="0">
                <a:cs typeface="Arial" charset="0"/>
              </a:rPr>
              <a:t> </a:t>
            </a:r>
            <a:r>
              <a:rPr lang="en-US" dirty="0" smtClean="0">
                <a:cs typeface="Arial" charset="0"/>
              </a:rPr>
              <a:t>luck or chance. The </a:t>
            </a:r>
            <a:r>
              <a:rPr lang="en-US" b="1" dirty="0" smtClean="0">
                <a:cs typeface="Arial" charset="0"/>
              </a:rPr>
              <a:t>locus of control </a:t>
            </a:r>
            <a:r>
              <a:rPr lang="en-US" dirty="0" smtClean="0">
                <a:cs typeface="Arial" charset="0"/>
              </a:rPr>
              <a:t>in the first case is </a:t>
            </a:r>
            <a:r>
              <a:rPr lang="en-US" i="1" dirty="0" smtClean="0">
                <a:cs typeface="Arial" charset="0"/>
              </a:rPr>
              <a:t>internal</a:t>
            </a:r>
            <a:r>
              <a:rPr lang="en-US" dirty="0" smtClean="0">
                <a:cs typeface="Arial" charset="0"/>
              </a:rPr>
              <a:t>; these people believe they control their own destiny. The locus of control in the second case is </a:t>
            </a:r>
            <a:r>
              <a:rPr lang="en-US" i="1" dirty="0" smtClean="0">
                <a:cs typeface="Arial" charset="0"/>
              </a:rPr>
              <a:t>external</a:t>
            </a:r>
            <a:r>
              <a:rPr lang="en-US" dirty="0" smtClean="0">
                <a:cs typeface="Arial" charset="0"/>
              </a:rPr>
              <a:t>; these people believe their lives are controlled by outside forces.</a:t>
            </a:r>
          </a:p>
          <a:p>
            <a:pPr eaLnBrk="1" hangingPunct="1"/>
            <a:endParaRPr lang="en-US" dirty="0" smtClean="0">
              <a:cs typeface="Arial" charset="0"/>
            </a:endParaRPr>
          </a:p>
          <a:p>
            <a:pPr eaLnBrk="1" hangingPunct="1"/>
            <a:r>
              <a:rPr lang="en-US" dirty="0" smtClean="0">
                <a:cs typeface="Arial" charset="0"/>
              </a:rPr>
              <a:t>Another characteristic is called </a:t>
            </a:r>
            <a:r>
              <a:rPr lang="en-US" b="1" dirty="0" smtClean="0">
                <a:cs typeface="Arial" charset="0"/>
              </a:rPr>
              <a:t>Machiavellianism </a:t>
            </a:r>
            <a:r>
              <a:rPr lang="en-US" dirty="0" smtClean="0">
                <a:cs typeface="Arial" charset="0"/>
              </a:rPr>
              <a:t>(Mach), named after Niccolo Machiavelli, who wrote in the sixteenth century on how to</a:t>
            </a:r>
            <a:r>
              <a:rPr lang="en-US" baseline="0" dirty="0" smtClean="0">
                <a:cs typeface="Arial" charset="0"/>
              </a:rPr>
              <a:t> </a:t>
            </a:r>
            <a:r>
              <a:rPr lang="en-US" dirty="0" smtClean="0">
                <a:cs typeface="Arial" charset="0"/>
              </a:rPr>
              <a:t>gain and manipulate power. An individual high in Machiavellianism is pragmatic, maintains emotional distance, and believes that ends can justify means.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12016195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People differ in the degree to which they like or dislike themselves, a trait called </a:t>
            </a:r>
            <a:r>
              <a:rPr lang="en-US" b="1" dirty="0" smtClean="0">
                <a:cs typeface="Arial" charset="0"/>
              </a:rPr>
              <a:t>self-esteem</a:t>
            </a:r>
            <a:r>
              <a:rPr lang="en-US" dirty="0" smtClean="0">
                <a:cs typeface="Arial" charset="0"/>
              </a:rPr>
              <a:t>. Research on self-esteem (SE) offers some interesting behavioral insights. For example, self-esteem is directly related to expectations for success. High SEs believe they possess the ability they need to succeed at work. Individuals with high SEs will take more risks in job selection and are more likely to choose unconventional jobs than people with low SEs.</a:t>
            </a:r>
          </a:p>
          <a:p>
            <a:pPr eaLnBrk="1" hangingPunct="1"/>
            <a:endParaRPr lang="en-US" dirty="0" smtClean="0">
              <a:cs typeface="Arial" charset="0"/>
            </a:endParaRPr>
          </a:p>
          <a:p>
            <a:pPr eaLnBrk="1" hangingPunct="1"/>
            <a:r>
              <a:rPr lang="en-US" dirty="0" smtClean="0">
                <a:cs typeface="Arial" charset="0"/>
              </a:rPr>
              <a:t>That natural ability to “click” with other people may play a significant role in determining career success and is another personality</a:t>
            </a:r>
            <a:r>
              <a:rPr lang="en-US" baseline="0" dirty="0" smtClean="0">
                <a:cs typeface="Arial" charset="0"/>
              </a:rPr>
              <a:t> </a:t>
            </a:r>
            <a:r>
              <a:rPr lang="en-US" dirty="0" smtClean="0">
                <a:cs typeface="Arial" charset="0"/>
              </a:rPr>
              <a:t>trait called </a:t>
            </a:r>
            <a:r>
              <a:rPr lang="en-US" b="1" dirty="0" smtClean="0">
                <a:cs typeface="Arial" charset="0"/>
              </a:rPr>
              <a:t>self-monitoring</a:t>
            </a:r>
            <a:r>
              <a:rPr lang="en-US" dirty="0" smtClean="0">
                <a:cs typeface="Arial" charset="0"/>
              </a:rPr>
              <a:t>, which refers to the ability to adjust behavior to external, situational factors. Individuals high in self-monitoring show considerable adaptability in adjusting their behavior. They’re highly sensitive to external cues and can behave differently in different situations.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5686873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Another interesting trait that’s been studied extensively is the </a:t>
            </a:r>
            <a:r>
              <a:rPr lang="en-US" b="1" dirty="0" smtClean="0">
                <a:cs typeface="Arial" charset="0"/>
              </a:rPr>
              <a:t>proactive personality</a:t>
            </a:r>
            <a:r>
              <a:rPr lang="en-US" dirty="0" smtClean="0">
                <a:cs typeface="Arial" charset="0"/>
              </a:rPr>
              <a:t>, which describes people who identify opportunities, show initiative, take action, and persevere until meaningful change occurs. Not surprisingly, research has shown that proactives have many desirable behaviors that organizations want.</a:t>
            </a:r>
          </a:p>
          <a:p>
            <a:pPr eaLnBrk="1" hangingPunct="1"/>
            <a:endParaRPr lang="en-US" dirty="0" smtClean="0">
              <a:cs typeface="Arial" charset="0"/>
            </a:endParaRPr>
          </a:p>
          <a:p>
            <a:pPr eaLnBrk="1" hangingPunct="1"/>
            <a:r>
              <a:rPr lang="en-US" dirty="0" smtClean="0">
                <a:cs typeface="Arial" charset="0"/>
              </a:rPr>
              <a:t>Finally, the economic recession has prompted a reexamination of </a:t>
            </a:r>
            <a:r>
              <a:rPr lang="en-US" b="1" dirty="0" smtClean="0">
                <a:cs typeface="Arial" charset="0"/>
              </a:rPr>
              <a:t>resilience</a:t>
            </a:r>
            <a:r>
              <a:rPr lang="en-US" dirty="0" smtClean="0">
                <a:cs typeface="Arial" charset="0"/>
              </a:rPr>
              <a:t>, an individual’s ability to overcome challenges and turn them into opportunities. A recent study by a global consulting firm showed that it is a key factor in keeping a job: A resilient person is likely to be more adaptable, flexible, and goal-focused.</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1043507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National cultures differ in terms of the degree to which people believe they control their environment. For instance, North Americans believe they can dominate their environment; other societies, such as those in Middle Eastern countries, believe life is essentially predetermined. Notice how closely this distinction parallels the concept internal and external locus of control. On the basis of this particular cultural characteristic, we should expect a larger proportion of internals in the U.S. and Canadian workforces than in the workforces of Saudi Arabia or Iran. </a:t>
            </a:r>
            <a:endParaRPr lang="en-US" dirty="0" smtClean="0"/>
          </a:p>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16464017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How we respond emotionally and how we deal with our emotions are typically functions of our personality. </a:t>
            </a:r>
            <a:r>
              <a:rPr lang="en-US" b="1" dirty="0" smtClean="0">
                <a:cs typeface="Arial" charset="0"/>
              </a:rPr>
              <a:t>Emotions </a:t>
            </a:r>
            <a:r>
              <a:rPr lang="en-US" dirty="0" smtClean="0">
                <a:cs typeface="Arial" charset="0"/>
              </a:rPr>
              <a:t>are intense feelings directed at someone or something. They’re object-specific; that is, emotions are reactions to an object.</a:t>
            </a:r>
          </a:p>
          <a:p>
            <a:pPr eaLnBrk="1" hangingPunct="1"/>
            <a:endParaRPr lang="en-US" dirty="0" smtClean="0">
              <a:cs typeface="Arial" charset="0"/>
            </a:endParaRPr>
          </a:p>
          <a:p>
            <a:pPr eaLnBrk="1" hangingPunct="1"/>
            <a:r>
              <a:rPr lang="en-US" dirty="0" smtClean="0">
                <a:cs typeface="Arial" charset="0"/>
              </a:rPr>
              <a:t>One area of emotions research with interesting insights into personality is </a:t>
            </a:r>
            <a:r>
              <a:rPr lang="en-US" b="1" dirty="0" smtClean="0">
                <a:cs typeface="Arial" charset="0"/>
              </a:rPr>
              <a:t>emotional intelligence (EI)</a:t>
            </a:r>
            <a:r>
              <a:rPr lang="en-US" dirty="0" smtClean="0">
                <a:cs typeface="Arial" charset="0"/>
              </a:rPr>
              <a:t>, the ability to notice and to manage emotional cues and information.</a:t>
            </a: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18567626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Emotional Intelligence is composed of five dimensions:</a:t>
            </a:r>
          </a:p>
          <a:p>
            <a:pPr eaLnBrk="1" hangingPunct="1"/>
            <a:r>
              <a:rPr lang="en-US" i="1" dirty="0" smtClean="0">
                <a:cs typeface="Arial" charset="0"/>
              </a:rPr>
              <a:t>Self-awareness: </a:t>
            </a:r>
            <a:r>
              <a:rPr lang="en-US" dirty="0" smtClean="0">
                <a:cs typeface="Arial" charset="0"/>
              </a:rPr>
              <a:t>The ability to be aware of what you’re feeling.</a:t>
            </a:r>
          </a:p>
          <a:p>
            <a:pPr eaLnBrk="1" hangingPunct="1"/>
            <a:r>
              <a:rPr lang="en-US" i="1" dirty="0" smtClean="0">
                <a:cs typeface="Arial" charset="0"/>
              </a:rPr>
              <a:t>Self-management: </a:t>
            </a:r>
            <a:r>
              <a:rPr lang="en-US" dirty="0" smtClean="0">
                <a:cs typeface="Arial" charset="0"/>
              </a:rPr>
              <a:t>The ability to manage one’s own emotions and impulses.</a:t>
            </a:r>
          </a:p>
          <a:p>
            <a:pPr eaLnBrk="1" hangingPunct="1"/>
            <a:r>
              <a:rPr lang="en-US" i="1" dirty="0" smtClean="0">
                <a:cs typeface="Arial" charset="0"/>
              </a:rPr>
              <a:t>Self-motivation: </a:t>
            </a:r>
            <a:r>
              <a:rPr lang="en-US" dirty="0" smtClean="0">
                <a:cs typeface="Arial" charset="0"/>
              </a:rPr>
              <a:t>The ability to persist in the face of setbacks and failures.</a:t>
            </a:r>
          </a:p>
          <a:p>
            <a:pPr eaLnBrk="1" hangingPunct="1"/>
            <a:r>
              <a:rPr lang="en-US" dirty="0" smtClean="0">
                <a:cs typeface="Arial" charset="0"/>
              </a:rPr>
              <a:t>The last two dimensions of EI are:</a:t>
            </a:r>
          </a:p>
          <a:p>
            <a:pPr eaLnBrk="1" hangingPunct="1"/>
            <a:r>
              <a:rPr lang="en-US" i="1" dirty="0" smtClean="0">
                <a:cs typeface="Arial" charset="0"/>
              </a:rPr>
              <a:t>Empathy: </a:t>
            </a:r>
            <a:r>
              <a:rPr lang="en-US" dirty="0" smtClean="0">
                <a:cs typeface="Arial" charset="0"/>
              </a:rPr>
              <a:t>The ability to sense how others are feeling.</a:t>
            </a:r>
          </a:p>
          <a:p>
            <a:pPr eaLnBrk="1" hangingPunct="1"/>
            <a:r>
              <a:rPr lang="en-US" i="1" dirty="0" smtClean="0">
                <a:cs typeface="Arial" charset="0"/>
              </a:rPr>
              <a:t>Social skills: </a:t>
            </a:r>
            <a:r>
              <a:rPr lang="en-US" dirty="0" smtClean="0">
                <a:cs typeface="Arial" charset="0"/>
              </a:rPr>
              <a:t>The ability to handle the emotions of others.</a:t>
            </a:r>
          </a:p>
          <a:p>
            <a:pPr eaLnBrk="1" hangingPunct="1"/>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09432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best-documented personality-job t theory was developed by psychologist John Holland, who identified six basic personality types. His theory states that an employee’s satisfaction with his or her job, as well as his or her likelihood of leaving that job, depends on the degree to which the individual’s personality matches the job environment.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Exhibit 15-4 describes the six types, their personality characteristics, and examples of suitable occupations for each.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1942487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1" kern="1200" dirty="0" smtClean="0">
                <a:solidFill>
                  <a:schemeClr val="tx1"/>
                </a:solidFill>
                <a:effectLst/>
                <a:latin typeface="+mn-lt"/>
                <a:ea typeface="+mn-ea"/>
                <a:cs typeface="+mn-cs"/>
              </a:rPr>
              <a:t>Source: </a:t>
            </a:r>
            <a:r>
              <a:rPr lang="en-US" sz="1200" kern="1200" dirty="0" smtClean="0">
                <a:solidFill>
                  <a:schemeClr val="tx1"/>
                </a:solidFill>
                <a:effectLst/>
                <a:latin typeface="+mn-lt"/>
                <a:ea typeface="+mn-ea"/>
                <a:cs typeface="+mn-cs"/>
              </a:rPr>
              <a:t>Based on J. L. Holland, </a:t>
            </a:r>
            <a:r>
              <a:rPr lang="en-US" sz="1200" i="1" kern="1200" dirty="0" smtClean="0">
                <a:solidFill>
                  <a:schemeClr val="tx1"/>
                </a:solidFill>
                <a:effectLst/>
                <a:latin typeface="+mn-lt"/>
                <a:ea typeface="+mn-ea"/>
                <a:cs typeface="+mn-cs"/>
              </a:rPr>
              <a:t>Making Vocational Choices: A Theory of Vocational Personalities and Work Environments </a:t>
            </a:r>
            <a:r>
              <a:rPr lang="en-US" sz="1200" kern="1200" dirty="0" smtClean="0">
                <a:solidFill>
                  <a:schemeClr val="tx1"/>
                </a:solidFill>
                <a:effectLst/>
                <a:latin typeface="+mn-lt"/>
                <a:ea typeface="+mn-ea"/>
                <a:cs typeface="+mn-cs"/>
              </a:rPr>
              <a:t>(Odessa, FL: Psychological Assessment Resources, 1997).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18308611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best-documented personality-job t theory was developed by psychologist John Holland, who identified six basic personality types. His theory states that an employee’s satisfaction with his or her job, as well as his or her likelihood of leaving that job, depends on the degree to which the individual’s personality matches the job environment. </a:t>
            </a:r>
          </a:p>
          <a:p>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Exhibit 15-4 describes the six types, their personality characteristics, and examples of suitable occupations for each.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5012907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Perception </a:t>
            </a:r>
            <a:r>
              <a:rPr lang="en-US" dirty="0" smtClean="0">
                <a:cs typeface="Arial" charset="0"/>
              </a:rPr>
              <a:t>is a process by which we give meaning to our environment by organizing and interpreting sensory impressions.</a:t>
            </a:r>
          </a:p>
          <a:p>
            <a:pPr eaLnBrk="1" hangingPunct="1"/>
            <a:r>
              <a:rPr lang="en-US" dirty="0" smtClean="0">
                <a:cs typeface="Arial" charset="0"/>
              </a:rPr>
              <a:t>Research on perception consistently demonstrates that individuals may look at the same thing yet perceive it differently. One manager, for instance, can interpret the fact that her assistant regularly takes several days to make important decisions as evidence that the assistant is slow, disorganized, and afraid to make decisions. Another manager with the same assistant might interpret the same tendency as evidence that the assistant is thoughtful, thorough, and deliberate. The first manager would probably evaluate her assistant negatively; the second manager would probably evaluate the person positively. The point is that none of us sees reality. We interpret what we see and call it reality. And, of course, as the example shows, we behave according to our perceptions.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4476512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characteristics of the target being observed can also affect what’s perceived. Loud people are more likely than quiet people to be noticed in a group as are extremely attractive or unattractive individuals. The relationship of a target to its background also influences perception, as does our tendency to group close things and similar things together. You can experience these tendencies by looking at the visual perception examples shown in Exhibit 15-5. Notice how what you see changes as you look differently at each one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140183094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Attribution theory </a:t>
            </a:r>
            <a:r>
              <a:rPr lang="en-US" dirty="0" smtClean="0">
                <a:cs typeface="Arial" charset="0"/>
              </a:rPr>
              <a:t>was developed to explain how we judge people differently depending on what meaning we attribute to a given behavior. Basically, the theory suggests that when we observe an individual’s behavior, we attempt to determine whether it was internally or externally caused. Internally caused behaviors are those believed to be under the personal control of the individual. Externally caused behavior results from outside factors; that is, the person is forced into the behavior by the situation. That determination, however, depends on three factors: distinctiveness, consensus, and consistency.</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17343625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35</a:t>
            </a:fld>
            <a:endParaRPr lang="en-US" dirty="0"/>
          </a:p>
        </p:txBody>
      </p:sp>
    </p:spTree>
    <p:extLst>
      <p:ext uri="{BB962C8B-B14F-4D97-AF65-F5344CB8AC3E}">
        <p14:creationId xmlns:p14="http://schemas.microsoft.com/office/powerpoint/2010/main" val="10455334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One interesting finding from attribution theory is that errors or biases distort our attributions. For instance, substantial evidence supports the fact that when we make judgments about the behavior of other people, we have a tendency to </a:t>
            </a:r>
            <a:r>
              <a:rPr lang="en-US" i="1" dirty="0" smtClean="0">
                <a:cs typeface="Arial" charset="0"/>
              </a:rPr>
              <a:t>under</a:t>
            </a:r>
            <a:r>
              <a:rPr lang="en-US" dirty="0" smtClean="0">
                <a:cs typeface="Arial" charset="0"/>
              </a:rPr>
              <a:t>estimate the influence of external factors and to </a:t>
            </a:r>
            <a:r>
              <a:rPr lang="en-US" i="1" dirty="0" smtClean="0">
                <a:cs typeface="Arial" charset="0"/>
              </a:rPr>
              <a:t>over</a:t>
            </a:r>
            <a:r>
              <a:rPr lang="en-US" dirty="0" smtClean="0">
                <a:cs typeface="Arial" charset="0"/>
              </a:rPr>
              <a:t>estimate the influence of internal or personal factors. This tendency is called the </a:t>
            </a:r>
            <a:r>
              <a:rPr lang="en-US" b="1" dirty="0" smtClean="0">
                <a:cs typeface="Arial" charset="0"/>
              </a:rPr>
              <a:t>fundamental attribution error </a:t>
            </a:r>
            <a:r>
              <a:rPr lang="en-US" dirty="0" smtClean="0">
                <a:cs typeface="Arial" charset="0"/>
              </a:rPr>
              <a:t>and can explain why a sales manager may attribute the poor performance of her sales representative to laziness rather than to the innovative product line introduced by a competitor.</a:t>
            </a:r>
          </a:p>
          <a:p>
            <a:pPr eaLnBrk="1" hangingPunct="1"/>
            <a:endParaRPr lang="en-US" dirty="0" smtClean="0">
              <a:cs typeface="Arial" charset="0"/>
            </a:endParaRPr>
          </a:p>
          <a:p>
            <a:pPr eaLnBrk="1" hangingPunct="1"/>
            <a:r>
              <a:rPr lang="en-US" dirty="0" smtClean="0">
                <a:cs typeface="Arial" charset="0"/>
              </a:rPr>
              <a:t>This tendency is called the </a:t>
            </a:r>
            <a:r>
              <a:rPr lang="en-US" b="1" dirty="0" smtClean="0">
                <a:cs typeface="Arial" charset="0"/>
              </a:rPr>
              <a:t>self-serving bias </a:t>
            </a:r>
            <a:r>
              <a:rPr lang="en-US" dirty="0" smtClean="0">
                <a:cs typeface="Arial" charset="0"/>
              </a:rPr>
              <a:t>and suggests that feedback provided to employees in performance reviews will be distorted by them depending on whether it’s positive or negative.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36</a:t>
            </a:fld>
            <a:endParaRPr lang="en-US" dirty="0"/>
          </a:p>
        </p:txBody>
      </p:sp>
    </p:spTree>
    <p:extLst>
      <p:ext uri="{BB962C8B-B14F-4D97-AF65-F5344CB8AC3E}">
        <p14:creationId xmlns:p14="http://schemas.microsoft.com/office/powerpoint/2010/main" val="164181732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It’s easy to judge others if we assume they’re similar to us. In </a:t>
            </a:r>
            <a:r>
              <a:rPr lang="en-US" b="1" dirty="0" smtClean="0">
                <a:cs typeface="Arial" charset="0"/>
              </a:rPr>
              <a:t>assumed similarity</a:t>
            </a:r>
            <a:r>
              <a:rPr lang="en-US" dirty="0" smtClean="0">
                <a:cs typeface="Arial" charset="0"/>
              </a:rPr>
              <a:t>, or the “like me” effect, the observer’s perception of others is influenced more by the observer’s own characteristics than by those of the person observed.</a:t>
            </a:r>
          </a:p>
          <a:p>
            <a:pPr eaLnBrk="1" hangingPunct="1"/>
            <a:endParaRPr lang="en-US" dirty="0" smtClean="0">
              <a:cs typeface="Arial" charset="0"/>
            </a:endParaRPr>
          </a:p>
          <a:p>
            <a:pPr eaLnBrk="1" hangingPunct="1"/>
            <a:r>
              <a:rPr lang="en-US" dirty="0" smtClean="0">
                <a:cs typeface="Arial" charset="0"/>
              </a:rPr>
              <a:t>When we judge someone on the basis of our perception of a group he or she is part of, we’re using the shortcut called </a:t>
            </a:r>
            <a:r>
              <a:rPr lang="en-US" b="1" dirty="0" smtClean="0">
                <a:cs typeface="Arial" charset="0"/>
              </a:rPr>
              <a:t>stereotyping</a:t>
            </a:r>
            <a:r>
              <a:rPr lang="en-US" dirty="0" smtClean="0">
                <a:cs typeface="Arial" charset="0"/>
              </a:rPr>
              <a:t>. For instance, “Married people are more stable employees than single persons” is an example of stereotyping.</a:t>
            </a:r>
          </a:p>
          <a:p>
            <a:pPr eaLnBrk="1" hangingPunct="1"/>
            <a:endParaRPr lang="en-US" dirty="0" smtClean="0">
              <a:cs typeface="Arial" charset="0"/>
            </a:endParaRPr>
          </a:p>
          <a:p>
            <a:pPr eaLnBrk="1" hangingPunct="1"/>
            <a:r>
              <a:rPr lang="en-US" dirty="0" smtClean="0">
                <a:cs typeface="Arial" charset="0"/>
              </a:rPr>
              <a:t>When we form a general impression about a person on the basis of a single characteristic, such as intelligence, sociability, or appearance, we’re influenced by the </a:t>
            </a:r>
            <a:r>
              <a:rPr lang="en-US" b="1" dirty="0" smtClean="0">
                <a:cs typeface="Arial" charset="0"/>
              </a:rPr>
              <a:t>halo effect</a:t>
            </a:r>
            <a:r>
              <a:rPr lang="en-US" dirty="0" smtClean="0">
                <a:cs typeface="Arial" charset="0"/>
              </a:rPr>
              <a: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37</a:t>
            </a:fld>
            <a:endParaRPr lang="en-US" dirty="0"/>
          </a:p>
        </p:txBody>
      </p:sp>
    </p:spTree>
    <p:extLst>
      <p:ext uri="{BB962C8B-B14F-4D97-AF65-F5344CB8AC3E}">
        <p14:creationId xmlns:p14="http://schemas.microsoft.com/office/powerpoint/2010/main" val="10965741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So whether a manager’s appraisal of an employee’s performance is actually objective and unbiased or whether the organization’s wage levels are among the highest in the community is less relevant than what employees perceive them to be. If individuals perceive appraisals to be biased or wage levels as low, they’ll behave as if those conditions actually exist.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38</a:t>
            </a:fld>
            <a:endParaRPr lang="en-US" dirty="0"/>
          </a:p>
        </p:txBody>
      </p:sp>
    </p:spTree>
    <p:extLst>
      <p:ext uri="{BB962C8B-B14F-4D97-AF65-F5344CB8AC3E}">
        <p14:creationId xmlns:p14="http://schemas.microsoft.com/office/powerpoint/2010/main" val="18140317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So whether a manager’s appraisal of an employee’s performance is actually objective and unbiased or whether the organization’s wage levels are among the highest in the community is less relevant than what employees perceive them to be. If individuals perceive appraisals to be biased or wage levels as low, they’ll behave as if those conditions actually exist.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39</a:t>
            </a:fld>
            <a:endParaRPr lang="en-US" dirty="0"/>
          </a:p>
        </p:txBody>
      </p:sp>
    </p:spTree>
    <p:extLst>
      <p:ext uri="{BB962C8B-B14F-4D97-AF65-F5344CB8AC3E}">
        <p14:creationId xmlns:p14="http://schemas.microsoft.com/office/powerpoint/2010/main" val="17567237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b="1" dirty="0" smtClean="0">
                <a:cs typeface="Arial" charset="0"/>
              </a:rPr>
              <a:t>Operant conditioning </a:t>
            </a:r>
            <a:r>
              <a:rPr lang="en-US" dirty="0" smtClean="0">
                <a:cs typeface="Arial" charset="0"/>
              </a:rPr>
              <a:t>argues that behavior is a function of its consequences. People learn to behave to get something they want or to avoid something they don’t want. Operant behavior is voluntary or learned behavior, not reflexive or unlearned behavior. The tendency to repeat learned behavior is influenced by reinforcement or lack of reinforcement that happens as a result of the behavior. Reinforcement strengthens a behavior and increases the likelihood that it will be repeated. Lack of reinforcement weakens a behavior and lessens the likelihood that it will be repeated.</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40</a:t>
            </a:fld>
            <a:endParaRPr lang="en-US" dirty="0"/>
          </a:p>
        </p:txBody>
      </p:sp>
    </p:spTree>
    <p:extLst>
      <p:ext uri="{BB962C8B-B14F-4D97-AF65-F5344CB8AC3E}">
        <p14:creationId xmlns:p14="http://schemas.microsoft.com/office/powerpoint/2010/main" val="82820934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defRPr/>
            </a:pPr>
            <a:r>
              <a:rPr lang="en-US" dirty="0" smtClean="0"/>
              <a:t>Much of what we have learned comes from watching others (models)—parents, teachers, peers, television and movie actors, managers, and so forth. This view that we can learn both through observation and direct experience is called </a:t>
            </a:r>
            <a:r>
              <a:rPr lang="en-US" b="1" dirty="0" smtClean="0"/>
              <a:t>social learning theory</a:t>
            </a:r>
            <a:r>
              <a:rPr lang="en-US" dirty="0" smtClean="0"/>
              <a:t>. The influence of others is central to the social learning viewpoint. The amount of influence these models have on an individual is determined by four processes:</a:t>
            </a:r>
          </a:p>
          <a:p>
            <a:pPr eaLnBrk="1" hangingPunct="1">
              <a:defRPr/>
            </a:pPr>
            <a:endParaRPr lang="en-US" dirty="0" smtClean="0"/>
          </a:p>
          <a:p>
            <a:pPr marL="228600" indent="-228600" eaLnBrk="1" hangingPunct="1">
              <a:buFontTx/>
              <a:buAutoNum type="arabicPeriod"/>
              <a:defRPr/>
            </a:pPr>
            <a:r>
              <a:rPr lang="en-US" i="1" dirty="0" smtClean="0"/>
              <a:t>Attentional processes. </a:t>
            </a:r>
            <a:r>
              <a:rPr lang="en-US" dirty="0" smtClean="0"/>
              <a:t>People learn from a model when they recognize and pay attention to its critical features. We’re most influenced by models who are attractive, repeatedly available, thought to be important, or seen as similar to us. </a:t>
            </a:r>
          </a:p>
          <a:p>
            <a:pPr marL="228600" indent="-228600" eaLnBrk="1" hangingPunct="1">
              <a:buFontTx/>
              <a:buAutoNum type="arabicPeriod"/>
              <a:defRPr/>
            </a:pPr>
            <a:endParaRPr lang="en-US" dirty="0" smtClean="0"/>
          </a:p>
          <a:p>
            <a:pPr marL="228600" indent="-228600" eaLnBrk="1" hangingPunct="1">
              <a:buFontTx/>
              <a:buAutoNum type="arabicPeriod"/>
              <a:defRPr/>
            </a:pPr>
            <a:r>
              <a:rPr lang="en-US" i="1" dirty="0" smtClean="0"/>
              <a:t>Retention processes. </a:t>
            </a:r>
            <a:r>
              <a:rPr lang="en-US" dirty="0" smtClean="0"/>
              <a:t>A model’s influence will depend on how well the individual remembers the model’s action, even after the model is no longer readily available.</a:t>
            </a:r>
          </a:p>
          <a:p>
            <a:pPr marL="228600" indent="-228600" eaLnBrk="1" hangingPunct="1">
              <a:buFontTx/>
              <a:buAutoNum type="arabicPeriod"/>
              <a:defRPr/>
            </a:pPr>
            <a:endParaRPr lang="en-US" dirty="0" smtClean="0"/>
          </a:p>
          <a:p>
            <a:pPr marL="228600" indent="-228600" eaLnBrk="1" hangingPunct="1">
              <a:buFontTx/>
              <a:buAutoNum type="arabicPeriod"/>
              <a:defRPr/>
            </a:pPr>
            <a:r>
              <a:rPr lang="en-US" i="1" dirty="0" smtClean="0"/>
              <a:t>Motor reproduction processes. </a:t>
            </a:r>
            <a:r>
              <a:rPr lang="en-US" dirty="0" smtClean="0"/>
              <a:t>After a person has seen a new behavior by observing the model, the watching must become doing. This process then demonstrates that the individual can actually do the modeled activities.</a:t>
            </a:r>
          </a:p>
          <a:p>
            <a:pPr marL="0" indent="0" eaLnBrk="1" hangingPunct="1">
              <a:buFontTx/>
              <a:buNone/>
              <a:defRPr/>
            </a:pPr>
            <a:endParaRPr lang="en-US" dirty="0" smtClean="0"/>
          </a:p>
          <a:p>
            <a:pPr eaLnBrk="1" hangingPunct="1">
              <a:defRPr/>
            </a:pPr>
            <a:r>
              <a:rPr lang="en-US" b="0" dirty="0" smtClean="0"/>
              <a:t>4. </a:t>
            </a:r>
            <a:r>
              <a:rPr lang="en-US" i="1" dirty="0" smtClean="0"/>
              <a:t>Reinforcement processes. </a:t>
            </a:r>
            <a:r>
              <a:rPr lang="en-US" dirty="0" smtClean="0"/>
              <a:t>Individuals will be motivated to exhibit the modeled behavior if positive incentives or rewards are provided. Behaviors that are reinforced will be given more attention, learned better, and performed more often.</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41</a:t>
            </a:fld>
            <a:endParaRPr lang="en-US" dirty="0"/>
          </a:p>
        </p:txBody>
      </p:sp>
    </p:spTree>
    <p:extLst>
      <p:ext uri="{BB962C8B-B14F-4D97-AF65-F5344CB8AC3E}">
        <p14:creationId xmlns:p14="http://schemas.microsoft.com/office/powerpoint/2010/main" val="12611581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Because learning takes place on the job as well as prior to it, managers are concerned with how they can teach employees to behave in ways that most benefit the organization. Thus, managers will often attempt to “mold” individuals by guiding their learning in graduated steps, through a method called </a:t>
            </a:r>
            <a:r>
              <a:rPr lang="en-US" b="1" dirty="0" smtClean="0">
                <a:cs typeface="Arial" charset="0"/>
              </a:rPr>
              <a:t>shaping behavior</a:t>
            </a:r>
            <a:r>
              <a:rPr lang="en-US" dirty="0" smtClean="0">
                <a:cs typeface="Arial" charset="0"/>
              </a:rPr>
              <a:t>.</a:t>
            </a:r>
          </a:p>
          <a:p>
            <a:pPr eaLnBrk="1" hangingPunct="1"/>
            <a:endParaRPr lang="en-US" dirty="0" smtClean="0">
              <a:cs typeface="Arial" charset="0"/>
            </a:endParaRPr>
          </a:p>
          <a:p>
            <a:pPr eaLnBrk="1" hangingPunct="1"/>
            <a:r>
              <a:rPr lang="en-US" dirty="0" smtClean="0">
                <a:cs typeface="Arial" charset="0"/>
              </a:rPr>
              <a:t>Four ways to shape behavior include positive reinforcement, negative reinforcement, punishment, and extinction. When a behavior is followed by something pleasant, such as praising an employee for a job well done, it’s called </a:t>
            </a:r>
            <a:r>
              <a:rPr lang="en-US" i="1" dirty="0" smtClean="0">
                <a:cs typeface="Arial" charset="0"/>
              </a:rPr>
              <a:t>positive reinforcement. </a:t>
            </a:r>
            <a:r>
              <a:rPr lang="en-US" dirty="0" smtClean="0">
                <a:cs typeface="Arial" charset="0"/>
              </a:rPr>
              <a:t>Positive reinforcement increases the likelihood that the desired behavior will be repeated. Rewarding a response by eliminating or withdrawing something unpleasant</a:t>
            </a:r>
            <a:r>
              <a:rPr lang="en-US" baseline="0" dirty="0" smtClean="0">
                <a:cs typeface="Arial" charset="0"/>
              </a:rPr>
              <a:t> </a:t>
            </a:r>
            <a:r>
              <a:rPr lang="en-US" dirty="0" smtClean="0">
                <a:cs typeface="Arial" charset="0"/>
              </a:rPr>
              <a:t>is </a:t>
            </a:r>
            <a:r>
              <a:rPr lang="en-US" i="1" dirty="0" smtClean="0">
                <a:cs typeface="Arial" charset="0"/>
              </a:rPr>
              <a:t>negative reinforcement. </a:t>
            </a:r>
            <a:r>
              <a:rPr lang="en-US" dirty="0" smtClean="0">
                <a:cs typeface="Arial" charset="0"/>
              </a:rPr>
              <a:t>A manager who says, “I won’t dock your pay if you start getting to work on time” is using negative reinforcement. The desired behavior (getting to work on time) is being encouraged by the withdrawal of something unpleasant (the employee’s pay being docked). On the other hand, </a:t>
            </a:r>
            <a:r>
              <a:rPr lang="en-US" i="1" dirty="0" smtClean="0">
                <a:cs typeface="Arial" charset="0"/>
              </a:rPr>
              <a:t>punishment </a:t>
            </a:r>
            <a:r>
              <a:rPr lang="en-US" dirty="0" smtClean="0">
                <a:cs typeface="Arial" charset="0"/>
              </a:rPr>
              <a:t>penalizes undesirable behavior and will eliminate it. Suspending an employee for two days without pay for habitually coming to work late is an example of punishment. Finally, eliminating any reinforcement that’s maintaining a behavior is called </a:t>
            </a:r>
            <a:r>
              <a:rPr lang="en-US" i="1" dirty="0" smtClean="0">
                <a:cs typeface="Arial" charset="0"/>
              </a:rPr>
              <a:t>extinction. </a:t>
            </a:r>
            <a:r>
              <a:rPr lang="en-US" dirty="0" smtClean="0">
                <a:cs typeface="Arial" charset="0"/>
              </a:rPr>
              <a:t>When a behavior isn’t reinforced, it gradually disappears.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42</a:t>
            </a:fld>
            <a:endParaRPr lang="en-US" dirty="0"/>
          </a:p>
        </p:txBody>
      </p:sp>
    </p:spTree>
    <p:extLst>
      <p:ext uri="{BB962C8B-B14F-4D97-AF65-F5344CB8AC3E}">
        <p14:creationId xmlns:p14="http://schemas.microsoft.com/office/powerpoint/2010/main" val="1215933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If managers want behavior A, but reward behavior B, they shouldn’t be surprised to find employees learning to engage in behavior B. Similarly, managers should expect that employees will look to them as models. </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43</a:t>
            </a:fld>
            <a:endParaRPr lang="en-US" dirty="0"/>
          </a:p>
        </p:txBody>
      </p:sp>
    </p:spTree>
    <p:extLst>
      <p:ext uri="{BB962C8B-B14F-4D97-AF65-F5344CB8AC3E}">
        <p14:creationId xmlns:p14="http://schemas.microsoft.com/office/powerpoint/2010/main" val="14680726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Just like an iceberg, it’s the hidden organizational elements (attitudes, perceptions, norms, etc.) that make understanding individual behavior so challenging. Organization behavior (OB) focuses on three areas: individual behavior, group behavior, and organizational aspects. The goals of OB are to explain, predict, and influence behavior. Employee productivity is a performance measure of both efficiency and effectiveness. Absenteeism is the failure to report to work. Turnover is the voluntary and involuntary permanent withdrawal from an organization.</a:t>
            </a:r>
          </a:p>
          <a:p>
            <a:pPr eaLnBrk="1" hangingPunct="1"/>
            <a:r>
              <a:rPr lang="en-US" dirty="0" smtClean="0">
                <a:cs typeface="Arial" charset="0"/>
              </a:rPr>
              <a:t>Organizational citizenship behavior (OCB) is discretionary behavior that’s not part of an employee’s formal job requirements but it promotes the effective functioning of an organization. Job satisfaction is an individual’s general attitude toward his or her job. Workplace misbehavior is any intentional employee behavior that is potentially harmful to the organization or individuals within the organization.</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44</a:t>
            </a:fld>
            <a:endParaRPr lang="en-US" dirty="0"/>
          </a:p>
        </p:txBody>
      </p:sp>
    </p:spTree>
    <p:extLst>
      <p:ext uri="{BB962C8B-B14F-4D97-AF65-F5344CB8AC3E}">
        <p14:creationId xmlns:p14="http://schemas.microsoft.com/office/powerpoint/2010/main" val="17225887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The cognitive component refers to the beliefs, opinions, knowledge, or information held by a person. The affective component is the emotional or feeling part of an attitude. The behavioral component refers to an intention to behave in a certain way toward someone or something.</a:t>
            </a:r>
          </a:p>
          <a:p>
            <a:pPr eaLnBrk="1" hangingPunct="1"/>
            <a:endParaRPr lang="en-US" dirty="0" smtClean="0">
              <a:cs typeface="Arial" charset="0"/>
            </a:endParaRPr>
          </a:p>
          <a:p>
            <a:pPr eaLnBrk="1" hangingPunct="1"/>
            <a:r>
              <a:rPr lang="en-US" dirty="0" smtClean="0">
                <a:cs typeface="Arial" charset="0"/>
              </a:rPr>
              <a:t>Organizational commitment is the degree to which an employee identifies with a particular organization and its goals</a:t>
            </a:r>
            <a:r>
              <a:rPr lang="en-US" baseline="0" dirty="0" smtClean="0">
                <a:cs typeface="Arial" charset="0"/>
              </a:rPr>
              <a:t> </a:t>
            </a:r>
            <a:r>
              <a:rPr lang="en-US" dirty="0" smtClean="0">
                <a:cs typeface="Arial" charset="0"/>
              </a:rPr>
              <a:t>and wishes to maintain membership in that organization. Employee engagement is when employees are connected to, satisfied with, and enthusiastic about their jobs.</a:t>
            </a:r>
          </a:p>
          <a:p>
            <a:pPr eaLnBrk="1" hangingPunct="1"/>
            <a:endParaRPr lang="en-US" dirty="0" smtClean="0">
              <a:cs typeface="Arial" charset="0"/>
            </a:endParaRPr>
          </a:p>
          <a:p>
            <a:pPr eaLnBrk="1" hangingPunct="1"/>
            <a:r>
              <a:rPr lang="en-US" dirty="0" smtClean="0">
                <a:cs typeface="Arial" charset="0"/>
              </a:rPr>
              <a:t>Job satisfaction positively influences productivity, lowers absenteeism levels, lowers turnover rates, promotes positive customer satisfaction, moderately promotes OCB, and helps minimize workplace misbehavior. Individuals try to reconcile attitude and behavior inconsistencies by altering their attitudes, altering their behavior, or rationalizing the inconsistency.</a:t>
            </a: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45</a:t>
            </a:fld>
            <a:endParaRPr lang="en-US" dirty="0"/>
          </a:p>
        </p:txBody>
      </p:sp>
    </p:spTree>
    <p:extLst>
      <p:ext uri="{BB962C8B-B14F-4D97-AF65-F5344CB8AC3E}">
        <p14:creationId xmlns:p14="http://schemas.microsoft.com/office/powerpoint/2010/main" val="69910689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cs typeface="Arial" charset="0"/>
              </a:rPr>
              <a:t>The MBTI measures four dimensions: social interaction, preference for gathering data, preference for decision-making, and style of making decisions. The Big Five Model consists of five personality traits: extraversion, agreeableness, conscientiousness, emotional stability, and openness to experience.</a:t>
            </a:r>
          </a:p>
          <a:p>
            <a:pPr eaLnBrk="1" hangingPunct="1"/>
            <a:endParaRPr lang="en-US" dirty="0" smtClean="0">
              <a:cs typeface="Arial" charset="0"/>
            </a:endParaRPr>
          </a:p>
          <a:p>
            <a:pPr eaLnBrk="1" hangingPunct="1"/>
            <a:r>
              <a:rPr lang="en-US" dirty="0" smtClean="0">
                <a:cs typeface="Arial" charset="0"/>
              </a:rPr>
              <a:t>The five personality traits that help explain individual behavior in organizations are locus of control, Machiavellianism, self-esteem, self-monitoring, and risk-taking. Other personality traits include Type A/Type B personalities, proactive personality, and resilience.</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46</a:t>
            </a:fld>
            <a:endParaRPr lang="en-US" dirty="0"/>
          </a:p>
        </p:txBody>
      </p:sp>
    </p:spTree>
    <p:extLst>
      <p:ext uri="{BB962C8B-B14F-4D97-AF65-F5344CB8AC3E}">
        <p14:creationId xmlns:p14="http://schemas.microsoft.com/office/powerpoint/2010/main" val="140169070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Perception is how we give meaning to our environment by organizing and interpreting sensory impressions. Because people behave according to their perceptions, managers need to understand it. </a:t>
            </a:r>
          </a:p>
          <a:p>
            <a:pPr eaLnBrk="1" hangingPunct="1"/>
            <a:endParaRPr lang="en-US" dirty="0" smtClean="0">
              <a:cs typeface="Arial" charset="0"/>
            </a:endParaRPr>
          </a:p>
          <a:p>
            <a:pPr eaLnBrk="1" hangingPunct="1"/>
            <a:r>
              <a:rPr lang="en-US" dirty="0" smtClean="0">
                <a:cs typeface="Arial" charset="0"/>
              </a:rPr>
              <a:t>Attribution theory depends on three factors. Distinctiveness is whether an individual displays different behaviors in different situations (that is, is the behavior unusual). Consensus is whether others facing a similar situation respond in the same way. Consistency is when a person engages in behaviors regularly and consistently. Whether these three factors are high or low helps managers determine whether employee</a:t>
            </a:r>
            <a:r>
              <a:rPr lang="en-US" baseline="0" dirty="0" smtClean="0">
                <a:cs typeface="Arial" charset="0"/>
              </a:rPr>
              <a:t> </a:t>
            </a:r>
            <a:r>
              <a:rPr lang="en-US" dirty="0" smtClean="0">
                <a:cs typeface="Arial" charset="0"/>
              </a:rPr>
              <a:t>behavior is attributed to external or internal causes. </a:t>
            </a:r>
          </a:p>
          <a:p>
            <a:pPr eaLnBrk="1" hangingPunct="1"/>
            <a:endParaRPr lang="en-US" dirty="0" smtClean="0">
              <a:cs typeface="Arial" charset="0"/>
            </a:endParaRPr>
          </a:p>
          <a:p>
            <a:pPr eaLnBrk="1" hangingPunct="1"/>
            <a:r>
              <a:rPr lang="en-US" dirty="0" smtClean="0">
                <a:cs typeface="Arial" charset="0"/>
              </a:rPr>
              <a:t>The fundamental attribution error is the tendency to underestimate the influence of external factors and overestimate the influence of internal factors.</a:t>
            </a:r>
          </a:p>
          <a:p>
            <a:pPr eaLnBrk="1" hangingPunct="1"/>
            <a:endParaRPr lang="en-US" dirty="0" smtClean="0">
              <a:cs typeface="Arial" charset="0"/>
            </a:endParaRPr>
          </a:p>
          <a:p>
            <a:pPr eaLnBrk="1" hangingPunct="1"/>
            <a:r>
              <a:rPr lang="en-US" dirty="0" smtClean="0">
                <a:cs typeface="Arial" charset="0"/>
              </a:rPr>
              <a:t>The self-serving bias is the tendency to attribute our own successes to internal factors and to put the blame for personal failure on external factors.</a:t>
            </a:r>
          </a:p>
          <a:p>
            <a:pPr eaLnBrk="1" hangingPunct="1"/>
            <a:endParaRPr lang="en-US" dirty="0" smtClean="0">
              <a:cs typeface="Arial" charset="0"/>
            </a:endParaRPr>
          </a:p>
          <a:p>
            <a:pPr eaLnBrk="1" hangingPunct="1"/>
            <a:r>
              <a:rPr lang="en-US" dirty="0" smtClean="0">
                <a:cs typeface="Arial" charset="0"/>
              </a:rPr>
              <a:t>Three shortcuts used in judging others are assumed similarity, stereotyping, and the halo effect.</a:t>
            </a:r>
          </a:p>
          <a:p>
            <a:pPr eaLnBrk="1" hangingPunct="1"/>
            <a:endParaRPr lang="en-US" dirty="0" smtClean="0">
              <a:cs typeface="Arial" charset="0"/>
            </a:endParaRPr>
          </a:p>
          <a:p>
            <a:pPr eaLnBrk="1" hangingPunct="1"/>
            <a:endParaRPr lang="en-US" dirty="0" smtClean="0">
              <a:cs typeface="Arial" charset="0"/>
            </a:endParaRPr>
          </a:p>
          <a:p>
            <a:pPr eaLnBrk="1" hangingPunct="1"/>
            <a:endParaRPr lang="en-US" dirty="0" smtClean="0">
              <a:cs typeface="Arial"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47</a:t>
            </a:fld>
            <a:endParaRPr lang="en-US" dirty="0"/>
          </a:p>
        </p:txBody>
      </p:sp>
    </p:spTree>
    <p:extLst>
      <p:ext uri="{BB962C8B-B14F-4D97-AF65-F5344CB8AC3E}">
        <p14:creationId xmlns:p14="http://schemas.microsoft.com/office/powerpoint/2010/main" val="11470613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cs typeface="Arial" charset="0"/>
              </a:rPr>
              <a:t>Operant conditioning argues that behavior is a function of its consequences. Managers can use it to explain, predict, and influence behavior.</a:t>
            </a:r>
          </a:p>
          <a:p>
            <a:pPr eaLnBrk="1" hangingPunct="1"/>
            <a:endParaRPr lang="en-US" dirty="0" smtClean="0">
              <a:cs typeface="Arial" charset="0"/>
            </a:endParaRPr>
          </a:p>
          <a:p>
            <a:pPr eaLnBrk="1" hangingPunct="1"/>
            <a:r>
              <a:rPr lang="en-US" dirty="0" smtClean="0">
                <a:cs typeface="Arial" charset="0"/>
              </a:rPr>
              <a:t>Social learning theory says that individuals learn by observing what happens to other people and by directly experiencing something.</a:t>
            </a:r>
          </a:p>
          <a:p>
            <a:pPr eaLnBrk="1" hangingPunct="1"/>
            <a:endParaRPr lang="en-US" dirty="0" smtClean="0">
              <a:cs typeface="Arial" charset="0"/>
            </a:endParaRPr>
          </a:p>
          <a:p>
            <a:pPr eaLnBrk="1" hangingPunct="1"/>
            <a:r>
              <a:rPr lang="en-US" dirty="0" smtClean="0">
                <a:cs typeface="Arial" charset="0"/>
              </a:rPr>
              <a:t>Managers can shape behavior by using positive reinforcement (reinforcing a desired behavior by giving something pleasant), negative reinforcement (reinforcing a desired response by withdrawing something unpleasant), punishment (eliminating undesirable behavior by applying penalties), or extinction (not reinforcing a behavior to eliminate it).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48</a:t>
            </a:fld>
            <a:endParaRPr lang="en-US" dirty="0"/>
          </a:p>
        </p:txBody>
      </p:sp>
    </p:spTree>
    <p:extLst>
      <p:ext uri="{BB962C8B-B14F-4D97-AF65-F5344CB8AC3E}">
        <p14:creationId xmlns:p14="http://schemas.microsoft.com/office/powerpoint/2010/main" val="201626650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pPr/>
              <a:t>49</a:t>
            </a:fld>
            <a:endParaRPr lang="en-US" dirty="0"/>
          </a:p>
        </p:txBody>
      </p:sp>
    </p:spTree>
    <p:extLst>
      <p:ext uri="{BB962C8B-B14F-4D97-AF65-F5344CB8AC3E}">
        <p14:creationId xmlns:p14="http://schemas.microsoft.com/office/powerpoint/2010/main" val="356758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BDF791E7-750C-8341-AAFB-569D9EBD860C}" type="datetime1">
              <a:rPr lang="en-US" smtClean="0"/>
              <a:pPr/>
              <a:t>4/6/2017</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1"/>
          </p:nvPr>
        </p:nvSpPr>
        <p:spPr/>
        <p:txBody>
          <a:bodyPr/>
          <a:lstStyle/>
          <a:p>
            <a:fld id="{42FB9264-E59D-4043-9483-B863A08BF7FA}" type="datetime1">
              <a:rPr lang="en-US" smtClean="0"/>
              <a:pPr/>
              <a:t>4/6/2017</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3" name="TextBox 12"/>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1"/>
          </p:nvPr>
        </p:nvSpPr>
        <p:spPr/>
        <p:txBody>
          <a:bodyPr/>
          <a:lstStyle/>
          <a:p>
            <a:fld id="{2C3A0B96-8BDC-3940-87A4-7335ADF41F82}" type="datetime1">
              <a:rPr lang="en-US" smtClean="0"/>
              <a:pPr/>
              <a:t>4/6/2017</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9" name="Date Placeholder 3"/>
          <p:cNvSpPr>
            <a:spLocks noGrp="1"/>
          </p:cNvSpPr>
          <p:nvPr>
            <p:ph type="dt" sz="half" idx="10"/>
          </p:nvPr>
        </p:nvSpPr>
        <p:spPr>
          <a:xfrm>
            <a:off x="6335713" y="113072"/>
            <a:ext cx="2133600" cy="182880"/>
          </a:xfrm>
        </p:spPr>
        <p:txBody>
          <a:bodyPr/>
          <a:lstStyle/>
          <a:p>
            <a:fld id="{69344A15-F0EB-274C-BCBE-62AA675174CC}" type="datetime1">
              <a:rPr lang="en-US" smtClean="0"/>
              <a:pPr/>
              <a:t>4/6/2017</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309878BC-7C7D-8B4D-8C72-5012D25A75FF}" type="datetime1">
              <a:rPr lang="en-US" smtClean="0"/>
              <a:pPr/>
              <a:t>4/6/2017</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a:xfrm>
            <a:off x="6335713" y="137160"/>
            <a:ext cx="2133600" cy="182880"/>
          </a:xfrm>
        </p:spPr>
        <p:txBody>
          <a:bodyPr/>
          <a:lstStyle>
            <a:lvl1pPr>
              <a:defRPr>
                <a:solidFill>
                  <a:schemeClr val="tx1"/>
                </a:solidFill>
              </a:defRPr>
            </a:lvl1pPr>
          </a:lstStyle>
          <a:p>
            <a:endParaRPr lang="en-US" dirty="0"/>
          </a:p>
        </p:txBody>
      </p:sp>
      <p:sp>
        <p:nvSpPr>
          <p:cNvPr id="9" name="TextBox 8"/>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F71CB5E4-2482-7B44-B2CD-545334C269B9}" type="datetime1">
              <a:rPr lang="en-US" smtClean="0"/>
              <a:pPr/>
              <a:t>4/6/2017</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4" name="Date Placeholder 3"/>
          <p:cNvSpPr>
            <a:spLocks noGrp="1"/>
          </p:cNvSpPr>
          <p:nvPr>
            <p:ph type="dt" sz="half" idx="10"/>
          </p:nvPr>
        </p:nvSpPr>
        <p:spPr/>
        <p:txBody>
          <a:bodyPr/>
          <a:lstStyle/>
          <a:p>
            <a:fld id="{2233C098-7E69-2F4E-8219-6B630AF7AB62}" type="datetime1">
              <a:rPr lang="en-US" smtClean="0"/>
              <a:pPr/>
              <a:t>4/6/2017</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3" name="Date Placeholder 2"/>
          <p:cNvSpPr>
            <a:spLocks noGrp="1"/>
          </p:cNvSpPr>
          <p:nvPr>
            <p:ph type="dt" sz="half" idx="10"/>
          </p:nvPr>
        </p:nvSpPr>
        <p:spPr/>
        <p:txBody>
          <a:bodyPr/>
          <a:lstStyle/>
          <a:p>
            <a:fld id="{FAA56894-5F48-BC43-8C04-BBB42A2EF5DA}" type="datetime1">
              <a:rPr lang="en-US" smtClean="0"/>
              <a:pPr/>
              <a:t>4/6/2017</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r>
              <a:rPr lang="en-US" dirty="0" smtClean="0"/>
              <a:t>Copyright © 2018 Pearson Education, Inc.</a:t>
            </a:r>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E1C2AD04-9B57-CD4E-ACCE-94DAA54D9932}" type="datetime1">
              <a:rPr lang="en-US" smtClean="0"/>
              <a:pPr/>
              <a:t>4/6/2017</a:t>
            </a:fld>
            <a:endParaRPr lang="en-US" dirty="0"/>
          </a:p>
        </p:txBody>
      </p:sp>
      <p:sp>
        <p:nvSpPr>
          <p:cNvPr id="10" name="TextBox 9"/>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Chapter Opener">
    <p:spTree>
      <p:nvGrpSpPr>
        <p:cNvPr id="1" name=""/>
        <p:cNvGrpSpPr/>
        <p:nvPr/>
      </p:nvGrpSpPr>
      <p:grpSpPr>
        <a:xfrm>
          <a:off x="0" y="0"/>
          <a:ext cx="0" cy="0"/>
          <a:chOff x="0" y="0"/>
          <a:chExt cx="0" cy="0"/>
        </a:xfrm>
      </p:grpSpPr>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smtClean="0"/>
              <a:t>Add edition here</a:t>
            </a:r>
            <a:endParaRPr lang="en-US" dirty="0"/>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smtClean="0"/>
              <a:t>Chapter ##</a:t>
            </a:r>
            <a:endParaRPr lang="en-US" dirty="0"/>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smtClean="0"/>
              <a:t>Chapter title</a:t>
            </a:r>
            <a:endParaRPr lang="en-US" dirty="0"/>
          </a:p>
        </p:txBody>
      </p:sp>
      <p:sp>
        <p:nvSpPr>
          <p:cNvPr id="14" name="Title 13"/>
          <p:cNvSpPr>
            <a:spLocks noGrp="1"/>
          </p:cNvSpPr>
          <p:nvPr>
            <p:ph type="title"/>
          </p:nvPr>
        </p:nvSpPr>
        <p:spPr>
          <a:xfrm>
            <a:off x="457200" y="215372"/>
            <a:ext cx="8229600" cy="621792"/>
          </a:xfrm>
        </p:spPr>
        <p:txBody>
          <a:bodyPr anchor="t" anchorCtr="0"/>
          <a:lstStyle/>
          <a:p>
            <a:r>
              <a:rPr lang="en-US" dirty="0" smtClean="0"/>
              <a:t>Click to edit Master title style</a:t>
            </a:r>
            <a:endParaRPr lang="en-US" dirty="0"/>
          </a:p>
        </p:txBody>
      </p:sp>
      <p:sp>
        <p:nvSpPr>
          <p:cNvPr id="15" name="Date Placeholder 14"/>
          <p:cNvSpPr>
            <a:spLocks noGrp="1"/>
          </p:cNvSpPr>
          <p:nvPr>
            <p:ph type="dt" sz="half" idx="16"/>
          </p:nvPr>
        </p:nvSpPr>
        <p:spPr/>
        <p:txBody>
          <a:bodyPr/>
          <a:lstStyle/>
          <a:p>
            <a:fld id="{A9DF6EFB-3F44-496C-A842-1E0B3D3B975A}" type="datetimeFigureOut">
              <a:rPr lang="en-US" smtClean="0"/>
              <a:pPr/>
              <a:t>4/6/2017</a:t>
            </a:fld>
            <a:endParaRPr lang="en-US" dirty="0"/>
          </a:p>
        </p:txBody>
      </p:sp>
      <p:sp>
        <p:nvSpPr>
          <p:cNvPr id="18" name="Footer Placeholder 17"/>
          <p:cNvSpPr>
            <a:spLocks noGrp="1"/>
          </p:cNvSpPr>
          <p:nvPr>
            <p:ph type="ftr" sz="quarter" idx="18"/>
          </p:nvPr>
        </p:nvSpPr>
        <p:spPr/>
        <p:txBody>
          <a:bodyPr/>
          <a:lstStyle/>
          <a:p>
            <a:endParaRPr lang="en-US" dirty="0"/>
          </a:p>
        </p:txBody>
      </p:sp>
      <p:pic>
        <p:nvPicPr>
          <p:cNvPr id="11" name="Picture 10" descr="Pearson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57200" y="6376789"/>
            <a:ext cx="918000" cy="279915"/>
          </a:xfrm>
          <a:prstGeom prst="rect">
            <a:avLst/>
          </a:prstGeom>
        </p:spPr>
      </p:pic>
      <p:sp>
        <p:nvSpPr>
          <p:cNvPr id="12" name="TextBox 11"/>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8236720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r>
              <a:rPr lang="en-US" dirty="0" smtClean="0"/>
              <a:t>Copyright © 2018 Pearson Education, Inc.</a:t>
            </a:r>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D4DCA001-C90D-F048-B3C0-108AEB1AC539}" type="datetime1">
              <a:rPr lang="en-US" smtClean="0"/>
              <a:pPr/>
              <a:t>4/6/2017</a:t>
            </a:fld>
            <a:endParaRPr lang="en-US" dirty="0"/>
          </a:p>
        </p:txBody>
      </p:sp>
      <p:pic>
        <p:nvPicPr>
          <p:cNvPr id="7" name="Picture 6" descr="Pearson Logo"/>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382512"/>
            <a:ext cx="7162800" cy="276999"/>
          </a:xfrm>
          <a:prstGeom prst="rect">
            <a:avLst/>
          </a:prstGeom>
          <a:noFill/>
        </p:spPr>
        <p:txBody>
          <a:bodyPr wrap="square" rtlCol="0">
            <a:spAutoFit/>
          </a:bodyPr>
          <a:lstStyle/>
          <a:p>
            <a:pPr marL="0" indent="0" algn="r" defTabSz="914400" rtl="0" eaLnBrk="1" latinLnBrk="0" hangingPunct="1">
              <a:spcBef>
                <a:spcPts val="0"/>
              </a:spcBef>
              <a:buClrTx/>
              <a:buFont typeface="Arial" panose="020B0604020202020204" pitchFamily="34" charset="0"/>
              <a:buNone/>
              <a:defRPr/>
            </a:pPr>
            <a:r>
              <a:rPr lang="en-US" altLang="en-US" sz="1200" kern="1200" dirty="0" smtClean="0">
                <a:solidFill>
                  <a:schemeClr val="tx1"/>
                </a:solidFill>
                <a:latin typeface="Verdana" pitchFamily="34" charset="0"/>
                <a:ea typeface="Verdana" pitchFamily="34" charset="0"/>
                <a:cs typeface="Verdana" pitchFamily="34" charset="0"/>
              </a:rPr>
              <a:t>Copyright © 2018, 2016, 2014 Pearson Education, Inc. All Rights Reserved</a:t>
            </a:r>
            <a:endParaRPr lang="en-US" altLang="en-US" sz="1200" kern="1200" dirty="0">
              <a:solidFill>
                <a:schemeClr val="tx1"/>
              </a:solidFill>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6" r:id="rId3"/>
    <p:sldLayoutId id="2147483650" r:id="rId4"/>
    <p:sldLayoutId id="2147483659" r:id="rId5"/>
    <p:sldLayoutId id="2147483658" r:id="rId6"/>
    <p:sldLayoutId id="2147483660" r:id="rId7"/>
    <p:sldLayoutId id="2147483651" r:id="rId8"/>
    <p:sldLayoutId id="2147483654" r:id="rId9"/>
    <p:sldLayoutId id="2147483655" r:id="rId10"/>
    <p:sldLayoutId id="2147483661" r:id="rId11"/>
  </p:sldLayoutIdLst>
  <p:hf hdr="0" ftr="0" dt="0"/>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Management</a:t>
            </a:r>
          </a:p>
        </p:txBody>
      </p:sp>
      <p:sp>
        <p:nvSpPr>
          <p:cNvPr id="2" name="Text Placeholder 1"/>
          <p:cNvSpPr>
            <a:spLocks noGrp="1"/>
          </p:cNvSpPr>
          <p:nvPr>
            <p:ph type="body" sz="quarter" idx="13"/>
          </p:nvPr>
        </p:nvSpPr>
        <p:spPr/>
        <p:txBody>
          <a:bodyPr/>
          <a:lstStyle/>
          <a:p>
            <a:r>
              <a:rPr lang="en-US" dirty="0"/>
              <a:t>Fourteenth Edition</a:t>
            </a:r>
          </a:p>
        </p:txBody>
      </p:sp>
      <p:sp>
        <p:nvSpPr>
          <p:cNvPr id="3" name="Text Placeholder 2"/>
          <p:cNvSpPr>
            <a:spLocks noGrp="1"/>
          </p:cNvSpPr>
          <p:nvPr>
            <p:ph type="body" sz="quarter" idx="14"/>
          </p:nvPr>
        </p:nvSpPr>
        <p:spPr/>
        <p:txBody>
          <a:bodyPr/>
          <a:lstStyle/>
          <a:p>
            <a:r>
              <a:rPr lang="en-US" dirty="0"/>
              <a:t>Chapter </a:t>
            </a:r>
            <a:r>
              <a:rPr lang="en-US" dirty="0" smtClean="0"/>
              <a:t>15</a:t>
            </a:r>
            <a:endParaRPr lang="en-US" dirty="0"/>
          </a:p>
        </p:txBody>
      </p:sp>
      <p:sp>
        <p:nvSpPr>
          <p:cNvPr id="4" name="Text Placeholder 3"/>
          <p:cNvSpPr>
            <a:spLocks noGrp="1"/>
          </p:cNvSpPr>
          <p:nvPr>
            <p:ph type="body" sz="quarter" idx="15"/>
          </p:nvPr>
        </p:nvSpPr>
        <p:spPr/>
        <p:txBody>
          <a:bodyPr/>
          <a:lstStyle/>
          <a:p>
            <a:r>
              <a:rPr lang="en-US" dirty="0"/>
              <a:t>Understanding and Managing Individual Behavior</a:t>
            </a:r>
          </a:p>
        </p:txBody>
      </p:sp>
      <p:pic>
        <p:nvPicPr>
          <p:cNvPr id="9" name="Picture 8" descr="Front Cover: Management, Fourteenth Edition by Stephen P. Robbins, Mary Coulter, Joseph J. Martocchio and Lori Lo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3870" y="1209674"/>
            <a:ext cx="3931920" cy="5049340"/>
          </a:xfrm>
          <a:prstGeom prst="rect">
            <a:avLst/>
          </a:prstGeom>
        </p:spPr>
      </p:pic>
      <p:sp>
        <p:nvSpPr>
          <p:cNvPr id="6" name="Text Placeholder 5"/>
          <p:cNvSpPr>
            <a:spLocks noGrp="1"/>
          </p:cNvSpPr>
          <p:nvPr>
            <p:ph type="body" sz="quarter" idx="4294967295"/>
          </p:nvPr>
        </p:nvSpPr>
        <p:spPr>
          <a:xfrm>
            <a:off x="2889504" y="6428232"/>
            <a:ext cx="5870448" cy="274320"/>
          </a:xfrm>
          <a:solidFill>
            <a:schemeClr val="bg1"/>
          </a:solidFill>
        </p:spPr>
        <p:txBody>
          <a:bodyPr/>
          <a:lstStyle/>
          <a:p>
            <a:pPr marL="0" indent="0">
              <a:buNone/>
              <a:defRPr/>
            </a:pPr>
            <a:r>
              <a:rPr lang="en-US" altLang="en-US" sz="1200" dirty="0">
                <a:latin typeface="Verdana" pitchFamily="34" charset="0"/>
                <a:ea typeface="Verdana" pitchFamily="34" charset="0"/>
                <a:cs typeface="Verdana" pitchFamily="34" charset="0"/>
              </a:rPr>
              <a:t>Copyright © 2018, 2016, 2014 Pearson Education, Inc. All Rights </a:t>
            </a:r>
            <a:r>
              <a:rPr lang="en-US" altLang="en-US" sz="1200" dirty="0" smtClean="0">
                <a:latin typeface="Verdana" pitchFamily="34" charset="0"/>
                <a:ea typeface="Verdana" pitchFamily="34" charset="0"/>
                <a:cs typeface="Verdana" pitchFamily="34" charset="0"/>
              </a:rPr>
              <a:t>Reserved</a:t>
            </a:r>
            <a:endParaRPr lang="en-US" altLang="en-US" sz="12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39081528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Objectives</a:t>
            </a:r>
            <a:endParaRPr lang="en-US" dirty="0"/>
          </a:p>
        </p:txBody>
      </p:sp>
      <p:sp>
        <p:nvSpPr>
          <p:cNvPr id="3" name="Content Placeholder 2"/>
          <p:cNvSpPr>
            <a:spLocks noGrp="1"/>
          </p:cNvSpPr>
          <p:nvPr>
            <p:ph idx="1"/>
          </p:nvPr>
        </p:nvSpPr>
        <p:spPr/>
        <p:txBody>
          <a:bodyPr/>
          <a:lstStyle/>
          <a:p>
            <a:pPr marL="685800" indent="-685800">
              <a:buNone/>
            </a:pPr>
            <a:r>
              <a:rPr lang="nb-NO" sz="2400" b="1" dirty="0" smtClean="0">
                <a:solidFill>
                  <a:srgbClr val="007FA3"/>
                </a:solidFill>
              </a:rPr>
              <a:t>15.</a:t>
            </a:r>
            <a:r>
              <a:rPr lang="en-US" sz="2400" b="1" dirty="0" smtClean="0">
                <a:solidFill>
                  <a:srgbClr val="007FA3"/>
                </a:solidFill>
              </a:rPr>
              <a:t>1 </a:t>
            </a:r>
            <a:r>
              <a:rPr lang="en-US" sz="2400" b="1" dirty="0" smtClean="0"/>
              <a:t>Identify </a:t>
            </a:r>
            <a:r>
              <a:rPr lang="en-US" sz="2400" dirty="0" smtClean="0"/>
              <a:t>the focus and goals of individual behavior within organizations.</a:t>
            </a:r>
            <a:endParaRPr lang="en-US" sz="2400" dirty="0"/>
          </a:p>
          <a:p>
            <a:pPr marL="0" indent="0">
              <a:buNone/>
            </a:pPr>
            <a:r>
              <a:rPr lang="nb-NO" sz="2400" b="1" dirty="0" smtClean="0">
                <a:solidFill>
                  <a:srgbClr val="007FA3"/>
                </a:solidFill>
              </a:rPr>
              <a:t>15.</a:t>
            </a:r>
            <a:r>
              <a:rPr lang="en-US" sz="2400" b="1" dirty="0" smtClean="0">
                <a:solidFill>
                  <a:srgbClr val="007FA3"/>
                </a:solidFill>
              </a:rPr>
              <a:t>2 </a:t>
            </a:r>
            <a:r>
              <a:rPr lang="en-US" sz="2400" b="1" dirty="0" smtClean="0"/>
              <a:t>Explain</a:t>
            </a:r>
            <a:r>
              <a:rPr lang="en-US" sz="2400" dirty="0" smtClean="0"/>
              <a:t> the role that attitudes play in job performance.</a:t>
            </a:r>
          </a:p>
          <a:p>
            <a:pPr marL="0" indent="0">
              <a:buNone/>
            </a:pPr>
            <a:r>
              <a:rPr lang="nb-NO" sz="2400" b="1" dirty="0" smtClean="0">
                <a:solidFill>
                  <a:srgbClr val="007FA3"/>
                </a:solidFill>
              </a:rPr>
              <a:t>15.</a:t>
            </a:r>
            <a:r>
              <a:rPr lang="en-US" sz="2400" b="1" dirty="0" smtClean="0">
                <a:solidFill>
                  <a:srgbClr val="007FA3"/>
                </a:solidFill>
              </a:rPr>
              <a:t>3 </a:t>
            </a:r>
            <a:r>
              <a:rPr lang="en-US" sz="2400" b="1" dirty="0" smtClean="0"/>
              <a:t>Describe </a:t>
            </a:r>
            <a:r>
              <a:rPr lang="en-US" sz="2400" dirty="0" smtClean="0"/>
              <a:t>different</a:t>
            </a:r>
            <a:r>
              <a:rPr lang="en-US" sz="2400" b="1" dirty="0" smtClean="0"/>
              <a:t> </a:t>
            </a:r>
            <a:r>
              <a:rPr lang="en-US" sz="2400" dirty="0" smtClean="0"/>
              <a:t>personality theories.</a:t>
            </a:r>
          </a:p>
          <a:p>
            <a:pPr marL="685800" lvl="1" indent="0">
              <a:buNone/>
            </a:pPr>
            <a:r>
              <a:rPr lang="en-US" sz="2400" b="1" dirty="0" smtClean="0"/>
              <a:t>Know how </a:t>
            </a:r>
            <a:r>
              <a:rPr lang="en-US" sz="2400" dirty="0" smtClean="0"/>
              <a:t>to be more self-aware.</a:t>
            </a:r>
          </a:p>
          <a:p>
            <a:pPr marL="0" indent="0">
              <a:buNone/>
            </a:pPr>
            <a:r>
              <a:rPr lang="nb-NO" sz="2400" b="1" dirty="0" smtClean="0">
                <a:solidFill>
                  <a:srgbClr val="007FA3"/>
                </a:solidFill>
              </a:rPr>
              <a:t>15.</a:t>
            </a:r>
            <a:r>
              <a:rPr lang="en-US" sz="2400" b="1" dirty="0" smtClean="0">
                <a:solidFill>
                  <a:srgbClr val="007FA3"/>
                </a:solidFill>
              </a:rPr>
              <a:t>4 </a:t>
            </a:r>
            <a:r>
              <a:rPr lang="en-US" sz="2400" b="1" dirty="0" smtClean="0"/>
              <a:t>Describe</a:t>
            </a:r>
            <a:r>
              <a:rPr lang="en-US" sz="2400" dirty="0" smtClean="0"/>
              <a:t> perception and factors that influence it.</a:t>
            </a:r>
          </a:p>
          <a:p>
            <a:pPr marL="685800" indent="-685800">
              <a:buNone/>
            </a:pPr>
            <a:r>
              <a:rPr lang="nb-NO" sz="2400" b="1" dirty="0" smtClean="0">
                <a:solidFill>
                  <a:srgbClr val="007FA3"/>
                </a:solidFill>
              </a:rPr>
              <a:t>15.</a:t>
            </a:r>
            <a:r>
              <a:rPr lang="en-US" sz="2400" b="1" dirty="0" smtClean="0">
                <a:solidFill>
                  <a:srgbClr val="007FA3"/>
                </a:solidFill>
              </a:rPr>
              <a:t>5 </a:t>
            </a:r>
            <a:r>
              <a:rPr lang="en-US" sz="2400" b="1" dirty="0" smtClean="0"/>
              <a:t>Discuss </a:t>
            </a:r>
            <a:r>
              <a:rPr lang="en-US" sz="2400" dirty="0" smtClean="0"/>
              <a:t>learning theories and their relevance in shaping behavior.</a:t>
            </a:r>
          </a:p>
          <a:p>
            <a:pPr marL="684213" lvl="1" indent="0">
              <a:buNone/>
            </a:pPr>
            <a:r>
              <a:rPr lang="en-US" sz="2400" b="1" dirty="0" smtClean="0"/>
              <a:t>Develop your skill </a:t>
            </a:r>
            <a:r>
              <a:rPr lang="en-US" sz="2400" dirty="0" smtClean="0"/>
              <a:t>at shaping behavior.</a:t>
            </a:r>
            <a:endParaRPr lang="en-US" sz="2400" dirty="0"/>
          </a:p>
        </p:txBody>
      </p:sp>
    </p:spTree>
    <p:extLst>
      <p:ext uri="{BB962C8B-B14F-4D97-AF65-F5344CB8AC3E}">
        <p14:creationId xmlns:p14="http://schemas.microsoft.com/office/powerpoint/2010/main" val="61560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Focus and Goals of Organizational Behavior</a:t>
            </a:r>
            <a:endParaRPr lang="en-US" dirty="0"/>
          </a:p>
        </p:txBody>
      </p:sp>
      <p:sp>
        <p:nvSpPr>
          <p:cNvPr id="3" name="Content Placeholder 2"/>
          <p:cNvSpPr>
            <a:spLocks noGrp="1"/>
          </p:cNvSpPr>
          <p:nvPr>
            <p:ph idx="1"/>
          </p:nvPr>
        </p:nvSpPr>
        <p:spPr/>
        <p:txBody>
          <a:bodyPr/>
          <a:lstStyle/>
          <a:p>
            <a:r>
              <a:rPr lang="en-US" sz="2800" b="1" dirty="0" smtClean="0"/>
              <a:t>Behavior</a:t>
            </a:r>
            <a:r>
              <a:rPr lang="en-US" sz="2800" dirty="0" smtClean="0"/>
              <a:t>: the actions of people</a:t>
            </a:r>
          </a:p>
          <a:p>
            <a:r>
              <a:rPr lang="en-US" sz="2800" b="1" dirty="0" smtClean="0"/>
              <a:t>Organizational behavior</a:t>
            </a:r>
            <a:r>
              <a:rPr lang="en-US" sz="2800" dirty="0" smtClean="0"/>
              <a:t>: </a:t>
            </a:r>
            <a:r>
              <a:rPr lang="en-US" sz="2800" dirty="0"/>
              <a:t>t</a:t>
            </a:r>
            <a:r>
              <a:rPr lang="en-US" sz="2800" dirty="0" smtClean="0"/>
              <a:t>he </a:t>
            </a:r>
            <a:r>
              <a:rPr lang="en-US" sz="2800" dirty="0"/>
              <a:t>study of the actions of people at </a:t>
            </a:r>
            <a:r>
              <a:rPr lang="en-US" sz="2800" dirty="0" smtClean="0"/>
              <a:t>work</a:t>
            </a:r>
          </a:p>
        </p:txBody>
      </p:sp>
    </p:spTree>
    <p:extLst>
      <p:ext uri="{BB962C8B-B14F-4D97-AF65-F5344CB8AC3E}">
        <p14:creationId xmlns:p14="http://schemas.microsoft.com/office/powerpoint/2010/main" val="811449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15-1</a:t>
            </a:r>
            <a:br>
              <a:rPr lang="en-US" dirty="0" smtClean="0"/>
            </a:br>
            <a:r>
              <a:rPr lang="en-US" dirty="0" smtClean="0"/>
              <a:t>Organization as Iceberg</a:t>
            </a:r>
            <a:endParaRPr lang="en-US" dirty="0"/>
          </a:p>
        </p:txBody>
      </p:sp>
      <p:pic>
        <p:nvPicPr>
          <p:cNvPr id="6" name="Picture 3" descr="Figure shows an iceberg. Part of the iceberg is above the waterline, and part is below. The part above is labeled Visible Aspects, and includes the list: Strategies, Objectives, Policies and Procedures, Structure, Technology, Formal Authority, and Chain of Command. The part below is labeled Hidden Aspects, and includes the list: Attitudes, Perceptions, Group Norms, Informal Interactions, and Interpersonal and Intergroup Conflicts."/>
          <p:cNvPicPr>
            <a:picLocks noGrp="1" noChangeAspect="1" noChangeArrowheads="1"/>
          </p:cNvPicPr>
          <p:nvPr/>
        </p:nvPicPr>
        <p:blipFill>
          <a:blip r:embed="rId3" cstate="print"/>
          <a:srcRect/>
          <a:stretch>
            <a:fillRect/>
          </a:stretch>
        </p:blipFill>
        <p:spPr bwMode="auto">
          <a:xfrm>
            <a:off x="192932" y="1321924"/>
            <a:ext cx="8758136" cy="4379068"/>
          </a:xfrm>
          <a:prstGeom prst="rect">
            <a:avLst/>
          </a:prstGeom>
          <a:noFill/>
          <a:ln w="9525">
            <a:noFill/>
            <a:miter lim="800000"/>
            <a:headEnd/>
            <a:tailEnd/>
          </a:ln>
        </p:spPr>
      </p:pic>
      <p:sp>
        <p:nvSpPr>
          <p:cNvPr id="3" name="Text Placeholder 2"/>
          <p:cNvSpPr>
            <a:spLocks noGrp="1"/>
          </p:cNvSpPr>
          <p:nvPr>
            <p:ph type="body" sz="quarter" idx="13"/>
          </p:nvPr>
        </p:nvSpPr>
        <p:spPr/>
        <p:txBody>
          <a:bodyPr/>
          <a:lstStyle/>
          <a:p>
            <a:r>
              <a:rPr lang="en-US" sz="1600" dirty="0" smtClean="0"/>
              <a:t>Exhibit 15-1 </a:t>
            </a:r>
            <a:r>
              <a:rPr lang="en-US" sz="1600" dirty="0"/>
              <a:t>shows </a:t>
            </a:r>
            <a:r>
              <a:rPr lang="en-US" sz="1600" dirty="0" smtClean="0"/>
              <a:t>that like an </a:t>
            </a:r>
            <a:r>
              <a:rPr lang="en-US" sz="1600" dirty="0"/>
              <a:t>iceberg, OB has a small visible dimension and a much larger hidden portion</a:t>
            </a:r>
            <a:r>
              <a:rPr lang="en-US" sz="1600" dirty="0" smtClean="0"/>
              <a:t>.</a:t>
            </a:r>
            <a:endParaRPr lang="en-US" sz="1600" dirty="0"/>
          </a:p>
        </p:txBody>
      </p:sp>
    </p:spTree>
    <p:extLst>
      <p:ext uri="{BB962C8B-B14F-4D97-AF65-F5344CB8AC3E}">
        <p14:creationId xmlns:p14="http://schemas.microsoft.com/office/powerpoint/2010/main" val="1830057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Focus of Organizational Behavior</a:t>
            </a:r>
            <a:endParaRPr lang="en-US" dirty="0"/>
          </a:p>
        </p:txBody>
      </p:sp>
      <p:sp>
        <p:nvSpPr>
          <p:cNvPr id="3" name="Content Placeholder 2"/>
          <p:cNvSpPr>
            <a:spLocks noGrp="1"/>
          </p:cNvSpPr>
          <p:nvPr>
            <p:ph idx="1"/>
          </p:nvPr>
        </p:nvSpPr>
        <p:spPr/>
        <p:txBody>
          <a:bodyPr/>
          <a:lstStyle/>
          <a:p>
            <a:r>
              <a:rPr lang="en-US" sz="2800" dirty="0" smtClean="0"/>
              <a:t>Individual behavior</a:t>
            </a:r>
          </a:p>
          <a:p>
            <a:r>
              <a:rPr lang="en-US" sz="2800" dirty="0" smtClean="0"/>
              <a:t>Group behavior</a:t>
            </a:r>
          </a:p>
          <a:p>
            <a:r>
              <a:rPr lang="en-US" sz="2800" dirty="0" smtClean="0"/>
              <a:t>Organizational aspects</a:t>
            </a:r>
          </a:p>
        </p:txBody>
      </p:sp>
    </p:spTree>
    <p:extLst>
      <p:ext uri="{BB962C8B-B14F-4D97-AF65-F5344CB8AC3E}">
        <p14:creationId xmlns:p14="http://schemas.microsoft.com/office/powerpoint/2010/main" val="10007939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Goals of Organizational Behavior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b="1" dirty="0" smtClean="0"/>
              <a:t>Employee</a:t>
            </a:r>
            <a:r>
              <a:rPr lang="en-US" sz="2800" dirty="0" smtClean="0"/>
              <a:t> </a:t>
            </a:r>
            <a:r>
              <a:rPr lang="en-US" sz="2800" b="1" dirty="0" smtClean="0"/>
              <a:t>productivity</a:t>
            </a:r>
            <a:r>
              <a:rPr lang="en-US" sz="2800" dirty="0" smtClean="0"/>
              <a:t>: a </a:t>
            </a:r>
            <a:r>
              <a:rPr lang="en-US" sz="2800" dirty="0"/>
              <a:t>performance measure of both </a:t>
            </a:r>
            <a:r>
              <a:rPr lang="en-US" sz="2800" dirty="0" smtClean="0"/>
              <a:t>efficiency </a:t>
            </a:r>
            <a:r>
              <a:rPr lang="en-US" sz="2800" dirty="0"/>
              <a:t>and </a:t>
            </a:r>
            <a:r>
              <a:rPr lang="en-US" sz="2800" dirty="0" smtClean="0"/>
              <a:t>effectiveness</a:t>
            </a:r>
          </a:p>
          <a:p>
            <a:r>
              <a:rPr lang="en-US" sz="2800" b="1" dirty="0" smtClean="0"/>
              <a:t>Absenteeism</a:t>
            </a:r>
            <a:r>
              <a:rPr lang="en-US" sz="2800" dirty="0" smtClean="0"/>
              <a:t>: the </a:t>
            </a:r>
            <a:r>
              <a:rPr lang="en-US" sz="2800" dirty="0"/>
              <a:t>failure to show up for </a:t>
            </a:r>
            <a:r>
              <a:rPr lang="en-US" sz="2800" dirty="0" smtClean="0"/>
              <a:t>work</a:t>
            </a:r>
          </a:p>
          <a:p>
            <a:r>
              <a:rPr lang="en-US" sz="2800" b="1" dirty="0" smtClean="0"/>
              <a:t>Turnover</a:t>
            </a:r>
            <a:r>
              <a:rPr lang="en-US" sz="2800" dirty="0" smtClean="0"/>
              <a:t>: the </a:t>
            </a:r>
            <a:r>
              <a:rPr lang="en-US" sz="2800" dirty="0"/>
              <a:t>voluntary and involuntary permanent withdrawal from an </a:t>
            </a:r>
            <a:r>
              <a:rPr lang="en-US" sz="2800" dirty="0" smtClean="0"/>
              <a:t>organization</a:t>
            </a:r>
          </a:p>
        </p:txBody>
      </p:sp>
    </p:spTree>
    <p:extLst>
      <p:ext uri="{BB962C8B-B14F-4D97-AF65-F5344CB8AC3E}">
        <p14:creationId xmlns:p14="http://schemas.microsoft.com/office/powerpoint/2010/main" val="556892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Goals of Organizational Behavior </a:t>
            </a:r>
            <a:r>
              <a:rPr lang="en-US" sz="1800" b="0" dirty="0" smtClean="0"/>
              <a:t>(2 of 2)</a:t>
            </a:r>
            <a:endParaRPr lang="en-US" sz="1800" b="0" dirty="0"/>
          </a:p>
        </p:txBody>
      </p:sp>
      <p:sp>
        <p:nvSpPr>
          <p:cNvPr id="3" name="Content Placeholder 2"/>
          <p:cNvSpPr>
            <a:spLocks noGrp="1"/>
          </p:cNvSpPr>
          <p:nvPr>
            <p:ph idx="1"/>
          </p:nvPr>
        </p:nvSpPr>
        <p:spPr/>
        <p:txBody>
          <a:bodyPr/>
          <a:lstStyle/>
          <a:p>
            <a:pPr>
              <a:spcBef>
                <a:spcPts val="200"/>
              </a:spcBef>
            </a:pPr>
            <a:r>
              <a:rPr lang="en-US" sz="2800" b="1" dirty="0" smtClean="0"/>
              <a:t>Organizational citizenship behavior (OCB)</a:t>
            </a:r>
            <a:r>
              <a:rPr lang="en-US" sz="2800" dirty="0" smtClean="0"/>
              <a:t>: discretionary </a:t>
            </a:r>
            <a:r>
              <a:rPr lang="en-US" sz="2800" dirty="0"/>
              <a:t>behavior that is not part of an employee’s formal job requirements, but which promotes the </a:t>
            </a:r>
            <a:r>
              <a:rPr lang="en-US" sz="2800" dirty="0" smtClean="0"/>
              <a:t>effective </a:t>
            </a:r>
            <a:r>
              <a:rPr lang="en-US" sz="2800" dirty="0"/>
              <a:t>functioning of the </a:t>
            </a:r>
            <a:r>
              <a:rPr lang="en-US" sz="2800" dirty="0" smtClean="0"/>
              <a:t>organization</a:t>
            </a:r>
          </a:p>
          <a:p>
            <a:pPr>
              <a:spcBef>
                <a:spcPts val="200"/>
              </a:spcBef>
            </a:pPr>
            <a:r>
              <a:rPr lang="en-US" sz="2800" b="1" dirty="0" smtClean="0"/>
              <a:t>Job satisfaction</a:t>
            </a:r>
            <a:r>
              <a:rPr lang="en-US" sz="2800" dirty="0" smtClean="0"/>
              <a:t>: an </a:t>
            </a:r>
            <a:r>
              <a:rPr lang="en-US" sz="2800" dirty="0"/>
              <a:t>employee’s general attitude toward his or her </a:t>
            </a:r>
            <a:r>
              <a:rPr lang="en-US" sz="2800" dirty="0" smtClean="0"/>
              <a:t>job</a:t>
            </a:r>
          </a:p>
          <a:p>
            <a:pPr>
              <a:spcBef>
                <a:spcPts val="200"/>
              </a:spcBef>
            </a:pPr>
            <a:r>
              <a:rPr lang="en-US" sz="2800" b="1" dirty="0" smtClean="0"/>
              <a:t>Counterproductive workplace behavior</a:t>
            </a:r>
            <a:r>
              <a:rPr lang="en-US" sz="2800" dirty="0" smtClean="0"/>
              <a:t>: any </a:t>
            </a:r>
            <a:r>
              <a:rPr lang="en-US" sz="2800" dirty="0"/>
              <a:t>intentional employee behavior that is potentially damaging to the organization or to individuals within the </a:t>
            </a:r>
            <a:r>
              <a:rPr lang="en-US" sz="2800" dirty="0" smtClean="0"/>
              <a:t>organization</a:t>
            </a:r>
          </a:p>
        </p:txBody>
      </p:sp>
    </p:spTree>
    <p:extLst>
      <p:ext uri="{BB962C8B-B14F-4D97-AF65-F5344CB8AC3E}">
        <p14:creationId xmlns:p14="http://schemas.microsoft.com/office/powerpoint/2010/main" val="18199176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Attitudes and Job Performance</a:t>
            </a:r>
            <a:endParaRPr lang="en-US" dirty="0"/>
          </a:p>
        </p:txBody>
      </p:sp>
      <p:sp>
        <p:nvSpPr>
          <p:cNvPr id="3" name="Content Placeholder 2"/>
          <p:cNvSpPr>
            <a:spLocks noGrp="1"/>
          </p:cNvSpPr>
          <p:nvPr>
            <p:ph idx="1"/>
          </p:nvPr>
        </p:nvSpPr>
        <p:spPr/>
        <p:txBody>
          <a:bodyPr/>
          <a:lstStyle/>
          <a:p>
            <a:r>
              <a:rPr lang="en-US" sz="2800" b="1" dirty="0" smtClean="0"/>
              <a:t>Attitudes</a:t>
            </a:r>
            <a:r>
              <a:rPr lang="en-US" sz="2800" dirty="0" smtClean="0"/>
              <a:t>: evaluative </a:t>
            </a:r>
            <a:r>
              <a:rPr lang="en-US" sz="2800" dirty="0"/>
              <a:t>statements, either favorable or unfavorable, concerning objects, people, or </a:t>
            </a:r>
            <a:r>
              <a:rPr lang="en-US" sz="2800" dirty="0" smtClean="0"/>
              <a:t>events</a:t>
            </a:r>
          </a:p>
        </p:txBody>
      </p:sp>
    </p:spTree>
    <p:extLst>
      <p:ext uri="{BB962C8B-B14F-4D97-AF65-F5344CB8AC3E}">
        <p14:creationId xmlns:p14="http://schemas.microsoft.com/office/powerpoint/2010/main" val="12900025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Attitude Components</a:t>
            </a:r>
            <a:endParaRPr lang="en-US" dirty="0"/>
          </a:p>
        </p:txBody>
      </p:sp>
      <p:sp>
        <p:nvSpPr>
          <p:cNvPr id="3" name="Content Placeholder 2"/>
          <p:cNvSpPr>
            <a:spLocks noGrp="1"/>
          </p:cNvSpPr>
          <p:nvPr>
            <p:ph idx="1"/>
          </p:nvPr>
        </p:nvSpPr>
        <p:spPr/>
        <p:txBody>
          <a:bodyPr/>
          <a:lstStyle/>
          <a:p>
            <a:r>
              <a:rPr lang="en-US" sz="2800" b="1" dirty="0" smtClean="0"/>
              <a:t>Cognitive component</a:t>
            </a:r>
            <a:r>
              <a:rPr lang="en-US" sz="2800" dirty="0" smtClean="0"/>
              <a:t>: that </a:t>
            </a:r>
            <a:r>
              <a:rPr lang="en-US" sz="2800" dirty="0"/>
              <a:t>part of an attitude that’s made up of the beliefs, opinions, knowledge, or information held by a </a:t>
            </a:r>
            <a:r>
              <a:rPr lang="en-US" sz="2800" dirty="0" smtClean="0"/>
              <a:t>person</a:t>
            </a:r>
          </a:p>
          <a:p>
            <a:r>
              <a:rPr lang="en-US" sz="2800" b="1" dirty="0" smtClean="0"/>
              <a:t>Affective component</a:t>
            </a:r>
            <a:r>
              <a:rPr lang="en-US" sz="2800" dirty="0" smtClean="0"/>
              <a:t>: that part of an attitude that’s the emotional or feeling part</a:t>
            </a:r>
          </a:p>
          <a:p>
            <a:r>
              <a:rPr lang="en-US" sz="2800" b="1" dirty="0" smtClean="0"/>
              <a:t>Behavioral component</a:t>
            </a:r>
            <a:r>
              <a:rPr lang="en-US" sz="2800" dirty="0" smtClean="0"/>
              <a:t>: that </a:t>
            </a:r>
            <a:r>
              <a:rPr lang="en-US" sz="2800" dirty="0"/>
              <a:t>part of an attitude that refers to an intention to behave in a certain way toward someone or </a:t>
            </a:r>
            <a:r>
              <a:rPr lang="en-US" sz="2800" dirty="0" smtClean="0"/>
              <a:t>something</a:t>
            </a:r>
          </a:p>
        </p:txBody>
      </p:sp>
    </p:spTree>
    <p:extLst>
      <p:ext uri="{BB962C8B-B14F-4D97-AF65-F5344CB8AC3E}">
        <p14:creationId xmlns:p14="http://schemas.microsoft.com/office/powerpoint/2010/main" val="221081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Job Satisfaction</a:t>
            </a:r>
            <a:endParaRPr lang="en-US" dirty="0"/>
          </a:p>
        </p:txBody>
      </p:sp>
      <p:sp>
        <p:nvSpPr>
          <p:cNvPr id="3" name="Content Placeholder 2"/>
          <p:cNvSpPr>
            <a:spLocks noGrp="1"/>
          </p:cNvSpPr>
          <p:nvPr>
            <p:ph idx="1"/>
          </p:nvPr>
        </p:nvSpPr>
        <p:spPr/>
        <p:txBody>
          <a:bodyPr/>
          <a:lstStyle/>
          <a:p>
            <a:r>
              <a:rPr lang="en-US" sz="2800" dirty="0" smtClean="0"/>
              <a:t>High level of satisfaction = positive attitude Dissatisfaction = negative attitude</a:t>
            </a:r>
          </a:p>
          <a:p>
            <a:r>
              <a:rPr lang="en-US" sz="2800" dirty="0" smtClean="0"/>
              <a:t>Linked to:</a:t>
            </a:r>
          </a:p>
          <a:p>
            <a:pPr lvl="1"/>
            <a:r>
              <a:rPr lang="en-US" sz="2800" dirty="0" smtClean="0"/>
              <a:t>Productivity</a:t>
            </a:r>
          </a:p>
          <a:p>
            <a:pPr lvl="1"/>
            <a:r>
              <a:rPr lang="en-US" sz="2800" dirty="0" smtClean="0"/>
              <a:t>Absenteeism</a:t>
            </a:r>
          </a:p>
          <a:p>
            <a:pPr lvl="1"/>
            <a:r>
              <a:rPr lang="en-US" sz="2800" dirty="0" smtClean="0"/>
              <a:t>Turnover</a:t>
            </a:r>
          </a:p>
          <a:p>
            <a:pPr lvl="1"/>
            <a:r>
              <a:rPr lang="en-US" sz="2800" dirty="0" smtClean="0"/>
              <a:t>Customer satisfaction</a:t>
            </a:r>
          </a:p>
          <a:p>
            <a:pPr lvl="1"/>
            <a:r>
              <a:rPr lang="en-US" sz="2800" dirty="0" smtClean="0"/>
              <a:t>OCB</a:t>
            </a:r>
          </a:p>
          <a:p>
            <a:pPr lvl="1"/>
            <a:r>
              <a:rPr lang="en-US" sz="2800" dirty="0" smtClean="0"/>
              <a:t>Counterproductive behavior</a:t>
            </a:r>
          </a:p>
        </p:txBody>
      </p:sp>
    </p:spTree>
    <p:extLst>
      <p:ext uri="{BB962C8B-B14F-4D97-AF65-F5344CB8AC3E}">
        <p14:creationId xmlns:p14="http://schemas.microsoft.com/office/powerpoint/2010/main" val="1205403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Job Involvement and Organizational Commitment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b="1" dirty="0" smtClean="0"/>
              <a:t>Job involvement</a:t>
            </a:r>
            <a:r>
              <a:rPr lang="en-US" sz="2800" dirty="0" smtClean="0"/>
              <a:t>: the </a:t>
            </a:r>
            <a:r>
              <a:rPr lang="en-US" sz="2800" dirty="0"/>
              <a:t>degree to which an employee </a:t>
            </a:r>
            <a:r>
              <a:rPr lang="en-US" sz="2800" dirty="0" smtClean="0"/>
              <a:t>identifies </a:t>
            </a:r>
            <a:r>
              <a:rPr lang="en-US" sz="2800" dirty="0"/>
              <a:t>with his or her job, actively participates in it, and considers his or her job performance to be important to </a:t>
            </a:r>
            <a:r>
              <a:rPr lang="en-US" sz="2800" dirty="0" smtClean="0"/>
              <a:t>self-worth</a:t>
            </a:r>
          </a:p>
          <a:p>
            <a:r>
              <a:rPr lang="en-US" sz="2800" b="1" dirty="0" smtClean="0"/>
              <a:t>Organizational commitment</a:t>
            </a:r>
            <a:r>
              <a:rPr lang="en-US" sz="2800" dirty="0" smtClean="0"/>
              <a:t>: the </a:t>
            </a:r>
            <a:r>
              <a:rPr lang="en-US" sz="2800" dirty="0"/>
              <a:t>degree to which an employee </a:t>
            </a:r>
            <a:r>
              <a:rPr lang="en-US" sz="2800" dirty="0" smtClean="0"/>
              <a:t>identifies </a:t>
            </a:r>
            <a:r>
              <a:rPr lang="en-US" sz="2800" dirty="0"/>
              <a:t>with a particular organization and its goals and wishes to maintain membership in that </a:t>
            </a:r>
            <a:r>
              <a:rPr lang="en-US" sz="2800" dirty="0" smtClean="0"/>
              <a:t>organization</a:t>
            </a:r>
          </a:p>
        </p:txBody>
      </p:sp>
    </p:spTree>
    <p:extLst>
      <p:ext uri="{BB962C8B-B14F-4D97-AF65-F5344CB8AC3E}">
        <p14:creationId xmlns:p14="http://schemas.microsoft.com/office/powerpoint/2010/main" val="2141035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Job Involvement and Organizational Commitment </a:t>
            </a:r>
            <a:r>
              <a:rPr lang="en-US" sz="1800" b="0" dirty="0" smtClean="0"/>
              <a:t>(2 of 2)</a:t>
            </a:r>
            <a:endParaRPr lang="en-US" sz="1800" b="0" dirty="0"/>
          </a:p>
        </p:txBody>
      </p:sp>
      <p:sp>
        <p:nvSpPr>
          <p:cNvPr id="3" name="Content Placeholder 2"/>
          <p:cNvSpPr>
            <a:spLocks noGrp="1"/>
          </p:cNvSpPr>
          <p:nvPr>
            <p:ph idx="1"/>
          </p:nvPr>
        </p:nvSpPr>
        <p:spPr/>
        <p:txBody>
          <a:bodyPr/>
          <a:lstStyle/>
          <a:p>
            <a:r>
              <a:rPr lang="en-US" sz="2800" b="1" dirty="0" smtClean="0"/>
              <a:t>Perceived organizational support</a:t>
            </a:r>
            <a:r>
              <a:rPr lang="en-US" sz="2800" dirty="0" smtClean="0"/>
              <a:t>: employees</a:t>
            </a:r>
            <a:r>
              <a:rPr lang="en-US" sz="2800" dirty="0"/>
              <a:t>’ general belief that their organization values their contribution and cares about their </a:t>
            </a:r>
            <a:r>
              <a:rPr lang="en-US" sz="2800" dirty="0" smtClean="0"/>
              <a:t>well-being</a:t>
            </a:r>
          </a:p>
        </p:txBody>
      </p:sp>
    </p:spTree>
    <p:extLst>
      <p:ext uri="{BB962C8B-B14F-4D97-AF65-F5344CB8AC3E}">
        <p14:creationId xmlns:p14="http://schemas.microsoft.com/office/powerpoint/2010/main" val="1130869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Employee Engagement</a:t>
            </a:r>
            <a:endParaRPr lang="en-US" dirty="0"/>
          </a:p>
        </p:txBody>
      </p:sp>
      <p:sp>
        <p:nvSpPr>
          <p:cNvPr id="3" name="Content Placeholder 2"/>
          <p:cNvSpPr>
            <a:spLocks noGrp="1"/>
          </p:cNvSpPr>
          <p:nvPr>
            <p:ph idx="1"/>
          </p:nvPr>
        </p:nvSpPr>
        <p:spPr/>
        <p:txBody>
          <a:bodyPr/>
          <a:lstStyle/>
          <a:p>
            <a:r>
              <a:rPr lang="en-US" sz="2800" b="1" dirty="0" smtClean="0"/>
              <a:t>Employee engagement</a:t>
            </a:r>
            <a:r>
              <a:rPr lang="en-US" sz="2800" dirty="0" smtClean="0"/>
              <a:t>: </a:t>
            </a:r>
            <a:r>
              <a:rPr lang="en-US" sz="2800" dirty="0"/>
              <a:t>w</a:t>
            </a:r>
            <a:r>
              <a:rPr lang="en-US" sz="2800" dirty="0" smtClean="0"/>
              <a:t>hen </a:t>
            </a:r>
            <a:r>
              <a:rPr lang="en-US" sz="2800" dirty="0"/>
              <a:t>employees are connected to, </a:t>
            </a:r>
            <a:r>
              <a:rPr lang="en-US" sz="2800" dirty="0" smtClean="0"/>
              <a:t>satisfied </a:t>
            </a:r>
            <a:r>
              <a:rPr lang="en-US" sz="2800" dirty="0"/>
              <a:t>with, and enthusiastic about their </a:t>
            </a:r>
            <a:r>
              <a:rPr lang="en-US" sz="2800" dirty="0" smtClean="0"/>
              <a:t>jobs</a:t>
            </a:r>
          </a:p>
        </p:txBody>
      </p:sp>
    </p:spTree>
    <p:extLst>
      <p:ext uri="{BB962C8B-B14F-4D97-AF65-F5344CB8AC3E}">
        <p14:creationId xmlns:p14="http://schemas.microsoft.com/office/powerpoint/2010/main" val="932690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Attitudes and Consistency</a:t>
            </a:r>
            <a:endParaRPr lang="en-US" dirty="0"/>
          </a:p>
        </p:txBody>
      </p:sp>
      <p:sp>
        <p:nvSpPr>
          <p:cNvPr id="3" name="Content Placeholder 2"/>
          <p:cNvSpPr>
            <a:spLocks noGrp="1"/>
          </p:cNvSpPr>
          <p:nvPr>
            <p:ph idx="1"/>
          </p:nvPr>
        </p:nvSpPr>
        <p:spPr/>
        <p:txBody>
          <a:bodyPr/>
          <a:lstStyle/>
          <a:p>
            <a:r>
              <a:rPr lang="en-US" sz="2800" dirty="0" smtClean="0"/>
              <a:t>People generally seek </a:t>
            </a:r>
            <a:r>
              <a:rPr lang="en-US" sz="2800" dirty="0"/>
              <a:t>consistency among their </a:t>
            </a:r>
            <a:r>
              <a:rPr lang="en-US" sz="2800" dirty="0" smtClean="0"/>
              <a:t>attitudes </a:t>
            </a:r>
            <a:r>
              <a:rPr lang="en-US" sz="2800" dirty="0"/>
              <a:t>and</a:t>
            </a:r>
            <a:r>
              <a:rPr lang="en-US" sz="2800" i="1" dirty="0"/>
              <a:t> </a:t>
            </a:r>
            <a:r>
              <a:rPr lang="en-US" sz="2800" dirty="0"/>
              <a:t>between their attitudes and </a:t>
            </a:r>
            <a:r>
              <a:rPr lang="en-US" sz="2800" dirty="0" smtClean="0"/>
              <a:t>behavior; they </a:t>
            </a:r>
            <a:r>
              <a:rPr lang="en-US" sz="2800" dirty="0"/>
              <a:t>try to reconcile </a:t>
            </a:r>
            <a:r>
              <a:rPr lang="en-US" sz="2800" dirty="0" smtClean="0"/>
              <a:t>differing </a:t>
            </a:r>
            <a:r>
              <a:rPr lang="en-US" sz="2800" dirty="0"/>
              <a:t>attitudes and align their attitudes and behavior so they appear rational and consistent</a:t>
            </a:r>
            <a:r>
              <a:rPr lang="en-US" sz="2800" dirty="0" smtClean="0"/>
              <a:t>.</a:t>
            </a:r>
          </a:p>
        </p:txBody>
      </p:sp>
    </p:spTree>
    <p:extLst>
      <p:ext uri="{BB962C8B-B14F-4D97-AF65-F5344CB8AC3E}">
        <p14:creationId xmlns:p14="http://schemas.microsoft.com/office/powerpoint/2010/main" val="1907311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Cognitive Dissonance Theory</a:t>
            </a:r>
            <a:endParaRPr lang="en-US" dirty="0"/>
          </a:p>
        </p:txBody>
      </p:sp>
      <p:sp>
        <p:nvSpPr>
          <p:cNvPr id="3" name="Content Placeholder 2"/>
          <p:cNvSpPr>
            <a:spLocks noGrp="1"/>
          </p:cNvSpPr>
          <p:nvPr>
            <p:ph idx="1"/>
          </p:nvPr>
        </p:nvSpPr>
        <p:spPr/>
        <p:txBody>
          <a:bodyPr/>
          <a:lstStyle/>
          <a:p>
            <a:r>
              <a:rPr lang="en-US" sz="2800" b="1" dirty="0" smtClean="0"/>
              <a:t>Cognitive dissonance</a:t>
            </a:r>
            <a:r>
              <a:rPr lang="en-US" sz="2800" dirty="0" smtClean="0"/>
              <a:t>: any </a:t>
            </a:r>
            <a:r>
              <a:rPr lang="en-US" sz="2800" dirty="0"/>
              <a:t>incompatibility or inconsistency between attitudes or between behavior and </a:t>
            </a:r>
            <a:r>
              <a:rPr lang="en-US" sz="2800" dirty="0" smtClean="0"/>
              <a:t>attitudes</a:t>
            </a:r>
          </a:p>
        </p:txBody>
      </p:sp>
    </p:spTree>
    <p:extLst>
      <p:ext uri="{BB962C8B-B14F-4D97-AF65-F5344CB8AC3E}">
        <p14:creationId xmlns:p14="http://schemas.microsoft.com/office/powerpoint/2010/main" val="1092597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Attitude Surveys</a:t>
            </a:r>
            <a:endParaRPr lang="en-US" dirty="0"/>
          </a:p>
        </p:txBody>
      </p:sp>
      <p:sp>
        <p:nvSpPr>
          <p:cNvPr id="3" name="Content Placeholder 2"/>
          <p:cNvSpPr>
            <a:spLocks noGrp="1"/>
          </p:cNvSpPr>
          <p:nvPr>
            <p:ph idx="1"/>
          </p:nvPr>
        </p:nvSpPr>
        <p:spPr/>
        <p:txBody>
          <a:bodyPr/>
          <a:lstStyle/>
          <a:p>
            <a:r>
              <a:rPr lang="en-US" sz="2800" b="1" dirty="0" smtClean="0"/>
              <a:t>Attitude surveys</a:t>
            </a:r>
            <a:r>
              <a:rPr lang="en-US" sz="2800" dirty="0" smtClean="0"/>
              <a:t>: surveys </a:t>
            </a:r>
            <a:r>
              <a:rPr lang="en-US" sz="2800" dirty="0"/>
              <a:t>that elicit responses from employees through questions about how they feel about their jobs, work groups, supervisors, or the </a:t>
            </a:r>
            <a:r>
              <a:rPr lang="en-US" sz="2800" dirty="0" smtClean="0"/>
              <a:t>organization</a:t>
            </a:r>
          </a:p>
        </p:txBody>
      </p:sp>
    </p:spTree>
    <p:extLst>
      <p:ext uri="{BB962C8B-B14F-4D97-AF65-F5344CB8AC3E}">
        <p14:creationId xmlns:p14="http://schemas.microsoft.com/office/powerpoint/2010/main" val="20688987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15-2</a:t>
            </a:r>
            <a:br>
              <a:rPr lang="en-US" dirty="0" smtClean="0"/>
            </a:br>
            <a:r>
              <a:rPr lang="en-US" dirty="0" smtClean="0"/>
              <a:t>Sample Employee Attitude Survey</a:t>
            </a:r>
            <a:endParaRPr lang="en-US" dirty="0"/>
          </a:p>
        </p:txBody>
      </p:sp>
      <p:graphicFrame>
        <p:nvGraphicFramePr>
          <p:cNvPr id="6" name="Table 5" descr="Header: Sample Statements from an Employee Attitude Survey"/>
          <p:cNvGraphicFramePr>
            <a:graphicFrameLocks noGrp="1"/>
          </p:cNvGraphicFramePr>
          <p:nvPr>
            <p:extLst>
              <p:ext uri="{D42A27DB-BD31-4B8C-83A1-F6EECF244321}">
                <p14:modId xmlns:p14="http://schemas.microsoft.com/office/powerpoint/2010/main" val="620722833"/>
              </p:ext>
            </p:extLst>
          </p:nvPr>
        </p:nvGraphicFramePr>
        <p:xfrm>
          <a:off x="876300" y="1905000"/>
          <a:ext cx="7391400" cy="2560320"/>
        </p:xfrm>
        <a:graphic>
          <a:graphicData uri="http://schemas.openxmlformats.org/drawingml/2006/table">
            <a:tbl>
              <a:tblPr firstRow="1" bandRow="1">
                <a:tableStyleId>{3B4B98B0-60AC-42C2-AFA5-B58CD77FA1E5}</a:tableStyleId>
              </a:tblPr>
              <a:tblGrid>
                <a:gridCol w="7391400"/>
              </a:tblGrid>
              <a:tr h="359229">
                <a:tc>
                  <a:txBody>
                    <a:bodyPr/>
                    <a:lstStyle/>
                    <a:p>
                      <a:r>
                        <a:rPr lang="en-US" dirty="0" smtClean="0"/>
                        <a:t>Sample Statements from an Employee</a:t>
                      </a:r>
                      <a:r>
                        <a:rPr lang="en-US" baseline="0" dirty="0" smtClean="0"/>
                        <a:t> Attitude Survey</a:t>
                      </a:r>
                      <a:endParaRPr lang="en-US" dirty="0"/>
                    </a:p>
                  </a:txBody>
                  <a:tcPr/>
                </a:tc>
              </a:tr>
              <a:tr h="359229">
                <a:tc>
                  <a:txBody>
                    <a:bodyPr/>
                    <a:lstStyle/>
                    <a:p>
                      <a:r>
                        <a:rPr lang="en-US" dirty="0" smtClean="0"/>
                        <a:t>I have ample opportunities</a:t>
                      </a:r>
                      <a:r>
                        <a:rPr lang="en-US" baseline="0" dirty="0" smtClean="0"/>
                        <a:t> to use my skills/abilities in my job.</a:t>
                      </a:r>
                      <a:endParaRPr lang="en-US" dirty="0"/>
                    </a:p>
                  </a:txBody>
                  <a:tcPr/>
                </a:tc>
              </a:tr>
              <a:tr h="359229">
                <a:tc>
                  <a:txBody>
                    <a:bodyPr/>
                    <a:lstStyle/>
                    <a:p>
                      <a:r>
                        <a:rPr lang="en-US" sz="1800" kern="1200" dirty="0" smtClean="0">
                          <a:solidFill>
                            <a:schemeClr val="tx1"/>
                          </a:solidFill>
                          <a:effectLst/>
                          <a:latin typeface="+mn-lt"/>
                          <a:ea typeface="+mn-ea"/>
                          <a:cs typeface="+mn-cs"/>
                        </a:rPr>
                        <a:t>My manager has a good relationship with my work group.</a:t>
                      </a:r>
                      <a:endParaRPr lang="en-US" dirty="0"/>
                    </a:p>
                  </a:txBody>
                  <a:tcPr/>
                </a:tc>
              </a:tr>
              <a:tr h="359229">
                <a:tc>
                  <a:txBody>
                    <a:bodyPr/>
                    <a:lstStyle/>
                    <a:p>
                      <a:r>
                        <a:rPr lang="en-US" sz="1800" kern="1200" dirty="0" smtClean="0">
                          <a:solidFill>
                            <a:schemeClr val="tx1"/>
                          </a:solidFill>
                          <a:effectLst/>
                          <a:latin typeface="+mn-lt"/>
                          <a:ea typeface="+mn-ea"/>
                          <a:cs typeface="+mn-cs"/>
                        </a:rPr>
                        <a:t>My organization provides me professional development opportunities.</a:t>
                      </a:r>
                      <a:endParaRPr lang="en-US" dirty="0"/>
                    </a:p>
                  </a:txBody>
                  <a:tcPr/>
                </a:tc>
              </a:tr>
              <a:tr h="3592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I am told if I’m doing good work or not.</a:t>
                      </a:r>
                      <a:endParaRPr lang="en-US" dirty="0" smtClean="0"/>
                    </a:p>
                  </a:txBody>
                  <a:tcPr/>
                </a:tc>
              </a:tr>
              <a:tr h="359229">
                <a:tc>
                  <a:txBody>
                    <a:bodyPr/>
                    <a:lstStyle/>
                    <a:p>
                      <a:r>
                        <a:rPr lang="en-US" sz="1800" kern="1200" dirty="0" smtClean="0">
                          <a:solidFill>
                            <a:schemeClr val="tx1"/>
                          </a:solidFill>
                          <a:effectLst/>
                          <a:latin typeface="+mn-lt"/>
                          <a:ea typeface="+mn-ea"/>
                          <a:cs typeface="+mn-cs"/>
                        </a:rPr>
                        <a:t>I feel safe in my work environment.</a:t>
                      </a:r>
                      <a:endParaRPr lang="en-US" dirty="0"/>
                    </a:p>
                  </a:txBody>
                  <a:tcPr/>
                </a:tc>
              </a:tr>
              <a:tr h="35922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My organization is a great place to work.</a:t>
                      </a:r>
                      <a:endParaRPr lang="en-US" dirty="0" smtClean="0"/>
                    </a:p>
                  </a:txBody>
                  <a:tcPr/>
                </a:tc>
              </a:tr>
            </a:tbl>
          </a:graphicData>
        </a:graphic>
      </p:graphicFrame>
    </p:spTree>
    <p:extLst>
      <p:ext uri="{BB962C8B-B14F-4D97-AF65-F5344CB8AC3E}">
        <p14:creationId xmlns:p14="http://schemas.microsoft.com/office/powerpoint/2010/main" val="815143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Implications for Managers</a:t>
            </a:r>
            <a:endParaRPr lang="en-US" dirty="0"/>
          </a:p>
        </p:txBody>
      </p:sp>
      <p:sp>
        <p:nvSpPr>
          <p:cNvPr id="3" name="Content Placeholder 2"/>
          <p:cNvSpPr>
            <a:spLocks noGrp="1"/>
          </p:cNvSpPr>
          <p:nvPr>
            <p:ph idx="1"/>
          </p:nvPr>
        </p:nvSpPr>
        <p:spPr/>
        <p:txBody>
          <a:bodyPr/>
          <a:lstStyle/>
          <a:p>
            <a:r>
              <a:rPr lang="en-US" sz="2800" dirty="0"/>
              <a:t>Managers should be interested in their employees’ attitudes because they </a:t>
            </a:r>
            <a:r>
              <a:rPr lang="en-US" sz="2800" dirty="0" smtClean="0"/>
              <a:t>influence </a:t>
            </a:r>
            <a:r>
              <a:rPr lang="en-US" sz="2800" dirty="0"/>
              <a:t>behavior</a:t>
            </a:r>
            <a:r>
              <a:rPr lang="en-US" sz="2800" dirty="0" smtClean="0"/>
              <a:t>.</a:t>
            </a:r>
          </a:p>
        </p:txBody>
      </p:sp>
    </p:spTree>
    <p:extLst>
      <p:ext uri="{BB962C8B-B14F-4D97-AF65-F5344CB8AC3E}">
        <p14:creationId xmlns:p14="http://schemas.microsoft.com/office/powerpoint/2010/main" val="5419610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Personality</a:t>
            </a:r>
            <a:endParaRPr lang="en-US" dirty="0"/>
          </a:p>
        </p:txBody>
      </p:sp>
      <p:sp>
        <p:nvSpPr>
          <p:cNvPr id="3" name="Content Placeholder 2"/>
          <p:cNvSpPr>
            <a:spLocks noGrp="1"/>
          </p:cNvSpPr>
          <p:nvPr>
            <p:ph idx="1"/>
          </p:nvPr>
        </p:nvSpPr>
        <p:spPr/>
        <p:txBody>
          <a:bodyPr/>
          <a:lstStyle/>
          <a:p>
            <a:r>
              <a:rPr lang="en-US" sz="2800" b="1" dirty="0" smtClean="0"/>
              <a:t>Personality</a:t>
            </a:r>
            <a:r>
              <a:rPr lang="en-US" sz="2800" dirty="0" smtClean="0"/>
              <a:t>: the </a:t>
            </a:r>
            <a:r>
              <a:rPr lang="en-US" sz="2800" dirty="0"/>
              <a:t>unique combination of emotional, thought, and behavioral patterns that </a:t>
            </a:r>
            <a:r>
              <a:rPr lang="en-US" sz="2800" dirty="0" smtClean="0"/>
              <a:t>affect </a:t>
            </a:r>
            <a:r>
              <a:rPr lang="en-US" sz="2800" dirty="0"/>
              <a:t>how a person reacts to situations and interacts with </a:t>
            </a:r>
            <a:r>
              <a:rPr lang="en-US" sz="2800" dirty="0" smtClean="0"/>
              <a:t>others</a:t>
            </a:r>
          </a:p>
        </p:txBody>
      </p:sp>
    </p:spTree>
    <p:extLst>
      <p:ext uri="{BB962C8B-B14F-4D97-AF65-F5344CB8AC3E}">
        <p14:creationId xmlns:p14="http://schemas.microsoft.com/office/powerpoint/2010/main" val="15124991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MBTI</a:t>
            </a:r>
            <a:r>
              <a:rPr lang="en-US" sz="3200" baseline="30000" dirty="0"/>
              <a:t>®</a:t>
            </a:r>
            <a:endParaRPr lang="en-US" dirty="0"/>
          </a:p>
        </p:txBody>
      </p:sp>
      <p:sp>
        <p:nvSpPr>
          <p:cNvPr id="3" name="Content Placeholder 2"/>
          <p:cNvSpPr>
            <a:spLocks noGrp="1"/>
          </p:cNvSpPr>
          <p:nvPr>
            <p:ph idx="1"/>
          </p:nvPr>
        </p:nvSpPr>
        <p:spPr/>
        <p:txBody>
          <a:bodyPr/>
          <a:lstStyle/>
          <a:p>
            <a:r>
              <a:rPr lang="en-US" sz="2800" dirty="0" smtClean="0"/>
              <a:t>The MBTI</a:t>
            </a:r>
            <a:r>
              <a:rPr lang="en-US" sz="2800" baseline="30000" dirty="0" smtClean="0"/>
              <a:t>®</a:t>
            </a:r>
            <a:r>
              <a:rPr lang="en-US" sz="2800" dirty="0" smtClean="0"/>
              <a:t> is </a:t>
            </a:r>
            <a:r>
              <a:rPr lang="en-US" sz="2800" dirty="0"/>
              <a:t>a popular personality-assessment </a:t>
            </a:r>
            <a:r>
              <a:rPr lang="en-US" sz="2800" dirty="0" smtClean="0"/>
              <a:t>instrument.</a:t>
            </a:r>
          </a:p>
          <a:p>
            <a:r>
              <a:rPr lang="en-US" sz="2800" dirty="0" smtClean="0"/>
              <a:t>It classifies </a:t>
            </a:r>
            <a:r>
              <a:rPr lang="en-US" sz="2800" dirty="0"/>
              <a:t>individuals as exhibiting a preference in four </a:t>
            </a:r>
            <a:r>
              <a:rPr lang="en-US" sz="2800" dirty="0" smtClean="0"/>
              <a:t>categories:</a:t>
            </a:r>
          </a:p>
          <a:p>
            <a:pPr lvl="1"/>
            <a:r>
              <a:rPr lang="en-US" sz="2800" dirty="0"/>
              <a:t>Extraversion or introversion (E or I)</a:t>
            </a:r>
          </a:p>
          <a:p>
            <a:pPr lvl="1"/>
            <a:r>
              <a:rPr lang="en-US" sz="2800" dirty="0"/>
              <a:t>Sensing or intuition (S or N)</a:t>
            </a:r>
          </a:p>
          <a:p>
            <a:pPr lvl="1"/>
            <a:r>
              <a:rPr lang="en-US" sz="2800" dirty="0"/>
              <a:t>Thinking or feeling (T or F)</a:t>
            </a:r>
          </a:p>
          <a:p>
            <a:pPr lvl="1"/>
            <a:r>
              <a:rPr lang="en-US" sz="2800" dirty="0"/>
              <a:t>Judging or perceiving (J or P</a:t>
            </a:r>
            <a:r>
              <a:rPr lang="en-US" sz="2800" dirty="0" smtClean="0"/>
              <a:t>)</a:t>
            </a:r>
          </a:p>
        </p:txBody>
      </p:sp>
    </p:spTree>
    <p:extLst>
      <p:ext uri="{BB962C8B-B14F-4D97-AF65-F5344CB8AC3E}">
        <p14:creationId xmlns:p14="http://schemas.microsoft.com/office/powerpoint/2010/main" val="16455158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Exhibit 15-3</a:t>
            </a:r>
            <a:br>
              <a:rPr lang="en-US" dirty="0"/>
            </a:br>
            <a:r>
              <a:rPr lang="en-US" dirty="0"/>
              <a:t>Examples of MBTI® Personality Types</a:t>
            </a:r>
          </a:p>
        </p:txBody>
      </p:sp>
      <p:graphicFrame>
        <p:nvGraphicFramePr>
          <p:cNvPr id="6" name="Table 5"/>
          <p:cNvGraphicFramePr>
            <a:graphicFrameLocks noGrp="1"/>
          </p:cNvGraphicFramePr>
          <p:nvPr>
            <p:extLst>
              <p:ext uri="{D42A27DB-BD31-4B8C-83A1-F6EECF244321}">
                <p14:modId xmlns:p14="http://schemas.microsoft.com/office/powerpoint/2010/main" val="2369523082"/>
              </p:ext>
            </p:extLst>
          </p:nvPr>
        </p:nvGraphicFramePr>
        <p:xfrm>
          <a:off x="457200" y="1960880"/>
          <a:ext cx="8382000" cy="3022600"/>
        </p:xfrm>
        <a:graphic>
          <a:graphicData uri="http://schemas.openxmlformats.org/drawingml/2006/table">
            <a:tbl>
              <a:tblPr firstRow="1" bandRow="1">
                <a:tableStyleId>{3B4B98B0-60AC-42C2-AFA5-B58CD77FA1E5}</a:tableStyleId>
              </a:tblPr>
              <a:tblGrid>
                <a:gridCol w="3600450"/>
                <a:gridCol w="4781550"/>
              </a:tblGrid>
              <a:tr h="370840">
                <a:tc>
                  <a:txBody>
                    <a:bodyPr/>
                    <a:lstStyle/>
                    <a:p>
                      <a:r>
                        <a:rPr lang="en-US" dirty="0" smtClean="0"/>
                        <a:t>Type</a:t>
                      </a:r>
                      <a:endParaRPr lang="en-US" dirty="0"/>
                    </a:p>
                  </a:txBody>
                  <a:tcPr/>
                </a:tc>
                <a:tc>
                  <a:txBody>
                    <a:bodyPr/>
                    <a:lstStyle/>
                    <a:p>
                      <a:r>
                        <a:rPr lang="en-US" dirty="0" smtClean="0"/>
                        <a:t>Description</a:t>
                      </a:r>
                      <a:endParaRPr lang="en-US" dirty="0"/>
                    </a:p>
                  </a:txBody>
                  <a:tcPr/>
                </a:tc>
              </a:tr>
              <a:tr h="370840">
                <a:tc>
                  <a:txBody>
                    <a:bodyPr/>
                    <a:lstStyle/>
                    <a:p>
                      <a:r>
                        <a:rPr lang="en-US" sz="1800" kern="1200" dirty="0" smtClean="0">
                          <a:solidFill>
                            <a:schemeClr val="tx1"/>
                          </a:solidFill>
                          <a:effectLst/>
                          <a:latin typeface="+mn-lt"/>
                          <a:ea typeface="+mn-ea"/>
                          <a:cs typeface="+mn-cs"/>
                        </a:rPr>
                        <a:t>I–S–F–P (introversion, sensing, feeling, perceiving)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Sensitive, kind, modest, shy, and quietly friendly. Such people strongly dislike disagreements and will avoid them. They are loyal followers and quite often are relaxed about getting things done.</a:t>
                      </a:r>
                      <a:endParaRPr lang="en-US" dirty="0"/>
                    </a:p>
                  </a:txBody>
                  <a:tcPr/>
                </a:tc>
              </a:tr>
              <a:tr h="370840">
                <a:tc>
                  <a:txBody>
                    <a:bodyPr/>
                    <a:lstStyle/>
                    <a:p>
                      <a:r>
                        <a:rPr lang="en-US" sz="1800" kern="1200" dirty="0" smtClean="0">
                          <a:solidFill>
                            <a:schemeClr val="tx1"/>
                          </a:solidFill>
                          <a:effectLst/>
                          <a:latin typeface="+mn-lt"/>
                          <a:ea typeface="+mn-ea"/>
                          <a:cs typeface="+mn-cs"/>
                        </a:rPr>
                        <a:t>E–N–T–J (extraversion, intuition, thinking, judging) </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Warm, friendly, candid, and decisive; also skilled in anything that requires reasoning and intelligent talk, but may sometimes overestimate what they are capable of doing.</a:t>
                      </a:r>
                      <a:endParaRPr lang="en-US" dirty="0"/>
                    </a:p>
                  </a:txBody>
                  <a:tcPr/>
                </a:tc>
              </a:tr>
            </a:tbl>
          </a:graphicData>
        </a:graphic>
      </p:graphicFrame>
    </p:spTree>
    <p:extLst>
      <p:ext uri="{BB962C8B-B14F-4D97-AF65-F5344CB8AC3E}">
        <p14:creationId xmlns:p14="http://schemas.microsoft.com/office/powerpoint/2010/main" val="1468157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Big Five Model</a:t>
            </a:r>
            <a:endParaRPr lang="en-US" dirty="0"/>
          </a:p>
        </p:txBody>
      </p:sp>
      <p:sp>
        <p:nvSpPr>
          <p:cNvPr id="3" name="Content Placeholder 2"/>
          <p:cNvSpPr>
            <a:spLocks noGrp="1"/>
          </p:cNvSpPr>
          <p:nvPr>
            <p:ph idx="1"/>
          </p:nvPr>
        </p:nvSpPr>
        <p:spPr/>
        <p:txBody>
          <a:bodyPr/>
          <a:lstStyle/>
          <a:p>
            <a:r>
              <a:rPr lang="en-US" sz="2800" b="1" dirty="0" smtClean="0"/>
              <a:t>Big Five Model</a:t>
            </a:r>
            <a:r>
              <a:rPr lang="en-US" sz="2800" dirty="0" smtClean="0"/>
              <a:t>: personality </a:t>
            </a:r>
            <a:r>
              <a:rPr lang="en-US" sz="2800" dirty="0"/>
              <a:t>trait model that includes extraversion, agreeableness, conscientiousness, emotional stability, and openness to </a:t>
            </a:r>
            <a:r>
              <a:rPr lang="en-US" sz="2800" dirty="0" smtClean="0"/>
              <a:t>experience</a:t>
            </a:r>
          </a:p>
        </p:txBody>
      </p:sp>
    </p:spTree>
    <p:extLst>
      <p:ext uri="{BB962C8B-B14F-4D97-AF65-F5344CB8AC3E}">
        <p14:creationId xmlns:p14="http://schemas.microsoft.com/office/powerpoint/2010/main" val="1169299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Additional Personality Insights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b="1" dirty="0" smtClean="0"/>
              <a:t>Locus of control</a:t>
            </a:r>
            <a:r>
              <a:rPr lang="en-US" sz="2800" dirty="0" smtClean="0"/>
              <a:t>: a </a:t>
            </a:r>
            <a:r>
              <a:rPr lang="en-US" sz="2800" dirty="0"/>
              <a:t>personality attribute that measures the degree to which people believe they control their own </a:t>
            </a:r>
            <a:r>
              <a:rPr lang="en-US" sz="2800" dirty="0" smtClean="0"/>
              <a:t>fate</a:t>
            </a:r>
            <a:endParaRPr lang="en-US" sz="2800" dirty="0"/>
          </a:p>
          <a:p>
            <a:r>
              <a:rPr lang="en-US" sz="2800" b="1" dirty="0" smtClean="0"/>
              <a:t>Machiavellianism</a:t>
            </a:r>
            <a:r>
              <a:rPr lang="en-US" sz="2800" dirty="0" smtClean="0"/>
              <a:t>: a </a:t>
            </a:r>
            <a:r>
              <a:rPr lang="en-US" sz="2800" dirty="0"/>
              <a:t>measure of the degree to which people are pragmatic, maintain emotional distance, and believe that ends justify </a:t>
            </a:r>
            <a:r>
              <a:rPr lang="en-US" sz="2800" dirty="0" smtClean="0"/>
              <a:t>means</a:t>
            </a:r>
          </a:p>
        </p:txBody>
      </p:sp>
    </p:spTree>
    <p:extLst>
      <p:ext uri="{BB962C8B-B14F-4D97-AF65-F5344CB8AC3E}">
        <p14:creationId xmlns:p14="http://schemas.microsoft.com/office/powerpoint/2010/main" val="595111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Additional Personality Insights </a:t>
            </a:r>
            <a:r>
              <a:rPr lang="en-US" sz="1800" b="0" dirty="0" smtClean="0"/>
              <a:t>(2 of 2)</a:t>
            </a:r>
            <a:endParaRPr lang="en-US" sz="1800" b="0" dirty="0"/>
          </a:p>
        </p:txBody>
      </p:sp>
      <p:sp>
        <p:nvSpPr>
          <p:cNvPr id="3" name="Content Placeholder 2"/>
          <p:cNvSpPr>
            <a:spLocks noGrp="1"/>
          </p:cNvSpPr>
          <p:nvPr>
            <p:ph idx="1"/>
          </p:nvPr>
        </p:nvSpPr>
        <p:spPr/>
        <p:txBody>
          <a:bodyPr/>
          <a:lstStyle/>
          <a:p>
            <a:r>
              <a:rPr lang="en-US" sz="2800" b="1" dirty="0" smtClean="0"/>
              <a:t>Self-esteem</a:t>
            </a:r>
            <a:r>
              <a:rPr lang="en-US" sz="2800" dirty="0" smtClean="0"/>
              <a:t>: an </a:t>
            </a:r>
            <a:r>
              <a:rPr lang="en-US" sz="2800" dirty="0"/>
              <a:t>individual’s degree of like or dislike for himself or </a:t>
            </a:r>
            <a:r>
              <a:rPr lang="en-US" sz="2800" dirty="0" smtClean="0"/>
              <a:t>herself</a:t>
            </a:r>
            <a:endParaRPr lang="en-US" sz="2800" dirty="0"/>
          </a:p>
          <a:p>
            <a:r>
              <a:rPr lang="en-US" sz="2800" b="1" dirty="0" smtClean="0"/>
              <a:t>Self-monitoring</a:t>
            </a:r>
            <a:r>
              <a:rPr lang="en-US" sz="2800" dirty="0" smtClean="0"/>
              <a:t>: a </a:t>
            </a:r>
            <a:r>
              <a:rPr lang="en-US" sz="2800" dirty="0"/>
              <a:t>personality trait that measures the ability to adjust behavior to external situational </a:t>
            </a:r>
            <a:r>
              <a:rPr lang="en-US" sz="2800" dirty="0" smtClean="0"/>
              <a:t>factors</a:t>
            </a:r>
          </a:p>
        </p:txBody>
      </p:sp>
    </p:spTree>
    <p:extLst>
      <p:ext uri="{BB962C8B-B14F-4D97-AF65-F5344CB8AC3E}">
        <p14:creationId xmlns:p14="http://schemas.microsoft.com/office/powerpoint/2010/main" val="71714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Personality Traits</a:t>
            </a:r>
            <a:endParaRPr lang="en-US" dirty="0"/>
          </a:p>
        </p:txBody>
      </p:sp>
      <p:sp>
        <p:nvSpPr>
          <p:cNvPr id="3" name="Content Placeholder 2"/>
          <p:cNvSpPr>
            <a:spLocks noGrp="1"/>
          </p:cNvSpPr>
          <p:nvPr>
            <p:ph idx="1"/>
          </p:nvPr>
        </p:nvSpPr>
        <p:spPr/>
        <p:txBody>
          <a:bodyPr/>
          <a:lstStyle/>
          <a:p>
            <a:r>
              <a:rPr lang="en-US" sz="2800" b="1" dirty="0" smtClean="0"/>
              <a:t>Proactive personality</a:t>
            </a:r>
            <a:r>
              <a:rPr lang="en-US" sz="2800" dirty="0" smtClean="0"/>
              <a:t>: a </a:t>
            </a:r>
            <a:r>
              <a:rPr lang="en-US" sz="2800" dirty="0"/>
              <a:t>personality trait that describes individuals who are more prone to take actions to </a:t>
            </a:r>
            <a:r>
              <a:rPr lang="en-US" sz="2800" dirty="0" smtClean="0"/>
              <a:t>influence </a:t>
            </a:r>
            <a:r>
              <a:rPr lang="en-US" sz="2800" dirty="0"/>
              <a:t>their </a:t>
            </a:r>
            <a:r>
              <a:rPr lang="en-US" sz="2800" dirty="0" smtClean="0"/>
              <a:t>environments</a:t>
            </a:r>
            <a:endParaRPr lang="en-US" sz="2800" dirty="0"/>
          </a:p>
          <a:p>
            <a:r>
              <a:rPr lang="en-US" sz="2800" b="1" dirty="0" smtClean="0"/>
              <a:t>Resilience</a:t>
            </a:r>
            <a:r>
              <a:rPr lang="en-US" sz="2800" dirty="0" smtClean="0"/>
              <a:t>: an </a:t>
            </a:r>
            <a:r>
              <a:rPr lang="en-US" sz="2800" dirty="0"/>
              <a:t>individual’s ability to overcome challenges and turn them into </a:t>
            </a:r>
            <a:r>
              <a:rPr lang="en-US" sz="2800" dirty="0" smtClean="0"/>
              <a:t>opportunities</a:t>
            </a:r>
          </a:p>
        </p:txBody>
      </p:sp>
    </p:spTree>
    <p:extLst>
      <p:ext uri="{BB962C8B-B14F-4D97-AF65-F5344CB8AC3E}">
        <p14:creationId xmlns:p14="http://schemas.microsoft.com/office/powerpoint/2010/main" val="1843261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Personality Types in Different Cultures</a:t>
            </a:r>
            <a:endParaRPr lang="en-US" dirty="0"/>
          </a:p>
        </p:txBody>
      </p:sp>
      <p:sp>
        <p:nvSpPr>
          <p:cNvPr id="3" name="Content Placeholder 2"/>
          <p:cNvSpPr>
            <a:spLocks noGrp="1"/>
          </p:cNvSpPr>
          <p:nvPr>
            <p:ph idx="1"/>
          </p:nvPr>
        </p:nvSpPr>
        <p:spPr/>
        <p:txBody>
          <a:bodyPr/>
          <a:lstStyle/>
          <a:p>
            <a:r>
              <a:rPr lang="en-US" sz="2800" dirty="0" smtClean="0"/>
              <a:t>No </a:t>
            </a:r>
            <a:r>
              <a:rPr lang="en-US" sz="2800" dirty="0"/>
              <a:t>personality type is common for a given </a:t>
            </a:r>
            <a:r>
              <a:rPr lang="en-US" sz="2800" dirty="0" smtClean="0"/>
              <a:t>country, yet a </a:t>
            </a:r>
            <a:r>
              <a:rPr lang="en-US" sz="2800" dirty="0"/>
              <a:t>country’s culture </a:t>
            </a:r>
            <a:r>
              <a:rPr lang="en-US" sz="2800" dirty="0" smtClean="0"/>
              <a:t>influences </a:t>
            </a:r>
            <a:r>
              <a:rPr lang="en-US" sz="2800" dirty="0"/>
              <a:t>the </a:t>
            </a:r>
            <a:r>
              <a:rPr lang="en-US" sz="2800" b="1" dirty="0"/>
              <a:t>dominant</a:t>
            </a:r>
            <a:r>
              <a:rPr lang="en-US" sz="2800" i="1" dirty="0"/>
              <a:t> </a:t>
            </a:r>
            <a:r>
              <a:rPr lang="en-US" sz="2800" dirty="0"/>
              <a:t>personality characteristics of its </a:t>
            </a:r>
            <a:r>
              <a:rPr lang="en-US" sz="2800" dirty="0" smtClean="0"/>
              <a:t>people.</a:t>
            </a:r>
          </a:p>
        </p:txBody>
      </p:sp>
    </p:spTree>
    <p:extLst>
      <p:ext uri="{BB962C8B-B14F-4D97-AF65-F5344CB8AC3E}">
        <p14:creationId xmlns:p14="http://schemas.microsoft.com/office/powerpoint/2010/main" val="1821760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Emotions and Emotional Intelligence</a:t>
            </a:r>
            <a:endParaRPr lang="en-US" dirty="0"/>
          </a:p>
        </p:txBody>
      </p:sp>
      <p:sp>
        <p:nvSpPr>
          <p:cNvPr id="3" name="Content Placeholder 2"/>
          <p:cNvSpPr>
            <a:spLocks noGrp="1"/>
          </p:cNvSpPr>
          <p:nvPr>
            <p:ph idx="1"/>
          </p:nvPr>
        </p:nvSpPr>
        <p:spPr/>
        <p:txBody>
          <a:bodyPr/>
          <a:lstStyle/>
          <a:p>
            <a:r>
              <a:rPr lang="en-US" sz="2800" b="1" dirty="0" smtClean="0"/>
              <a:t>Emotions</a:t>
            </a:r>
            <a:r>
              <a:rPr lang="en-US" sz="2800" dirty="0" smtClean="0"/>
              <a:t>: intense </a:t>
            </a:r>
            <a:r>
              <a:rPr lang="en-US" sz="2800" dirty="0"/>
              <a:t>feelings that are directed at someone or </a:t>
            </a:r>
            <a:r>
              <a:rPr lang="en-US" sz="2800" dirty="0" smtClean="0"/>
              <a:t>something</a:t>
            </a:r>
          </a:p>
          <a:p>
            <a:r>
              <a:rPr lang="en-US" sz="2800" b="1" dirty="0" smtClean="0"/>
              <a:t>Emotional intelligence</a:t>
            </a:r>
            <a:r>
              <a:rPr lang="en-US" sz="2800" dirty="0" smtClean="0"/>
              <a:t>: the </a:t>
            </a:r>
            <a:r>
              <a:rPr lang="en-US" sz="2800" dirty="0"/>
              <a:t>ability to notice and to manage emotional cues and </a:t>
            </a:r>
            <a:r>
              <a:rPr lang="en-US" sz="2800" dirty="0" smtClean="0"/>
              <a:t>information</a:t>
            </a:r>
          </a:p>
        </p:txBody>
      </p:sp>
    </p:spTree>
    <p:extLst>
      <p:ext uri="{BB962C8B-B14F-4D97-AF65-F5344CB8AC3E}">
        <p14:creationId xmlns:p14="http://schemas.microsoft.com/office/powerpoint/2010/main" val="14967176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Five Dimensions of Emotional Intelligence</a:t>
            </a:r>
            <a:endParaRPr lang="en-US" dirty="0"/>
          </a:p>
        </p:txBody>
      </p:sp>
      <p:sp>
        <p:nvSpPr>
          <p:cNvPr id="3" name="Content Placeholder 2"/>
          <p:cNvSpPr>
            <a:spLocks noGrp="1"/>
          </p:cNvSpPr>
          <p:nvPr>
            <p:ph idx="1"/>
          </p:nvPr>
        </p:nvSpPr>
        <p:spPr/>
        <p:txBody>
          <a:bodyPr/>
          <a:lstStyle/>
          <a:p>
            <a:r>
              <a:rPr lang="en-US" sz="2800" dirty="0" smtClean="0"/>
              <a:t>Self-awareness</a:t>
            </a:r>
          </a:p>
          <a:p>
            <a:r>
              <a:rPr lang="en-US" sz="2800" dirty="0" smtClean="0"/>
              <a:t>Self-management</a:t>
            </a:r>
          </a:p>
          <a:p>
            <a:r>
              <a:rPr lang="en-US" sz="2800" dirty="0" smtClean="0"/>
              <a:t>Self-motivation</a:t>
            </a:r>
          </a:p>
          <a:p>
            <a:r>
              <a:rPr lang="en-US" sz="2800" dirty="0" smtClean="0"/>
              <a:t>Empathy</a:t>
            </a:r>
          </a:p>
          <a:p>
            <a:r>
              <a:rPr lang="en-US" sz="2800" dirty="0" smtClean="0"/>
              <a:t>Social skills</a:t>
            </a:r>
          </a:p>
        </p:txBody>
      </p:sp>
    </p:spTree>
    <p:extLst>
      <p:ext uri="{BB962C8B-B14F-4D97-AF65-F5344CB8AC3E}">
        <p14:creationId xmlns:p14="http://schemas.microsoft.com/office/powerpoint/2010/main" val="20080849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Implications for Managers: Personality</a:t>
            </a:r>
            <a:endParaRPr lang="en-US" dirty="0"/>
          </a:p>
        </p:txBody>
      </p:sp>
      <p:sp>
        <p:nvSpPr>
          <p:cNvPr id="3" name="Content Placeholder 2"/>
          <p:cNvSpPr>
            <a:spLocks noGrp="1"/>
          </p:cNvSpPr>
          <p:nvPr>
            <p:ph idx="1"/>
          </p:nvPr>
        </p:nvSpPr>
        <p:spPr/>
        <p:txBody>
          <a:bodyPr/>
          <a:lstStyle/>
          <a:p>
            <a:r>
              <a:rPr lang="en-US" sz="2800" dirty="0"/>
              <a:t>Managers are likely to have higher-performing and more </a:t>
            </a:r>
            <a:r>
              <a:rPr lang="en-US" sz="2800" dirty="0" smtClean="0"/>
              <a:t>satisfi</a:t>
            </a:r>
            <a:r>
              <a:rPr lang="en-US" sz="2800" dirty="0"/>
              <a:t>e</a:t>
            </a:r>
            <a:r>
              <a:rPr lang="en-US" sz="2800" dirty="0" smtClean="0"/>
              <a:t>d </a:t>
            </a:r>
            <a:r>
              <a:rPr lang="en-US" sz="2800" dirty="0"/>
              <a:t>employees if consideration is given to matching personalities with jobs</a:t>
            </a:r>
            <a:r>
              <a:rPr lang="en-US" sz="2800" dirty="0" smtClean="0"/>
              <a:t>.</a:t>
            </a:r>
          </a:p>
        </p:txBody>
      </p:sp>
    </p:spTree>
    <p:extLst>
      <p:ext uri="{BB962C8B-B14F-4D97-AF65-F5344CB8AC3E}">
        <p14:creationId xmlns:p14="http://schemas.microsoft.com/office/powerpoint/2010/main" val="5068877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15-4</a:t>
            </a:r>
            <a:br>
              <a:rPr lang="en-US" dirty="0" smtClean="0"/>
            </a:br>
            <a:r>
              <a:rPr lang="en-US" dirty="0" smtClean="0"/>
              <a:t>Holland’s Personality-Job Fit</a:t>
            </a:r>
            <a:endParaRPr lang="en-US" dirty="0"/>
          </a:p>
        </p:txBody>
      </p:sp>
      <p:pic>
        <p:nvPicPr>
          <p:cNvPr id="7" name="Picture 6" descr="Figure is a chart with three columns. They are labeled Type, Personality Characteristics, and Sample Occupations. There are six rows, labeled: Realistic, Investigative, Social, Conventional, Enterprising, and Artistic."/>
          <p:cNvPicPr>
            <a:picLocks noChangeAspect="1"/>
          </p:cNvPicPr>
          <p:nvPr/>
        </p:nvPicPr>
        <p:blipFill>
          <a:blip r:embed="rId3" cstate="print"/>
          <a:stretch>
            <a:fillRect/>
          </a:stretch>
        </p:blipFill>
        <p:spPr>
          <a:xfrm>
            <a:off x="1269491" y="1330245"/>
            <a:ext cx="6605018" cy="4414903"/>
          </a:xfrm>
          <a:prstGeom prst="rect">
            <a:avLst/>
          </a:prstGeom>
        </p:spPr>
      </p:pic>
      <p:sp>
        <p:nvSpPr>
          <p:cNvPr id="3" name="Text Placeholder 2"/>
          <p:cNvSpPr>
            <a:spLocks noGrp="1"/>
          </p:cNvSpPr>
          <p:nvPr>
            <p:ph type="body" sz="quarter" idx="13"/>
          </p:nvPr>
        </p:nvSpPr>
        <p:spPr/>
        <p:txBody>
          <a:bodyPr/>
          <a:lstStyle/>
          <a:p>
            <a:r>
              <a:rPr lang="en-US" sz="1600" dirty="0"/>
              <a:t>Exhibit 15-4 describes the six types, their personality characteristics, and examples of suitable occupations for each</a:t>
            </a:r>
            <a:r>
              <a:rPr lang="en-US" sz="1600" dirty="0" smtClean="0"/>
              <a:t>.</a:t>
            </a:r>
            <a:endParaRPr lang="en-US" sz="1600" dirty="0"/>
          </a:p>
        </p:txBody>
      </p:sp>
    </p:spTree>
    <p:extLst>
      <p:ext uri="{BB962C8B-B14F-4D97-AF65-F5344CB8AC3E}">
        <p14:creationId xmlns:p14="http://schemas.microsoft.com/office/powerpoint/2010/main" val="1586157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Perception</a:t>
            </a:r>
            <a:endParaRPr lang="en-US" dirty="0"/>
          </a:p>
        </p:txBody>
      </p:sp>
      <p:sp>
        <p:nvSpPr>
          <p:cNvPr id="3" name="Content Placeholder 2"/>
          <p:cNvSpPr>
            <a:spLocks noGrp="1"/>
          </p:cNvSpPr>
          <p:nvPr>
            <p:ph idx="1"/>
          </p:nvPr>
        </p:nvSpPr>
        <p:spPr/>
        <p:txBody>
          <a:bodyPr/>
          <a:lstStyle/>
          <a:p>
            <a:r>
              <a:rPr lang="en-US" sz="2800" b="1" dirty="0" smtClean="0"/>
              <a:t>Perception</a:t>
            </a:r>
            <a:r>
              <a:rPr lang="en-US" sz="2800" dirty="0" smtClean="0"/>
              <a:t>: process </a:t>
            </a:r>
            <a:r>
              <a:rPr lang="en-US" sz="2800" dirty="0"/>
              <a:t>by which we give meaning to our environment by organizing and interpreting sensory </a:t>
            </a:r>
            <a:r>
              <a:rPr lang="en-US" sz="2800" dirty="0" smtClean="0"/>
              <a:t>impressions</a:t>
            </a:r>
          </a:p>
        </p:txBody>
      </p:sp>
    </p:spTree>
    <p:extLst>
      <p:ext uri="{BB962C8B-B14F-4D97-AF65-F5344CB8AC3E}">
        <p14:creationId xmlns:p14="http://schemas.microsoft.com/office/powerpoint/2010/main" val="4124816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Factors that Influence Perception</a:t>
            </a:r>
            <a:endParaRPr lang="en-US" dirty="0"/>
          </a:p>
        </p:txBody>
      </p:sp>
      <p:sp>
        <p:nvSpPr>
          <p:cNvPr id="3" name="Content Placeholder 2"/>
          <p:cNvSpPr>
            <a:spLocks noGrp="1"/>
          </p:cNvSpPr>
          <p:nvPr>
            <p:ph idx="1"/>
          </p:nvPr>
        </p:nvSpPr>
        <p:spPr/>
        <p:txBody>
          <a:bodyPr/>
          <a:lstStyle/>
          <a:p>
            <a:r>
              <a:rPr lang="en-US" sz="2800" dirty="0">
                <a:cs typeface="Arial"/>
              </a:rPr>
              <a:t>A number of factors act to shape and sometimes distort perception </a:t>
            </a:r>
            <a:r>
              <a:rPr lang="en-US" sz="2800" dirty="0" smtClean="0">
                <a:cs typeface="Arial"/>
              </a:rPr>
              <a:t>including:</a:t>
            </a:r>
          </a:p>
          <a:p>
            <a:pPr lvl="1"/>
            <a:r>
              <a:rPr lang="en-US" sz="2800" dirty="0" smtClean="0">
                <a:cs typeface="Arial"/>
              </a:rPr>
              <a:t>Perceiver</a:t>
            </a:r>
          </a:p>
          <a:p>
            <a:pPr lvl="1"/>
            <a:r>
              <a:rPr lang="en-US" sz="2800" dirty="0" smtClean="0">
                <a:cs typeface="Arial"/>
              </a:rPr>
              <a:t>Target</a:t>
            </a:r>
          </a:p>
          <a:p>
            <a:pPr lvl="1"/>
            <a:r>
              <a:rPr lang="en-US" sz="2800" dirty="0" smtClean="0">
                <a:cs typeface="Arial"/>
              </a:rPr>
              <a:t>Situation</a:t>
            </a:r>
            <a:endParaRPr lang="en-US" sz="2800" dirty="0" smtClean="0"/>
          </a:p>
        </p:txBody>
      </p:sp>
    </p:spTree>
    <p:extLst>
      <p:ext uri="{BB962C8B-B14F-4D97-AF65-F5344CB8AC3E}">
        <p14:creationId xmlns:p14="http://schemas.microsoft.com/office/powerpoint/2010/main" val="18818698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15-5</a:t>
            </a:r>
            <a:br>
              <a:rPr lang="en-US" dirty="0" smtClean="0"/>
            </a:br>
            <a:r>
              <a:rPr lang="en-US" dirty="0" smtClean="0"/>
              <a:t>What Do You See?</a:t>
            </a:r>
            <a:endParaRPr lang="en-US" dirty="0"/>
          </a:p>
        </p:txBody>
      </p:sp>
      <p:pic>
        <p:nvPicPr>
          <p:cNvPr id="6" name="Picture 3" descr="Two images side by side. Left image is of a woman. Depending on how you look at it, it appears to be either a young woman or an old woman. The figure on the right is disjointed shapes. Depending on how you look at it, you may perceie a knight or a horse."/>
          <p:cNvPicPr>
            <a:picLocks noGrp="1" noChangeAspect="1" noChangeArrowheads="1"/>
          </p:cNvPicPr>
          <p:nvPr/>
        </p:nvPicPr>
        <p:blipFill>
          <a:blip r:embed="rId3" cstate="print"/>
          <a:srcRect/>
          <a:stretch>
            <a:fillRect/>
          </a:stretch>
        </p:blipFill>
        <p:spPr bwMode="auto">
          <a:xfrm>
            <a:off x="374493" y="1327183"/>
            <a:ext cx="8395015" cy="4508434"/>
          </a:xfrm>
          <a:prstGeom prst="rect">
            <a:avLst/>
          </a:prstGeom>
          <a:noFill/>
          <a:ln w="9525">
            <a:noFill/>
            <a:miter lim="800000"/>
            <a:headEnd/>
            <a:tailEnd/>
          </a:ln>
        </p:spPr>
      </p:pic>
      <p:sp>
        <p:nvSpPr>
          <p:cNvPr id="3" name="Text Placeholder 2"/>
          <p:cNvSpPr>
            <a:spLocks noGrp="1"/>
          </p:cNvSpPr>
          <p:nvPr>
            <p:ph type="body" sz="quarter" idx="13"/>
          </p:nvPr>
        </p:nvSpPr>
        <p:spPr/>
        <p:txBody>
          <a:bodyPr/>
          <a:lstStyle/>
          <a:p>
            <a:r>
              <a:rPr lang="en-US" sz="1600" dirty="0" smtClean="0"/>
              <a:t>In Exhibit 15-5, notice </a:t>
            </a:r>
            <a:r>
              <a:rPr lang="en-US" sz="1600" dirty="0"/>
              <a:t>how what you see changes as you look </a:t>
            </a:r>
            <a:r>
              <a:rPr lang="en-US" sz="1600" dirty="0" smtClean="0"/>
              <a:t>differently </a:t>
            </a:r>
            <a:r>
              <a:rPr lang="en-US" sz="1600" dirty="0"/>
              <a:t>at each one</a:t>
            </a:r>
            <a:r>
              <a:rPr lang="en-US" sz="1600" dirty="0" smtClean="0"/>
              <a:t>.</a:t>
            </a:r>
            <a:endParaRPr lang="en-US" sz="1600" dirty="0"/>
          </a:p>
        </p:txBody>
      </p:sp>
    </p:spTree>
    <p:extLst>
      <p:ext uri="{BB962C8B-B14F-4D97-AF65-F5344CB8AC3E}">
        <p14:creationId xmlns:p14="http://schemas.microsoft.com/office/powerpoint/2010/main" val="269157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Attribution Theory </a:t>
            </a:r>
            <a:r>
              <a:rPr lang="en-US" sz="1800" b="0" dirty="0" smtClean="0"/>
              <a:t>(1 of 2)</a:t>
            </a:r>
            <a:endParaRPr lang="en-US" sz="1800" b="0" dirty="0"/>
          </a:p>
        </p:txBody>
      </p:sp>
      <p:sp>
        <p:nvSpPr>
          <p:cNvPr id="3" name="Content Placeholder 2"/>
          <p:cNvSpPr>
            <a:spLocks noGrp="1"/>
          </p:cNvSpPr>
          <p:nvPr>
            <p:ph idx="1"/>
          </p:nvPr>
        </p:nvSpPr>
        <p:spPr/>
        <p:txBody>
          <a:bodyPr/>
          <a:lstStyle/>
          <a:p>
            <a:r>
              <a:rPr lang="en-US" sz="2800" b="1" dirty="0" smtClean="0">
                <a:cs typeface="Arial"/>
              </a:rPr>
              <a:t>Attribution theory</a:t>
            </a:r>
            <a:r>
              <a:rPr lang="en-US" sz="2800" dirty="0" smtClean="0">
                <a:cs typeface="Arial"/>
              </a:rPr>
              <a:t>: </a:t>
            </a:r>
            <a:r>
              <a:rPr lang="en-US" sz="2800" dirty="0" smtClean="0"/>
              <a:t>a </a:t>
            </a:r>
            <a:r>
              <a:rPr lang="en-US" sz="2800" dirty="0"/>
              <a:t>theory used to explain how we judge people </a:t>
            </a:r>
            <a:r>
              <a:rPr lang="en-US" sz="2800" dirty="0" smtClean="0"/>
              <a:t>differently </a:t>
            </a:r>
            <a:r>
              <a:rPr lang="en-US" sz="2800" dirty="0"/>
              <a:t>depending on what meaning we attribute to a given </a:t>
            </a:r>
            <a:r>
              <a:rPr lang="en-US" sz="2800" dirty="0" smtClean="0"/>
              <a:t>behavior</a:t>
            </a:r>
          </a:p>
          <a:p>
            <a:r>
              <a:rPr lang="en-US" sz="2800" dirty="0" smtClean="0"/>
              <a:t>Attribution depends on three factors:</a:t>
            </a:r>
          </a:p>
          <a:p>
            <a:pPr lvl="1"/>
            <a:r>
              <a:rPr lang="en-US" sz="2800" dirty="0" smtClean="0"/>
              <a:t>Distinctiveness</a:t>
            </a:r>
          </a:p>
          <a:p>
            <a:pPr lvl="1"/>
            <a:r>
              <a:rPr lang="en-US" sz="2800" dirty="0" smtClean="0"/>
              <a:t>Consensus</a:t>
            </a:r>
          </a:p>
          <a:p>
            <a:pPr lvl="1"/>
            <a:r>
              <a:rPr lang="en-US" sz="2800" dirty="0" smtClean="0"/>
              <a:t>Consistency</a:t>
            </a:r>
          </a:p>
        </p:txBody>
      </p:sp>
    </p:spTree>
    <p:extLst>
      <p:ext uri="{BB962C8B-B14F-4D97-AF65-F5344CB8AC3E}">
        <p14:creationId xmlns:p14="http://schemas.microsoft.com/office/powerpoint/2010/main" val="698673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Exhibit 15-6</a:t>
            </a:r>
            <a:br>
              <a:rPr lang="en-US" dirty="0" smtClean="0"/>
            </a:br>
            <a:r>
              <a:rPr lang="en-US" dirty="0" smtClean="0"/>
              <a:t>Attribution Theory</a:t>
            </a:r>
            <a:endParaRPr lang="en-US" dirty="0"/>
          </a:p>
        </p:txBody>
      </p:sp>
      <p:pic>
        <p:nvPicPr>
          <p:cNvPr id="7" name="Picture 6" descr="Figure is a chart with three columns labeled Observation, Interpretation, and Attribution of Cause. It has three rows, labeled &quot;Does person behave this way in other situations?&quot;; &quot;Do other people behave the same way in similar situations?&quot;; and &quot;Does this person behave this way consistently?&quot;"/>
          <p:cNvPicPr>
            <a:picLocks noChangeAspect="1"/>
          </p:cNvPicPr>
          <p:nvPr/>
        </p:nvPicPr>
        <p:blipFill>
          <a:blip r:embed="rId3" cstate="print"/>
          <a:stretch>
            <a:fillRect/>
          </a:stretch>
        </p:blipFill>
        <p:spPr>
          <a:xfrm>
            <a:off x="178398" y="1345514"/>
            <a:ext cx="8787204" cy="4341811"/>
          </a:xfrm>
          <a:prstGeom prst="rect">
            <a:avLst/>
          </a:prstGeom>
        </p:spPr>
      </p:pic>
      <p:sp>
        <p:nvSpPr>
          <p:cNvPr id="3" name="Text Placeholder 2"/>
          <p:cNvSpPr>
            <a:spLocks noGrp="1"/>
          </p:cNvSpPr>
          <p:nvPr>
            <p:ph type="body" sz="quarter" idx="13"/>
          </p:nvPr>
        </p:nvSpPr>
        <p:spPr/>
        <p:txBody>
          <a:bodyPr/>
          <a:lstStyle/>
          <a:p>
            <a:r>
              <a:rPr lang="en-US" sz="1600" dirty="0">
                <a:cs typeface="Arial" charset="0"/>
              </a:rPr>
              <a:t>Exhibit 15-6 summarizes the key elements of attribution theory.</a:t>
            </a:r>
          </a:p>
        </p:txBody>
      </p:sp>
    </p:spTree>
    <p:extLst>
      <p:ext uri="{BB962C8B-B14F-4D97-AF65-F5344CB8AC3E}">
        <p14:creationId xmlns:p14="http://schemas.microsoft.com/office/powerpoint/2010/main" val="20315278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Attribution Theory </a:t>
            </a:r>
            <a:r>
              <a:rPr lang="en-US" sz="1800" b="0" dirty="0" smtClean="0"/>
              <a:t>(2 of 2)</a:t>
            </a:r>
            <a:endParaRPr lang="en-US" sz="1800" b="0" dirty="0"/>
          </a:p>
        </p:txBody>
      </p:sp>
      <p:sp>
        <p:nvSpPr>
          <p:cNvPr id="3" name="Content Placeholder 2"/>
          <p:cNvSpPr>
            <a:spLocks noGrp="1"/>
          </p:cNvSpPr>
          <p:nvPr>
            <p:ph idx="1"/>
          </p:nvPr>
        </p:nvSpPr>
        <p:spPr/>
        <p:txBody>
          <a:bodyPr/>
          <a:lstStyle/>
          <a:p>
            <a:r>
              <a:rPr lang="en-US" sz="2800" b="1" dirty="0">
                <a:cs typeface="Arial"/>
              </a:rPr>
              <a:t>Fundamental attribution </a:t>
            </a:r>
            <a:r>
              <a:rPr lang="en-US" sz="2800" b="1" dirty="0" smtClean="0">
                <a:cs typeface="Arial"/>
              </a:rPr>
              <a:t>error: </a:t>
            </a:r>
            <a:r>
              <a:rPr lang="en-US" sz="2800" dirty="0" smtClean="0">
                <a:cs typeface="Arial"/>
              </a:rPr>
              <a:t>the </a:t>
            </a:r>
            <a:r>
              <a:rPr lang="en-US" sz="2800" dirty="0">
                <a:cs typeface="Arial"/>
              </a:rPr>
              <a:t>tendency to underestimate the influence of external factors and to overestimate the influence of internal or personal </a:t>
            </a:r>
            <a:r>
              <a:rPr lang="en-US" sz="2800" dirty="0" smtClean="0">
                <a:cs typeface="Arial"/>
              </a:rPr>
              <a:t>factors</a:t>
            </a:r>
          </a:p>
          <a:p>
            <a:r>
              <a:rPr lang="en-US" sz="2800" b="1" dirty="0">
                <a:cs typeface="Arial"/>
              </a:rPr>
              <a:t>Self-serving </a:t>
            </a:r>
            <a:r>
              <a:rPr lang="en-US" sz="2800" b="1" dirty="0" smtClean="0">
                <a:cs typeface="Arial"/>
              </a:rPr>
              <a:t>bias: </a:t>
            </a:r>
            <a:r>
              <a:rPr lang="en-US" sz="2800" dirty="0" smtClean="0">
                <a:cs typeface="Arial"/>
              </a:rPr>
              <a:t>the </a:t>
            </a:r>
            <a:r>
              <a:rPr lang="en-US" sz="2800" dirty="0">
                <a:cs typeface="Arial"/>
              </a:rPr>
              <a:t>tendency of individuals to attribute their successes to internal factors while blaming personal failures on external </a:t>
            </a:r>
            <a:r>
              <a:rPr lang="en-US" sz="2800" dirty="0" smtClean="0">
                <a:cs typeface="Arial"/>
              </a:rPr>
              <a:t>factors</a:t>
            </a:r>
            <a:endParaRPr lang="en-US" sz="2800" dirty="0" smtClean="0"/>
          </a:p>
        </p:txBody>
      </p:sp>
    </p:spTree>
    <p:extLst>
      <p:ext uri="{BB962C8B-B14F-4D97-AF65-F5344CB8AC3E}">
        <p14:creationId xmlns:p14="http://schemas.microsoft.com/office/powerpoint/2010/main" val="11908158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Shortcuts Used in Judging Others</a:t>
            </a:r>
            <a:endParaRPr lang="en-US" dirty="0"/>
          </a:p>
        </p:txBody>
      </p:sp>
      <p:sp>
        <p:nvSpPr>
          <p:cNvPr id="3" name="Content Placeholder 2"/>
          <p:cNvSpPr>
            <a:spLocks noGrp="1"/>
          </p:cNvSpPr>
          <p:nvPr>
            <p:ph idx="1"/>
          </p:nvPr>
        </p:nvSpPr>
        <p:spPr/>
        <p:txBody>
          <a:bodyPr/>
          <a:lstStyle/>
          <a:p>
            <a:r>
              <a:rPr lang="en-US" sz="2800" b="1" dirty="0" smtClean="0"/>
              <a:t>Assumed similarity</a:t>
            </a:r>
            <a:r>
              <a:rPr lang="en-US" sz="2800" dirty="0" smtClean="0"/>
              <a:t>: the </a:t>
            </a:r>
            <a:r>
              <a:rPr lang="en-US" sz="2800" dirty="0"/>
              <a:t>assumption that others are like </a:t>
            </a:r>
            <a:r>
              <a:rPr lang="en-US" sz="2800" dirty="0" smtClean="0"/>
              <a:t>oneself</a:t>
            </a:r>
          </a:p>
          <a:p>
            <a:r>
              <a:rPr lang="en-US" sz="2800" b="1" dirty="0" smtClean="0"/>
              <a:t>Stereotyping</a:t>
            </a:r>
            <a:r>
              <a:rPr lang="en-US" sz="2800" dirty="0" smtClean="0"/>
              <a:t>: judging </a:t>
            </a:r>
            <a:r>
              <a:rPr lang="en-US" sz="2800" dirty="0"/>
              <a:t>a person based on a perception of a group to which that person </a:t>
            </a:r>
            <a:r>
              <a:rPr lang="en-US" sz="2800" dirty="0" smtClean="0"/>
              <a:t>belongs</a:t>
            </a:r>
          </a:p>
          <a:p>
            <a:r>
              <a:rPr lang="en-US" sz="2800" b="1" dirty="0" smtClean="0"/>
              <a:t>Halo effect</a:t>
            </a:r>
            <a:r>
              <a:rPr lang="en-US" sz="2800" dirty="0" smtClean="0"/>
              <a:t>:</a:t>
            </a:r>
            <a:r>
              <a:rPr lang="en-US" sz="2800" dirty="0"/>
              <a:t> </a:t>
            </a:r>
            <a:r>
              <a:rPr lang="en-US" sz="2800" dirty="0" smtClean="0"/>
              <a:t>a </a:t>
            </a:r>
            <a:r>
              <a:rPr lang="en-US" sz="2800" dirty="0"/>
              <a:t>general impression of an individual based on a single </a:t>
            </a:r>
            <a:r>
              <a:rPr lang="en-US" sz="2800" dirty="0" smtClean="0"/>
              <a:t>characteristic</a:t>
            </a:r>
          </a:p>
        </p:txBody>
      </p:sp>
    </p:spTree>
    <p:extLst>
      <p:ext uri="{BB962C8B-B14F-4D97-AF65-F5344CB8AC3E}">
        <p14:creationId xmlns:p14="http://schemas.microsoft.com/office/powerpoint/2010/main" val="12380594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Implications for Managers: Perception</a:t>
            </a:r>
            <a:endParaRPr lang="en-US" dirty="0"/>
          </a:p>
        </p:txBody>
      </p:sp>
      <p:sp>
        <p:nvSpPr>
          <p:cNvPr id="3" name="Content Placeholder 2"/>
          <p:cNvSpPr>
            <a:spLocks noGrp="1"/>
          </p:cNvSpPr>
          <p:nvPr>
            <p:ph idx="1"/>
          </p:nvPr>
        </p:nvSpPr>
        <p:spPr/>
        <p:txBody>
          <a:bodyPr/>
          <a:lstStyle/>
          <a:p>
            <a:r>
              <a:rPr lang="en-US" sz="2800" dirty="0"/>
              <a:t>Managers need to recognize that their employees react to perceptions, not to reality</a:t>
            </a:r>
            <a:r>
              <a:rPr lang="en-US" sz="2800" dirty="0" smtClean="0"/>
              <a:t>.</a:t>
            </a:r>
            <a:endParaRPr lang="en-US" sz="2800" dirty="0"/>
          </a:p>
        </p:txBody>
      </p:sp>
    </p:spTree>
    <p:extLst>
      <p:ext uri="{BB962C8B-B14F-4D97-AF65-F5344CB8AC3E}">
        <p14:creationId xmlns:p14="http://schemas.microsoft.com/office/powerpoint/2010/main" val="6921274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a:t>
            </a:r>
            <a:endParaRPr lang="en-US" dirty="0"/>
          </a:p>
        </p:txBody>
      </p:sp>
      <p:sp>
        <p:nvSpPr>
          <p:cNvPr id="3" name="Content Placeholder 2"/>
          <p:cNvSpPr>
            <a:spLocks noGrp="1"/>
          </p:cNvSpPr>
          <p:nvPr>
            <p:ph idx="1"/>
          </p:nvPr>
        </p:nvSpPr>
        <p:spPr/>
        <p:txBody>
          <a:bodyPr/>
          <a:lstStyle/>
          <a:p>
            <a:r>
              <a:rPr lang="en-US" sz="2800" dirty="0" smtClean="0"/>
              <a:t>Managers need to recognize that their employees react to perceptions, not to reality.</a:t>
            </a:r>
            <a:endParaRPr lang="en-US" sz="2800" dirty="0"/>
          </a:p>
        </p:txBody>
      </p:sp>
    </p:spTree>
    <p:extLst>
      <p:ext uri="{BB962C8B-B14F-4D97-AF65-F5344CB8AC3E}">
        <p14:creationId xmlns:p14="http://schemas.microsoft.com/office/powerpoint/2010/main" val="6881630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Operant Conditioning</a:t>
            </a:r>
            <a:endParaRPr lang="en-US" dirty="0"/>
          </a:p>
        </p:txBody>
      </p:sp>
      <p:sp>
        <p:nvSpPr>
          <p:cNvPr id="3" name="Content Placeholder 2"/>
          <p:cNvSpPr>
            <a:spLocks noGrp="1"/>
          </p:cNvSpPr>
          <p:nvPr>
            <p:ph idx="1"/>
          </p:nvPr>
        </p:nvSpPr>
        <p:spPr/>
        <p:txBody>
          <a:bodyPr/>
          <a:lstStyle/>
          <a:p>
            <a:r>
              <a:rPr lang="en-US" sz="2800" b="1" dirty="0" smtClean="0"/>
              <a:t>Operant conditioning</a:t>
            </a:r>
            <a:r>
              <a:rPr lang="en-US" sz="2800" dirty="0" smtClean="0"/>
              <a:t>: a </a:t>
            </a:r>
            <a:r>
              <a:rPr lang="en-US" sz="2800" dirty="0"/>
              <a:t>theory of learning that says behavior is a function of its </a:t>
            </a:r>
            <a:r>
              <a:rPr lang="en-US" sz="2800" dirty="0" smtClean="0"/>
              <a:t>consequences</a:t>
            </a:r>
            <a:endParaRPr lang="en-US" sz="2800" dirty="0"/>
          </a:p>
        </p:txBody>
      </p:sp>
    </p:spTree>
    <p:extLst>
      <p:ext uri="{BB962C8B-B14F-4D97-AF65-F5344CB8AC3E}">
        <p14:creationId xmlns:p14="http://schemas.microsoft.com/office/powerpoint/2010/main" val="631692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Learning</a:t>
            </a:r>
            <a:endParaRPr lang="en-US" dirty="0"/>
          </a:p>
        </p:txBody>
      </p:sp>
      <p:sp>
        <p:nvSpPr>
          <p:cNvPr id="3" name="Content Placeholder 2"/>
          <p:cNvSpPr>
            <a:spLocks noGrp="1"/>
          </p:cNvSpPr>
          <p:nvPr>
            <p:ph idx="1"/>
          </p:nvPr>
        </p:nvSpPr>
        <p:spPr/>
        <p:txBody>
          <a:bodyPr/>
          <a:lstStyle/>
          <a:p>
            <a:r>
              <a:rPr lang="en-US" sz="2800" b="1" dirty="0" smtClean="0"/>
              <a:t>Social learning theory</a:t>
            </a:r>
            <a:r>
              <a:rPr lang="en-US" sz="2800" dirty="0" smtClean="0"/>
              <a:t>: a </a:t>
            </a:r>
            <a:r>
              <a:rPr lang="en-US" sz="2800" dirty="0"/>
              <a:t>theory of learning that says people can learn through observation and direct </a:t>
            </a:r>
            <a:r>
              <a:rPr lang="en-US" sz="2800" dirty="0" smtClean="0"/>
              <a:t>experience</a:t>
            </a:r>
            <a:endParaRPr lang="en-US" sz="2800" dirty="0"/>
          </a:p>
        </p:txBody>
      </p:sp>
    </p:spTree>
    <p:extLst>
      <p:ext uri="{BB962C8B-B14F-4D97-AF65-F5344CB8AC3E}">
        <p14:creationId xmlns:p14="http://schemas.microsoft.com/office/powerpoint/2010/main" val="9142920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Shaping: A Managerial Tool</a:t>
            </a:r>
            <a:endParaRPr lang="en-US" dirty="0"/>
          </a:p>
        </p:txBody>
      </p:sp>
      <p:sp>
        <p:nvSpPr>
          <p:cNvPr id="3" name="Content Placeholder 2"/>
          <p:cNvSpPr>
            <a:spLocks noGrp="1"/>
          </p:cNvSpPr>
          <p:nvPr>
            <p:ph idx="1"/>
          </p:nvPr>
        </p:nvSpPr>
        <p:spPr/>
        <p:txBody>
          <a:bodyPr/>
          <a:lstStyle/>
          <a:p>
            <a:r>
              <a:rPr lang="en-US" sz="2800" b="1" dirty="0" smtClean="0"/>
              <a:t>Shaping behavior</a:t>
            </a:r>
            <a:r>
              <a:rPr lang="en-US" sz="2800" dirty="0" smtClean="0"/>
              <a:t>: the </a:t>
            </a:r>
            <a:r>
              <a:rPr lang="en-US" sz="2800" dirty="0"/>
              <a:t>process of guiding learning in graduated steps using reinforcement or lack of </a:t>
            </a:r>
            <a:r>
              <a:rPr lang="en-US" sz="2800" dirty="0" smtClean="0"/>
              <a:t>reinforcement</a:t>
            </a:r>
            <a:endParaRPr lang="en-US" sz="2800" dirty="0"/>
          </a:p>
        </p:txBody>
      </p:sp>
    </p:spTree>
    <p:extLst>
      <p:ext uri="{BB962C8B-B14F-4D97-AF65-F5344CB8AC3E}">
        <p14:creationId xmlns:p14="http://schemas.microsoft.com/office/powerpoint/2010/main" val="1273139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Implications for Managers: Learning</a:t>
            </a:r>
            <a:endParaRPr lang="en-US" dirty="0"/>
          </a:p>
        </p:txBody>
      </p:sp>
      <p:sp>
        <p:nvSpPr>
          <p:cNvPr id="3" name="Content Placeholder 2"/>
          <p:cNvSpPr>
            <a:spLocks noGrp="1"/>
          </p:cNvSpPr>
          <p:nvPr>
            <p:ph idx="1"/>
          </p:nvPr>
        </p:nvSpPr>
        <p:spPr/>
        <p:txBody>
          <a:bodyPr/>
          <a:lstStyle/>
          <a:p>
            <a:r>
              <a:rPr lang="en-US" sz="2800" dirty="0"/>
              <a:t>Employees are going to learn on the </a:t>
            </a:r>
            <a:r>
              <a:rPr lang="en-US" sz="2800" dirty="0" smtClean="0"/>
              <a:t>job: are </a:t>
            </a:r>
            <a:r>
              <a:rPr lang="en-US" sz="2800" dirty="0"/>
              <a:t>managers </a:t>
            </a:r>
            <a:r>
              <a:rPr lang="en-US" sz="2800" dirty="0" smtClean="0"/>
              <a:t>going </a:t>
            </a:r>
            <a:r>
              <a:rPr lang="en-US" sz="2800" dirty="0"/>
              <a:t>to manage their learning through the rewards they allocate and the examples they set, or allow it to occur </a:t>
            </a:r>
            <a:r>
              <a:rPr lang="en-US" sz="2800" dirty="0" smtClean="0"/>
              <a:t>haphazardly?</a:t>
            </a:r>
            <a:endParaRPr lang="en-US" sz="2800" dirty="0"/>
          </a:p>
        </p:txBody>
      </p:sp>
    </p:spTree>
    <p:extLst>
      <p:ext uri="{BB962C8B-B14F-4D97-AF65-F5344CB8AC3E}">
        <p14:creationId xmlns:p14="http://schemas.microsoft.com/office/powerpoint/2010/main" val="11170803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nb-NO" dirty="0" smtClean="0"/>
              <a:t>15.</a:t>
            </a:r>
            <a:r>
              <a:rPr lang="en-US" dirty="0" smtClean="0"/>
              <a:t>1</a:t>
            </a:r>
            <a:endParaRPr lang="en-US" dirty="0"/>
          </a:p>
        </p:txBody>
      </p:sp>
      <p:sp>
        <p:nvSpPr>
          <p:cNvPr id="3" name="Content Placeholder 2"/>
          <p:cNvSpPr>
            <a:spLocks noGrp="1"/>
          </p:cNvSpPr>
          <p:nvPr>
            <p:ph idx="1"/>
          </p:nvPr>
        </p:nvSpPr>
        <p:spPr/>
        <p:txBody>
          <a:bodyPr/>
          <a:lstStyle/>
          <a:p>
            <a:r>
              <a:rPr lang="en-US" sz="2800" b="1" dirty="0"/>
              <a:t>Identify the focus and goals of individual behavior within organizations</a:t>
            </a:r>
            <a:r>
              <a:rPr lang="en-US" sz="2800" b="1" dirty="0" smtClean="0"/>
              <a:t>.</a:t>
            </a:r>
          </a:p>
          <a:p>
            <a:pPr lvl="1"/>
            <a:r>
              <a:rPr lang="en-US" sz="2400" dirty="0" smtClean="0">
                <a:cs typeface="Arial"/>
              </a:rPr>
              <a:t>Organization </a:t>
            </a:r>
            <a:r>
              <a:rPr lang="en-US" sz="2400" dirty="0">
                <a:cs typeface="Arial"/>
              </a:rPr>
              <a:t>behavior (OB) focuses on three areas: individual behavior, group behavior, and organizational </a:t>
            </a:r>
            <a:r>
              <a:rPr lang="en-US" sz="2400" dirty="0" smtClean="0">
                <a:cs typeface="Arial"/>
              </a:rPr>
              <a:t>aspects.</a:t>
            </a:r>
            <a:endParaRPr lang="en-US" sz="2400" dirty="0" smtClean="0"/>
          </a:p>
          <a:p>
            <a:pPr lvl="1"/>
            <a:r>
              <a:rPr lang="en-US" sz="2400" dirty="0" smtClean="0">
                <a:cs typeface="Arial"/>
              </a:rPr>
              <a:t>Behaviors </a:t>
            </a:r>
            <a:r>
              <a:rPr lang="en-US" sz="2400" dirty="0">
                <a:cs typeface="Arial"/>
              </a:rPr>
              <a:t>include productivity, absenteeism, turnover, organizational </a:t>
            </a:r>
            <a:r>
              <a:rPr lang="en-US" sz="2400" dirty="0" smtClean="0">
                <a:cs typeface="Arial"/>
              </a:rPr>
              <a:t>citizenship,</a:t>
            </a:r>
            <a:r>
              <a:rPr lang="en-US" sz="2400" dirty="0" smtClean="0"/>
              <a:t> </a:t>
            </a:r>
            <a:r>
              <a:rPr lang="en-US" sz="2400" dirty="0" smtClean="0">
                <a:cs typeface="Arial"/>
              </a:rPr>
              <a:t>and </a:t>
            </a:r>
            <a:r>
              <a:rPr lang="en-US" sz="2400" dirty="0">
                <a:cs typeface="Arial"/>
              </a:rPr>
              <a:t>job </a:t>
            </a:r>
            <a:r>
              <a:rPr lang="en-US" sz="2400" dirty="0" smtClean="0">
                <a:cs typeface="Arial"/>
              </a:rPr>
              <a:t>satisfaction.</a:t>
            </a:r>
            <a:endParaRPr lang="en-US" sz="2400" dirty="0" smtClean="0"/>
          </a:p>
        </p:txBody>
      </p:sp>
    </p:spTree>
    <p:extLst>
      <p:ext uri="{BB962C8B-B14F-4D97-AF65-F5344CB8AC3E}">
        <p14:creationId xmlns:p14="http://schemas.microsoft.com/office/powerpoint/2010/main" val="1846069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nb-NO" dirty="0" smtClean="0"/>
              <a:t>15.</a:t>
            </a:r>
            <a:r>
              <a:rPr lang="en-US" dirty="0" smtClean="0"/>
              <a:t>2</a:t>
            </a:r>
            <a:endParaRPr lang="en-US" dirty="0"/>
          </a:p>
        </p:txBody>
      </p:sp>
      <p:sp>
        <p:nvSpPr>
          <p:cNvPr id="3" name="Content Placeholder 2"/>
          <p:cNvSpPr>
            <a:spLocks noGrp="1"/>
          </p:cNvSpPr>
          <p:nvPr>
            <p:ph idx="1"/>
          </p:nvPr>
        </p:nvSpPr>
        <p:spPr/>
        <p:txBody>
          <a:bodyPr/>
          <a:lstStyle/>
          <a:p>
            <a:r>
              <a:rPr lang="en-US" sz="2800" b="1" dirty="0"/>
              <a:t>Explain the role that attitudes play in job performance.</a:t>
            </a:r>
            <a:endParaRPr lang="en-US" sz="2800" b="1" dirty="0" smtClean="0"/>
          </a:p>
          <a:p>
            <a:pPr lvl="1"/>
            <a:r>
              <a:rPr lang="en-US" sz="2400" dirty="0" smtClean="0"/>
              <a:t>Cognitive component, affective component, behavioral component</a:t>
            </a:r>
          </a:p>
          <a:p>
            <a:pPr lvl="1"/>
            <a:r>
              <a:rPr lang="en-US" sz="2400" dirty="0" smtClean="0"/>
              <a:t>Job satisfaction, job involvement, organizational commitment, employee engagement</a:t>
            </a:r>
          </a:p>
        </p:txBody>
      </p:sp>
    </p:spTree>
    <p:extLst>
      <p:ext uri="{BB962C8B-B14F-4D97-AF65-F5344CB8AC3E}">
        <p14:creationId xmlns:p14="http://schemas.microsoft.com/office/powerpoint/2010/main" val="8010515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nb-NO" dirty="0" smtClean="0"/>
              <a:t>15.</a:t>
            </a:r>
            <a:r>
              <a:rPr lang="en-US" dirty="0" smtClean="0"/>
              <a:t>3</a:t>
            </a:r>
            <a:endParaRPr lang="en-US" dirty="0"/>
          </a:p>
        </p:txBody>
      </p:sp>
      <p:sp>
        <p:nvSpPr>
          <p:cNvPr id="3" name="Content Placeholder 2"/>
          <p:cNvSpPr>
            <a:spLocks noGrp="1"/>
          </p:cNvSpPr>
          <p:nvPr>
            <p:ph idx="1"/>
          </p:nvPr>
        </p:nvSpPr>
        <p:spPr/>
        <p:txBody>
          <a:bodyPr/>
          <a:lstStyle/>
          <a:p>
            <a:r>
              <a:rPr lang="en-US" sz="2800" b="1" dirty="0"/>
              <a:t>Describe different personality theories.</a:t>
            </a:r>
            <a:endParaRPr lang="en-US" sz="2800" b="1" dirty="0" smtClean="0"/>
          </a:p>
          <a:p>
            <a:pPr lvl="1"/>
            <a:r>
              <a:rPr lang="en-US" sz="2400" dirty="0"/>
              <a:t>MBTI</a:t>
            </a:r>
            <a:r>
              <a:rPr lang="en-US" sz="2400" dirty="0" smtClean="0"/>
              <a:t>®</a:t>
            </a:r>
          </a:p>
          <a:p>
            <a:pPr lvl="1"/>
            <a:r>
              <a:rPr lang="en-US" sz="2400" dirty="0" smtClean="0"/>
              <a:t>Big Five Model</a:t>
            </a:r>
          </a:p>
          <a:p>
            <a:pPr lvl="1"/>
            <a:r>
              <a:rPr lang="en-US" sz="2400" dirty="0" smtClean="0"/>
              <a:t>Personality traits</a:t>
            </a:r>
          </a:p>
        </p:txBody>
      </p:sp>
    </p:spTree>
    <p:extLst>
      <p:ext uri="{BB962C8B-B14F-4D97-AF65-F5344CB8AC3E}">
        <p14:creationId xmlns:p14="http://schemas.microsoft.com/office/powerpoint/2010/main" val="4693942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nb-NO" dirty="0" smtClean="0"/>
              <a:t>15.</a:t>
            </a:r>
            <a:r>
              <a:rPr lang="en-US" dirty="0" smtClean="0"/>
              <a:t>4</a:t>
            </a:r>
            <a:endParaRPr lang="en-US" dirty="0"/>
          </a:p>
        </p:txBody>
      </p:sp>
      <p:sp>
        <p:nvSpPr>
          <p:cNvPr id="3" name="Content Placeholder 2"/>
          <p:cNvSpPr>
            <a:spLocks noGrp="1"/>
          </p:cNvSpPr>
          <p:nvPr>
            <p:ph idx="1"/>
          </p:nvPr>
        </p:nvSpPr>
        <p:spPr/>
        <p:txBody>
          <a:bodyPr/>
          <a:lstStyle/>
          <a:p>
            <a:r>
              <a:rPr lang="en-US" sz="2800" b="1" dirty="0"/>
              <a:t>Describe perception and factors that influence it.</a:t>
            </a:r>
            <a:endParaRPr lang="en-US" sz="2800" b="1" dirty="0" smtClean="0"/>
          </a:p>
          <a:p>
            <a:pPr lvl="1"/>
            <a:r>
              <a:rPr lang="en-US" sz="2400" dirty="0" smtClean="0"/>
              <a:t>Perception</a:t>
            </a:r>
          </a:p>
          <a:p>
            <a:pPr lvl="1"/>
            <a:r>
              <a:rPr lang="en-US" sz="2400" dirty="0" smtClean="0"/>
              <a:t>Fundamental attribution error</a:t>
            </a:r>
          </a:p>
          <a:p>
            <a:pPr lvl="1"/>
            <a:r>
              <a:rPr lang="en-US" sz="2400" dirty="0" smtClean="0"/>
              <a:t>Self-serving bias</a:t>
            </a:r>
          </a:p>
          <a:p>
            <a:pPr lvl="1"/>
            <a:r>
              <a:rPr lang="en-US" sz="2400" dirty="0" smtClean="0"/>
              <a:t>Shortcuts:</a:t>
            </a:r>
          </a:p>
          <a:p>
            <a:pPr lvl="2"/>
            <a:r>
              <a:rPr lang="en-US" sz="2400" dirty="0" smtClean="0"/>
              <a:t>Assumed similarity</a:t>
            </a:r>
          </a:p>
          <a:p>
            <a:pPr lvl="2"/>
            <a:r>
              <a:rPr lang="en-US" sz="2400" dirty="0" smtClean="0"/>
              <a:t>Stereotyping</a:t>
            </a:r>
          </a:p>
          <a:p>
            <a:pPr lvl="2"/>
            <a:r>
              <a:rPr lang="en-US" sz="2400" dirty="0" smtClean="0"/>
              <a:t>Halo effect</a:t>
            </a:r>
          </a:p>
        </p:txBody>
      </p:sp>
    </p:spTree>
    <p:extLst>
      <p:ext uri="{BB962C8B-B14F-4D97-AF65-F5344CB8AC3E}">
        <p14:creationId xmlns:p14="http://schemas.microsoft.com/office/powerpoint/2010/main" val="8617704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Review Learning Objective </a:t>
            </a:r>
            <a:r>
              <a:rPr lang="nb-NO" dirty="0" smtClean="0"/>
              <a:t>15.</a:t>
            </a:r>
            <a:r>
              <a:rPr lang="en-US" dirty="0" smtClean="0"/>
              <a:t>5</a:t>
            </a:r>
            <a:endParaRPr lang="en-US" dirty="0"/>
          </a:p>
        </p:txBody>
      </p:sp>
      <p:sp>
        <p:nvSpPr>
          <p:cNvPr id="3" name="Content Placeholder 2"/>
          <p:cNvSpPr>
            <a:spLocks noGrp="1"/>
          </p:cNvSpPr>
          <p:nvPr>
            <p:ph idx="1"/>
          </p:nvPr>
        </p:nvSpPr>
        <p:spPr/>
        <p:txBody>
          <a:bodyPr/>
          <a:lstStyle/>
          <a:p>
            <a:r>
              <a:rPr lang="en-US" sz="2800" b="1" dirty="0"/>
              <a:t>Discuss learning theories and their relevance in shaping behavior</a:t>
            </a:r>
            <a:r>
              <a:rPr lang="en-US" sz="2800" dirty="0" smtClean="0"/>
              <a:t>.</a:t>
            </a:r>
          </a:p>
          <a:p>
            <a:pPr lvl="1"/>
            <a:r>
              <a:rPr lang="en-US" sz="2400" dirty="0" smtClean="0"/>
              <a:t>Operant conditioning</a:t>
            </a:r>
          </a:p>
          <a:p>
            <a:pPr lvl="1"/>
            <a:r>
              <a:rPr lang="en-US" sz="2400" dirty="0" smtClean="0"/>
              <a:t>Social learning theory</a:t>
            </a:r>
          </a:p>
          <a:p>
            <a:pPr lvl="1"/>
            <a:r>
              <a:rPr lang="en-US" sz="2400" dirty="0" smtClean="0"/>
              <a:t>Shaping behavior</a:t>
            </a:r>
          </a:p>
        </p:txBody>
      </p:sp>
    </p:spTree>
    <p:extLst>
      <p:ext uri="{BB962C8B-B14F-4D97-AF65-F5344CB8AC3E}">
        <p14:creationId xmlns:p14="http://schemas.microsoft.com/office/powerpoint/2010/main" val="5522278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Copyright</a:t>
            </a:r>
            <a:endParaRPr lang="en-US" dirty="0"/>
          </a:p>
        </p:txBody>
      </p:sp>
      <p:pic>
        <p:nvPicPr>
          <p:cNvPr id="5" name="Picture 14" descr="copyrigh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676400"/>
            <a:ext cx="9144000"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081362"/>
      </p:ext>
    </p:extLst>
  </p:cSld>
  <p:clrMapOvr>
    <a:masterClrMapping/>
  </p:clrMapOvr>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17494</TotalTime>
  <Words>5992</Words>
  <Application>Microsoft Office PowerPoint</Application>
  <PresentationFormat>On-screen Show (4:3)</PresentationFormat>
  <Paragraphs>338</Paragraphs>
  <Slides>49</Slides>
  <Notes>48</Notes>
  <HiddenSlides>0</HiddenSlides>
  <MMClips>0</MMClip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508 Lecture</vt:lpstr>
      <vt:lpstr>Management</vt:lpstr>
      <vt:lpstr>Learning Objectives</vt:lpstr>
      <vt:lpstr>Focus and Goals of Organizational Behavior</vt:lpstr>
      <vt:lpstr>Exhibit 15-1 Organization as Iceberg</vt:lpstr>
      <vt:lpstr>Focus of Organizational Behavior</vt:lpstr>
      <vt:lpstr>Goals of Organizational Behavior (1 of 2)</vt:lpstr>
      <vt:lpstr>Goals of Organizational Behavior (2 of 2)</vt:lpstr>
      <vt:lpstr>Attitudes and Job Performance</vt:lpstr>
      <vt:lpstr>Attitude Components</vt:lpstr>
      <vt:lpstr>Job Satisfaction</vt:lpstr>
      <vt:lpstr>Job Involvement and Organizational Commitment (1 of 2)</vt:lpstr>
      <vt:lpstr>Job Involvement and Organizational Commitment (2 of 2)</vt:lpstr>
      <vt:lpstr>Employee Engagement</vt:lpstr>
      <vt:lpstr>Attitudes and Consistency</vt:lpstr>
      <vt:lpstr>Cognitive Dissonance Theory</vt:lpstr>
      <vt:lpstr>Attitude Surveys</vt:lpstr>
      <vt:lpstr>Exhibit 15-2 Sample Employee Attitude Survey</vt:lpstr>
      <vt:lpstr>Implications for Managers</vt:lpstr>
      <vt:lpstr>Personality</vt:lpstr>
      <vt:lpstr>MBTI®</vt:lpstr>
      <vt:lpstr>Exhibit 15-3 Examples of MBTI® Personality Types</vt:lpstr>
      <vt:lpstr>The Big Five Model</vt:lpstr>
      <vt:lpstr>Additional Personality Insights (1 of 2)</vt:lpstr>
      <vt:lpstr>Additional Personality Insights (2 of 2)</vt:lpstr>
      <vt:lpstr>Other Personality Traits</vt:lpstr>
      <vt:lpstr>Personality Types in Different Cultures</vt:lpstr>
      <vt:lpstr>Emotions and Emotional Intelligence</vt:lpstr>
      <vt:lpstr>Five Dimensions of Emotional Intelligence</vt:lpstr>
      <vt:lpstr>Implications for Managers: Personality</vt:lpstr>
      <vt:lpstr>Exhibit 15-4 Holland’s Personality-Job Fit</vt:lpstr>
      <vt:lpstr>Perception</vt:lpstr>
      <vt:lpstr>Factors that Influence Perception</vt:lpstr>
      <vt:lpstr>Exhibit 15-5 What Do You See?</vt:lpstr>
      <vt:lpstr>Attribution Theory (1 of 2)</vt:lpstr>
      <vt:lpstr>Exhibit 15-6 Attribution Theory</vt:lpstr>
      <vt:lpstr>Attribution Theory (2 of 2)</vt:lpstr>
      <vt:lpstr>Shortcuts Used in Judging Others</vt:lpstr>
      <vt:lpstr>Implications for Managers: Perception</vt:lpstr>
      <vt:lpstr>Learning</vt:lpstr>
      <vt:lpstr>Operant Conditioning</vt:lpstr>
      <vt:lpstr>Social Learning</vt:lpstr>
      <vt:lpstr>Shaping: A Managerial Tool</vt:lpstr>
      <vt:lpstr>Implications for Managers: Learning</vt:lpstr>
      <vt:lpstr>Review Learning Objective 15.1</vt:lpstr>
      <vt:lpstr>Review Learning Objective 15.2</vt:lpstr>
      <vt:lpstr>Review Learning Objective 15.3</vt:lpstr>
      <vt:lpstr>Review Learning Objective 15.4</vt:lpstr>
      <vt:lpstr>Review Learning Objective 15.5</vt:lpstr>
      <vt:lpstr>Copyright</vt:lpstr>
    </vt:vector>
  </TitlesOfParts>
  <Manager/>
  <Company>Cenveo Publisher</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14e</dc:title>
  <dc:subject>Chapter 15: Understanding and Managing Individual Behavior</dc:subject>
  <dc:creator>Stephen P. Robbins and Mary Coulter</dc:creator>
  <cp:keywords>Management</cp:keywords>
  <dc:description/>
  <cp:lastModifiedBy>Nishu Tyagi</cp:lastModifiedBy>
  <cp:revision>611</cp:revision>
  <dcterms:created xsi:type="dcterms:W3CDTF">2014-07-14T20:04:21Z</dcterms:created>
  <dcterms:modified xsi:type="dcterms:W3CDTF">2017-04-06T16:20:19Z</dcterms:modified>
  <cp:category/>
</cp:coreProperties>
</file>