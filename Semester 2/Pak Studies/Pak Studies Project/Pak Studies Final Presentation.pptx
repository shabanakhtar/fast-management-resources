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7697C9-DA1A-4557-8587-D2C450338D15}" v="185" dt="2026-05-08T06:30:36.952"/>
    <p1510:client id="{C7435FB8-5F92-4689-AFB2-B0291D30DEAC}" v="11" dt="2026-05-08T04:45:08.141"/>
    <p1510:client id="{F55AD1D1-447E-4BD1-9917-38EF35A7AA93}" v="369" dt="2026-05-08T03:52:04.3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D484BFC7-18B9-C341-802B-C9A68A32351E}" type="datetimeFigureOut">
              <a:rPr lang="en-US" smtClean="0"/>
              <a:t>5/7/2026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14D810AC-F6A7-6C45-99A2-426B64E1E66B}" type="slidenum">
              <a:rPr lang="en-US" smtClean="0"/>
              <a:t>‹#›</a:t>
            </a:fld>
            <a:endParaRPr lang="en-US"/>
          </a:p>
        </p:txBody>
      </p:sp>
    </p:spTree>
    <p:extLst>
      <p:ext uri="{BB962C8B-B14F-4D97-AF65-F5344CB8AC3E}">
        <p14:creationId xmlns:p14="http://schemas.microsoft.com/office/powerpoint/2010/main" val="1839218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4731"/>
          </a:solidFill>
          <a:ln w="12700">
            <a:solidFill>
              <a:srgbClr val="1A4731"/>
            </a:solidFill>
            <a:prstDash val="solid"/>
          </a:ln>
        </p:spPr>
      </p:sp>
      <p:sp>
        <p:nvSpPr>
          <p:cNvPr id="3" name="Shape 1"/>
          <p:cNvSpPr/>
          <p:nvPr/>
        </p:nvSpPr>
        <p:spPr>
          <a:xfrm>
            <a:off x="0" y="0"/>
            <a:ext cx="164592" cy="5143500"/>
          </a:xfrm>
          <a:prstGeom prst="rect">
            <a:avLst/>
          </a:prstGeom>
          <a:solidFill>
            <a:srgbClr val="C9A84C"/>
          </a:solidFill>
          <a:ln w="12700">
            <a:solidFill>
              <a:srgbClr val="C9A84C"/>
            </a:solidFill>
            <a:prstDash val="solid"/>
          </a:ln>
        </p:spPr>
      </p:sp>
      <p:sp>
        <p:nvSpPr>
          <p:cNvPr id="4" name="Text 2"/>
          <p:cNvSpPr/>
          <p:nvPr/>
        </p:nvSpPr>
        <p:spPr>
          <a:xfrm>
            <a:off x="457200" y="502920"/>
            <a:ext cx="8229600" cy="914400"/>
          </a:xfrm>
          <a:prstGeom prst="rect">
            <a:avLst/>
          </a:prstGeom>
          <a:noFill/>
          <a:ln/>
        </p:spPr>
        <p:txBody>
          <a:bodyPr wrap="square" lIns="0" tIns="0" rIns="0" bIns="0" rtlCol="0" anchor="ctr"/>
          <a:lstStyle/>
          <a:p>
            <a:pPr marL="0" indent="0" algn="l">
              <a:buNone/>
            </a:pPr>
            <a:r>
              <a:rPr lang="en-US" sz="7200" b="1" kern="0" spc="800" dirty="0">
                <a:solidFill>
                  <a:srgbClr val="C9A84C"/>
                </a:solidFill>
                <a:latin typeface="Times New Roman" pitchFamily="34" charset="0"/>
                <a:ea typeface="Times New Roman" pitchFamily="34" charset="-122"/>
                <a:cs typeface="Times New Roman" pitchFamily="34" charset="-120"/>
              </a:rPr>
              <a:t>PAKISTAN</a:t>
            </a:r>
            <a:endParaRPr lang="en-US" sz="7200" dirty="0"/>
          </a:p>
        </p:txBody>
      </p:sp>
      <p:sp>
        <p:nvSpPr>
          <p:cNvPr id="5" name="Text 3"/>
          <p:cNvSpPr/>
          <p:nvPr/>
        </p:nvSpPr>
        <p:spPr>
          <a:xfrm>
            <a:off x="457200" y="1371600"/>
            <a:ext cx="8229600" cy="640080"/>
          </a:xfrm>
          <a:prstGeom prst="rect">
            <a:avLst/>
          </a:prstGeom>
          <a:noFill/>
          <a:ln/>
        </p:spPr>
        <p:txBody>
          <a:bodyPr wrap="square" lIns="0" tIns="0" rIns="0" bIns="0" rtlCol="0" anchor="ctr"/>
          <a:lstStyle/>
          <a:p>
            <a:pPr marL="0" indent="0" algn="l">
              <a:buNone/>
            </a:pPr>
            <a:r>
              <a:rPr lang="en-US" sz="4000" i="1" dirty="0">
                <a:solidFill>
                  <a:srgbClr val="F8F4EC"/>
                </a:solidFill>
                <a:latin typeface="Times New Roman" pitchFamily="34" charset="0"/>
                <a:ea typeface="Times New Roman" pitchFamily="34" charset="-122"/>
                <a:cs typeface="Times New Roman" pitchFamily="34" charset="-120"/>
              </a:rPr>
              <a:t>A Hard Country</a:t>
            </a:r>
            <a:endParaRPr lang="en-US" sz="4000" dirty="0"/>
          </a:p>
        </p:txBody>
      </p:sp>
      <p:sp>
        <p:nvSpPr>
          <p:cNvPr id="6" name="Text 4"/>
          <p:cNvSpPr/>
          <p:nvPr/>
        </p:nvSpPr>
        <p:spPr>
          <a:xfrm>
            <a:off x="457200" y="2084832"/>
            <a:ext cx="8229600" cy="384048"/>
          </a:xfrm>
          <a:prstGeom prst="rect">
            <a:avLst/>
          </a:prstGeom>
          <a:noFill/>
          <a:ln/>
        </p:spPr>
        <p:txBody>
          <a:bodyPr wrap="square" lIns="0" tIns="0" rIns="0" bIns="0" rtlCol="0" anchor="ctr"/>
          <a:lstStyle/>
          <a:p>
            <a:pPr marL="0" indent="0" algn="l">
              <a:buNone/>
            </a:pPr>
            <a:r>
              <a:rPr lang="en-US" sz="2000" dirty="0">
                <a:solidFill>
                  <a:srgbClr val="E9C46A"/>
                </a:solidFill>
                <a:latin typeface="Times New Roman" pitchFamily="34" charset="0"/>
                <a:ea typeface="Times New Roman" pitchFamily="34" charset="-122"/>
                <a:cs typeface="Times New Roman" pitchFamily="34" charset="-120"/>
              </a:rPr>
              <a:t>Anatol Lieven  |  Critical Analysis</a:t>
            </a:r>
            <a:endParaRPr lang="en-US" sz="2000" dirty="0"/>
          </a:p>
        </p:txBody>
      </p:sp>
      <p:sp>
        <p:nvSpPr>
          <p:cNvPr id="7" name="Shape 5"/>
          <p:cNvSpPr/>
          <p:nvPr/>
        </p:nvSpPr>
        <p:spPr>
          <a:xfrm>
            <a:off x="457200" y="2578608"/>
            <a:ext cx="8229600" cy="36576"/>
          </a:xfrm>
          <a:prstGeom prst="rect">
            <a:avLst/>
          </a:prstGeom>
          <a:solidFill>
            <a:srgbClr val="C9A84C"/>
          </a:solidFill>
          <a:ln w="12700">
            <a:solidFill>
              <a:srgbClr val="C9A84C"/>
            </a:solidFill>
            <a:prstDash val="solid"/>
          </a:ln>
        </p:spPr>
      </p:sp>
      <p:sp>
        <p:nvSpPr>
          <p:cNvPr id="8" name="Text 6"/>
          <p:cNvSpPr/>
          <p:nvPr/>
        </p:nvSpPr>
        <p:spPr>
          <a:xfrm>
            <a:off x="457200" y="2697480"/>
            <a:ext cx="8229600" cy="1463577"/>
          </a:xfrm>
          <a:prstGeom prst="rect">
            <a:avLst/>
          </a:prstGeom>
          <a:noFill/>
          <a:ln/>
        </p:spPr>
        <p:txBody>
          <a:bodyPr wrap="square" lIns="0" tIns="0" rIns="0" bIns="0" rtlCol="0" anchor="ctr"/>
          <a:lstStyle/>
          <a:p>
            <a:endParaRPr lang="en-US" sz="1600" dirty="0">
              <a:solidFill>
                <a:srgbClr val="6B7A8D"/>
              </a:solidFill>
              <a:latin typeface="Times New Roman"/>
              <a:cs typeface="Times New Roman"/>
            </a:endParaRPr>
          </a:p>
        </p:txBody>
      </p:sp>
      <p:sp>
        <p:nvSpPr>
          <p:cNvPr id="10" name="TextBox 9"/>
          <p:cNvSpPr txBox="1"/>
          <p:nvPr/>
        </p:nvSpPr>
        <p:spPr>
          <a:xfrm>
            <a:off x="458052" y="2920000"/>
            <a:ext cx="8000000" cy="1785104"/>
          </a:xfrm>
          <a:prstGeom prst="rect">
            <a:avLst/>
          </a:prstGeom>
          <a:noFill/>
        </p:spPr>
        <p:txBody>
          <a:bodyPr wrap="square" lIns="91440" tIns="45720" rIns="91440" bIns="45720" rtlCol="0" anchor="t">
            <a:spAutoFit/>
          </a:bodyPr>
          <a:lstStyle/>
          <a:p>
            <a:pPr marL="0" indent="0" algn="l">
              <a:buNone/>
            </a:pPr>
            <a:r>
              <a:rPr lang="en-US" sz="1600" b="1" dirty="0">
                <a:solidFill>
                  <a:srgbClr val="C9A84C"/>
                </a:solidFill>
                <a:latin typeface="Times New Roman" pitchFamily="34" charset="0"/>
              </a:rPr>
              <a:t>Group Members</a:t>
            </a:r>
          </a:p>
          <a:p>
            <a:pPr>
              <a:spcBef>
                <a:spcPts val="200"/>
              </a:spcBef>
            </a:pPr>
            <a:r>
              <a:rPr lang="en-US" sz="1400">
                <a:solidFill>
                  <a:srgbClr val="F8F4EC"/>
                </a:solidFill>
                <a:latin typeface="Times New Roman"/>
                <a:cs typeface="Times New Roman"/>
              </a:rPr>
              <a:t>Shaban Akhtar  25L-5575 </a:t>
            </a:r>
          </a:p>
          <a:p>
            <a:pPr marL="0" indent="0" algn="l">
              <a:spcBef>
                <a:spcPts val="200"/>
              </a:spcBef>
              <a:buNone/>
            </a:pPr>
            <a:r>
              <a:rPr lang="en-US" sz="1400">
                <a:solidFill>
                  <a:srgbClr val="F8F4EC"/>
                </a:solidFill>
                <a:latin typeface="Times New Roman"/>
                <a:cs typeface="Times New Roman"/>
              </a:rPr>
              <a:t>Momina Naveed  25L-5602</a:t>
            </a:r>
            <a:endParaRPr lang="en-US">
              <a:latin typeface="Times New Roman"/>
              <a:cs typeface="Times New Roman"/>
            </a:endParaRPr>
          </a:p>
          <a:p>
            <a:pPr>
              <a:spcBef>
                <a:spcPts val="150"/>
              </a:spcBef>
            </a:pPr>
            <a:r>
              <a:rPr lang="en-US" sz="1400" dirty="0">
                <a:solidFill>
                  <a:srgbClr val="F8F4EC"/>
                </a:solidFill>
                <a:latin typeface="Times New Roman"/>
                <a:cs typeface="Times New Roman"/>
              </a:rPr>
              <a:t>Javeria Qanita  25L-5631 </a:t>
            </a:r>
          </a:p>
          <a:p>
            <a:pPr>
              <a:spcBef>
                <a:spcPts val="150"/>
              </a:spcBef>
            </a:pPr>
            <a:r>
              <a:rPr lang="en-US" sz="1400" dirty="0">
                <a:solidFill>
                  <a:srgbClr val="F8F4EC"/>
                </a:solidFill>
                <a:latin typeface="Times New Roman"/>
                <a:cs typeface="Times New Roman"/>
              </a:rPr>
              <a:t> Ibrahim Sanwal  25L-5558</a:t>
            </a:r>
            <a:endParaRPr lang="en-US"/>
          </a:p>
          <a:p>
            <a:pPr marL="0" indent="0" algn="l">
              <a:spcBef>
                <a:spcPts val="150"/>
              </a:spcBef>
              <a:buNone/>
            </a:pPr>
            <a:r>
              <a:rPr lang="en-US" sz="1400" dirty="0">
                <a:solidFill>
                  <a:srgbClr val="F8F4EC"/>
                </a:solidFill>
                <a:latin typeface="Times New Roman" pitchFamily="34" charset="0"/>
              </a:rPr>
              <a:t>Zaviyar Shahidi  25L-5581</a:t>
            </a:r>
          </a:p>
          <a:p>
            <a:pPr>
              <a:spcBef>
                <a:spcPts val="150"/>
              </a:spcBef>
            </a:pPr>
            <a:r>
              <a:rPr lang="en-US" sz="1400">
                <a:solidFill>
                  <a:srgbClr val="F8F4EC"/>
                </a:solidFill>
                <a:latin typeface="Times New Roman"/>
                <a:cs typeface="Times New Roman"/>
              </a:rPr>
              <a:t>Emaan Fatimah 25L-5621</a:t>
            </a:r>
            <a:endParaRPr lang="en-US" sz="1400">
              <a:solidFill>
                <a:srgbClr val="F8F4EC"/>
              </a:solidFill>
              <a:latin typeface="Times New Roman" pitchFamily="34" charset="0"/>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w="12700">
            <a:solidFill>
              <a:srgbClr val="C9A84C"/>
            </a:solidFill>
            <a:prstDash val="solid"/>
          </a:ln>
        </p:spPr>
      </p:sp>
      <p:sp>
        <p:nvSpPr>
          <p:cNvPr id="3" name="Text 1"/>
          <p:cNvSpPr/>
          <p:nvPr/>
        </p:nvSpPr>
        <p:spPr>
          <a:xfrm>
            <a:off x="457200" y="1048640"/>
            <a:ext cx="8229600" cy="457200"/>
          </a:xfrm>
          <a:prstGeom prst="rect">
            <a:avLst/>
          </a:prstGeom>
          <a:noFill/>
          <a:ln/>
        </p:spPr>
        <p:txBody>
          <a:bodyPr wrap="square" lIns="0" tIns="0" rIns="0" bIns="0" rtlCol="0" anchor="ctr"/>
          <a:lstStyle/>
          <a:p>
            <a:pPr marL="0" indent="0" algn="l">
              <a:buNone/>
            </a:pPr>
            <a:r>
              <a:rPr lang="en-US" sz="1800" b="1" kern="0" spc="400" dirty="0">
                <a:solidFill>
                  <a:srgbClr val="C9A84C"/>
                </a:solidFill>
                <a:latin typeface="Times New Roman" pitchFamily="34" charset="0"/>
                <a:ea typeface="Times New Roman" pitchFamily="34" charset="-122"/>
                <a:cs typeface="Times New Roman" pitchFamily="34" charset="-120"/>
              </a:rPr>
              <a:t>Section 1</a:t>
            </a:r>
            <a:endParaRPr lang="en-US" sz="1800" dirty="0"/>
          </a:p>
        </p:txBody>
      </p:sp>
      <p:sp>
        <p:nvSpPr>
          <p:cNvPr id="4" name="Text 2"/>
          <p:cNvSpPr/>
          <p:nvPr/>
        </p:nvSpPr>
        <p:spPr>
          <a:xfrm>
            <a:off x="457200" y="1597280"/>
            <a:ext cx="8229600" cy="1280160"/>
          </a:xfrm>
          <a:prstGeom prst="rect">
            <a:avLst/>
          </a:prstGeom>
          <a:noFill/>
          <a:ln/>
        </p:spPr>
        <p:txBody>
          <a:bodyPr wrap="square" lIns="0" tIns="0" rIns="0" bIns="0" rtlCol="0" anchor="ctr"/>
          <a:lstStyle/>
          <a:p>
            <a:pPr marL="0" indent="0" algn="l">
              <a:buNone/>
            </a:pPr>
            <a:r>
              <a:rPr lang="en-US" sz="4400" b="1" dirty="0">
                <a:solidFill>
                  <a:srgbClr val="F8F4EC"/>
                </a:solidFill>
                <a:latin typeface="Times New Roman" pitchFamily="34" charset="0"/>
                <a:ea typeface="Times New Roman" pitchFamily="34" charset="-122"/>
                <a:cs typeface="Times New Roman" pitchFamily="34" charset="-120"/>
              </a:rPr>
              <a:t>The Negotiated State &amp; Social Foundations</a:t>
            </a:r>
            <a:endParaRPr lang="en-US" sz="4400" dirty="0"/>
          </a:p>
        </p:txBody>
      </p:sp>
      <p:sp>
        <p:nvSpPr>
          <p:cNvPr id="5" name="Text 3"/>
          <p:cNvSpPr/>
          <p:nvPr/>
        </p:nvSpPr>
        <p:spPr>
          <a:xfrm>
            <a:off x="457200" y="2968880"/>
            <a:ext cx="8229600" cy="457200"/>
          </a:xfrm>
          <a:prstGeom prst="rect">
            <a:avLst/>
          </a:prstGeom>
          <a:noFill/>
          <a:ln/>
        </p:spPr>
        <p:txBody>
          <a:bodyPr wrap="square" lIns="0" tIns="0" rIns="0" bIns="0" rtlCol="0" anchor="ctr"/>
          <a:lstStyle/>
          <a:p>
            <a:pPr marL="0" indent="0" algn="l">
              <a:buNone/>
            </a:pPr>
            <a:r>
              <a:rPr lang="en-US" sz="2200" i="1" dirty="0">
                <a:solidFill>
                  <a:srgbClr val="E9C46A"/>
                </a:solidFill>
                <a:latin typeface="Times New Roman" pitchFamily="34" charset="0"/>
                <a:ea typeface="Times New Roman" pitchFamily="34" charset="-122"/>
                <a:cs typeface="Times New Roman" pitchFamily="34" charset="-120"/>
              </a:rPr>
              <a:t>Chapters 1 &amp; 2</a:t>
            </a:r>
            <a:endParaRPr lang="en-US" sz="2200" dirty="0"/>
          </a:p>
        </p:txBody>
      </p:sp>
      <p:sp>
        <p:nvSpPr>
          <p:cNvPr id="6" name="Shape 4"/>
          <p:cNvSpPr/>
          <p:nvPr/>
        </p:nvSpPr>
        <p:spPr>
          <a:xfrm>
            <a:off x="457200" y="3517520"/>
            <a:ext cx="8229600" cy="36576"/>
          </a:xfrm>
          <a:prstGeom prst="rect">
            <a:avLst/>
          </a:prstGeom>
          <a:solidFill>
            <a:srgbClr val="C9A84C"/>
          </a:solidFill>
          <a:ln w="12700">
            <a:solidFill>
              <a:srgbClr val="C9A84C"/>
            </a:solidFill>
            <a:prstDash val="solid"/>
          </a:ln>
        </p:spPr>
      </p:sp>
      <p:sp>
        <p:nvSpPr>
          <p:cNvPr id="9900" name="SlideNum_2"/>
          <p:cNvSpPr txBox="1"/>
          <p:nvPr/>
        </p:nvSpPr>
        <p:spPr>
          <a:xfrm>
            <a:off x="8229600" y="4953500"/>
            <a:ext cx="685800" cy="190000"/>
          </a:xfrm>
          <a:prstGeom prst="rect">
            <a:avLst/>
          </a:prstGeom>
          <a:noFill/>
        </p:spPr>
        <p:txBody>
          <a:bodyPr wrap="square" rtlCol="0"/>
          <a:lstStyle/>
          <a:p>
            <a:pPr algn="r"/>
            <a:r>
              <a:rPr lang="en-US" sz="900" b="0" dirty="0">
                <a:solidFill>
                  <a:srgbClr val="C9A84C"/>
                </a:solidFill>
              </a:rPr>
              <a:t>2 / 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256032"/>
            <a:ext cx="8686800" cy="640080"/>
          </a:xfrm>
          <a:prstGeom prst="rect">
            <a:avLst/>
          </a:prstGeom>
          <a:noFill/>
          <a:ln/>
        </p:spPr>
        <p:txBody>
          <a:bodyPr wrap="square" lIns="0" tIns="0" rIns="0" bIns="0" rtlCol="0" anchor="ctr"/>
          <a:lstStyle/>
          <a:p>
            <a:pPr marL="0" indent="0" algn="l">
              <a:buNone/>
            </a:pPr>
            <a:r>
              <a:rPr lang="en-US" sz="3800" b="1" dirty="0">
                <a:solidFill>
                  <a:srgbClr val="1A4731"/>
                </a:solidFill>
                <a:latin typeface="Times New Roman" pitchFamily="34" charset="0"/>
                <a:ea typeface="Times New Roman" pitchFamily="34" charset="-122"/>
                <a:cs typeface="Times New Roman" pitchFamily="34" charset="-120"/>
              </a:rPr>
              <a:t>Understanding the "Negotiated State"</a:t>
            </a:r>
            <a:endParaRPr lang="en-US" sz="3800" dirty="0"/>
          </a:p>
        </p:txBody>
      </p:sp>
      <p:sp>
        <p:nvSpPr>
          <p:cNvPr id="3" name="Shape 1"/>
          <p:cNvSpPr/>
          <p:nvPr/>
        </p:nvSpPr>
        <p:spPr>
          <a:xfrm>
            <a:off x="228600" y="960120"/>
            <a:ext cx="8686800" cy="36576"/>
          </a:xfrm>
          <a:prstGeom prst="rect">
            <a:avLst/>
          </a:prstGeom>
          <a:solidFill>
            <a:schemeClr val="tx2"/>
          </a:solidFill>
          <a:ln w="12700">
            <a:solidFill>
              <a:schemeClr val="tx1"/>
            </a:solidFill>
            <a:prstDash val="solid"/>
          </a:ln>
        </p:spPr>
      </p:sp>
      <p:sp>
        <p:nvSpPr>
          <p:cNvPr id="5" name="Text 3"/>
          <p:cNvSpPr/>
          <p:nvPr/>
        </p:nvSpPr>
        <p:spPr>
          <a:xfrm>
            <a:off x="274320" y="1051560"/>
            <a:ext cx="5349240" cy="3611880"/>
          </a:xfrm>
          <a:prstGeom prst="rect">
            <a:avLst/>
          </a:prstGeom>
          <a:noFill/>
          <a:ln/>
        </p:spPr>
        <p:txBody>
          <a:bodyPr wrap="square" lIns="91440" tIns="45720" rIns="91440" bIns="45720" rtlCol="0" anchor="t"/>
          <a:lstStyle/>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Lieven's Core Thesis: Pakistan does not function as a top-down, Weberian state</a:t>
            </a:r>
            <a:endParaRPr lang="en-US" sz="1350" dirty="0"/>
          </a:p>
          <a:p>
            <a:pPr marL="508000" lvl="1" indent="-254000">
              <a:spcAft>
                <a:spcPts val="400"/>
              </a:spcAft>
              <a:buSzPct val="100000"/>
              <a:buChar char="•"/>
            </a:pPr>
            <a:r>
              <a:rPr lang="en-US" sz="1350" dirty="0">
                <a:solidFill>
                  <a:srgbClr val="3D4A5C"/>
                </a:solidFill>
                <a:latin typeface="Times New Roman" pitchFamily="34" charset="0"/>
                <a:ea typeface="Times New Roman" pitchFamily="34" charset="-122"/>
                <a:cs typeface="Times New Roman" pitchFamily="34" charset="-120"/>
              </a:rPr>
              <a:t>Survival through constant bargaining between the state, local elites, landlords, and patronage networks</a:t>
            </a:r>
            <a:endParaRPr lang="en-US" sz="1350" dirty="0"/>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The "Retired General &amp; the Landlord" Anecdote</a:t>
            </a:r>
            <a:endParaRPr lang="en-US" sz="1350" dirty="0"/>
          </a:p>
          <a:p>
            <a:pPr marL="508000" lvl="1" indent="-254000">
              <a:spcAft>
                <a:spcPts val="400"/>
              </a:spcAft>
              <a:buSzPct val="100000"/>
              <a:buChar char="•"/>
            </a:pPr>
            <a:r>
              <a:rPr lang="en-US" sz="1350" dirty="0">
                <a:solidFill>
                  <a:srgbClr val="3D4A5C"/>
                </a:solidFill>
                <a:latin typeface="Times New Roman"/>
                <a:ea typeface="Times New Roman" pitchFamily="34" charset="-122"/>
                <a:cs typeface="Times New Roman"/>
              </a:rPr>
              <a:t>At a Lahore lunch, a retired general defers to a feudal </a:t>
            </a:r>
            <a:r>
              <a:rPr lang="en-US" sz="1350">
                <a:solidFill>
                  <a:srgbClr val="3D4A5C"/>
                </a:solidFill>
                <a:latin typeface="Times New Roman"/>
                <a:ea typeface="Times New Roman" pitchFamily="34" charset="-122"/>
                <a:cs typeface="Times New Roman"/>
              </a:rPr>
              <a:t>landlord; illustrating how formal power bows to social </a:t>
            </a:r>
            <a:r>
              <a:rPr lang="en-US" sz="1350" dirty="0">
                <a:solidFill>
                  <a:srgbClr val="3D4A5C"/>
                </a:solidFill>
                <a:latin typeface="Times New Roman"/>
                <a:ea typeface="Times New Roman" pitchFamily="34" charset="-122"/>
                <a:cs typeface="Times New Roman"/>
              </a:rPr>
              <a:t>authority</a:t>
            </a:r>
            <a:endParaRPr lang="en-US" sz="1350" dirty="0">
              <a:latin typeface="Times New Roman"/>
              <a:cs typeface="Times New Roman"/>
            </a:endParaRPr>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Pakistan's state is real but deeply embedded in society, not above it</a:t>
            </a:r>
            <a:endParaRPr lang="en-US" sz="1350" dirty="0"/>
          </a:p>
          <a:p>
            <a:pPr marL="508000" lvl="1" indent="-254000">
              <a:spcAft>
                <a:spcPts val="400"/>
              </a:spcAft>
              <a:buSzPct val="100000"/>
              <a:buChar char="•"/>
            </a:pPr>
            <a:r>
              <a:rPr lang="en-US" sz="1350" dirty="0">
                <a:solidFill>
                  <a:srgbClr val="3D4A5C"/>
                </a:solidFill>
                <a:latin typeface="Times New Roman" pitchFamily="34" charset="0"/>
                <a:ea typeface="Times New Roman" pitchFamily="34" charset="-122"/>
                <a:cs typeface="Times New Roman" pitchFamily="34" charset="-120"/>
              </a:rPr>
              <a:t>Unlike failed states (Somalia), Pakistan's institutions persist through negotiation, not coercion alone</a:t>
            </a:r>
            <a:endParaRPr lang="en-US" sz="1350" dirty="0"/>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Key Implication for FinTech: Formal digital systems must account for informal trust hierarchies</a:t>
            </a:r>
            <a:endParaRPr lang="en-US" sz="1350" dirty="0"/>
          </a:p>
        </p:txBody>
      </p:sp>
      <p:sp>
        <p:nvSpPr>
          <p:cNvPr id="6" name="Shape 4"/>
          <p:cNvSpPr/>
          <p:nvPr/>
        </p:nvSpPr>
        <p:spPr>
          <a:xfrm>
            <a:off x="5760720" y="1051560"/>
            <a:ext cx="3154680" cy="3566160"/>
          </a:xfrm>
          <a:prstGeom prst="rect">
            <a:avLst/>
          </a:prstGeom>
          <a:solidFill>
            <a:schemeClr val="bg1">
              <a:lumMod val="85000"/>
            </a:schemeClr>
          </a:solidFill>
          <a:ln w="12700">
            <a:solidFill>
              <a:srgbClr val="6B7A8D"/>
            </a:solidFill>
            <a:prstDash val="solid"/>
          </a:ln>
        </p:spPr>
      </p:sp>
      <p:sp>
        <p:nvSpPr>
          <p:cNvPr id="50" name="VTitle"/>
          <p:cNvSpPr/>
          <p:nvPr/>
        </p:nvSpPr>
        <p:spPr>
          <a:xfrm>
            <a:off x="5810720" y="1111560"/>
            <a:ext cx="3054680" cy="200000"/>
          </a:xfrm>
          <a:prstGeom prst="rect">
            <a:avLst/>
          </a:prstGeom>
          <a:noFill/>
        </p:spPr>
        <p:txBody>
          <a:bodyPr wrap="square" lIns="45720" tIns="45720" rIns="45720" bIns="45720" rtlCol="0" anchor="ctr"/>
          <a:lstStyle/>
          <a:p>
            <a:pPr marL="0" indent="0" algn="ctr">
              <a:buNone/>
            </a:pPr>
            <a:r>
              <a:rPr lang="en-US" sz="1300" b="1" dirty="0">
                <a:latin typeface="Times New Roman"/>
                <a:cs typeface="Times New Roman"/>
              </a:rPr>
              <a:t>The Negotiated State</a:t>
            </a:r>
            <a:endParaRPr lang="en-US" sz="1300">
              <a:latin typeface="Calibri"/>
              <a:ea typeface="Calibri"/>
              <a:cs typeface="Calibri"/>
            </a:endParaRPr>
          </a:p>
        </p:txBody>
      </p:sp>
      <p:sp>
        <p:nvSpPr>
          <p:cNvPr id="51" name="VSubT"/>
          <p:cNvSpPr/>
          <p:nvPr/>
        </p:nvSpPr>
        <p:spPr>
          <a:xfrm>
            <a:off x="5810720" y="1301560"/>
            <a:ext cx="3054680" cy="150000"/>
          </a:xfrm>
          <a:prstGeom prst="rect">
            <a:avLst/>
          </a:prstGeom>
          <a:noFill/>
        </p:spPr>
        <p:txBody>
          <a:bodyPr wrap="square" lIns="45720" tIns="45720" rIns="45720" bIns="45720" rtlCol="0" anchor="ctr"/>
          <a:lstStyle/>
          <a:p>
            <a:pPr marL="0" indent="0" algn="ctr">
              <a:buNone/>
            </a:pPr>
            <a:r>
              <a:rPr lang="en-US" sz="1100" b="1" i="1" dirty="0">
                <a:latin typeface="Times New Roman"/>
                <a:cs typeface="Times New Roman"/>
              </a:rPr>
              <a:t>Constant Bargaining Model</a:t>
            </a:r>
            <a:endParaRPr lang="en-US" sz="1100" b="1" dirty="0">
              <a:latin typeface="Times New Roman"/>
              <a:cs typeface="Times New Roman"/>
            </a:endParaRPr>
          </a:p>
        </p:txBody>
      </p:sp>
      <p:sp>
        <p:nvSpPr>
          <p:cNvPr id="52" name="Node0"/>
          <p:cNvSpPr/>
          <p:nvPr/>
        </p:nvSpPr>
        <p:spPr>
          <a:xfrm>
            <a:off x="5988060" y="1471560"/>
            <a:ext cx="2700000" cy="260000"/>
          </a:xfrm>
          <a:prstGeom prst="rect">
            <a:avLst/>
          </a:prstGeom>
          <a:solidFill>
            <a:schemeClr val="tx2"/>
          </a:solidFill>
          <a:ln w="19050">
            <a:solidFill>
              <a:schemeClr val="tx1"/>
            </a:solidFill>
            <a:prstDash val="solid"/>
          </a:ln>
        </p:spPr>
        <p:txBody>
          <a:bodyPr wrap="square" lIns="45720" tIns="45720" rIns="45720" bIns="45720" rtlCol="0" anchor="ctr"/>
          <a:lstStyle/>
          <a:p>
            <a:pPr marL="0" indent="0" algn="ctr">
              <a:buNone/>
            </a:pPr>
            <a:r>
              <a:rPr lang="en-US" sz="1300" b="1" dirty="0">
                <a:solidFill>
                  <a:srgbClr val="FFFFFF"/>
                </a:solidFill>
                <a:latin typeface="Times New Roman" pitchFamily="34" charset="0"/>
              </a:rPr>
              <a:t>Central State</a:t>
            </a:r>
            <a:endParaRPr lang="en-US" sz="1300" dirty="0"/>
          </a:p>
        </p:txBody>
      </p:sp>
      <p:sp>
        <p:nvSpPr>
          <p:cNvPr id="53" name="Arrow0"/>
          <p:cNvSpPr/>
          <p:nvPr/>
        </p:nvSpPr>
        <p:spPr>
          <a:xfrm>
            <a:off x="7318060" y="1731560"/>
            <a:ext cx="40000" cy="190000"/>
          </a:xfrm>
          <a:prstGeom prst="rect">
            <a:avLst/>
          </a:prstGeom>
          <a:solidFill>
            <a:schemeClr val="tx2"/>
          </a:solidFill>
          <a:ln>
            <a:solidFill>
              <a:schemeClr val="tx1"/>
            </a:solidFill>
          </a:ln>
        </p:spPr>
      </p:sp>
      <p:sp>
        <p:nvSpPr>
          <p:cNvPr id="54" name="Node1"/>
          <p:cNvSpPr/>
          <p:nvPr/>
        </p:nvSpPr>
        <p:spPr>
          <a:xfrm>
            <a:off x="5988060" y="1921560"/>
            <a:ext cx="2700000" cy="260000"/>
          </a:xfrm>
          <a:prstGeom prst="rect">
            <a:avLst/>
          </a:prstGeom>
          <a:solidFill>
            <a:schemeClr val="tx2"/>
          </a:solidFill>
          <a:ln w="19050">
            <a:solidFill>
              <a:schemeClr val="tx1"/>
            </a:solidFill>
            <a:prstDash val="solid"/>
          </a:ln>
        </p:spPr>
        <p:txBody>
          <a:bodyPr wrap="square" lIns="45720" tIns="45720" rIns="45720" bIns="45720" rtlCol="0" anchor="ctr"/>
          <a:lstStyle/>
          <a:p>
            <a:pPr marL="0" indent="0" algn="ctr">
              <a:buNone/>
            </a:pPr>
            <a:r>
              <a:rPr lang="en-US" sz="1300" b="1" dirty="0">
                <a:solidFill>
                  <a:srgbClr val="FFFFFF"/>
                </a:solidFill>
                <a:latin typeface="Times New Roman" pitchFamily="34" charset="0"/>
              </a:rPr>
              <a:t>Military</a:t>
            </a:r>
            <a:endParaRPr lang="en-US" sz="1300" dirty="0"/>
          </a:p>
        </p:txBody>
      </p:sp>
      <p:sp>
        <p:nvSpPr>
          <p:cNvPr id="55" name="Arrow1"/>
          <p:cNvSpPr/>
          <p:nvPr/>
        </p:nvSpPr>
        <p:spPr>
          <a:xfrm>
            <a:off x="7318060" y="2181560"/>
            <a:ext cx="40000" cy="190000"/>
          </a:xfrm>
          <a:prstGeom prst="rect">
            <a:avLst/>
          </a:prstGeom>
          <a:solidFill>
            <a:schemeClr val="tx2"/>
          </a:solidFill>
          <a:ln>
            <a:solidFill>
              <a:schemeClr val="tx1"/>
            </a:solidFill>
          </a:ln>
        </p:spPr>
      </p:sp>
      <p:sp>
        <p:nvSpPr>
          <p:cNvPr id="56" name="Node2"/>
          <p:cNvSpPr/>
          <p:nvPr/>
        </p:nvSpPr>
        <p:spPr>
          <a:xfrm>
            <a:off x="5988060" y="2371560"/>
            <a:ext cx="2700000" cy="260000"/>
          </a:xfrm>
          <a:prstGeom prst="rect">
            <a:avLst/>
          </a:prstGeom>
          <a:solidFill>
            <a:schemeClr val="tx2"/>
          </a:solidFill>
          <a:ln w="19050">
            <a:solidFill>
              <a:schemeClr val="tx1"/>
            </a:solidFill>
            <a:prstDash val="solid"/>
          </a:ln>
        </p:spPr>
        <p:txBody>
          <a:bodyPr wrap="square" lIns="45720" tIns="45720" rIns="45720" bIns="45720" rtlCol="0" anchor="ctr"/>
          <a:lstStyle/>
          <a:p>
            <a:pPr marL="0" indent="0" algn="ctr">
              <a:buNone/>
            </a:pPr>
            <a:r>
              <a:rPr lang="en-US" sz="1300" b="1" dirty="0">
                <a:solidFill>
                  <a:srgbClr val="FFFFFF"/>
                </a:solidFill>
                <a:latin typeface="Times New Roman" pitchFamily="34" charset="0"/>
              </a:rPr>
              <a:t>Landlords / Elites</a:t>
            </a:r>
            <a:endParaRPr lang="en-US" sz="1300" dirty="0"/>
          </a:p>
        </p:txBody>
      </p:sp>
      <p:sp>
        <p:nvSpPr>
          <p:cNvPr id="57" name="Arrow2"/>
          <p:cNvSpPr/>
          <p:nvPr/>
        </p:nvSpPr>
        <p:spPr>
          <a:xfrm>
            <a:off x="7318060" y="2631560"/>
            <a:ext cx="40000" cy="190000"/>
          </a:xfrm>
          <a:prstGeom prst="rect">
            <a:avLst/>
          </a:prstGeom>
          <a:solidFill>
            <a:schemeClr val="tx2"/>
          </a:solidFill>
          <a:ln>
            <a:solidFill>
              <a:schemeClr val="tx1"/>
            </a:solidFill>
          </a:ln>
        </p:spPr>
      </p:sp>
      <p:sp>
        <p:nvSpPr>
          <p:cNvPr id="58" name="Node3"/>
          <p:cNvSpPr/>
          <p:nvPr/>
        </p:nvSpPr>
        <p:spPr>
          <a:xfrm>
            <a:off x="5988060" y="2821560"/>
            <a:ext cx="2700000" cy="260000"/>
          </a:xfrm>
          <a:prstGeom prst="rect">
            <a:avLst/>
          </a:prstGeom>
          <a:solidFill>
            <a:schemeClr val="tx2"/>
          </a:solidFill>
          <a:ln w="19050">
            <a:solidFill>
              <a:schemeClr val="tx1"/>
            </a:solidFill>
            <a:prstDash val="solid"/>
          </a:ln>
        </p:spPr>
        <p:txBody>
          <a:bodyPr wrap="square" lIns="45720" tIns="45720" rIns="45720" bIns="45720" rtlCol="0" anchor="ctr"/>
          <a:lstStyle/>
          <a:p>
            <a:pPr marL="0" indent="0" algn="ctr">
              <a:buNone/>
            </a:pPr>
            <a:r>
              <a:rPr lang="en-US" sz="1300" b="1" dirty="0">
                <a:solidFill>
                  <a:srgbClr val="FFFFFF"/>
                </a:solidFill>
                <a:latin typeface="Times New Roman" pitchFamily="34" charset="0"/>
              </a:rPr>
              <a:t>Biradiri Networks</a:t>
            </a:r>
            <a:endParaRPr lang="en-US" sz="1300" dirty="0"/>
          </a:p>
        </p:txBody>
      </p:sp>
      <p:sp>
        <p:nvSpPr>
          <p:cNvPr id="59" name="Arrow3"/>
          <p:cNvSpPr/>
          <p:nvPr/>
        </p:nvSpPr>
        <p:spPr>
          <a:xfrm>
            <a:off x="7318060" y="3081560"/>
            <a:ext cx="40000" cy="190000"/>
          </a:xfrm>
          <a:prstGeom prst="rect">
            <a:avLst/>
          </a:prstGeom>
          <a:solidFill>
            <a:schemeClr val="tx2"/>
          </a:solidFill>
          <a:ln>
            <a:solidFill>
              <a:schemeClr val="tx1"/>
            </a:solidFill>
          </a:ln>
        </p:spPr>
      </p:sp>
      <p:sp>
        <p:nvSpPr>
          <p:cNvPr id="60" name="Node4"/>
          <p:cNvSpPr/>
          <p:nvPr/>
        </p:nvSpPr>
        <p:spPr>
          <a:xfrm>
            <a:off x="5988060" y="3271560"/>
            <a:ext cx="2700000" cy="260000"/>
          </a:xfrm>
          <a:prstGeom prst="rect">
            <a:avLst/>
          </a:prstGeom>
          <a:solidFill>
            <a:schemeClr val="tx2"/>
          </a:solidFill>
          <a:ln w="19050">
            <a:solidFill>
              <a:schemeClr val="tx1"/>
            </a:solidFill>
            <a:prstDash val="solid"/>
          </a:ln>
        </p:spPr>
        <p:txBody>
          <a:bodyPr wrap="square" lIns="45720" tIns="45720" rIns="45720" bIns="45720" rtlCol="0" anchor="ctr"/>
          <a:lstStyle/>
          <a:p>
            <a:pPr marL="0" indent="0" algn="ctr">
              <a:buNone/>
            </a:pPr>
            <a:r>
              <a:rPr lang="en-US" sz="1300" b="1" dirty="0">
                <a:solidFill>
                  <a:srgbClr val="FFFFFF"/>
                </a:solidFill>
                <a:latin typeface="Times New Roman" pitchFamily="34" charset="0"/>
              </a:rPr>
              <a:t>Citizens</a:t>
            </a:r>
            <a:endParaRPr lang="en-US" sz="1300" dirty="0"/>
          </a:p>
        </p:txBody>
      </p:sp>
      <p:sp>
        <p:nvSpPr>
          <p:cNvPr id="9900" name="SlideNum_3"/>
          <p:cNvSpPr txBox="1"/>
          <p:nvPr/>
        </p:nvSpPr>
        <p:spPr>
          <a:xfrm>
            <a:off x="8229600" y="4953500"/>
            <a:ext cx="685800" cy="190000"/>
          </a:xfrm>
          <a:prstGeom prst="rect">
            <a:avLst/>
          </a:prstGeom>
          <a:noFill/>
        </p:spPr>
        <p:txBody>
          <a:bodyPr wrap="square" rtlCol="0"/>
          <a:lstStyle/>
          <a:p>
            <a:pPr algn="r"/>
            <a:r>
              <a:rPr lang="en-US" sz="1050" b="0" dirty="0">
                <a:solidFill>
                  <a:srgbClr val="1A4731"/>
                </a:solidFill>
              </a:rPr>
              <a:t>3 / 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256032"/>
            <a:ext cx="8686800" cy="640080"/>
          </a:xfrm>
          <a:prstGeom prst="rect">
            <a:avLst/>
          </a:prstGeom>
          <a:noFill/>
          <a:ln/>
        </p:spPr>
        <p:txBody>
          <a:bodyPr wrap="square" lIns="0" tIns="0" rIns="0" bIns="0" rtlCol="0" anchor="ctr"/>
          <a:lstStyle/>
          <a:p>
            <a:pPr marL="0" indent="0" algn="l">
              <a:buNone/>
            </a:pPr>
            <a:r>
              <a:rPr lang="en-US" sz="3800" b="1" dirty="0">
                <a:solidFill>
                  <a:srgbClr val="1A4731"/>
                </a:solidFill>
                <a:latin typeface="Times New Roman" pitchFamily="34" charset="0"/>
                <a:ea typeface="Times New Roman" pitchFamily="34" charset="-122"/>
                <a:cs typeface="Times New Roman" pitchFamily="34" charset="-120"/>
              </a:rPr>
              <a:t>State Weakness vs. Social Resilience</a:t>
            </a:r>
            <a:endParaRPr lang="en-US" sz="3800" dirty="0"/>
          </a:p>
        </p:txBody>
      </p:sp>
      <p:sp>
        <p:nvSpPr>
          <p:cNvPr id="3" name="Shape 1"/>
          <p:cNvSpPr/>
          <p:nvPr/>
        </p:nvSpPr>
        <p:spPr>
          <a:xfrm>
            <a:off x="228600" y="960120"/>
            <a:ext cx="8686800" cy="36576"/>
          </a:xfrm>
          <a:prstGeom prst="rect">
            <a:avLst/>
          </a:prstGeom>
          <a:solidFill>
            <a:srgbClr val="C9A84C"/>
          </a:solidFill>
          <a:ln w="12700">
            <a:solidFill>
              <a:srgbClr val="C9A84C"/>
            </a:solidFill>
            <a:prstDash val="solid"/>
          </a:ln>
        </p:spPr>
      </p:sp>
      <p:sp>
        <p:nvSpPr>
          <p:cNvPr id="5" name="Text 3"/>
          <p:cNvSpPr/>
          <p:nvPr/>
        </p:nvSpPr>
        <p:spPr>
          <a:xfrm>
            <a:off x="274320" y="1051560"/>
            <a:ext cx="5349240" cy="3611880"/>
          </a:xfrm>
          <a:prstGeom prst="rect">
            <a:avLst/>
          </a:prstGeom>
          <a:noFill/>
          <a:ln/>
        </p:spPr>
        <p:txBody>
          <a:bodyPr wrap="square" lIns="91440" tIns="45720" rIns="91440" bIns="45720" rtlCol="0" anchor="t"/>
          <a:lstStyle/>
          <a:p>
            <a:pPr marL="342900" indent="-342900">
              <a:spcAft>
                <a:spcPts val="600"/>
              </a:spcAft>
              <a:buSzPct val="100000"/>
              <a:buChar char="•"/>
            </a:pPr>
            <a:r>
              <a:rPr lang="en-US" sz="1350" b="1" dirty="0">
                <a:solidFill>
                  <a:srgbClr val="1A1A1A"/>
                </a:solidFill>
                <a:latin typeface="Times New Roman"/>
                <a:ea typeface="Times New Roman" pitchFamily="34" charset="-122"/>
                <a:cs typeface="Times New Roman"/>
              </a:rPr>
              <a:t>The </a:t>
            </a:r>
            <a:r>
              <a:rPr lang="en-US" sz="1350" b="1" dirty="0" err="1">
                <a:solidFill>
                  <a:srgbClr val="1A1A1A"/>
                </a:solidFill>
                <a:latin typeface="Times New Roman"/>
                <a:ea typeface="Times New Roman" pitchFamily="34" charset="-122"/>
                <a:cs typeface="Times New Roman"/>
              </a:rPr>
              <a:t>Biradiri</a:t>
            </a:r>
            <a:r>
              <a:rPr lang="en-US" sz="1350" b="1" dirty="0">
                <a:solidFill>
                  <a:srgbClr val="1A1A1A"/>
                </a:solidFill>
                <a:latin typeface="Times New Roman"/>
                <a:ea typeface="Times New Roman" pitchFamily="34" charset="-122"/>
                <a:cs typeface="Times New Roman"/>
              </a:rPr>
              <a:t> System: Extended kinship networks act as the real social safety net</a:t>
            </a:r>
            <a:endParaRPr lang="en-US" sz="1350" dirty="0">
              <a:latin typeface="Times New Roman"/>
              <a:cs typeface="Times New Roman"/>
            </a:endParaRPr>
          </a:p>
          <a:p>
            <a:pPr marL="508000" lvl="1" indent="-254000">
              <a:spcAft>
                <a:spcPts val="400"/>
              </a:spcAft>
              <a:buSzPct val="100000"/>
              <a:buChar char="•"/>
            </a:pPr>
            <a:r>
              <a:rPr lang="en-US" sz="1350" dirty="0">
                <a:solidFill>
                  <a:srgbClr val="3D4A5C"/>
                </a:solidFill>
                <a:latin typeface="Times New Roman"/>
                <a:ea typeface="Times New Roman" pitchFamily="34" charset="-122"/>
                <a:cs typeface="Times New Roman"/>
              </a:rPr>
              <a:t>Loyalty to family clan supersedes loyalty to the Pakistani </a:t>
            </a:r>
            <a:r>
              <a:rPr lang="en-US" sz="1350">
                <a:solidFill>
                  <a:srgbClr val="3D4A5C"/>
                </a:solidFill>
                <a:latin typeface="Times New Roman"/>
                <a:ea typeface="Times New Roman" pitchFamily="34" charset="-122"/>
                <a:cs typeface="Times New Roman"/>
              </a:rPr>
              <a:t>state; even in the diaspora (UK Pakistanis)</a:t>
            </a:r>
            <a:endParaRPr lang="en-US" sz="1350" dirty="0">
              <a:latin typeface="Times New Roman"/>
              <a:ea typeface="Calibri" panose="020F0502020204030204"/>
              <a:cs typeface="Calibri" panose="020F0502020204030204"/>
            </a:endParaRPr>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Tax Failure as a Symptom</a:t>
            </a:r>
            <a:endParaRPr lang="en-US" sz="1350" dirty="0"/>
          </a:p>
          <a:p>
            <a:pPr marL="508000" lvl="1" indent="-254000">
              <a:spcAft>
                <a:spcPts val="400"/>
              </a:spcAft>
              <a:buSzPct val="100000"/>
              <a:buChar char="•"/>
            </a:pPr>
            <a:r>
              <a:rPr lang="en-US" sz="1350">
                <a:solidFill>
                  <a:srgbClr val="3D4A5C"/>
                </a:solidFill>
                <a:latin typeface="Times New Roman"/>
                <a:ea typeface="Times New Roman" pitchFamily="34" charset="-122"/>
                <a:cs typeface="Times New Roman"/>
              </a:rPr>
              <a:t>Pakistan's tax-to-GDP ratio among lowest in the world;  </a:t>
            </a:r>
            <a:r>
              <a:rPr lang="en-US" sz="1350" dirty="0">
                <a:solidFill>
                  <a:srgbClr val="3D4A5C"/>
                </a:solidFill>
                <a:latin typeface="Times New Roman"/>
                <a:ea typeface="Times New Roman" pitchFamily="34" charset="-122"/>
                <a:cs typeface="Times New Roman"/>
              </a:rPr>
              <a:t>elites consistently avoid paying taxes with impunity</a:t>
            </a:r>
            <a:endParaRPr lang="en-US" sz="1350" dirty="0">
              <a:latin typeface="Times New Roman"/>
              <a:cs typeface="Times New Roman"/>
            </a:endParaRPr>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Why the state does not collapse despite these failures</a:t>
            </a:r>
            <a:endParaRPr lang="en-US" sz="1350" dirty="0"/>
          </a:p>
          <a:p>
            <a:pPr marL="508000" lvl="1" indent="-254000">
              <a:spcAft>
                <a:spcPts val="400"/>
              </a:spcAft>
              <a:buSzPct val="100000"/>
              <a:buChar char="•"/>
            </a:pPr>
            <a:r>
              <a:rPr lang="en-US" sz="1350" dirty="0">
                <a:solidFill>
                  <a:srgbClr val="3D4A5C"/>
                </a:solidFill>
                <a:latin typeface="Times New Roman" pitchFamily="34" charset="0"/>
                <a:ea typeface="Times New Roman" pitchFamily="34" charset="-122"/>
                <a:cs typeface="Times New Roman" pitchFamily="34" charset="-120"/>
              </a:rPr>
              <a:t>Social structures absorb shocks that would destroy a purely institutionalized state</a:t>
            </a:r>
            <a:endParaRPr lang="en-US" sz="1350" dirty="0"/>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The Paradox: This resilience also perpetuates inequality and blocks reform</a:t>
            </a:r>
            <a:endParaRPr lang="en-US" sz="1350" dirty="0"/>
          </a:p>
        </p:txBody>
      </p:sp>
      <p:sp>
        <p:nvSpPr>
          <p:cNvPr id="6" name="Shape 4"/>
          <p:cNvSpPr/>
          <p:nvPr/>
        </p:nvSpPr>
        <p:spPr>
          <a:xfrm>
            <a:off x="5806440" y="1097280"/>
            <a:ext cx="2560320" cy="1097280"/>
          </a:xfrm>
          <a:prstGeom prst="rect">
            <a:avLst/>
          </a:prstGeom>
          <a:solidFill>
            <a:srgbClr val="1A4731"/>
          </a:solidFill>
          <a:ln w="12700">
            <a:solidFill>
              <a:srgbClr val="1A4731"/>
            </a:solidFill>
            <a:prstDash val="solid"/>
          </a:ln>
          <a:effectLst>
            <a:outerShdw blurRad="101600" dist="25400" dir="8100000" algn="bl" rotWithShape="0">
              <a:srgbClr val="000000">
                <a:alpha val="18000"/>
              </a:srgbClr>
            </a:outerShdw>
          </a:effectLst>
        </p:spPr>
      </p:sp>
      <p:sp>
        <p:nvSpPr>
          <p:cNvPr id="7" name="Text 5"/>
          <p:cNvSpPr/>
          <p:nvPr/>
        </p:nvSpPr>
        <p:spPr>
          <a:xfrm>
            <a:off x="5806440" y="1170432"/>
            <a:ext cx="2560320" cy="502920"/>
          </a:xfrm>
          <a:prstGeom prst="rect">
            <a:avLst/>
          </a:prstGeom>
          <a:noFill/>
          <a:ln/>
        </p:spPr>
        <p:txBody>
          <a:bodyPr wrap="square" lIns="0" tIns="0" rIns="0" bIns="0" rtlCol="0" anchor="ctr"/>
          <a:lstStyle/>
          <a:p>
            <a:pPr marL="0" indent="0" algn="ctr">
              <a:buNone/>
            </a:pPr>
            <a:r>
              <a:rPr lang="en-US" sz="3200" b="1" dirty="0">
                <a:solidFill>
                  <a:srgbClr val="C9A84C"/>
                </a:solidFill>
                <a:latin typeface="Times New Roman" pitchFamily="34" charset="0"/>
                <a:ea typeface="Times New Roman" pitchFamily="34" charset="-122"/>
                <a:cs typeface="Times New Roman" pitchFamily="34" charset="-120"/>
              </a:rPr>
              <a:t>~9%</a:t>
            </a:r>
            <a:endParaRPr lang="en-US" sz="3200" dirty="0"/>
          </a:p>
        </p:txBody>
      </p:sp>
      <p:sp>
        <p:nvSpPr>
          <p:cNvPr id="8" name="Text 6"/>
          <p:cNvSpPr/>
          <p:nvPr/>
        </p:nvSpPr>
        <p:spPr>
          <a:xfrm>
            <a:off x="5806440" y="1645920"/>
            <a:ext cx="2560320" cy="457200"/>
          </a:xfrm>
          <a:prstGeom prst="rect">
            <a:avLst/>
          </a:prstGeom>
          <a:noFill/>
          <a:ln/>
        </p:spPr>
        <p:txBody>
          <a:bodyPr wrap="square" lIns="0" tIns="0" rIns="0" bIns="0" rtlCol="0" anchor="ctr"/>
          <a:lstStyle/>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Tax-to-GDP Ratio</a:t>
            </a:r>
            <a:endParaRPr lang="en-US" sz="1300" dirty="0"/>
          </a:p>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(vs 20%+ global avg)</a:t>
            </a:r>
            <a:endParaRPr lang="en-US" sz="1300" dirty="0"/>
          </a:p>
        </p:txBody>
      </p:sp>
      <p:sp>
        <p:nvSpPr>
          <p:cNvPr id="9" name="Shape 7"/>
          <p:cNvSpPr/>
          <p:nvPr/>
        </p:nvSpPr>
        <p:spPr>
          <a:xfrm>
            <a:off x="5806440" y="2286000"/>
            <a:ext cx="2560320" cy="1097280"/>
          </a:xfrm>
          <a:prstGeom prst="rect">
            <a:avLst/>
          </a:prstGeom>
          <a:solidFill>
            <a:srgbClr val="1A4731"/>
          </a:solidFill>
          <a:ln w="12700">
            <a:solidFill>
              <a:srgbClr val="1A4731"/>
            </a:solidFill>
            <a:prstDash val="solid"/>
          </a:ln>
          <a:effectLst>
            <a:outerShdw blurRad="101600" dist="25400" dir="8100000" algn="bl" rotWithShape="0">
              <a:srgbClr val="000000">
                <a:alpha val="18000"/>
              </a:srgbClr>
            </a:outerShdw>
          </a:effectLst>
        </p:spPr>
      </p:sp>
      <p:sp>
        <p:nvSpPr>
          <p:cNvPr id="10" name="Text 8"/>
          <p:cNvSpPr/>
          <p:nvPr/>
        </p:nvSpPr>
        <p:spPr>
          <a:xfrm>
            <a:off x="5806440" y="2359152"/>
            <a:ext cx="2560320" cy="502920"/>
          </a:xfrm>
          <a:prstGeom prst="rect">
            <a:avLst/>
          </a:prstGeom>
          <a:noFill/>
          <a:ln/>
        </p:spPr>
        <p:txBody>
          <a:bodyPr wrap="square" lIns="0" tIns="0" rIns="0" bIns="0" rtlCol="0" anchor="ctr"/>
          <a:lstStyle/>
          <a:p>
            <a:pPr marL="0" indent="0" algn="ctr">
              <a:buNone/>
            </a:pPr>
            <a:r>
              <a:rPr lang="en-US" sz="3200" b="1" dirty="0">
                <a:solidFill>
                  <a:srgbClr val="C9A84C"/>
                </a:solidFill>
                <a:latin typeface="Times New Roman" pitchFamily="34" charset="0"/>
                <a:ea typeface="Times New Roman" pitchFamily="34" charset="-122"/>
                <a:cs typeface="Times New Roman" pitchFamily="34" charset="-120"/>
              </a:rPr>
              <a:t>70%+</a:t>
            </a:r>
            <a:endParaRPr lang="en-US" sz="3200" dirty="0"/>
          </a:p>
        </p:txBody>
      </p:sp>
      <p:sp>
        <p:nvSpPr>
          <p:cNvPr id="11" name="Text 9"/>
          <p:cNvSpPr/>
          <p:nvPr/>
        </p:nvSpPr>
        <p:spPr>
          <a:xfrm>
            <a:off x="5806440" y="2834640"/>
            <a:ext cx="2560320" cy="457200"/>
          </a:xfrm>
          <a:prstGeom prst="rect">
            <a:avLst/>
          </a:prstGeom>
          <a:noFill/>
          <a:ln/>
        </p:spPr>
        <p:txBody>
          <a:bodyPr wrap="square" lIns="0" tIns="0" rIns="0" bIns="0" rtlCol="0" anchor="ctr"/>
          <a:lstStyle/>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of Pakistanis rely on</a:t>
            </a:r>
            <a:endParaRPr lang="en-US" sz="1300" dirty="0"/>
          </a:p>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kinship networks</a:t>
            </a:r>
            <a:endParaRPr lang="en-US" sz="1300" dirty="0"/>
          </a:p>
        </p:txBody>
      </p:sp>
      <p:sp>
        <p:nvSpPr>
          <p:cNvPr id="12" name="Shape 10"/>
          <p:cNvSpPr/>
          <p:nvPr/>
        </p:nvSpPr>
        <p:spPr>
          <a:xfrm>
            <a:off x="5806440" y="3474720"/>
            <a:ext cx="2560320" cy="1100000"/>
          </a:xfrm>
          <a:prstGeom prst="rect">
            <a:avLst/>
          </a:prstGeom>
          <a:solidFill>
            <a:srgbClr val="1A4731"/>
          </a:solidFill>
          <a:ln w="12700">
            <a:solidFill>
              <a:srgbClr val="1A4731"/>
            </a:solidFill>
            <a:prstDash val="solid"/>
          </a:ln>
          <a:effectLst>
            <a:outerShdw blurRad="101600" dist="25400" dir="8100000" algn="bl" rotWithShape="0">
              <a:srgbClr val="000000">
                <a:alpha val="18000"/>
              </a:srgbClr>
            </a:outerShdw>
          </a:effectLst>
        </p:spPr>
      </p:sp>
      <p:sp>
        <p:nvSpPr>
          <p:cNvPr id="13" name="Text 11"/>
          <p:cNvSpPr/>
          <p:nvPr/>
        </p:nvSpPr>
        <p:spPr>
          <a:xfrm>
            <a:off x="5806440" y="3547872"/>
            <a:ext cx="2560320" cy="502920"/>
          </a:xfrm>
          <a:prstGeom prst="rect">
            <a:avLst/>
          </a:prstGeom>
          <a:noFill/>
          <a:ln/>
        </p:spPr>
        <p:txBody>
          <a:bodyPr wrap="square" lIns="0" tIns="0" rIns="0" bIns="0" rtlCol="0" anchor="ctr"/>
          <a:lstStyle/>
          <a:p>
            <a:pPr marL="0" indent="0" algn="ctr">
              <a:buNone/>
            </a:pPr>
            <a:r>
              <a:rPr lang="en-US" sz="3200" b="1" dirty="0">
                <a:solidFill>
                  <a:srgbClr val="C9A84C"/>
                </a:solidFill>
                <a:latin typeface="Times New Roman" pitchFamily="34" charset="0"/>
                <a:ea typeface="Times New Roman" pitchFamily="34" charset="-122"/>
                <a:cs typeface="Times New Roman" pitchFamily="34" charset="-120"/>
              </a:rPr>
              <a:t>1 in 200</a:t>
            </a:r>
            <a:endParaRPr lang="en-US" sz="3200" dirty="0"/>
          </a:p>
        </p:txBody>
      </p:sp>
      <p:sp>
        <p:nvSpPr>
          <p:cNvPr id="14" name="Text 12"/>
          <p:cNvSpPr/>
          <p:nvPr/>
        </p:nvSpPr>
        <p:spPr>
          <a:xfrm>
            <a:off x="5806440" y="4023360"/>
            <a:ext cx="2560320" cy="457200"/>
          </a:xfrm>
          <a:prstGeom prst="rect">
            <a:avLst/>
          </a:prstGeom>
          <a:noFill/>
          <a:ln/>
        </p:spPr>
        <p:txBody>
          <a:bodyPr wrap="square" lIns="0" tIns="0" rIns="0" bIns="0" rtlCol="0" anchor="ctr"/>
          <a:lstStyle/>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Pakistanis</a:t>
            </a:r>
            <a:endParaRPr lang="en-US" sz="1300" dirty="0"/>
          </a:p>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pay income tax</a:t>
            </a:r>
            <a:endParaRPr lang="en-US" sz="1300" dirty="0"/>
          </a:p>
        </p:txBody>
      </p:sp>
      <p:sp>
        <p:nvSpPr>
          <p:cNvPr id="9900" name="SlideNum_4"/>
          <p:cNvSpPr txBox="1"/>
          <p:nvPr/>
        </p:nvSpPr>
        <p:spPr>
          <a:xfrm>
            <a:off x="8229600" y="4953500"/>
            <a:ext cx="685800" cy="190000"/>
          </a:xfrm>
          <a:prstGeom prst="rect">
            <a:avLst/>
          </a:prstGeom>
          <a:noFill/>
        </p:spPr>
        <p:txBody>
          <a:bodyPr wrap="square" rtlCol="0"/>
          <a:lstStyle/>
          <a:p>
            <a:pPr algn="r"/>
            <a:r>
              <a:rPr lang="en-US" sz="900" b="0" dirty="0">
                <a:solidFill>
                  <a:srgbClr val="1A4731"/>
                </a:solidFill>
              </a:rPr>
              <a:t>4 / 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159440"/>
            <a:ext cx="8686800" cy="640080"/>
          </a:xfrm>
          <a:prstGeom prst="rect">
            <a:avLst/>
          </a:prstGeom>
          <a:noFill/>
          <a:ln/>
        </p:spPr>
        <p:txBody>
          <a:bodyPr wrap="square" lIns="0" tIns="0" rIns="0" bIns="0" rtlCol="0" anchor="ctr"/>
          <a:lstStyle/>
          <a:p>
            <a:r>
              <a:rPr lang="en-US" sz="3600" b="1">
                <a:solidFill>
                  <a:srgbClr val="1A4731"/>
                </a:solidFill>
                <a:latin typeface="Times New Roman"/>
                <a:ea typeface="Times New Roman" pitchFamily="34" charset="-122"/>
                <a:cs typeface="Times New Roman"/>
              </a:rPr>
              <a:t>The Foundational Ambiguity; </a:t>
            </a:r>
            <a:endParaRPr lang="en-US" sz="3600" dirty="0">
              <a:solidFill>
                <a:srgbClr val="000000"/>
              </a:solidFill>
              <a:latin typeface="Times New Roman"/>
              <a:ea typeface="Times New Roman" pitchFamily="34" charset="-122"/>
              <a:cs typeface="Times New Roman"/>
            </a:endParaRPr>
          </a:p>
          <a:p>
            <a:pPr marL="0" indent="0" algn="l">
              <a:buNone/>
            </a:pPr>
            <a:r>
              <a:rPr lang="en-US" sz="3600" b="1">
                <a:solidFill>
                  <a:srgbClr val="1A4731"/>
                </a:solidFill>
                <a:latin typeface="Times New Roman"/>
                <a:ea typeface="Times New Roman" pitchFamily="34" charset="-122"/>
                <a:cs typeface="Times New Roman"/>
              </a:rPr>
              <a:t>History </a:t>
            </a:r>
            <a:r>
              <a:rPr lang="en-US" sz="3600" b="1" dirty="0">
                <a:solidFill>
                  <a:srgbClr val="1A4731"/>
                </a:solidFill>
                <a:latin typeface="Times New Roman"/>
                <a:ea typeface="Times New Roman" pitchFamily="34" charset="-122"/>
                <a:cs typeface="Times New Roman"/>
              </a:rPr>
              <a:t>&amp; Reform</a:t>
            </a:r>
            <a:endParaRPr lang="en-US" sz="3600">
              <a:latin typeface="Times New Roman"/>
              <a:cs typeface="Times New Roman"/>
            </a:endParaRPr>
          </a:p>
        </p:txBody>
      </p:sp>
      <p:sp>
        <p:nvSpPr>
          <p:cNvPr id="3" name="Shape 1"/>
          <p:cNvSpPr/>
          <p:nvPr/>
        </p:nvSpPr>
        <p:spPr>
          <a:xfrm>
            <a:off x="228600" y="960120"/>
            <a:ext cx="8686800" cy="36576"/>
          </a:xfrm>
          <a:prstGeom prst="rect">
            <a:avLst/>
          </a:prstGeom>
          <a:solidFill>
            <a:srgbClr val="C9A84C"/>
          </a:solidFill>
          <a:ln w="12700">
            <a:solidFill>
              <a:srgbClr val="C9A84C"/>
            </a:solidFill>
            <a:prstDash val="solid"/>
          </a:ln>
        </p:spPr>
      </p:sp>
      <p:sp>
        <p:nvSpPr>
          <p:cNvPr id="5" name="Text 3"/>
          <p:cNvSpPr/>
          <p:nvPr/>
        </p:nvSpPr>
        <p:spPr>
          <a:xfrm>
            <a:off x="274320" y="1051560"/>
            <a:ext cx="5349240" cy="3657600"/>
          </a:xfrm>
          <a:prstGeom prst="rect">
            <a:avLst/>
          </a:prstGeom>
          <a:noFill/>
          <a:ln/>
        </p:spPr>
        <p:txBody>
          <a:bodyPr wrap="square" lIns="91440" tIns="45720" rIns="91440" bIns="45720" rtlCol="0" anchor="t"/>
          <a:lstStyle/>
          <a:p>
            <a:pPr marL="342900" indent="-342900">
              <a:spcAft>
                <a:spcPts val="600"/>
              </a:spcAft>
              <a:buSzPct val="100000"/>
              <a:buChar char="•"/>
            </a:pPr>
            <a:r>
              <a:rPr lang="en-US" sz="1450" b="1" dirty="0">
                <a:solidFill>
                  <a:srgbClr val="1A1A1A"/>
                </a:solidFill>
                <a:latin typeface="Times New Roman"/>
                <a:ea typeface="Times New Roman" pitchFamily="34" charset="-122"/>
                <a:cs typeface="Times New Roman"/>
              </a:rPr>
              <a:t>Ayesha Jalal's Argument: Pakistan was not a </a:t>
            </a:r>
            <a:r>
              <a:rPr lang="en-US" sz="1450" b="1">
                <a:solidFill>
                  <a:srgbClr val="1A1A1A"/>
                </a:solidFill>
                <a:latin typeface="Times New Roman"/>
                <a:ea typeface="Times New Roman" pitchFamily="34" charset="-122"/>
                <a:cs typeface="Times New Roman"/>
              </a:rPr>
              <a:t>planned nation; it was a negotiating strategy</a:t>
            </a:r>
            <a:endParaRPr lang="en-US" sz="1450" dirty="0">
              <a:latin typeface="Times New Roman"/>
              <a:ea typeface="Calibri" panose="020F0502020204030204"/>
              <a:cs typeface="Calibri" panose="020F0502020204030204"/>
            </a:endParaRPr>
          </a:p>
          <a:p>
            <a:pPr marL="508000" lvl="1" indent="-254000">
              <a:spcAft>
                <a:spcPts val="400"/>
              </a:spcAft>
              <a:buSzPct val="100000"/>
              <a:buChar char="•"/>
            </a:pPr>
            <a:r>
              <a:rPr lang="en-US" sz="1300" dirty="0">
                <a:solidFill>
                  <a:srgbClr val="3D4A5C"/>
                </a:solidFill>
                <a:latin typeface="Times New Roman" pitchFamily="34" charset="0"/>
                <a:ea typeface="Times New Roman" pitchFamily="34" charset="-122"/>
                <a:cs typeface="Times New Roman" pitchFamily="34" charset="-120"/>
              </a:rPr>
              <a:t>Jinnah used the demand for Pakistan as leverage; partition made it an unexpected reality</a:t>
            </a:r>
            <a:endParaRPr lang="en-US" sz="1450" dirty="0"/>
          </a:p>
          <a:p>
            <a:pPr marL="342900" indent="-342900">
              <a:spcAft>
                <a:spcPts val="600"/>
              </a:spcAft>
              <a:buSzPct val="100000"/>
              <a:buChar char="•"/>
            </a:pPr>
            <a:r>
              <a:rPr lang="en-US" sz="1450" b="1" dirty="0">
                <a:solidFill>
                  <a:srgbClr val="1A1A1A"/>
                </a:solidFill>
                <a:latin typeface="Times New Roman" pitchFamily="34" charset="0"/>
                <a:ea typeface="Times New Roman" pitchFamily="34" charset="-122"/>
                <a:cs typeface="Times New Roman" pitchFamily="34" charset="-120"/>
              </a:rPr>
              <a:t>Four Failed Reform Attempts</a:t>
            </a:r>
            <a:endParaRPr lang="en-US" sz="1450" dirty="0"/>
          </a:p>
          <a:p>
            <a:pPr marL="508000" lvl="1" indent="-254000">
              <a:spcAft>
                <a:spcPts val="400"/>
              </a:spcAft>
              <a:buSzPct val="100000"/>
              <a:buChar char="•"/>
            </a:pPr>
            <a:r>
              <a:rPr lang="en-US" sz="1300">
                <a:solidFill>
                  <a:srgbClr val="3D4A5C"/>
                </a:solidFill>
                <a:latin typeface="Times New Roman"/>
                <a:ea typeface="Times New Roman" pitchFamily="34" charset="-122"/>
                <a:cs typeface="Times New Roman"/>
              </a:rPr>
              <a:t>Ayub Khan (1958-69): Modernization under military and undermined</a:t>
            </a:r>
            <a:r>
              <a:rPr lang="en-US" sz="1300" dirty="0">
                <a:solidFill>
                  <a:srgbClr val="3D4A5C"/>
                </a:solidFill>
                <a:latin typeface="Times New Roman"/>
                <a:ea typeface="Times New Roman" pitchFamily="34" charset="-122"/>
                <a:cs typeface="Times New Roman"/>
              </a:rPr>
              <a:t> by corruption &amp; 1965 war</a:t>
            </a:r>
            <a:endParaRPr lang="en-US" sz="1450" dirty="0">
              <a:latin typeface="Times New Roman"/>
              <a:cs typeface="Times New Roman"/>
            </a:endParaRPr>
          </a:p>
          <a:p>
            <a:pPr marL="508000" lvl="1" indent="-254000">
              <a:spcAft>
                <a:spcPts val="400"/>
              </a:spcAft>
              <a:buSzPct val="100000"/>
              <a:buChar char="•"/>
            </a:pPr>
            <a:r>
              <a:rPr lang="en-US" sz="1300">
                <a:solidFill>
                  <a:srgbClr val="3D4A5C"/>
                </a:solidFill>
                <a:latin typeface="Times New Roman"/>
                <a:ea typeface="Times New Roman" pitchFamily="34" charset="-122"/>
                <a:cs typeface="Times New Roman"/>
              </a:rPr>
              <a:t>Z.A. Bhutto (1971-77): Populist land reform which was reversed </a:t>
            </a:r>
            <a:r>
              <a:rPr lang="en-US" sz="1300" dirty="0">
                <a:solidFill>
                  <a:srgbClr val="3D4A5C"/>
                </a:solidFill>
                <a:latin typeface="Times New Roman"/>
                <a:ea typeface="Times New Roman" pitchFamily="34" charset="-122"/>
                <a:cs typeface="Times New Roman"/>
              </a:rPr>
              <a:t>after political opposition</a:t>
            </a:r>
            <a:endParaRPr lang="en-US" sz="1450" dirty="0">
              <a:latin typeface="Times New Roman"/>
              <a:cs typeface="Times New Roman"/>
            </a:endParaRPr>
          </a:p>
          <a:p>
            <a:pPr marL="508000" lvl="1" indent="-254000">
              <a:spcAft>
                <a:spcPts val="400"/>
              </a:spcAft>
              <a:buSzPct val="100000"/>
              <a:buChar char="•"/>
            </a:pPr>
            <a:r>
              <a:rPr lang="en-US" sz="1300">
                <a:solidFill>
                  <a:srgbClr val="3D4A5C"/>
                </a:solidFill>
                <a:latin typeface="Times New Roman"/>
                <a:ea typeface="Times New Roman" pitchFamily="34" charset="-122"/>
                <a:cs typeface="Times New Roman"/>
              </a:rPr>
              <a:t>Zia ul-Haq (1977-88): Islamization deepened inequality, </a:t>
            </a:r>
            <a:r>
              <a:rPr lang="en-US" sz="1300" dirty="0">
                <a:solidFill>
                  <a:srgbClr val="3D4A5C"/>
                </a:solidFill>
                <a:latin typeface="Times New Roman"/>
                <a:ea typeface="Times New Roman" pitchFamily="34" charset="-122"/>
                <a:cs typeface="Times New Roman"/>
              </a:rPr>
              <a:t>created TTP's ideological roots</a:t>
            </a:r>
            <a:endParaRPr lang="en-US" sz="1450" dirty="0">
              <a:latin typeface="Times New Roman"/>
              <a:cs typeface="Times New Roman"/>
            </a:endParaRPr>
          </a:p>
          <a:p>
            <a:pPr marL="508000" lvl="1" indent="-254000">
              <a:spcAft>
                <a:spcPts val="400"/>
              </a:spcAft>
              <a:buSzPct val="100000"/>
              <a:buChar char="•"/>
            </a:pPr>
            <a:r>
              <a:rPr lang="en-US" sz="1300" dirty="0">
                <a:solidFill>
                  <a:srgbClr val="3D4A5C"/>
                </a:solidFill>
                <a:latin typeface="Times New Roman"/>
                <a:ea typeface="Times New Roman" pitchFamily="34" charset="-122"/>
                <a:cs typeface="Times New Roman"/>
              </a:rPr>
              <a:t>Pervez Musharraf (1999-08): 'Enlightened Moderation': </a:t>
            </a:r>
            <a:r>
              <a:rPr lang="en-US" sz="1300" dirty="0" err="1">
                <a:solidFill>
                  <a:srgbClr val="3D4A5C"/>
                </a:solidFill>
                <a:latin typeface="Times New Roman"/>
                <a:ea typeface="Times New Roman" pitchFamily="34" charset="-122"/>
                <a:cs typeface="Times New Roman"/>
              </a:rPr>
              <a:t>again</a:t>
            </a:r>
            <a:r>
              <a:rPr lang="en-US" sz="1300" dirty="0">
                <a:solidFill>
                  <a:srgbClr val="3D4A5C"/>
                </a:solidFill>
                <a:latin typeface="Times New Roman"/>
                <a:ea typeface="Times New Roman" pitchFamily="34" charset="-122"/>
                <a:cs typeface="Times New Roman"/>
              </a:rPr>
              <a:t> blocked by elites &amp; judiciary</a:t>
            </a:r>
            <a:endParaRPr lang="en-US" sz="1450" dirty="0">
              <a:latin typeface="Times New Roman"/>
              <a:cs typeface="Times New Roman"/>
            </a:endParaRPr>
          </a:p>
          <a:p>
            <a:pPr marL="342900" indent="-342900">
              <a:spcAft>
                <a:spcPts val="600"/>
              </a:spcAft>
              <a:buSzPct val="100000"/>
              <a:buChar char="•"/>
            </a:pPr>
            <a:r>
              <a:rPr lang="en-US" sz="1450" b="1" dirty="0">
                <a:solidFill>
                  <a:srgbClr val="1A1A1A"/>
                </a:solidFill>
                <a:latin typeface="Times New Roman"/>
                <a:ea typeface="Times New Roman" pitchFamily="34" charset="-122"/>
                <a:cs typeface="Times New Roman"/>
              </a:rPr>
              <a:t>Pattern: Every reform is neutralized by the same patronage networks it seeks to dismantle</a:t>
            </a:r>
            <a:endParaRPr lang="en-US" sz="1450" dirty="0">
              <a:latin typeface="Times New Roman"/>
              <a:cs typeface="Times New Roman"/>
            </a:endParaRPr>
          </a:p>
        </p:txBody>
      </p:sp>
      <p:sp>
        <p:nvSpPr>
          <p:cNvPr id="6" name="Shape 4"/>
          <p:cNvSpPr/>
          <p:nvPr/>
        </p:nvSpPr>
        <p:spPr>
          <a:xfrm>
            <a:off x="5760720" y="1051560"/>
            <a:ext cx="3154680" cy="3566160"/>
          </a:xfrm>
          <a:prstGeom prst="rect">
            <a:avLst/>
          </a:prstGeom>
          <a:solidFill>
            <a:srgbClr val="3D4A5C"/>
          </a:solidFill>
          <a:ln w="12700">
            <a:solidFill>
              <a:srgbClr val="6B7A8D"/>
            </a:solidFill>
            <a:prstDash val="solid"/>
          </a:ln>
        </p:spPr>
      </p:sp>
      <p:sp>
        <p:nvSpPr>
          <p:cNvPr id="50" name="TLTitle"/>
          <p:cNvSpPr/>
          <p:nvPr/>
        </p:nvSpPr>
        <p:spPr>
          <a:xfrm>
            <a:off x="5810720" y="1131560"/>
            <a:ext cx="3054680" cy="200000"/>
          </a:xfrm>
          <a:prstGeom prst="rect">
            <a:avLst/>
          </a:prstGeom>
          <a:noFill/>
        </p:spPr>
        <p:txBody>
          <a:bodyPr wrap="square" lIns="45720" tIns="45720" rIns="45720" bIns="45720" rtlCol="0" anchor="ctr"/>
          <a:lstStyle/>
          <a:p>
            <a:pPr marL="0" indent="0" algn="ctr">
              <a:buNone/>
            </a:pPr>
            <a:r>
              <a:rPr lang="en-US" sz="1300" b="1" dirty="0">
                <a:solidFill>
                  <a:srgbClr val="C9A84C"/>
                </a:solidFill>
                <a:latin typeface="Times New Roman" pitchFamily="34" charset="0"/>
              </a:rPr>
              <a:t>Failed Reform Timeline</a:t>
            </a:r>
            <a:endParaRPr lang="en-US" sz="1300" dirty="0"/>
          </a:p>
        </p:txBody>
      </p:sp>
      <p:sp>
        <p:nvSpPr>
          <p:cNvPr id="51" name="Spine"/>
          <p:cNvSpPr/>
          <p:nvPr/>
        </p:nvSpPr>
        <p:spPr>
          <a:xfrm>
            <a:off x="6345720" y="1431560"/>
            <a:ext cx="30000" cy="3066160"/>
          </a:xfrm>
          <a:prstGeom prst="rect">
            <a:avLst/>
          </a:prstGeom>
          <a:solidFill>
            <a:srgbClr val="C9A84C"/>
          </a:solidFill>
        </p:spPr>
      </p:sp>
      <p:sp>
        <p:nvSpPr>
          <p:cNvPr id="52" name="Dot0"/>
          <p:cNvSpPr/>
          <p:nvPr/>
        </p:nvSpPr>
        <p:spPr>
          <a:xfrm>
            <a:off x="6300720" y="1371560"/>
            <a:ext cx="120000" cy="120000"/>
          </a:xfrm>
          <a:prstGeom prst="rect">
            <a:avLst/>
          </a:prstGeom>
          <a:solidFill>
            <a:srgbClr val="2C7A3E"/>
          </a:solidFill>
          <a:ln w="12700">
            <a:solidFill>
              <a:srgbClr val="C9A84C"/>
            </a:solidFill>
            <a:prstDash val="solid"/>
          </a:ln>
        </p:spPr>
      </p:sp>
      <p:sp>
        <p:nvSpPr>
          <p:cNvPr id="53" name="Year0"/>
          <p:cNvSpPr/>
          <p:nvPr/>
        </p:nvSpPr>
        <p:spPr>
          <a:xfrm>
            <a:off x="5810720" y="1321560"/>
            <a:ext cx="480000" cy="200000"/>
          </a:xfrm>
          <a:prstGeom prst="rect">
            <a:avLst/>
          </a:prstGeom>
          <a:noFill/>
        </p:spPr>
        <p:txBody>
          <a:bodyPr wrap="square" lIns="45720" tIns="45720" rIns="45720" bIns="45720" rtlCol="0" anchor="ctr"/>
          <a:lstStyle/>
          <a:p>
            <a:pPr marL="0" indent="0" algn="r">
              <a:buNone/>
            </a:pPr>
            <a:r>
              <a:rPr lang="en-US" sz="1100" b="1" dirty="0">
                <a:solidFill>
                  <a:srgbClr val="C9A84C"/>
                </a:solidFill>
                <a:latin typeface="Times New Roman" pitchFamily="34" charset="0"/>
              </a:rPr>
              <a:t>1947</a:t>
            </a:r>
            <a:endParaRPr lang="en-US" sz="1100" dirty="0"/>
          </a:p>
        </p:txBody>
      </p:sp>
      <p:sp>
        <p:nvSpPr>
          <p:cNvPr id="54" name="Lbl0"/>
          <p:cNvSpPr/>
          <p:nvPr/>
        </p:nvSpPr>
        <p:spPr>
          <a:xfrm>
            <a:off x="6460720" y="1321560"/>
            <a:ext cx="2454680" cy="200000"/>
          </a:xfrm>
          <a:prstGeom prst="rect">
            <a:avLst/>
          </a:prstGeom>
          <a:noFill/>
        </p:spPr>
        <p:txBody>
          <a:bodyPr wrap="square" lIns="45720" tIns="45720" rIns="45720" bIns="45720" rtlCol="0" anchor="ctr"/>
          <a:lstStyle/>
          <a:p>
            <a:pPr marL="0" indent="0" algn="l">
              <a:buNone/>
            </a:pPr>
            <a:r>
              <a:rPr lang="en-US" sz="1000" dirty="0">
                <a:solidFill>
                  <a:srgbClr val="FFFFFF"/>
                </a:solidFill>
                <a:latin typeface="Times New Roman" pitchFamily="34" charset="0"/>
              </a:rPr>
              <a:t>Partition — Pakistan Created</a:t>
            </a:r>
            <a:endParaRPr lang="en-US" sz="1000" dirty="0"/>
          </a:p>
        </p:txBody>
      </p:sp>
      <p:sp>
        <p:nvSpPr>
          <p:cNvPr id="55" name="Dot1"/>
          <p:cNvSpPr/>
          <p:nvPr/>
        </p:nvSpPr>
        <p:spPr>
          <a:xfrm>
            <a:off x="6300720" y="1882586"/>
            <a:ext cx="120000" cy="120000"/>
          </a:xfrm>
          <a:prstGeom prst="rect">
            <a:avLst/>
          </a:prstGeom>
          <a:solidFill>
            <a:srgbClr val="B85042"/>
          </a:solidFill>
          <a:ln w="12700">
            <a:solidFill>
              <a:srgbClr val="C9A84C"/>
            </a:solidFill>
            <a:prstDash val="solid"/>
          </a:ln>
        </p:spPr>
      </p:sp>
      <p:sp>
        <p:nvSpPr>
          <p:cNvPr id="56" name="Year1"/>
          <p:cNvSpPr/>
          <p:nvPr/>
        </p:nvSpPr>
        <p:spPr>
          <a:xfrm>
            <a:off x="5810720" y="1832586"/>
            <a:ext cx="480000" cy="200000"/>
          </a:xfrm>
          <a:prstGeom prst="rect">
            <a:avLst/>
          </a:prstGeom>
          <a:noFill/>
        </p:spPr>
        <p:txBody>
          <a:bodyPr wrap="square" lIns="45720" tIns="45720" rIns="45720" bIns="45720" rtlCol="0" anchor="ctr"/>
          <a:lstStyle/>
          <a:p>
            <a:pPr marL="0" indent="0" algn="r">
              <a:buNone/>
            </a:pPr>
            <a:r>
              <a:rPr lang="en-US" sz="1100" b="1" dirty="0">
                <a:solidFill>
                  <a:srgbClr val="C9A84C"/>
                </a:solidFill>
                <a:latin typeface="Times New Roman" pitchFamily="34" charset="0"/>
              </a:rPr>
              <a:t>1958</a:t>
            </a:r>
            <a:endParaRPr lang="en-US" sz="1100" dirty="0"/>
          </a:p>
        </p:txBody>
      </p:sp>
      <p:sp>
        <p:nvSpPr>
          <p:cNvPr id="57" name="Lbl1"/>
          <p:cNvSpPr/>
          <p:nvPr/>
        </p:nvSpPr>
        <p:spPr>
          <a:xfrm>
            <a:off x="6460720" y="1832586"/>
            <a:ext cx="2454680" cy="200000"/>
          </a:xfrm>
          <a:prstGeom prst="rect">
            <a:avLst/>
          </a:prstGeom>
          <a:noFill/>
        </p:spPr>
        <p:txBody>
          <a:bodyPr wrap="square" lIns="45720" tIns="45720" rIns="45720" bIns="45720" rtlCol="0" anchor="ctr"/>
          <a:lstStyle/>
          <a:p>
            <a:pPr marL="0" indent="0" algn="l">
              <a:buNone/>
            </a:pPr>
            <a:r>
              <a:rPr lang="en-US" sz="1000" dirty="0">
                <a:solidFill>
                  <a:srgbClr val="FFFFFF"/>
                </a:solidFill>
                <a:latin typeface="Times New Roman" pitchFamily="34" charset="0"/>
              </a:rPr>
              <a:t>Ayub Khan Reform</a:t>
            </a:r>
            <a:endParaRPr lang="en-US" sz="1000" dirty="0"/>
          </a:p>
        </p:txBody>
      </p:sp>
      <p:sp>
        <p:nvSpPr>
          <p:cNvPr id="58" name="Fail1"/>
          <p:cNvSpPr/>
          <p:nvPr/>
        </p:nvSpPr>
        <p:spPr>
          <a:xfrm>
            <a:off x="6460720" y="2022586"/>
            <a:ext cx="2454680" cy="130000"/>
          </a:xfrm>
          <a:prstGeom prst="rect">
            <a:avLst/>
          </a:prstGeom>
          <a:noFill/>
        </p:spPr>
        <p:txBody>
          <a:bodyPr wrap="square" lIns="45720" tIns="45720" rIns="45720" bIns="45720" rtlCol="0" anchor="ctr"/>
          <a:lstStyle/>
          <a:p>
            <a:pPr marL="0" indent="0" algn="l">
              <a:buNone/>
            </a:pPr>
            <a:r>
              <a:rPr lang="en-US" sz="1100" i="1" dirty="0">
                <a:solidFill>
                  <a:schemeClr val="bg1">
                    <a:lumMod val="85000"/>
                  </a:schemeClr>
                </a:solidFill>
                <a:latin typeface="Times New Roman"/>
                <a:cs typeface="Times New Roman"/>
              </a:rPr>
              <a:t>✕ Reform Neutralized</a:t>
            </a:r>
            <a:endParaRPr lang="en-US" sz="1100">
              <a:solidFill>
                <a:schemeClr val="bg1">
                  <a:lumMod val="85000"/>
                </a:schemeClr>
              </a:solidFill>
              <a:latin typeface="Times New Roman"/>
              <a:ea typeface="Calibri"/>
              <a:cs typeface="Times New Roman"/>
            </a:endParaRPr>
          </a:p>
        </p:txBody>
      </p:sp>
      <p:sp>
        <p:nvSpPr>
          <p:cNvPr id="59" name="Dot2"/>
          <p:cNvSpPr/>
          <p:nvPr/>
        </p:nvSpPr>
        <p:spPr>
          <a:xfrm>
            <a:off x="6300720" y="2393612"/>
            <a:ext cx="120000" cy="120000"/>
          </a:xfrm>
          <a:prstGeom prst="rect">
            <a:avLst/>
          </a:prstGeom>
          <a:solidFill>
            <a:srgbClr val="B85042"/>
          </a:solidFill>
          <a:ln w="12700">
            <a:solidFill>
              <a:srgbClr val="C9A84C"/>
            </a:solidFill>
            <a:prstDash val="solid"/>
          </a:ln>
        </p:spPr>
      </p:sp>
      <p:sp>
        <p:nvSpPr>
          <p:cNvPr id="60" name="Year2"/>
          <p:cNvSpPr/>
          <p:nvPr/>
        </p:nvSpPr>
        <p:spPr>
          <a:xfrm>
            <a:off x="5810720" y="2343612"/>
            <a:ext cx="480000" cy="200000"/>
          </a:xfrm>
          <a:prstGeom prst="rect">
            <a:avLst/>
          </a:prstGeom>
          <a:noFill/>
        </p:spPr>
        <p:txBody>
          <a:bodyPr wrap="square" lIns="45720" tIns="45720" rIns="45720" bIns="45720" rtlCol="0" anchor="ctr"/>
          <a:lstStyle/>
          <a:p>
            <a:pPr marL="0" indent="0" algn="r">
              <a:buNone/>
            </a:pPr>
            <a:r>
              <a:rPr lang="en-US" sz="1100" b="1" dirty="0">
                <a:solidFill>
                  <a:srgbClr val="C9A84C"/>
                </a:solidFill>
                <a:latin typeface="Times New Roman" pitchFamily="34" charset="0"/>
              </a:rPr>
              <a:t>1971</a:t>
            </a:r>
            <a:endParaRPr lang="en-US" sz="1100" dirty="0"/>
          </a:p>
        </p:txBody>
      </p:sp>
      <p:sp>
        <p:nvSpPr>
          <p:cNvPr id="61" name="Lbl2"/>
          <p:cNvSpPr/>
          <p:nvPr/>
        </p:nvSpPr>
        <p:spPr>
          <a:xfrm>
            <a:off x="6460720" y="2343612"/>
            <a:ext cx="2454680" cy="200000"/>
          </a:xfrm>
          <a:prstGeom prst="rect">
            <a:avLst/>
          </a:prstGeom>
          <a:noFill/>
        </p:spPr>
        <p:txBody>
          <a:bodyPr wrap="square" lIns="45720" tIns="45720" rIns="45720" bIns="45720" rtlCol="0" anchor="ctr"/>
          <a:lstStyle/>
          <a:p>
            <a:pPr marL="0" indent="0" algn="l">
              <a:buNone/>
            </a:pPr>
            <a:r>
              <a:rPr lang="en-US" sz="1000" dirty="0">
                <a:solidFill>
                  <a:srgbClr val="FFFFFF"/>
                </a:solidFill>
                <a:latin typeface="Times New Roman" pitchFamily="34" charset="0"/>
              </a:rPr>
              <a:t>Z.A. Bhutto Land Reform</a:t>
            </a:r>
            <a:endParaRPr lang="en-US" sz="1000" dirty="0"/>
          </a:p>
        </p:txBody>
      </p:sp>
      <p:sp>
        <p:nvSpPr>
          <p:cNvPr id="62" name="Fail2"/>
          <p:cNvSpPr/>
          <p:nvPr/>
        </p:nvSpPr>
        <p:spPr>
          <a:xfrm>
            <a:off x="6460720" y="2533612"/>
            <a:ext cx="2454680" cy="130000"/>
          </a:xfrm>
          <a:prstGeom prst="rect">
            <a:avLst/>
          </a:prstGeom>
          <a:noFill/>
        </p:spPr>
        <p:txBody>
          <a:bodyPr wrap="square" lIns="45720" tIns="45720" rIns="45720" bIns="45720" rtlCol="0" anchor="ctr"/>
          <a:lstStyle/>
          <a:p>
            <a:pPr marL="0" indent="0" algn="l">
              <a:buNone/>
            </a:pPr>
            <a:r>
              <a:rPr lang="en-US" sz="1100" i="1" dirty="0">
                <a:solidFill>
                  <a:schemeClr val="bg1">
                    <a:lumMod val="85000"/>
                  </a:schemeClr>
                </a:solidFill>
                <a:latin typeface="Times New Roman"/>
                <a:cs typeface="Times New Roman"/>
              </a:rPr>
              <a:t>✕ Reform Neutralized</a:t>
            </a:r>
            <a:endParaRPr lang="en-US" sz="1100">
              <a:solidFill>
                <a:schemeClr val="bg1">
                  <a:lumMod val="85000"/>
                </a:schemeClr>
              </a:solidFill>
              <a:latin typeface="Calibri"/>
              <a:ea typeface="Calibri"/>
              <a:cs typeface="Calibri"/>
            </a:endParaRPr>
          </a:p>
        </p:txBody>
      </p:sp>
      <p:sp>
        <p:nvSpPr>
          <p:cNvPr id="63" name="Dot3"/>
          <p:cNvSpPr/>
          <p:nvPr/>
        </p:nvSpPr>
        <p:spPr>
          <a:xfrm>
            <a:off x="6300720" y="2904638"/>
            <a:ext cx="120000" cy="120000"/>
          </a:xfrm>
          <a:prstGeom prst="rect">
            <a:avLst/>
          </a:prstGeom>
          <a:solidFill>
            <a:srgbClr val="B85042"/>
          </a:solidFill>
          <a:ln w="12700">
            <a:solidFill>
              <a:srgbClr val="C9A84C"/>
            </a:solidFill>
            <a:prstDash val="solid"/>
          </a:ln>
        </p:spPr>
      </p:sp>
      <p:sp>
        <p:nvSpPr>
          <p:cNvPr id="64" name="Year3"/>
          <p:cNvSpPr/>
          <p:nvPr/>
        </p:nvSpPr>
        <p:spPr>
          <a:xfrm>
            <a:off x="5810720" y="2854638"/>
            <a:ext cx="480000" cy="200000"/>
          </a:xfrm>
          <a:prstGeom prst="rect">
            <a:avLst/>
          </a:prstGeom>
          <a:noFill/>
        </p:spPr>
        <p:txBody>
          <a:bodyPr wrap="square" lIns="45720" tIns="45720" rIns="45720" bIns="45720" rtlCol="0" anchor="ctr"/>
          <a:lstStyle/>
          <a:p>
            <a:pPr marL="0" indent="0" algn="r">
              <a:buNone/>
            </a:pPr>
            <a:r>
              <a:rPr lang="en-US" sz="1100" b="1" dirty="0">
                <a:solidFill>
                  <a:srgbClr val="C9A84C"/>
                </a:solidFill>
                <a:latin typeface="Times New Roman" pitchFamily="34" charset="0"/>
              </a:rPr>
              <a:t>1977</a:t>
            </a:r>
            <a:endParaRPr lang="en-US" sz="1100" dirty="0"/>
          </a:p>
        </p:txBody>
      </p:sp>
      <p:sp>
        <p:nvSpPr>
          <p:cNvPr id="65" name="Lbl3"/>
          <p:cNvSpPr/>
          <p:nvPr/>
        </p:nvSpPr>
        <p:spPr>
          <a:xfrm>
            <a:off x="6460720" y="2854638"/>
            <a:ext cx="2454680" cy="200000"/>
          </a:xfrm>
          <a:prstGeom prst="rect">
            <a:avLst/>
          </a:prstGeom>
          <a:noFill/>
        </p:spPr>
        <p:txBody>
          <a:bodyPr wrap="square" lIns="45720" tIns="45720" rIns="45720" bIns="45720" rtlCol="0" anchor="ctr"/>
          <a:lstStyle/>
          <a:p>
            <a:pPr marL="0" indent="0" algn="l">
              <a:buNone/>
            </a:pPr>
            <a:r>
              <a:rPr lang="en-US" sz="1000" dirty="0">
                <a:solidFill>
                  <a:srgbClr val="FFFFFF"/>
                </a:solidFill>
                <a:latin typeface="Times New Roman" pitchFamily="34" charset="0"/>
              </a:rPr>
              <a:t>Zia Islamization</a:t>
            </a:r>
            <a:endParaRPr lang="en-US" sz="1000" dirty="0"/>
          </a:p>
        </p:txBody>
      </p:sp>
      <p:sp>
        <p:nvSpPr>
          <p:cNvPr id="66" name="Fail3"/>
          <p:cNvSpPr/>
          <p:nvPr/>
        </p:nvSpPr>
        <p:spPr>
          <a:xfrm>
            <a:off x="6460720" y="3044638"/>
            <a:ext cx="2454680" cy="130000"/>
          </a:xfrm>
          <a:prstGeom prst="rect">
            <a:avLst/>
          </a:prstGeom>
          <a:noFill/>
        </p:spPr>
        <p:txBody>
          <a:bodyPr wrap="square" lIns="45720" tIns="45720" rIns="45720" bIns="45720" rtlCol="0" anchor="ctr"/>
          <a:lstStyle/>
          <a:p>
            <a:pPr marL="0" indent="0" algn="l">
              <a:buNone/>
            </a:pPr>
            <a:r>
              <a:rPr lang="en-US" sz="1100" i="1" dirty="0">
                <a:solidFill>
                  <a:schemeClr val="bg1">
                    <a:lumMod val="85000"/>
                  </a:schemeClr>
                </a:solidFill>
                <a:latin typeface="Times New Roman"/>
                <a:cs typeface="Times New Roman"/>
              </a:rPr>
              <a:t>✕ Reform Neutralized</a:t>
            </a:r>
            <a:endParaRPr lang="en-US" sz="1100">
              <a:solidFill>
                <a:schemeClr val="bg1">
                  <a:lumMod val="85000"/>
                </a:schemeClr>
              </a:solidFill>
              <a:latin typeface="Times New Roman"/>
              <a:ea typeface="Calibri"/>
              <a:cs typeface="Times New Roman"/>
            </a:endParaRPr>
          </a:p>
        </p:txBody>
      </p:sp>
      <p:sp>
        <p:nvSpPr>
          <p:cNvPr id="67" name="Dot4"/>
          <p:cNvSpPr/>
          <p:nvPr/>
        </p:nvSpPr>
        <p:spPr>
          <a:xfrm>
            <a:off x="6300720" y="3415664"/>
            <a:ext cx="120000" cy="120000"/>
          </a:xfrm>
          <a:prstGeom prst="rect">
            <a:avLst/>
          </a:prstGeom>
          <a:solidFill>
            <a:srgbClr val="B85042"/>
          </a:solidFill>
          <a:ln w="12700">
            <a:solidFill>
              <a:srgbClr val="C9A84C"/>
            </a:solidFill>
            <a:prstDash val="solid"/>
          </a:ln>
        </p:spPr>
      </p:sp>
      <p:sp>
        <p:nvSpPr>
          <p:cNvPr id="68" name="Year4"/>
          <p:cNvSpPr/>
          <p:nvPr/>
        </p:nvSpPr>
        <p:spPr>
          <a:xfrm>
            <a:off x="5810720" y="3365664"/>
            <a:ext cx="480000" cy="200000"/>
          </a:xfrm>
          <a:prstGeom prst="rect">
            <a:avLst/>
          </a:prstGeom>
          <a:noFill/>
        </p:spPr>
        <p:txBody>
          <a:bodyPr wrap="square" lIns="45720" tIns="45720" rIns="45720" bIns="45720" rtlCol="0" anchor="ctr"/>
          <a:lstStyle/>
          <a:p>
            <a:pPr marL="0" indent="0" algn="r">
              <a:buNone/>
            </a:pPr>
            <a:r>
              <a:rPr lang="en-US" sz="1100" b="1" dirty="0">
                <a:solidFill>
                  <a:srgbClr val="C9A84C"/>
                </a:solidFill>
                <a:latin typeface="Times New Roman" pitchFamily="34" charset="0"/>
              </a:rPr>
              <a:t>1999</a:t>
            </a:r>
            <a:endParaRPr lang="en-US" sz="1100" dirty="0"/>
          </a:p>
        </p:txBody>
      </p:sp>
      <p:sp>
        <p:nvSpPr>
          <p:cNvPr id="69" name="Lbl4"/>
          <p:cNvSpPr/>
          <p:nvPr/>
        </p:nvSpPr>
        <p:spPr>
          <a:xfrm>
            <a:off x="6460720" y="3365664"/>
            <a:ext cx="2454680" cy="200000"/>
          </a:xfrm>
          <a:prstGeom prst="rect">
            <a:avLst/>
          </a:prstGeom>
          <a:noFill/>
        </p:spPr>
        <p:txBody>
          <a:bodyPr wrap="square" lIns="45720" tIns="45720" rIns="45720" bIns="45720" rtlCol="0" anchor="ctr"/>
          <a:lstStyle/>
          <a:p>
            <a:pPr marL="0" indent="0" algn="l">
              <a:buNone/>
            </a:pPr>
            <a:r>
              <a:rPr lang="en-US" sz="1000" dirty="0">
                <a:solidFill>
                  <a:srgbClr val="FFFFFF"/>
                </a:solidFill>
                <a:latin typeface="Times New Roman" pitchFamily="34" charset="0"/>
              </a:rPr>
              <a:t>Musharraf 'Enlightened Mod.'</a:t>
            </a:r>
            <a:endParaRPr lang="en-US" sz="1000" dirty="0"/>
          </a:p>
        </p:txBody>
      </p:sp>
      <p:sp>
        <p:nvSpPr>
          <p:cNvPr id="70" name="Fail4"/>
          <p:cNvSpPr/>
          <p:nvPr/>
        </p:nvSpPr>
        <p:spPr>
          <a:xfrm>
            <a:off x="6460720" y="3555664"/>
            <a:ext cx="2454680" cy="130000"/>
          </a:xfrm>
          <a:prstGeom prst="rect">
            <a:avLst/>
          </a:prstGeom>
          <a:noFill/>
        </p:spPr>
        <p:txBody>
          <a:bodyPr wrap="square" lIns="45720" tIns="45720" rIns="45720" bIns="45720" rtlCol="0" anchor="ctr"/>
          <a:lstStyle/>
          <a:p>
            <a:pPr marL="0" indent="0" algn="l">
              <a:buNone/>
            </a:pPr>
            <a:r>
              <a:rPr lang="en-US" sz="1100" i="1" dirty="0">
                <a:solidFill>
                  <a:schemeClr val="bg1">
                    <a:lumMod val="85000"/>
                  </a:schemeClr>
                </a:solidFill>
                <a:latin typeface="Times New Roman"/>
                <a:cs typeface="Times New Roman"/>
              </a:rPr>
              <a:t>✕ Reform Neutralized</a:t>
            </a:r>
            <a:endParaRPr lang="en-US" sz="1100">
              <a:solidFill>
                <a:schemeClr val="bg1">
                  <a:lumMod val="85000"/>
                </a:schemeClr>
              </a:solidFill>
              <a:latin typeface="Times New Roman"/>
              <a:ea typeface="Calibri"/>
              <a:cs typeface="Times New Roman"/>
            </a:endParaRPr>
          </a:p>
        </p:txBody>
      </p:sp>
      <p:sp>
        <p:nvSpPr>
          <p:cNvPr id="71" name="Dot5"/>
          <p:cNvSpPr/>
          <p:nvPr/>
        </p:nvSpPr>
        <p:spPr>
          <a:xfrm>
            <a:off x="6300720" y="3926690"/>
            <a:ext cx="120000" cy="120000"/>
          </a:xfrm>
          <a:prstGeom prst="rect">
            <a:avLst/>
          </a:prstGeom>
          <a:solidFill>
            <a:srgbClr val="B85042"/>
          </a:solidFill>
          <a:ln w="12700">
            <a:solidFill>
              <a:srgbClr val="C9A84C"/>
            </a:solidFill>
            <a:prstDash val="solid"/>
          </a:ln>
        </p:spPr>
      </p:sp>
      <p:sp>
        <p:nvSpPr>
          <p:cNvPr id="72" name="Year5"/>
          <p:cNvSpPr/>
          <p:nvPr/>
        </p:nvSpPr>
        <p:spPr>
          <a:xfrm>
            <a:off x="5810720" y="3876690"/>
            <a:ext cx="480000" cy="200000"/>
          </a:xfrm>
          <a:prstGeom prst="rect">
            <a:avLst/>
          </a:prstGeom>
          <a:noFill/>
        </p:spPr>
        <p:txBody>
          <a:bodyPr wrap="square" lIns="45720" tIns="45720" rIns="45720" bIns="45720" rtlCol="0" anchor="ctr"/>
          <a:lstStyle/>
          <a:p>
            <a:pPr marL="0" indent="0" algn="r">
              <a:buNone/>
            </a:pPr>
            <a:r>
              <a:rPr lang="en-US" sz="1100" b="1" dirty="0">
                <a:solidFill>
                  <a:srgbClr val="C9A84C"/>
                </a:solidFill>
                <a:latin typeface="Times New Roman" pitchFamily="34" charset="0"/>
              </a:rPr>
              <a:t>2008</a:t>
            </a:r>
            <a:endParaRPr lang="en-US" sz="1100" dirty="0"/>
          </a:p>
        </p:txBody>
      </p:sp>
      <p:sp>
        <p:nvSpPr>
          <p:cNvPr id="73" name="Lbl5"/>
          <p:cNvSpPr/>
          <p:nvPr/>
        </p:nvSpPr>
        <p:spPr>
          <a:xfrm>
            <a:off x="6460720" y="3876690"/>
            <a:ext cx="2454680" cy="200000"/>
          </a:xfrm>
          <a:prstGeom prst="rect">
            <a:avLst/>
          </a:prstGeom>
          <a:noFill/>
        </p:spPr>
        <p:txBody>
          <a:bodyPr wrap="square" lIns="45720" tIns="45720" rIns="45720" bIns="45720" rtlCol="0" anchor="ctr"/>
          <a:lstStyle/>
          <a:p>
            <a:pPr marL="0" indent="0" algn="l">
              <a:buNone/>
            </a:pPr>
            <a:r>
              <a:rPr lang="en-US" sz="1000" dirty="0">
                <a:solidFill>
                  <a:srgbClr val="FFFFFF"/>
                </a:solidFill>
                <a:latin typeface="Times New Roman" pitchFamily="34" charset="0"/>
              </a:rPr>
              <a:t>Return to Democracy</a:t>
            </a:r>
            <a:endParaRPr lang="en-US" sz="1000" dirty="0"/>
          </a:p>
        </p:txBody>
      </p:sp>
      <p:sp>
        <p:nvSpPr>
          <p:cNvPr id="9900" name="SlideNum_5"/>
          <p:cNvSpPr txBox="1"/>
          <p:nvPr/>
        </p:nvSpPr>
        <p:spPr>
          <a:xfrm>
            <a:off x="8229600" y="4953500"/>
            <a:ext cx="685800" cy="190000"/>
          </a:xfrm>
          <a:prstGeom prst="rect">
            <a:avLst/>
          </a:prstGeom>
          <a:noFill/>
        </p:spPr>
        <p:txBody>
          <a:bodyPr wrap="square" rtlCol="0"/>
          <a:lstStyle/>
          <a:p>
            <a:pPr algn="r"/>
            <a:r>
              <a:rPr lang="en-US" sz="900" b="0" dirty="0">
                <a:solidFill>
                  <a:srgbClr val="1A4731"/>
                </a:solidFill>
              </a:rPr>
              <a:t>5 / 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w="12700">
            <a:solidFill>
              <a:srgbClr val="C9A84C"/>
            </a:solidFill>
            <a:prstDash val="solid"/>
          </a:ln>
        </p:spPr>
      </p:sp>
      <p:sp>
        <p:nvSpPr>
          <p:cNvPr id="3" name="Text 1"/>
          <p:cNvSpPr/>
          <p:nvPr/>
        </p:nvSpPr>
        <p:spPr>
          <a:xfrm>
            <a:off x="457200" y="1048640"/>
            <a:ext cx="8229600" cy="457200"/>
          </a:xfrm>
          <a:prstGeom prst="rect">
            <a:avLst/>
          </a:prstGeom>
          <a:noFill/>
          <a:ln/>
        </p:spPr>
        <p:txBody>
          <a:bodyPr wrap="square" lIns="0" tIns="0" rIns="0" bIns="0" rtlCol="0" anchor="ctr"/>
          <a:lstStyle/>
          <a:p>
            <a:pPr marL="0" indent="0" algn="l">
              <a:buNone/>
            </a:pPr>
            <a:r>
              <a:rPr lang="en-US" sz="1800" b="1" kern="0" spc="400" dirty="0">
                <a:solidFill>
                  <a:srgbClr val="C9A84C"/>
                </a:solidFill>
                <a:latin typeface="Times New Roman" pitchFamily="34" charset="0"/>
                <a:ea typeface="Times New Roman" pitchFamily="34" charset="-122"/>
                <a:cs typeface="Times New Roman" pitchFamily="34" charset="-120"/>
              </a:rPr>
              <a:t>Section 2</a:t>
            </a:r>
            <a:endParaRPr lang="en-US" sz="1800" dirty="0"/>
          </a:p>
        </p:txBody>
      </p:sp>
      <p:sp>
        <p:nvSpPr>
          <p:cNvPr id="4" name="Text 2"/>
          <p:cNvSpPr/>
          <p:nvPr/>
        </p:nvSpPr>
        <p:spPr>
          <a:xfrm>
            <a:off x="457200" y="1597280"/>
            <a:ext cx="8229600" cy="1280160"/>
          </a:xfrm>
          <a:prstGeom prst="rect">
            <a:avLst/>
          </a:prstGeom>
          <a:noFill/>
          <a:ln/>
        </p:spPr>
        <p:txBody>
          <a:bodyPr wrap="square" lIns="0" tIns="0" rIns="0" bIns="0" rtlCol="0" anchor="ctr"/>
          <a:lstStyle/>
          <a:p>
            <a:pPr marL="0" indent="0" algn="l">
              <a:buNone/>
            </a:pPr>
            <a:r>
              <a:rPr lang="en-US" sz="4400" b="1" dirty="0">
                <a:solidFill>
                  <a:srgbClr val="F8F4EC"/>
                </a:solidFill>
                <a:latin typeface="Times New Roman" pitchFamily="34" charset="0"/>
                <a:ea typeface="Times New Roman" pitchFamily="34" charset="-122"/>
                <a:cs typeface="Times New Roman" pitchFamily="34" charset="-120"/>
              </a:rPr>
              <a:t>Justice, Religion &amp; the Shrine Economy</a:t>
            </a:r>
            <a:endParaRPr lang="en-US" sz="4400" dirty="0"/>
          </a:p>
        </p:txBody>
      </p:sp>
      <p:sp>
        <p:nvSpPr>
          <p:cNvPr id="5" name="Text 3"/>
          <p:cNvSpPr/>
          <p:nvPr/>
        </p:nvSpPr>
        <p:spPr>
          <a:xfrm>
            <a:off x="457200" y="2968880"/>
            <a:ext cx="8229600" cy="457200"/>
          </a:xfrm>
          <a:prstGeom prst="rect">
            <a:avLst/>
          </a:prstGeom>
          <a:noFill/>
          <a:ln/>
        </p:spPr>
        <p:txBody>
          <a:bodyPr wrap="square" lIns="0" tIns="0" rIns="0" bIns="0" rtlCol="0" anchor="ctr"/>
          <a:lstStyle/>
          <a:p>
            <a:pPr marL="0" indent="0" algn="l">
              <a:buNone/>
            </a:pPr>
            <a:r>
              <a:rPr lang="en-US" sz="2200" i="1" dirty="0">
                <a:solidFill>
                  <a:srgbClr val="E9C46A"/>
                </a:solidFill>
                <a:latin typeface="Times New Roman" pitchFamily="34" charset="0"/>
                <a:ea typeface="Times New Roman" pitchFamily="34" charset="-122"/>
                <a:cs typeface="Times New Roman" pitchFamily="34" charset="-120"/>
              </a:rPr>
              <a:t>Chapters 3 &amp; 4</a:t>
            </a:r>
            <a:endParaRPr lang="en-US" sz="2200" dirty="0"/>
          </a:p>
        </p:txBody>
      </p:sp>
      <p:sp>
        <p:nvSpPr>
          <p:cNvPr id="6" name="Shape 4"/>
          <p:cNvSpPr/>
          <p:nvPr/>
        </p:nvSpPr>
        <p:spPr>
          <a:xfrm>
            <a:off x="457200" y="3517520"/>
            <a:ext cx="8229600" cy="36576"/>
          </a:xfrm>
          <a:prstGeom prst="rect">
            <a:avLst/>
          </a:prstGeom>
          <a:solidFill>
            <a:srgbClr val="C9A84C"/>
          </a:solidFill>
          <a:ln w="12700">
            <a:solidFill>
              <a:srgbClr val="C9A84C"/>
            </a:solidFill>
            <a:prstDash val="solid"/>
          </a:ln>
        </p:spPr>
      </p:sp>
      <p:sp>
        <p:nvSpPr>
          <p:cNvPr id="9900" name="SlideNum_6"/>
          <p:cNvSpPr txBox="1"/>
          <p:nvPr/>
        </p:nvSpPr>
        <p:spPr>
          <a:xfrm>
            <a:off x="8229600" y="4953500"/>
            <a:ext cx="685800" cy="190000"/>
          </a:xfrm>
          <a:prstGeom prst="rect">
            <a:avLst/>
          </a:prstGeom>
          <a:noFill/>
        </p:spPr>
        <p:txBody>
          <a:bodyPr wrap="square" rtlCol="0"/>
          <a:lstStyle/>
          <a:p>
            <a:pPr algn="r"/>
            <a:r>
              <a:rPr lang="en-US" sz="900" b="0" dirty="0">
                <a:solidFill>
                  <a:srgbClr val="C9A84C"/>
                </a:solidFill>
              </a:rPr>
              <a:t>6 / 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164592"/>
            <a:ext cx="8686800" cy="658368"/>
          </a:xfrm>
          <a:prstGeom prst="rect">
            <a:avLst/>
          </a:prstGeom>
          <a:noFill/>
          <a:ln/>
        </p:spPr>
        <p:txBody>
          <a:bodyPr wrap="square" lIns="0" tIns="0" rIns="0" bIns="0" rtlCol="0" anchor="ctr"/>
          <a:lstStyle/>
          <a:p>
            <a:pPr marL="0" indent="0" algn="l">
              <a:buNone/>
            </a:pPr>
            <a:r>
              <a:rPr lang="en-US" sz="3200" b="1">
                <a:solidFill>
                  <a:srgbClr val="1A4731"/>
                </a:solidFill>
                <a:latin typeface="Times New Roman"/>
                <a:ea typeface="Times New Roman" pitchFamily="34" charset="-122"/>
                <a:cs typeface="Times New Roman"/>
              </a:rPr>
              <a:t>The Crisis of Justice; Why Taliban Courts Win</a:t>
            </a:r>
            <a:endParaRPr lang="en-US" sz="3200">
              <a:latin typeface="Times New Roman"/>
              <a:cs typeface="Times New Roman"/>
            </a:endParaRPr>
          </a:p>
        </p:txBody>
      </p:sp>
      <p:sp>
        <p:nvSpPr>
          <p:cNvPr id="3" name="Shape 1"/>
          <p:cNvSpPr/>
          <p:nvPr/>
        </p:nvSpPr>
        <p:spPr>
          <a:xfrm>
            <a:off x="228600" y="960120"/>
            <a:ext cx="8686800" cy="36576"/>
          </a:xfrm>
          <a:prstGeom prst="rect">
            <a:avLst/>
          </a:prstGeom>
          <a:solidFill>
            <a:srgbClr val="C9A84C"/>
          </a:solidFill>
          <a:ln w="12700">
            <a:solidFill>
              <a:srgbClr val="C9A84C"/>
            </a:solidFill>
            <a:prstDash val="solid"/>
          </a:ln>
        </p:spPr>
      </p:sp>
      <p:sp>
        <p:nvSpPr>
          <p:cNvPr id="5" name="Text 3"/>
          <p:cNvSpPr/>
          <p:nvPr/>
        </p:nvSpPr>
        <p:spPr>
          <a:xfrm>
            <a:off x="274320" y="1051560"/>
            <a:ext cx="5349240" cy="3657600"/>
          </a:xfrm>
          <a:prstGeom prst="rect">
            <a:avLst/>
          </a:prstGeom>
          <a:noFill/>
          <a:ln/>
        </p:spPr>
        <p:txBody>
          <a:bodyPr wrap="square" lIns="91440" tIns="45720" rIns="91440" bIns="45720" rtlCol="0" anchor="t"/>
          <a:lstStyle/>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The Mohmand Agency Farmer Example</a:t>
            </a:r>
            <a:endParaRPr lang="en-US" sz="1350" dirty="0"/>
          </a:p>
          <a:p>
            <a:pPr marL="508000" lvl="1" indent="-254000">
              <a:spcAft>
                <a:spcPts val="400"/>
              </a:spcAft>
              <a:buSzPct val="100000"/>
              <a:buChar char="•"/>
            </a:pPr>
            <a:r>
              <a:rPr lang="en-US" sz="1350" dirty="0">
                <a:solidFill>
                  <a:srgbClr val="3D4A5C"/>
                </a:solidFill>
                <a:latin typeface="Times New Roman"/>
                <a:ea typeface="Times New Roman" pitchFamily="34" charset="-122"/>
                <a:cs typeface="Times New Roman"/>
              </a:rPr>
              <a:t>A farmer chooses the Taliban's court over a Pakistani </a:t>
            </a:r>
            <a:r>
              <a:rPr lang="en-US" sz="1350" dirty="0" err="1">
                <a:solidFill>
                  <a:srgbClr val="3D4A5C"/>
                </a:solidFill>
                <a:latin typeface="Times New Roman"/>
                <a:ea typeface="Times New Roman" pitchFamily="34" charset="-122"/>
                <a:cs typeface="Times New Roman"/>
              </a:rPr>
              <a:t>court;verdict</a:t>
            </a:r>
            <a:r>
              <a:rPr lang="en-US" sz="1350" dirty="0">
                <a:solidFill>
                  <a:srgbClr val="3D4A5C"/>
                </a:solidFill>
                <a:latin typeface="Times New Roman"/>
                <a:ea typeface="Times New Roman" pitchFamily="34" charset="-122"/>
                <a:cs typeface="Times New Roman"/>
              </a:rPr>
              <a:t> in hours vs. years; no bribe required</a:t>
            </a:r>
            <a:endParaRPr lang="en-US" sz="1350" dirty="0">
              <a:latin typeface="Times New Roman"/>
              <a:cs typeface="Times New Roman"/>
            </a:endParaRPr>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Rivaz (Customary Law) vs. Formal Legal System</a:t>
            </a:r>
            <a:endParaRPr lang="en-US" sz="1350" dirty="0"/>
          </a:p>
          <a:p>
            <a:pPr marL="508000" lvl="1" indent="-254000">
              <a:spcAft>
                <a:spcPts val="400"/>
              </a:spcAft>
              <a:buSzPct val="100000"/>
              <a:buChar char="•"/>
            </a:pPr>
            <a:r>
              <a:rPr lang="en-US" sz="1350" dirty="0">
                <a:solidFill>
                  <a:srgbClr val="3D4A5C"/>
                </a:solidFill>
                <a:latin typeface="Times New Roman" pitchFamily="34" charset="0"/>
                <a:ea typeface="Times New Roman" pitchFamily="34" charset="-122"/>
                <a:cs typeface="Times New Roman" pitchFamily="34" charset="-120"/>
              </a:rPr>
              <a:t>Rivaz: Oral, local, community-enforced. Understood by all litigants.</a:t>
            </a:r>
            <a:endParaRPr lang="en-US" sz="1350" dirty="0"/>
          </a:p>
          <a:p>
            <a:pPr marL="508000" lvl="1" indent="-254000">
              <a:spcAft>
                <a:spcPts val="400"/>
              </a:spcAft>
              <a:buSzPct val="100000"/>
              <a:buChar char="•"/>
            </a:pPr>
            <a:r>
              <a:rPr lang="en-US" sz="1350" dirty="0">
                <a:solidFill>
                  <a:srgbClr val="3D4A5C"/>
                </a:solidFill>
                <a:latin typeface="Times New Roman"/>
                <a:ea typeface="Times New Roman" pitchFamily="34" charset="-122"/>
                <a:cs typeface="Times New Roman"/>
              </a:rPr>
              <a:t>Formal system: English-language, costly lawyers, decades-</a:t>
            </a:r>
            <a:r>
              <a:rPr lang="en-US" sz="1350">
                <a:solidFill>
                  <a:srgbClr val="3D4A5C"/>
                </a:solidFill>
                <a:latin typeface="Times New Roman"/>
                <a:ea typeface="Times New Roman" pitchFamily="34" charset="-122"/>
                <a:cs typeface="Times New Roman"/>
              </a:rPr>
              <a:t>long backlogs and inaccessible to the poor</a:t>
            </a:r>
            <a:endParaRPr lang="en-US" sz="1350">
              <a:latin typeface="Times New Roman"/>
              <a:cs typeface="Times New Roman"/>
            </a:endParaRPr>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The Taliban's Legitimacy is Procedural, Not Ideological</a:t>
            </a:r>
            <a:endParaRPr lang="en-US" sz="1350" dirty="0"/>
          </a:p>
          <a:p>
            <a:pPr marL="508000" lvl="1" indent="-254000">
              <a:spcAft>
                <a:spcPts val="400"/>
              </a:spcAft>
              <a:buSzPct val="100000"/>
              <a:buChar char="•"/>
            </a:pPr>
            <a:r>
              <a:rPr lang="en-US" sz="1350" dirty="0">
                <a:solidFill>
                  <a:srgbClr val="3D4A5C"/>
                </a:solidFill>
                <a:latin typeface="Times New Roman" pitchFamily="34" charset="0"/>
                <a:ea typeface="Times New Roman" pitchFamily="34" charset="-122"/>
                <a:cs typeface="Times New Roman" pitchFamily="34" charset="-120"/>
              </a:rPr>
              <a:t>People are not embracing extremism; they are seeking functional justice</a:t>
            </a:r>
            <a:endParaRPr lang="en-US" sz="1350" dirty="0"/>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Policy Implication: Reforming justice delivery is more effective than military force alone</a:t>
            </a:r>
            <a:endParaRPr lang="en-US" sz="1350" dirty="0"/>
          </a:p>
        </p:txBody>
      </p:sp>
      <p:sp>
        <p:nvSpPr>
          <p:cNvPr id="6" name="Shape 4"/>
          <p:cNvSpPr/>
          <p:nvPr/>
        </p:nvSpPr>
        <p:spPr>
          <a:xfrm>
            <a:off x="5760720" y="1051560"/>
            <a:ext cx="3154680" cy="3566160"/>
          </a:xfrm>
          <a:prstGeom prst="rect">
            <a:avLst/>
          </a:prstGeom>
          <a:solidFill>
            <a:srgbClr val="3D4A5C"/>
          </a:solidFill>
          <a:ln w="12700">
            <a:solidFill>
              <a:srgbClr val="6B7A8D"/>
            </a:solidFill>
            <a:prstDash val="solid"/>
          </a:ln>
        </p:spPr>
      </p:sp>
      <p:sp>
        <p:nvSpPr>
          <p:cNvPr id="50" name="TTitle"/>
          <p:cNvSpPr/>
          <p:nvPr/>
        </p:nvSpPr>
        <p:spPr>
          <a:xfrm>
            <a:off x="5810720" y="1131560"/>
            <a:ext cx="3054680" cy="200000"/>
          </a:xfrm>
          <a:prstGeom prst="rect">
            <a:avLst/>
          </a:prstGeom>
          <a:noFill/>
        </p:spPr>
        <p:txBody>
          <a:bodyPr wrap="square" lIns="45720" tIns="45720" rIns="45720" bIns="45720" rtlCol="0" anchor="ctr"/>
          <a:lstStyle/>
          <a:p>
            <a:pPr marL="0" indent="0" algn="ctr">
              <a:buNone/>
            </a:pPr>
            <a:r>
              <a:rPr lang="en-US" sz="1300" b="1" dirty="0">
                <a:solidFill>
                  <a:srgbClr val="C9A84C"/>
                </a:solidFill>
                <a:latin typeface="Times New Roman" pitchFamily="34" charset="0"/>
              </a:rPr>
              <a:t>Justice: Two Systems</a:t>
            </a:r>
            <a:endParaRPr lang="en-US" sz="1300" dirty="0"/>
          </a:p>
        </p:txBody>
      </p:sp>
      <p:sp>
        <p:nvSpPr>
          <p:cNvPr id="51" name="H0"/>
          <p:cNvSpPr/>
          <p:nvPr/>
        </p:nvSpPr>
        <p:spPr>
          <a:xfrm>
            <a:off x="5810720" y="1411560"/>
            <a:ext cx="580000" cy="350000"/>
          </a:xfrm>
          <a:prstGeom prst="rect">
            <a:avLst/>
          </a:prstGeom>
          <a:solidFill>
            <a:srgbClr val="3D4A5C"/>
          </a:solidFill>
          <a:ln w="12700">
            <a:solidFill>
              <a:srgbClr val="C9A84C"/>
            </a:solidFill>
            <a:prstDash val="solid"/>
          </a:ln>
        </p:spPr>
        <p:txBody>
          <a:bodyPr wrap="square" lIns="45720" tIns="45720" rIns="45720" bIns="45720" rtlCol="0" anchor="ctr"/>
          <a:lstStyle/>
          <a:p>
            <a:pPr marL="0" indent="0" algn="ctr">
              <a:buNone/>
            </a:pPr>
            <a:endParaRPr lang="en-US" sz="1100" dirty="0"/>
          </a:p>
        </p:txBody>
      </p:sp>
      <p:sp>
        <p:nvSpPr>
          <p:cNvPr id="52" name="H1"/>
          <p:cNvSpPr/>
          <p:nvPr/>
        </p:nvSpPr>
        <p:spPr>
          <a:xfrm>
            <a:off x="6410720" y="1411560"/>
            <a:ext cx="1250000" cy="350000"/>
          </a:xfrm>
          <a:prstGeom prst="rect">
            <a:avLst/>
          </a:prstGeom>
          <a:solidFill>
            <a:srgbClr val="1A4731"/>
          </a:solidFill>
          <a:ln w="12700">
            <a:solidFill>
              <a:srgbClr val="C9A84C"/>
            </a:solidFill>
            <a:prstDash val="solid"/>
          </a:ln>
        </p:spPr>
        <p:txBody>
          <a:bodyPr wrap="square" lIns="45720" tIns="45720" rIns="45720" bIns="45720" rtlCol="0" anchor="ctr"/>
          <a:lstStyle/>
          <a:p>
            <a:pPr marL="0" indent="0" algn="ctr">
              <a:buNone/>
            </a:pPr>
            <a:r>
              <a:rPr lang="en-US" sz="1100" b="1" dirty="0">
                <a:solidFill>
                  <a:srgbClr val="C9A84C"/>
                </a:solidFill>
                <a:latin typeface="Times New Roman" pitchFamily="34" charset="0"/>
              </a:rPr>
              <a:t>Jirga / TTP</a:t>
            </a:r>
            <a:endParaRPr lang="en-US" sz="1100" dirty="0"/>
          </a:p>
        </p:txBody>
      </p:sp>
      <p:sp>
        <p:nvSpPr>
          <p:cNvPr id="53" name="H2"/>
          <p:cNvSpPr/>
          <p:nvPr/>
        </p:nvSpPr>
        <p:spPr>
          <a:xfrm>
            <a:off x="7710720" y="1411560"/>
            <a:ext cx="1150000" cy="350000"/>
          </a:xfrm>
          <a:prstGeom prst="rect">
            <a:avLst/>
          </a:prstGeom>
          <a:solidFill>
            <a:srgbClr val="B85042"/>
          </a:solidFill>
          <a:ln w="12700">
            <a:solidFill>
              <a:srgbClr val="C9A84C"/>
            </a:solidFill>
            <a:prstDash val="solid"/>
          </a:ln>
        </p:spPr>
        <p:txBody>
          <a:bodyPr wrap="square" lIns="45720" tIns="45720" rIns="45720" bIns="45720" rtlCol="0" anchor="ctr"/>
          <a:lstStyle/>
          <a:p>
            <a:pPr marL="0" indent="0" algn="ctr">
              <a:buNone/>
            </a:pPr>
            <a:r>
              <a:rPr lang="en-US" sz="1100" b="1" dirty="0">
                <a:solidFill>
                  <a:srgbClr val="C9A84C"/>
                </a:solidFill>
                <a:latin typeface="Times New Roman" pitchFamily="34" charset="0"/>
              </a:rPr>
              <a:t>State Court</a:t>
            </a:r>
            <a:endParaRPr lang="en-US" sz="1100" dirty="0"/>
          </a:p>
        </p:txBody>
      </p:sp>
      <p:sp>
        <p:nvSpPr>
          <p:cNvPr id="54" name="R0C0"/>
          <p:cNvSpPr/>
          <p:nvPr/>
        </p:nvSpPr>
        <p:spPr>
          <a:xfrm>
            <a:off x="5810720" y="1761560"/>
            <a:ext cx="580000" cy="420000"/>
          </a:xfrm>
          <a:prstGeom prst="rect">
            <a:avLst/>
          </a:prstGeom>
          <a:solidFill>
            <a:srgbClr val="283040"/>
          </a:solidFill>
          <a:ln w="9525">
            <a:solidFill>
              <a:srgbClr val="3D4A5C"/>
            </a:solidFill>
            <a:prstDash val="solid"/>
          </a:ln>
        </p:spPr>
        <p:txBody>
          <a:bodyPr wrap="square" lIns="45720" tIns="45720" rIns="45720" bIns="45720" rtlCol="0" anchor="ctr"/>
          <a:lstStyle/>
          <a:p>
            <a:pPr marL="0" indent="0" algn="ctr">
              <a:buNone/>
            </a:pPr>
            <a:r>
              <a:rPr lang="en-US" sz="950" dirty="0">
                <a:solidFill>
                  <a:srgbClr val="C9A84C"/>
                </a:solidFill>
                <a:latin typeface="Times New Roman" pitchFamily="34" charset="0"/>
              </a:rPr>
              <a:t>Language</a:t>
            </a:r>
            <a:endParaRPr lang="en-US" sz="950" dirty="0"/>
          </a:p>
        </p:txBody>
      </p:sp>
      <p:sp>
        <p:nvSpPr>
          <p:cNvPr id="55" name="R0C1"/>
          <p:cNvSpPr/>
          <p:nvPr/>
        </p:nvSpPr>
        <p:spPr>
          <a:xfrm>
            <a:off x="6410720" y="1761560"/>
            <a:ext cx="1250000" cy="420000"/>
          </a:xfrm>
          <a:prstGeom prst="rect">
            <a:avLst/>
          </a:prstGeom>
          <a:solidFill>
            <a:srgbClr val="283040"/>
          </a:solidFill>
          <a:ln w="9525">
            <a:solidFill>
              <a:srgbClr val="3D4A5C"/>
            </a:solidFill>
            <a:prstDash val="solid"/>
          </a:ln>
        </p:spPr>
        <p:txBody>
          <a:bodyPr wrap="square" lIns="45720" tIns="45720" rIns="45720" bIns="45720" rtlCol="0" anchor="ctr"/>
          <a:lstStyle/>
          <a:p>
            <a:pPr marL="0" indent="0" algn="ctr">
              <a:buNone/>
            </a:pPr>
            <a:r>
              <a:rPr lang="en-US" sz="950" dirty="0">
                <a:solidFill>
                  <a:srgbClr val="A8D5B5"/>
                </a:solidFill>
                <a:latin typeface="Times New Roman" pitchFamily="34" charset="0"/>
              </a:rPr>
              <a:t>Local/Oral</a:t>
            </a:r>
            <a:endParaRPr lang="en-US" sz="950" dirty="0"/>
          </a:p>
        </p:txBody>
      </p:sp>
      <p:sp>
        <p:nvSpPr>
          <p:cNvPr id="56" name="R0C2"/>
          <p:cNvSpPr/>
          <p:nvPr/>
        </p:nvSpPr>
        <p:spPr>
          <a:xfrm>
            <a:off x="7710720" y="1761560"/>
            <a:ext cx="1150000" cy="420000"/>
          </a:xfrm>
          <a:prstGeom prst="rect">
            <a:avLst/>
          </a:prstGeom>
          <a:solidFill>
            <a:srgbClr val="283040"/>
          </a:solidFill>
          <a:ln w="9525">
            <a:solidFill>
              <a:srgbClr val="3D4A5C"/>
            </a:solidFill>
            <a:prstDash val="solid"/>
          </a:ln>
        </p:spPr>
        <p:txBody>
          <a:bodyPr wrap="square" lIns="45720" tIns="45720" rIns="45720" bIns="45720" rtlCol="0" anchor="ctr"/>
          <a:lstStyle/>
          <a:p>
            <a:pPr marL="0" indent="0" algn="ctr">
              <a:buNone/>
            </a:pPr>
            <a:r>
              <a:rPr lang="en-US" sz="950" dirty="0">
                <a:solidFill>
                  <a:srgbClr val="F4A0A0"/>
                </a:solidFill>
                <a:latin typeface="Times New Roman" pitchFamily="34" charset="0"/>
              </a:rPr>
              <a:t>English</a:t>
            </a:r>
            <a:endParaRPr lang="en-US" sz="950" dirty="0"/>
          </a:p>
        </p:txBody>
      </p:sp>
      <p:sp>
        <p:nvSpPr>
          <p:cNvPr id="57" name="R1C0"/>
          <p:cNvSpPr/>
          <p:nvPr/>
        </p:nvSpPr>
        <p:spPr>
          <a:xfrm>
            <a:off x="5810720" y="2211560"/>
            <a:ext cx="580000" cy="420000"/>
          </a:xfrm>
          <a:prstGeom prst="rect">
            <a:avLst/>
          </a:prstGeom>
          <a:solidFill>
            <a:srgbClr val="1E2530"/>
          </a:solidFill>
          <a:ln w="9525">
            <a:solidFill>
              <a:srgbClr val="3D4A5C"/>
            </a:solidFill>
            <a:prstDash val="solid"/>
          </a:ln>
        </p:spPr>
        <p:txBody>
          <a:bodyPr wrap="square" lIns="45720" tIns="45720" rIns="45720" bIns="45720" rtlCol="0" anchor="ctr"/>
          <a:lstStyle/>
          <a:p>
            <a:pPr marL="0" indent="0" algn="ctr">
              <a:buNone/>
            </a:pPr>
            <a:r>
              <a:rPr lang="en-US" sz="950" dirty="0">
                <a:solidFill>
                  <a:srgbClr val="C9A84C"/>
                </a:solidFill>
                <a:latin typeface="Times New Roman" pitchFamily="34" charset="0"/>
              </a:rPr>
              <a:t>Time</a:t>
            </a:r>
            <a:endParaRPr lang="en-US" sz="950" dirty="0"/>
          </a:p>
        </p:txBody>
      </p:sp>
      <p:sp>
        <p:nvSpPr>
          <p:cNvPr id="58" name="R1C1"/>
          <p:cNvSpPr/>
          <p:nvPr/>
        </p:nvSpPr>
        <p:spPr>
          <a:xfrm>
            <a:off x="6410720" y="2211560"/>
            <a:ext cx="1250000" cy="420000"/>
          </a:xfrm>
          <a:prstGeom prst="rect">
            <a:avLst/>
          </a:prstGeom>
          <a:solidFill>
            <a:srgbClr val="1E2530"/>
          </a:solidFill>
          <a:ln w="9525">
            <a:solidFill>
              <a:srgbClr val="3D4A5C"/>
            </a:solidFill>
            <a:prstDash val="solid"/>
          </a:ln>
        </p:spPr>
        <p:txBody>
          <a:bodyPr wrap="square" lIns="45720" tIns="45720" rIns="45720" bIns="45720" rtlCol="0" anchor="ctr"/>
          <a:lstStyle/>
          <a:p>
            <a:pPr marL="0" indent="0" algn="ctr">
              <a:buNone/>
            </a:pPr>
            <a:r>
              <a:rPr lang="en-US" sz="950" dirty="0">
                <a:solidFill>
                  <a:srgbClr val="A8D5B5"/>
                </a:solidFill>
                <a:latin typeface="Times New Roman" pitchFamily="34" charset="0"/>
              </a:rPr>
              <a:t>Hours</a:t>
            </a:r>
            <a:endParaRPr lang="en-US" sz="950" dirty="0"/>
          </a:p>
        </p:txBody>
      </p:sp>
      <p:sp>
        <p:nvSpPr>
          <p:cNvPr id="59" name="R1C2"/>
          <p:cNvSpPr/>
          <p:nvPr/>
        </p:nvSpPr>
        <p:spPr>
          <a:xfrm>
            <a:off x="7710720" y="2211560"/>
            <a:ext cx="1150000" cy="420000"/>
          </a:xfrm>
          <a:prstGeom prst="rect">
            <a:avLst/>
          </a:prstGeom>
          <a:solidFill>
            <a:srgbClr val="1E2530"/>
          </a:solidFill>
          <a:ln w="9525">
            <a:solidFill>
              <a:srgbClr val="3D4A5C"/>
            </a:solidFill>
            <a:prstDash val="solid"/>
          </a:ln>
        </p:spPr>
        <p:txBody>
          <a:bodyPr wrap="square" lIns="45720" tIns="45720" rIns="45720" bIns="45720" rtlCol="0" anchor="ctr"/>
          <a:lstStyle/>
          <a:p>
            <a:pPr marL="0" indent="0" algn="ctr">
              <a:buNone/>
            </a:pPr>
            <a:r>
              <a:rPr lang="en-US" sz="950" dirty="0">
                <a:solidFill>
                  <a:srgbClr val="F4A0A0"/>
                </a:solidFill>
                <a:latin typeface="Times New Roman" pitchFamily="34" charset="0"/>
              </a:rPr>
              <a:t>Years</a:t>
            </a:r>
            <a:endParaRPr lang="en-US" sz="950" dirty="0"/>
          </a:p>
        </p:txBody>
      </p:sp>
      <p:sp>
        <p:nvSpPr>
          <p:cNvPr id="60" name="R2C0"/>
          <p:cNvSpPr/>
          <p:nvPr/>
        </p:nvSpPr>
        <p:spPr>
          <a:xfrm>
            <a:off x="5810720" y="2661560"/>
            <a:ext cx="580000" cy="420000"/>
          </a:xfrm>
          <a:prstGeom prst="rect">
            <a:avLst/>
          </a:prstGeom>
          <a:solidFill>
            <a:srgbClr val="283040"/>
          </a:solidFill>
          <a:ln w="9525">
            <a:solidFill>
              <a:srgbClr val="3D4A5C"/>
            </a:solidFill>
            <a:prstDash val="solid"/>
          </a:ln>
        </p:spPr>
        <p:txBody>
          <a:bodyPr wrap="square" lIns="45720" tIns="45720" rIns="45720" bIns="45720" rtlCol="0" anchor="ctr"/>
          <a:lstStyle/>
          <a:p>
            <a:pPr marL="0" indent="0" algn="ctr">
              <a:buNone/>
            </a:pPr>
            <a:r>
              <a:rPr lang="en-US" sz="950" dirty="0">
                <a:solidFill>
                  <a:srgbClr val="C9A84C"/>
                </a:solidFill>
                <a:latin typeface="Times New Roman" pitchFamily="34" charset="0"/>
              </a:rPr>
              <a:t>Cost</a:t>
            </a:r>
            <a:endParaRPr lang="en-US" sz="950" dirty="0"/>
          </a:p>
        </p:txBody>
      </p:sp>
      <p:sp>
        <p:nvSpPr>
          <p:cNvPr id="61" name="R2C1"/>
          <p:cNvSpPr/>
          <p:nvPr/>
        </p:nvSpPr>
        <p:spPr>
          <a:xfrm>
            <a:off x="6410720" y="2661560"/>
            <a:ext cx="1250000" cy="420000"/>
          </a:xfrm>
          <a:prstGeom prst="rect">
            <a:avLst/>
          </a:prstGeom>
          <a:solidFill>
            <a:srgbClr val="283040"/>
          </a:solidFill>
          <a:ln w="9525">
            <a:solidFill>
              <a:srgbClr val="3D4A5C"/>
            </a:solidFill>
            <a:prstDash val="solid"/>
          </a:ln>
        </p:spPr>
        <p:txBody>
          <a:bodyPr wrap="square" lIns="45720" tIns="45720" rIns="45720" bIns="45720" rtlCol="0" anchor="ctr"/>
          <a:lstStyle/>
          <a:p>
            <a:pPr marL="0" indent="0" algn="ctr">
              <a:buNone/>
            </a:pPr>
            <a:r>
              <a:rPr lang="en-US" sz="950" dirty="0">
                <a:solidFill>
                  <a:srgbClr val="A8D5B5"/>
                </a:solidFill>
                <a:latin typeface="Times New Roman" pitchFamily="34" charset="0"/>
              </a:rPr>
              <a:t>Free</a:t>
            </a:r>
            <a:endParaRPr lang="en-US" sz="950" dirty="0"/>
          </a:p>
        </p:txBody>
      </p:sp>
      <p:sp>
        <p:nvSpPr>
          <p:cNvPr id="62" name="R2C2"/>
          <p:cNvSpPr/>
          <p:nvPr/>
        </p:nvSpPr>
        <p:spPr>
          <a:xfrm>
            <a:off x="7710720" y="2661560"/>
            <a:ext cx="1150000" cy="420000"/>
          </a:xfrm>
          <a:prstGeom prst="rect">
            <a:avLst/>
          </a:prstGeom>
          <a:solidFill>
            <a:srgbClr val="283040"/>
          </a:solidFill>
          <a:ln w="9525">
            <a:solidFill>
              <a:srgbClr val="3D4A5C"/>
            </a:solidFill>
            <a:prstDash val="solid"/>
          </a:ln>
        </p:spPr>
        <p:txBody>
          <a:bodyPr wrap="square" lIns="45720" tIns="45720" rIns="45720" bIns="45720" rtlCol="0" anchor="ctr"/>
          <a:lstStyle/>
          <a:p>
            <a:pPr marL="0" indent="0" algn="ctr">
              <a:buNone/>
            </a:pPr>
            <a:r>
              <a:rPr lang="en-US" sz="950" dirty="0">
                <a:solidFill>
                  <a:srgbClr val="F4A0A0"/>
                </a:solidFill>
                <a:latin typeface="Times New Roman" pitchFamily="34" charset="0"/>
              </a:rPr>
              <a:t>Costly</a:t>
            </a:r>
            <a:endParaRPr lang="en-US" sz="950" dirty="0"/>
          </a:p>
        </p:txBody>
      </p:sp>
      <p:sp>
        <p:nvSpPr>
          <p:cNvPr id="63" name="R3C0"/>
          <p:cNvSpPr/>
          <p:nvPr/>
        </p:nvSpPr>
        <p:spPr>
          <a:xfrm>
            <a:off x="5810720" y="3111560"/>
            <a:ext cx="580000" cy="420000"/>
          </a:xfrm>
          <a:prstGeom prst="rect">
            <a:avLst/>
          </a:prstGeom>
          <a:solidFill>
            <a:srgbClr val="1E2530"/>
          </a:solidFill>
          <a:ln w="9525">
            <a:solidFill>
              <a:srgbClr val="3D4A5C"/>
            </a:solidFill>
            <a:prstDash val="solid"/>
          </a:ln>
        </p:spPr>
        <p:txBody>
          <a:bodyPr wrap="square" lIns="45720" tIns="45720" rIns="45720" bIns="45720" rtlCol="0" anchor="ctr"/>
          <a:lstStyle/>
          <a:p>
            <a:pPr marL="0" indent="0" algn="ctr">
              <a:buNone/>
            </a:pPr>
            <a:r>
              <a:rPr lang="en-US" sz="950" dirty="0">
                <a:solidFill>
                  <a:srgbClr val="C9A84C"/>
                </a:solidFill>
                <a:latin typeface="Times New Roman" pitchFamily="34" charset="0"/>
              </a:rPr>
              <a:t>Fairness</a:t>
            </a:r>
            <a:endParaRPr lang="en-US" sz="950" dirty="0"/>
          </a:p>
        </p:txBody>
      </p:sp>
      <p:sp>
        <p:nvSpPr>
          <p:cNvPr id="64" name="R3C1"/>
          <p:cNvSpPr/>
          <p:nvPr/>
        </p:nvSpPr>
        <p:spPr>
          <a:xfrm>
            <a:off x="6410720" y="3111560"/>
            <a:ext cx="1250000" cy="420000"/>
          </a:xfrm>
          <a:prstGeom prst="rect">
            <a:avLst/>
          </a:prstGeom>
          <a:solidFill>
            <a:srgbClr val="1E2530"/>
          </a:solidFill>
          <a:ln w="9525">
            <a:solidFill>
              <a:srgbClr val="3D4A5C"/>
            </a:solidFill>
            <a:prstDash val="solid"/>
          </a:ln>
        </p:spPr>
        <p:txBody>
          <a:bodyPr wrap="square" lIns="45720" tIns="45720" rIns="45720" bIns="45720" rtlCol="0" anchor="ctr"/>
          <a:lstStyle/>
          <a:p>
            <a:pPr marL="0" indent="0" algn="ctr">
              <a:buNone/>
            </a:pPr>
            <a:r>
              <a:rPr lang="en-US" sz="950" dirty="0">
                <a:solidFill>
                  <a:srgbClr val="A8D5B5"/>
                </a:solidFill>
                <a:latin typeface="Times New Roman" pitchFamily="34" charset="0"/>
              </a:rPr>
              <a:t>Trusted</a:t>
            </a:r>
            <a:endParaRPr lang="en-US" sz="950" dirty="0"/>
          </a:p>
        </p:txBody>
      </p:sp>
      <p:sp>
        <p:nvSpPr>
          <p:cNvPr id="65" name="R3C2"/>
          <p:cNvSpPr/>
          <p:nvPr/>
        </p:nvSpPr>
        <p:spPr>
          <a:xfrm>
            <a:off x="7710720" y="3111560"/>
            <a:ext cx="1150000" cy="420000"/>
          </a:xfrm>
          <a:prstGeom prst="rect">
            <a:avLst/>
          </a:prstGeom>
          <a:solidFill>
            <a:srgbClr val="1E2530"/>
          </a:solidFill>
          <a:ln w="9525">
            <a:solidFill>
              <a:srgbClr val="3D4A5C"/>
            </a:solidFill>
            <a:prstDash val="solid"/>
          </a:ln>
        </p:spPr>
        <p:txBody>
          <a:bodyPr wrap="square" lIns="45720" tIns="45720" rIns="45720" bIns="45720" rtlCol="0" anchor="ctr"/>
          <a:lstStyle/>
          <a:p>
            <a:pPr marL="0" indent="0" algn="ctr">
              <a:buNone/>
            </a:pPr>
            <a:r>
              <a:rPr lang="en-US" sz="950" dirty="0">
                <a:solidFill>
                  <a:srgbClr val="F4A0A0"/>
                </a:solidFill>
                <a:latin typeface="Times New Roman" pitchFamily="34" charset="0"/>
              </a:rPr>
              <a:t>Doubted</a:t>
            </a:r>
            <a:endParaRPr lang="en-US" sz="950" dirty="0"/>
          </a:p>
        </p:txBody>
      </p:sp>
      <p:sp>
        <p:nvSpPr>
          <p:cNvPr id="66" name="R4C0"/>
          <p:cNvSpPr/>
          <p:nvPr/>
        </p:nvSpPr>
        <p:spPr>
          <a:xfrm>
            <a:off x="5810720" y="3561560"/>
            <a:ext cx="580000" cy="420000"/>
          </a:xfrm>
          <a:prstGeom prst="rect">
            <a:avLst/>
          </a:prstGeom>
          <a:solidFill>
            <a:srgbClr val="283040"/>
          </a:solidFill>
          <a:ln w="9525">
            <a:solidFill>
              <a:srgbClr val="3D4A5C"/>
            </a:solidFill>
            <a:prstDash val="solid"/>
          </a:ln>
        </p:spPr>
        <p:txBody>
          <a:bodyPr wrap="square" lIns="45720" tIns="45720" rIns="45720" bIns="45720" rtlCol="0" anchor="ctr"/>
          <a:lstStyle/>
          <a:p>
            <a:pPr marL="0" indent="0" algn="ctr">
              <a:buNone/>
            </a:pPr>
            <a:r>
              <a:rPr lang="en-US" sz="950" dirty="0">
                <a:solidFill>
                  <a:srgbClr val="C9A84C"/>
                </a:solidFill>
                <a:latin typeface="Times New Roman" pitchFamily="34" charset="0"/>
              </a:rPr>
              <a:t>Literacy</a:t>
            </a:r>
            <a:endParaRPr lang="en-US" sz="950" dirty="0"/>
          </a:p>
        </p:txBody>
      </p:sp>
      <p:sp>
        <p:nvSpPr>
          <p:cNvPr id="67" name="R4C1"/>
          <p:cNvSpPr/>
          <p:nvPr/>
        </p:nvSpPr>
        <p:spPr>
          <a:xfrm>
            <a:off x="6410720" y="3561560"/>
            <a:ext cx="1250000" cy="420000"/>
          </a:xfrm>
          <a:prstGeom prst="rect">
            <a:avLst/>
          </a:prstGeom>
          <a:solidFill>
            <a:srgbClr val="283040"/>
          </a:solidFill>
          <a:ln w="9525">
            <a:solidFill>
              <a:srgbClr val="3D4A5C"/>
            </a:solidFill>
            <a:prstDash val="solid"/>
          </a:ln>
        </p:spPr>
        <p:txBody>
          <a:bodyPr wrap="square" lIns="45720" tIns="45720" rIns="45720" bIns="45720" rtlCol="0" anchor="ctr"/>
          <a:lstStyle/>
          <a:p>
            <a:pPr marL="0" indent="0" algn="ctr">
              <a:buNone/>
            </a:pPr>
            <a:r>
              <a:rPr lang="en-US" sz="950" dirty="0">
                <a:solidFill>
                  <a:srgbClr val="A8D5B5"/>
                </a:solidFill>
                <a:latin typeface="Times New Roman" pitchFamily="34" charset="0"/>
              </a:rPr>
              <a:t>None needed</a:t>
            </a:r>
            <a:endParaRPr lang="en-US" sz="950" dirty="0"/>
          </a:p>
        </p:txBody>
      </p:sp>
      <p:sp>
        <p:nvSpPr>
          <p:cNvPr id="68" name="R4C2"/>
          <p:cNvSpPr/>
          <p:nvPr/>
        </p:nvSpPr>
        <p:spPr>
          <a:xfrm>
            <a:off x="7710720" y="3561560"/>
            <a:ext cx="1150000" cy="420000"/>
          </a:xfrm>
          <a:prstGeom prst="rect">
            <a:avLst/>
          </a:prstGeom>
          <a:solidFill>
            <a:srgbClr val="283040"/>
          </a:solidFill>
          <a:ln w="9525">
            <a:solidFill>
              <a:srgbClr val="3D4A5C"/>
            </a:solidFill>
            <a:prstDash val="solid"/>
          </a:ln>
        </p:spPr>
        <p:txBody>
          <a:bodyPr wrap="square" lIns="45720" tIns="45720" rIns="45720" bIns="45720" rtlCol="0" anchor="ctr"/>
          <a:lstStyle/>
          <a:p>
            <a:pPr marL="0" indent="0" algn="ctr">
              <a:buNone/>
            </a:pPr>
            <a:r>
              <a:rPr lang="en-US" sz="950" dirty="0">
                <a:solidFill>
                  <a:srgbClr val="F4A0A0"/>
                </a:solidFill>
                <a:latin typeface="Times New Roman" pitchFamily="34" charset="0"/>
              </a:rPr>
              <a:t>Required</a:t>
            </a:r>
            <a:endParaRPr lang="en-US" sz="950" dirty="0"/>
          </a:p>
        </p:txBody>
      </p:sp>
      <p:sp>
        <p:nvSpPr>
          <p:cNvPr id="69" name="Caption"/>
          <p:cNvSpPr/>
          <p:nvPr/>
        </p:nvSpPr>
        <p:spPr>
          <a:xfrm>
            <a:off x="5810720" y="4387720"/>
            <a:ext cx="3054680" cy="180000"/>
          </a:xfrm>
          <a:prstGeom prst="rect">
            <a:avLst/>
          </a:prstGeom>
          <a:noFill/>
        </p:spPr>
        <p:txBody>
          <a:bodyPr wrap="square" lIns="45720" tIns="45720" rIns="45720" bIns="45720" rtlCol="0" anchor="ctr"/>
          <a:lstStyle/>
          <a:p>
            <a:pPr marL="0" indent="0" algn="ctr">
              <a:buNone/>
            </a:pPr>
            <a:r>
              <a:rPr lang="en-US" sz="1050" i="1" dirty="0">
                <a:solidFill>
                  <a:srgbClr val="C9A84C"/>
                </a:solidFill>
                <a:latin typeface="Times New Roman" pitchFamily="34" charset="0"/>
              </a:rPr>
              <a:t>Legitimacy is procedural, not ideological</a:t>
            </a:r>
            <a:endParaRPr lang="en-US" sz="1050" dirty="0"/>
          </a:p>
        </p:txBody>
      </p:sp>
      <p:sp>
        <p:nvSpPr>
          <p:cNvPr id="9900" name="SlideNum_7"/>
          <p:cNvSpPr txBox="1"/>
          <p:nvPr/>
        </p:nvSpPr>
        <p:spPr>
          <a:xfrm>
            <a:off x="8229600" y="4953500"/>
            <a:ext cx="685800" cy="190000"/>
          </a:xfrm>
          <a:prstGeom prst="rect">
            <a:avLst/>
          </a:prstGeom>
          <a:noFill/>
        </p:spPr>
        <p:txBody>
          <a:bodyPr wrap="square" rtlCol="0"/>
          <a:lstStyle/>
          <a:p>
            <a:pPr algn="r"/>
            <a:r>
              <a:rPr lang="en-US" sz="1050" b="0" dirty="0">
                <a:solidFill>
                  <a:srgbClr val="1A4731"/>
                </a:solidFill>
              </a:rPr>
              <a:t>7 / 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256032"/>
            <a:ext cx="8686800" cy="640080"/>
          </a:xfrm>
          <a:prstGeom prst="rect">
            <a:avLst/>
          </a:prstGeom>
          <a:noFill/>
          <a:ln/>
        </p:spPr>
        <p:txBody>
          <a:bodyPr wrap="square" lIns="0" tIns="0" rIns="0" bIns="0" rtlCol="0" anchor="ctr"/>
          <a:lstStyle/>
          <a:p>
            <a:pPr marL="0" indent="0" algn="l">
              <a:buNone/>
            </a:pPr>
            <a:r>
              <a:rPr lang="en-US" sz="3800" b="1" dirty="0">
                <a:solidFill>
                  <a:srgbClr val="1A4731"/>
                </a:solidFill>
                <a:latin typeface="Times New Roman" pitchFamily="34" charset="0"/>
                <a:ea typeface="Times New Roman" pitchFamily="34" charset="-122"/>
                <a:cs typeface="Times New Roman" pitchFamily="34" charset="-120"/>
              </a:rPr>
              <a:t>The Three Sunni Traditions of Pakistan</a:t>
            </a:r>
            <a:endParaRPr lang="en-US" sz="3800" dirty="0"/>
          </a:p>
        </p:txBody>
      </p:sp>
      <p:sp>
        <p:nvSpPr>
          <p:cNvPr id="3" name="Shape 1"/>
          <p:cNvSpPr/>
          <p:nvPr/>
        </p:nvSpPr>
        <p:spPr>
          <a:xfrm>
            <a:off x="228600" y="960120"/>
            <a:ext cx="8686800" cy="36576"/>
          </a:xfrm>
          <a:prstGeom prst="rect">
            <a:avLst/>
          </a:prstGeom>
          <a:solidFill>
            <a:srgbClr val="C9A84C"/>
          </a:solidFill>
          <a:ln w="12700">
            <a:solidFill>
              <a:srgbClr val="C9A84C"/>
            </a:solidFill>
            <a:prstDash val="solid"/>
          </a:ln>
        </p:spPr>
      </p:sp>
      <p:sp>
        <p:nvSpPr>
          <p:cNvPr id="5" name="Shape 3"/>
          <p:cNvSpPr/>
          <p:nvPr/>
        </p:nvSpPr>
        <p:spPr>
          <a:xfrm>
            <a:off x="256032" y="1051560"/>
            <a:ext cx="2743200" cy="3794760"/>
          </a:xfrm>
          <a:prstGeom prst="rect">
            <a:avLst/>
          </a:prstGeom>
          <a:solidFill>
            <a:schemeClr val="accent5">
              <a:lumMod val="50000"/>
            </a:schemeClr>
          </a:solidFill>
          <a:ln w="12700">
            <a:solidFill>
              <a:srgbClr val="002060"/>
            </a:solidFill>
            <a:prstDash val="solid"/>
          </a:ln>
          <a:effectLst>
            <a:outerShdw blurRad="76200" dist="25400" dir="8100000" algn="bl" rotWithShape="0">
              <a:srgbClr val="000000">
                <a:alpha val="15000"/>
              </a:srgbClr>
            </a:outerShdw>
          </a:effectLst>
        </p:spPr>
      </p:sp>
      <p:sp>
        <p:nvSpPr>
          <p:cNvPr id="6" name="Text 4"/>
          <p:cNvSpPr/>
          <p:nvPr/>
        </p:nvSpPr>
        <p:spPr>
          <a:xfrm>
            <a:off x="256032" y="1078992"/>
            <a:ext cx="2743200" cy="384048"/>
          </a:xfrm>
          <a:prstGeom prst="rect">
            <a:avLst/>
          </a:prstGeom>
          <a:noFill/>
          <a:ln/>
        </p:spPr>
        <p:txBody>
          <a:bodyPr wrap="square" lIns="0" tIns="0" rIns="0" bIns="0" rtlCol="0" anchor="ctr"/>
          <a:lstStyle/>
          <a:p>
            <a:pPr marL="0" indent="0" algn="ctr">
              <a:buNone/>
            </a:pPr>
            <a:r>
              <a:rPr lang="en-US" sz="1600" b="1" kern="0" spc="300" dirty="0">
                <a:solidFill>
                  <a:srgbClr val="C9A84C"/>
                </a:solidFill>
                <a:latin typeface="Times New Roman" pitchFamily="34" charset="0"/>
                <a:ea typeface="Times New Roman" pitchFamily="34" charset="-122"/>
                <a:cs typeface="Times New Roman" pitchFamily="34" charset="-120"/>
              </a:rPr>
              <a:t>BARELVI</a:t>
            </a:r>
            <a:endParaRPr lang="en-US" sz="1600" dirty="0"/>
          </a:p>
        </p:txBody>
      </p:sp>
      <p:sp>
        <p:nvSpPr>
          <p:cNvPr id="7" name="Shape 5"/>
          <p:cNvSpPr/>
          <p:nvPr/>
        </p:nvSpPr>
        <p:spPr>
          <a:xfrm>
            <a:off x="347472" y="1472184"/>
            <a:ext cx="2560320" cy="27432"/>
          </a:xfrm>
          <a:prstGeom prst="rect">
            <a:avLst/>
          </a:prstGeom>
          <a:solidFill>
            <a:srgbClr val="C9A84C"/>
          </a:solidFill>
          <a:ln w="12700">
            <a:solidFill>
              <a:srgbClr val="C9A84C"/>
            </a:solidFill>
            <a:prstDash val="solid"/>
          </a:ln>
        </p:spPr>
      </p:sp>
      <p:sp>
        <p:nvSpPr>
          <p:cNvPr id="8" name="Text 6"/>
          <p:cNvSpPr/>
          <p:nvPr/>
        </p:nvSpPr>
        <p:spPr>
          <a:xfrm>
            <a:off x="347472" y="1536192"/>
            <a:ext cx="2560320" cy="3200400"/>
          </a:xfrm>
          <a:prstGeom prst="rect">
            <a:avLst/>
          </a:prstGeom>
          <a:noFill/>
          <a:ln/>
        </p:spPr>
        <p:txBody>
          <a:bodyPr wrap="square" rtlCol="0" anchor="t"/>
          <a:lstStyle/>
          <a:p>
            <a:pPr marL="342900" indent="-342900">
              <a:spcAft>
                <a:spcPts val="500"/>
              </a:spcAft>
              <a:buSzPct val="100000"/>
              <a:buChar char="•"/>
            </a:pPr>
            <a:r>
              <a:rPr lang="en-US" sz="1400" dirty="0">
                <a:solidFill>
                  <a:srgbClr val="FFFFFF"/>
                </a:solidFill>
                <a:latin typeface="Times New Roman" pitchFamily="34" charset="0"/>
                <a:ea typeface="Times New Roman" pitchFamily="34" charset="-122"/>
                <a:cs typeface="Times New Roman" pitchFamily="34" charset="-120"/>
              </a:rPr>
              <a:t>Sufi-influenced</a:t>
            </a:r>
            <a:endParaRPr lang="en-US" sz="1400" dirty="0"/>
          </a:p>
          <a:p>
            <a:pPr marL="342900" indent="-342900">
              <a:spcAft>
                <a:spcPts val="500"/>
              </a:spcAft>
              <a:buSzPct val="100000"/>
              <a:buChar char="•"/>
            </a:pPr>
            <a:r>
              <a:rPr lang="en-US" sz="1400" dirty="0">
                <a:solidFill>
                  <a:srgbClr val="FFFFFF"/>
                </a:solidFill>
                <a:latin typeface="Times New Roman" pitchFamily="34" charset="0"/>
                <a:ea typeface="Times New Roman" pitchFamily="34" charset="-122"/>
                <a:cs typeface="Times New Roman" pitchFamily="34" charset="-120"/>
              </a:rPr>
              <a:t>Shrine veneration &amp; Pirs</a:t>
            </a:r>
            <a:endParaRPr lang="en-US" sz="1400" dirty="0"/>
          </a:p>
          <a:p>
            <a:pPr marL="342900" indent="-342900">
              <a:spcAft>
                <a:spcPts val="500"/>
              </a:spcAft>
              <a:buSzPct val="100000"/>
              <a:buChar char="•"/>
            </a:pPr>
            <a:r>
              <a:rPr lang="en-US" sz="1400" dirty="0">
                <a:solidFill>
                  <a:srgbClr val="FFFFFF"/>
                </a:solidFill>
                <a:latin typeface="Times New Roman" pitchFamily="34" charset="0"/>
                <a:ea typeface="Times New Roman" pitchFamily="34" charset="-122"/>
                <a:cs typeface="Times New Roman" pitchFamily="34" charset="-120"/>
              </a:rPr>
              <a:t>Emotional, devotional Islam</a:t>
            </a:r>
            <a:endParaRPr lang="en-US" sz="1400" dirty="0"/>
          </a:p>
          <a:p>
            <a:pPr marL="342900" indent="-342900">
              <a:spcAft>
                <a:spcPts val="500"/>
              </a:spcAft>
              <a:buSzPct val="100000"/>
              <a:buChar char="•"/>
            </a:pPr>
            <a:r>
              <a:rPr lang="en-US" sz="1400" dirty="0">
                <a:solidFill>
                  <a:srgbClr val="FFFFFF"/>
                </a:solidFill>
                <a:latin typeface="Times New Roman" pitchFamily="34" charset="0"/>
                <a:ea typeface="Times New Roman" pitchFamily="34" charset="-122"/>
                <a:cs typeface="Times New Roman" pitchFamily="34" charset="-120"/>
              </a:rPr>
              <a:t>Majority of Pakistani Muslims</a:t>
            </a:r>
            <a:endParaRPr lang="en-US" sz="1400" dirty="0"/>
          </a:p>
          <a:p>
            <a:pPr marL="342900" indent="-342900">
              <a:spcAft>
                <a:spcPts val="500"/>
              </a:spcAft>
              <a:buSzPct val="100000"/>
              <a:buChar char="•"/>
            </a:pPr>
            <a:r>
              <a:rPr lang="en-US" sz="1400" dirty="0">
                <a:solidFill>
                  <a:srgbClr val="FFFFFF"/>
                </a:solidFill>
                <a:latin typeface="Times New Roman" pitchFamily="34" charset="0"/>
                <a:ea typeface="Times New Roman" pitchFamily="34" charset="-122"/>
                <a:cs typeface="Times New Roman" pitchFamily="34" charset="-120"/>
              </a:rPr>
              <a:t>Tolerant of folk practices</a:t>
            </a:r>
            <a:endParaRPr lang="en-US" sz="1400" dirty="0"/>
          </a:p>
        </p:txBody>
      </p:sp>
      <p:sp>
        <p:nvSpPr>
          <p:cNvPr id="9" name="Shape 7"/>
          <p:cNvSpPr/>
          <p:nvPr/>
        </p:nvSpPr>
        <p:spPr>
          <a:xfrm>
            <a:off x="3273552" y="1051560"/>
            <a:ext cx="2743200" cy="3794760"/>
          </a:xfrm>
          <a:prstGeom prst="rect">
            <a:avLst/>
          </a:prstGeom>
          <a:solidFill>
            <a:schemeClr val="accent2">
              <a:lumMod val="50000"/>
            </a:schemeClr>
          </a:solidFill>
          <a:ln w="12700">
            <a:solidFill>
              <a:schemeClr val="accent2">
                <a:lumMod val="50000"/>
              </a:schemeClr>
            </a:solidFill>
            <a:prstDash val="solid"/>
          </a:ln>
          <a:effectLst>
            <a:outerShdw blurRad="76200" dist="25400" dir="8100000" algn="bl" rotWithShape="0">
              <a:srgbClr val="000000">
                <a:alpha val="15000"/>
              </a:srgbClr>
            </a:outerShdw>
          </a:effectLst>
        </p:spPr>
      </p:sp>
      <p:sp>
        <p:nvSpPr>
          <p:cNvPr id="10" name="Text 8"/>
          <p:cNvSpPr/>
          <p:nvPr/>
        </p:nvSpPr>
        <p:spPr>
          <a:xfrm>
            <a:off x="3273552" y="1078992"/>
            <a:ext cx="2743200" cy="384048"/>
          </a:xfrm>
          <a:prstGeom prst="rect">
            <a:avLst/>
          </a:prstGeom>
          <a:noFill/>
          <a:ln/>
        </p:spPr>
        <p:txBody>
          <a:bodyPr wrap="square" lIns="0" tIns="0" rIns="0" bIns="0" rtlCol="0" anchor="ctr"/>
          <a:lstStyle/>
          <a:p>
            <a:pPr marL="0" indent="0" algn="ctr">
              <a:buNone/>
            </a:pPr>
            <a:r>
              <a:rPr lang="en-US" sz="1600" b="1" kern="0" spc="300" dirty="0">
                <a:solidFill>
                  <a:srgbClr val="C9A84C"/>
                </a:solidFill>
                <a:latin typeface="Times New Roman" pitchFamily="34" charset="0"/>
                <a:ea typeface="Times New Roman" pitchFamily="34" charset="-122"/>
                <a:cs typeface="Times New Roman" pitchFamily="34" charset="-120"/>
              </a:rPr>
              <a:t>DEOBANDI</a:t>
            </a:r>
            <a:endParaRPr lang="en-US" sz="1600" dirty="0"/>
          </a:p>
        </p:txBody>
      </p:sp>
      <p:sp>
        <p:nvSpPr>
          <p:cNvPr id="11" name="Shape 9"/>
          <p:cNvSpPr/>
          <p:nvPr/>
        </p:nvSpPr>
        <p:spPr>
          <a:xfrm>
            <a:off x="3364992" y="1472184"/>
            <a:ext cx="2560320" cy="27432"/>
          </a:xfrm>
          <a:prstGeom prst="rect">
            <a:avLst/>
          </a:prstGeom>
          <a:solidFill>
            <a:srgbClr val="C9A84C"/>
          </a:solidFill>
          <a:ln w="12700">
            <a:solidFill>
              <a:srgbClr val="C9A84C"/>
            </a:solidFill>
            <a:prstDash val="solid"/>
          </a:ln>
        </p:spPr>
      </p:sp>
      <p:sp>
        <p:nvSpPr>
          <p:cNvPr id="12" name="Text 10"/>
          <p:cNvSpPr/>
          <p:nvPr/>
        </p:nvSpPr>
        <p:spPr>
          <a:xfrm>
            <a:off x="3364992" y="1536192"/>
            <a:ext cx="2560320" cy="3200400"/>
          </a:xfrm>
          <a:prstGeom prst="rect">
            <a:avLst/>
          </a:prstGeom>
          <a:noFill/>
          <a:ln/>
        </p:spPr>
        <p:txBody>
          <a:bodyPr wrap="square" rtlCol="0" anchor="t"/>
          <a:lstStyle/>
          <a:p>
            <a:pPr marL="342900" indent="-342900">
              <a:spcAft>
                <a:spcPts val="500"/>
              </a:spcAft>
              <a:buSzPct val="100000"/>
              <a:buChar char="•"/>
            </a:pPr>
            <a:r>
              <a:rPr lang="en-US" sz="1400" dirty="0">
                <a:solidFill>
                  <a:srgbClr val="FFFFFF"/>
                </a:solidFill>
                <a:latin typeface="Times New Roman" pitchFamily="34" charset="0"/>
                <a:ea typeface="Times New Roman" pitchFamily="34" charset="-122"/>
                <a:cs typeface="Times New Roman" pitchFamily="34" charset="-120"/>
              </a:rPr>
              <a:t>Strict scriptural focus</a:t>
            </a:r>
            <a:endParaRPr lang="en-US" sz="1400" dirty="0"/>
          </a:p>
          <a:p>
            <a:pPr marL="342900" indent="-342900">
              <a:spcAft>
                <a:spcPts val="500"/>
              </a:spcAft>
              <a:buSzPct val="100000"/>
              <a:buChar char="•"/>
            </a:pPr>
            <a:r>
              <a:rPr lang="en-US" sz="1400" dirty="0">
                <a:solidFill>
                  <a:srgbClr val="FFFFFF"/>
                </a:solidFill>
                <a:latin typeface="Times New Roman" pitchFamily="34" charset="0"/>
                <a:ea typeface="Times New Roman" pitchFamily="34" charset="-122"/>
                <a:cs typeface="Times New Roman" pitchFamily="34" charset="-120"/>
              </a:rPr>
              <a:t>Madrassah-based education</a:t>
            </a:r>
            <a:endParaRPr lang="en-US" sz="1400" dirty="0"/>
          </a:p>
          <a:p>
            <a:pPr marL="342900" indent="-342900">
              <a:spcAft>
                <a:spcPts val="500"/>
              </a:spcAft>
              <a:buSzPct val="100000"/>
              <a:buChar char="•"/>
            </a:pPr>
            <a:r>
              <a:rPr lang="en-US" sz="1400" dirty="0">
                <a:solidFill>
                  <a:srgbClr val="FFFFFF"/>
                </a:solidFill>
                <a:latin typeface="Times New Roman" pitchFamily="34" charset="0"/>
                <a:ea typeface="Times New Roman" pitchFamily="34" charset="-122"/>
                <a:cs typeface="Times New Roman" pitchFamily="34" charset="-120"/>
              </a:rPr>
              <a:t>Ideological origin of TTP</a:t>
            </a:r>
            <a:endParaRPr lang="en-US" sz="1400" dirty="0"/>
          </a:p>
          <a:p>
            <a:pPr marL="342900" indent="-342900">
              <a:spcAft>
                <a:spcPts val="500"/>
              </a:spcAft>
              <a:buSzPct val="100000"/>
              <a:buChar char="•"/>
            </a:pPr>
            <a:r>
              <a:rPr lang="en-US" sz="1400" dirty="0">
                <a:solidFill>
                  <a:srgbClr val="FFFFFF"/>
                </a:solidFill>
                <a:latin typeface="Times New Roman" pitchFamily="34" charset="0"/>
                <a:ea typeface="Times New Roman" pitchFamily="34" charset="-122"/>
                <a:cs typeface="Times New Roman" pitchFamily="34" charset="-120"/>
              </a:rPr>
              <a:t>Anti-shrine, anti-Sufi</a:t>
            </a:r>
            <a:endParaRPr lang="en-US" sz="1400" dirty="0"/>
          </a:p>
          <a:p>
            <a:pPr marL="342900" indent="-342900">
              <a:spcAft>
                <a:spcPts val="500"/>
              </a:spcAft>
              <a:buSzPct val="100000"/>
              <a:buChar char="•"/>
            </a:pPr>
            <a:r>
              <a:rPr lang="en-US" sz="1400" dirty="0">
                <a:solidFill>
                  <a:srgbClr val="FFFFFF"/>
                </a:solidFill>
                <a:latin typeface="Times New Roman" pitchFamily="34" charset="0"/>
                <a:ea typeface="Times New Roman" pitchFamily="34" charset="-122"/>
                <a:cs typeface="Times New Roman" pitchFamily="34" charset="-120"/>
              </a:rPr>
              <a:t>State-funded during Zia era</a:t>
            </a:r>
            <a:endParaRPr lang="en-US" sz="1400" dirty="0"/>
          </a:p>
        </p:txBody>
      </p:sp>
      <p:sp>
        <p:nvSpPr>
          <p:cNvPr id="13" name="Shape 11"/>
          <p:cNvSpPr/>
          <p:nvPr/>
        </p:nvSpPr>
        <p:spPr>
          <a:xfrm>
            <a:off x="6291072" y="1051560"/>
            <a:ext cx="2743200" cy="3794760"/>
          </a:xfrm>
          <a:prstGeom prst="rect">
            <a:avLst/>
          </a:prstGeom>
          <a:solidFill>
            <a:srgbClr val="2D6A4F"/>
          </a:solidFill>
          <a:ln w="12700">
            <a:solidFill>
              <a:srgbClr val="2D6A4F"/>
            </a:solidFill>
            <a:prstDash val="solid"/>
          </a:ln>
          <a:effectLst>
            <a:outerShdw blurRad="76200" dist="25400" dir="8100000" algn="bl" rotWithShape="0">
              <a:srgbClr val="000000">
                <a:alpha val="15000"/>
              </a:srgbClr>
            </a:outerShdw>
          </a:effectLst>
        </p:spPr>
      </p:sp>
      <p:sp>
        <p:nvSpPr>
          <p:cNvPr id="14" name="Text 12"/>
          <p:cNvSpPr/>
          <p:nvPr/>
        </p:nvSpPr>
        <p:spPr>
          <a:xfrm>
            <a:off x="6291072" y="1078992"/>
            <a:ext cx="2743200" cy="384048"/>
          </a:xfrm>
          <a:prstGeom prst="rect">
            <a:avLst/>
          </a:prstGeom>
          <a:noFill/>
          <a:ln/>
        </p:spPr>
        <p:txBody>
          <a:bodyPr wrap="square" lIns="0" tIns="0" rIns="0" bIns="0" rtlCol="0" anchor="ctr"/>
          <a:lstStyle/>
          <a:p>
            <a:pPr marL="0" indent="0" algn="ctr">
              <a:buNone/>
            </a:pPr>
            <a:r>
              <a:rPr lang="en-US" sz="1600" b="1" kern="0" spc="300" dirty="0">
                <a:solidFill>
                  <a:srgbClr val="C9A84C"/>
                </a:solidFill>
                <a:latin typeface="Times New Roman" pitchFamily="34" charset="0"/>
                <a:ea typeface="Times New Roman" pitchFamily="34" charset="-122"/>
                <a:cs typeface="Times New Roman" pitchFamily="34" charset="-120"/>
              </a:rPr>
              <a:t>AHL-E-HADITH</a:t>
            </a:r>
            <a:endParaRPr lang="en-US" sz="1600" dirty="0"/>
          </a:p>
        </p:txBody>
      </p:sp>
      <p:sp>
        <p:nvSpPr>
          <p:cNvPr id="15" name="Shape 13"/>
          <p:cNvSpPr/>
          <p:nvPr/>
        </p:nvSpPr>
        <p:spPr>
          <a:xfrm>
            <a:off x="6382512" y="1472184"/>
            <a:ext cx="2560320" cy="27432"/>
          </a:xfrm>
          <a:prstGeom prst="rect">
            <a:avLst/>
          </a:prstGeom>
          <a:solidFill>
            <a:srgbClr val="C9A84C"/>
          </a:solidFill>
          <a:ln w="12700">
            <a:solidFill>
              <a:srgbClr val="C9A84C"/>
            </a:solidFill>
            <a:prstDash val="solid"/>
          </a:ln>
        </p:spPr>
      </p:sp>
      <p:sp>
        <p:nvSpPr>
          <p:cNvPr id="16" name="Text 14"/>
          <p:cNvSpPr/>
          <p:nvPr/>
        </p:nvSpPr>
        <p:spPr>
          <a:xfrm>
            <a:off x="6382512" y="1536192"/>
            <a:ext cx="2560320" cy="3200400"/>
          </a:xfrm>
          <a:prstGeom prst="rect">
            <a:avLst/>
          </a:prstGeom>
          <a:noFill/>
          <a:ln/>
        </p:spPr>
        <p:txBody>
          <a:bodyPr wrap="square" rtlCol="0" anchor="t"/>
          <a:lstStyle/>
          <a:p>
            <a:pPr marL="342900" indent="-342900">
              <a:spcAft>
                <a:spcPts val="500"/>
              </a:spcAft>
              <a:buSzPct val="100000"/>
              <a:buChar char="•"/>
            </a:pPr>
            <a:r>
              <a:rPr lang="en-US" sz="1400" dirty="0">
                <a:solidFill>
                  <a:srgbClr val="FFFFFF"/>
                </a:solidFill>
                <a:latin typeface="Times New Roman" pitchFamily="34" charset="0"/>
                <a:ea typeface="Times New Roman" pitchFamily="34" charset="-122"/>
                <a:cs typeface="Times New Roman" pitchFamily="34" charset="-120"/>
              </a:rPr>
              <a:t>Wahhabi/Salafi influence</a:t>
            </a:r>
            <a:endParaRPr lang="en-US" sz="1400" dirty="0"/>
          </a:p>
          <a:p>
            <a:pPr marL="342900" indent="-342900">
              <a:spcAft>
                <a:spcPts val="500"/>
              </a:spcAft>
              <a:buSzPct val="100000"/>
              <a:buChar char="•"/>
            </a:pPr>
            <a:r>
              <a:rPr lang="en-US" sz="1400" dirty="0">
                <a:solidFill>
                  <a:srgbClr val="FFFFFF"/>
                </a:solidFill>
                <a:latin typeface="Times New Roman" pitchFamily="34" charset="0"/>
                <a:ea typeface="Times New Roman" pitchFamily="34" charset="-122"/>
                <a:cs typeface="Times New Roman" pitchFamily="34" charset="-120"/>
              </a:rPr>
              <a:t>Saudi-funded network</a:t>
            </a:r>
            <a:endParaRPr lang="en-US" sz="1400" dirty="0"/>
          </a:p>
          <a:p>
            <a:pPr marL="342900" indent="-342900">
              <a:spcAft>
                <a:spcPts val="500"/>
              </a:spcAft>
              <a:buSzPct val="100000"/>
              <a:buChar char="•"/>
            </a:pPr>
            <a:r>
              <a:rPr lang="en-US" sz="1400" dirty="0">
                <a:solidFill>
                  <a:srgbClr val="FFFFFF"/>
                </a:solidFill>
                <a:latin typeface="Times New Roman" pitchFamily="34" charset="0"/>
                <a:ea typeface="Times New Roman" pitchFamily="34" charset="-122"/>
                <a:cs typeface="Times New Roman" pitchFamily="34" charset="-120"/>
              </a:rPr>
              <a:t>Most literalist tradition</a:t>
            </a:r>
            <a:endParaRPr lang="en-US" sz="1400" dirty="0"/>
          </a:p>
          <a:p>
            <a:pPr marL="342900" indent="-342900">
              <a:spcAft>
                <a:spcPts val="500"/>
              </a:spcAft>
              <a:buSzPct val="100000"/>
              <a:buChar char="•"/>
            </a:pPr>
            <a:r>
              <a:rPr lang="en-US" sz="1400" dirty="0">
                <a:solidFill>
                  <a:srgbClr val="FFFFFF"/>
                </a:solidFill>
                <a:latin typeface="Times New Roman" pitchFamily="34" charset="0"/>
                <a:ea typeface="Times New Roman" pitchFamily="34" charset="-122"/>
                <a:cs typeface="Times New Roman" pitchFamily="34" charset="-120"/>
              </a:rPr>
              <a:t>Growing urban presence</a:t>
            </a:r>
            <a:endParaRPr lang="en-US" sz="1400" dirty="0"/>
          </a:p>
          <a:p>
            <a:pPr marL="342900" indent="-342900">
              <a:spcAft>
                <a:spcPts val="500"/>
              </a:spcAft>
              <a:buSzPct val="100000"/>
              <a:buChar char="•"/>
            </a:pPr>
            <a:r>
              <a:rPr lang="en-US" sz="1400" dirty="0">
                <a:solidFill>
                  <a:srgbClr val="FFFFFF"/>
                </a:solidFill>
                <a:latin typeface="Times New Roman" pitchFamily="34" charset="0"/>
                <a:ea typeface="Times New Roman" pitchFamily="34" charset="-122"/>
                <a:cs typeface="Times New Roman" pitchFamily="34" charset="-120"/>
              </a:rPr>
              <a:t>LeJ / militant links</a:t>
            </a:r>
            <a:endParaRPr lang="en-US" sz="1400" dirty="0"/>
          </a:p>
        </p:txBody>
      </p:sp>
      <p:sp>
        <p:nvSpPr>
          <p:cNvPr id="9900" name="SlideNum_8"/>
          <p:cNvSpPr txBox="1"/>
          <p:nvPr/>
        </p:nvSpPr>
        <p:spPr>
          <a:xfrm>
            <a:off x="8229600" y="4953500"/>
            <a:ext cx="685800" cy="190000"/>
          </a:xfrm>
          <a:prstGeom prst="rect">
            <a:avLst/>
          </a:prstGeom>
          <a:noFill/>
        </p:spPr>
        <p:txBody>
          <a:bodyPr wrap="square" rtlCol="0"/>
          <a:lstStyle/>
          <a:p>
            <a:pPr algn="r"/>
            <a:r>
              <a:rPr lang="en-US" sz="900" b="0" dirty="0">
                <a:solidFill>
                  <a:srgbClr val="1A4731"/>
                </a:solidFill>
              </a:rPr>
              <a:t>8 / 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256032"/>
            <a:ext cx="8686800" cy="640080"/>
          </a:xfrm>
          <a:prstGeom prst="rect">
            <a:avLst/>
          </a:prstGeom>
          <a:noFill/>
          <a:ln/>
        </p:spPr>
        <p:txBody>
          <a:bodyPr wrap="square" lIns="0" tIns="0" rIns="0" bIns="0" rtlCol="0" anchor="ctr"/>
          <a:lstStyle/>
          <a:p>
            <a:pPr marL="0" indent="0" algn="l">
              <a:buNone/>
            </a:pPr>
            <a:r>
              <a:rPr lang="en-US" sz="3800" b="1" dirty="0">
                <a:solidFill>
                  <a:srgbClr val="1A4731"/>
                </a:solidFill>
                <a:latin typeface="Times New Roman" pitchFamily="34" charset="0"/>
                <a:ea typeface="Times New Roman" pitchFamily="34" charset="-122"/>
                <a:cs typeface="Times New Roman" pitchFamily="34" charset="-120"/>
              </a:rPr>
              <a:t>The Political Power of Sufi Shrines</a:t>
            </a:r>
            <a:endParaRPr lang="en-US" sz="3800" dirty="0"/>
          </a:p>
        </p:txBody>
      </p:sp>
      <p:sp>
        <p:nvSpPr>
          <p:cNvPr id="3" name="Shape 1"/>
          <p:cNvSpPr/>
          <p:nvPr/>
        </p:nvSpPr>
        <p:spPr>
          <a:xfrm>
            <a:off x="228600" y="960120"/>
            <a:ext cx="8686800" cy="36576"/>
          </a:xfrm>
          <a:prstGeom prst="rect">
            <a:avLst/>
          </a:prstGeom>
          <a:solidFill>
            <a:srgbClr val="C9A84C"/>
          </a:solidFill>
          <a:ln w="12700">
            <a:solidFill>
              <a:srgbClr val="C9A84C"/>
            </a:solidFill>
            <a:prstDash val="solid"/>
          </a:ln>
        </p:spPr>
      </p:sp>
      <p:sp>
        <p:nvSpPr>
          <p:cNvPr id="5" name="Text 3"/>
          <p:cNvSpPr/>
          <p:nvPr/>
        </p:nvSpPr>
        <p:spPr>
          <a:xfrm>
            <a:off x="274320" y="1051560"/>
            <a:ext cx="5349240" cy="3657600"/>
          </a:xfrm>
          <a:prstGeom prst="rect">
            <a:avLst/>
          </a:prstGeom>
          <a:noFill/>
          <a:ln/>
        </p:spPr>
        <p:txBody>
          <a:bodyPr wrap="square" lIns="91440" tIns="45720" rIns="91440" bIns="45720" rtlCol="0" anchor="t"/>
          <a:lstStyle/>
          <a:p>
            <a:pPr marL="342900" indent="-342900">
              <a:spcAft>
                <a:spcPts val="600"/>
              </a:spcAft>
              <a:buSzPct val="100000"/>
              <a:buChar char="•"/>
            </a:pPr>
            <a:r>
              <a:rPr lang="en-US" sz="1350" b="1" dirty="0" err="1">
                <a:solidFill>
                  <a:srgbClr val="1A1A1A"/>
                </a:solidFill>
                <a:latin typeface="Times New Roman"/>
                <a:ea typeface="Times New Roman" pitchFamily="34" charset="-122"/>
                <a:cs typeface="Times New Roman"/>
              </a:rPr>
              <a:t>Sajjada</a:t>
            </a:r>
            <a:r>
              <a:rPr lang="en-US" sz="1350" b="1" dirty="0">
                <a:solidFill>
                  <a:srgbClr val="1A1A1A"/>
                </a:solidFill>
                <a:latin typeface="Times New Roman"/>
                <a:ea typeface="Times New Roman" pitchFamily="34" charset="-122"/>
                <a:cs typeface="Times New Roman"/>
              </a:rPr>
              <a:t> </a:t>
            </a:r>
            <a:r>
              <a:rPr lang="en-US" sz="1350" b="1" dirty="0" err="1">
                <a:solidFill>
                  <a:srgbClr val="1A1A1A"/>
                </a:solidFill>
                <a:latin typeface="Times New Roman"/>
                <a:ea typeface="Times New Roman" pitchFamily="34" charset="-122"/>
                <a:cs typeface="Times New Roman"/>
              </a:rPr>
              <a:t>Nashins</a:t>
            </a:r>
            <a:r>
              <a:rPr lang="en-US" sz="1350" b="1" dirty="0">
                <a:solidFill>
                  <a:srgbClr val="1A1A1A"/>
                </a:solidFill>
                <a:latin typeface="Times New Roman"/>
                <a:ea typeface="Times New Roman" pitchFamily="34" charset="-122"/>
                <a:cs typeface="Times New Roman"/>
              </a:rPr>
              <a:t> &amp; Pirs: Hereditary custodians of Sufi shrines; 'Religious Feudal Lords'</a:t>
            </a:r>
            <a:endParaRPr lang="en-US" sz="1350" dirty="0">
              <a:latin typeface="Times New Roman"/>
              <a:ea typeface="Calibri" panose="020F0502020204030204"/>
              <a:cs typeface="Calibri" panose="020F0502020204030204"/>
            </a:endParaRPr>
          </a:p>
          <a:p>
            <a:pPr marL="508000" lvl="1" indent="-254000">
              <a:spcAft>
                <a:spcPts val="400"/>
              </a:spcAft>
              <a:buSzPct val="100000"/>
              <a:buChar char="•"/>
            </a:pPr>
            <a:r>
              <a:rPr lang="en-US" sz="1350" dirty="0">
                <a:solidFill>
                  <a:srgbClr val="3D4A5C"/>
                </a:solidFill>
                <a:latin typeface="Times New Roman" pitchFamily="34" charset="0"/>
                <a:ea typeface="Times New Roman" pitchFamily="34" charset="-122"/>
                <a:cs typeface="Times New Roman" pitchFamily="34" charset="-120"/>
              </a:rPr>
              <a:t>Their spiritual authority translates directly into political and economic power over shrine devotees</a:t>
            </a:r>
            <a:endParaRPr lang="en-US" sz="1350" dirty="0"/>
          </a:p>
          <a:p>
            <a:pPr marL="342900" indent="-342900">
              <a:spcAft>
                <a:spcPts val="600"/>
              </a:spcAft>
              <a:buSzPct val="100000"/>
              <a:buChar char="•"/>
            </a:pPr>
            <a:r>
              <a:rPr lang="en-US" sz="1350" b="1">
                <a:solidFill>
                  <a:srgbClr val="1A1A1A"/>
                </a:solidFill>
                <a:latin typeface="Times New Roman"/>
                <a:ea typeface="Times New Roman" pitchFamily="34" charset="-122"/>
                <a:cs typeface="Times New Roman"/>
              </a:rPr>
              <a:t>Electoral Influence: Pirs deliver votes as bloc; </a:t>
            </a:r>
            <a:r>
              <a:rPr lang="en-US" sz="1350" b="1" dirty="0">
                <a:solidFill>
                  <a:srgbClr val="1A1A1A"/>
                </a:solidFill>
                <a:latin typeface="Times New Roman"/>
                <a:ea typeface="Times New Roman" pitchFamily="34" charset="-122"/>
                <a:cs typeface="Times New Roman"/>
              </a:rPr>
              <a:t>shrine followers vote as instructed</a:t>
            </a:r>
            <a:endParaRPr lang="en-US" sz="1350" dirty="0">
              <a:latin typeface="Times New Roman"/>
              <a:ea typeface="Calibri" panose="020F0502020204030204"/>
              <a:cs typeface="Calibri" panose="020F0502020204030204"/>
            </a:endParaRPr>
          </a:p>
          <a:p>
            <a:pPr marL="508000" lvl="1" indent="-254000">
              <a:spcAft>
                <a:spcPts val="400"/>
              </a:spcAft>
              <a:buSzPct val="100000"/>
              <a:buChar char="•"/>
            </a:pPr>
            <a:r>
              <a:rPr lang="en-US" sz="1350" dirty="0">
                <a:solidFill>
                  <a:srgbClr val="3D4A5C"/>
                </a:solidFill>
                <a:latin typeface="Times New Roman" pitchFamily="34" charset="0"/>
                <a:ea typeface="Times New Roman" pitchFamily="34" charset="-122"/>
                <a:cs typeface="Times New Roman" pitchFamily="34" charset="-120"/>
              </a:rPr>
              <a:t>PPP alliance with shrine networks especially dominant in rural Sindh and South Punjab</a:t>
            </a:r>
            <a:endParaRPr lang="en-US" sz="1350" dirty="0"/>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South Punjab: Shrine-Politician Nexus</a:t>
            </a:r>
            <a:endParaRPr lang="en-US" sz="1350" dirty="0"/>
          </a:p>
          <a:p>
            <a:pPr marL="508000" lvl="1" indent="-254000">
              <a:spcAft>
                <a:spcPts val="400"/>
              </a:spcAft>
              <a:buSzPct val="100000"/>
              <a:buChar char="•"/>
            </a:pPr>
            <a:r>
              <a:rPr lang="en-US" sz="1350" dirty="0">
                <a:solidFill>
                  <a:srgbClr val="3D4A5C"/>
                </a:solidFill>
                <a:latin typeface="Times New Roman"/>
                <a:ea typeface="Times New Roman" pitchFamily="34" charset="-122"/>
                <a:cs typeface="Times New Roman"/>
              </a:rPr>
              <a:t>Families like the </a:t>
            </a:r>
            <a:r>
              <a:rPr lang="en-US" sz="1350" dirty="0" err="1">
                <a:solidFill>
                  <a:srgbClr val="3D4A5C"/>
                </a:solidFill>
                <a:latin typeface="Times New Roman"/>
                <a:ea typeface="Times New Roman" pitchFamily="34" charset="-122"/>
                <a:cs typeface="Times New Roman"/>
              </a:rPr>
              <a:t>Gilanis</a:t>
            </a:r>
            <a:r>
              <a:rPr lang="en-US" sz="1350" dirty="0">
                <a:solidFill>
                  <a:srgbClr val="3D4A5C"/>
                </a:solidFill>
                <a:latin typeface="Times New Roman"/>
                <a:ea typeface="Times New Roman" pitchFamily="34" charset="-122"/>
                <a:cs typeface="Times New Roman"/>
              </a:rPr>
              <a:t> (Multan) use shrine patronage to maintain parliamentary seats across generations</a:t>
            </a:r>
            <a:endParaRPr lang="en-US" sz="1350" dirty="0">
              <a:latin typeface="Times New Roman"/>
              <a:cs typeface="Times New Roman"/>
            </a:endParaRPr>
          </a:p>
          <a:p>
            <a:pPr marL="342900" indent="-342900">
              <a:spcAft>
                <a:spcPts val="600"/>
              </a:spcAft>
              <a:buSzPct val="100000"/>
              <a:buChar char="•"/>
            </a:pPr>
            <a:r>
              <a:rPr lang="en-US" sz="1350" b="1" dirty="0">
                <a:solidFill>
                  <a:srgbClr val="1A1A1A"/>
                </a:solidFill>
                <a:latin typeface="Times New Roman"/>
                <a:ea typeface="Times New Roman" pitchFamily="34" charset="-122"/>
                <a:cs typeface="Times New Roman"/>
              </a:rPr>
              <a:t>Economic Dimension: Shrines control land, donations (</a:t>
            </a:r>
            <a:r>
              <a:rPr lang="en-US" sz="1350" b="1" dirty="0" err="1">
                <a:solidFill>
                  <a:srgbClr val="1A1A1A"/>
                </a:solidFill>
                <a:latin typeface="Times New Roman"/>
                <a:ea typeface="Times New Roman" pitchFamily="34" charset="-122"/>
                <a:cs typeface="Times New Roman"/>
              </a:rPr>
              <a:t>nazrana</a:t>
            </a:r>
            <a:r>
              <a:rPr lang="en-US" sz="1350" b="1" dirty="0">
                <a:solidFill>
                  <a:srgbClr val="1A1A1A"/>
                </a:solidFill>
                <a:latin typeface="Times New Roman"/>
                <a:ea typeface="Times New Roman" pitchFamily="34" charset="-122"/>
                <a:cs typeface="Times New Roman"/>
              </a:rPr>
              <a:t>), and local dispute arbitration</a:t>
            </a:r>
            <a:endParaRPr lang="en-US" sz="1350" dirty="0">
              <a:latin typeface="Times New Roman"/>
              <a:cs typeface="Times New Roman"/>
            </a:endParaRPr>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Why This Matters: Religious reform and political modernization are inseparable challenges</a:t>
            </a:r>
            <a:endParaRPr lang="en-US" sz="1350" dirty="0"/>
          </a:p>
        </p:txBody>
      </p:sp>
      <p:sp>
        <p:nvSpPr>
          <p:cNvPr id="6" name="Shape 4"/>
          <p:cNvSpPr/>
          <p:nvPr/>
        </p:nvSpPr>
        <p:spPr>
          <a:xfrm>
            <a:off x="5760720" y="1051560"/>
            <a:ext cx="3154680" cy="3566160"/>
          </a:xfrm>
          <a:prstGeom prst="rect">
            <a:avLst/>
          </a:prstGeom>
          <a:solidFill>
            <a:srgbClr val="3D4A5C"/>
          </a:solidFill>
          <a:ln w="12700">
            <a:solidFill>
              <a:srgbClr val="6B7A8D"/>
            </a:solidFill>
            <a:prstDash val="solid"/>
          </a:ln>
        </p:spPr>
      </p:sp>
      <p:sp>
        <p:nvSpPr>
          <p:cNvPr id="50" name="SPTitle"/>
          <p:cNvSpPr/>
          <p:nvPr/>
        </p:nvSpPr>
        <p:spPr>
          <a:xfrm>
            <a:off x="5810720" y="1131560"/>
            <a:ext cx="3054680" cy="200000"/>
          </a:xfrm>
          <a:prstGeom prst="rect">
            <a:avLst/>
          </a:prstGeom>
          <a:noFill/>
        </p:spPr>
        <p:txBody>
          <a:bodyPr wrap="square" lIns="45720" tIns="45720" rIns="45720" bIns="45720" rtlCol="0" anchor="ctr"/>
          <a:lstStyle/>
          <a:p>
            <a:pPr marL="0" indent="0" algn="ctr">
              <a:buNone/>
            </a:pPr>
            <a:r>
              <a:rPr lang="en-US" sz="1100" b="1" dirty="0">
                <a:solidFill>
                  <a:srgbClr val="C9A84C"/>
                </a:solidFill>
                <a:latin typeface="Times New Roman" pitchFamily="34" charset="0"/>
              </a:rPr>
              <a:t>Two Visions of Pakistani Islam</a:t>
            </a:r>
            <a:endParaRPr lang="en-US" sz="1100" dirty="0"/>
          </a:p>
        </p:txBody>
      </p:sp>
      <p:sp>
        <p:nvSpPr>
          <p:cNvPr id="51" name="LeftBg"/>
          <p:cNvSpPr/>
          <p:nvPr/>
        </p:nvSpPr>
        <p:spPr>
          <a:xfrm>
            <a:off x="5810720" y="1401560"/>
            <a:ext cx="1502340" cy="3066160"/>
          </a:xfrm>
          <a:prstGeom prst="rect">
            <a:avLst/>
          </a:prstGeom>
          <a:solidFill>
            <a:srgbClr val="3B2160"/>
          </a:solidFill>
          <a:ln w="19050">
            <a:solidFill>
              <a:srgbClr val="C9A84C"/>
            </a:solidFill>
            <a:prstDash val="solid"/>
          </a:ln>
        </p:spPr>
      </p:sp>
      <p:sp>
        <p:nvSpPr>
          <p:cNvPr id="52" name="LeftIcon"/>
          <p:cNvSpPr/>
          <p:nvPr/>
        </p:nvSpPr>
        <p:spPr>
          <a:xfrm>
            <a:off x="6381890" y="1481560"/>
            <a:ext cx="360000" cy="360000"/>
          </a:xfrm>
          <a:prstGeom prst="rect">
            <a:avLst/>
          </a:prstGeom>
          <a:solidFill>
            <a:srgbClr val="6A3FA0"/>
          </a:solidFill>
          <a:ln w="19050">
            <a:solidFill>
              <a:srgbClr val="C9A84C"/>
            </a:solidFill>
            <a:prstDash val="solid"/>
          </a:ln>
        </p:spPr>
        <p:txBody>
          <a:bodyPr wrap="square" lIns="45720" tIns="45720" rIns="45720" bIns="45720" rtlCol="0" anchor="ctr"/>
          <a:lstStyle/>
          <a:p>
            <a:pPr marL="0" indent="0" algn="ctr">
              <a:buNone/>
            </a:pPr>
            <a:r>
              <a:rPr lang="en-US" sz="2200" dirty="0">
                <a:solidFill>
                  <a:srgbClr val="C9A84C"/>
                </a:solidFill>
                <a:latin typeface="Times New Roman" pitchFamily="34" charset="0"/>
              </a:rPr>
              <a:t>◆</a:t>
            </a:r>
            <a:endParaRPr lang="en-US" sz="2200" dirty="0"/>
          </a:p>
        </p:txBody>
      </p:sp>
      <p:sp>
        <p:nvSpPr>
          <p:cNvPr id="53" name="LeftTitle"/>
          <p:cNvSpPr/>
          <p:nvPr/>
        </p:nvSpPr>
        <p:spPr>
          <a:xfrm>
            <a:off x="5810720" y="1901560"/>
            <a:ext cx="1502340" cy="200000"/>
          </a:xfrm>
          <a:prstGeom prst="rect">
            <a:avLst/>
          </a:prstGeom>
          <a:noFill/>
        </p:spPr>
        <p:txBody>
          <a:bodyPr wrap="square" lIns="45720" tIns="45720" rIns="45720" bIns="45720" rtlCol="0" anchor="ctr"/>
          <a:lstStyle/>
          <a:p>
            <a:pPr marL="0" indent="0" algn="ctr">
              <a:buNone/>
            </a:pPr>
            <a:r>
              <a:rPr lang="en-US" sz="1200" b="1" dirty="0">
                <a:solidFill>
                  <a:srgbClr val="C9A84C"/>
                </a:solidFill>
                <a:latin typeface="Times New Roman" pitchFamily="34" charset="0"/>
              </a:rPr>
              <a:t>BARELVI</a:t>
            </a:r>
            <a:endParaRPr lang="en-US" sz="1200" dirty="0"/>
          </a:p>
        </p:txBody>
      </p:sp>
      <p:sp>
        <p:nvSpPr>
          <p:cNvPr id="54" name="LeftLine"/>
          <p:cNvSpPr/>
          <p:nvPr/>
        </p:nvSpPr>
        <p:spPr>
          <a:xfrm>
            <a:off x="5910720" y="2141560"/>
            <a:ext cx="1302340" cy="20000"/>
          </a:xfrm>
          <a:prstGeom prst="rect">
            <a:avLst/>
          </a:prstGeom>
          <a:solidFill>
            <a:srgbClr val="C9A84C"/>
          </a:solidFill>
        </p:spPr>
      </p:sp>
      <p:sp>
        <p:nvSpPr>
          <p:cNvPr id="55" name="BF0"/>
          <p:cNvSpPr/>
          <p:nvPr/>
        </p:nvSpPr>
        <p:spPr>
          <a:xfrm>
            <a:off x="5840720" y="2191560"/>
            <a:ext cx="1442340" cy="27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Sufi devotional</a:t>
            </a:r>
            <a:endParaRPr lang="en-US" sz="900" dirty="0"/>
          </a:p>
        </p:txBody>
      </p:sp>
      <p:sp>
        <p:nvSpPr>
          <p:cNvPr id="56" name="BF1"/>
          <p:cNvSpPr/>
          <p:nvPr/>
        </p:nvSpPr>
        <p:spPr>
          <a:xfrm>
            <a:off x="5840720" y="2501560"/>
            <a:ext cx="1442340" cy="27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Shrine veneration</a:t>
            </a:r>
            <a:endParaRPr lang="en-US" sz="900" dirty="0"/>
          </a:p>
        </p:txBody>
      </p:sp>
      <p:sp>
        <p:nvSpPr>
          <p:cNvPr id="57" name="BF2"/>
          <p:cNvSpPr/>
          <p:nvPr/>
        </p:nvSpPr>
        <p:spPr>
          <a:xfrm>
            <a:off x="5840720" y="2811560"/>
            <a:ext cx="1442340" cy="27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Majority Islam</a:t>
            </a:r>
            <a:endParaRPr lang="en-US" sz="900" dirty="0"/>
          </a:p>
        </p:txBody>
      </p:sp>
      <p:sp>
        <p:nvSpPr>
          <p:cNvPr id="58" name="BF3"/>
          <p:cNvSpPr/>
          <p:nvPr/>
        </p:nvSpPr>
        <p:spPr>
          <a:xfrm>
            <a:off x="5840720" y="3121560"/>
            <a:ext cx="1442340" cy="27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Tolerant of folk</a:t>
            </a:r>
            <a:endParaRPr lang="en-US" sz="900" dirty="0"/>
          </a:p>
        </p:txBody>
      </p:sp>
      <p:sp>
        <p:nvSpPr>
          <p:cNvPr id="59" name="BF4"/>
          <p:cNvSpPr/>
          <p:nvPr/>
        </p:nvSpPr>
        <p:spPr>
          <a:xfrm>
            <a:off x="5840720" y="3431560"/>
            <a:ext cx="1442340" cy="27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Pirs &amp; shrines</a:t>
            </a:r>
            <a:endParaRPr lang="en-US" sz="900" dirty="0"/>
          </a:p>
        </p:txBody>
      </p:sp>
      <p:sp>
        <p:nvSpPr>
          <p:cNvPr id="60" name="RightBg"/>
          <p:cNvSpPr/>
          <p:nvPr/>
        </p:nvSpPr>
        <p:spPr>
          <a:xfrm>
            <a:off x="7363060" y="1401560"/>
            <a:ext cx="1502340" cy="3066160"/>
          </a:xfrm>
          <a:prstGeom prst="rect">
            <a:avLst/>
          </a:prstGeom>
          <a:solidFill>
            <a:srgbClr val="3D1A1A"/>
          </a:solidFill>
          <a:ln w="19050">
            <a:solidFill>
              <a:srgbClr val="C9A84C"/>
            </a:solidFill>
            <a:prstDash val="solid"/>
          </a:ln>
        </p:spPr>
      </p:sp>
      <p:sp>
        <p:nvSpPr>
          <p:cNvPr id="61" name="RightIcon"/>
          <p:cNvSpPr/>
          <p:nvPr/>
        </p:nvSpPr>
        <p:spPr>
          <a:xfrm>
            <a:off x="7934230" y="1481560"/>
            <a:ext cx="360000" cy="360000"/>
          </a:xfrm>
          <a:prstGeom prst="rect">
            <a:avLst/>
          </a:prstGeom>
          <a:solidFill>
            <a:srgbClr val="8B2020"/>
          </a:solidFill>
          <a:ln w="19050">
            <a:solidFill>
              <a:srgbClr val="C9A84C"/>
            </a:solidFill>
            <a:prstDash val="solid"/>
          </a:ln>
        </p:spPr>
        <p:txBody>
          <a:bodyPr wrap="square" lIns="45720" tIns="45720" rIns="45720" bIns="45720" rtlCol="0" anchor="ctr"/>
          <a:lstStyle/>
          <a:p>
            <a:pPr marL="0" indent="0" algn="ctr">
              <a:buNone/>
            </a:pPr>
            <a:r>
              <a:rPr lang="en-US" sz="2200" dirty="0">
                <a:solidFill>
                  <a:srgbClr val="FFFFFF"/>
                </a:solidFill>
                <a:latin typeface="Times New Roman" pitchFamily="34" charset="0"/>
              </a:rPr>
              <a:t>✦</a:t>
            </a:r>
            <a:endParaRPr lang="en-US" sz="2200" dirty="0"/>
          </a:p>
        </p:txBody>
      </p:sp>
      <p:sp>
        <p:nvSpPr>
          <p:cNvPr id="62" name="RightTitle"/>
          <p:cNvSpPr/>
          <p:nvPr/>
        </p:nvSpPr>
        <p:spPr>
          <a:xfrm>
            <a:off x="7363060" y="1901560"/>
            <a:ext cx="1502340" cy="200000"/>
          </a:xfrm>
          <a:prstGeom prst="rect">
            <a:avLst/>
          </a:prstGeom>
          <a:noFill/>
        </p:spPr>
        <p:txBody>
          <a:bodyPr wrap="square" lIns="45720" tIns="45720" rIns="45720" bIns="45720" rtlCol="0" anchor="ctr"/>
          <a:lstStyle/>
          <a:p>
            <a:pPr marL="0" indent="0" algn="ctr">
              <a:buNone/>
            </a:pPr>
            <a:r>
              <a:rPr lang="en-US" sz="1200" b="1" dirty="0">
                <a:solidFill>
                  <a:srgbClr val="C9A84C"/>
                </a:solidFill>
                <a:latin typeface="Times New Roman" pitchFamily="34" charset="0"/>
              </a:rPr>
              <a:t>DEOBANDI</a:t>
            </a:r>
            <a:endParaRPr lang="en-US" sz="1200" dirty="0"/>
          </a:p>
        </p:txBody>
      </p:sp>
      <p:sp>
        <p:nvSpPr>
          <p:cNvPr id="63" name="RightLine"/>
          <p:cNvSpPr/>
          <p:nvPr/>
        </p:nvSpPr>
        <p:spPr>
          <a:xfrm>
            <a:off x="7463060" y="2141560"/>
            <a:ext cx="1302340" cy="20000"/>
          </a:xfrm>
          <a:prstGeom prst="rect">
            <a:avLst/>
          </a:prstGeom>
          <a:solidFill>
            <a:srgbClr val="B85042"/>
          </a:solidFill>
        </p:spPr>
      </p:sp>
      <p:sp>
        <p:nvSpPr>
          <p:cNvPr id="64" name="DF0"/>
          <p:cNvSpPr/>
          <p:nvPr/>
        </p:nvSpPr>
        <p:spPr>
          <a:xfrm>
            <a:off x="7393060" y="2191560"/>
            <a:ext cx="1442340" cy="27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Strict scripturalism</a:t>
            </a:r>
            <a:endParaRPr lang="en-US" sz="900" dirty="0"/>
          </a:p>
        </p:txBody>
      </p:sp>
      <p:sp>
        <p:nvSpPr>
          <p:cNvPr id="65" name="DF1"/>
          <p:cNvSpPr/>
          <p:nvPr/>
        </p:nvSpPr>
        <p:spPr>
          <a:xfrm>
            <a:off x="7393060" y="2501560"/>
            <a:ext cx="1442340" cy="27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Madrassah-based</a:t>
            </a:r>
            <a:endParaRPr lang="en-US" sz="900" dirty="0"/>
          </a:p>
        </p:txBody>
      </p:sp>
      <p:sp>
        <p:nvSpPr>
          <p:cNvPr id="66" name="DF2"/>
          <p:cNvSpPr/>
          <p:nvPr/>
        </p:nvSpPr>
        <p:spPr>
          <a:xfrm>
            <a:off x="7393060" y="2811560"/>
            <a:ext cx="1442340" cy="27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TTP ideological root</a:t>
            </a:r>
            <a:endParaRPr lang="en-US" sz="900" dirty="0"/>
          </a:p>
        </p:txBody>
      </p:sp>
      <p:sp>
        <p:nvSpPr>
          <p:cNvPr id="67" name="DF3"/>
          <p:cNvSpPr/>
          <p:nvPr/>
        </p:nvSpPr>
        <p:spPr>
          <a:xfrm>
            <a:off x="7393060" y="3121560"/>
            <a:ext cx="1442340" cy="27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Anti-shrine</a:t>
            </a:r>
            <a:endParaRPr lang="en-US" sz="900" dirty="0"/>
          </a:p>
        </p:txBody>
      </p:sp>
      <p:sp>
        <p:nvSpPr>
          <p:cNvPr id="68" name="DF4"/>
          <p:cNvSpPr/>
          <p:nvPr/>
        </p:nvSpPr>
        <p:spPr>
          <a:xfrm>
            <a:off x="7393060" y="3431560"/>
            <a:ext cx="1442340" cy="27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State-funded (Zia)</a:t>
            </a:r>
            <a:endParaRPr lang="en-US" sz="900" dirty="0"/>
          </a:p>
        </p:txBody>
      </p:sp>
      <p:sp>
        <p:nvSpPr>
          <p:cNvPr id="69" name="Cap2"/>
          <p:cNvSpPr/>
          <p:nvPr/>
        </p:nvSpPr>
        <p:spPr>
          <a:xfrm>
            <a:off x="5810720" y="4446016"/>
            <a:ext cx="3054680" cy="170000"/>
          </a:xfrm>
          <a:prstGeom prst="rect">
            <a:avLst/>
          </a:prstGeom>
          <a:noFill/>
        </p:spPr>
        <p:txBody>
          <a:bodyPr wrap="square" lIns="45720" tIns="45720" rIns="45720" bIns="45720" rtlCol="0" anchor="ctr"/>
          <a:lstStyle/>
          <a:p>
            <a:pPr marL="0" indent="0" algn="ctr">
              <a:buNone/>
            </a:pPr>
            <a:r>
              <a:rPr lang="en-US" sz="900" i="1" dirty="0">
                <a:solidFill>
                  <a:srgbClr val="C9A84C"/>
                </a:solidFill>
                <a:latin typeface="Times New Roman" pitchFamily="34" charset="0"/>
              </a:rPr>
              <a:t>Shrine devotion vs. scriptural strictness</a:t>
            </a:r>
            <a:endParaRPr lang="en-US" sz="900" dirty="0"/>
          </a:p>
        </p:txBody>
      </p:sp>
      <p:sp>
        <p:nvSpPr>
          <p:cNvPr id="9900" name="SlideNum_9"/>
          <p:cNvSpPr txBox="1"/>
          <p:nvPr/>
        </p:nvSpPr>
        <p:spPr>
          <a:xfrm>
            <a:off x="8229600" y="4953500"/>
            <a:ext cx="685800" cy="190000"/>
          </a:xfrm>
          <a:prstGeom prst="rect">
            <a:avLst/>
          </a:prstGeom>
          <a:noFill/>
        </p:spPr>
        <p:txBody>
          <a:bodyPr wrap="square" rtlCol="0"/>
          <a:lstStyle/>
          <a:p>
            <a:pPr algn="r"/>
            <a:r>
              <a:rPr lang="en-US" sz="900" b="0" dirty="0">
                <a:solidFill>
                  <a:srgbClr val="1A4731"/>
                </a:solidFill>
              </a:rPr>
              <a:t>9 / 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w="12700">
            <a:solidFill>
              <a:srgbClr val="C9A84C"/>
            </a:solidFill>
            <a:prstDash val="solid"/>
          </a:ln>
        </p:spPr>
      </p:sp>
      <p:sp>
        <p:nvSpPr>
          <p:cNvPr id="3" name="Text 1"/>
          <p:cNvSpPr/>
          <p:nvPr/>
        </p:nvSpPr>
        <p:spPr>
          <a:xfrm>
            <a:off x="457200" y="1048640"/>
            <a:ext cx="8229600" cy="457200"/>
          </a:xfrm>
          <a:prstGeom prst="rect">
            <a:avLst/>
          </a:prstGeom>
          <a:noFill/>
          <a:ln/>
        </p:spPr>
        <p:txBody>
          <a:bodyPr wrap="square" lIns="0" tIns="0" rIns="0" bIns="0" rtlCol="0" anchor="ctr"/>
          <a:lstStyle/>
          <a:p>
            <a:pPr marL="0" indent="0" algn="l">
              <a:buNone/>
            </a:pPr>
            <a:r>
              <a:rPr lang="en-US" sz="1800" b="1" kern="0" spc="400" dirty="0">
                <a:solidFill>
                  <a:srgbClr val="C9A84C"/>
                </a:solidFill>
                <a:latin typeface="Times New Roman" pitchFamily="34" charset="0"/>
                <a:ea typeface="Times New Roman" pitchFamily="34" charset="-122"/>
                <a:cs typeface="Times New Roman" pitchFamily="34" charset="-120"/>
              </a:rPr>
              <a:t>Section 3</a:t>
            </a:r>
            <a:endParaRPr lang="en-US" sz="1800" dirty="0"/>
          </a:p>
        </p:txBody>
      </p:sp>
      <p:sp>
        <p:nvSpPr>
          <p:cNvPr id="4" name="Text 2"/>
          <p:cNvSpPr/>
          <p:nvPr/>
        </p:nvSpPr>
        <p:spPr>
          <a:xfrm>
            <a:off x="457200" y="1597280"/>
            <a:ext cx="8229600" cy="1280160"/>
          </a:xfrm>
          <a:prstGeom prst="rect">
            <a:avLst/>
          </a:prstGeom>
          <a:noFill/>
          <a:ln/>
        </p:spPr>
        <p:txBody>
          <a:bodyPr wrap="square" lIns="0" tIns="0" rIns="0" bIns="0" rtlCol="0" anchor="ctr"/>
          <a:lstStyle/>
          <a:p>
            <a:pPr marL="0" indent="0" algn="l">
              <a:buNone/>
            </a:pPr>
            <a:r>
              <a:rPr lang="en-US" sz="4400" b="1" dirty="0">
                <a:solidFill>
                  <a:srgbClr val="F8F4EC"/>
                </a:solidFill>
                <a:latin typeface="Times New Roman" pitchFamily="34" charset="0"/>
                <a:ea typeface="Times New Roman" pitchFamily="34" charset="-122"/>
                <a:cs typeface="Times New Roman" pitchFamily="34" charset="-120"/>
              </a:rPr>
              <a:t>The Military as Parallel State</a:t>
            </a:r>
            <a:endParaRPr lang="en-US" sz="4400" dirty="0"/>
          </a:p>
        </p:txBody>
      </p:sp>
      <p:sp>
        <p:nvSpPr>
          <p:cNvPr id="5" name="Text 3"/>
          <p:cNvSpPr/>
          <p:nvPr/>
        </p:nvSpPr>
        <p:spPr>
          <a:xfrm>
            <a:off x="457200" y="2968880"/>
            <a:ext cx="8229600" cy="457200"/>
          </a:xfrm>
          <a:prstGeom prst="rect">
            <a:avLst/>
          </a:prstGeom>
          <a:noFill/>
          <a:ln/>
        </p:spPr>
        <p:txBody>
          <a:bodyPr wrap="square" lIns="0" tIns="0" rIns="0" bIns="0" rtlCol="0" anchor="ctr"/>
          <a:lstStyle/>
          <a:p>
            <a:pPr marL="0" indent="0" algn="l">
              <a:buNone/>
            </a:pPr>
            <a:r>
              <a:rPr lang="en-US" sz="2200" i="1" dirty="0">
                <a:solidFill>
                  <a:srgbClr val="E9C46A"/>
                </a:solidFill>
                <a:latin typeface="Times New Roman" pitchFamily="34" charset="0"/>
                <a:ea typeface="Times New Roman" pitchFamily="34" charset="-122"/>
                <a:cs typeface="Times New Roman" pitchFamily="34" charset="-120"/>
              </a:rPr>
              <a:t>Chapters 5 &amp; 6</a:t>
            </a:r>
            <a:endParaRPr lang="en-US" sz="2200" dirty="0"/>
          </a:p>
        </p:txBody>
      </p:sp>
      <p:sp>
        <p:nvSpPr>
          <p:cNvPr id="6" name="Shape 4"/>
          <p:cNvSpPr/>
          <p:nvPr/>
        </p:nvSpPr>
        <p:spPr>
          <a:xfrm>
            <a:off x="457200" y="3517520"/>
            <a:ext cx="8229600" cy="36576"/>
          </a:xfrm>
          <a:prstGeom prst="rect">
            <a:avLst/>
          </a:prstGeom>
          <a:solidFill>
            <a:srgbClr val="C9A84C"/>
          </a:solidFill>
          <a:ln w="12700">
            <a:solidFill>
              <a:srgbClr val="C9A84C"/>
            </a:solidFill>
            <a:prstDash val="solid"/>
          </a:ln>
        </p:spPr>
      </p:sp>
      <p:sp>
        <p:nvSpPr>
          <p:cNvPr id="9900" name="SlideNum_10"/>
          <p:cNvSpPr txBox="1"/>
          <p:nvPr/>
        </p:nvSpPr>
        <p:spPr>
          <a:xfrm>
            <a:off x="8229600" y="4953500"/>
            <a:ext cx="685800" cy="190000"/>
          </a:xfrm>
          <a:prstGeom prst="rect">
            <a:avLst/>
          </a:prstGeom>
          <a:noFill/>
        </p:spPr>
        <p:txBody>
          <a:bodyPr wrap="square" rtlCol="0"/>
          <a:lstStyle/>
          <a:p>
            <a:pPr algn="r"/>
            <a:r>
              <a:rPr lang="en-US" sz="900" b="0" dirty="0">
                <a:solidFill>
                  <a:srgbClr val="C9A84C"/>
                </a:solidFill>
              </a:rPr>
              <a:t>10 / 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256032"/>
            <a:ext cx="8686800" cy="640080"/>
          </a:xfrm>
          <a:prstGeom prst="rect">
            <a:avLst/>
          </a:prstGeom>
          <a:noFill/>
          <a:ln/>
        </p:spPr>
        <p:txBody>
          <a:bodyPr wrap="square" lIns="0" tIns="0" rIns="0" bIns="0" rtlCol="0" anchor="ctr"/>
          <a:lstStyle/>
          <a:p>
            <a:pPr marL="0" indent="0" algn="l">
              <a:buNone/>
            </a:pPr>
            <a:r>
              <a:rPr lang="en-US" sz="3800" b="1" dirty="0">
                <a:solidFill>
                  <a:srgbClr val="1A4731"/>
                </a:solidFill>
                <a:latin typeface="Times New Roman" pitchFamily="34" charset="0"/>
                <a:ea typeface="Times New Roman" pitchFamily="34" charset="-122"/>
                <a:cs typeface="Times New Roman" pitchFamily="34" charset="-120"/>
              </a:rPr>
              <a:t>The Military as a Parallel State</a:t>
            </a:r>
            <a:endParaRPr lang="en-US" sz="3800" dirty="0"/>
          </a:p>
        </p:txBody>
      </p:sp>
      <p:sp>
        <p:nvSpPr>
          <p:cNvPr id="3" name="Shape 1"/>
          <p:cNvSpPr/>
          <p:nvPr/>
        </p:nvSpPr>
        <p:spPr>
          <a:xfrm>
            <a:off x="228600" y="960120"/>
            <a:ext cx="8686800" cy="36576"/>
          </a:xfrm>
          <a:prstGeom prst="rect">
            <a:avLst/>
          </a:prstGeom>
          <a:solidFill>
            <a:srgbClr val="C9A84C"/>
          </a:solidFill>
          <a:ln w="12700">
            <a:solidFill>
              <a:srgbClr val="C9A84C"/>
            </a:solidFill>
            <a:prstDash val="solid"/>
          </a:ln>
        </p:spPr>
      </p:sp>
      <p:sp>
        <p:nvSpPr>
          <p:cNvPr id="5" name="Text 3"/>
          <p:cNvSpPr/>
          <p:nvPr/>
        </p:nvSpPr>
        <p:spPr>
          <a:xfrm>
            <a:off x="274320" y="1051560"/>
            <a:ext cx="5349240" cy="3657600"/>
          </a:xfrm>
          <a:prstGeom prst="rect">
            <a:avLst/>
          </a:prstGeom>
          <a:noFill/>
          <a:ln/>
        </p:spPr>
        <p:txBody>
          <a:bodyPr wrap="square" lIns="91440" tIns="45720" rIns="91440" bIns="45720" rtlCol="0" anchor="t"/>
          <a:lstStyle/>
          <a:p>
            <a:pPr>
              <a:buSzPct val="100000"/>
            </a:pPr>
            <a:r>
              <a:rPr lang="en-US" b="1">
                <a:solidFill>
                  <a:srgbClr val="1A1A1A"/>
                </a:solidFill>
                <a:latin typeface="Times New Roman"/>
                <a:ea typeface="+mn-lt"/>
                <a:cs typeface="Times New Roman"/>
              </a:rPr>
              <a:t>The Military's Three Pillars of Power</a:t>
            </a:r>
            <a:endParaRPr lang="en-US">
              <a:solidFill>
                <a:srgbClr val="000000"/>
              </a:solidFill>
              <a:latin typeface="Times New Roman"/>
              <a:ea typeface="Calibri"/>
              <a:cs typeface="Times New Roman"/>
            </a:endParaRPr>
          </a:p>
          <a:p>
            <a:pPr>
              <a:buFont typeface="Arial"/>
              <a:buChar char="•"/>
            </a:pPr>
            <a:r>
              <a:rPr lang="en-US" b="1" dirty="0">
                <a:solidFill>
                  <a:srgbClr val="1A1A1A"/>
                </a:solidFill>
                <a:latin typeface="Times New Roman"/>
                <a:ea typeface="+mn-lt"/>
                <a:cs typeface="Times New Roman"/>
              </a:rPr>
              <a:t>Property &amp; Business:</a:t>
            </a:r>
            <a:r>
              <a:rPr lang="en-US" dirty="0">
                <a:solidFill>
                  <a:srgbClr val="1A1A1A"/>
                </a:solidFill>
                <a:latin typeface="Times New Roman"/>
                <a:ea typeface="+mn-lt"/>
                <a:cs typeface="Times New Roman"/>
              </a:rPr>
              <a:t> Vast commercial empires (like the Fauji Foundation) operate shielded from market competition, transparency laws, and civilian oversight.</a:t>
            </a:r>
            <a:endParaRPr lang="en-US" dirty="0">
              <a:latin typeface="Times New Roman"/>
              <a:cs typeface="Times New Roman"/>
            </a:endParaRPr>
          </a:p>
          <a:p>
            <a:pPr>
              <a:buFont typeface="Arial"/>
              <a:buChar char="•"/>
            </a:pPr>
            <a:r>
              <a:rPr lang="en-US" b="1">
                <a:solidFill>
                  <a:srgbClr val="1A1A1A"/>
                </a:solidFill>
                <a:latin typeface="Times New Roman"/>
                <a:ea typeface="+mn-lt"/>
                <a:cs typeface="Times New Roman"/>
              </a:rPr>
              <a:t>Foreign Policy:</a:t>
            </a:r>
            <a:r>
              <a:rPr lang="en-US">
                <a:solidFill>
                  <a:srgbClr val="1A1A1A"/>
                </a:solidFill>
                <a:latin typeface="Times New Roman"/>
                <a:ea typeface="+mn-lt"/>
                <a:cs typeface="Times New Roman"/>
              </a:rPr>
              <a:t> The military monopolizes key international negotiations (US, China, Afghanistan), completely bypassing civilian leadership.</a:t>
            </a:r>
            <a:endParaRPr lang="en-US">
              <a:latin typeface="Times New Roman"/>
              <a:cs typeface="Times New Roman"/>
            </a:endParaRPr>
          </a:p>
          <a:p>
            <a:r>
              <a:rPr lang="en-US" b="1">
                <a:solidFill>
                  <a:srgbClr val="1A1A1A"/>
                </a:solidFill>
                <a:latin typeface="Times New Roman"/>
                <a:ea typeface="+mn-lt"/>
                <a:cs typeface="Times New Roman"/>
              </a:rPr>
              <a:t>Why Simple Reforms Fail (Lieven's Conclusion)</a:t>
            </a:r>
            <a:endParaRPr lang="en-US">
              <a:latin typeface="Times New Roman"/>
              <a:cs typeface="Times New Roman"/>
            </a:endParaRPr>
          </a:p>
          <a:p>
            <a:pPr>
              <a:buFont typeface="Arial"/>
              <a:buChar char="•"/>
            </a:pPr>
            <a:r>
              <a:rPr lang="en-US" b="1">
                <a:solidFill>
                  <a:srgbClr val="1A1A1A"/>
                </a:solidFill>
                <a:latin typeface="Times New Roman"/>
                <a:ea typeface="+mn-lt"/>
                <a:cs typeface="Times New Roman"/>
              </a:rPr>
              <a:t>Immunity &amp; Retaliation:</a:t>
            </a:r>
            <a:r>
              <a:rPr lang="en-US" dirty="0">
                <a:solidFill>
                  <a:srgbClr val="1A1A1A"/>
                </a:solidFill>
                <a:latin typeface="Times New Roman"/>
                <a:ea typeface="+mn-lt"/>
                <a:cs typeface="Times New Roman"/>
              </a:rPr>
              <a:t> </a:t>
            </a:r>
            <a:r>
              <a:rPr lang="en-US">
                <a:solidFill>
                  <a:srgbClr val="1A1A1A"/>
                </a:solidFill>
                <a:latin typeface="Times New Roman"/>
                <a:ea typeface="+mn-lt"/>
                <a:cs typeface="Times New Roman"/>
              </a:rPr>
              <a:t>Military wealth is buried within untouchable corporations, and politicians who challenge these interests face persecution or removal.</a:t>
            </a:r>
            <a:endParaRPr lang="en-US">
              <a:latin typeface="Times New Roman"/>
              <a:cs typeface="Times New Roman"/>
            </a:endParaRPr>
          </a:p>
          <a:p>
            <a:pPr>
              <a:buFont typeface="Arial"/>
              <a:buChar char="•"/>
            </a:pPr>
            <a:r>
              <a:rPr lang="en-US" b="1">
                <a:solidFill>
                  <a:srgbClr val="1A1A1A"/>
                </a:solidFill>
                <a:latin typeface="Times New Roman"/>
                <a:ea typeface="+mn-lt"/>
                <a:cs typeface="Times New Roman"/>
              </a:rPr>
              <a:t>The Verdict:</a:t>
            </a:r>
            <a:r>
              <a:rPr lang="en-US">
                <a:solidFill>
                  <a:srgbClr val="1A1A1A"/>
                </a:solidFill>
                <a:latin typeface="Times New Roman"/>
                <a:ea typeface="+mn-lt"/>
                <a:cs typeface="Times New Roman"/>
              </a:rPr>
              <a:t> Changing election outcomes is not enough; dismantling this system requires a fundamental shift in structural power.</a:t>
            </a:r>
            <a:endParaRPr lang="en-US">
              <a:latin typeface="Times New Roman"/>
              <a:cs typeface="Times New Roman"/>
            </a:endParaRPr>
          </a:p>
          <a:p>
            <a:pPr marL="342900" indent="-342900">
              <a:spcAft>
                <a:spcPts val="600"/>
              </a:spcAft>
              <a:buSzPct val="100000"/>
              <a:buChar char="•"/>
            </a:pPr>
            <a:endParaRPr lang="en-US" b="1" dirty="0">
              <a:solidFill>
                <a:srgbClr val="1A1A1A"/>
              </a:solidFill>
              <a:latin typeface="Times New Roman"/>
              <a:cs typeface="Times New Roman"/>
            </a:endParaRPr>
          </a:p>
        </p:txBody>
      </p:sp>
      <p:sp>
        <p:nvSpPr>
          <p:cNvPr id="6" name="Shape 4"/>
          <p:cNvSpPr/>
          <p:nvPr/>
        </p:nvSpPr>
        <p:spPr>
          <a:xfrm>
            <a:off x="5760720" y="1051560"/>
            <a:ext cx="3154680" cy="3566160"/>
          </a:xfrm>
          <a:prstGeom prst="rect">
            <a:avLst/>
          </a:prstGeom>
          <a:solidFill>
            <a:srgbClr val="3D4A5C"/>
          </a:solidFill>
          <a:ln w="12700">
            <a:solidFill>
              <a:srgbClr val="6B7A8D"/>
            </a:solidFill>
            <a:prstDash val="solid"/>
          </a:ln>
        </p:spPr>
      </p:sp>
      <p:sp>
        <p:nvSpPr>
          <p:cNvPr id="50" name="STitle"/>
          <p:cNvSpPr/>
          <p:nvPr/>
        </p:nvSpPr>
        <p:spPr>
          <a:xfrm>
            <a:off x="5810720" y="1131560"/>
            <a:ext cx="3054680" cy="200000"/>
          </a:xfrm>
          <a:prstGeom prst="rect">
            <a:avLst/>
          </a:prstGeom>
          <a:noFill/>
        </p:spPr>
        <p:txBody>
          <a:bodyPr wrap="square" lIns="45720" tIns="45720" rIns="45720" bIns="45720" rtlCol="0" anchor="ctr"/>
          <a:lstStyle/>
          <a:p>
            <a:pPr marL="0" indent="0" algn="ctr">
              <a:buNone/>
            </a:pPr>
            <a:r>
              <a:rPr lang="en-US" sz="1400" b="1" dirty="0">
                <a:solidFill>
                  <a:srgbClr val="C9A84C"/>
                </a:solidFill>
                <a:latin typeface="Times New Roman" pitchFamily="34" charset="0"/>
              </a:rPr>
              <a:t>Two Pakistans</a:t>
            </a:r>
            <a:endParaRPr lang="en-US" sz="1400" dirty="0"/>
          </a:p>
        </p:txBody>
      </p:sp>
      <p:sp>
        <p:nvSpPr>
          <p:cNvPr id="51" name="LeftP"/>
          <p:cNvSpPr/>
          <p:nvPr/>
        </p:nvSpPr>
        <p:spPr>
          <a:xfrm>
            <a:off x="5790720" y="1391560"/>
            <a:ext cx="1517340" cy="3046160"/>
          </a:xfrm>
          <a:prstGeom prst="rect">
            <a:avLst/>
          </a:prstGeom>
          <a:solidFill>
            <a:srgbClr val="1A3020"/>
          </a:solidFill>
          <a:ln w="19050">
            <a:solidFill>
              <a:srgbClr val="C9A84C"/>
            </a:solidFill>
            <a:prstDash val="solid"/>
          </a:ln>
        </p:spPr>
      </p:sp>
      <p:sp>
        <p:nvSpPr>
          <p:cNvPr id="52" name="LHdr"/>
          <p:cNvSpPr/>
          <p:nvPr/>
        </p:nvSpPr>
        <p:spPr>
          <a:xfrm>
            <a:off x="5790720" y="1431560"/>
            <a:ext cx="1517340" cy="200000"/>
          </a:xfrm>
          <a:prstGeom prst="rect">
            <a:avLst/>
          </a:prstGeom>
          <a:noFill/>
        </p:spPr>
        <p:txBody>
          <a:bodyPr wrap="square" lIns="45720" tIns="45720" rIns="45720" bIns="45720" rtlCol="0" anchor="ctr"/>
          <a:lstStyle/>
          <a:p>
            <a:pPr marL="0" indent="0" algn="ctr">
              <a:buNone/>
            </a:pPr>
            <a:r>
              <a:rPr lang="en-US" sz="1100" b="1" dirty="0">
                <a:solidFill>
                  <a:srgbClr val="C9A84C"/>
                </a:solidFill>
                <a:latin typeface="Times New Roman" pitchFamily="34" charset="0"/>
              </a:rPr>
              <a:t>Military Cantonment</a:t>
            </a:r>
            <a:endParaRPr lang="en-US" sz="1100" dirty="0"/>
          </a:p>
        </p:txBody>
      </p:sp>
      <p:sp>
        <p:nvSpPr>
          <p:cNvPr id="53" name="LF0"/>
          <p:cNvSpPr/>
          <p:nvPr/>
        </p:nvSpPr>
        <p:spPr>
          <a:xfrm>
            <a:off x="5820720" y="1681560"/>
            <a:ext cx="1457340" cy="340000"/>
          </a:xfrm>
          <a:prstGeom prst="rect">
            <a:avLst/>
          </a:prstGeom>
          <a:solidFill>
            <a:srgbClr val="1F3A28"/>
          </a:solidFill>
          <a:ln w="9525">
            <a:solidFill>
              <a:srgbClr val="2C7A3E"/>
            </a:solidFill>
            <a:prstDash val="solid"/>
          </a:ln>
        </p:spPr>
        <p:txBody>
          <a:bodyPr wrap="square" lIns="45720" tIns="45720" rIns="45720" bIns="45720" rtlCol="0" anchor="ctr"/>
          <a:lstStyle/>
          <a:p>
            <a:pPr marL="0" indent="0" algn="l">
              <a:buNone/>
            </a:pPr>
            <a:r>
              <a:rPr lang="en-US" sz="950" dirty="0">
                <a:solidFill>
                  <a:srgbClr val="A8D5B5"/>
                </a:solidFill>
                <a:latin typeface="Times New Roman" pitchFamily="34" charset="0"/>
              </a:rPr>
              <a:t>✔ Clean streets</a:t>
            </a:r>
            <a:endParaRPr lang="en-US" sz="950" dirty="0"/>
          </a:p>
        </p:txBody>
      </p:sp>
      <p:sp>
        <p:nvSpPr>
          <p:cNvPr id="54" name="LF1"/>
          <p:cNvSpPr/>
          <p:nvPr/>
        </p:nvSpPr>
        <p:spPr>
          <a:xfrm>
            <a:off x="5820720" y="2061560"/>
            <a:ext cx="1457340" cy="340000"/>
          </a:xfrm>
          <a:prstGeom prst="rect">
            <a:avLst/>
          </a:prstGeom>
          <a:solidFill>
            <a:srgbClr val="1F3A28"/>
          </a:solidFill>
          <a:ln w="9525">
            <a:solidFill>
              <a:srgbClr val="2C7A3E"/>
            </a:solidFill>
            <a:prstDash val="solid"/>
          </a:ln>
        </p:spPr>
        <p:txBody>
          <a:bodyPr wrap="square" lIns="45720" tIns="45720" rIns="45720" bIns="45720" rtlCol="0" anchor="ctr"/>
          <a:lstStyle/>
          <a:p>
            <a:pPr marL="0" indent="0" algn="l">
              <a:buNone/>
            </a:pPr>
            <a:r>
              <a:rPr lang="en-US" sz="950" dirty="0">
                <a:solidFill>
                  <a:srgbClr val="A8D5B5"/>
                </a:solidFill>
                <a:latin typeface="Times New Roman" pitchFamily="34" charset="0"/>
              </a:rPr>
              <a:t>✔ Schools &amp; hospitals</a:t>
            </a:r>
            <a:endParaRPr lang="en-US" sz="950" dirty="0"/>
          </a:p>
        </p:txBody>
      </p:sp>
      <p:sp>
        <p:nvSpPr>
          <p:cNvPr id="55" name="LF2"/>
          <p:cNvSpPr/>
          <p:nvPr/>
        </p:nvSpPr>
        <p:spPr>
          <a:xfrm>
            <a:off x="5820720" y="2441560"/>
            <a:ext cx="1457340" cy="340000"/>
          </a:xfrm>
          <a:prstGeom prst="rect">
            <a:avLst/>
          </a:prstGeom>
          <a:solidFill>
            <a:srgbClr val="1F3A28"/>
          </a:solidFill>
          <a:ln w="9525">
            <a:solidFill>
              <a:srgbClr val="2C7A3E"/>
            </a:solidFill>
            <a:prstDash val="solid"/>
          </a:ln>
        </p:spPr>
        <p:txBody>
          <a:bodyPr wrap="square" lIns="45720" tIns="45720" rIns="45720" bIns="45720" rtlCol="0" anchor="ctr"/>
          <a:lstStyle/>
          <a:p>
            <a:pPr marL="0" indent="0" algn="l">
              <a:buNone/>
            </a:pPr>
            <a:r>
              <a:rPr lang="en-US" sz="950" dirty="0">
                <a:solidFill>
                  <a:srgbClr val="A8D5B5"/>
                </a:solidFill>
                <a:latin typeface="Times New Roman" pitchFamily="34" charset="0"/>
              </a:rPr>
              <a:t>✔ Housing estates</a:t>
            </a:r>
            <a:endParaRPr lang="en-US" sz="950" dirty="0"/>
          </a:p>
        </p:txBody>
      </p:sp>
      <p:sp>
        <p:nvSpPr>
          <p:cNvPr id="56" name="LF3"/>
          <p:cNvSpPr/>
          <p:nvPr/>
        </p:nvSpPr>
        <p:spPr>
          <a:xfrm>
            <a:off x="5820720" y="2821560"/>
            <a:ext cx="1457340" cy="340000"/>
          </a:xfrm>
          <a:prstGeom prst="rect">
            <a:avLst/>
          </a:prstGeom>
          <a:solidFill>
            <a:srgbClr val="1F3A28"/>
          </a:solidFill>
          <a:ln w="9525">
            <a:solidFill>
              <a:srgbClr val="2C7A3E"/>
            </a:solidFill>
            <a:prstDash val="solid"/>
          </a:ln>
        </p:spPr>
        <p:txBody>
          <a:bodyPr wrap="square" lIns="45720" tIns="45720" rIns="45720" bIns="45720" rtlCol="0" anchor="ctr"/>
          <a:lstStyle/>
          <a:p>
            <a:pPr marL="0" indent="0" algn="l">
              <a:buNone/>
            </a:pPr>
            <a:r>
              <a:rPr lang="en-US" sz="950" dirty="0">
                <a:solidFill>
                  <a:srgbClr val="A8D5B5"/>
                </a:solidFill>
                <a:latin typeface="Times New Roman" pitchFamily="34" charset="0"/>
              </a:rPr>
              <a:t>✔ Protected budget</a:t>
            </a:r>
            <a:endParaRPr lang="en-US" sz="950" dirty="0"/>
          </a:p>
        </p:txBody>
      </p:sp>
      <p:sp>
        <p:nvSpPr>
          <p:cNvPr id="57" name="LF4"/>
          <p:cNvSpPr/>
          <p:nvPr/>
        </p:nvSpPr>
        <p:spPr>
          <a:xfrm>
            <a:off x="5820720" y="3201560"/>
            <a:ext cx="1457340" cy="340000"/>
          </a:xfrm>
          <a:prstGeom prst="rect">
            <a:avLst/>
          </a:prstGeom>
          <a:solidFill>
            <a:srgbClr val="1F3A28"/>
          </a:solidFill>
          <a:ln w="9525">
            <a:solidFill>
              <a:srgbClr val="2C7A3E"/>
            </a:solidFill>
            <a:prstDash val="solid"/>
          </a:ln>
        </p:spPr>
        <p:txBody>
          <a:bodyPr wrap="square" lIns="45720" tIns="45720" rIns="45720" bIns="45720" rtlCol="0" anchor="ctr"/>
          <a:lstStyle/>
          <a:p>
            <a:pPr marL="0" indent="0" algn="l">
              <a:buNone/>
            </a:pPr>
            <a:r>
              <a:rPr lang="en-US" sz="950" dirty="0">
                <a:solidFill>
                  <a:srgbClr val="A8D5B5"/>
                </a:solidFill>
                <a:latin typeface="Times New Roman" pitchFamily="34" charset="0"/>
              </a:rPr>
              <a:t>✔ Orderly parks</a:t>
            </a:r>
            <a:endParaRPr lang="en-US" sz="950" dirty="0"/>
          </a:p>
        </p:txBody>
      </p:sp>
      <p:sp>
        <p:nvSpPr>
          <p:cNvPr id="58" name="RightP"/>
          <p:cNvSpPr/>
          <p:nvPr/>
        </p:nvSpPr>
        <p:spPr>
          <a:xfrm>
            <a:off x="7368060" y="1391560"/>
            <a:ext cx="1517340" cy="3046160"/>
          </a:xfrm>
          <a:prstGeom prst="rect">
            <a:avLst/>
          </a:prstGeom>
          <a:solidFill>
            <a:srgbClr val="3A1A1A"/>
          </a:solidFill>
          <a:ln w="19050">
            <a:solidFill>
              <a:srgbClr val="C9A84C"/>
            </a:solidFill>
            <a:prstDash val="solid"/>
          </a:ln>
        </p:spPr>
      </p:sp>
      <p:sp>
        <p:nvSpPr>
          <p:cNvPr id="59" name="RHdr"/>
          <p:cNvSpPr/>
          <p:nvPr/>
        </p:nvSpPr>
        <p:spPr>
          <a:xfrm>
            <a:off x="7368060" y="1431560"/>
            <a:ext cx="1517340" cy="200000"/>
          </a:xfrm>
          <a:prstGeom prst="rect">
            <a:avLst/>
          </a:prstGeom>
          <a:noFill/>
        </p:spPr>
        <p:txBody>
          <a:bodyPr wrap="square" lIns="45720" tIns="45720" rIns="45720" bIns="45720" rtlCol="0" anchor="ctr"/>
          <a:lstStyle/>
          <a:p>
            <a:pPr marL="0" indent="0" algn="ctr">
              <a:buNone/>
            </a:pPr>
            <a:r>
              <a:rPr lang="en-US" sz="1100" b="1" dirty="0">
                <a:solidFill>
                  <a:srgbClr val="C9A84C"/>
                </a:solidFill>
                <a:latin typeface="Times New Roman" pitchFamily="34" charset="0"/>
              </a:rPr>
              <a:t>Civilian City</a:t>
            </a:r>
            <a:endParaRPr lang="en-US" sz="1100" dirty="0"/>
          </a:p>
        </p:txBody>
      </p:sp>
      <p:sp>
        <p:nvSpPr>
          <p:cNvPr id="60" name="RF0"/>
          <p:cNvSpPr/>
          <p:nvPr/>
        </p:nvSpPr>
        <p:spPr>
          <a:xfrm>
            <a:off x="7398060" y="1681560"/>
            <a:ext cx="1457340" cy="340000"/>
          </a:xfrm>
          <a:prstGeom prst="rect">
            <a:avLst/>
          </a:prstGeom>
          <a:solidFill>
            <a:srgbClr val="401A1A"/>
          </a:solidFill>
          <a:ln w="9525">
            <a:solidFill>
              <a:srgbClr val="B85042"/>
            </a:solidFill>
            <a:prstDash val="solid"/>
          </a:ln>
        </p:spPr>
        <p:txBody>
          <a:bodyPr wrap="square" lIns="45720" tIns="45720" rIns="45720" bIns="45720" rtlCol="0" anchor="ctr"/>
          <a:lstStyle/>
          <a:p>
            <a:pPr marL="0" indent="0" algn="l">
              <a:buNone/>
            </a:pPr>
            <a:r>
              <a:rPr lang="en-US" sz="950" dirty="0">
                <a:solidFill>
                  <a:srgbClr val="F4A0A0"/>
                </a:solidFill>
                <a:latin typeface="Times New Roman" pitchFamily="34" charset="0"/>
              </a:rPr>
              <a:t>✗ Potholes &amp; chaos</a:t>
            </a:r>
            <a:endParaRPr lang="en-US" sz="950" dirty="0"/>
          </a:p>
        </p:txBody>
      </p:sp>
      <p:sp>
        <p:nvSpPr>
          <p:cNvPr id="61" name="RF1"/>
          <p:cNvSpPr/>
          <p:nvPr/>
        </p:nvSpPr>
        <p:spPr>
          <a:xfrm>
            <a:off x="7398060" y="2061560"/>
            <a:ext cx="1457340" cy="340000"/>
          </a:xfrm>
          <a:prstGeom prst="rect">
            <a:avLst/>
          </a:prstGeom>
          <a:solidFill>
            <a:srgbClr val="401A1A"/>
          </a:solidFill>
          <a:ln w="9525">
            <a:solidFill>
              <a:srgbClr val="B85042"/>
            </a:solidFill>
            <a:prstDash val="solid"/>
          </a:ln>
        </p:spPr>
        <p:txBody>
          <a:bodyPr wrap="square" lIns="45720" tIns="45720" rIns="45720" bIns="45720" rtlCol="0" anchor="ctr"/>
          <a:lstStyle/>
          <a:p>
            <a:pPr marL="0" indent="0" algn="l">
              <a:buNone/>
            </a:pPr>
            <a:r>
              <a:rPr lang="en-US" sz="950" dirty="0">
                <a:solidFill>
                  <a:srgbClr val="F4A0A0"/>
                </a:solidFill>
                <a:latin typeface="Times New Roman" pitchFamily="34" charset="0"/>
              </a:rPr>
              <a:t>✗ Failing clinics</a:t>
            </a:r>
            <a:endParaRPr lang="en-US" sz="950" dirty="0"/>
          </a:p>
        </p:txBody>
      </p:sp>
      <p:sp>
        <p:nvSpPr>
          <p:cNvPr id="62" name="RF2"/>
          <p:cNvSpPr/>
          <p:nvPr/>
        </p:nvSpPr>
        <p:spPr>
          <a:xfrm>
            <a:off x="7398060" y="2441560"/>
            <a:ext cx="1457340" cy="340000"/>
          </a:xfrm>
          <a:prstGeom prst="rect">
            <a:avLst/>
          </a:prstGeom>
          <a:solidFill>
            <a:srgbClr val="401A1A"/>
          </a:solidFill>
          <a:ln w="9525">
            <a:solidFill>
              <a:srgbClr val="B85042"/>
            </a:solidFill>
            <a:prstDash val="solid"/>
          </a:ln>
        </p:spPr>
        <p:txBody>
          <a:bodyPr wrap="square" lIns="45720" tIns="45720" rIns="45720" bIns="45720" rtlCol="0" anchor="ctr"/>
          <a:lstStyle/>
          <a:p>
            <a:pPr marL="0" indent="0" algn="l">
              <a:buNone/>
            </a:pPr>
            <a:r>
              <a:rPr lang="en-US" sz="950" dirty="0">
                <a:solidFill>
                  <a:srgbClr val="F4A0A0"/>
                </a:solidFill>
                <a:latin typeface="Times New Roman" pitchFamily="34" charset="0"/>
              </a:rPr>
              <a:t>✗ Power outages</a:t>
            </a:r>
            <a:endParaRPr lang="en-US" sz="950" dirty="0"/>
          </a:p>
        </p:txBody>
      </p:sp>
      <p:sp>
        <p:nvSpPr>
          <p:cNvPr id="63" name="RF3"/>
          <p:cNvSpPr/>
          <p:nvPr/>
        </p:nvSpPr>
        <p:spPr>
          <a:xfrm>
            <a:off x="7398060" y="2821560"/>
            <a:ext cx="1457340" cy="340000"/>
          </a:xfrm>
          <a:prstGeom prst="rect">
            <a:avLst/>
          </a:prstGeom>
          <a:solidFill>
            <a:srgbClr val="401A1A"/>
          </a:solidFill>
          <a:ln w="9525">
            <a:solidFill>
              <a:srgbClr val="B85042"/>
            </a:solidFill>
            <a:prstDash val="solid"/>
          </a:ln>
        </p:spPr>
        <p:txBody>
          <a:bodyPr wrap="square" lIns="45720" tIns="45720" rIns="45720" bIns="45720" rtlCol="0" anchor="ctr"/>
          <a:lstStyle/>
          <a:p>
            <a:pPr marL="0" indent="0" algn="l">
              <a:buNone/>
            </a:pPr>
            <a:r>
              <a:rPr lang="en-US" sz="950" dirty="0">
                <a:solidFill>
                  <a:srgbClr val="F4A0A0"/>
                </a:solidFill>
                <a:latin typeface="Times New Roman" pitchFamily="34" charset="0"/>
              </a:rPr>
              <a:t>✗ No accountability</a:t>
            </a:r>
            <a:endParaRPr lang="en-US" sz="950" dirty="0"/>
          </a:p>
        </p:txBody>
      </p:sp>
      <p:sp>
        <p:nvSpPr>
          <p:cNvPr id="64" name="RF4"/>
          <p:cNvSpPr/>
          <p:nvPr/>
        </p:nvSpPr>
        <p:spPr>
          <a:xfrm>
            <a:off x="7398060" y="3201560"/>
            <a:ext cx="1457340" cy="340000"/>
          </a:xfrm>
          <a:prstGeom prst="rect">
            <a:avLst/>
          </a:prstGeom>
          <a:solidFill>
            <a:srgbClr val="401A1A"/>
          </a:solidFill>
          <a:ln w="9525">
            <a:solidFill>
              <a:srgbClr val="B85042"/>
            </a:solidFill>
            <a:prstDash val="solid"/>
          </a:ln>
        </p:spPr>
        <p:txBody>
          <a:bodyPr wrap="square" lIns="45720" tIns="45720" rIns="45720" bIns="45720" rtlCol="0" anchor="ctr"/>
          <a:lstStyle/>
          <a:p>
            <a:pPr marL="0" indent="0" algn="l">
              <a:buNone/>
            </a:pPr>
            <a:r>
              <a:rPr lang="en-US" sz="950" dirty="0">
                <a:solidFill>
                  <a:srgbClr val="F4A0A0"/>
                </a:solidFill>
                <a:latin typeface="Times New Roman" pitchFamily="34" charset="0"/>
              </a:rPr>
              <a:t>✗ No scrutiny</a:t>
            </a:r>
            <a:endParaRPr lang="en-US" sz="950" dirty="0"/>
          </a:p>
        </p:txBody>
      </p:sp>
      <p:sp>
        <p:nvSpPr>
          <p:cNvPr id="65" name="Cap"/>
          <p:cNvSpPr/>
          <p:nvPr/>
        </p:nvSpPr>
        <p:spPr>
          <a:xfrm>
            <a:off x="5818769" y="4446016"/>
            <a:ext cx="3054680" cy="170000"/>
          </a:xfrm>
          <a:prstGeom prst="rect">
            <a:avLst/>
          </a:prstGeom>
          <a:noFill/>
        </p:spPr>
        <p:txBody>
          <a:bodyPr wrap="square" lIns="45720" tIns="45720" rIns="45720" bIns="45720" rtlCol="0" anchor="ctr"/>
          <a:lstStyle/>
          <a:p>
            <a:pPr marL="0" indent="0" algn="ctr">
              <a:buNone/>
            </a:pPr>
            <a:r>
              <a:rPr lang="en-US" sz="1050" i="1" dirty="0">
                <a:solidFill>
                  <a:srgbClr val="C9A84C"/>
                </a:solidFill>
                <a:latin typeface="Times New Roman" pitchFamily="34" charset="0"/>
              </a:rPr>
              <a:t>Structural advantage — not organic merit</a:t>
            </a:r>
            <a:endParaRPr lang="en-US" sz="1050" dirty="0"/>
          </a:p>
        </p:txBody>
      </p:sp>
      <p:sp>
        <p:nvSpPr>
          <p:cNvPr id="9900" name="SlideNum_11"/>
          <p:cNvSpPr txBox="1"/>
          <p:nvPr/>
        </p:nvSpPr>
        <p:spPr>
          <a:xfrm>
            <a:off x="8229600" y="4953500"/>
            <a:ext cx="685800" cy="190000"/>
          </a:xfrm>
          <a:prstGeom prst="rect">
            <a:avLst/>
          </a:prstGeom>
          <a:noFill/>
        </p:spPr>
        <p:txBody>
          <a:bodyPr wrap="square" rtlCol="0"/>
          <a:lstStyle/>
          <a:p>
            <a:pPr algn="r"/>
            <a:r>
              <a:rPr lang="en-US" sz="1050" b="0" dirty="0">
                <a:solidFill>
                  <a:srgbClr val="1A4731"/>
                </a:solidFill>
              </a:rPr>
              <a:t>11 / 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256032"/>
            <a:ext cx="8686800" cy="640080"/>
          </a:xfrm>
          <a:prstGeom prst="rect">
            <a:avLst/>
          </a:prstGeom>
          <a:noFill/>
          <a:ln/>
        </p:spPr>
        <p:txBody>
          <a:bodyPr wrap="square" lIns="0" tIns="0" rIns="0" bIns="0" rtlCol="0" anchor="ctr"/>
          <a:lstStyle/>
          <a:p>
            <a:pPr marL="0" indent="0" algn="l">
              <a:buNone/>
            </a:pPr>
            <a:r>
              <a:rPr lang="en-US" sz="3800" b="1" dirty="0">
                <a:solidFill>
                  <a:srgbClr val="1A4731"/>
                </a:solidFill>
                <a:latin typeface="Times New Roman" pitchFamily="34" charset="0"/>
                <a:ea typeface="Times New Roman" pitchFamily="34" charset="-122"/>
                <a:cs typeface="Times New Roman" pitchFamily="34" charset="-120"/>
              </a:rPr>
              <a:t>The Military–Civilian Cycle</a:t>
            </a:r>
            <a:endParaRPr lang="en-US" sz="3800" dirty="0"/>
          </a:p>
        </p:txBody>
      </p:sp>
      <p:sp>
        <p:nvSpPr>
          <p:cNvPr id="3" name="Shape 1"/>
          <p:cNvSpPr/>
          <p:nvPr/>
        </p:nvSpPr>
        <p:spPr>
          <a:xfrm>
            <a:off x="228600" y="895726"/>
            <a:ext cx="8686800" cy="36576"/>
          </a:xfrm>
          <a:prstGeom prst="rect">
            <a:avLst/>
          </a:prstGeom>
          <a:solidFill>
            <a:srgbClr val="C9A84C"/>
          </a:solidFill>
          <a:ln w="12700">
            <a:solidFill>
              <a:srgbClr val="C9A84C"/>
            </a:solidFill>
            <a:prstDash val="solid"/>
          </a:ln>
        </p:spPr>
      </p:sp>
      <p:sp>
        <p:nvSpPr>
          <p:cNvPr id="5" name="Shape 3"/>
          <p:cNvSpPr/>
          <p:nvPr/>
        </p:nvSpPr>
        <p:spPr>
          <a:xfrm>
            <a:off x="3657600" y="1005840"/>
            <a:ext cx="1828800" cy="749808"/>
          </a:xfrm>
          <a:prstGeom prst="ellipse">
            <a:avLst/>
          </a:prstGeom>
          <a:solidFill>
            <a:srgbClr val="1A4731"/>
          </a:solidFill>
          <a:ln w="12700">
            <a:solidFill>
              <a:srgbClr val="C9A84C"/>
            </a:solidFill>
            <a:prstDash val="solid"/>
          </a:ln>
        </p:spPr>
      </p:sp>
      <p:sp>
        <p:nvSpPr>
          <p:cNvPr id="6" name="Text 4"/>
          <p:cNvSpPr/>
          <p:nvPr/>
        </p:nvSpPr>
        <p:spPr>
          <a:xfrm>
            <a:off x="3657600" y="1051560"/>
            <a:ext cx="182880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1. Civilian</a:t>
            </a:r>
            <a:endParaRPr lang="en-US" sz="1300" dirty="0"/>
          </a:p>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Government</a:t>
            </a:r>
            <a:endParaRPr lang="en-US" sz="1300" dirty="0"/>
          </a:p>
        </p:txBody>
      </p:sp>
      <p:sp>
        <p:nvSpPr>
          <p:cNvPr id="7" name="Shape 5"/>
          <p:cNvSpPr/>
          <p:nvPr/>
        </p:nvSpPr>
        <p:spPr>
          <a:xfrm>
            <a:off x="6583680" y="2103120"/>
            <a:ext cx="1828800" cy="749808"/>
          </a:xfrm>
          <a:prstGeom prst="ellipse">
            <a:avLst/>
          </a:prstGeom>
          <a:solidFill>
            <a:srgbClr val="1A4731"/>
          </a:solidFill>
          <a:ln w="12700">
            <a:solidFill>
              <a:srgbClr val="C9A84C"/>
            </a:solidFill>
            <a:prstDash val="solid"/>
          </a:ln>
        </p:spPr>
      </p:sp>
      <p:sp>
        <p:nvSpPr>
          <p:cNvPr id="8" name="Text 6"/>
          <p:cNvSpPr/>
          <p:nvPr/>
        </p:nvSpPr>
        <p:spPr>
          <a:xfrm>
            <a:off x="6583680" y="2148840"/>
            <a:ext cx="182880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2. Corruption &amp;</a:t>
            </a:r>
            <a:endParaRPr lang="en-US" sz="1300" dirty="0"/>
          </a:p>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Instability</a:t>
            </a:r>
            <a:endParaRPr lang="en-US" sz="1300" dirty="0"/>
          </a:p>
        </p:txBody>
      </p:sp>
      <p:sp>
        <p:nvSpPr>
          <p:cNvPr id="9" name="Shape 7"/>
          <p:cNvSpPr/>
          <p:nvPr/>
        </p:nvSpPr>
        <p:spPr>
          <a:xfrm>
            <a:off x="5760720" y="3657600"/>
            <a:ext cx="1828800" cy="749808"/>
          </a:xfrm>
          <a:prstGeom prst="ellipse">
            <a:avLst/>
          </a:prstGeom>
          <a:solidFill>
            <a:srgbClr val="1A4731"/>
          </a:solidFill>
          <a:ln w="12700">
            <a:solidFill>
              <a:srgbClr val="C9A84C"/>
            </a:solidFill>
            <a:prstDash val="solid"/>
          </a:ln>
        </p:spPr>
      </p:sp>
      <p:sp>
        <p:nvSpPr>
          <p:cNvPr id="10" name="Text 8"/>
          <p:cNvSpPr/>
          <p:nvPr/>
        </p:nvSpPr>
        <p:spPr>
          <a:xfrm>
            <a:off x="5760720" y="3703320"/>
            <a:ext cx="182880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3. Military</a:t>
            </a:r>
            <a:endParaRPr lang="en-US" sz="1300" dirty="0"/>
          </a:p>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Coup</a:t>
            </a:r>
            <a:endParaRPr lang="en-US" sz="1300" dirty="0"/>
          </a:p>
        </p:txBody>
      </p:sp>
      <p:sp>
        <p:nvSpPr>
          <p:cNvPr id="11" name="Shape 9"/>
          <p:cNvSpPr/>
          <p:nvPr/>
        </p:nvSpPr>
        <p:spPr>
          <a:xfrm>
            <a:off x="1645920" y="3657600"/>
            <a:ext cx="1828800" cy="749808"/>
          </a:xfrm>
          <a:prstGeom prst="ellipse">
            <a:avLst/>
          </a:prstGeom>
          <a:solidFill>
            <a:srgbClr val="1A4731"/>
          </a:solidFill>
          <a:ln w="12700">
            <a:solidFill>
              <a:srgbClr val="C9A84C"/>
            </a:solidFill>
            <a:prstDash val="solid"/>
          </a:ln>
        </p:spPr>
      </p:sp>
      <p:sp>
        <p:nvSpPr>
          <p:cNvPr id="12" name="Text 10"/>
          <p:cNvSpPr/>
          <p:nvPr/>
        </p:nvSpPr>
        <p:spPr>
          <a:xfrm>
            <a:off x="1645920" y="3703320"/>
            <a:ext cx="182880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4. Public</a:t>
            </a:r>
            <a:endParaRPr lang="en-US" sz="1300" dirty="0"/>
          </a:p>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Disillusionment</a:t>
            </a:r>
            <a:endParaRPr lang="en-US" sz="1300" dirty="0"/>
          </a:p>
        </p:txBody>
      </p:sp>
      <p:sp>
        <p:nvSpPr>
          <p:cNvPr id="13" name="Shape 11"/>
          <p:cNvSpPr/>
          <p:nvPr/>
        </p:nvSpPr>
        <p:spPr>
          <a:xfrm>
            <a:off x="868680" y="2103120"/>
            <a:ext cx="1828800" cy="749808"/>
          </a:xfrm>
          <a:prstGeom prst="ellipse">
            <a:avLst/>
          </a:prstGeom>
          <a:solidFill>
            <a:srgbClr val="1A4731"/>
          </a:solidFill>
          <a:ln w="12700">
            <a:solidFill>
              <a:srgbClr val="C9A84C"/>
            </a:solidFill>
            <a:prstDash val="solid"/>
          </a:ln>
        </p:spPr>
      </p:sp>
      <p:sp>
        <p:nvSpPr>
          <p:cNvPr id="14" name="Text 12"/>
          <p:cNvSpPr/>
          <p:nvPr/>
        </p:nvSpPr>
        <p:spPr>
          <a:xfrm>
            <a:off x="868680" y="2148840"/>
            <a:ext cx="182880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5. Return to</a:t>
            </a:r>
            <a:endParaRPr lang="en-US" sz="1300" dirty="0"/>
          </a:p>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Civilian Rule</a:t>
            </a:r>
            <a:endParaRPr lang="en-US" sz="1300" dirty="0"/>
          </a:p>
        </p:txBody>
      </p:sp>
      <p:sp>
        <p:nvSpPr>
          <p:cNvPr id="15" name="Text 13"/>
          <p:cNvSpPr/>
          <p:nvPr/>
        </p:nvSpPr>
        <p:spPr>
          <a:xfrm>
            <a:off x="5852160" y="1508760"/>
            <a:ext cx="1371600" cy="438912"/>
          </a:xfrm>
          <a:prstGeom prst="rect">
            <a:avLst/>
          </a:prstGeom>
          <a:noFill/>
          <a:ln/>
        </p:spPr>
        <p:txBody>
          <a:bodyPr wrap="square" lIns="0" tIns="0" rIns="0" bIns="0" rtlCol="0" anchor="ctr"/>
          <a:lstStyle/>
          <a:p>
            <a:pPr marL="0" indent="0" algn="ctr">
              <a:buNone/>
            </a:pPr>
            <a:r>
              <a:rPr lang="en-US" sz="1200" i="1" dirty="0">
                <a:solidFill>
                  <a:srgbClr val="6B7A8D"/>
                </a:solidFill>
                <a:latin typeface="Times New Roman" pitchFamily="34" charset="0"/>
                <a:ea typeface="Times New Roman" pitchFamily="34" charset="-122"/>
                <a:cs typeface="Times New Roman" pitchFamily="34" charset="-120"/>
              </a:rPr>
              <a:t>Legitimacy</a:t>
            </a:r>
            <a:endParaRPr lang="en-US" sz="1200" dirty="0"/>
          </a:p>
          <a:p>
            <a:pPr marL="0" indent="0" algn="ctr">
              <a:buNone/>
            </a:pPr>
            <a:r>
              <a:rPr lang="en-US" sz="1200" i="1" dirty="0">
                <a:solidFill>
                  <a:srgbClr val="6B7A8D"/>
                </a:solidFill>
                <a:latin typeface="Times New Roman" pitchFamily="34" charset="0"/>
                <a:ea typeface="Times New Roman" pitchFamily="34" charset="-122"/>
                <a:cs typeface="Times New Roman" pitchFamily="34" charset="-120"/>
              </a:rPr>
              <a:t>erodes</a:t>
            </a:r>
            <a:endParaRPr lang="en-US" sz="1200" dirty="0"/>
          </a:p>
        </p:txBody>
      </p:sp>
      <p:sp>
        <p:nvSpPr>
          <p:cNvPr id="16" name="Text 14"/>
          <p:cNvSpPr/>
          <p:nvPr/>
        </p:nvSpPr>
        <p:spPr>
          <a:xfrm>
            <a:off x="6766560" y="3063240"/>
            <a:ext cx="1371600" cy="438912"/>
          </a:xfrm>
          <a:prstGeom prst="rect">
            <a:avLst/>
          </a:prstGeom>
          <a:noFill/>
          <a:ln/>
        </p:spPr>
        <p:txBody>
          <a:bodyPr wrap="square" lIns="0" tIns="0" rIns="0" bIns="0" rtlCol="0" anchor="ctr"/>
          <a:lstStyle/>
          <a:p>
            <a:pPr marL="0" indent="0" algn="ctr">
              <a:buNone/>
            </a:pPr>
            <a:r>
              <a:rPr lang="en-US" sz="1200" i="1" dirty="0">
                <a:solidFill>
                  <a:srgbClr val="6B7A8D"/>
                </a:solidFill>
                <a:latin typeface="Times New Roman" pitchFamily="34" charset="0"/>
                <a:ea typeface="Times New Roman" pitchFamily="34" charset="-122"/>
                <a:cs typeface="Times New Roman" pitchFamily="34" charset="-120"/>
              </a:rPr>
              <a:t>Army</a:t>
            </a:r>
            <a:endParaRPr lang="en-US" sz="1200" dirty="0"/>
          </a:p>
          <a:p>
            <a:pPr marL="0" indent="0" algn="ctr">
              <a:buNone/>
            </a:pPr>
            <a:r>
              <a:rPr lang="en-US" sz="1200" i="1" dirty="0">
                <a:solidFill>
                  <a:srgbClr val="6B7A8D"/>
                </a:solidFill>
                <a:latin typeface="Times New Roman" pitchFamily="34" charset="0"/>
                <a:ea typeface="Times New Roman" pitchFamily="34" charset="-122"/>
                <a:cs typeface="Times New Roman" pitchFamily="34" charset="-120"/>
              </a:rPr>
              <a:t>intervenes</a:t>
            </a:r>
            <a:endParaRPr lang="en-US" sz="1200" dirty="0"/>
          </a:p>
        </p:txBody>
      </p:sp>
      <p:sp>
        <p:nvSpPr>
          <p:cNvPr id="17" name="Text 15"/>
          <p:cNvSpPr/>
          <p:nvPr/>
        </p:nvSpPr>
        <p:spPr>
          <a:xfrm>
            <a:off x="3200400" y="4160520"/>
            <a:ext cx="1371600" cy="438912"/>
          </a:xfrm>
          <a:prstGeom prst="rect">
            <a:avLst/>
          </a:prstGeom>
          <a:noFill/>
          <a:ln/>
        </p:spPr>
        <p:txBody>
          <a:bodyPr wrap="square" lIns="0" tIns="0" rIns="0" bIns="0" rtlCol="0" anchor="ctr"/>
          <a:lstStyle/>
          <a:p>
            <a:pPr marL="0" indent="0" algn="ctr">
              <a:buNone/>
            </a:pPr>
            <a:r>
              <a:rPr lang="en-US" sz="1200" i="1" dirty="0">
                <a:solidFill>
                  <a:srgbClr val="6B7A8D"/>
                </a:solidFill>
                <a:latin typeface="Times New Roman" pitchFamily="34" charset="0"/>
                <a:ea typeface="Times New Roman" pitchFamily="34" charset="-122"/>
                <a:cs typeface="Times New Roman" pitchFamily="34" charset="-120"/>
              </a:rPr>
              <a:t>Restoration</a:t>
            </a:r>
            <a:endParaRPr lang="en-US" sz="1200" dirty="0"/>
          </a:p>
          <a:p>
            <a:pPr marL="0" indent="0" algn="ctr">
              <a:buNone/>
            </a:pPr>
            <a:r>
              <a:rPr lang="en-US" sz="1200" i="1" dirty="0">
                <a:solidFill>
                  <a:srgbClr val="6B7A8D"/>
                </a:solidFill>
                <a:latin typeface="Times New Roman" pitchFamily="34" charset="0"/>
                <a:ea typeface="Times New Roman" pitchFamily="34" charset="-122"/>
                <a:cs typeface="Times New Roman" pitchFamily="34" charset="-120"/>
              </a:rPr>
              <a:t>demanded</a:t>
            </a:r>
            <a:endParaRPr lang="en-US" sz="1200" dirty="0"/>
          </a:p>
        </p:txBody>
      </p:sp>
      <p:sp>
        <p:nvSpPr>
          <p:cNvPr id="18" name="Text 16"/>
          <p:cNvSpPr/>
          <p:nvPr/>
        </p:nvSpPr>
        <p:spPr>
          <a:xfrm>
            <a:off x="502920" y="3063240"/>
            <a:ext cx="1371600" cy="438912"/>
          </a:xfrm>
          <a:prstGeom prst="rect">
            <a:avLst/>
          </a:prstGeom>
          <a:noFill/>
          <a:ln/>
        </p:spPr>
        <p:txBody>
          <a:bodyPr wrap="square" lIns="0" tIns="0" rIns="0" bIns="0" rtlCol="0" anchor="ctr"/>
          <a:lstStyle/>
          <a:p>
            <a:pPr marL="0" indent="0" algn="ctr">
              <a:buNone/>
            </a:pPr>
            <a:r>
              <a:rPr lang="en-US" sz="1200" i="1" dirty="0">
                <a:solidFill>
                  <a:srgbClr val="6B7A8D"/>
                </a:solidFill>
                <a:latin typeface="Times New Roman" pitchFamily="34" charset="0"/>
                <a:ea typeface="Times New Roman" pitchFamily="34" charset="-122"/>
                <a:cs typeface="Times New Roman" pitchFamily="34" charset="-120"/>
              </a:rPr>
              <a:t>Elections</a:t>
            </a:r>
            <a:endParaRPr lang="en-US" sz="1200" dirty="0"/>
          </a:p>
          <a:p>
            <a:pPr marL="0" indent="0" algn="ctr">
              <a:buNone/>
            </a:pPr>
            <a:r>
              <a:rPr lang="en-US" sz="1200" i="1" dirty="0">
                <a:solidFill>
                  <a:srgbClr val="6B7A8D"/>
                </a:solidFill>
                <a:latin typeface="Times New Roman" pitchFamily="34" charset="0"/>
                <a:ea typeface="Times New Roman" pitchFamily="34" charset="-122"/>
                <a:cs typeface="Times New Roman" pitchFamily="34" charset="-120"/>
              </a:rPr>
              <a:t>called</a:t>
            </a:r>
            <a:endParaRPr lang="en-US" sz="1200" dirty="0"/>
          </a:p>
        </p:txBody>
      </p:sp>
      <p:sp>
        <p:nvSpPr>
          <p:cNvPr id="19" name="Text 17"/>
          <p:cNvSpPr/>
          <p:nvPr/>
        </p:nvSpPr>
        <p:spPr>
          <a:xfrm>
            <a:off x="1828800" y="1463040"/>
            <a:ext cx="1371600" cy="438912"/>
          </a:xfrm>
          <a:prstGeom prst="rect">
            <a:avLst/>
          </a:prstGeom>
          <a:noFill/>
          <a:ln/>
        </p:spPr>
        <p:txBody>
          <a:bodyPr wrap="square" lIns="0" tIns="0" rIns="0" bIns="0" rtlCol="0" anchor="ctr"/>
          <a:lstStyle/>
          <a:p>
            <a:pPr marL="0" indent="0" algn="ctr">
              <a:buNone/>
            </a:pPr>
            <a:r>
              <a:rPr lang="en-US" sz="1200" i="1" dirty="0">
                <a:solidFill>
                  <a:srgbClr val="6B7A8D"/>
                </a:solidFill>
                <a:latin typeface="Times New Roman" pitchFamily="34" charset="0"/>
                <a:ea typeface="Times New Roman" pitchFamily="34" charset="-122"/>
                <a:cs typeface="Times New Roman" pitchFamily="34" charset="-120"/>
              </a:rPr>
              <a:t>Cycle</a:t>
            </a:r>
            <a:endParaRPr lang="en-US" sz="1200" dirty="0"/>
          </a:p>
          <a:p>
            <a:pPr marL="0" indent="0" algn="ctr">
              <a:buNone/>
            </a:pPr>
            <a:r>
              <a:rPr lang="en-US" sz="1200" i="1" dirty="0">
                <a:solidFill>
                  <a:srgbClr val="6B7A8D"/>
                </a:solidFill>
                <a:latin typeface="Times New Roman" pitchFamily="34" charset="0"/>
                <a:ea typeface="Times New Roman" pitchFamily="34" charset="-122"/>
                <a:cs typeface="Times New Roman" pitchFamily="34" charset="-120"/>
              </a:rPr>
              <a:t>repeats</a:t>
            </a:r>
            <a:endParaRPr lang="en-US" sz="1200" dirty="0"/>
          </a:p>
        </p:txBody>
      </p:sp>
      <p:sp>
        <p:nvSpPr>
          <p:cNvPr id="20" name="Text 18"/>
          <p:cNvSpPr/>
          <p:nvPr/>
        </p:nvSpPr>
        <p:spPr>
          <a:xfrm>
            <a:off x="274320" y="4645152"/>
            <a:ext cx="8595360" cy="274320"/>
          </a:xfrm>
          <a:prstGeom prst="rect">
            <a:avLst/>
          </a:prstGeom>
          <a:noFill/>
          <a:ln/>
        </p:spPr>
        <p:txBody>
          <a:bodyPr wrap="square" lIns="0" tIns="0" rIns="0" bIns="0" rtlCol="0" anchor="ctr"/>
          <a:lstStyle/>
          <a:p>
            <a:pPr marL="0" indent="0" algn="ctr">
              <a:buNone/>
            </a:pPr>
            <a:r>
              <a:rPr lang="en-US" sz="1300" i="1" dirty="0">
                <a:solidFill>
                  <a:srgbClr val="3D4A5C"/>
                </a:solidFill>
                <a:latin typeface="Times New Roman" pitchFamily="34" charset="0"/>
                <a:ea typeface="Times New Roman" pitchFamily="34" charset="-122"/>
                <a:cs typeface="Times New Roman" pitchFamily="34" charset="-120"/>
              </a:rPr>
              <a:t>The Recurring Cycle  (1958 → 1971 → 1977 → 1999 → 2008 → 2022)</a:t>
            </a:r>
            <a:endParaRPr lang="en-US" sz="1300" dirty="0"/>
          </a:p>
        </p:txBody>
      </p:sp>
      <p:sp>
        <p:nvSpPr>
          <p:cNvPr id="9900" name="SlideNum_12"/>
          <p:cNvSpPr txBox="1"/>
          <p:nvPr/>
        </p:nvSpPr>
        <p:spPr>
          <a:xfrm>
            <a:off x="8229600" y="4953500"/>
            <a:ext cx="685800" cy="190000"/>
          </a:xfrm>
          <a:prstGeom prst="rect">
            <a:avLst/>
          </a:prstGeom>
          <a:noFill/>
        </p:spPr>
        <p:txBody>
          <a:bodyPr wrap="square" rtlCol="0"/>
          <a:lstStyle/>
          <a:p>
            <a:pPr algn="r"/>
            <a:r>
              <a:rPr lang="en-US" sz="900" b="0" dirty="0">
                <a:solidFill>
                  <a:srgbClr val="1A4731"/>
                </a:solidFill>
              </a:rPr>
              <a:t>12 / 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111145"/>
            <a:ext cx="8686800" cy="640080"/>
          </a:xfrm>
          <a:prstGeom prst="rect">
            <a:avLst/>
          </a:prstGeom>
          <a:noFill/>
          <a:ln/>
        </p:spPr>
        <p:txBody>
          <a:bodyPr wrap="square" lIns="0" tIns="0" rIns="0" bIns="0" rtlCol="0" anchor="ctr"/>
          <a:lstStyle/>
          <a:p>
            <a:r>
              <a:rPr lang="en-US" sz="3200" b="1">
                <a:solidFill>
                  <a:srgbClr val="1A4731"/>
                </a:solidFill>
                <a:latin typeface="Times New Roman"/>
                <a:ea typeface="Times New Roman" pitchFamily="34" charset="-122"/>
                <a:cs typeface="Times New Roman"/>
              </a:rPr>
              <a:t>Structural Inequality in Civil-Military Relations</a:t>
            </a:r>
            <a:endParaRPr lang="en-US" sz="3200">
              <a:latin typeface="Times New Roman"/>
              <a:ea typeface="Calibri"/>
              <a:cs typeface="Times New Roman"/>
            </a:endParaRPr>
          </a:p>
        </p:txBody>
      </p:sp>
      <p:sp>
        <p:nvSpPr>
          <p:cNvPr id="3" name="Shape 1"/>
          <p:cNvSpPr/>
          <p:nvPr/>
        </p:nvSpPr>
        <p:spPr>
          <a:xfrm>
            <a:off x="228600" y="831331"/>
            <a:ext cx="8686800" cy="36576"/>
          </a:xfrm>
          <a:prstGeom prst="rect">
            <a:avLst/>
          </a:prstGeom>
          <a:solidFill>
            <a:srgbClr val="C9A84C"/>
          </a:solidFill>
          <a:ln w="12700">
            <a:solidFill>
              <a:srgbClr val="C9A84C"/>
            </a:solidFill>
            <a:prstDash val="solid"/>
          </a:ln>
        </p:spPr>
      </p:sp>
      <p:sp>
        <p:nvSpPr>
          <p:cNvPr id="5" name="Text 3"/>
          <p:cNvSpPr/>
          <p:nvPr/>
        </p:nvSpPr>
        <p:spPr>
          <a:xfrm>
            <a:off x="274320" y="1051560"/>
            <a:ext cx="5349240" cy="3657600"/>
          </a:xfrm>
          <a:prstGeom prst="rect">
            <a:avLst/>
          </a:prstGeom>
          <a:noFill/>
          <a:ln/>
        </p:spPr>
        <p:txBody>
          <a:bodyPr wrap="square" lIns="91440" tIns="45720" rIns="91440" bIns="45720" rtlCol="0" anchor="t"/>
          <a:lstStyle/>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The Military's Three Pillars of Power</a:t>
            </a:r>
            <a:endParaRPr lang="en-US" sz="1350" dirty="0"/>
          </a:p>
          <a:p>
            <a:pPr marL="508000" lvl="1" indent="-254000">
              <a:spcAft>
                <a:spcPts val="400"/>
              </a:spcAft>
              <a:buSzPct val="100000"/>
              <a:buChar char="•"/>
            </a:pPr>
            <a:r>
              <a:rPr lang="en-US" sz="1350" dirty="0">
                <a:solidFill>
                  <a:srgbClr val="3D4A5C"/>
                </a:solidFill>
                <a:latin typeface="Times New Roman" pitchFamily="34" charset="0"/>
                <a:ea typeface="Times New Roman" pitchFamily="34" charset="-122"/>
                <a:cs typeface="Times New Roman" pitchFamily="34" charset="-120"/>
              </a:rPr>
              <a:t>Property: Fauji Foundation &amp; Army Welfare Trust own vast commercial enterprises (cement, fertilizer, banking)</a:t>
            </a:r>
            <a:endParaRPr lang="en-US" sz="1350" dirty="0"/>
          </a:p>
          <a:p>
            <a:pPr marL="508000" lvl="1" indent="-254000">
              <a:spcAft>
                <a:spcPts val="400"/>
              </a:spcAft>
              <a:buSzPct val="100000"/>
              <a:buChar char="•"/>
            </a:pPr>
            <a:r>
              <a:rPr lang="en-US" sz="1350" dirty="0">
                <a:solidFill>
                  <a:srgbClr val="3D4A5C"/>
                </a:solidFill>
                <a:latin typeface="Times New Roman" pitchFamily="34" charset="0"/>
                <a:ea typeface="Times New Roman" pitchFamily="34" charset="-122"/>
                <a:cs typeface="Times New Roman" pitchFamily="34" charset="-120"/>
              </a:rPr>
              <a:t>Business: Military runs industries shielded from market competition and civilian oversight</a:t>
            </a:r>
            <a:endParaRPr lang="en-US" sz="1350" dirty="0"/>
          </a:p>
          <a:p>
            <a:pPr marL="508000" lvl="1" indent="-254000">
              <a:spcAft>
                <a:spcPts val="400"/>
              </a:spcAft>
              <a:buSzPct val="100000"/>
              <a:buChar char="•"/>
            </a:pPr>
            <a:r>
              <a:rPr lang="en-US" sz="1350" dirty="0">
                <a:solidFill>
                  <a:srgbClr val="3D4A5C"/>
                </a:solidFill>
                <a:latin typeface="Times New Roman"/>
                <a:ea typeface="Times New Roman" pitchFamily="34" charset="-122"/>
                <a:cs typeface="Times New Roman"/>
              </a:rPr>
              <a:t>Foreign Policy: Only the military negotiates with the US, China, </a:t>
            </a:r>
            <a:r>
              <a:rPr lang="en-US" sz="1350">
                <a:solidFill>
                  <a:srgbClr val="3D4A5C"/>
                </a:solidFill>
                <a:latin typeface="Times New Roman"/>
                <a:ea typeface="Times New Roman" pitchFamily="34" charset="-122"/>
                <a:cs typeface="Times New Roman"/>
              </a:rPr>
              <a:t>Afghanistan; civilians are bypassed</a:t>
            </a:r>
            <a:endParaRPr lang="en-US" sz="1350">
              <a:latin typeface="Times New Roman"/>
              <a:cs typeface="Times New Roman"/>
            </a:endParaRPr>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Why Simple Reforms Fail</a:t>
            </a:r>
            <a:endParaRPr lang="en-US" sz="1350" dirty="0"/>
          </a:p>
          <a:p>
            <a:pPr marL="508000" lvl="1" indent="-254000">
              <a:spcAft>
                <a:spcPts val="400"/>
              </a:spcAft>
              <a:buSzPct val="100000"/>
              <a:buChar char="•"/>
            </a:pPr>
            <a:r>
              <a:rPr lang="en-US" sz="1350" dirty="0">
                <a:solidFill>
                  <a:srgbClr val="3D4A5C"/>
                </a:solidFill>
                <a:latin typeface="Times New Roman" pitchFamily="34" charset="0"/>
                <a:ea typeface="Times New Roman" pitchFamily="34" charset="-122"/>
                <a:cs typeface="Times New Roman" pitchFamily="34" charset="-120"/>
              </a:rPr>
              <a:t>Transparency laws cannot target assets buried within military-run corporations</a:t>
            </a:r>
            <a:endParaRPr lang="en-US" sz="1350" dirty="0"/>
          </a:p>
          <a:p>
            <a:pPr marL="508000" lvl="1" indent="-254000">
              <a:spcAft>
                <a:spcPts val="400"/>
              </a:spcAft>
              <a:buSzPct val="100000"/>
              <a:buChar char="•"/>
            </a:pPr>
            <a:r>
              <a:rPr lang="en-US" sz="1350" dirty="0">
                <a:solidFill>
                  <a:srgbClr val="3D4A5C"/>
                </a:solidFill>
                <a:latin typeface="Times New Roman" pitchFamily="34" charset="0"/>
                <a:ea typeface="Times New Roman" pitchFamily="34" charset="-122"/>
                <a:cs typeface="Times New Roman" pitchFamily="34" charset="-120"/>
              </a:rPr>
              <a:t>Politicians who challenge military business interests face legal persecution or removal</a:t>
            </a:r>
            <a:endParaRPr lang="en-US" sz="1350" dirty="0"/>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Lieven's Conclusion: Only a shift in structural power — not just electoral outcomes — can change this</a:t>
            </a:r>
            <a:endParaRPr lang="en-US" sz="1350" dirty="0"/>
          </a:p>
        </p:txBody>
      </p:sp>
      <p:sp>
        <p:nvSpPr>
          <p:cNvPr id="6" name="Shape 4"/>
          <p:cNvSpPr/>
          <p:nvPr/>
        </p:nvSpPr>
        <p:spPr>
          <a:xfrm>
            <a:off x="5760720" y="1051560"/>
            <a:ext cx="3154680" cy="3566160"/>
          </a:xfrm>
          <a:prstGeom prst="rect">
            <a:avLst/>
          </a:prstGeom>
          <a:solidFill>
            <a:srgbClr val="3D4A5C"/>
          </a:solidFill>
          <a:ln w="12700">
            <a:solidFill>
              <a:srgbClr val="6B7A8D"/>
            </a:solidFill>
            <a:prstDash val="solid"/>
          </a:ln>
        </p:spPr>
      </p:sp>
      <p:sp>
        <p:nvSpPr>
          <p:cNvPr id="50" name="InfTitle"/>
          <p:cNvSpPr/>
          <p:nvPr/>
        </p:nvSpPr>
        <p:spPr>
          <a:xfrm>
            <a:off x="5810720" y="1131560"/>
            <a:ext cx="3054680" cy="200000"/>
          </a:xfrm>
          <a:prstGeom prst="rect">
            <a:avLst/>
          </a:prstGeom>
          <a:noFill/>
        </p:spPr>
        <p:txBody>
          <a:bodyPr wrap="square" lIns="45720" tIns="45720" rIns="45720" bIns="45720" rtlCol="0" anchor="ctr"/>
          <a:lstStyle/>
          <a:p>
            <a:pPr marL="0" indent="0" algn="ctr">
              <a:buNone/>
            </a:pPr>
            <a:r>
              <a:rPr lang="en-US" sz="1100" b="1" dirty="0">
                <a:solidFill>
                  <a:srgbClr val="C9A84C"/>
                </a:solidFill>
                <a:latin typeface="Times New Roman" pitchFamily="34" charset="0"/>
              </a:rPr>
              <a:t>Military's Structural Power Base</a:t>
            </a:r>
            <a:endParaRPr lang="en-US" sz="1100" dirty="0"/>
          </a:p>
        </p:txBody>
      </p:sp>
      <p:sp>
        <p:nvSpPr>
          <p:cNvPr id="51" name="Pillar0"/>
          <p:cNvSpPr/>
          <p:nvPr/>
        </p:nvSpPr>
        <p:spPr>
          <a:xfrm>
            <a:off x="5810720" y="1431560"/>
            <a:ext cx="984893" cy="2966160"/>
          </a:xfrm>
          <a:prstGeom prst="rect">
            <a:avLst/>
          </a:prstGeom>
          <a:solidFill>
            <a:srgbClr val="1A3A50"/>
          </a:solidFill>
          <a:ln w="19050">
            <a:solidFill>
              <a:srgbClr val="C9A84C"/>
            </a:solidFill>
            <a:prstDash val="solid"/>
          </a:ln>
        </p:spPr>
      </p:sp>
      <p:sp>
        <p:nvSpPr>
          <p:cNvPr id="52" name="Cap0"/>
          <p:cNvSpPr/>
          <p:nvPr/>
        </p:nvSpPr>
        <p:spPr>
          <a:xfrm>
            <a:off x="5790720" y="1401560"/>
            <a:ext cx="1024893" cy="80000"/>
          </a:xfrm>
          <a:prstGeom prst="rect">
            <a:avLst/>
          </a:prstGeom>
          <a:solidFill>
            <a:srgbClr val="C9A84C"/>
          </a:solidFill>
        </p:spPr>
      </p:sp>
      <p:sp>
        <p:nvSpPr>
          <p:cNvPr id="53" name="PLbl0"/>
          <p:cNvSpPr/>
          <p:nvPr/>
        </p:nvSpPr>
        <p:spPr>
          <a:xfrm>
            <a:off x="5810720" y="1481560"/>
            <a:ext cx="984893" cy="340000"/>
          </a:xfrm>
          <a:prstGeom prst="rect">
            <a:avLst/>
          </a:prstGeom>
          <a:noFill/>
        </p:spPr>
        <p:txBody>
          <a:bodyPr wrap="square" lIns="45720" tIns="45720" rIns="45720" bIns="45720" rtlCol="0" anchor="ctr"/>
          <a:lstStyle/>
          <a:p>
            <a:pPr marL="0" indent="0" algn="ctr">
              <a:buNone/>
            </a:pPr>
            <a:r>
              <a:rPr lang="en-US" sz="1000" b="1" dirty="0">
                <a:solidFill>
                  <a:srgbClr val="C9A84C"/>
                </a:solidFill>
                <a:latin typeface="Times New Roman" pitchFamily="34" charset="0"/>
              </a:rPr>
              <a:t>Land &amp;
Property</a:t>
            </a:r>
            <a:endParaRPr lang="en-US" sz="1000" dirty="0"/>
          </a:p>
        </p:txBody>
      </p:sp>
      <p:sp>
        <p:nvSpPr>
          <p:cNvPr id="54" name="PDtl0"/>
          <p:cNvSpPr/>
          <p:nvPr/>
        </p:nvSpPr>
        <p:spPr>
          <a:xfrm>
            <a:off x="5840720" y="1871560"/>
            <a:ext cx="924893" cy="40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Fauji Foundation
Army Welfare Trust</a:t>
            </a:r>
            <a:endParaRPr lang="en-US" sz="900" dirty="0"/>
          </a:p>
        </p:txBody>
      </p:sp>
      <p:sp>
        <p:nvSpPr>
          <p:cNvPr id="55" name="PAr0"/>
          <p:cNvSpPr/>
          <p:nvPr/>
        </p:nvSpPr>
        <p:spPr>
          <a:xfrm>
            <a:off x="6273166" y="2351560"/>
            <a:ext cx="60000" cy="600000"/>
          </a:xfrm>
          <a:prstGeom prst="rect">
            <a:avLst/>
          </a:prstGeom>
          <a:solidFill>
            <a:srgbClr val="C9A84C"/>
          </a:solidFill>
        </p:spPr>
      </p:sp>
      <p:sp>
        <p:nvSpPr>
          <p:cNvPr id="56" name="PArrow0"/>
          <p:cNvSpPr/>
          <p:nvPr/>
        </p:nvSpPr>
        <p:spPr>
          <a:xfrm>
            <a:off x="6243166" y="2951560"/>
            <a:ext cx="120000" cy="120000"/>
          </a:xfrm>
          <a:prstGeom prst="rect">
            <a:avLst/>
          </a:prstGeom>
          <a:solidFill>
            <a:srgbClr val="C9A84C"/>
          </a:solidFill>
        </p:spPr>
      </p:sp>
      <p:sp>
        <p:nvSpPr>
          <p:cNvPr id="57" name="Pillar1"/>
          <p:cNvSpPr/>
          <p:nvPr/>
        </p:nvSpPr>
        <p:spPr>
          <a:xfrm>
            <a:off x="6820613" y="1431560"/>
            <a:ext cx="984893" cy="2966160"/>
          </a:xfrm>
          <a:prstGeom prst="rect">
            <a:avLst/>
          </a:prstGeom>
          <a:solidFill>
            <a:srgbClr val="1A4731"/>
          </a:solidFill>
          <a:ln w="19050">
            <a:solidFill>
              <a:srgbClr val="C9A84C"/>
            </a:solidFill>
            <a:prstDash val="solid"/>
          </a:ln>
        </p:spPr>
      </p:sp>
      <p:sp>
        <p:nvSpPr>
          <p:cNvPr id="58" name="Cap1"/>
          <p:cNvSpPr/>
          <p:nvPr/>
        </p:nvSpPr>
        <p:spPr>
          <a:xfrm>
            <a:off x="6800613" y="1401560"/>
            <a:ext cx="1024893" cy="80000"/>
          </a:xfrm>
          <a:prstGeom prst="rect">
            <a:avLst/>
          </a:prstGeom>
          <a:solidFill>
            <a:srgbClr val="C9A84C"/>
          </a:solidFill>
        </p:spPr>
      </p:sp>
      <p:sp>
        <p:nvSpPr>
          <p:cNvPr id="59" name="PLbl1"/>
          <p:cNvSpPr/>
          <p:nvPr/>
        </p:nvSpPr>
        <p:spPr>
          <a:xfrm>
            <a:off x="6820613" y="1481560"/>
            <a:ext cx="984893" cy="340000"/>
          </a:xfrm>
          <a:prstGeom prst="rect">
            <a:avLst/>
          </a:prstGeom>
          <a:noFill/>
        </p:spPr>
        <p:txBody>
          <a:bodyPr wrap="square" lIns="45720" tIns="45720" rIns="45720" bIns="45720" rtlCol="0" anchor="ctr"/>
          <a:lstStyle/>
          <a:p>
            <a:pPr marL="0" indent="0" algn="ctr">
              <a:buNone/>
            </a:pPr>
            <a:r>
              <a:rPr lang="en-US" sz="1000" b="1" dirty="0">
                <a:solidFill>
                  <a:srgbClr val="C9A84C"/>
                </a:solidFill>
                <a:latin typeface="Times New Roman" pitchFamily="34" charset="0"/>
              </a:rPr>
              <a:t>Military
Businesses</a:t>
            </a:r>
            <a:endParaRPr lang="en-US" sz="1000" dirty="0"/>
          </a:p>
        </p:txBody>
      </p:sp>
      <p:sp>
        <p:nvSpPr>
          <p:cNvPr id="60" name="PDtl1"/>
          <p:cNvSpPr/>
          <p:nvPr/>
        </p:nvSpPr>
        <p:spPr>
          <a:xfrm>
            <a:off x="6850613" y="1871560"/>
            <a:ext cx="924893" cy="40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Cement, Fertilizer
Banking, Insurance</a:t>
            </a:r>
            <a:endParaRPr lang="en-US" sz="900" dirty="0"/>
          </a:p>
        </p:txBody>
      </p:sp>
      <p:sp>
        <p:nvSpPr>
          <p:cNvPr id="61" name="PAr1"/>
          <p:cNvSpPr/>
          <p:nvPr/>
        </p:nvSpPr>
        <p:spPr>
          <a:xfrm>
            <a:off x="7283059" y="2351560"/>
            <a:ext cx="60000" cy="600000"/>
          </a:xfrm>
          <a:prstGeom prst="rect">
            <a:avLst/>
          </a:prstGeom>
          <a:solidFill>
            <a:srgbClr val="C9A84C"/>
          </a:solidFill>
        </p:spPr>
      </p:sp>
      <p:sp>
        <p:nvSpPr>
          <p:cNvPr id="62" name="PArrow1"/>
          <p:cNvSpPr/>
          <p:nvPr/>
        </p:nvSpPr>
        <p:spPr>
          <a:xfrm>
            <a:off x="7253059" y="2951560"/>
            <a:ext cx="120000" cy="120000"/>
          </a:xfrm>
          <a:prstGeom prst="rect">
            <a:avLst/>
          </a:prstGeom>
          <a:solidFill>
            <a:srgbClr val="C9A84C"/>
          </a:solidFill>
        </p:spPr>
      </p:sp>
      <p:sp>
        <p:nvSpPr>
          <p:cNvPr id="63" name="Pillar2"/>
          <p:cNvSpPr/>
          <p:nvPr/>
        </p:nvSpPr>
        <p:spPr>
          <a:xfrm>
            <a:off x="7830506" y="1431560"/>
            <a:ext cx="984893" cy="2966160"/>
          </a:xfrm>
          <a:prstGeom prst="rect">
            <a:avLst/>
          </a:prstGeom>
          <a:solidFill>
            <a:srgbClr val="5A2820"/>
          </a:solidFill>
          <a:ln w="19050">
            <a:solidFill>
              <a:srgbClr val="C9A84C"/>
            </a:solidFill>
            <a:prstDash val="solid"/>
          </a:ln>
        </p:spPr>
      </p:sp>
      <p:sp>
        <p:nvSpPr>
          <p:cNvPr id="64" name="Cap2"/>
          <p:cNvSpPr/>
          <p:nvPr/>
        </p:nvSpPr>
        <p:spPr>
          <a:xfrm>
            <a:off x="7810506" y="1401560"/>
            <a:ext cx="1024893" cy="80000"/>
          </a:xfrm>
          <a:prstGeom prst="rect">
            <a:avLst/>
          </a:prstGeom>
          <a:solidFill>
            <a:srgbClr val="C9A84C"/>
          </a:solidFill>
        </p:spPr>
      </p:sp>
      <p:sp>
        <p:nvSpPr>
          <p:cNvPr id="65" name="PLbl2"/>
          <p:cNvSpPr/>
          <p:nvPr/>
        </p:nvSpPr>
        <p:spPr>
          <a:xfrm>
            <a:off x="7830506" y="1481560"/>
            <a:ext cx="984893" cy="340000"/>
          </a:xfrm>
          <a:prstGeom prst="rect">
            <a:avLst/>
          </a:prstGeom>
          <a:noFill/>
        </p:spPr>
        <p:txBody>
          <a:bodyPr wrap="square" lIns="45720" tIns="45720" rIns="45720" bIns="45720" rtlCol="0" anchor="ctr"/>
          <a:lstStyle/>
          <a:p>
            <a:pPr marL="0" indent="0" algn="ctr">
              <a:buNone/>
            </a:pPr>
            <a:r>
              <a:rPr lang="en-US" sz="1000" b="1" dirty="0">
                <a:solidFill>
                  <a:srgbClr val="C9A84C"/>
                </a:solidFill>
                <a:latin typeface="Times New Roman" pitchFamily="34" charset="0"/>
              </a:rPr>
              <a:t>Foreign
Policy</a:t>
            </a:r>
            <a:endParaRPr lang="en-US" sz="1000" dirty="0"/>
          </a:p>
        </p:txBody>
      </p:sp>
      <p:sp>
        <p:nvSpPr>
          <p:cNvPr id="66" name="PDtl2"/>
          <p:cNvSpPr/>
          <p:nvPr/>
        </p:nvSpPr>
        <p:spPr>
          <a:xfrm>
            <a:off x="7860506" y="1871560"/>
            <a:ext cx="924893" cy="40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US, China, AFG
Civilians bypassed</a:t>
            </a:r>
            <a:endParaRPr lang="en-US" sz="900" dirty="0"/>
          </a:p>
        </p:txBody>
      </p:sp>
      <p:sp>
        <p:nvSpPr>
          <p:cNvPr id="67" name="PAr2"/>
          <p:cNvSpPr/>
          <p:nvPr/>
        </p:nvSpPr>
        <p:spPr>
          <a:xfrm>
            <a:off x="8292952" y="2351560"/>
            <a:ext cx="60000" cy="600000"/>
          </a:xfrm>
          <a:prstGeom prst="rect">
            <a:avLst/>
          </a:prstGeom>
          <a:solidFill>
            <a:srgbClr val="C9A84C"/>
          </a:solidFill>
        </p:spPr>
      </p:sp>
      <p:sp>
        <p:nvSpPr>
          <p:cNvPr id="68" name="PArrow2"/>
          <p:cNvSpPr/>
          <p:nvPr/>
        </p:nvSpPr>
        <p:spPr>
          <a:xfrm>
            <a:off x="8262952" y="2951560"/>
            <a:ext cx="120000" cy="120000"/>
          </a:xfrm>
          <a:prstGeom prst="rect">
            <a:avLst/>
          </a:prstGeom>
          <a:solidFill>
            <a:srgbClr val="C9A84C"/>
          </a:solidFill>
        </p:spPr>
      </p:sp>
      <p:sp>
        <p:nvSpPr>
          <p:cNvPr id="69" name="Base"/>
          <p:cNvSpPr/>
          <p:nvPr/>
        </p:nvSpPr>
        <p:spPr>
          <a:xfrm>
            <a:off x="5790720" y="4237720"/>
            <a:ext cx="3094680" cy="250000"/>
          </a:xfrm>
          <a:prstGeom prst="rect">
            <a:avLst/>
          </a:prstGeom>
          <a:solidFill>
            <a:srgbClr val="B85042"/>
          </a:solidFill>
          <a:ln w="19050">
            <a:solidFill>
              <a:srgbClr val="C9A84C"/>
            </a:solidFill>
            <a:prstDash val="solid"/>
          </a:ln>
        </p:spPr>
        <p:txBody>
          <a:bodyPr wrap="square" lIns="45720" tIns="45720" rIns="45720" bIns="45720" rtlCol="0" anchor="ctr"/>
          <a:lstStyle/>
          <a:p>
            <a:pPr marL="0" indent="0" algn="ctr">
              <a:buNone/>
            </a:pPr>
            <a:r>
              <a:rPr lang="en-US" sz="1100" b="1" dirty="0">
                <a:solidFill>
                  <a:srgbClr val="FFFFFF"/>
                </a:solidFill>
                <a:latin typeface="Times New Roman" pitchFamily="34" charset="0"/>
              </a:rPr>
              <a:t>Blocks All Civilian Reform</a:t>
            </a:r>
            <a:endParaRPr lang="en-US" sz="1100" dirty="0"/>
          </a:p>
        </p:txBody>
      </p:sp>
      <p:sp>
        <p:nvSpPr>
          <p:cNvPr id="9900" name="SlideNum_13"/>
          <p:cNvSpPr txBox="1"/>
          <p:nvPr/>
        </p:nvSpPr>
        <p:spPr>
          <a:xfrm>
            <a:off x="8229600" y="4953500"/>
            <a:ext cx="685800" cy="190000"/>
          </a:xfrm>
          <a:prstGeom prst="rect">
            <a:avLst/>
          </a:prstGeom>
          <a:noFill/>
        </p:spPr>
        <p:txBody>
          <a:bodyPr wrap="square" rtlCol="0"/>
          <a:lstStyle/>
          <a:p>
            <a:pPr algn="r"/>
            <a:r>
              <a:rPr lang="en-US" sz="900" b="0" dirty="0">
                <a:solidFill>
                  <a:srgbClr val="1A4731"/>
                </a:solidFill>
              </a:rPr>
              <a:t>13 / 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w="12700">
            <a:solidFill>
              <a:srgbClr val="C9A84C"/>
            </a:solidFill>
            <a:prstDash val="solid"/>
          </a:ln>
        </p:spPr>
      </p:sp>
      <p:sp>
        <p:nvSpPr>
          <p:cNvPr id="3" name="Text 1"/>
          <p:cNvSpPr/>
          <p:nvPr/>
        </p:nvSpPr>
        <p:spPr>
          <a:xfrm>
            <a:off x="457200" y="1048640"/>
            <a:ext cx="8229600" cy="457200"/>
          </a:xfrm>
          <a:prstGeom prst="rect">
            <a:avLst/>
          </a:prstGeom>
          <a:noFill/>
          <a:ln/>
        </p:spPr>
        <p:txBody>
          <a:bodyPr wrap="square" lIns="0" tIns="0" rIns="0" bIns="0" rtlCol="0" anchor="ctr"/>
          <a:lstStyle/>
          <a:p>
            <a:pPr marL="0" indent="0" algn="l">
              <a:buNone/>
            </a:pPr>
            <a:r>
              <a:rPr lang="en-US" sz="1800" b="1" kern="0" spc="400" dirty="0">
                <a:solidFill>
                  <a:srgbClr val="C9A84C"/>
                </a:solidFill>
                <a:latin typeface="Times New Roman" pitchFamily="34" charset="0"/>
                <a:ea typeface="Times New Roman" pitchFamily="34" charset="-122"/>
                <a:cs typeface="Times New Roman" pitchFamily="34" charset="-120"/>
              </a:rPr>
              <a:t>Section 4</a:t>
            </a:r>
            <a:endParaRPr lang="en-US" sz="1800" dirty="0"/>
          </a:p>
        </p:txBody>
      </p:sp>
      <p:sp>
        <p:nvSpPr>
          <p:cNvPr id="4" name="Text 2"/>
          <p:cNvSpPr/>
          <p:nvPr/>
        </p:nvSpPr>
        <p:spPr>
          <a:xfrm>
            <a:off x="457200" y="1597280"/>
            <a:ext cx="8229600" cy="1280160"/>
          </a:xfrm>
          <a:prstGeom prst="rect">
            <a:avLst/>
          </a:prstGeom>
          <a:noFill/>
          <a:ln/>
        </p:spPr>
        <p:txBody>
          <a:bodyPr wrap="square" lIns="0" tIns="0" rIns="0" bIns="0" rtlCol="0" anchor="ctr"/>
          <a:lstStyle/>
          <a:p>
            <a:pPr marL="0" indent="0" algn="l">
              <a:buNone/>
            </a:pPr>
            <a:r>
              <a:rPr lang="en-US" sz="4400" b="1" dirty="0">
                <a:solidFill>
                  <a:srgbClr val="F8F4EC"/>
                </a:solidFill>
                <a:latin typeface="Times New Roman" pitchFamily="34" charset="0"/>
                <a:ea typeface="Times New Roman" pitchFamily="34" charset="-122"/>
                <a:cs typeface="Times New Roman" pitchFamily="34" charset="-120"/>
              </a:rPr>
              <a:t>Punjab, Sindh &amp; the Politics of Patronage</a:t>
            </a:r>
            <a:endParaRPr lang="en-US" sz="4400" dirty="0"/>
          </a:p>
        </p:txBody>
      </p:sp>
      <p:sp>
        <p:nvSpPr>
          <p:cNvPr id="5" name="Text 3"/>
          <p:cNvSpPr/>
          <p:nvPr/>
        </p:nvSpPr>
        <p:spPr>
          <a:xfrm>
            <a:off x="457200" y="2968880"/>
            <a:ext cx="8229600" cy="457200"/>
          </a:xfrm>
          <a:prstGeom prst="rect">
            <a:avLst/>
          </a:prstGeom>
          <a:noFill/>
          <a:ln/>
        </p:spPr>
        <p:txBody>
          <a:bodyPr wrap="square" lIns="0" tIns="0" rIns="0" bIns="0" rtlCol="0" anchor="ctr"/>
          <a:lstStyle/>
          <a:p>
            <a:pPr marL="0" indent="0" algn="l">
              <a:buNone/>
            </a:pPr>
            <a:r>
              <a:rPr lang="en-US" sz="2200" i="1" dirty="0">
                <a:solidFill>
                  <a:srgbClr val="E9C46A"/>
                </a:solidFill>
                <a:latin typeface="Times New Roman" pitchFamily="34" charset="0"/>
                <a:ea typeface="Times New Roman" pitchFamily="34" charset="-122"/>
                <a:cs typeface="Times New Roman" pitchFamily="34" charset="-120"/>
              </a:rPr>
              <a:t>Chapters 7 &amp; 8</a:t>
            </a:r>
            <a:endParaRPr lang="en-US" sz="2200" dirty="0"/>
          </a:p>
        </p:txBody>
      </p:sp>
      <p:sp>
        <p:nvSpPr>
          <p:cNvPr id="6" name="Shape 4"/>
          <p:cNvSpPr/>
          <p:nvPr/>
        </p:nvSpPr>
        <p:spPr>
          <a:xfrm>
            <a:off x="457200" y="3517520"/>
            <a:ext cx="8229600" cy="36576"/>
          </a:xfrm>
          <a:prstGeom prst="rect">
            <a:avLst/>
          </a:prstGeom>
          <a:solidFill>
            <a:srgbClr val="C9A84C"/>
          </a:solidFill>
          <a:ln w="12700">
            <a:solidFill>
              <a:srgbClr val="C9A84C"/>
            </a:solidFill>
            <a:prstDash val="solid"/>
          </a:ln>
        </p:spPr>
      </p:sp>
      <p:sp>
        <p:nvSpPr>
          <p:cNvPr id="9900" name="SlideNum_14"/>
          <p:cNvSpPr txBox="1"/>
          <p:nvPr/>
        </p:nvSpPr>
        <p:spPr>
          <a:xfrm>
            <a:off x="8229600" y="4953500"/>
            <a:ext cx="685800" cy="190000"/>
          </a:xfrm>
          <a:prstGeom prst="rect">
            <a:avLst/>
          </a:prstGeom>
          <a:noFill/>
        </p:spPr>
        <p:txBody>
          <a:bodyPr wrap="square" rtlCol="0"/>
          <a:lstStyle/>
          <a:p>
            <a:pPr algn="r"/>
            <a:r>
              <a:rPr lang="en-US" sz="900" b="0" dirty="0">
                <a:solidFill>
                  <a:srgbClr val="C9A84C"/>
                </a:solidFill>
              </a:rPr>
              <a:t>14 / 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256032"/>
            <a:ext cx="8686800" cy="640080"/>
          </a:xfrm>
          <a:prstGeom prst="rect">
            <a:avLst/>
          </a:prstGeom>
          <a:noFill/>
          <a:ln/>
        </p:spPr>
        <p:txBody>
          <a:bodyPr wrap="square" lIns="0" tIns="0" rIns="0" bIns="0" rtlCol="0" anchor="ctr"/>
          <a:lstStyle/>
          <a:p>
            <a:pPr marL="0" indent="0" algn="l">
              <a:buNone/>
            </a:pPr>
            <a:r>
              <a:rPr lang="en-US" sz="3800" b="1">
                <a:solidFill>
                  <a:srgbClr val="1A4731"/>
                </a:solidFill>
                <a:latin typeface="Times New Roman"/>
                <a:ea typeface="Times New Roman" pitchFamily="34" charset="-122"/>
                <a:cs typeface="Times New Roman"/>
              </a:rPr>
              <a:t>Punjab: The Core of the Pakistani State</a:t>
            </a:r>
            <a:endParaRPr lang="en-US" sz="3800" dirty="0">
              <a:latin typeface="Times New Roman"/>
              <a:ea typeface="Calibri" panose="020F0502020204030204"/>
              <a:cs typeface="Calibri" panose="020F0502020204030204"/>
            </a:endParaRPr>
          </a:p>
        </p:txBody>
      </p:sp>
      <p:sp>
        <p:nvSpPr>
          <p:cNvPr id="3" name="Shape 1"/>
          <p:cNvSpPr/>
          <p:nvPr/>
        </p:nvSpPr>
        <p:spPr>
          <a:xfrm>
            <a:off x="228600" y="960120"/>
            <a:ext cx="8686800" cy="36576"/>
          </a:xfrm>
          <a:prstGeom prst="rect">
            <a:avLst/>
          </a:prstGeom>
          <a:solidFill>
            <a:srgbClr val="C9A84C"/>
          </a:solidFill>
          <a:ln w="12700">
            <a:solidFill>
              <a:srgbClr val="C9A84C"/>
            </a:solidFill>
            <a:prstDash val="solid"/>
          </a:ln>
        </p:spPr>
      </p:sp>
      <p:sp>
        <p:nvSpPr>
          <p:cNvPr id="5" name="Text 3"/>
          <p:cNvSpPr/>
          <p:nvPr/>
        </p:nvSpPr>
        <p:spPr>
          <a:xfrm>
            <a:off x="274320" y="1051560"/>
            <a:ext cx="5349240" cy="3657600"/>
          </a:xfrm>
          <a:prstGeom prst="rect">
            <a:avLst/>
          </a:prstGeom>
          <a:noFill/>
          <a:ln/>
        </p:spPr>
        <p:txBody>
          <a:bodyPr wrap="square" lIns="91440" tIns="45720" rIns="91440" bIns="45720" rtlCol="0" anchor="t"/>
          <a:lstStyle/>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Punjab: 60% of population, dominant in military officer corps and civilian bureaucracy</a:t>
            </a:r>
            <a:endParaRPr lang="en-US" sz="1350" dirty="0"/>
          </a:p>
          <a:p>
            <a:pPr marL="508000" lvl="1" indent="-254000">
              <a:spcAft>
                <a:spcPts val="400"/>
              </a:spcAft>
              <a:buSzPct val="100000"/>
              <a:buChar char="•"/>
            </a:pPr>
            <a:r>
              <a:rPr lang="en-US" sz="1350" dirty="0">
                <a:solidFill>
                  <a:srgbClr val="3D4A5C"/>
                </a:solidFill>
                <a:latin typeface="Times New Roman" pitchFamily="34" charset="0"/>
                <a:ea typeface="Times New Roman" pitchFamily="34" charset="-122"/>
                <a:cs typeface="Times New Roman" pitchFamily="34" charset="-120"/>
              </a:rPr>
              <a:t>Punjabis disproportionately fill top positions in both GHQ and federal secretariat</a:t>
            </a:r>
            <a:endParaRPr lang="en-US" sz="1350" dirty="0"/>
          </a:p>
          <a:p>
            <a:pPr marL="342900" indent="-342900">
              <a:spcAft>
                <a:spcPts val="600"/>
              </a:spcAft>
              <a:buSzPct val="100000"/>
              <a:buChar char="•"/>
            </a:pPr>
            <a:r>
              <a:rPr lang="en-US" sz="1350" b="1">
                <a:solidFill>
                  <a:srgbClr val="1A1A1A"/>
                </a:solidFill>
                <a:latin typeface="Times New Roman"/>
                <a:ea typeface="Times New Roman" pitchFamily="34" charset="-122"/>
                <a:cs typeface="Times New Roman"/>
              </a:rPr>
              <a:t>'Patronage Democracy': How Elections Are Won in Rural </a:t>
            </a:r>
            <a:r>
              <a:rPr lang="en-US" sz="1350" b="1" dirty="0">
                <a:solidFill>
                  <a:srgbClr val="1A1A1A"/>
                </a:solidFill>
                <a:latin typeface="Times New Roman"/>
                <a:ea typeface="Times New Roman" pitchFamily="34" charset="-122"/>
                <a:cs typeface="Times New Roman"/>
              </a:rPr>
              <a:t>Punjab</a:t>
            </a:r>
            <a:endParaRPr lang="en-US" sz="1350" dirty="0">
              <a:latin typeface="Times New Roman"/>
              <a:cs typeface="Times New Roman"/>
            </a:endParaRPr>
          </a:p>
          <a:p>
            <a:pPr marL="508000" lvl="1" indent="-254000">
              <a:spcAft>
                <a:spcPts val="400"/>
              </a:spcAft>
              <a:buSzPct val="100000"/>
              <a:buChar char="•"/>
            </a:pPr>
            <a:r>
              <a:rPr lang="en-US" sz="1350" dirty="0">
                <a:solidFill>
                  <a:srgbClr val="3D4A5C"/>
                </a:solidFill>
                <a:latin typeface="Times New Roman" pitchFamily="34" charset="0"/>
                <a:ea typeface="Times New Roman" pitchFamily="34" charset="-122"/>
                <a:cs typeface="Times New Roman" pitchFamily="34" charset="-120"/>
              </a:rPr>
              <a:t>Votes are exchanged not on ideology but on tangible deliverables: electricity connections, road repairs, school placements</a:t>
            </a:r>
            <a:endParaRPr lang="en-US" sz="1350" dirty="0"/>
          </a:p>
          <a:p>
            <a:pPr marL="508000" lvl="1" indent="-254000">
              <a:spcAft>
                <a:spcPts val="400"/>
              </a:spcAft>
              <a:buSzPct val="100000"/>
              <a:buChar char="•"/>
            </a:pPr>
            <a:r>
              <a:rPr lang="en-US" sz="1350" dirty="0">
                <a:solidFill>
                  <a:srgbClr val="3D4A5C"/>
                </a:solidFill>
                <a:latin typeface="Times New Roman" pitchFamily="34" charset="0"/>
                <a:ea typeface="Times New Roman" pitchFamily="34" charset="-122"/>
                <a:cs typeface="Times New Roman" pitchFamily="34" charset="-120"/>
              </a:rPr>
              <a:t>Politicians are judged as 'service providers,' not as ideological representatives</a:t>
            </a:r>
            <a:endParaRPr lang="en-US" sz="1350" dirty="0"/>
          </a:p>
          <a:p>
            <a:pPr marL="342900" indent="-342900">
              <a:spcAft>
                <a:spcPts val="600"/>
              </a:spcAft>
              <a:buSzPct val="100000"/>
              <a:buChar char="•"/>
            </a:pPr>
            <a:r>
              <a:rPr lang="en-US" sz="1350" b="1" dirty="0">
                <a:solidFill>
                  <a:srgbClr val="1A1A1A"/>
                </a:solidFill>
                <a:latin typeface="Times New Roman"/>
                <a:ea typeface="Times New Roman" pitchFamily="34" charset="-122"/>
                <a:cs typeface="Times New Roman"/>
              </a:rPr>
              <a:t>The '</a:t>
            </a:r>
            <a:r>
              <a:rPr lang="en-US" sz="1350" b="1" dirty="0" err="1">
                <a:solidFill>
                  <a:srgbClr val="1A1A1A"/>
                </a:solidFill>
                <a:latin typeface="Times New Roman"/>
                <a:ea typeface="Times New Roman" pitchFamily="34" charset="-122"/>
                <a:cs typeface="Times New Roman"/>
              </a:rPr>
              <a:t>Biradiri</a:t>
            </a:r>
            <a:r>
              <a:rPr lang="en-US" sz="1350" b="1" dirty="0">
                <a:solidFill>
                  <a:srgbClr val="1A1A1A"/>
                </a:solidFill>
                <a:latin typeface="Times New Roman"/>
                <a:ea typeface="Times New Roman" pitchFamily="34" charset="-122"/>
                <a:cs typeface="Times New Roman"/>
              </a:rPr>
              <a:t> Vote': Clan elders negotiate with politicians; the </a:t>
            </a:r>
            <a:r>
              <a:rPr lang="en-US" sz="1350" b="1" dirty="0" err="1">
                <a:solidFill>
                  <a:srgbClr val="1A1A1A"/>
                </a:solidFill>
                <a:latin typeface="Times New Roman"/>
                <a:ea typeface="Times New Roman" pitchFamily="34" charset="-122"/>
                <a:cs typeface="Times New Roman"/>
              </a:rPr>
              <a:t>biradiri</a:t>
            </a:r>
            <a:r>
              <a:rPr lang="en-US" sz="1350" b="1" dirty="0">
                <a:solidFill>
                  <a:srgbClr val="1A1A1A"/>
                </a:solidFill>
                <a:latin typeface="Times New Roman"/>
                <a:ea typeface="Times New Roman" pitchFamily="34" charset="-122"/>
                <a:cs typeface="Times New Roman"/>
              </a:rPr>
              <a:t> votes as a bloc</a:t>
            </a:r>
            <a:endParaRPr lang="en-US" sz="1350" dirty="0">
              <a:latin typeface="Times New Roman"/>
              <a:cs typeface="Times New Roman"/>
            </a:endParaRPr>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Urban Punjab Divergence: Lahore middle class increasingly votes on policy platforms (PTI rise)</a:t>
            </a:r>
            <a:endParaRPr lang="en-US" sz="1350" dirty="0"/>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Implication: 'Free and fair' elections are less about ideology, more about patron-client networks</a:t>
            </a:r>
            <a:endParaRPr lang="en-US" sz="1350" dirty="0"/>
          </a:p>
        </p:txBody>
      </p:sp>
      <p:sp>
        <p:nvSpPr>
          <p:cNvPr id="6" name="Shape 4"/>
          <p:cNvSpPr/>
          <p:nvPr/>
        </p:nvSpPr>
        <p:spPr>
          <a:xfrm>
            <a:off x="5760720" y="1051560"/>
            <a:ext cx="3154680" cy="3566160"/>
          </a:xfrm>
          <a:prstGeom prst="rect">
            <a:avLst/>
          </a:prstGeom>
          <a:solidFill>
            <a:srgbClr val="3D4A5C"/>
          </a:solidFill>
          <a:ln w="12700">
            <a:solidFill>
              <a:srgbClr val="6B7A8D"/>
            </a:solidFill>
            <a:prstDash val="solid"/>
          </a:ln>
        </p:spPr>
      </p:sp>
      <p:sp>
        <p:nvSpPr>
          <p:cNvPr id="50" name="PTitle"/>
          <p:cNvSpPr/>
          <p:nvPr/>
        </p:nvSpPr>
        <p:spPr>
          <a:xfrm>
            <a:off x="5810720" y="1131560"/>
            <a:ext cx="3054680" cy="200000"/>
          </a:xfrm>
          <a:prstGeom prst="rect">
            <a:avLst/>
          </a:prstGeom>
          <a:noFill/>
        </p:spPr>
        <p:txBody>
          <a:bodyPr wrap="square" lIns="45720" tIns="45720" rIns="45720" bIns="45720" rtlCol="0" anchor="ctr"/>
          <a:lstStyle/>
          <a:p>
            <a:pPr marL="0" indent="0" algn="ctr">
              <a:buNone/>
            </a:pPr>
            <a:r>
              <a:rPr lang="en-US" sz="1300" b="1" dirty="0">
                <a:solidFill>
                  <a:srgbClr val="C9A84C"/>
                </a:solidFill>
                <a:latin typeface="Times New Roman" pitchFamily="34" charset="0"/>
              </a:rPr>
              <a:t>Punjab's Dominance</a:t>
            </a:r>
            <a:endParaRPr lang="en-US" sz="1300" dirty="0"/>
          </a:p>
        </p:txBody>
      </p:sp>
      <p:sp>
        <p:nvSpPr>
          <p:cNvPr id="51" name="MapBg"/>
          <p:cNvSpPr/>
          <p:nvPr/>
        </p:nvSpPr>
        <p:spPr>
          <a:xfrm>
            <a:off x="5910720" y="1401560"/>
            <a:ext cx="2854680" cy="1600000"/>
          </a:xfrm>
          <a:prstGeom prst="rect">
            <a:avLst/>
          </a:prstGeom>
          <a:solidFill>
            <a:srgbClr val="1E2840"/>
          </a:solidFill>
          <a:ln w="12700">
            <a:solidFill>
              <a:srgbClr val="6B7A8D"/>
            </a:solidFill>
            <a:prstDash val="solid"/>
          </a:ln>
        </p:spPr>
      </p:sp>
      <p:sp>
        <p:nvSpPr>
          <p:cNvPr id="52" name="PunjabHL"/>
          <p:cNvSpPr/>
          <p:nvPr/>
        </p:nvSpPr>
        <p:spPr>
          <a:xfrm>
            <a:off x="6624390" y="1934893"/>
            <a:ext cx="2143727" cy="1057577"/>
          </a:xfrm>
          <a:prstGeom prst="rect">
            <a:avLst/>
          </a:prstGeom>
          <a:solidFill>
            <a:srgbClr val="1A4731"/>
          </a:solidFill>
          <a:ln w="25400">
            <a:solidFill>
              <a:srgbClr val="C9A84C"/>
            </a:solidFill>
            <a:prstDash val="solid"/>
          </a:ln>
        </p:spPr>
      </p:sp>
      <p:sp>
        <p:nvSpPr>
          <p:cNvPr id="53" name="PunjabLbl"/>
          <p:cNvSpPr/>
          <p:nvPr/>
        </p:nvSpPr>
        <p:spPr>
          <a:xfrm>
            <a:off x="6688784" y="2209608"/>
            <a:ext cx="2014938" cy="521972"/>
          </a:xfrm>
          <a:prstGeom prst="rect">
            <a:avLst/>
          </a:prstGeom>
          <a:noFill/>
        </p:spPr>
        <p:txBody>
          <a:bodyPr wrap="square" lIns="45720" tIns="45720" rIns="45720" bIns="45720" rtlCol="0" anchor="ctr"/>
          <a:lstStyle/>
          <a:p>
            <a:pPr marL="0" indent="0" algn="ctr">
              <a:buNone/>
            </a:pPr>
            <a:r>
              <a:rPr lang="en-US" sz="1100" b="1" dirty="0">
                <a:solidFill>
                  <a:srgbClr val="C9A84C"/>
                </a:solidFill>
                <a:latin typeface="Times New Roman" pitchFamily="34" charset="0"/>
              </a:rPr>
              <a:t>PUNJAB
60% Population</a:t>
            </a:r>
            <a:endParaRPr lang="en-US" sz="1100" dirty="0"/>
          </a:p>
        </p:txBody>
      </p:sp>
      <p:sp>
        <p:nvSpPr>
          <p:cNvPr id="54" name="ProvSindh"/>
          <p:cNvSpPr/>
          <p:nvPr/>
        </p:nvSpPr>
        <p:spPr>
          <a:xfrm>
            <a:off x="5910720" y="2201560"/>
            <a:ext cx="713670" cy="800000"/>
          </a:xfrm>
          <a:prstGeom prst="rect">
            <a:avLst/>
          </a:prstGeom>
          <a:solidFill>
            <a:srgbClr val="283045"/>
          </a:solidFill>
          <a:ln w="9525">
            <a:solidFill>
              <a:srgbClr val="6B7A8D"/>
            </a:solidFill>
            <a:prstDash val="solid"/>
          </a:ln>
        </p:spPr>
        <p:txBody>
          <a:bodyPr wrap="square" lIns="45720" tIns="45720" rIns="45720" bIns="45720" rtlCol="0" anchor="ctr"/>
          <a:lstStyle/>
          <a:p>
            <a:pPr marL="0" indent="0" algn="ctr">
              <a:buNone/>
            </a:pPr>
            <a:r>
              <a:rPr lang="en-US" sz="1100" dirty="0">
                <a:solidFill>
                  <a:srgbClr val="FFFFFF"/>
                </a:solidFill>
                <a:latin typeface="Times New Roman" pitchFamily="34" charset="0"/>
              </a:rPr>
              <a:t>Sindh</a:t>
            </a:r>
            <a:endParaRPr lang="en-US" sz="1100" dirty="0"/>
          </a:p>
        </p:txBody>
      </p:sp>
      <p:sp>
        <p:nvSpPr>
          <p:cNvPr id="55" name="ProvKPK"/>
          <p:cNvSpPr/>
          <p:nvPr/>
        </p:nvSpPr>
        <p:spPr>
          <a:xfrm>
            <a:off x="6624390" y="1401560"/>
            <a:ext cx="2138395" cy="533333"/>
          </a:xfrm>
          <a:prstGeom prst="rect">
            <a:avLst/>
          </a:prstGeom>
          <a:solidFill>
            <a:srgbClr val="2A3050"/>
          </a:solidFill>
          <a:ln w="9525">
            <a:solidFill>
              <a:srgbClr val="6B7A8D"/>
            </a:solidFill>
            <a:prstDash val="solid"/>
          </a:ln>
        </p:spPr>
        <p:txBody>
          <a:bodyPr wrap="square" lIns="45720" tIns="45720" rIns="45720" bIns="45720" rtlCol="0" anchor="ctr"/>
          <a:lstStyle/>
          <a:p>
            <a:pPr marL="0" indent="0" algn="ctr">
              <a:buNone/>
            </a:pPr>
            <a:r>
              <a:rPr lang="en-US" sz="1100" dirty="0">
                <a:solidFill>
                  <a:srgbClr val="FFFFFF"/>
                </a:solidFill>
                <a:latin typeface="Times New Roman" pitchFamily="34" charset="0"/>
              </a:rPr>
              <a:t>KPK</a:t>
            </a:r>
            <a:endParaRPr lang="en-US" sz="1100" dirty="0"/>
          </a:p>
        </p:txBody>
      </p:sp>
      <p:sp>
        <p:nvSpPr>
          <p:cNvPr id="56" name="ProvBalochistan"/>
          <p:cNvSpPr/>
          <p:nvPr/>
        </p:nvSpPr>
        <p:spPr>
          <a:xfrm>
            <a:off x="5910720" y="1401560"/>
            <a:ext cx="713670" cy="800000"/>
          </a:xfrm>
          <a:prstGeom prst="rect">
            <a:avLst/>
          </a:prstGeom>
          <a:solidFill>
            <a:srgbClr val="202535"/>
          </a:solidFill>
          <a:ln w="9525">
            <a:solidFill>
              <a:srgbClr val="6B7A8D"/>
            </a:solidFill>
            <a:prstDash val="solid"/>
          </a:ln>
        </p:spPr>
        <p:txBody>
          <a:bodyPr wrap="square" lIns="45720" tIns="45720" rIns="45720" bIns="45720" rtlCol="0" anchor="ctr"/>
          <a:lstStyle/>
          <a:p>
            <a:pPr marL="0" indent="0" algn="ctr">
              <a:buNone/>
            </a:pPr>
            <a:r>
              <a:rPr lang="en-US" sz="1100" dirty="0">
                <a:solidFill>
                  <a:srgbClr val="FFFFFF"/>
                </a:solidFill>
                <a:latin typeface="Times New Roman" pitchFamily="34" charset="0"/>
              </a:rPr>
              <a:t>Balochistan</a:t>
            </a:r>
            <a:endParaRPr lang="en-US" sz="1100" dirty="0"/>
          </a:p>
        </p:txBody>
      </p:sp>
      <p:sp>
        <p:nvSpPr>
          <p:cNvPr id="57" name="St0"/>
          <p:cNvSpPr/>
          <p:nvPr/>
        </p:nvSpPr>
        <p:spPr>
          <a:xfrm>
            <a:off x="5860720" y="3201560"/>
            <a:ext cx="964893" cy="350000"/>
          </a:xfrm>
          <a:prstGeom prst="rect">
            <a:avLst/>
          </a:prstGeom>
          <a:solidFill>
            <a:srgbClr val="1A3020"/>
          </a:solidFill>
          <a:ln w="12700">
            <a:solidFill>
              <a:srgbClr val="C9A84C"/>
            </a:solidFill>
            <a:prstDash val="solid"/>
          </a:ln>
        </p:spPr>
      </p:sp>
      <p:sp>
        <p:nvSpPr>
          <p:cNvPr id="58" name="StPct0"/>
          <p:cNvSpPr/>
          <p:nvPr/>
        </p:nvSpPr>
        <p:spPr>
          <a:xfrm>
            <a:off x="5860720" y="3231560"/>
            <a:ext cx="964893" cy="200000"/>
          </a:xfrm>
          <a:prstGeom prst="rect">
            <a:avLst/>
          </a:prstGeom>
          <a:noFill/>
        </p:spPr>
        <p:txBody>
          <a:bodyPr wrap="square" lIns="45720" tIns="45720" rIns="45720" bIns="45720" rtlCol="0" anchor="ctr"/>
          <a:lstStyle/>
          <a:p>
            <a:pPr marL="0" indent="0" algn="ctr">
              <a:buNone/>
            </a:pPr>
            <a:r>
              <a:rPr lang="en-US" sz="2000" b="1" dirty="0">
                <a:solidFill>
                  <a:srgbClr val="C9A84C"/>
                </a:solidFill>
                <a:latin typeface="Times New Roman" pitchFamily="34" charset="0"/>
              </a:rPr>
              <a:t>60%</a:t>
            </a:r>
            <a:endParaRPr lang="en-US" sz="2000" dirty="0"/>
          </a:p>
        </p:txBody>
      </p:sp>
      <p:sp>
        <p:nvSpPr>
          <p:cNvPr id="59" name="StLbl0"/>
          <p:cNvSpPr/>
          <p:nvPr/>
        </p:nvSpPr>
        <p:spPr>
          <a:xfrm>
            <a:off x="5860720" y="3431560"/>
            <a:ext cx="964893" cy="120000"/>
          </a:xfrm>
          <a:prstGeom prst="rect">
            <a:avLst/>
          </a:prstGeom>
          <a:noFill/>
        </p:spPr>
        <p:txBody>
          <a:bodyPr wrap="square" lIns="45720" tIns="45720" rIns="45720" bIns="45720" rtlCol="0" anchor="ctr"/>
          <a:lstStyle/>
          <a:p>
            <a:pPr marL="0" indent="0" algn="ctr">
              <a:buNone/>
            </a:pPr>
            <a:r>
              <a:rPr lang="en-US" sz="850" dirty="0">
                <a:solidFill>
                  <a:srgbClr val="FFFFFF"/>
                </a:solidFill>
                <a:latin typeface="Times New Roman" pitchFamily="34" charset="0"/>
              </a:rPr>
              <a:t>Population</a:t>
            </a:r>
            <a:endParaRPr lang="en-US" sz="850" dirty="0"/>
          </a:p>
        </p:txBody>
      </p:sp>
      <p:sp>
        <p:nvSpPr>
          <p:cNvPr id="60" name="St1"/>
          <p:cNvSpPr/>
          <p:nvPr/>
        </p:nvSpPr>
        <p:spPr>
          <a:xfrm>
            <a:off x="6845613" y="3201560"/>
            <a:ext cx="964893" cy="350000"/>
          </a:xfrm>
          <a:prstGeom prst="rect">
            <a:avLst/>
          </a:prstGeom>
          <a:solidFill>
            <a:srgbClr val="1A3020"/>
          </a:solidFill>
          <a:ln w="12700">
            <a:solidFill>
              <a:srgbClr val="C9A84C"/>
            </a:solidFill>
            <a:prstDash val="solid"/>
          </a:ln>
        </p:spPr>
      </p:sp>
      <p:sp>
        <p:nvSpPr>
          <p:cNvPr id="61" name="StPct1"/>
          <p:cNvSpPr/>
          <p:nvPr/>
        </p:nvSpPr>
        <p:spPr>
          <a:xfrm>
            <a:off x="6845613" y="3231560"/>
            <a:ext cx="964893" cy="200000"/>
          </a:xfrm>
          <a:prstGeom prst="rect">
            <a:avLst/>
          </a:prstGeom>
          <a:noFill/>
        </p:spPr>
        <p:txBody>
          <a:bodyPr wrap="square" lIns="45720" tIns="45720" rIns="45720" bIns="45720" rtlCol="0" anchor="ctr"/>
          <a:lstStyle/>
          <a:p>
            <a:pPr marL="0" indent="0" algn="ctr">
              <a:buNone/>
            </a:pPr>
            <a:r>
              <a:rPr lang="en-US" sz="2000" b="1" dirty="0">
                <a:solidFill>
                  <a:srgbClr val="C9A84C"/>
                </a:solidFill>
                <a:latin typeface="Times New Roman" pitchFamily="34" charset="0"/>
              </a:rPr>
              <a:t>70%</a:t>
            </a:r>
            <a:endParaRPr lang="en-US" sz="2000" dirty="0"/>
          </a:p>
        </p:txBody>
      </p:sp>
      <p:sp>
        <p:nvSpPr>
          <p:cNvPr id="62" name="StLbl1"/>
          <p:cNvSpPr/>
          <p:nvPr/>
        </p:nvSpPr>
        <p:spPr>
          <a:xfrm>
            <a:off x="6845613" y="3431560"/>
            <a:ext cx="964893" cy="120000"/>
          </a:xfrm>
          <a:prstGeom prst="rect">
            <a:avLst/>
          </a:prstGeom>
          <a:noFill/>
        </p:spPr>
        <p:txBody>
          <a:bodyPr wrap="square" lIns="45720" tIns="45720" rIns="45720" bIns="45720" rtlCol="0" anchor="ctr"/>
          <a:lstStyle/>
          <a:p>
            <a:pPr marL="0" indent="0" algn="ctr">
              <a:buNone/>
            </a:pPr>
            <a:r>
              <a:rPr lang="en-US" sz="850" dirty="0">
                <a:solidFill>
                  <a:srgbClr val="FFFFFF"/>
                </a:solidFill>
                <a:latin typeface="Times New Roman" pitchFamily="34" charset="0"/>
              </a:rPr>
              <a:t>Military Officers</a:t>
            </a:r>
            <a:endParaRPr lang="en-US" sz="850" dirty="0"/>
          </a:p>
        </p:txBody>
      </p:sp>
      <p:sp>
        <p:nvSpPr>
          <p:cNvPr id="63" name="St2"/>
          <p:cNvSpPr/>
          <p:nvPr/>
        </p:nvSpPr>
        <p:spPr>
          <a:xfrm>
            <a:off x="7830506" y="3201560"/>
            <a:ext cx="964893" cy="350000"/>
          </a:xfrm>
          <a:prstGeom prst="rect">
            <a:avLst/>
          </a:prstGeom>
          <a:solidFill>
            <a:srgbClr val="1A3020"/>
          </a:solidFill>
          <a:ln w="12700">
            <a:solidFill>
              <a:srgbClr val="C9A84C"/>
            </a:solidFill>
            <a:prstDash val="solid"/>
          </a:ln>
        </p:spPr>
      </p:sp>
      <p:sp>
        <p:nvSpPr>
          <p:cNvPr id="64" name="StPct2"/>
          <p:cNvSpPr/>
          <p:nvPr/>
        </p:nvSpPr>
        <p:spPr>
          <a:xfrm>
            <a:off x="7830506" y="3231560"/>
            <a:ext cx="964893" cy="200000"/>
          </a:xfrm>
          <a:prstGeom prst="rect">
            <a:avLst/>
          </a:prstGeom>
          <a:noFill/>
        </p:spPr>
        <p:txBody>
          <a:bodyPr wrap="square" lIns="45720" tIns="45720" rIns="45720" bIns="45720" rtlCol="0" anchor="ctr"/>
          <a:lstStyle/>
          <a:p>
            <a:pPr marL="0" indent="0" algn="ctr">
              <a:buNone/>
            </a:pPr>
            <a:r>
              <a:rPr lang="en-US" sz="2000" b="1" dirty="0">
                <a:solidFill>
                  <a:srgbClr val="C9A84C"/>
                </a:solidFill>
                <a:latin typeface="Times New Roman" pitchFamily="34" charset="0"/>
              </a:rPr>
              <a:t>65%</a:t>
            </a:r>
            <a:endParaRPr lang="en-US" sz="2000" dirty="0"/>
          </a:p>
        </p:txBody>
      </p:sp>
      <p:sp>
        <p:nvSpPr>
          <p:cNvPr id="65" name="StLbl2"/>
          <p:cNvSpPr/>
          <p:nvPr/>
        </p:nvSpPr>
        <p:spPr>
          <a:xfrm>
            <a:off x="7830506" y="3431560"/>
            <a:ext cx="964893" cy="120000"/>
          </a:xfrm>
          <a:prstGeom prst="rect">
            <a:avLst/>
          </a:prstGeom>
          <a:noFill/>
        </p:spPr>
        <p:txBody>
          <a:bodyPr wrap="square" lIns="45720" tIns="45720" rIns="45720" bIns="45720" rtlCol="0" anchor="ctr"/>
          <a:lstStyle/>
          <a:p>
            <a:pPr marL="0" indent="0" algn="ctr">
              <a:buNone/>
            </a:pPr>
            <a:r>
              <a:rPr lang="en-US" sz="850" dirty="0">
                <a:solidFill>
                  <a:srgbClr val="FFFFFF"/>
                </a:solidFill>
                <a:latin typeface="Times New Roman" pitchFamily="34" charset="0"/>
              </a:rPr>
              <a:t>Civil Service</a:t>
            </a:r>
            <a:endParaRPr lang="en-US" sz="850" dirty="0"/>
          </a:p>
        </p:txBody>
      </p:sp>
      <p:sp>
        <p:nvSpPr>
          <p:cNvPr id="66" name="PCap"/>
          <p:cNvSpPr/>
          <p:nvPr/>
        </p:nvSpPr>
        <p:spPr>
          <a:xfrm>
            <a:off x="5810720" y="4407720"/>
            <a:ext cx="3054680" cy="160000"/>
          </a:xfrm>
          <a:prstGeom prst="rect">
            <a:avLst/>
          </a:prstGeom>
          <a:noFill/>
        </p:spPr>
        <p:txBody>
          <a:bodyPr wrap="square" lIns="45720" tIns="45720" rIns="45720" bIns="45720" rtlCol="0" anchor="ctr"/>
          <a:lstStyle/>
          <a:p>
            <a:pPr marL="0" indent="0" algn="ctr">
              <a:buNone/>
            </a:pPr>
            <a:r>
              <a:rPr lang="en-US" sz="1050" i="1" dirty="0">
                <a:solidFill>
                  <a:srgbClr val="C9A84C"/>
                </a:solidFill>
                <a:latin typeface="Times New Roman" pitchFamily="34" charset="0"/>
              </a:rPr>
              <a:t>Punjab dominates state and military</a:t>
            </a:r>
            <a:endParaRPr lang="en-US" sz="1050" dirty="0"/>
          </a:p>
        </p:txBody>
      </p:sp>
      <p:sp>
        <p:nvSpPr>
          <p:cNvPr id="9900" name="SlideNum_15"/>
          <p:cNvSpPr txBox="1"/>
          <p:nvPr/>
        </p:nvSpPr>
        <p:spPr>
          <a:xfrm>
            <a:off x="8229600" y="4953500"/>
            <a:ext cx="685800" cy="190000"/>
          </a:xfrm>
          <a:prstGeom prst="rect">
            <a:avLst/>
          </a:prstGeom>
          <a:noFill/>
        </p:spPr>
        <p:txBody>
          <a:bodyPr wrap="square" rtlCol="0"/>
          <a:lstStyle/>
          <a:p>
            <a:pPr algn="r"/>
            <a:r>
              <a:rPr lang="en-US" sz="1050" b="0" dirty="0">
                <a:solidFill>
                  <a:srgbClr val="1A4731"/>
                </a:solidFill>
              </a:rPr>
              <a:t>15 / 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256032"/>
            <a:ext cx="8686800" cy="640080"/>
          </a:xfrm>
          <a:prstGeom prst="rect">
            <a:avLst/>
          </a:prstGeom>
          <a:noFill/>
          <a:ln/>
        </p:spPr>
        <p:txBody>
          <a:bodyPr wrap="square" lIns="0" tIns="0" rIns="0" bIns="0" rtlCol="0" anchor="ctr"/>
          <a:lstStyle/>
          <a:p>
            <a:r>
              <a:rPr lang="en-US" sz="3800" b="1">
                <a:solidFill>
                  <a:srgbClr val="1A4731"/>
                </a:solidFill>
                <a:latin typeface="Times New Roman"/>
                <a:ea typeface="Times New Roman" pitchFamily="34" charset="-122"/>
                <a:cs typeface="Times New Roman"/>
              </a:rPr>
              <a:t>Sindh: Feudalism, Floods &amp; the PPP</a:t>
            </a:r>
            <a:endParaRPr lang="en-US" sz="3800">
              <a:latin typeface="Times New Roman"/>
              <a:cs typeface="Times New Roman"/>
            </a:endParaRPr>
          </a:p>
        </p:txBody>
      </p:sp>
      <p:sp>
        <p:nvSpPr>
          <p:cNvPr id="3" name="Shape 1"/>
          <p:cNvSpPr/>
          <p:nvPr/>
        </p:nvSpPr>
        <p:spPr>
          <a:xfrm>
            <a:off x="228600" y="960120"/>
            <a:ext cx="8686800" cy="36576"/>
          </a:xfrm>
          <a:prstGeom prst="rect">
            <a:avLst/>
          </a:prstGeom>
          <a:solidFill>
            <a:srgbClr val="C9A84C"/>
          </a:solidFill>
          <a:ln w="12700">
            <a:solidFill>
              <a:srgbClr val="C9A84C"/>
            </a:solidFill>
            <a:prstDash val="solid"/>
          </a:ln>
        </p:spPr>
      </p:sp>
      <p:sp>
        <p:nvSpPr>
          <p:cNvPr id="5" name="Text 3"/>
          <p:cNvSpPr/>
          <p:nvPr/>
        </p:nvSpPr>
        <p:spPr>
          <a:xfrm>
            <a:off x="274320" y="1051560"/>
            <a:ext cx="5349240" cy="3657600"/>
          </a:xfrm>
          <a:prstGeom prst="rect">
            <a:avLst/>
          </a:prstGeom>
          <a:noFill/>
          <a:ln/>
        </p:spPr>
        <p:txBody>
          <a:bodyPr wrap="square" lIns="91440" tIns="45720" rIns="91440" bIns="45720" rtlCol="0" anchor="t"/>
          <a:lstStyle/>
          <a:p>
            <a:pPr marL="342900" indent="-342900">
              <a:spcAft>
                <a:spcPts val="600"/>
              </a:spcAft>
              <a:buSzPct val="100000"/>
              <a:buChar char="•"/>
            </a:pPr>
            <a:r>
              <a:rPr lang="en-US" sz="1350" b="1" dirty="0">
                <a:solidFill>
                  <a:srgbClr val="1A1A1A"/>
                </a:solidFill>
                <a:latin typeface="Times New Roman"/>
                <a:ea typeface="Times New Roman" pitchFamily="34" charset="-122"/>
                <a:cs typeface="Times New Roman"/>
              </a:rPr>
              <a:t>The </a:t>
            </a:r>
            <a:r>
              <a:rPr lang="en-US" sz="1350" b="1" dirty="0" err="1">
                <a:solidFill>
                  <a:srgbClr val="1A1A1A"/>
                </a:solidFill>
                <a:latin typeface="Times New Roman"/>
                <a:ea typeface="Times New Roman" pitchFamily="34" charset="-122"/>
                <a:cs typeface="Times New Roman"/>
              </a:rPr>
              <a:t>Wadero</a:t>
            </a:r>
            <a:r>
              <a:rPr lang="en-US" sz="1350" b="1" dirty="0">
                <a:solidFill>
                  <a:srgbClr val="1A1A1A"/>
                </a:solidFill>
                <a:latin typeface="Times New Roman"/>
                <a:ea typeface="Times New Roman" pitchFamily="34" charset="-122"/>
                <a:cs typeface="Times New Roman"/>
              </a:rPr>
              <a:t> Culture: Sindhi landlords exercise near-total authority over rural communities</a:t>
            </a:r>
            <a:endParaRPr lang="en-US" sz="1350" dirty="0">
              <a:latin typeface="Times New Roman"/>
              <a:cs typeface="Times New Roman"/>
            </a:endParaRPr>
          </a:p>
          <a:p>
            <a:pPr marL="508000" lvl="1" indent="-254000">
              <a:spcAft>
                <a:spcPts val="400"/>
              </a:spcAft>
              <a:buSzPct val="100000"/>
              <a:buChar char="•"/>
            </a:pPr>
            <a:r>
              <a:rPr lang="en-US" sz="1350" dirty="0">
                <a:solidFill>
                  <a:srgbClr val="3D4A5C"/>
                </a:solidFill>
                <a:latin typeface="Times New Roman"/>
                <a:ea typeface="Times New Roman" pitchFamily="34" charset="-122"/>
                <a:cs typeface="Times New Roman"/>
              </a:rPr>
              <a:t>Peasants (haris) depend on landlords for land, water, credit; voting is not truly free</a:t>
            </a:r>
            <a:endParaRPr lang="en-US" sz="1350" dirty="0">
              <a:latin typeface="Times New Roman"/>
              <a:cs typeface="Times New Roman"/>
            </a:endParaRPr>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PPP's Dual Strategy: Populist rhetoric + feudal/shrine network alliance</a:t>
            </a:r>
            <a:endParaRPr lang="en-US" sz="1350" dirty="0"/>
          </a:p>
          <a:p>
            <a:pPr marL="508000" lvl="1" indent="-254000">
              <a:spcAft>
                <a:spcPts val="400"/>
              </a:spcAft>
              <a:buSzPct val="100000"/>
              <a:buChar char="•"/>
            </a:pPr>
            <a:r>
              <a:rPr lang="en-US" sz="1350" dirty="0">
                <a:solidFill>
                  <a:srgbClr val="3D4A5C"/>
                </a:solidFill>
                <a:latin typeface="Times New Roman"/>
                <a:ea typeface="Times New Roman" pitchFamily="34" charset="-122"/>
                <a:cs typeface="Times New Roman"/>
              </a:rPr>
              <a:t>Bhutto's legacy invoked among the poor while landlord </a:t>
            </a:r>
            <a:r>
              <a:rPr lang="en-US" sz="1350" dirty="0" err="1">
                <a:solidFill>
                  <a:srgbClr val="3D4A5C"/>
                </a:solidFill>
                <a:latin typeface="Times New Roman"/>
                <a:ea typeface="Times New Roman" pitchFamily="34" charset="-122"/>
                <a:cs typeface="Times New Roman"/>
              </a:rPr>
              <a:t>allies</a:t>
            </a:r>
            <a:r>
              <a:rPr lang="en-US" sz="1350" dirty="0">
                <a:solidFill>
                  <a:srgbClr val="3D4A5C"/>
                </a:solidFill>
                <a:latin typeface="Times New Roman"/>
                <a:ea typeface="Times New Roman" pitchFamily="34" charset="-122"/>
                <a:cs typeface="Times New Roman"/>
              </a:rPr>
              <a:t> benefit from government contracts</a:t>
            </a:r>
            <a:endParaRPr lang="en-US" sz="1350" dirty="0">
              <a:latin typeface="Times New Roman"/>
              <a:cs typeface="Times New Roman"/>
            </a:endParaRPr>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The 2010 Flood Revelation</a:t>
            </a:r>
            <a:endParaRPr lang="en-US" sz="1350" dirty="0"/>
          </a:p>
          <a:p>
            <a:pPr marL="508000" lvl="1" indent="-254000">
              <a:spcAft>
                <a:spcPts val="400"/>
              </a:spcAft>
              <a:buSzPct val="100000"/>
              <a:buChar char="•"/>
            </a:pPr>
            <a:r>
              <a:rPr lang="en-US" sz="1350" dirty="0">
                <a:solidFill>
                  <a:srgbClr val="3D4A5C"/>
                </a:solidFill>
                <a:latin typeface="Times New Roman"/>
                <a:ea typeface="Times New Roman" pitchFamily="34" charset="-122"/>
                <a:cs typeface="Times New Roman"/>
              </a:rPr>
              <a:t>Major landlords reportedly breached flood embankments to protect their own lands, diverting floods onto peasant fields</a:t>
            </a:r>
            <a:endParaRPr lang="en-US" sz="1350" dirty="0">
              <a:latin typeface="Times New Roman"/>
              <a:cs typeface="Times New Roman"/>
            </a:endParaRPr>
          </a:p>
          <a:p>
            <a:pPr marL="342900" indent="-342900">
              <a:spcAft>
                <a:spcPts val="600"/>
              </a:spcAft>
              <a:buSzPct val="100000"/>
              <a:buChar char="•"/>
            </a:pPr>
            <a:r>
              <a:rPr lang="en-US" sz="1350" b="1" dirty="0">
                <a:solidFill>
                  <a:srgbClr val="1A1A1A"/>
                </a:solidFill>
                <a:latin typeface="Times New Roman"/>
                <a:ea typeface="Times New Roman" pitchFamily="34" charset="-122"/>
                <a:cs typeface="Times New Roman"/>
              </a:rPr>
              <a:t>Urban Karachi: MQM as counterweight, representing Urdu-speaking migrants against Sindhi feudalism</a:t>
            </a:r>
            <a:endParaRPr lang="en-US" sz="1350" dirty="0">
              <a:latin typeface="Times New Roman"/>
              <a:cs typeface="Times New Roman"/>
            </a:endParaRPr>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Core Tension: PPP cannot reform feudalism because it is sustained by feudalism</a:t>
            </a:r>
            <a:endParaRPr lang="en-US" sz="1350" dirty="0"/>
          </a:p>
        </p:txBody>
      </p:sp>
      <p:sp>
        <p:nvSpPr>
          <p:cNvPr id="6" name="Shape 4"/>
          <p:cNvSpPr/>
          <p:nvPr/>
        </p:nvSpPr>
        <p:spPr>
          <a:xfrm>
            <a:off x="5760720" y="1051560"/>
            <a:ext cx="3154680" cy="3566160"/>
          </a:xfrm>
          <a:prstGeom prst="rect">
            <a:avLst/>
          </a:prstGeom>
          <a:solidFill>
            <a:srgbClr val="3D4A5C"/>
          </a:solidFill>
          <a:ln w="12700">
            <a:solidFill>
              <a:srgbClr val="6B7A8D"/>
            </a:solidFill>
            <a:prstDash val="solid"/>
          </a:ln>
        </p:spPr>
      </p:sp>
      <p:sp>
        <p:nvSpPr>
          <p:cNvPr id="50" name="STitle"/>
          <p:cNvSpPr/>
          <p:nvPr/>
        </p:nvSpPr>
        <p:spPr>
          <a:xfrm>
            <a:off x="5810720" y="1131560"/>
            <a:ext cx="3054680" cy="200000"/>
          </a:xfrm>
          <a:prstGeom prst="rect">
            <a:avLst/>
          </a:prstGeom>
          <a:noFill/>
        </p:spPr>
        <p:txBody>
          <a:bodyPr wrap="square" lIns="45720" tIns="45720" rIns="45720" bIns="45720" rtlCol="0" anchor="ctr"/>
          <a:lstStyle/>
          <a:p>
            <a:pPr marL="0" indent="0" algn="ctr">
              <a:buNone/>
            </a:pPr>
            <a:r>
              <a:rPr lang="en-US" sz="1300" b="1" dirty="0">
                <a:solidFill>
                  <a:srgbClr val="C9A84C"/>
                </a:solidFill>
                <a:latin typeface="Times New Roman" pitchFamily="34" charset="0"/>
              </a:rPr>
              <a:t>Feudal Geography of Sindh</a:t>
            </a:r>
            <a:endParaRPr lang="en-US" sz="1300" dirty="0"/>
          </a:p>
        </p:txBody>
      </p:sp>
      <p:sp>
        <p:nvSpPr>
          <p:cNvPr id="51" name="SindhBg"/>
          <p:cNvSpPr/>
          <p:nvPr/>
        </p:nvSpPr>
        <p:spPr>
          <a:xfrm>
            <a:off x="5860720" y="1411560"/>
            <a:ext cx="2954680" cy="1700000"/>
          </a:xfrm>
          <a:prstGeom prst="rect">
            <a:avLst/>
          </a:prstGeom>
          <a:solidFill>
            <a:srgbClr val="183040"/>
          </a:solidFill>
          <a:ln w="12700">
            <a:solidFill>
              <a:srgbClr val="6B7A8D"/>
            </a:solidFill>
            <a:prstDash val="solid"/>
          </a:ln>
        </p:spPr>
      </p:sp>
      <p:sp>
        <p:nvSpPr>
          <p:cNvPr id="52" name="Indus"/>
          <p:cNvSpPr/>
          <p:nvPr/>
        </p:nvSpPr>
        <p:spPr>
          <a:xfrm>
            <a:off x="7258060" y="1411560"/>
            <a:ext cx="160000" cy="1700000"/>
          </a:xfrm>
          <a:prstGeom prst="rect">
            <a:avLst/>
          </a:prstGeom>
          <a:solidFill>
            <a:srgbClr val="0A6080"/>
          </a:solidFill>
          <a:ln w="9525">
            <a:solidFill>
              <a:srgbClr val="0A8AAA"/>
            </a:solidFill>
            <a:prstDash val="solid"/>
          </a:ln>
        </p:spPr>
      </p:sp>
      <p:sp>
        <p:nvSpPr>
          <p:cNvPr id="53" name="IndusLbl"/>
          <p:cNvSpPr/>
          <p:nvPr/>
        </p:nvSpPr>
        <p:spPr>
          <a:xfrm>
            <a:off x="7258060" y="2181560"/>
            <a:ext cx="160000" cy="160000"/>
          </a:xfrm>
          <a:prstGeom prst="rect">
            <a:avLst/>
          </a:prstGeom>
          <a:noFill/>
        </p:spPr>
        <p:txBody>
          <a:bodyPr wrap="square" lIns="45720" tIns="45720" rIns="45720" bIns="45720" rtlCol="0" anchor="ctr"/>
          <a:lstStyle/>
          <a:p>
            <a:pPr marL="0" indent="0" algn="ctr">
              <a:buNone/>
            </a:pPr>
            <a:r>
              <a:rPr lang="en-US" sz="700" dirty="0">
                <a:solidFill>
                  <a:srgbClr val="FFFFFF"/>
                </a:solidFill>
                <a:latin typeface="Times New Roman" pitchFamily="34" charset="0"/>
              </a:rPr>
              <a:t>Indus</a:t>
            </a:r>
            <a:endParaRPr lang="en-US" sz="700" dirty="0"/>
          </a:p>
        </p:txBody>
      </p:sp>
      <p:sp>
        <p:nvSpPr>
          <p:cNvPr id="54" name="FABhu"/>
          <p:cNvSpPr/>
          <p:nvPr/>
        </p:nvSpPr>
        <p:spPr>
          <a:xfrm>
            <a:off x="5910720" y="1511560"/>
            <a:ext cx="500000" cy="500000"/>
          </a:xfrm>
          <a:prstGeom prst="rect">
            <a:avLst/>
          </a:prstGeom>
          <a:solidFill>
            <a:srgbClr val="3A2010"/>
          </a:solidFill>
          <a:ln w="19050">
            <a:solidFill>
              <a:srgbClr val="C9A84C"/>
            </a:solidFill>
            <a:prstDash val="solid"/>
          </a:ln>
        </p:spPr>
        <p:txBody>
          <a:bodyPr wrap="square" lIns="45720" tIns="45720" rIns="45720" bIns="45720" rtlCol="0" anchor="ctr"/>
          <a:lstStyle/>
          <a:p>
            <a:pPr marL="0" indent="0" algn="ctr">
              <a:buNone/>
            </a:pPr>
            <a:r>
              <a:rPr lang="en-US" sz="1100" b="1" dirty="0">
                <a:solidFill>
                  <a:srgbClr val="FFFFFF"/>
                </a:solidFill>
                <a:latin typeface="Times New Roman" pitchFamily="34" charset="0"/>
              </a:rPr>
              <a:t>Bhutto
Estate</a:t>
            </a:r>
            <a:endParaRPr lang="en-US" sz="1100" dirty="0"/>
          </a:p>
        </p:txBody>
      </p:sp>
      <p:sp>
        <p:nvSpPr>
          <p:cNvPr id="55" name="FAGil"/>
          <p:cNvSpPr/>
          <p:nvPr/>
        </p:nvSpPr>
        <p:spPr>
          <a:xfrm>
            <a:off x="8215400" y="1611560"/>
            <a:ext cx="500000" cy="450000"/>
          </a:xfrm>
          <a:prstGeom prst="rect">
            <a:avLst/>
          </a:prstGeom>
          <a:solidFill>
            <a:srgbClr val="3A2010"/>
          </a:solidFill>
          <a:ln w="19050">
            <a:solidFill>
              <a:srgbClr val="C9A84C"/>
            </a:solidFill>
            <a:prstDash val="solid"/>
          </a:ln>
        </p:spPr>
        <p:txBody>
          <a:bodyPr wrap="square" lIns="45720" tIns="45720" rIns="45720" bIns="45720" rtlCol="0" anchor="ctr"/>
          <a:lstStyle/>
          <a:p>
            <a:pPr marL="0" indent="0" algn="ctr">
              <a:buNone/>
            </a:pPr>
            <a:r>
              <a:rPr lang="en-US" sz="1100" b="1" dirty="0">
                <a:solidFill>
                  <a:srgbClr val="FFFFFF"/>
                </a:solidFill>
                <a:latin typeface="Times New Roman" pitchFamily="34" charset="0"/>
              </a:rPr>
              <a:t>Gilani
Lands</a:t>
            </a:r>
            <a:endParaRPr lang="en-US" sz="1100" dirty="0"/>
          </a:p>
        </p:txBody>
      </p:sp>
      <p:sp>
        <p:nvSpPr>
          <p:cNvPr id="56" name="FATal"/>
          <p:cNvSpPr/>
          <p:nvPr/>
        </p:nvSpPr>
        <p:spPr>
          <a:xfrm>
            <a:off x="5912671" y="2616201"/>
            <a:ext cx="729527" cy="441951"/>
          </a:xfrm>
          <a:prstGeom prst="rect">
            <a:avLst/>
          </a:prstGeom>
          <a:solidFill>
            <a:srgbClr val="3A2010"/>
          </a:solidFill>
          <a:ln w="19050">
            <a:solidFill>
              <a:srgbClr val="C9A84C"/>
            </a:solidFill>
            <a:prstDash val="solid"/>
          </a:ln>
        </p:spPr>
        <p:txBody>
          <a:bodyPr wrap="square" lIns="45720" tIns="45720" rIns="45720" bIns="45720" rtlCol="0" anchor="ctr"/>
          <a:lstStyle/>
          <a:p>
            <a:pPr marL="0" indent="0" algn="ctr">
              <a:buNone/>
            </a:pPr>
            <a:r>
              <a:rPr lang="en-US" sz="1100" b="1" dirty="0">
                <a:solidFill>
                  <a:srgbClr val="FFFFFF"/>
                </a:solidFill>
                <a:latin typeface="Times New Roman" pitchFamily="34" charset="0"/>
              </a:rPr>
              <a:t>Talpur
Holdings</a:t>
            </a:r>
            <a:endParaRPr lang="en-US" sz="1100" dirty="0"/>
          </a:p>
        </p:txBody>
      </p:sp>
      <p:sp>
        <p:nvSpPr>
          <p:cNvPr id="57" name="FAFlo"/>
          <p:cNvSpPr/>
          <p:nvPr/>
        </p:nvSpPr>
        <p:spPr>
          <a:xfrm>
            <a:off x="5936079" y="2013265"/>
            <a:ext cx="1263450" cy="555113"/>
          </a:xfrm>
          <a:prstGeom prst="rect">
            <a:avLst/>
          </a:prstGeom>
          <a:solidFill>
            <a:srgbClr val="1A4060"/>
          </a:solidFill>
          <a:ln w="19050">
            <a:solidFill>
              <a:srgbClr val="C9A84C"/>
            </a:solidFill>
            <a:prstDash val="solid"/>
          </a:ln>
        </p:spPr>
        <p:txBody>
          <a:bodyPr wrap="square" lIns="45720" tIns="45720" rIns="45720" bIns="45720" rtlCol="0" anchor="ctr"/>
          <a:lstStyle/>
          <a:p>
            <a:pPr marL="0" indent="0" algn="ctr">
              <a:buNone/>
            </a:pPr>
            <a:r>
              <a:rPr lang="en-US" sz="1100" b="1" dirty="0">
                <a:solidFill>
                  <a:srgbClr val="FFFFFF"/>
                </a:solidFill>
                <a:latin typeface="Times New Roman" pitchFamily="34" charset="0"/>
              </a:rPr>
              <a:t>Flood
2010</a:t>
            </a:r>
            <a:endParaRPr lang="en-US" sz="1100" dirty="0"/>
          </a:p>
        </p:txBody>
      </p:sp>
      <p:sp>
        <p:nvSpPr>
          <p:cNvPr id="58" name="FloodLbl"/>
          <p:cNvSpPr/>
          <p:nvPr/>
        </p:nvSpPr>
        <p:spPr>
          <a:xfrm>
            <a:off x="6620269" y="2759363"/>
            <a:ext cx="700000" cy="150000"/>
          </a:xfrm>
          <a:prstGeom prst="rect">
            <a:avLst/>
          </a:prstGeom>
          <a:noFill/>
        </p:spPr>
        <p:txBody>
          <a:bodyPr wrap="square" lIns="45720" tIns="45720" rIns="45720" bIns="45720" rtlCol="0" anchor="ctr"/>
          <a:lstStyle/>
          <a:p>
            <a:pPr marL="0" indent="0" algn="ctr">
              <a:buNone/>
            </a:pPr>
            <a:r>
              <a:rPr lang="en-US" sz="1100" i="1" dirty="0">
                <a:solidFill>
                  <a:srgbClr val="6ABDE8"/>
                </a:solidFill>
                <a:latin typeface="Times New Roman" pitchFamily="34" charset="0"/>
              </a:rPr>
              <a:t>~  ~  ~ Flooded ~  ~  ~</a:t>
            </a:r>
            <a:endParaRPr lang="en-US" sz="1100" dirty="0"/>
          </a:p>
        </p:txBody>
      </p:sp>
      <p:sp>
        <p:nvSpPr>
          <p:cNvPr id="59" name="Leg1"/>
          <p:cNvSpPr/>
          <p:nvPr/>
        </p:nvSpPr>
        <p:spPr>
          <a:xfrm>
            <a:off x="5840720" y="3251560"/>
            <a:ext cx="200000" cy="200000"/>
          </a:xfrm>
          <a:prstGeom prst="rect">
            <a:avLst/>
          </a:prstGeom>
          <a:solidFill>
            <a:srgbClr val="3A2010"/>
          </a:solidFill>
          <a:ln w="9525">
            <a:solidFill>
              <a:srgbClr val="C9A84C"/>
            </a:solidFill>
            <a:prstDash val="solid"/>
          </a:ln>
        </p:spPr>
      </p:sp>
      <p:sp>
        <p:nvSpPr>
          <p:cNvPr id="60" name="LegLbl1"/>
          <p:cNvSpPr/>
          <p:nvPr/>
        </p:nvSpPr>
        <p:spPr>
          <a:xfrm>
            <a:off x="6070720" y="3251560"/>
            <a:ext cx="900000" cy="200000"/>
          </a:xfrm>
          <a:prstGeom prst="rect">
            <a:avLst/>
          </a:prstGeom>
          <a:noFill/>
        </p:spPr>
        <p:txBody>
          <a:bodyPr wrap="square" lIns="45720" tIns="45720" rIns="45720" bIns="45720" rtlCol="0" anchor="ctr"/>
          <a:lstStyle/>
          <a:p>
            <a:pPr marL="0" indent="0" algn="l">
              <a:buNone/>
            </a:pPr>
            <a:r>
              <a:rPr lang="en-US" sz="1050" dirty="0">
                <a:solidFill>
                  <a:srgbClr val="FFFFFF"/>
                </a:solidFill>
                <a:latin typeface="Times New Roman" pitchFamily="34" charset="0"/>
              </a:rPr>
              <a:t>Feudal Landholding</a:t>
            </a:r>
            <a:endParaRPr lang="en-US" sz="1050" dirty="0"/>
          </a:p>
        </p:txBody>
      </p:sp>
      <p:sp>
        <p:nvSpPr>
          <p:cNvPr id="61" name="Leg2"/>
          <p:cNvSpPr/>
          <p:nvPr/>
        </p:nvSpPr>
        <p:spPr>
          <a:xfrm>
            <a:off x="5856819" y="3606201"/>
            <a:ext cx="200000" cy="200000"/>
          </a:xfrm>
          <a:prstGeom prst="rect">
            <a:avLst/>
          </a:prstGeom>
          <a:solidFill>
            <a:srgbClr val="1A4060"/>
          </a:solidFill>
          <a:ln w="9525">
            <a:solidFill>
              <a:srgbClr val="C9A84C"/>
            </a:solidFill>
            <a:prstDash val="solid"/>
          </a:ln>
        </p:spPr>
      </p:sp>
      <p:sp>
        <p:nvSpPr>
          <p:cNvPr id="62" name="LegLbl2"/>
          <p:cNvSpPr/>
          <p:nvPr/>
        </p:nvSpPr>
        <p:spPr>
          <a:xfrm>
            <a:off x="6070720" y="3606201"/>
            <a:ext cx="900000" cy="200000"/>
          </a:xfrm>
          <a:prstGeom prst="rect">
            <a:avLst/>
          </a:prstGeom>
          <a:noFill/>
        </p:spPr>
        <p:txBody>
          <a:bodyPr wrap="square" lIns="45720" tIns="45720" rIns="45720" bIns="45720" rtlCol="0" anchor="ctr"/>
          <a:lstStyle/>
          <a:p>
            <a:pPr marL="0" indent="0" algn="l">
              <a:buNone/>
            </a:pPr>
            <a:r>
              <a:rPr lang="en-US" sz="1050" dirty="0">
                <a:solidFill>
                  <a:srgbClr val="FFFFFF"/>
                </a:solidFill>
                <a:latin typeface="Times New Roman" pitchFamily="34" charset="0"/>
              </a:rPr>
              <a:t>2010 Flood Area</a:t>
            </a:r>
            <a:endParaRPr lang="en-US" sz="1050" dirty="0"/>
          </a:p>
        </p:txBody>
      </p:sp>
      <p:sp>
        <p:nvSpPr>
          <p:cNvPr id="63" name="SCap"/>
          <p:cNvSpPr/>
          <p:nvPr/>
        </p:nvSpPr>
        <p:spPr>
          <a:xfrm>
            <a:off x="5810720" y="4407720"/>
            <a:ext cx="3054680" cy="160000"/>
          </a:xfrm>
          <a:prstGeom prst="rect">
            <a:avLst/>
          </a:prstGeom>
          <a:noFill/>
        </p:spPr>
        <p:txBody>
          <a:bodyPr wrap="square" lIns="45720" tIns="45720" rIns="45720" bIns="45720" rtlCol="0" anchor="ctr"/>
          <a:lstStyle/>
          <a:p>
            <a:pPr marL="0" indent="0" algn="ctr">
              <a:buNone/>
            </a:pPr>
            <a:r>
              <a:rPr lang="en-US" sz="850" i="1" dirty="0">
                <a:solidFill>
                  <a:srgbClr val="C9A84C"/>
                </a:solidFill>
                <a:latin typeface="Times New Roman" pitchFamily="34" charset="0"/>
              </a:rPr>
              <a:t>PPP sustained by the feudalism it cannot reform</a:t>
            </a:r>
            <a:endParaRPr lang="en-US" sz="850" dirty="0"/>
          </a:p>
        </p:txBody>
      </p:sp>
      <p:sp>
        <p:nvSpPr>
          <p:cNvPr id="9900" name="SlideNum_16"/>
          <p:cNvSpPr txBox="1"/>
          <p:nvPr/>
        </p:nvSpPr>
        <p:spPr>
          <a:xfrm>
            <a:off x="8229600" y="4953500"/>
            <a:ext cx="685800" cy="190000"/>
          </a:xfrm>
          <a:prstGeom prst="rect">
            <a:avLst/>
          </a:prstGeom>
          <a:noFill/>
        </p:spPr>
        <p:txBody>
          <a:bodyPr wrap="square" rtlCol="0"/>
          <a:lstStyle/>
          <a:p>
            <a:pPr algn="r"/>
            <a:r>
              <a:rPr lang="en-US" sz="1050" b="0" dirty="0">
                <a:solidFill>
                  <a:srgbClr val="1A4731"/>
                </a:solidFill>
              </a:rPr>
              <a:t>16 / 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256032"/>
            <a:ext cx="8686800" cy="640080"/>
          </a:xfrm>
          <a:prstGeom prst="rect">
            <a:avLst/>
          </a:prstGeom>
          <a:noFill/>
          <a:ln/>
        </p:spPr>
        <p:txBody>
          <a:bodyPr wrap="square" lIns="0" tIns="0" rIns="0" bIns="0" rtlCol="0" anchor="ctr"/>
          <a:lstStyle/>
          <a:p>
            <a:pPr marL="0" indent="0" algn="l">
              <a:buNone/>
            </a:pPr>
            <a:r>
              <a:rPr lang="en-US" sz="3200" b="1">
                <a:solidFill>
                  <a:srgbClr val="1A4731"/>
                </a:solidFill>
                <a:latin typeface="Times New Roman"/>
                <a:ea typeface="Times New Roman" pitchFamily="34" charset="-122"/>
                <a:cs typeface="Times New Roman"/>
              </a:rPr>
              <a:t>Urbanization vs. Tradition: A Shifting </a:t>
            </a:r>
            <a:r>
              <a:rPr lang="en-US" sz="3200" b="1" dirty="0">
                <a:solidFill>
                  <a:srgbClr val="1A4731"/>
                </a:solidFill>
                <a:latin typeface="Times New Roman"/>
                <a:ea typeface="Times New Roman" pitchFamily="34" charset="-122"/>
                <a:cs typeface="Times New Roman"/>
              </a:rPr>
              <a:t>Landscape</a:t>
            </a:r>
            <a:endParaRPr lang="en-US" sz="3200">
              <a:latin typeface="Times New Roman"/>
              <a:ea typeface="Calibri" panose="020F0502020204030204"/>
              <a:cs typeface="Calibri" panose="020F0502020204030204"/>
            </a:endParaRPr>
          </a:p>
        </p:txBody>
      </p:sp>
      <p:sp>
        <p:nvSpPr>
          <p:cNvPr id="3" name="Shape 1"/>
          <p:cNvSpPr/>
          <p:nvPr/>
        </p:nvSpPr>
        <p:spPr>
          <a:xfrm>
            <a:off x="228600" y="960120"/>
            <a:ext cx="8686800" cy="36576"/>
          </a:xfrm>
          <a:prstGeom prst="rect">
            <a:avLst/>
          </a:prstGeom>
          <a:solidFill>
            <a:srgbClr val="C9A84C"/>
          </a:solidFill>
          <a:ln w="12700">
            <a:solidFill>
              <a:srgbClr val="C9A84C"/>
            </a:solidFill>
            <a:prstDash val="solid"/>
          </a:ln>
        </p:spPr>
      </p:sp>
      <p:sp>
        <p:nvSpPr>
          <p:cNvPr id="5" name="Text 3"/>
          <p:cNvSpPr/>
          <p:nvPr/>
        </p:nvSpPr>
        <p:spPr>
          <a:xfrm>
            <a:off x="274320" y="1051560"/>
            <a:ext cx="5349240" cy="3657600"/>
          </a:xfrm>
          <a:prstGeom prst="rect">
            <a:avLst/>
          </a:prstGeom>
          <a:noFill/>
          <a:ln/>
        </p:spPr>
        <p:txBody>
          <a:bodyPr wrap="square" lIns="91440" tIns="45720" rIns="91440" bIns="45720" rtlCol="0" anchor="t"/>
          <a:lstStyle/>
          <a:p>
            <a:pPr>
              <a:buSzPct val="100000"/>
            </a:pPr>
            <a:r>
              <a:rPr lang="en-US" b="1">
                <a:solidFill>
                  <a:srgbClr val="1A1A1A"/>
                </a:solidFill>
                <a:latin typeface="Times New Roman"/>
                <a:ea typeface="+mn-lt"/>
                <a:cs typeface="Times New Roman"/>
              </a:rPr>
              <a:t>The Urban-Rural Political Divide</a:t>
            </a:r>
            <a:endParaRPr lang="en-US">
              <a:solidFill>
                <a:srgbClr val="000000"/>
              </a:solidFill>
              <a:latin typeface="Times New Roman"/>
              <a:ea typeface="Calibri"/>
              <a:cs typeface="Times New Roman"/>
            </a:endParaRPr>
          </a:p>
          <a:p>
            <a:pPr>
              <a:buFont typeface="Arial"/>
              <a:buChar char="•"/>
            </a:pPr>
            <a:r>
              <a:rPr lang="en-US" b="1">
                <a:solidFill>
                  <a:srgbClr val="1A1A1A"/>
                </a:solidFill>
                <a:latin typeface="Times New Roman"/>
                <a:ea typeface="+mn-lt"/>
                <a:cs typeface="Times New Roman"/>
              </a:rPr>
              <a:t>The Urban Shift:</a:t>
            </a:r>
            <a:r>
              <a:rPr lang="en-US">
                <a:solidFill>
                  <a:srgbClr val="1A1A1A"/>
                </a:solidFill>
                <a:latin typeface="Times New Roman"/>
                <a:ea typeface="+mn-lt"/>
                <a:cs typeface="Times New Roman"/>
              </a:rPr>
              <a:t> Accelerating urbanization (now over 37%) has birthed an educated middle class that demands governance and accountability—driving PTI’s recent electoral sweeps in major cities.</a:t>
            </a:r>
            <a:endParaRPr lang="en-US">
              <a:latin typeface="Times New Roman"/>
              <a:cs typeface="Times New Roman"/>
            </a:endParaRPr>
          </a:p>
          <a:p>
            <a:pPr>
              <a:buFont typeface="Arial"/>
              <a:buChar char="•"/>
            </a:pPr>
            <a:r>
              <a:rPr lang="en-US" b="1" dirty="0">
                <a:solidFill>
                  <a:srgbClr val="1A1A1A"/>
                </a:solidFill>
                <a:latin typeface="Times New Roman"/>
                <a:ea typeface="+mn-lt"/>
                <a:cs typeface="Times New Roman"/>
              </a:rPr>
              <a:t>The Rural Tradition:</a:t>
            </a:r>
            <a:r>
              <a:rPr lang="en-US" dirty="0">
                <a:solidFill>
                  <a:srgbClr val="1A1A1A"/>
                </a:solidFill>
                <a:latin typeface="Times New Roman"/>
                <a:ea typeface="+mn-lt"/>
                <a:cs typeface="Times New Roman"/>
              </a:rPr>
              <a:t> Rural politics remain rooted in traditional kinship (</a:t>
            </a:r>
            <a:r>
              <a:rPr lang="en-US" i="1" dirty="0" err="1">
                <a:solidFill>
                  <a:srgbClr val="1A1A1A"/>
                </a:solidFill>
                <a:latin typeface="Times New Roman"/>
                <a:ea typeface="+mn-lt"/>
                <a:cs typeface="Times New Roman"/>
              </a:rPr>
              <a:t>biradiri</a:t>
            </a:r>
            <a:r>
              <a:rPr lang="en-US" dirty="0">
                <a:solidFill>
                  <a:srgbClr val="1A1A1A"/>
                </a:solidFill>
                <a:latin typeface="Times New Roman"/>
                <a:ea typeface="+mn-lt"/>
                <a:cs typeface="Times New Roman"/>
              </a:rPr>
              <a:t>) and shrine networks, creating a stark structural divide.</a:t>
            </a:r>
            <a:endParaRPr lang="en-US" dirty="0">
              <a:latin typeface="Times New Roman"/>
              <a:cs typeface="Times New Roman"/>
            </a:endParaRPr>
          </a:p>
          <a:p>
            <a:pPr>
              <a:buFont typeface="Arial"/>
              <a:buChar char="•"/>
            </a:pPr>
            <a:r>
              <a:rPr lang="en-US" b="1">
                <a:solidFill>
                  <a:srgbClr val="1A1A1A"/>
                </a:solidFill>
                <a:latin typeface="Times New Roman"/>
                <a:ea typeface="+mn-lt"/>
                <a:cs typeface="Times New Roman"/>
              </a:rPr>
              <a:t>The Fin-Tech Parallel:</a:t>
            </a:r>
            <a:r>
              <a:rPr lang="en-US">
                <a:solidFill>
                  <a:srgbClr val="1A1A1A"/>
                </a:solidFill>
                <a:latin typeface="Times New Roman"/>
                <a:ea typeface="+mn-lt"/>
                <a:cs typeface="Times New Roman"/>
              </a:rPr>
              <a:t> This political split is perfectly mirrored in the economy, contrasting urban digital payment adoption with rural cash dependency.</a:t>
            </a:r>
            <a:endParaRPr lang="en-US">
              <a:latin typeface="Times New Roman"/>
              <a:cs typeface="Times New Roman"/>
            </a:endParaRPr>
          </a:p>
          <a:p>
            <a:pPr marL="342900" indent="-342900">
              <a:spcAft>
                <a:spcPts val="600"/>
              </a:spcAft>
              <a:buSzPct val="100000"/>
              <a:buChar char="•"/>
            </a:pPr>
            <a:endParaRPr lang="en-US" b="1" dirty="0">
              <a:solidFill>
                <a:srgbClr val="1A1A1A"/>
              </a:solidFill>
              <a:latin typeface="Times New Roman"/>
              <a:cs typeface="Times New Roman"/>
            </a:endParaRPr>
          </a:p>
        </p:txBody>
      </p:sp>
      <p:sp>
        <p:nvSpPr>
          <p:cNvPr id="6" name="Shape 4"/>
          <p:cNvSpPr/>
          <p:nvPr/>
        </p:nvSpPr>
        <p:spPr>
          <a:xfrm>
            <a:off x="5806440" y="1097280"/>
            <a:ext cx="2560320" cy="1097280"/>
          </a:xfrm>
          <a:prstGeom prst="rect">
            <a:avLst/>
          </a:prstGeom>
          <a:solidFill>
            <a:srgbClr val="1A4731"/>
          </a:solidFill>
          <a:ln w="12700">
            <a:solidFill>
              <a:srgbClr val="1A4731"/>
            </a:solidFill>
            <a:prstDash val="solid"/>
          </a:ln>
          <a:effectLst>
            <a:outerShdw blurRad="101600" dist="25400" dir="8100000" algn="bl" rotWithShape="0">
              <a:srgbClr val="000000">
                <a:alpha val="18000"/>
              </a:srgbClr>
            </a:outerShdw>
          </a:effectLst>
        </p:spPr>
      </p:sp>
      <p:sp>
        <p:nvSpPr>
          <p:cNvPr id="7" name="Text 5"/>
          <p:cNvSpPr/>
          <p:nvPr/>
        </p:nvSpPr>
        <p:spPr>
          <a:xfrm>
            <a:off x="5806440" y="1170432"/>
            <a:ext cx="2560320" cy="502920"/>
          </a:xfrm>
          <a:prstGeom prst="rect">
            <a:avLst/>
          </a:prstGeom>
          <a:noFill/>
          <a:ln/>
        </p:spPr>
        <p:txBody>
          <a:bodyPr wrap="square" lIns="0" tIns="0" rIns="0" bIns="0" rtlCol="0" anchor="ctr"/>
          <a:lstStyle/>
          <a:p>
            <a:pPr marL="0" indent="0" algn="ctr">
              <a:buNone/>
            </a:pPr>
            <a:r>
              <a:rPr lang="en-US" sz="3200" b="1" dirty="0">
                <a:solidFill>
                  <a:srgbClr val="C9A84C"/>
                </a:solidFill>
                <a:latin typeface="Times New Roman" pitchFamily="34" charset="0"/>
                <a:ea typeface="Times New Roman" pitchFamily="34" charset="-122"/>
                <a:cs typeface="Times New Roman" pitchFamily="34" charset="-120"/>
              </a:rPr>
              <a:t>37%</a:t>
            </a:r>
            <a:endParaRPr lang="en-US" sz="3200" dirty="0"/>
          </a:p>
        </p:txBody>
      </p:sp>
      <p:sp>
        <p:nvSpPr>
          <p:cNvPr id="8" name="Text 6"/>
          <p:cNvSpPr/>
          <p:nvPr/>
        </p:nvSpPr>
        <p:spPr>
          <a:xfrm>
            <a:off x="5806440" y="1645920"/>
            <a:ext cx="2560320" cy="457200"/>
          </a:xfrm>
          <a:prstGeom prst="rect">
            <a:avLst/>
          </a:prstGeom>
          <a:noFill/>
          <a:ln/>
        </p:spPr>
        <p:txBody>
          <a:bodyPr wrap="square" lIns="0" tIns="0" rIns="0" bIns="0" rtlCol="0" anchor="ctr"/>
          <a:lstStyle/>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Urban Population</a:t>
            </a:r>
            <a:endParaRPr lang="en-US" sz="1300" dirty="0"/>
          </a:p>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(2024)</a:t>
            </a:r>
            <a:endParaRPr lang="en-US" sz="1300" dirty="0"/>
          </a:p>
        </p:txBody>
      </p:sp>
      <p:sp>
        <p:nvSpPr>
          <p:cNvPr id="9" name="Shape 7"/>
          <p:cNvSpPr/>
          <p:nvPr/>
        </p:nvSpPr>
        <p:spPr>
          <a:xfrm>
            <a:off x="5806440" y="2286000"/>
            <a:ext cx="2560320" cy="1097280"/>
          </a:xfrm>
          <a:prstGeom prst="rect">
            <a:avLst/>
          </a:prstGeom>
          <a:solidFill>
            <a:srgbClr val="1A4731"/>
          </a:solidFill>
          <a:ln w="12700">
            <a:solidFill>
              <a:srgbClr val="1A4731"/>
            </a:solidFill>
            <a:prstDash val="solid"/>
          </a:ln>
          <a:effectLst>
            <a:outerShdw blurRad="101600" dist="25400" dir="8100000" algn="bl" rotWithShape="0">
              <a:srgbClr val="000000">
                <a:alpha val="18000"/>
              </a:srgbClr>
            </a:outerShdw>
          </a:effectLst>
        </p:spPr>
      </p:sp>
      <p:sp>
        <p:nvSpPr>
          <p:cNvPr id="10" name="Text 8"/>
          <p:cNvSpPr/>
          <p:nvPr/>
        </p:nvSpPr>
        <p:spPr>
          <a:xfrm>
            <a:off x="5806440" y="2359152"/>
            <a:ext cx="2560320" cy="502920"/>
          </a:xfrm>
          <a:prstGeom prst="rect">
            <a:avLst/>
          </a:prstGeom>
          <a:noFill/>
          <a:ln/>
        </p:spPr>
        <p:txBody>
          <a:bodyPr wrap="square" lIns="0" tIns="0" rIns="0" bIns="0" rtlCol="0" anchor="ctr"/>
          <a:lstStyle/>
          <a:p>
            <a:pPr marL="0" indent="0" algn="ctr">
              <a:buNone/>
            </a:pPr>
            <a:r>
              <a:rPr lang="en-US" sz="3200" b="1" dirty="0">
                <a:solidFill>
                  <a:srgbClr val="C9A84C"/>
                </a:solidFill>
                <a:latin typeface="Times New Roman" pitchFamily="34" charset="0"/>
                <a:ea typeface="Times New Roman" pitchFamily="34" charset="-122"/>
                <a:cs typeface="Times New Roman" pitchFamily="34" charset="-120"/>
              </a:rPr>
              <a:t>3x</a:t>
            </a:r>
            <a:endParaRPr lang="en-US" sz="3200" dirty="0"/>
          </a:p>
        </p:txBody>
      </p:sp>
      <p:sp>
        <p:nvSpPr>
          <p:cNvPr id="11" name="Text 9"/>
          <p:cNvSpPr/>
          <p:nvPr/>
        </p:nvSpPr>
        <p:spPr>
          <a:xfrm>
            <a:off x="5806440" y="2834640"/>
            <a:ext cx="2560320" cy="457200"/>
          </a:xfrm>
          <a:prstGeom prst="rect">
            <a:avLst/>
          </a:prstGeom>
          <a:noFill/>
          <a:ln/>
        </p:spPr>
        <p:txBody>
          <a:bodyPr wrap="square" lIns="0" tIns="0" rIns="0" bIns="0" rtlCol="0" anchor="ctr"/>
          <a:lstStyle/>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Urban voter turnout</a:t>
            </a:r>
            <a:endParaRPr lang="en-US" sz="1300" dirty="0"/>
          </a:p>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growth 2008–2024</a:t>
            </a:r>
            <a:endParaRPr lang="en-US" sz="1300" dirty="0"/>
          </a:p>
        </p:txBody>
      </p:sp>
      <p:sp>
        <p:nvSpPr>
          <p:cNvPr id="12" name="Shape 10"/>
          <p:cNvSpPr/>
          <p:nvPr/>
        </p:nvSpPr>
        <p:spPr>
          <a:xfrm>
            <a:off x="5806440" y="3474720"/>
            <a:ext cx="2560320" cy="1100000"/>
          </a:xfrm>
          <a:prstGeom prst="rect">
            <a:avLst/>
          </a:prstGeom>
          <a:solidFill>
            <a:srgbClr val="1A4731"/>
          </a:solidFill>
          <a:ln w="12700">
            <a:solidFill>
              <a:srgbClr val="1A4731"/>
            </a:solidFill>
            <a:prstDash val="solid"/>
          </a:ln>
          <a:effectLst>
            <a:outerShdw blurRad="101600" dist="25400" dir="8100000" algn="bl" rotWithShape="0">
              <a:srgbClr val="000000">
                <a:alpha val="18000"/>
              </a:srgbClr>
            </a:outerShdw>
          </a:effectLst>
        </p:spPr>
      </p:sp>
      <p:sp>
        <p:nvSpPr>
          <p:cNvPr id="13" name="Text 11"/>
          <p:cNvSpPr/>
          <p:nvPr/>
        </p:nvSpPr>
        <p:spPr>
          <a:xfrm>
            <a:off x="5806440" y="3547872"/>
            <a:ext cx="2560320" cy="502920"/>
          </a:xfrm>
          <a:prstGeom prst="rect">
            <a:avLst/>
          </a:prstGeom>
          <a:noFill/>
          <a:ln/>
        </p:spPr>
        <p:txBody>
          <a:bodyPr wrap="square" lIns="0" tIns="0" rIns="0" bIns="0" rtlCol="0" anchor="ctr"/>
          <a:lstStyle/>
          <a:p>
            <a:pPr marL="0" indent="0" algn="ctr">
              <a:buNone/>
            </a:pPr>
            <a:r>
              <a:rPr lang="en-US" sz="3200" b="1" dirty="0">
                <a:solidFill>
                  <a:srgbClr val="C9A84C"/>
                </a:solidFill>
                <a:latin typeface="Times New Roman" pitchFamily="34" charset="0"/>
                <a:ea typeface="Times New Roman" pitchFamily="34" charset="-122"/>
                <a:cs typeface="Times New Roman" pitchFamily="34" charset="-120"/>
              </a:rPr>
              <a:t>77M+</a:t>
            </a:r>
            <a:endParaRPr lang="en-US" sz="3200" dirty="0"/>
          </a:p>
        </p:txBody>
      </p:sp>
      <p:sp>
        <p:nvSpPr>
          <p:cNvPr id="14" name="Text 12"/>
          <p:cNvSpPr/>
          <p:nvPr/>
        </p:nvSpPr>
        <p:spPr>
          <a:xfrm>
            <a:off x="5806440" y="4023360"/>
            <a:ext cx="2560320" cy="457200"/>
          </a:xfrm>
          <a:prstGeom prst="rect">
            <a:avLst/>
          </a:prstGeom>
          <a:noFill/>
          <a:ln/>
        </p:spPr>
        <p:txBody>
          <a:bodyPr wrap="square" lIns="0" tIns="0" rIns="0" bIns="0" rtlCol="0" anchor="ctr"/>
          <a:lstStyle/>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Social Media</a:t>
            </a:r>
            <a:endParaRPr lang="en-US" sz="1300" dirty="0"/>
          </a:p>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Users (2024)</a:t>
            </a:r>
            <a:endParaRPr lang="en-US" sz="1300" dirty="0"/>
          </a:p>
        </p:txBody>
      </p:sp>
      <p:sp>
        <p:nvSpPr>
          <p:cNvPr id="9900" name="SlideNum_17"/>
          <p:cNvSpPr txBox="1"/>
          <p:nvPr/>
        </p:nvSpPr>
        <p:spPr>
          <a:xfrm>
            <a:off x="8229600" y="4953500"/>
            <a:ext cx="685800" cy="190000"/>
          </a:xfrm>
          <a:prstGeom prst="rect">
            <a:avLst/>
          </a:prstGeom>
          <a:noFill/>
        </p:spPr>
        <p:txBody>
          <a:bodyPr wrap="square" rtlCol="0"/>
          <a:lstStyle/>
          <a:p>
            <a:pPr algn="r"/>
            <a:r>
              <a:rPr lang="en-US" sz="900" b="0" dirty="0">
                <a:solidFill>
                  <a:srgbClr val="1A4731"/>
                </a:solidFill>
              </a:rPr>
              <a:t>17 / 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w="12700">
            <a:solidFill>
              <a:srgbClr val="C9A84C"/>
            </a:solidFill>
            <a:prstDash val="solid"/>
          </a:ln>
        </p:spPr>
      </p:sp>
      <p:sp>
        <p:nvSpPr>
          <p:cNvPr id="3" name="Text 1"/>
          <p:cNvSpPr/>
          <p:nvPr/>
        </p:nvSpPr>
        <p:spPr>
          <a:xfrm>
            <a:off x="457200" y="1048640"/>
            <a:ext cx="8229600" cy="457200"/>
          </a:xfrm>
          <a:prstGeom prst="rect">
            <a:avLst/>
          </a:prstGeom>
          <a:noFill/>
          <a:ln/>
        </p:spPr>
        <p:txBody>
          <a:bodyPr wrap="square" lIns="0" tIns="0" rIns="0" bIns="0" rtlCol="0" anchor="ctr"/>
          <a:lstStyle/>
          <a:p>
            <a:pPr marL="0" indent="0" algn="l">
              <a:buNone/>
            </a:pPr>
            <a:r>
              <a:rPr lang="en-US" sz="1800" b="1" kern="0" spc="400" dirty="0">
                <a:solidFill>
                  <a:srgbClr val="C9A84C"/>
                </a:solidFill>
                <a:latin typeface="Times New Roman" pitchFamily="34" charset="0"/>
                <a:ea typeface="Times New Roman" pitchFamily="34" charset="-122"/>
                <a:cs typeface="Times New Roman" pitchFamily="34" charset="-120"/>
              </a:rPr>
              <a:t>Section 5</a:t>
            </a:r>
            <a:endParaRPr lang="en-US" sz="1800" dirty="0"/>
          </a:p>
        </p:txBody>
      </p:sp>
      <p:sp>
        <p:nvSpPr>
          <p:cNvPr id="4" name="Text 2"/>
          <p:cNvSpPr/>
          <p:nvPr/>
        </p:nvSpPr>
        <p:spPr>
          <a:xfrm>
            <a:off x="457200" y="1597280"/>
            <a:ext cx="8229600" cy="1280160"/>
          </a:xfrm>
          <a:prstGeom prst="rect">
            <a:avLst/>
          </a:prstGeom>
          <a:noFill/>
          <a:ln/>
        </p:spPr>
        <p:txBody>
          <a:bodyPr wrap="square" lIns="0" tIns="0" rIns="0" bIns="0" rtlCol="0" anchor="ctr"/>
          <a:lstStyle/>
          <a:p>
            <a:pPr marL="0" indent="0" algn="l">
              <a:buNone/>
            </a:pPr>
            <a:r>
              <a:rPr lang="en-US" sz="4400" b="1" dirty="0">
                <a:solidFill>
                  <a:srgbClr val="F8F4EC"/>
                </a:solidFill>
                <a:latin typeface="Times New Roman" pitchFamily="34" charset="0"/>
                <a:ea typeface="Times New Roman" pitchFamily="34" charset="-122"/>
                <a:cs typeface="Times New Roman" pitchFamily="34" charset="-120"/>
              </a:rPr>
              <a:t>Balochistan, the Pathans &amp; Peripheries of Power</a:t>
            </a:r>
            <a:endParaRPr lang="en-US" sz="4400" dirty="0"/>
          </a:p>
        </p:txBody>
      </p:sp>
      <p:sp>
        <p:nvSpPr>
          <p:cNvPr id="5" name="Text 3"/>
          <p:cNvSpPr/>
          <p:nvPr/>
        </p:nvSpPr>
        <p:spPr>
          <a:xfrm>
            <a:off x="457200" y="2968880"/>
            <a:ext cx="8229600" cy="457200"/>
          </a:xfrm>
          <a:prstGeom prst="rect">
            <a:avLst/>
          </a:prstGeom>
          <a:noFill/>
          <a:ln/>
        </p:spPr>
        <p:txBody>
          <a:bodyPr wrap="square" lIns="0" tIns="0" rIns="0" bIns="0" rtlCol="0" anchor="ctr"/>
          <a:lstStyle/>
          <a:p>
            <a:pPr marL="0" indent="0" algn="l">
              <a:buNone/>
            </a:pPr>
            <a:r>
              <a:rPr lang="en-US" sz="2200" i="1" dirty="0">
                <a:solidFill>
                  <a:srgbClr val="E9C46A"/>
                </a:solidFill>
                <a:latin typeface="Times New Roman" pitchFamily="34" charset="0"/>
                <a:ea typeface="Times New Roman" pitchFamily="34" charset="-122"/>
                <a:cs typeface="Times New Roman" pitchFamily="34" charset="-120"/>
              </a:rPr>
              <a:t>Chapters 9 &amp; 10</a:t>
            </a:r>
            <a:endParaRPr lang="en-US" sz="2200" dirty="0"/>
          </a:p>
        </p:txBody>
      </p:sp>
      <p:sp>
        <p:nvSpPr>
          <p:cNvPr id="6" name="Shape 4"/>
          <p:cNvSpPr/>
          <p:nvPr/>
        </p:nvSpPr>
        <p:spPr>
          <a:xfrm>
            <a:off x="457200" y="3517520"/>
            <a:ext cx="8229600" cy="36576"/>
          </a:xfrm>
          <a:prstGeom prst="rect">
            <a:avLst/>
          </a:prstGeom>
          <a:solidFill>
            <a:srgbClr val="C9A84C"/>
          </a:solidFill>
          <a:ln w="12700">
            <a:solidFill>
              <a:srgbClr val="C9A84C"/>
            </a:solidFill>
            <a:prstDash val="solid"/>
          </a:ln>
        </p:spPr>
      </p:sp>
      <p:sp>
        <p:nvSpPr>
          <p:cNvPr id="9900" name="SlideNum_18"/>
          <p:cNvSpPr txBox="1"/>
          <p:nvPr/>
        </p:nvSpPr>
        <p:spPr>
          <a:xfrm>
            <a:off x="8229600" y="4953500"/>
            <a:ext cx="685800" cy="190000"/>
          </a:xfrm>
          <a:prstGeom prst="rect">
            <a:avLst/>
          </a:prstGeom>
          <a:noFill/>
        </p:spPr>
        <p:txBody>
          <a:bodyPr wrap="square" rtlCol="0"/>
          <a:lstStyle/>
          <a:p>
            <a:pPr algn="r"/>
            <a:r>
              <a:rPr lang="en-US" sz="900" b="0" dirty="0">
                <a:solidFill>
                  <a:srgbClr val="C9A84C"/>
                </a:solidFill>
              </a:rPr>
              <a:t>18 / 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256032"/>
            <a:ext cx="8686800" cy="640080"/>
          </a:xfrm>
          <a:prstGeom prst="rect">
            <a:avLst/>
          </a:prstGeom>
          <a:noFill/>
          <a:ln/>
        </p:spPr>
        <p:txBody>
          <a:bodyPr wrap="square" lIns="0" tIns="0" rIns="0" bIns="0" rtlCol="0" anchor="ctr"/>
          <a:lstStyle/>
          <a:p>
            <a:pPr marL="0" indent="0" algn="l">
              <a:buNone/>
            </a:pPr>
            <a:r>
              <a:rPr lang="en-US" sz="3800" b="1" dirty="0" err="1">
                <a:solidFill>
                  <a:srgbClr val="1A4731"/>
                </a:solidFill>
                <a:latin typeface="Times New Roman"/>
                <a:ea typeface="Times New Roman" pitchFamily="34" charset="-122"/>
                <a:cs typeface="Times New Roman"/>
              </a:rPr>
              <a:t>Balochistan</a:t>
            </a:r>
            <a:r>
              <a:rPr lang="en-US" sz="3800" b="1" dirty="0">
                <a:solidFill>
                  <a:srgbClr val="1A4731"/>
                </a:solidFill>
                <a:latin typeface="Times New Roman"/>
                <a:ea typeface="Times New Roman" pitchFamily="34" charset="-122"/>
                <a:cs typeface="Times New Roman"/>
              </a:rPr>
              <a:t>: The Bribed Sardars Model</a:t>
            </a:r>
            <a:endParaRPr lang="en-US" sz="3800" dirty="0">
              <a:latin typeface="Times New Roman"/>
              <a:ea typeface="Calibri" panose="020F0502020204030204"/>
              <a:cs typeface="Calibri" panose="020F0502020204030204"/>
            </a:endParaRPr>
          </a:p>
        </p:txBody>
      </p:sp>
      <p:sp>
        <p:nvSpPr>
          <p:cNvPr id="3" name="Shape 1"/>
          <p:cNvSpPr/>
          <p:nvPr/>
        </p:nvSpPr>
        <p:spPr>
          <a:xfrm>
            <a:off x="228600" y="960120"/>
            <a:ext cx="8686800" cy="36576"/>
          </a:xfrm>
          <a:prstGeom prst="rect">
            <a:avLst/>
          </a:prstGeom>
          <a:solidFill>
            <a:srgbClr val="C9A84C"/>
          </a:solidFill>
          <a:ln w="12700">
            <a:solidFill>
              <a:srgbClr val="C9A84C"/>
            </a:solidFill>
            <a:prstDash val="solid"/>
          </a:ln>
        </p:spPr>
      </p:sp>
      <p:sp>
        <p:nvSpPr>
          <p:cNvPr id="5" name="Text 3"/>
          <p:cNvSpPr/>
          <p:nvPr/>
        </p:nvSpPr>
        <p:spPr>
          <a:xfrm>
            <a:off x="274320" y="1051560"/>
            <a:ext cx="5349240" cy="3657600"/>
          </a:xfrm>
          <a:prstGeom prst="rect">
            <a:avLst/>
          </a:prstGeom>
          <a:noFill/>
          <a:ln/>
        </p:spPr>
        <p:txBody>
          <a:bodyPr wrap="square" lIns="91440" tIns="45720" rIns="91440" bIns="45720" rtlCol="0" anchor="t"/>
          <a:lstStyle/>
          <a:p>
            <a:pPr>
              <a:buSzPct val="100000"/>
            </a:pPr>
            <a:r>
              <a:rPr lang="en-US" b="1" dirty="0" err="1">
                <a:solidFill>
                  <a:srgbClr val="1A1A1A"/>
                </a:solidFill>
                <a:latin typeface="Times New Roman"/>
                <a:ea typeface="+mn-lt"/>
                <a:cs typeface="Times New Roman"/>
              </a:rPr>
              <a:t>Balochistan’s</a:t>
            </a:r>
            <a:r>
              <a:rPr lang="en-US" b="1" dirty="0">
                <a:solidFill>
                  <a:srgbClr val="1A1A1A"/>
                </a:solidFill>
                <a:latin typeface="Times New Roman"/>
                <a:ea typeface="+mn-lt"/>
                <a:cs typeface="Times New Roman"/>
              </a:rPr>
              <a:t> 'Management Model' &amp; Its Fallout</a:t>
            </a:r>
            <a:endParaRPr lang="en-US" dirty="0">
              <a:solidFill>
                <a:srgbClr val="000000"/>
              </a:solidFill>
              <a:latin typeface="Times New Roman"/>
              <a:ea typeface="+mn-lt"/>
              <a:cs typeface="Times New Roman"/>
            </a:endParaRPr>
          </a:p>
          <a:p>
            <a:pPr>
              <a:buFont typeface="Arial"/>
              <a:buChar char="•"/>
            </a:pPr>
            <a:r>
              <a:rPr lang="en-US" b="1">
                <a:solidFill>
                  <a:srgbClr val="1A1A1A"/>
                </a:solidFill>
                <a:latin typeface="Times New Roman"/>
                <a:ea typeface="+mn-lt"/>
                <a:cs typeface="Times New Roman"/>
              </a:rPr>
              <a:t>Patronage over Progress:</a:t>
            </a:r>
            <a:r>
              <a:rPr lang="en-US">
                <a:solidFill>
                  <a:srgbClr val="1A1A1A"/>
                </a:solidFill>
                <a:latin typeface="Times New Roman"/>
                <a:ea typeface="+mn-lt"/>
                <a:cs typeface="Times New Roman"/>
              </a:rPr>
              <a:t> Islamabad governs by paying tribal elites (Sardars) for loyalty and order rather than building institutions or developing the region. State jobs dominate the economy (62 of 65 Assembly members hold official roles).</a:t>
            </a:r>
            <a:endParaRPr lang="en-US">
              <a:latin typeface="Times New Roman"/>
              <a:cs typeface="Times New Roman"/>
            </a:endParaRPr>
          </a:p>
          <a:p>
            <a:pPr>
              <a:buFont typeface="Arial"/>
              <a:buChar char="•"/>
            </a:pPr>
            <a:r>
              <a:rPr lang="en-US" b="1">
                <a:solidFill>
                  <a:srgbClr val="1A1A1A"/>
                </a:solidFill>
                <a:latin typeface="Times New Roman"/>
                <a:ea typeface="+mn-lt"/>
                <a:cs typeface="Times New Roman"/>
              </a:rPr>
              <a:t>Roots of Insurgency:</a:t>
            </a:r>
            <a:r>
              <a:rPr lang="en-US">
                <a:solidFill>
                  <a:srgbClr val="1A1A1A"/>
                </a:solidFill>
                <a:latin typeface="Times New Roman"/>
                <a:ea typeface="+mn-lt"/>
                <a:cs typeface="Times New Roman"/>
              </a:rPr>
              <a:t> Resource wealth and development benefits (like Gwadar/CPEC) bypass ordinary Baloch citizens. Wealth flows instead to Sardar elites, other provinces, or foreign workers.</a:t>
            </a:r>
            <a:endParaRPr lang="en-US">
              <a:latin typeface="Times New Roman"/>
              <a:cs typeface="Times New Roman"/>
            </a:endParaRPr>
          </a:p>
          <a:p>
            <a:pPr>
              <a:buFont typeface="Arial"/>
              <a:buChar char="•"/>
            </a:pPr>
            <a:r>
              <a:rPr lang="en-US" b="1">
                <a:solidFill>
                  <a:srgbClr val="1A1A1A"/>
                </a:solidFill>
                <a:latin typeface="Times New Roman"/>
                <a:ea typeface="+mn-lt"/>
                <a:cs typeface="Times New Roman"/>
              </a:rPr>
              <a:t>The Result:</a:t>
            </a:r>
            <a:r>
              <a:rPr lang="en-US">
                <a:solidFill>
                  <a:srgbClr val="1A1A1A"/>
                </a:solidFill>
                <a:latin typeface="Times New Roman"/>
                <a:ea typeface="+mn-lt"/>
                <a:cs typeface="Times New Roman"/>
              </a:rPr>
              <a:t> A system that breeds resentment, fueling unresolved, cyclical insurgencies from 1948 to the present.</a:t>
            </a:r>
            <a:endParaRPr lang="en-US">
              <a:latin typeface="Times New Roman"/>
              <a:cs typeface="Times New Roman"/>
            </a:endParaRPr>
          </a:p>
          <a:p>
            <a:pPr marL="342900" indent="-342900">
              <a:spcAft>
                <a:spcPts val="600"/>
              </a:spcAft>
              <a:buSzPct val="100000"/>
              <a:buFontTx/>
              <a:buChar char="•"/>
            </a:pPr>
            <a:endParaRPr lang="en-US" b="1" dirty="0">
              <a:solidFill>
                <a:srgbClr val="1A1A1A"/>
              </a:solidFill>
              <a:latin typeface="Times New Roman"/>
              <a:ea typeface="Calibri"/>
              <a:cs typeface="Times New Roman"/>
            </a:endParaRPr>
          </a:p>
        </p:txBody>
      </p:sp>
      <p:sp>
        <p:nvSpPr>
          <p:cNvPr id="6" name="Shape 4"/>
          <p:cNvSpPr/>
          <p:nvPr/>
        </p:nvSpPr>
        <p:spPr>
          <a:xfrm>
            <a:off x="5806440" y="1097280"/>
            <a:ext cx="2560320" cy="1097280"/>
          </a:xfrm>
          <a:prstGeom prst="rect">
            <a:avLst/>
          </a:prstGeom>
          <a:solidFill>
            <a:srgbClr val="1A4731"/>
          </a:solidFill>
          <a:ln w="12700">
            <a:solidFill>
              <a:srgbClr val="1A4731"/>
            </a:solidFill>
            <a:prstDash val="solid"/>
          </a:ln>
          <a:effectLst>
            <a:outerShdw blurRad="101600" dist="25400" dir="8100000" algn="bl" rotWithShape="0">
              <a:srgbClr val="000000">
                <a:alpha val="18000"/>
              </a:srgbClr>
            </a:outerShdw>
          </a:effectLst>
        </p:spPr>
      </p:sp>
      <p:sp>
        <p:nvSpPr>
          <p:cNvPr id="7" name="Text 5"/>
          <p:cNvSpPr/>
          <p:nvPr/>
        </p:nvSpPr>
        <p:spPr>
          <a:xfrm>
            <a:off x="5806440" y="1170432"/>
            <a:ext cx="2560320" cy="502920"/>
          </a:xfrm>
          <a:prstGeom prst="rect">
            <a:avLst/>
          </a:prstGeom>
          <a:noFill/>
          <a:ln/>
        </p:spPr>
        <p:txBody>
          <a:bodyPr wrap="square" lIns="0" tIns="0" rIns="0" bIns="0" rtlCol="0" anchor="ctr"/>
          <a:lstStyle/>
          <a:p>
            <a:pPr marL="0" indent="0" algn="ctr">
              <a:buNone/>
            </a:pPr>
            <a:r>
              <a:rPr lang="en-US" sz="3200" b="1" dirty="0">
                <a:solidFill>
                  <a:srgbClr val="C9A84C"/>
                </a:solidFill>
                <a:latin typeface="Times New Roman" pitchFamily="34" charset="0"/>
                <a:ea typeface="Times New Roman" pitchFamily="34" charset="-122"/>
                <a:cs typeface="Times New Roman" pitchFamily="34" charset="-120"/>
              </a:rPr>
              <a:t>62/65</a:t>
            </a:r>
            <a:endParaRPr lang="en-US" sz="3200" dirty="0"/>
          </a:p>
        </p:txBody>
      </p:sp>
      <p:sp>
        <p:nvSpPr>
          <p:cNvPr id="8" name="Text 6"/>
          <p:cNvSpPr/>
          <p:nvPr/>
        </p:nvSpPr>
        <p:spPr>
          <a:xfrm>
            <a:off x="5806440" y="1645920"/>
            <a:ext cx="2560320" cy="457200"/>
          </a:xfrm>
          <a:prstGeom prst="rect">
            <a:avLst/>
          </a:prstGeom>
          <a:noFill/>
          <a:ln/>
        </p:spPr>
        <p:txBody>
          <a:bodyPr wrap="square" lIns="0" tIns="0" rIns="0" bIns="0" rtlCol="0" anchor="ctr"/>
          <a:lstStyle/>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Assembly members</a:t>
            </a:r>
            <a:endParaRPr lang="en-US" sz="1300" dirty="0"/>
          </a:p>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on state payroll</a:t>
            </a:r>
            <a:endParaRPr lang="en-US" sz="1300" dirty="0"/>
          </a:p>
        </p:txBody>
      </p:sp>
      <p:sp>
        <p:nvSpPr>
          <p:cNvPr id="9" name="Shape 7"/>
          <p:cNvSpPr/>
          <p:nvPr/>
        </p:nvSpPr>
        <p:spPr>
          <a:xfrm>
            <a:off x="5806440" y="2286000"/>
            <a:ext cx="2560320" cy="1097280"/>
          </a:xfrm>
          <a:prstGeom prst="rect">
            <a:avLst/>
          </a:prstGeom>
          <a:solidFill>
            <a:srgbClr val="1A4731"/>
          </a:solidFill>
          <a:ln w="12700">
            <a:solidFill>
              <a:srgbClr val="1A4731"/>
            </a:solidFill>
            <a:prstDash val="solid"/>
          </a:ln>
          <a:effectLst>
            <a:outerShdw blurRad="101600" dist="25400" dir="8100000" algn="bl" rotWithShape="0">
              <a:srgbClr val="000000">
                <a:alpha val="18000"/>
              </a:srgbClr>
            </a:outerShdw>
          </a:effectLst>
        </p:spPr>
      </p:sp>
      <p:sp>
        <p:nvSpPr>
          <p:cNvPr id="10" name="Text 8"/>
          <p:cNvSpPr/>
          <p:nvPr/>
        </p:nvSpPr>
        <p:spPr>
          <a:xfrm>
            <a:off x="5806440" y="2359152"/>
            <a:ext cx="2560320" cy="502920"/>
          </a:xfrm>
          <a:prstGeom prst="rect">
            <a:avLst/>
          </a:prstGeom>
          <a:noFill/>
          <a:ln/>
        </p:spPr>
        <p:txBody>
          <a:bodyPr wrap="square" lIns="0" tIns="0" rIns="0" bIns="0" rtlCol="0" anchor="ctr"/>
          <a:lstStyle/>
          <a:p>
            <a:pPr marL="0" indent="0" algn="ctr">
              <a:buNone/>
            </a:pPr>
            <a:r>
              <a:rPr lang="en-US" sz="3200" b="1" dirty="0">
                <a:solidFill>
                  <a:srgbClr val="C9A84C"/>
                </a:solidFill>
                <a:latin typeface="Times New Roman" pitchFamily="34" charset="0"/>
                <a:ea typeface="Times New Roman" pitchFamily="34" charset="-122"/>
                <a:cs typeface="Times New Roman" pitchFamily="34" charset="-120"/>
              </a:rPr>
              <a:t>5th</a:t>
            </a:r>
            <a:endParaRPr lang="en-US" sz="3200" dirty="0"/>
          </a:p>
        </p:txBody>
      </p:sp>
      <p:sp>
        <p:nvSpPr>
          <p:cNvPr id="11" name="Text 9"/>
          <p:cNvSpPr/>
          <p:nvPr/>
        </p:nvSpPr>
        <p:spPr>
          <a:xfrm>
            <a:off x="5806440" y="2834640"/>
            <a:ext cx="2560320" cy="457200"/>
          </a:xfrm>
          <a:prstGeom prst="rect">
            <a:avLst/>
          </a:prstGeom>
          <a:noFill/>
          <a:ln/>
        </p:spPr>
        <p:txBody>
          <a:bodyPr wrap="square" lIns="0" tIns="0" rIns="0" bIns="0" rtlCol="0" anchor="ctr"/>
          <a:lstStyle/>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Balochistan's rank</a:t>
            </a:r>
            <a:endParaRPr lang="en-US" sz="1300" dirty="0"/>
          </a:p>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in human dev. index</a:t>
            </a:r>
            <a:endParaRPr lang="en-US" sz="1300" dirty="0"/>
          </a:p>
        </p:txBody>
      </p:sp>
      <p:sp>
        <p:nvSpPr>
          <p:cNvPr id="12" name="Shape 10"/>
          <p:cNvSpPr/>
          <p:nvPr/>
        </p:nvSpPr>
        <p:spPr>
          <a:xfrm>
            <a:off x="5806440" y="3474720"/>
            <a:ext cx="2560320" cy="1100000"/>
          </a:xfrm>
          <a:prstGeom prst="rect">
            <a:avLst/>
          </a:prstGeom>
          <a:solidFill>
            <a:srgbClr val="1A4731"/>
          </a:solidFill>
          <a:ln w="12700">
            <a:solidFill>
              <a:srgbClr val="1A4731"/>
            </a:solidFill>
            <a:prstDash val="solid"/>
          </a:ln>
          <a:effectLst>
            <a:outerShdw blurRad="101600" dist="25400" dir="8100000" algn="bl" rotWithShape="0">
              <a:srgbClr val="000000">
                <a:alpha val="18000"/>
              </a:srgbClr>
            </a:outerShdw>
          </a:effectLst>
        </p:spPr>
      </p:sp>
      <p:sp>
        <p:nvSpPr>
          <p:cNvPr id="13" name="Text 11"/>
          <p:cNvSpPr/>
          <p:nvPr/>
        </p:nvSpPr>
        <p:spPr>
          <a:xfrm>
            <a:off x="5806440" y="3547872"/>
            <a:ext cx="2560320" cy="502920"/>
          </a:xfrm>
          <a:prstGeom prst="rect">
            <a:avLst/>
          </a:prstGeom>
          <a:noFill/>
          <a:ln/>
        </p:spPr>
        <p:txBody>
          <a:bodyPr wrap="square" lIns="0" tIns="0" rIns="0" bIns="0" rtlCol="0" anchor="ctr"/>
          <a:lstStyle/>
          <a:p>
            <a:pPr marL="0" indent="0" algn="ctr">
              <a:buNone/>
            </a:pPr>
            <a:r>
              <a:rPr lang="en-US" sz="3200" b="1" dirty="0">
                <a:solidFill>
                  <a:srgbClr val="C9A84C"/>
                </a:solidFill>
                <a:latin typeface="Times New Roman" pitchFamily="34" charset="0"/>
                <a:ea typeface="Times New Roman" pitchFamily="34" charset="-122"/>
                <a:cs typeface="Times New Roman" pitchFamily="34" charset="-120"/>
              </a:rPr>
              <a:t>44%</a:t>
            </a:r>
            <a:endParaRPr lang="en-US" sz="3200" dirty="0"/>
          </a:p>
        </p:txBody>
      </p:sp>
      <p:sp>
        <p:nvSpPr>
          <p:cNvPr id="14" name="Text 12"/>
          <p:cNvSpPr/>
          <p:nvPr/>
        </p:nvSpPr>
        <p:spPr>
          <a:xfrm>
            <a:off x="5806440" y="4023360"/>
            <a:ext cx="2560320" cy="457200"/>
          </a:xfrm>
          <a:prstGeom prst="rect">
            <a:avLst/>
          </a:prstGeom>
          <a:noFill/>
          <a:ln/>
        </p:spPr>
        <p:txBody>
          <a:bodyPr wrap="square" lIns="0" tIns="0" rIns="0" bIns="0" rtlCol="0" anchor="ctr"/>
          <a:lstStyle/>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Natural gas from</a:t>
            </a:r>
            <a:endParaRPr lang="en-US" sz="1300" dirty="0"/>
          </a:p>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Balochistan (Pakistan)</a:t>
            </a:r>
            <a:endParaRPr lang="en-US" sz="1300" dirty="0"/>
          </a:p>
        </p:txBody>
      </p:sp>
      <p:sp>
        <p:nvSpPr>
          <p:cNvPr id="9900" name="SlideNum_19"/>
          <p:cNvSpPr txBox="1"/>
          <p:nvPr/>
        </p:nvSpPr>
        <p:spPr>
          <a:xfrm>
            <a:off x="8229600" y="4953500"/>
            <a:ext cx="685800" cy="190000"/>
          </a:xfrm>
          <a:prstGeom prst="rect">
            <a:avLst/>
          </a:prstGeom>
          <a:noFill/>
        </p:spPr>
        <p:txBody>
          <a:bodyPr wrap="square" rtlCol="0"/>
          <a:lstStyle/>
          <a:p>
            <a:pPr algn="r"/>
            <a:r>
              <a:rPr lang="en-US" sz="1050" b="0" dirty="0">
                <a:solidFill>
                  <a:srgbClr val="1A4731"/>
                </a:solidFill>
              </a:rPr>
              <a:t>19 / 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256032"/>
            <a:ext cx="8686800" cy="640080"/>
          </a:xfrm>
          <a:prstGeom prst="rect">
            <a:avLst/>
          </a:prstGeom>
          <a:noFill/>
          <a:ln/>
        </p:spPr>
        <p:txBody>
          <a:bodyPr wrap="square" lIns="0" tIns="0" rIns="0" bIns="0" rtlCol="0" anchor="ctr"/>
          <a:lstStyle/>
          <a:p>
            <a:pPr marL="0" indent="0" algn="l">
              <a:buNone/>
            </a:pPr>
            <a:r>
              <a:rPr lang="en-US" sz="3800" b="1">
                <a:solidFill>
                  <a:srgbClr val="1A4731"/>
                </a:solidFill>
                <a:latin typeface="Times New Roman"/>
                <a:ea typeface="Times New Roman" pitchFamily="34" charset="-122"/>
                <a:cs typeface="Times New Roman"/>
              </a:rPr>
              <a:t>The Pathans; A Culture of Resistance</a:t>
            </a:r>
            <a:endParaRPr lang="en-US" sz="3800" dirty="0">
              <a:latin typeface="Times New Roman"/>
              <a:ea typeface="Calibri" panose="020F0502020204030204"/>
              <a:cs typeface="Calibri" panose="020F0502020204030204"/>
            </a:endParaRPr>
          </a:p>
        </p:txBody>
      </p:sp>
      <p:sp>
        <p:nvSpPr>
          <p:cNvPr id="3" name="Shape 1"/>
          <p:cNvSpPr/>
          <p:nvPr/>
        </p:nvSpPr>
        <p:spPr>
          <a:xfrm>
            <a:off x="228600" y="960120"/>
            <a:ext cx="8686800" cy="36576"/>
          </a:xfrm>
          <a:prstGeom prst="rect">
            <a:avLst/>
          </a:prstGeom>
          <a:solidFill>
            <a:srgbClr val="C9A84C"/>
          </a:solidFill>
          <a:ln w="12700">
            <a:solidFill>
              <a:srgbClr val="C9A84C"/>
            </a:solidFill>
            <a:prstDash val="solid"/>
          </a:ln>
        </p:spPr>
      </p:sp>
      <p:sp>
        <p:nvSpPr>
          <p:cNvPr id="5" name="Text 3"/>
          <p:cNvSpPr/>
          <p:nvPr/>
        </p:nvSpPr>
        <p:spPr>
          <a:xfrm>
            <a:off x="274320" y="1051560"/>
            <a:ext cx="5349240" cy="3657600"/>
          </a:xfrm>
          <a:prstGeom prst="rect">
            <a:avLst/>
          </a:prstGeom>
          <a:noFill/>
          <a:ln/>
        </p:spPr>
        <p:txBody>
          <a:bodyPr wrap="square" lIns="91440" tIns="45720" rIns="91440" bIns="45720" rtlCol="0" anchor="t"/>
          <a:lstStyle/>
          <a:p>
            <a:pPr>
              <a:buSzPct val="100000"/>
            </a:pPr>
            <a:r>
              <a:rPr lang="en-US" sz="1600" b="1">
                <a:solidFill>
                  <a:srgbClr val="1A1A1A"/>
                </a:solidFill>
                <a:ea typeface="+mn-lt"/>
                <a:cs typeface="+mn-lt"/>
              </a:rPr>
              <a:t>The Pashtun Resistance: Culture &amp; Historical Limits</a:t>
            </a:r>
            <a:endParaRPr lang="en-US" sz="1600">
              <a:solidFill>
                <a:srgbClr val="000000"/>
              </a:solidFill>
              <a:ea typeface="+mn-lt"/>
              <a:cs typeface="+mn-lt"/>
            </a:endParaRPr>
          </a:p>
          <a:p>
            <a:pPr>
              <a:buFont typeface="Arial"/>
              <a:buChar char="•"/>
            </a:pPr>
            <a:r>
              <a:rPr lang="en-US" sz="1600" b="1" dirty="0">
                <a:solidFill>
                  <a:srgbClr val="1A1A1A"/>
                </a:solidFill>
                <a:ea typeface="+mn-lt"/>
                <a:cs typeface="+mn-lt"/>
              </a:rPr>
              <a:t>The Highlander Analogy:</a:t>
            </a:r>
            <a:r>
              <a:rPr lang="en-US" sz="1600" dirty="0">
                <a:solidFill>
                  <a:srgbClr val="1A1A1A"/>
                </a:solidFill>
                <a:ea typeface="+mn-lt"/>
                <a:cs typeface="+mn-lt"/>
              </a:rPr>
              <a:t> Much like 18th-century Scottish Highlanders, Pashtun culture is rooted in clan loyalty, martial pride, and a fierce resistance to centralized authority. Their strict honor code, </a:t>
            </a:r>
            <a:r>
              <a:rPr lang="en-US" sz="1600" i="1" dirty="0" err="1">
                <a:solidFill>
                  <a:srgbClr val="1A1A1A"/>
                </a:solidFill>
                <a:ea typeface="+mn-lt"/>
                <a:cs typeface="+mn-lt"/>
              </a:rPr>
              <a:t>Pakhtunwali</a:t>
            </a:r>
            <a:r>
              <a:rPr lang="en-US" sz="1600" dirty="0">
                <a:solidFill>
                  <a:srgbClr val="1A1A1A"/>
                </a:solidFill>
                <a:ea typeface="+mn-lt"/>
                <a:cs typeface="+mn-lt"/>
              </a:rPr>
              <a:t> (hospitality, asylum, revenge), makes forceful assimilation nearly impossible.</a:t>
            </a:r>
            <a:endParaRPr lang="en-US" sz="1600" dirty="0">
              <a:ea typeface="+mn-lt"/>
              <a:cs typeface="+mn-lt"/>
            </a:endParaRPr>
          </a:p>
          <a:p>
            <a:pPr>
              <a:buFont typeface="Arial"/>
              <a:buChar char="•"/>
            </a:pPr>
            <a:r>
              <a:rPr lang="en-US" sz="1600" b="1" dirty="0">
                <a:solidFill>
                  <a:srgbClr val="1A1A1A"/>
                </a:solidFill>
                <a:ea typeface="+mn-lt"/>
                <a:cs typeface="+mn-lt"/>
              </a:rPr>
              <a:t>A Legacy of Defiance:</a:t>
            </a:r>
            <a:r>
              <a:rPr lang="en-US" sz="1600" dirty="0">
                <a:solidFill>
                  <a:srgbClr val="1A1A1A"/>
                </a:solidFill>
                <a:ea typeface="+mn-lt"/>
                <a:cs typeface="+mn-lt"/>
              </a:rPr>
              <a:t> They have successfully resisted every major foreign power, remaining largely unpacified by the British Empire, serving as the primary resistance against the Soviets, and outlasting the US/NATO coalition in Afghanistan.</a:t>
            </a:r>
            <a:endParaRPr lang="en-US" sz="1600" dirty="0">
              <a:ea typeface="+mn-lt"/>
              <a:cs typeface="+mn-lt"/>
            </a:endParaRPr>
          </a:p>
          <a:p>
            <a:pPr>
              <a:buFont typeface="Arial"/>
              <a:buChar char="•"/>
            </a:pPr>
            <a:r>
              <a:rPr lang="en-US" sz="1600" b="1" dirty="0">
                <a:solidFill>
                  <a:srgbClr val="1A1A1A"/>
                </a:solidFill>
                <a:ea typeface="+mn-lt"/>
                <a:cs typeface="+mn-lt"/>
              </a:rPr>
              <a:t>The Result:</a:t>
            </a:r>
            <a:r>
              <a:rPr lang="en-US" sz="1600" dirty="0">
                <a:solidFill>
                  <a:srgbClr val="1A1A1A"/>
                </a:solidFill>
                <a:ea typeface="+mn-lt"/>
                <a:cs typeface="+mn-lt"/>
              </a:rPr>
              <a:t> The Pakistani military faces these exact same historical and cultural barriers during operations in FATA/KPK, demonstrating that the region cannot be easily subdued by conventional military force.</a:t>
            </a:r>
            <a:endParaRPr lang="en-US" sz="1600" dirty="0">
              <a:ea typeface="+mn-lt"/>
              <a:cs typeface="+mn-lt"/>
            </a:endParaRPr>
          </a:p>
          <a:p>
            <a:pPr marL="342900" indent="-342900">
              <a:spcAft>
                <a:spcPts val="600"/>
              </a:spcAft>
              <a:buSzPct val="100000"/>
              <a:buChar char="•"/>
            </a:pPr>
            <a:endParaRPr lang="en-US" sz="1600" b="1" dirty="0">
              <a:solidFill>
                <a:srgbClr val="1A1A1A"/>
              </a:solidFill>
              <a:latin typeface="Times New Roman"/>
              <a:cs typeface="Times New Roman"/>
            </a:endParaRPr>
          </a:p>
        </p:txBody>
      </p:sp>
      <p:sp>
        <p:nvSpPr>
          <p:cNvPr id="6" name="Shape 4"/>
          <p:cNvSpPr/>
          <p:nvPr/>
        </p:nvSpPr>
        <p:spPr>
          <a:xfrm>
            <a:off x="5760720" y="1051560"/>
            <a:ext cx="3154680" cy="3566160"/>
          </a:xfrm>
          <a:prstGeom prst="rect">
            <a:avLst/>
          </a:prstGeom>
          <a:solidFill>
            <a:srgbClr val="3D4A5C"/>
          </a:solidFill>
          <a:ln w="12700">
            <a:solidFill>
              <a:srgbClr val="6B7A8D"/>
            </a:solidFill>
            <a:prstDash val="solid"/>
          </a:ln>
        </p:spPr>
      </p:sp>
      <p:sp>
        <p:nvSpPr>
          <p:cNvPr id="50" name="ATitle"/>
          <p:cNvSpPr/>
          <p:nvPr/>
        </p:nvSpPr>
        <p:spPr>
          <a:xfrm>
            <a:off x="5810720" y="1131560"/>
            <a:ext cx="3054680" cy="200000"/>
          </a:xfrm>
          <a:prstGeom prst="rect">
            <a:avLst/>
          </a:prstGeom>
          <a:noFill/>
        </p:spPr>
        <p:txBody>
          <a:bodyPr wrap="square" lIns="45720" tIns="45720" rIns="45720" bIns="45720" rtlCol="0" anchor="ctr"/>
          <a:lstStyle/>
          <a:p>
            <a:pPr marL="0" indent="0" algn="ctr">
              <a:buNone/>
            </a:pPr>
            <a:r>
              <a:rPr lang="en-US" sz="1200" b="1" dirty="0">
                <a:solidFill>
                  <a:srgbClr val="C9A84C"/>
                </a:solidFill>
                <a:latin typeface="Times New Roman" pitchFamily="34" charset="0"/>
              </a:rPr>
              <a:t>Lieven's Analogy Visualized</a:t>
            </a:r>
            <a:endParaRPr lang="en-US" sz="1200" dirty="0"/>
          </a:p>
        </p:txBody>
      </p:sp>
      <p:sp>
        <p:nvSpPr>
          <p:cNvPr id="51" name="LBg"/>
          <p:cNvSpPr/>
          <p:nvPr/>
        </p:nvSpPr>
        <p:spPr>
          <a:xfrm>
            <a:off x="5800720" y="1391560"/>
            <a:ext cx="1502340" cy="3036160"/>
          </a:xfrm>
          <a:prstGeom prst="rect">
            <a:avLst/>
          </a:prstGeom>
          <a:solidFill>
            <a:srgbClr val="2A3020"/>
          </a:solidFill>
          <a:ln w="19050">
            <a:solidFill>
              <a:srgbClr val="C9A84C"/>
            </a:solidFill>
            <a:prstDash val="solid"/>
          </a:ln>
        </p:spPr>
      </p:sp>
      <p:sp>
        <p:nvSpPr>
          <p:cNvPr id="52" name="LIcon"/>
          <p:cNvSpPr/>
          <p:nvPr/>
        </p:nvSpPr>
        <p:spPr>
          <a:xfrm>
            <a:off x="6391890" y="1471560"/>
            <a:ext cx="320000" cy="320000"/>
          </a:xfrm>
          <a:prstGeom prst="rect">
            <a:avLst/>
          </a:prstGeom>
          <a:solidFill>
            <a:srgbClr val="3A4A28"/>
          </a:solidFill>
          <a:ln w="19050">
            <a:solidFill>
              <a:srgbClr val="C9A84C"/>
            </a:solidFill>
            <a:prstDash val="solid"/>
          </a:ln>
        </p:spPr>
        <p:txBody>
          <a:bodyPr wrap="square" lIns="45720" tIns="45720" rIns="45720" bIns="45720" rtlCol="0" anchor="ctr"/>
          <a:lstStyle/>
          <a:p>
            <a:pPr marL="0" indent="0" algn="ctr">
              <a:buNone/>
            </a:pPr>
            <a:r>
              <a:rPr lang="en-US" sz="2000" dirty="0">
                <a:solidFill>
                  <a:srgbClr val="C9A84C"/>
                </a:solidFill>
                <a:latin typeface="Times New Roman" pitchFamily="34" charset="0"/>
              </a:rPr>
              <a:t>⚔</a:t>
            </a:r>
            <a:endParaRPr lang="en-US" sz="2000" dirty="0"/>
          </a:p>
        </p:txBody>
      </p:sp>
      <p:sp>
        <p:nvSpPr>
          <p:cNvPr id="53" name="LTitle"/>
          <p:cNvSpPr/>
          <p:nvPr/>
        </p:nvSpPr>
        <p:spPr>
          <a:xfrm>
            <a:off x="5800720" y="1851560"/>
            <a:ext cx="1502340" cy="200000"/>
          </a:xfrm>
          <a:prstGeom prst="rect">
            <a:avLst/>
          </a:prstGeom>
          <a:noFill/>
        </p:spPr>
        <p:txBody>
          <a:bodyPr wrap="square" lIns="45720" tIns="45720" rIns="45720" bIns="45720" rtlCol="0" anchor="ctr"/>
          <a:lstStyle/>
          <a:p>
            <a:pPr marL="0" indent="0" algn="ctr">
              <a:buNone/>
            </a:pPr>
            <a:r>
              <a:rPr lang="en-US" sz="1000" b="1" dirty="0">
                <a:solidFill>
                  <a:srgbClr val="C9A84C"/>
                </a:solidFill>
                <a:latin typeface="Times New Roman" pitchFamily="34" charset="0"/>
              </a:rPr>
              <a:t>Scottish
Highlander</a:t>
            </a:r>
            <a:endParaRPr lang="en-US" sz="1000" dirty="0"/>
          </a:p>
        </p:txBody>
      </p:sp>
      <p:sp>
        <p:nvSpPr>
          <p:cNvPr id="54" name="LLine2"/>
          <p:cNvSpPr/>
          <p:nvPr/>
        </p:nvSpPr>
        <p:spPr>
          <a:xfrm>
            <a:off x="5880720" y="2111560"/>
            <a:ext cx="1342340" cy="20000"/>
          </a:xfrm>
          <a:prstGeom prst="rect">
            <a:avLst/>
          </a:prstGeom>
          <a:solidFill>
            <a:srgbClr val="C9A84C"/>
          </a:solidFill>
        </p:spPr>
      </p:sp>
      <p:sp>
        <p:nvSpPr>
          <p:cNvPr id="55" name="LT0"/>
          <p:cNvSpPr/>
          <p:nvPr/>
        </p:nvSpPr>
        <p:spPr>
          <a:xfrm>
            <a:off x="5830720" y="2171560"/>
            <a:ext cx="1442340" cy="28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Clan loyalty</a:t>
            </a:r>
            <a:endParaRPr lang="en-US" sz="900" dirty="0"/>
          </a:p>
        </p:txBody>
      </p:sp>
      <p:sp>
        <p:nvSpPr>
          <p:cNvPr id="56" name="LT1"/>
          <p:cNvSpPr/>
          <p:nvPr/>
        </p:nvSpPr>
        <p:spPr>
          <a:xfrm>
            <a:off x="5830720" y="2491560"/>
            <a:ext cx="1442340" cy="28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Martial pride</a:t>
            </a:r>
            <a:endParaRPr lang="en-US" sz="900" dirty="0"/>
          </a:p>
        </p:txBody>
      </p:sp>
      <p:sp>
        <p:nvSpPr>
          <p:cNvPr id="57" name="LT2"/>
          <p:cNvSpPr/>
          <p:nvPr/>
        </p:nvSpPr>
        <p:spPr>
          <a:xfrm>
            <a:off x="5830720" y="2811560"/>
            <a:ext cx="1442340" cy="28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Resists lowland authority</a:t>
            </a:r>
            <a:endParaRPr lang="en-US" sz="900" dirty="0"/>
          </a:p>
        </p:txBody>
      </p:sp>
      <p:sp>
        <p:nvSpPr>
          <p:cNvPr id="58" name="LT3"/>
          <p:cNvSpPr/>
          <p:nvPr/>
        </p:nvSpPr>
        <p:spPr>
          <a:xfrm>
            <a:off x="5830720" y="3131560"/>
            <a:ext cx="1442340" cy="28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Honor code (clan law)</a:t>
            </a:r>
            <a:endParaRPr lang="en-US" sz="900" dirty="0"/>
          </a:p>
        </p:txBody>
      </p:sp>
      <p:sp>
        <p:nvSpPr>
          <p:cNvPr id="59" name="LT4"/>
          <p:cNvSpPr/>
          <p:nvPr/>
        </p:nvSpPr>
        <p:spPr>
          <a:xfrm>
            <a:off x="5830720" y="3451560"/>
            <a:ext cx="1442340" cy="28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Never fully pacified</a:t>
            </a:r>
            <a:endParaRPr lang="en-US" sz="900" dirty="0"/>
          </a:p>
        </p:txBody>
      </p:sp>
      <p:sp>
        <p:nvSpPr>
          <p:cNvPr id="60" name="Equ"/>
          <p:cNvSpPr/>
          <p:nvPr/>
        </p:nvSpPr>
        <p:spPr>
          <a:xfrm>
            <a:off x="7258060" y="2714640"/>
            <a:ext cx="160000" cy="240000"/>
          </a:xfrm>
          <a:prstGeom prst="rect">
            <a:avLst/>
          </a:prstGeom>
          <a:solidFill>
            <a:srgbClr val="C9A84C"/>
          </a:solidFill>
          <a:ln w="12700">
            <a:solidFill>
              <a:srgbClr val="3D4A5C"/>
            </a:solidFill>
            <a:prstDash val="solid"/>
          </a:ln>
        </p:spPr>
        <p:txBody>
          <a:bodyPr wrap="square" lIns="45720" tIns="45720" rIns="45720" bIns="45720" rtlCol="0" anchor="ctr"/>
          <a:lstStyle/>
          <a:p>
            <a:pPr marL="0" indent="0" algn="ctr">
              <a:buNone/>
            </a:pPr>
            <a:r>
              <a:rPr lang="en-US" sz="2000" b="1" dirty="0">
                <a:solidFill>
                  <a:srgbClr val="3D4A5C"/>
                </a:solidFill>
                <a:latin typeface="Times New Roman" pitchFamily="34" charset="0"/>
              </a:rPr>
              <a:t>≈</a:t>
            </a:r>
            <a:endParaRPr lang="en-US" sz="2000" dirty="0"/>
          </a:p>
        </p:txBody>
      </p:sp>
      <p:sp>
        <p:nvSpPr>
          <p:cNvPr id="61" name="RBg"/>
          <p:cNvSpPr/>
          <p:nvPr/>
        </p:nvSpPr>
        <p:spPr>
          <a:xfrm>
            <a:off x="7373060" y="1391560"/>
            <a:ext cx="1502340" cy="3036160"/>
          </a:xfrm>
          <a:prstGeom prst="rect">
            <a:avLst/>
          </a:prstGeom>
          <a:solidFill>
            <a:srgbClr val="3A2510"/>
          </a:solidFill>
          <a:ln w="19050">
            <a:solidFill>
              <a:srgbClr val="C9A84C"/>
            </a:solidFill>
            <a:prstDash val="solid"/>
          </a:ln>
        </p:spPr>
      </p:sp>
      <p:sp>
        <p:nvSpPr>
          <p:cNvPr id="62" name="RIcon"/>
          <p:cNvSpPr/>
          <p:nvPr/>
        </p:nvSpPr>
        <p:spPr>
          <a:xfrm>
            <a:off x="7964230" y="1471560"/>
            <a:ext cx="320000" cy="320000"/>
          </a:xfrm>
          <a:prstGeom prst="rect">
            <a:avLst/>
          </a:prstGeom>
          <a:solidFill>
            <a:srgbClr val="5A3A18"/>
          </a:solidFill>
          <a:ln w="19050">
            <a:solidFill>
              <a:srgbClr val="C9A84C"/>
            </a:solidFill>
            <a:prstDash val="solid"/>
          </a:ln>
        </p:spPr>
        <p:txBody>
          <a:bodyPr wrap="square" lIns="45720" tIns="45720" rIns="45720" bIns="45720" rtlCol="0" anchor="ctr"/>
          <a:lstStyle/>
          <a:p>
            <a:pPr marL="0" indent="0" algn="ctr">
              <a:buNone/>
            </a:pPr>
            <a:r>
              <a:rPr lang="en-US" sz="2000" dirty="0">
                <a:solidFill>
                  <a:srgbClr val="FFFFFF"/>
                </a:solidFill>
                <a:latin typeface="Times New Roman" pitchFamily="34" charset="0"/>
              </a:rPr>
              <a:t>☽</a:t>
            </a:r>
            <a:endParaRPr lang="en-US" sz="2000" dirty="0"/>
          </a:p>
        </p:txBody>
      </p:sp>
      <p:sp>
        <p:nvSpPr>
          <p:cNvPr id="63" name="RTitle"/>
          <p:cNvSpPr/>
          <p:nvPr/>
        </p:nvSpPr>
        <p:spPr>
          <a:xfrm>
            <a:off x="7373060" y="1851560"/>
            <a:ext cx="1502340" cy="200000"/>
          </a:xfrm>
          <a:prstGeom prst="rect">
            <a:avLst/>
          </a:prstGeom>
          <a:noFill/>
        </p:spPr>
        <p:txBody>
          <a:bodyPr wrap="square" lIns="45720" tIns="45720" rIns="45720" bIns="45720" rtlCol="0" anchor="ctr"/>
          <a:lstStyle/>
          <a:p>
            <a:pPr marL="0" indent="0" algn="ctr">
              <a:buNone/>
            </a:pPr>
            <a:r>
              <a:rPr lang="en-US" sz="1000" b="1" dirty="0">
                <a:solidFill>
                  <a:srgbClr val="C9A84C"/>
                </a:solidFill>
                <a:latin typeface="Times New Roman" pitchFamily="34" charset="0"/>
              </a:rPr>
              <a:t>Pashtun
Lashkar</a:t>
            </a:r>
            <a:endParaRPr lang="en-US" sz="1000" dirty="0"/>
          </a:p>
        </p:txBody>
      </p:sp>
      <p:sp>
        <p:nvSpPr>
          <p:cNvPr id="64" name="RLine2"/>
          <p:cNvSpPr/>
          <p:nvPr/>
        </p:nvSpPr>
        <p:spPr>
          <a:xfrm>
            <a:off x="7453060" y="2111560"/>
            <a:ext cx="1342340" cy="20000"/>
          </a:xfrm>
          <a:prstGeom prst="rect">
            <a:avLst/>
          </a:prstGeom>
          <a:solidFill>
            <a:srgbClr val="B85042"/>
          </a:solidFill>
        </p:spPr>
      </p:sp>
      <p:sp>
        <p:nvSpPr>
          <p:cNvPr id="65" name="RT0"/>
          <p:cNvSpPr/>
          <p:nvPr/>
        </p:nvSpPr>
        <p:spPr>
          <a:xfrm>
            <a:off x="7403060" y="2171560"/>
            <a:ext cx="1442340" cy="28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Tribal loyalty</a:t>
            </a:r>
            <a:endParaRPr lang="en-US" sz="900" dirty="0"/>
          </a:p>
        </p:txBody>
      </p:sp>
      <p:sp>
        <p:nvSpPr>
          <p:cNvPr id="66" name="RT1"/>
          <p:cNvSpPr/>
          <p:nvPr/>
        </p:nvSpPr>
        <p:spPr>
          <a:xfrm>
            <a:off x="7403060" y="2491560"/>
            <a:ext cx="1442340" cy="28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Pakhtunwali code</a:t>
            </a:r>
            <a:endParaRPr lang="en-US" sz="900" dirty="0"/>
          </a:p>
        </p:txBody>
      </p:sp>
      <p:sp>
        <p:nvSpPr>
          <p:cNvPr id="67" name="RT2"/>
          <p:cNvSpPr/>
          <p:nvPr/>
        </p:nvSpPr>
        <p:spPr>
          <a:xfrm>
            <a:off x="7403060" y="2811560"/>
            <a:ext cx="1442340" cy="28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Resists central state</a:t>
            </a:r>
            <a:endParaRPr lang="en-US" sz="900" dirty="0"/>
          </a:p>
        </p:txBody>
      </p:sp>
      <p:sp>
        <p:nvSpPr>
          <p:cNvPr id="68" name="RT3"/>
          <p:cNvSpPr/>
          <p:nvPr/>
        </p:nvSpPr>
        <p:spPr>
          <a:xfrm>
            <a:off x="7403060" y="3131560"/>
            <a:ext cx="1442340" cy="28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Melmastia &amp; Badal</a:t>
            </a:r>
            <a:endParaRPr lang="en-US" sz="900" dirty="0"/>
          </a:p>
        </p:txBody>
      </p:sp>
      <p:sp>
        <p:nvSpPr>
          <p:cNvPr id="69" name="RT4"/>
          <p:cNvSpPr/>
          <p:nvPr/>
        </p:nvSpPr>
        <p:spPr>
          <a:xfrm>
            <a:off x="7403060" y="3451560"/>
            <a:ext cx="1442340" cy="280000"/>
          </a:xfrm>
          <a:prstGeom prst="rect">
            <a:avLst/>
          </a:prstGeom>
          <a:noFill/>
        </p:spPr>
        <p:txBody>
          <a:bodyPr wrap="square" lIns="45720" tIns="45720" rIns="45720" bIns="45720" rtlCol="0" anchor="ctr"/>
          <a:lstStyle/>
          <a:p>
            <a:pPr marL="0" indent="0" algn="ctr">
              <a:buNone/>
            </a:pPr>
            <a:r>
              <a:rPr lang="en-US" sz="900" dirty="0">
                <a:solidFill>
                  <a:srgbClr val="FFFFFF"/>
                </a:solidFill>
                <a:latin typeface="Times New Roman" pitchFamily="34" charset="0"/>
              </a:rPr>
              <a:t>Resisted every empire</a:t>
            </a:r>
            <a:endParaRPr lang="en-US" sz="900" dirty="0"/>
          </a:p>
        </p:txBody>
      </p:sp>
      <p:sp>
        <p:nvSpPr>
          <p:cNvPr id="70" name="ACap"/>
          <p:cNvSpPr/>
          <p:nvPr/>
        </p:nvSpPr>
        <p:spPr>
          <a:xfrm>
            <a:off x="5810720" y="4407720"/>
            <a:ext cx="3054680" cy="160000"/>
          </a:xfrm>
          <a:prstGeom prst="rect">
            <a:avLst/>
          </a:prstGeom>
          <a:noFill/>
        </p:spPr>
        <p:txBody>
          <a:bodyPr wrap="square" lIns="45720" tIns="45720" rIns="45720" bIns="45720" rtlCol="0" anchor="ctr"/>
          <a:lstStyle/>
          <a:p>
            <a:pPr marL="0" indent="0" algn="ctr">
              <a:buNone/>
            </a:pPr>
            <a:r>
              <a:rPr lang="en-US" sz="900" i="1" dirty="0">
                <a:solidFill>
                  <a:srgbClr val="C9A84C"/>
                </a:solidFill>
                <a:latin typeface="Times New Roman" pitchFamily="34" charset="0"/>
              </a:rPr>
              <a:t>Both resisted pacification by lowland authority</a:t>
            </a:r>
            <a:endParaRPr lang="en-US" sz="900" dirty="0"/>
          </a:p>
        </p:txBody>
      </p:sp>
      <p:sp>
        <p:nvSpPr>
          <p:cNvPr id="9900" name="SlideNum_20"/>
          <p:cNvSpPr txBox="1"/>
          <p:nvPr/>
        </p:nvSpPr>
        <p:spPr>
          <a:xfrm>
            <a:off x="8229600" y="4953500"/>
            <a:ext cx="685800" cy="190000"/>
          </a:xfrm>
          <a:prstGeom prst="rect">
            <a:avLst/>
          </a:prstGeom>
          <a:noFill/>
        </p:spPr>
        <p:txBody>
          <a:bodyPr wrap="square" rtlCol="0"/>
          <a:lstStyle/>
          <a:p>
            <a:pPr algn="r"/>
            <a:r>
              <a:rPr lang="en-US" sz="900" b="0" dirty="0">
                <a:solidFill>
                  <a:srgbClr val="1A4731"/>
                </a:solidFill>
              </a:rPr>
              <a:t>20 / 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256032"/>
            <a:ext cx="8686800" cy="640080"/>
          </a:xfrm>
          <a:prstGeom prst="rect">
            <a:avLst/>
          </a:prstGeom>
          <a:noFill/>
          <a:ln/>
        </p:spPr>
        <p:txBody>
          <a:bodyPr wrap="square" lIns="0" tIns="0" rIns="0" bIns="0" rtlCol="0" anchor="ctr"/>
          <a:lstStyle/>
          <a:p>
            <a:pPr marL="0" indent="0" algn="l">
              <a:buNone/>
            </a:pPr>
            <a:r>
              <a:rPr lang="en-US" sz="3800" b="1" dirty="0">
                <a:solidFill>
                  <a:srgbClr val="1A4731"/>
                </a:solidFill>
                <a:latin typeface="Times New Roman" pitchFamily="34" charset="0"/>
                <a:ea typeface="Times New Roman" pitchFamily="34" charset="-122"/>
                <a:cs typeface="Times New Roman" pitchFamily="34" charset="-120"/>
              </a:rPr>
              <a:t>The FATA Merger &amp; Modern Grievances</a:t>
            </a:r>
            <a:endParaRPr lang="en-US" sz="3800" dirty="0"/>
          </a:p>
        </p:txBody>
      </p:sp>
      <p:sp>
        <p:nvSpPr>
          <p:cNvPr id="3" name="Shape 1"/>
          <p:cNvSpPr/>
          <p:nvPr/>
        </p:nvSpPr>
        <p:spPr>
          <a:xfrm>
            <a:off x="228600" y="960120"/>
            <a:ext cx="8686800" cy="36576"/>
          </a:xfrm>
          <a:prstGeom prst="rect">
            <a:avLst/>
          </a:prstGeom>
          <a:solidFill>
            <a:srgbClr val="C9A84C"/>
          </a:solidFill>
          <a:ln w="12700">
            <a:solidFill>
              <a:srgbClr val="C9A84C"/>
            </a:solidFill>
            <a:prstDash val="solid"/>
          </a:ln>
        </p:spPr>
      </p:sp>
      <p:sp>
        <p:nvSpPr>
          <p:cNvPr id="5" name="Text 3"/>
          <p:cNvSpPr/>
          <p:nvPr/>
        </p:nvSpPr>
        <p:spPr>
          <a:xfrm>
            <a:off x="274320" y="1051560"/>
            <a:ext cx="5349240" cy="3657600"/>
          </a:xfrm>
          <a:prstGeom prst="rect">
            <a:avLst/>
          </a:prstGeom>
          <a:noFill/>
          <a:ln/>
        </p:spPr>
        <p:txBody>
          <a:bodyPr wrap="square" lIns="91440" tIns="45720" rIns="91440" bIns="45720" rtlCol="0" anchor="t"/>
          <a:lstStyle/>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2018 FATA Merger: Tribal areas formally merged into Khyber Pakhtunkhwa province after 70 years</a:t>
            </a:r>
            <a:endParaRPr lang="en-US" sz="1350" dirty="0"/>
          </a:p>
          <a:p>
            <a:pPr marL="508000" lvl="1" indent="-254000">
              <a:spcAft>
                <a:spcPts val="400"/>
              </a:spcAft>
              <a:buSzPct val="100000"/>
              <a:buChar char="•"/>
            </a:pPr>
            <a:r>
              <a:rPr lang="en-US" sz="1350">
                <a:solidFill>
                  <a:srgbClr val="3D4A5C"/>
                </a:solidFill>
                <a:latin typeface="Times New Roman"/>
                <a:ea typeface="Times New Roman" pitchFamily="34" charset="-122"/>
                <a:cs typeface="Times New Roman"/>
              </a:rPr>
              <a:t>Ended the colonial-era Frontier Crimes Regulations (FCR): the </a:t>
            </a:r>
            <a:r>
              <a:rPr lang="en-US" sz="1350" dirty="0">
                <a:solidFill>
                  <a:srgbClr val="3D4A5C"/>
                </a:solidFill>
                <a:latin typeface="Times New Roman"/>
                <a:ea typeface="Times New Roman" pitchFamily="34" charset="-122"/>
                <a:cs typeface="Times New Roman"/>
              </a:rPr>
              <a:t>'Bloody Code' that denied basic rights</a:t>
            </a:r>
            <a:endParaRPr lang="en-US" sz="1350" dirty="0">
              <a:latin typeface="Times New Roman"/>
              <a:ea typeface="Calibri" panose="020F0502020204030204"/>
              <a:cs typeface="Calibri" panose="020F0502020204030204"/>
            </a:endParaRPr>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The TTP's Exploitation of 'Pathan Sovereignty'</a:t>
            </a:r>
            <a:endParaRPr lang="en-US" sz="1350" dirty="0"/>
          </a:p>
          <a:p>
            <a:pPr marL="508000" lvl="1" indent="-254000">
              <a:spcAft>
                <a:spcPts val="400"/>
              </a:spcAft>
              <a:buSzPct val="100000"/>
              <a:buChar char="•"/>
            </a:pPr>
            <a:r>
              <a:rPr lang="en-US" sz="1350" dirty="0">
                <a:solidFill>
                  <a:srgbClr val="3D4A5C"/>
                </a:solidFill>
                <a:latin typeface="Times New Roman"/>
                <a:ea typeface="Times New Roman" pitchFamily="34" charset="-122"/>
                <a:cs typeface="Times New Roman"/>
              </a:rPr>
              <a:t>TTP frames the Pakistani state as a colonial </a:t>
            </a:r>
            <a:r>
              <a:rPr lang="en-US" sz="1350" dirty="0" err="1">
                <a:solidFill>
                  <a:srgbClr val="3D4A5C"/>
                </a:solidFill>
                <a:latin typeface="Times New Roman"/>
                <a:ea typeface="Times New Roman" pitchFamily="34" charset="-122"/>
                <a:cs typeface="Times New Roman"/>
              </a:rPr>
              <a:t>outsider:</a:t>
            </a:r>
            <a:r>
              <a:rPr lang="en-US" sz="1350" dirty="0">
                <a:solidFill>
                  <a:srgbClr val="3D4A5C"/>
                </a:solidFill>
                <a:latin typeface="Times New Roman"/>
                <a:ea typeface="Times New Roman" pitchFamily="34" charset="-122"/>
                <a:cs typeface="Times New Roman"/>
              </a:rPr>
              <a:t> uses emotional Pashtun identity as a recruitment tool</a:t>
            </a:r>
            <a:endParaRPr lang="en-US" sz="1350" dirty="0">
              <a:latin typeface="Times New Roman"/>
              <a:cs typeface="Times New Roman"/>
            </a:endParaRPr>
          </a:p>
          <a:p>
            <a:pPr marL="508000" lvl="1" indent="-254000">
              <a:spcAft>
                <a:spcPts val="400"/>
              </a:spcAft>
              <a:buSzPct val="100000"/>
              <a:buChar char="•"/>
            </a:pPr>
            <a:r>
              <a:rPr lang="en-US" sz="1350" dirty="0">
                <a:solidFill>
                  <a:srgbClr val="3D4A5C"/>
                </a:solidFill>
                <a:latin typeface="Times New Roman"/>
                <a:ea typeface="Times New Roman" pitchFamily="34" charset="-122"/>
                <a:cs typeface="Times New Roman"/>
              </a:rPr>
              <a:t>Post-merger </a:t>
            </a:r>
            <a:r>
              <a:rPr lang="en-US" sz="1350" dirty="0" err="1">
                <a:solidFill>
                  <a:srgbClr val="3D4A5C"/>
                </a:solidFill>
                <a:latin typeface="Times New Roman"/>
                <a:ea typeface="Times New Roman" pitchFamily="34" charset="-122"/>
                <a:cs typeface="Times New Roman"/>
              </a:rPr>
              <a:t>grievances:</a:t>
            </a:r>
            <a:r>
              <a:rPr lang="en-US" sz="1350" dirty="0">
                <a:solidFill>
                  <a:srgbClr val="3D4A5C"/>
                </a:solidFill>
                <a:latin typeface="Times New Roman"/>
                <a:ea typeface="Times New Roman" pitchFamily="34" charset="-122"/>
                <a:cs typeface="Times New Roman"/>
              </a:rPr>
              <a:t> promises of development, jobs, and courts remain unfulfilled</a:t>
            </a:r>
            <a:endParaRPr lang="en-US" sz="1350" dirty="0">
              <a:latin typeface="Times New Roman"/>
              <a:cs typeface="Times New Roman"/>
            </a:endParaRPr>
          </a:p>
          <a:p>
            <a:pPr marL="342900" indent="-342900">
              <a:spcAft>
                <a:spcPts val="600"/>
              </a:spcAft>
              <a:buSzPct val="100000"/>
              <a:buChar char="•"/>
            </a:pPr>
            <a:r>
              <a:rPr lang="en-US" sz="1350" b="1" dirty="0">
                <a:solidFill>
                  <a:srgbClr val="1A1A1A"/>
                </a:solidFill>
                <a:latin typeface="Times New Roman"/>
                <a:ea typeface="Times New Roman" pitchFamily="34" charset="-122"/>
                <a:cs typeface="Times New Roman"/>
              </a:rPr>
              <a:t>The Pashtun </a:t>
            </a:r>
            <a:r>
              <a:rPr lang="en-US" sz="1350" b="1" dirty="0" err="1">
                <a:solidFill>
                  <a:srgbClr val="1A1A1A"/>
                </a:solidFill>
                <a:latin typeface="Times New Roman"/>
                <a:ea typeface="Times New Roman" pitchFamily="34" charset="-122"/>
                <a:cs typeface="Times New Roman"/>
              </a:rPr>
              <a:t>Tahafuz</a:t>
            </a:r>
            <a:r>
              <a:rPr lang="en-US" sz="1350" b="1" dirty="0">
                <a:solidFill>
                  <a:srgbClr val="1A1A1A"/>
                </a:solidFill>
                <a:latin typeface="Times New Roman"/>
                <a:ea typeface="Times New Roman" pitchFamily="34" charset="-122"/>
                <a:cs typeface="Times New Roman"/>
              </a:rPr>
              <a:t> Movement (PTM): Peaceful civil society challenge emerging from FATA merger era</a:t>
            </a:r>
            <a:endParaRPr lang="en-US" sz="1350" dirty="0">
              <a:latin typeface="Times New Roman"/>
              <a:cs typeface="Times New Roman"/>
            </a:endParaRPr>
          </a:p>
          <a:p>
            <a:pPr marL="508000" lvl="1" indent="-254000">
              <a:spcAft>
                <a:spcPts val="400"/>
              </a:spcAft>
              <a:buSzPct val="100000"/>
              <a:buChar char="•"/>
            </a:pPr>
            <a:r>
              <a:rPr lang="en-US" sz="1350" dirty="0">
                <a:solidFill>
                  <a:srgbClr val="3D4A5C"/>
                </a:solidFill>
                <a:latin typeface="Times New Roman" pitchFamily="34" charset="0"/>
                <a:ea typeface="Times New Roman" pitchFamily="34" charset="-122"/>
                <a:cs typeface="Times New Roman" pitchFamily="34" charset="-120"/>
              </a:rPr>
              <a:t>Demands accountability for military operations, enforced disappearances, and land mine clearance</a:t>
            </a:r>
            <a:endParaRPr lang="en-US" sz="1350" dirty="0"/>
          </a:p>
          <a:p>
            <a:pPr marL="342900" indent="-342900">
              <a:spcAft>
                <a:spcPts val="600"/>
              </a:spcAft>
              <a:buSzPct val="100000"/>
              <a:buChar char="•"/>
            </a:pPr>
            <a:r>
              <a:rPr lang="en-US" sz="1350" b="1" dirty="0">
                <a:solidFill>
                  <a:srgbClr val="1A1A1A"/>
                </a:solidFill>
                <a:latin typeface="Times New Roman" pitchFamily="34" charset="0"/>
                <a:ea typeface="Times New Roman" pitchFamily="34" charset="-122"/>
                <a:cs typeface="Times New Roman" pitchFamily="34" charset="-120"/>
              </a:rPr>
              <a:t>Core Lesson: Formal administrative merger without genuine resource transfer deepens alienation, not integration</a:t>
            </a:r>
            <a:endParaRPr lang="en-US" sz="1350" dirty="0"/>
          </a:p>
        </p:txBody>
      </p:sp>
      <p:sp>
        <p:nvSpPr>
          <p:cNvPr id="6" name="Shape 4"/>
          <p:cNvSpPr/>
          <p:nvPr/>
        </p:nvSpPr>
        <p:spPr>
          <a:xfrm>
            <a:off x="5760720" y="1051560"/>
            <a:ext cx="3154680" cy="3566160"/>
          </a:xfrm>
          <a:prstGeom prst="rect">
            <a:avLst/>
          </a:prstGeom>
          <a:solidFill>
            <a:srgbClr val="3D4A5C"/>
          </a:solidFill>
          <a:ln w="12700">
            <a:solidFill>
              <a:srgbClr val="6B7A8D"/>
            </a:solidFill>
            <a:prstDash val="solid"/>
          </a:ln>
        </p:spPr>
      </p:sp>
      <p:sp>
        <p:nvSpPr>
          <p:cNvPr id="50" name="FTitle"/>
          <p:cNvSpPr/>
          <p:nvPr/>
        </p:nvSpPr>
        <p:spPr>
          <a:xfrm>
            <a:off x="5810720" y="1131560"/>
            <a:ext cx="3054680" cy="200000"/>
          </a:xfrm>
          <a:prstGeom prst="rect">
            <a:avLst/>
          </a:prstGeom>
          <a:noFill/>
        </p:spPr>
        <p:txBody>
          <a:bodyPr wrap="square" lIns="45720" tIns="45720" rIns="45720" bIns="45720" rtlCol="0" anchor="ctr"/>
          <a:lstStyle/>
          <a:p>
            <a:pPr marL="0" indent="0" algn="ctr">
              <a:buNone/>
            </a:pPr>
            <a:r>
              <a:rPr lang="en-US" sz="1300" b="1" dirty="0">
                <a:solidFill>
                  <a:srgbClr val="C9A84C"/>
                </a:solidFill>
                <a:latin typeface="Times New Roman" pitchFamily="34" charset="0"/>
              </a:rPr>
              <a:t>FATA Merger 2018</a:t>
            </a:r>
            <a:endParaRPr lang="en-US" sz="1300" dirty="0"/>
          </a:p>
        </p:txBody>
      </p:sp>
      <p:sp>
        <p:nvSpPr>
          <p:cNvPr id="51" name="KPK"/>
          <p:cNvSpPr/>
          <p:nvPr/>
        </p:nvSpPr>
        <p:spPr>
          <a:xfrm>
            <a:off x="5840720" y="1401560"/>
            <a:ext cx="2994680" cy="1700000"/>
          </a:xfrm>
          <a:prstGeom prst="rect">
            <a:avLst/>
          </a:prstGeom>
          <a:solidFill>
            <a:srgbClr val="1A3020"/>
          </a:solidFill>
          <a:ln w="19050">
            <a:solidFill>
              <a:srgbClr val="C9A84C"/>
            </a:solidFill>
            <a:prstDash val="solid"/>
          </a:ln>
        </p:spPr>
      </p:sp>
      <p:sp>
        <p:nvSpPr>
          <p:cNvPr id="52" name="KPKLbl"/>
          <p:cNvSpPr/>
          <p:nvPr/>
        </p:nvSpPr>
        <p:spPr>
          <a:xfrm>
            <a:off x="5840720" y="1441560"/>
            <a:ext cx="2994680" cy="200000"/>
          </a:xfrm>
          <a:prstGeom prst="rect">
            <a:avLst/>
          </a:prstGeom>
          <a:noFill/>
        </p:spPr>
        <p:txBody>
          <a:bodyPr wrap="square" lIns="45720" tIns="45720" rIns="45720" bIns="45720" rtlCol="0" anchor="ctr"/>
          <a:lstStyle/>
          <a:p>
            <a:pPr marL="0" indent="0" algn="ctr">
              <a:buNone/>
            </a:pPr>
            <a:r>
              <a:rPr lang="en-US" sz="950" b="1" dirty="0">
                <a:solidFill>
                  <a:srgbClr val="C9A84C"/>
                </a:solidFill>
                <a:latin typeface="Times New Roman" pitchFamily="34" charset="0"/>
              </a:rPr>
              <a:t>Khyber Pakhtunkhwa (KPK)</a:t>
            </a:r>
            <a:endParaRPr lang="en-US" sz="950" dirty="0"/>
          </a:p>
        </p:txBody>
      </p:sp>
      <p:sp>
        <p:nvSpPr>
          <p:cNvPr id="53" name="AgBaj"/>
          <p:cNvSpPr/>
          <p:nvPr/>
        </p:nvSpPr>
        <p:spPr>
          <a:xfrm>
            <a:off x="5890720" y="1651560"/>
            <a:ext cx="500000" cy="280000"/>
          </a:xfrm>
          <a:prstGeom prst="rect">
            <a:avLst/>
          </a:prstGeom>
          <a:solidFill>
            <a:srgbClr val="2C5F3A"/>
          </a:solidFill>
          <a:ln w="12700">
            <a:solidFill>
              <a:srgbClr val="C9A84C"/>
            </a:solidFill>
            <a:prstDash val="solid"/>
          </a:ln>
        </p:spPr>
        <p:txBody>
          <a:bodyPr wrap="square" lIns="45720" tIns="45720" rIns="45720" bIns="45720" rtlCol="0" anchor="ctr"/>
          <a:lstStyle/>
          <a:p>
            <a:pPr marL="0" indent="0" algn="ctr">
              <a:buNone/>
            </a:pPr>
            <a:r>
              <a:rPr lang="en-US" sz="800" dirty="0">
                <a:solidFill>
                  <a:srgbClr val="FFFFFF"/>
                </a:solidFill>
                <a:latin typeface="Times New Roman" pitchFamily="34" charset="0"/>
              </a:rPr>
              <a:t>Bajaur</a:t>
            </a:r>
            <a:endParaRPr lang="en-US" sz="800" dirty="0"/>
          </a:p>
        </p:txBody>
      </p:sp>
      <p:sp>
        <p:nvSpPr>
          <p:cNvPr id="54" name="AgMoh"/>
          <p:cNvSpPr/>
          <p:nvPr/>
        </p:nvSpPr>
        <p:spPr>
          <a:xfrm>
            <a:off x="6392425" y="1643511"/>
            <a:ext cx="620738" cy="336344"/>
          </a:xfrm>
          <a:prstGeom prst="rect">
            <a:avLst/>
          </a:prstGeom>
          <a:solidFill>
            <a:srgbClr val="2C5F3A"/>
          </a:solidFill>
          <a:ln w="12700">
            <a:solidFill>
              <a:srgbClr val="C9A84C"/>
            </a:solidFill>
            <a:prstDash val="solid"/>
          </a:ln>
        </p:spPr>
        <p:txBody>
          <a:bodyPr wrap="square" lIns="45720" tIns="45720" rIns="45720" bIns="45720" rtlCol="0" anchor="ctr"/>
          <a:lstStyle/>
          <a:p>
            <a:pPr marL="0" indent="0" algn="ctr">
              <a:buNone/>
            </a:pPr>
            <a:r>
              <a:rPr lang="en-US" sz="800" dirty="0">
                <a:solidFill>
                  <a:srgbClr val="FFFFFF"/>
                </a:solidFill>
                <a:latin typeface="Times New Roman" pitchFamily="34" charset="0"/>
              </a:rPr>
              <a:t>Mohmand</a:t>
            </a:r>
            <a:endParaRPr lang="en-US" sz="800" dirty="0"/>
          </a:p>
        </p:txBody>
      </p:sp>
      <p:sp>
        <p:nvSpPr>
          <p:cNvPr id="55" name="AgKhy"/>
          <p:cNvSpPr/>
          <p:nvPr/>
        </p:nvSpPr>
        <p:spPr>
          <a:xfrm>
            <a:off x="5890720" y="1981560"/>
            <a:ext cx="500000" cy="280000"/>
          </a:xfrm>
          <a:prstGeom prst="rect">
            <a:avLst/>
          </a:prstGeom>
          <a:solidFill>
            <a:srgbClr val="356B43"/>
          </a:solidFill>
          <a:ln w="12700">
            <a:solidFill>
              <a:srgbClr val="C9A84C"/>
            </a:solidFill>
            <a:prstDash val="solid"/>
          </a:ln>
        </p:spPr>
        <p:txBody>
          <a:bodyPr wrap="square" lIns="45720" tIns="45720" rIns="45720" bIns="45720" rtlCol="0" anchor="ctr"/>
          <a:lstStyle/>
          <a:p>
            <a:pPr marL="0" indent="0" algn="ctr">
              <a:buNone/>
            </a:pPr>
            <a:r>
              <a:rPr lang="en-US" sz="800" dirty="0">
                <a:solidFill>
                  <a:srgbClr val="FFFFFF"/>
                </a:solidFill>
                <a:latin typeface="Times New Roman" pitchFamily="34" charset="0"/>
              </a:rPr>
              <a:t>Khyber</a:t>
            </a:r>
            <a:endParaRPr lang="en-US" sz="800" dirty="0"/>
          </a:p>
        </p:txBody>
      </p:sp>
      <p:sp>
        <p:nvSpPr>
          <p:cNvPr id="56" name="AgOra"/>
          <p:cNvSpPr/>
          <p:nvPr/>
        </p:nvSpPr>
        <p:spPr>
          <a:xfrm>
            <a:off x="6440720" y="1981560"/>
            <a:ext cx="500000" cy="280000"/>
          </a:xfrm>
          <a:prstGeom prst="rect">
            <a:avLst/>
          </a:prstGeom>
          <a:solidFill>
            <a:srgbClr val="356B43"/>
          </a:solidFill>
          <a:ln w="12700">
            <a:solidFill>
              <a:srgbClr val="C9A84C"/>
            </a:solidFill>
            <a:prstDash val="solid"/>
          </a:ln>
        </p:spPr>
        <p:txBody>
          <a:bodyPr wrap="square" lIns="45720" tIns="45720" rIns="45720" bIns="45720" rtlCol="0" anchor="ctr"/>
          <a:lstStyle/>
          <a:p>
            <a:pPr marL="0" indent="0" algn="ctr">
              <a:buNone/>
            </a:pPr>
            <a:r>
              <a:rPr lang="en-US" sz="800" dirty="0">
                <a:solidFill>
                  <a:srgbClr val="FFFFFF"/>
                </a:solidFill>
                <a:latin typeface="Times New Roman" pitchFamily="34" charset="0"/>
              </a:rPr>
              <a:t>Orakzai</a:t>
            </a:r>
            <a:endParaRPr lang="en-US" sz="800" dirty="0"/>
          </a:p>
        </p:txBody>
      </p:sp>
      <p:sp>
        <p:nvSpPr>
          <p:cNvPr id="57" name="AgKur"/>
          <p:cNvSpPr/>
          <p:nvPr/>
        </p:nvSpPr>
        <p:spPr>
          <a:xfrm>
            <a:off x="5890720" y="2311560"/>
            <a:ext cx="500000" cy="280000"/>
          </a:xfrm>
          <a:prstGeom prst="rect">
            <a:avLst/>
          </a:prstGeom>
          <a:solidFill>
            <a:srgbClr val="1A4A28"/>
          </a:solidFill>
          <a:ln w="12700">
            <a:solidFill>
              <a:srgbClr val="C9A84C"/>
            </a:solidFill>
            <a:prstDash val="solid"/>
          </a:ln>
        </p:spPr>
        <p:txBody>
          <a:bodyPr wrap="square" lIns="45720" tIns="45720" rIns="45720" bIns="45720" rtlCol="0" anchor="ctr"/>
          <a:lstStyle/>
          <a:p>
            <a:pPr marL="0" indent="0" algn="ctr">
              <a:buNone/>
            </a:pPr>
            <a:r>
              <a:rPr lang="en-US" sz="800" dirty="0">
                <a:solidFill>
                  <a:srgbClr val="FFFFFF"/>
                </a:solidFill>
                <a:latin typeface="Times New Roman" pitchFamily="34" charset="0"/>
              </a:rPr>
              <a:t>Kurram</a:t>
            </a:r>
            <a:endParaRPr lang="en-US" sz="800" dirty="0"/>
          </a:p>
        </p:txBody>
      </p:sp>
      <p:sp>
        <p:nvSpPr>
          <p:cNvPr id="58" name="AgN. "/>
          <p:cNvSpPr/>
          <p:nvPr/>
        </p:nvSpPr>
        <p:spPr>
          <a:xfrm>
            <a:off x="6392425" y="2263265"/>
            <a:ext cx="701231" cy="304148"/>
          </a:xfrm>
          <a:prstGeom prst="rect">
            <a:avLst/>
          </a:prstGeom>
          <a:solidFill>
            <a:srgbClr val="1A4A28"/>
          </a:solidFill>
          <a:ln w="12700">
            <a:solidFill>
              <a:srgbClr val="C9A84C"/>
            </a:solidFill>
            <a:prstDash val="solid"/>
          </a:ln>
        </p:spPr>
        <p:txBody>
          <a:bodyPr wrap="square" lIns="45720" tIns="45720" rIns="45720" bIns="45720" rtlCol="0" anchor="ctr"/>
          <a:lstStyle/>
          <a:p>
            <a:pPr marL="0" indent="0" algn="ctr">
              <a:buNone/>
            </a:pPr>
            <a:r>
              <a:rPr lang="en-US" sz="800" dirty="0">
                <a:solidFill>
                  <a:srgbClr val="FFFFFF"/>
                </a:solidFill>
                <a:latin typeface="Times New Roman" pitchFamily="34" charset="0"/>
              </a:rPr>
              <a:t>N. Waziristan</a:t>
            </a:r>
            <a:endParaRPr lang="en-US" sz="800" dirty="0"/>
          </a:p>
        </p:txBody>
      </p:sp>
      <p:sp>
        <p:nvSpPr>
          <p:cNvPr id="59" name="AgS. "/>
          <p:cNvSpPr/>
          <p:nvPr/>
        </p:nvSpPr>
        <p:spPr>
          <a:xfrm>
            <a:off x="6140720" y="2593265"/>
            <a:ext cx="677084" cy="280000"/>
          </a:xfrm>
          <a:prstGeom prst="rect">
            <a:avLst/>
          </a:prstGeom>
          <a:solidFill>
            <a:srgbClr val="2C5F3A"/>
          </a:solidFill>
          <a:ln w="12700">
            <a:solidFill>
              <a:srgbClr val="C9A84C"/>
            </a:solidFill>
            <a:prstDash val="solid"/>
          </a:ln>
        </p:spPr>
        <p:txBody>
          <a:bodyPr wrap="square" lIns="45720" tIns="45720" rIns="45720" bIns="45720" rtlCol="0" anchor="ctr"/>
          <a:lstStyle/>
          <a:p>
            <a:pPr marL="0" indent="0" algn="ctr">
              <a:buNone/>
            </a:pPr>
            <a:r>
              <a:rPr lang="en-US" sz="800" dirty="0">
                <a:solidFill>
                  <a:srgbClr val="FFFFFF"/>
                </a:solidFill>
                <a:latin typeface="Times New Roman" pitchFamily="34" charset="0"/>
              </a:rPr>
              <a:t>S. Waziristan</a:t>
            </a:r>
            <a:endParaRPr lang="en-US" sz="800" dirty="0"/>
          </a:p>
        </p:txBody>
      </p:sp>
      <p:sp>
        <p:nvSpPr>
          <p:cNvPr id="60" name="MergeArrow"/>
          <p:cNvSpPr/>
          <p:nvPr/>
        </p:nvSpPr>
        <p:spPr>
          <a:xfrm>
            <a:off x="7238060" y="3131560"/>
            <a:ext cx="200000" cy="200000"/>
          </a:xfrm>
          <a:prstGeom prst="rect">
            <a:avLst/>
          </a:prstGeom>
          <a:solidFill>
            <a:srgbClr val="C9A84C"/>
          </a:solidFill>
        </p:spPr>
        <p:txBody>
          <a:bodyPr wrap="square" lIns="45720" tIns="45720" rIns="45720" bIns="45720" rtlCol="0" anchor="ctr"/>
          <a:lstStyle/>
          <a:p>
            <a:pPr marL="0" indent="0" algn="ctr">
              <a:buNone/>
            </a:pPr>
            <a:r>
              <a:rPr lang="en-US" sz="1400" dirty="0">
                <a:solidFill>
                  <a:srgbClr val="3D4A5C"/>
                </a:solidFill>
                <a:latin typeface="Times New Roman" pitchFamily="34" charset="0"/>
              </a:rPr>
              <a:t>↓</a:t>
            </a:r>
            <a:endParaRPr lang="en-US" sz="1400" dirty="0"/>
          </a:p>
        </p:txBody>
      </p:sp>
      <p:sp>
        <p:nvSpPr>
          <p:cNvPr id="61" name="MergeDate"/>
          <p:cNvSpPr/>
          <p:nvPr/>
        </p:nvSpPr>
        <p:spPr>
          <a:xfrm>
            <a:off x="5808523" y="3430102"/>
            <a:ext cx="2994680" cy="180000"/>
          </a:xfrm>
          <a:prstGeom prst="rect">
            <a:avLst/>
          </a:prstGeom>
          <a:solidFill>
            <a:srgbClr val="1A4731"/>
          </a:solidFill>
          <a:ln w="12700">
            <a:solidFill>
              <a:srgbClr val="C9A84C"/>
            </a:solidFill>
            <a:prstDash val="solid"/>
          </a:ln>
        </p:spPr>
        <p:txBody>
          <a:bodyPr wrap="square" lIns="45720" tIns="45720" rIns="45720" bIns="45720" rtlCol="0" anchor="ctr"/>
          <a:lstStyle/>
          <a:p>
            <a:pPr marL="0" indent="0" algn="ctr">
              <a:buNone/>
            </a:pPr>
            <a:r>
              <a:rPr lang="en-US" sz="950" b="1" dirty="0">
                <a:solidFill>
                  <a:srgbClr val="FFFFFF"/>
                </a:solidFill>
                <a:latin typeface="Times New Roman" pitchFamily="34" charset="0"/>
              </a:rPr>
              <a:t>Merged into KPK: May 2018</a:t>
            </a:r>
            <a:endParaRPr lang="en-US" sz="950" dirty="0"/>
          </a:p>
        </p:txBody>
      </p:sp>
      <p:sp>
        <p:nvSpPr>
          <p:cNvPr id="62" name="PTM"/>
          <p:cNvSpPr/>
          <p:nvPr/>
        </p:nvSpPr>
        <p:spPr>
          <a:xfrm>
            <a:off x="5810720" y="4237720"/>
            <a:ext cx="3054680" cy="200000"/>
          </a:xfrm>
          <a:prstGeom prst="rect">
            <a:avLst/>
          </a:prstGeom>
          <a:solidFill>
            <a:srgbClr val="3A1A20"/>
          </a:solidFill>
          <a:ln w="12700">
            <a:solidFill>
              <a:srgbClr val="B85042"/>
            </a:solidFill>
            <a:prstDash val="solid"/>
          </a:ln>
        </p:spPr>
        <p:txBody>
          <a:bodyPr wrap="square" lIns="45720" tIns="45720" rIns="45720" bIns="45720" rtlCol="0" anchor="ctr"/>
          <a:lstStyle/>
          <a:p>
            <a:pPr marL="0" indent="0" algn="ctr">
              <a:buNone/>
            </a:pPr>
            <a:r>
              <a:rPr lang="en-US" sz="900" dirty="0">
                <a:solidFill>
                  <a:srgbClr val="FFFFFF"/>
                </a:solidFill>
                <a:latin typeface="Times New Roman" pitchFamily="34" charset="0"/>
              </a:rPr>
              <a:t>PTM: Demands accountability &amp; rights</a:t>
            </a:r>
            <a:endParaRPr lang="en-US" sz="900" dirty="0"/>
          </a:p>
        </p:txBody>
      </p:sp>
      <p:sp>
        <p:nvSpPr>
          <p:cNvPr id="63" name="FCap"/>
          <p:cNvSpPr/>
          <p:nvPr/>
        </p:nvSpPr>
        <p:spPr>
          <a:xfrm>
            <a:off x="5810720" y="4467720"/>
            <a:ext cx="3054680" cy="130000"/>
          </a:xfrm>
          <a:prstGeom prst="rect">
            <a:avLst/>
          </a:prstGeom>
          <a:noFill/>
        </p:spPr>
        <p:txBody>
          <a:bodyPr wrap="square" lIns="45720" tIns="45720" rIns="45720" bIns="45720" rtlCol="0" anchor="ctr"/>
          <a:lstStyle/>
          <a:p>
            <a:pPr marL="0" indent="0" algn="ctr">
              <a:buNone/>
            </a:pPr>
            <a:r>
              <a:rPr lang="en-US" sz="850" i="1" dirty="0">
                <a:solidFill>
                  <a:srgbClr val="C9A84C"/>
                </a:solidFill>
                <a:latin typeface="Times New Roman" pitchFamily="34" charset="0"/>
              </a:rPr>
              <a:t>Merger without resources deepens alienation</a:t>
            </a:r>
            <a:endParaRPr lang="en-US" sz="850" dirty="0"/>
          </a:p>
        </p:txBody>
      </p:sp>
      <p:sp>
        <p:nvSpPr>
          <p:cNvPr id="9900" name="SlideNum_21"/>
          <p:cNvSpPr txBox="1"/>
          <p:nvPr/>
        </p:nvSpPr>
        <p:spPr>
          <a:xfrm>
            <a:off x="8229600" y="4953500"/>
            <a:ext cx="685800" cy="190000"/>
          </a:xfrm>
          <a:prstGeom prst="rect">
            <a:avLst/>
          </a:prstGeom>
          <a:noFill/>
        </p:spPr>
        <p:txBody>
          <a:bodyPr wrap="square" rtlCol="0"/>
          <a:lstStyle/>
          <a:p>
            <a:pPr algn="r"/>
            <a:r>
              <a:rPr lang="en-US" sz="900" b="0" dirty="0">
                <a:solidFill>
                  <a:srgbClr val="1A4731"/>
                </a:solidFill>
              </a:rPr>
              <a:t>21 / 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w="12700">
            <a:solidFill>
              <a:srgbClr val="C9A84C"/>
            </a:solidFill>
            <a:prstDash val="solid"/>
          </a:ln>
        </p:spPr>
      </p:sp>
      <p:sp>
        <p:nvSpPr>
          <p:cNvPr id="3" name="Text 1"/>
          <p:cNvSpPr/>
          <p:nvPr/>
        </p:nvSpPr>
        <p:spPr>
          <a:xfrm>
            <a:off x="457200" y="1048640"/>
            <a:ext cx="8229600" cy="457200"/>
          </a:xfrm>
          <a:prstGeom prst="rect">
            <a:avLst/>
          </a:prstGeom>
          <a:noFill/>
          <a:ln/>
        </p:spPr>
        <p:txBody>
          <a:bodyPr wrap="square" lIns="0" tIns="0" rIns="0" bIns="0" rtlCol="0" anchor="ctr"/>
          <a:lstStyle/>
          <a:p>
            <a:pPr marL="0" indent="0" algn="l">
              <a:buNone/>
            </a:pPr>
            <a:r>
              <a:rPr lang="en-US" sz="1800" b="1" kern="0" spc="400" dirty="0">
                <a:solidFill>
                  <a:srgbClr val="C9A84C"/>
                </a:solidFill>
                <a:latin typeface="Times New Roman" pitchFamily="34" charset="0"/>
                <a:ea typeface="Times New Roman" pitchFamily="34" charset="-122"/>
                <a:cs typeface="Times New Roman" pitchFamily="34" charset="-120"/>
              </a:rPr>
              <a:t>Section 6</a:t>
            </a:r>
            <a:endParaRPr lang="en-US" sz="1800" dirty="0"/>
          </a:p>
        </p:txBody>
      </p:sp>
      <p:sp>
        <p:nvSpPr>
          <p:cNvPr id="4" name="Text 2"/>
          <p:cNvSpPr/>
          <p:nvPr/>
        </p:nvSpPr>
        <p:spPr>
          <a:xfrm>
            <a:off x="457200" y="1597280"/>
            <a:ext cx="8229600" cy="1280160"/>
          </a:xfrm>
          <a:prstGeom prst="rect">
            <a:avLst/>
          </a:prstGeom>
          <a:noFill/>
          <a:ln/>
        </p:spPr>
        <p:txBody>
          <a:bodyPr wrap="square" lIns="0" tIns="0" rIns="0" bIns="0" rtlCol="0" anchor="ctr"/>
          <a:lstStyle/>
          <a:p>
            <a:pPr marL="0" indent="0" algn="l">
              <a:buNone/>
            </a:pPr>
            <a:r>
              <a:rPr lang="en-US" sz="4400" b="1" dirty="0">
                <a:solidFill>
                  <a:srgbClr val="F8F4EC"/>
                </a:solidFill>
                <a:latin typeface="Times New Roman" pitchFamily="34" charset="0"/>
                <a:ea typeface="Times New Roman" pitchFamily="34" charset="-122"/>
                <a:cs typeface="Times New Roman" pitchFamily="34" charset="-120"/>
              </a:rPr>
              <a:t>The Taliban, Terrorism &amp; Lieven's Final Assessment</a:t>
            </a:r>
            <a:endParaRPr lang="en-US" sz="4400" dirty="0"/>
          </a:p>
        </p:txBody>
      </p:sp>
      <p:sp>
        <p:nvSpPr>
          <p:cNvPr id="5" name="Text 3"/>
          <p:cNvSpPr/>
          <p:nvPr/>
        </p:nvSpPr>
        <p:spPr>
          <a:xfrm>
            <a:off x="457200" y="2968880"/>
            <a:ext cx="8229600" cy="457200"/>
          </a:xfrm>
          <a:prstGeom prst="rect">
            <a:avLst/>
          </a:prstGeom>
          <a:noFill/>
          <a:ln/>
        </p:spPr>
        <p:txBody>
          <a:bodyPr wrap="square" lIns="0" tIns="0" rIns="0" bIns="0" rtlCol="0" anchor="ctr"/>
          <a:lstStyle/>
          <a:p>
            <a:pPr marL="0" indent="0" algn="l">
              <a:buNone/>
            </a:pPr>
            <a:r>
              <a:rPr lang="en-US" sz="2200" i="1" dirty="0">
                <a:solidFill>
                  <a:srgbClr val="E9C46A"/>
                </a:solidFill>
                <a:latin typeface="Times New Roman" pitchFamily="34" charset="0"/>
                <a:ea typeface="Times New Roman" pitchFamily="34" charset="-122"/>
                <a:cs typeface="Times New Roman" pitchFamily="34" charset="-120"/>
              </a:rPr>
              <a:t>Chapters 11 &amp; 12</a:t>
            </a:r>
            <a:endParaRPr lang="en-US" sz="2200" dirty="0"/>
          </a:p>
        </p:txBody>
      </p:sp>
      <p:sp>
        <p:nvSpPr>
          <p:cNvPr id="6" name="Shape 4"/>
          <p:cNvSpPr/>
          <p:nvPr/>
        </p:nvSpPr>
        <p:spPr>
          <a:xfrm>
            <a:off x="457200" y="3517520"/>
            <a:ext cx="8229600" cy="36576"/>
          </a:xfrm>
          <a:prstGeom prst="rect">
            <a:avLst/>
          </a:prstGeom>
          <a:solidFill>
            <a:srgbClr val="C9A84C"/>
          </a:solidFill>
          <a:ln w="12700">
            <a:solidFill>
              <a:srgbClr val="C9A84C"/>
            </a:solidFill>
            <a:prstDash val="solid"/>
          </a:ln>
        </p:spPr>
      </p:sp>
      <p:sp>
        <p:nvSpPr>
          <p:cNvPr id="7" name="Text 5"/>
          <p:cNvSpPr/>
          <p:nvPr/>
        </p:nvSpPr>
        <p:spPr>
          <a:xfrm>
            <a:off x="457200" y="3154680"/>
            <a:ext cx="8229600" cy="347472"/>
          </a:xfrm>
          <a:prstGeom prst="rect">
            <a:avLst/>
          </a:prstGeom>
          <a:noFill/>
          <a:ln/>
        </p:spPr>
        <p:txBody>
          <a:bodyPr wrap="square" lIns="0" tIns="0" rIns="0" bIns="0" rtlCol="0" anchor="ctr"/>
          <a:lstStyle/>
          <a:p>
            <a:pPr marL="0" indent="0" algn="l">
              <a:buNone/>
            </a:pPr>
            <a:endParaRPr lang="en-US" sz="1800" dirty="0"/>
          </a:p>
        </p:txBody>
      </p:sp>
      <p:sp>
        <p:nvSpPr>
          <p:cNvPr id="9900" name="SlideNum_22"/>
          <p:cNvSpPr txBox="1"/>
          <p:nvPr/>
        </p:nvSpPr>
        <p:spPr>
          <a:xfrm>
            <a:off x="8229600" y="4953500"/>
            <a:ext cx="685800" cy="190000"/>
          </a:xfrm>
          <a:prstGeom prst="rect">
            <a:avLst/>
          </a:prstGeom>
          <a:noFill/>
        </p:spPr>
        <p:txBody>
          <a:bodyPr wrap="square" rtlCol="0"/>
          <a:lstStyle/>
          <a:p>
            <a:pPr algn="r"/>
            <a:r>
              <a:rPr lang="en-US" sz="900" b="0" dirty="0">
                <a:solidFill>
                  <a:srgbClr val="C9A84C"/>
                </a:solidFill>
              </a:rPr>
              <a:t>22 / 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256032"/>
            <a:ext cx="8686800" cy="640080"/>
          </a:xfrm>
          <a:prstGeom prst="rect">
            <a:avLst/>
          </a:prstGeom>
          <a:noFill/>
          <a:ln/>
        </p:spPr>
        <p:txBody>
          <a:bodyPr wrap="square" lIns="0" tIns="0" rIns="0" bIns="0" rtlCol="0" anchor="ctr"/>
          <a:lstStyle/>
          <a:p>
            <a:pPr marL="0" indent="0" algn="l">
              <a:buNone/>
            </a:pPr>
            <a:r>
              <a:rPr lang="en-US" sz="3800" b="1" dirty="0">
                <a:solidFill>
                  <a:srgbClr val="1A4731"/>
                </a:solidFill>
                <a:latin typeface="Times New Roman" pitchFamily="34" charset="0"/>
                <a:ea typeface="Times New Roman" pitchFamily="34" charset="-122"/>
                <a:cs typeface="Times New Roman" pitchFamily="34" charset="-120"/>
              </a:rPr>
              <a:t>The Rise of the Pakistani Taliban (TTP)</a:t>
            </a:r>
            <a:endParaRPr lang="en-US" sz="3800" dirty="0"/>
          </a:p>
        </p:txBody>
      </p:sp>
      <p:sp>
        <p:nvSpPr>
          <p:cNvPr id="3" name="Shape 1"/>
          <p:cNvSpPr/>
          <p:nvPr/>
        </p:nvSpPr>
        <p:spPr>
          <a:xfrm>
            <a:off x="228600" y="960120"/>
            <a:ext cx="8686800" cy="36576"/>
          </a:xfrm>
          <a:prstGeom prst="rect">
            <a:avLst/>
          </a:prstGeom>
          <a:solidFill>
            <a:srgbClr val="C9A84C"/>
          </a:solidFill>
          <a:ln w="12700">
            <a:solidFill>
              <a:srgbClr val="C9A84C"/>
            </a:solidFill>
            <a:prstDash val="solid"/>
          </a:ln>
        </p:spPr>
      </p:sp>
      <p:sp>
        <p:nvSpPr>
          <p:cNvPr id="5" name="Text 3"/>
          <p:cNvSpPr/>
          <p:nvPr/>
        </p:nvSpPr>
        <p:spPr>
          <a:xfrm>
            <a:off x="274320" y="1051560"/>
            <a:ext cx="5349240" cy="3657600"/>
          </a:xfrm>
          <a:prstGeom prst="rect">
            <a:avLst/>
          </a:prstGeom>
          <a:noFill/>
          <a:ln/>
        </p:spPr>
        <p:txBody>
          <a:bodyPr wrap="square" lIns="91440" tIns="45720" rIns="91440" bIns="45720" rtlCol="0" anchor="t"/>
          <a:lstStyle/>
          <a:p>
            <a:pPr>
              <a:buSzPct val="100000"/>
            </a:pPr>
            <a:r>
              <a:rPr lang="en-US" sz="1600" b="1">
                <a:solidFill>
                  <a:srgbClr val="1A1A1A"/>
                </a:solidFill>
                <a:ea typeface="+mn-lt"/>
                <a:cs typeface="+mn-lt"/>
              </a:rPr>
              <a:t>The TTP &amp; The 'Parallel State' Problem</a:t>
            </a:r>
            <a:endParaRPr lang="en-US" sz="1600">
              <a:solidFill>
                <a:srgbClr val="000000"/>
              </a:solidFill>
              <a:latin typeface="Calibri"/>
              <a:ea typeface="Calibri"/>
              <a:cs typeface="Calibri"/>
            </a:endParaRPr>
          </a:p>
          <a:p>
            <a:pPr>
              <a:buFont typeface="Arial"/>
              <a:buChar char="•"/>
            </a:pPr>
            <a:r>
              <a:rPr lang="en-US" sz="1600" b="1" dirty="0">
                <a:solidFill>
                  <a:srgbClr val="1A1A1A"/>
                </a:solidFill>
                <a:ea typeface="+mn-lt"/>
                <a:cs typeface="+mn-lt"/>
              </a:rPr>
              <a:t>Blowback, Not Design:</a:t>
            </a:r>
            <a:r>
              <a:rPr lang="en-US" sz="1600" dirty="0">
                <a:solidFill>
                  <a:srgbClr val="1A1A1A"/>
                </a:solidFill>
                <a:ea typeface="+mn-lt"/>
                <a:cs typeface="+mn-lt"/>
              </a:rPr>
              <a:t> Pakistan did not deliberately create the </a:t>
            </a:r>
            <a:r>
              <a:rPr lang="en-US" sz="1600" dirty="0" err="1">
                <a:solidFill>
                  <a:srgbClr val="1A1A1A"/>
                </a:solidFill>
                <a:ea typeface="+mn-lt"/>
                <a:cs typeface="+mn-lt"/>
              </a:rPr>
              <a:t>Tehrik</a:t>
            </a:r>
            <a:r>
              <a:rPr lang="en-US" sz="1600" dirty="0">
                <a:solidFill>
                  <a:srgbClr val="1A1A1A"/>
                </a:solidFill>
                <a:ea typeface="+mn-lt"/>
                <a:cs typeface="+mn-lt"/>
              </a:rPr>
              <a:t>-</a:t>
            </a:r>
            <a:r>
              <a:rPr lang="en-US" sz="1600" dirty="0" err="1">
                <a:solidFill>
                  <a:srgbClr val="1A1A1A"/>
                </a:solidFill>
                <a:ea typeface="+mn-lt"/>
                <a:cs typeface="+mn-lt"/>
              </a:rPr>
              <a:t>i</a:t>
            </a:r>
            <a:r>
              <a:rPr lang="en-US" sz="1600" dirty="0">
                <a:solidFill>
                  <a:srgbClr val="1A1A1A"/>
                </a:solidFill>
                <a:ea typeface="+mn-lt"/>
                <a:cs typeface="+mn-lt"/>
              </a:rPr>
              <a:t>-Taliban Pakistan (TTP). While the state supported the Afghan Taliban for "strategic depth," the TTP is a distinct, hostile entity born from the blowback of the Afghan jihad.</a:t>
            </a:r>
            <a:endParaRPr lang="en-US" sz="1600">
              <a:ea typeface="Calibri"/>
              <a:cs typeface="Calibri"/>
            </a:endParaRPr>
          </a:p>
          <a:p>
            <a:pPr>
              <a:buFont typeface="Arial"/>
              <a:buChar char="•"/>
            </a:pPr>
            <a:r>
              <a:rPr lang="en-US" sz="1600" b="1" dirty="0">
                <a:solidFill>
                  <a:srgbClr val="1A1A1A"/>
                </a:solidFill>
                <a:ea typeface="+mn-lt"/>
                <a:cs typeface="+mn-lt"/>
              </a:rPr>
              <a:t>The "Rational Bandit" Strategy:</a:t>
            </a:r>
            <a:r>
              <a:rPr lang="en-US" sz="1600" dirty="0">
                <a:solidFill>
                  <a:srgbClr val="1A1A1A"/>
                </a:solidFill>
                <a:ea typeface="+mn-lt"/>
                <a:cs typeface="+mn-lt"/>
              </a:rPr>
              <a:t> Drawing on Max Weber, the TTP gained legitimacy not just through ideology, but by providing order and services the state failed to deliver. By establishing courts, resolving disputes, and offering real security (e.g., a Swat trader paying TTP taxes for guaranteed protection), they functioned as a parallel government.</a:t>
            </a:r>
            <a:endParaRPr lang="en-US" sz="1600">
              <a:ea typeface="Calibri"/>
              <a:cs typeface="Calibri"/>
            </a:endParaRPr>
          </a:p>
          <a:p>
            <a:pPr>
              <a:buFont typeface="Arial"/>
              <a:buChar char="•"/>
            </a:pPr>
            <a:r>
              <a:rPr lang="en-US" sz="1600" b="1" dirty="0">
                <a:solidFill>
                  <a:srgbClr val="1A1A1A"/>
                </a:solidFill>
                <a:ea typeface="+mn-lt"/>
                <a:cs typeface="+mn-lt"/>
              </a:rPr>
              <a:t>Lieven's Core Warning:</a:t>
            </a:r>
            <a:r>
              <a:rPr lang="en-US" sz="1600" dirty="0">
                <a:solidFill>
                  <a:srgbClr val="1A1A1A"/>
                </a:solidFill>
                <a:ea typeface="+mn-lt"/>
                <a:cs typeface="+mn-lt"/>
              </a:rPr>
              <a:t> Military operations are doomed to fail if they only eliminate fighters without fixing the underlying governance gaps that allowed the insurgency to take root in the first place.</a:t>
            </a:r>
            <a:endParaRPr lang="en-US" sz="1600">
              <a:ea typeface="Calibri"/>
              <a:cs typeface="Calibri"/>
            </a:endParaRPr>
          </a:p>
          <a:p>
            <a:pPr marL="342900" indent="-342900">
              <a:spcAft>
                <a:spcPts val="600"/>
              </a:spcAft>
              <a:buSzPct val="100000"/>
              <a:buChar char="•"/>
            </a:pPr>
            <a:endParaRPr lang="en-US" sz="1600" b="1" dirty="0">
              <a:solidFill>
                <a:srgbClr val="1A1A1A"/>
              </a:solidFill>
              <a:latin typeface="Times New Roman"/>
              <a:cs typeface="Times New Roman"/>
            </a:endParaRPr>
          </a:p>
        </p:txBody>
      </p:sp>
      <p:sp>
        <p:nvSpPr>
          <p:cNvPr id="6" name="Shape 4"/>
          <p:cNvSpPr/>
          <p:nvPr/>
        </p:nvSpPr>
        <p:spPr>
          <a:xfrm>
            <a:off x="5760720" y="1051560"/>
            <a:ext cx="3154680" cy="3566160"/>
          </a:xfrm>
          <a:prstGeom prst="rect">
            <a:avLst/>
          </a:prstGeom>
          <a:solidFill>
            <a:srgbClr val="3D4A5C"/>
          </a:solidFill>
          <a:ln w="12700">
            <a:solidFill>
              <a:srgbClr val="6B7A8D"/>
            </a:solidFill>
            <a:prstDash val="solid"/>
          </a:ln>
        </p:spPr>
      </p:sp>
      <p:sp>
        <p:nvSpPr>
          <p:cNvPr id="50" name="DTitle"/>
          <p:cNvSpPr/>
          <p:nvPr/>
        </p:nvSpPr>
        <p:spPr>
          <a:xfrm>
            <a:off x="5810720" y="1131560"/>
            <a:ext cx="3054680" cy="200000"/>
          </a:xfrm>
          <a:prstGeom prst="rect">
            <a:avLst/>
          </a:prstGeom>
          <a:noFill/>
        </p:spPr>
        <p:txBody>
          <a:bodyPr wrap="square" lIns="45720" tIns="45720" rIns="45720" bIns="45720" rtlCol="0" anchor="ctr"/>
          <a:lstStyle/>
          <a:p>
            <a:pPr marL="0" indent="0" algn="ctr">
              <a:buNone/>
            </a:pPr>
            <a:r>
              <a:rPr lang="en-US" sz="1300" b="1" dirty="0">
                <a:solidFill>
                  <a:srgbClr val="C9A84C"/>
                </a:solidFill>
                <a:latin typeface="Times New Roman" pitchFamily="34" charset="0"/>
              </a:rPr>
              <a:t>State Substitution Model</a:t>
            </a:r>
            <a:endParaRPr lang="en-US" sz="1300" dirty="0"/>
          </a:p>
        </p:txBody>
      </p:sp>
      <p:sp>
        <p:nvSpPr>
          <p:cNvPr id="51" name="DSub"/>
          <p:cNvSpPr/>
          <p:nvPr/>
        </p:nvSpPr>
        <p:spPr>
          <a:xfrm>
            <a:off x="5810720" y="1331560"/>
            <a:ext cx="3054680" cy="170000"/>
          </a:xfrm>
          <a:prstGeom prst="rect">
            <a:avLst/>
          </a:prstGeom>
          <a:noFill/>
        </p:spPr>
        <p:txBody>
          <a:bodyPr wrap="square" lIns="45720" tIns="45720" rIns="45720" bIns="45720" rtlCol="0" anchor="ctr"/>
          <a:lstStyle/>
          <a:p>
            <a:pPr marL="0" indent="0" algn="ctr">
              <a:buNone/>
            </a:pPr>
            <a:r>
              <a:rPr lang="en-US" sz="1050" i="1" dirty="0">
                <a:solidFill>
                  <a:srgbClr val="FFFFFF"/>
                </a:solidFill>
                <a:latin typeface="Times New Roman" pitchFamily="34" charset="0"/>
              </a:rPr>
              <a:t>Weber's 'Rational Bandit'</a:t>
            </a:r>
            <a:endParaRPr lang="en-US" sz="1050" dirty="0"/>
          </a:p>
        </p:txBody>
      </p:sp>
      <p:sp>
        <p:nvSpPr>
          <p:cNvPr id="52" name="CenterNode"/>
          <p:cNvSpPr/>
          <p:nvPr/>
        </p:nvSpPr>
        <p:spPr>
          <a:xfrm>
            <a:off x="6938060" y="2434640"/>
            <a:ext cx="800000" cy="800000"/>
          </a:xfrm>
          <a:prstGeom prst="rect">
            <a:avLst/>
          </a:prstGeom>
          <a:solidFill>
            <a:srgbClr val="5A1A1A"/>
          </a:solidFill>
          <a:ln w="25400">
            <a:solidFill>
              <a:srgbClr val="C9A84C"/>
            </a:solidFill>
            <a:prstDash val="solid"/>
          </a:ln>
        </p:spPr>
        <p:txBody>
          <a:bodyPr wrap="square" lIns="45720" tIns="45720" rIns="45720" bIns="45720" rtlCol="0" anchor="ctr"/>
          <a:lstStyle/>
          <a:p>
            <a:pPr marL="0" indent="0" algn="ctr">
              <a:buNone/>
            </a:pPr>
            <a:r>
              <a:rPr lang="en-US" sz="1100" b="1" dirty="0">
                <a:solidFill>
                  <a:srgbClr val="C9A84C"/>
                </a:solidFill>
                <a:latin typeface="Times New Roman" pitchFamily="34" charset="0"/>
              </a:rPr>
              <a:t>TTP
Parallel
State</a:t>
            </a:r>
            <a:endParaRPr lang="en-US" sz="1100" dirty="0"/>
          </a:p>
        </p:txBody>
      </p:sp>
      <p:sp>
        <p:nvSpPr>
          <p:cNvPr id="53" name="SvcJus"/>
          <p:cNvSpPr/>
          <p:nvPr/>
        </p:nvSpPr>
        <p:spPr>
          <a:xfrm>
            <a:off x="5860720" y="1551560"/>
            <a:ext cx="950000" cy="400000"/>
          </a:xfrm>
          <a:prstGeom prst="rect">
            <a:avLst/>
          </a:prstGeom>
          <a:solidFill>
            <a:srgbClr val="2A1010"/>
          </a:solidFill>
          <a:ln w="19050">
            <a:solidFill>
              <a:srgbClr val="B85042"/>
            </a:solidFill>
            <a:prstDash val="solid"/>
          </a:ln>
        </p:spPr>
        <p:txBody>
          <a:bodyPr wrap="square" lIns="45720" tIns="45720" rIns="45720" bIns="45720" rtlCol="0" anchor="ctr"/>
          <a:lstStyle/>
          <a:p>
            <a:pPr marL="0" indent="0" algn="ctr">
              <a:buNone/>
            </a:pPr>
            <a:r>
              <a:rPr lang="en-US" sz="950" b="1" dirty="0">
                <a:solidFill>
                  <a:srgbClr val="FFFFFF"/>
                </a:solidFill>
                <a:latin typeface="Times New Roman" pitchFamily="34" charset="0"/>
              </a:rPr>
              <a:t>Justice
Courts</a:t>
            </a:r>
            <a:endParaRPr lang="en-US" sz="950" dirty="0"/>
          </a:p>
        </p:txBody>
      </p:sp>
      <p:sp>
        <p:nvSpPr>
          <p:cNvPr id="54" name="LnJus"/>
          <p:cNvSpPr/>
          <p:nvPr/>
        </p:nvSpPr>
        <p:spPr>
          <a:xfrm>
            <a:off x="6029847" y="1731560"/>
            <a:ext cx="602340" cy="40000"/>
          </a:xfrm>
          <a:prstGeom prst="rect">
            <a:avLst/>
          </a:prstGeom>
          <a:solidFill>
            <a:srgbClr val="C9A84C"/>
          </a:solidFill>
        </p:spPr>
      </p:sp>
      <p:sp>
        <p:nvSpPr>
          <p:cNvPr id="55" name="SvcSec"/>
          <p:cNvSpPr/>
          <p:nvPr/>
        </p:nvSpPr>
        <p:spPr>
          <a:xfrm>
            <a:off x="7815400" y="1551560"/>
            <a:ext cx="950000" cy="400000"/>
          </a:xfrm>
          <a:prstGeom prst="rect">
            <a:avLst/>
          </a:prstGeom>
          <a:solidFill>
            <a:srgbClr val="2A1010"/>
          </a:solidFill>
          <a:ln w="19050">
            <a:solidFill>
              <a:srgbClr val="B85042"/>
            </a:solidFill>
            <a:prstDash val="solid"/>
          </a:ln>
        </p:spPr>
        <p:txBody>
          <a:bodyPr wrap="square" lIns="45720" tIns="45720" rIns="45720" bIns="45720" rtlCol="0" anchor="ctr"/>
          <a:lstStyle/>
          <a:p>
            <a:pPr marL="0" indent="0" algn="ctr">
              <a:buNone/>
            </a:pPr>
            <a:r>
              <a:rPr lang="en-US" sz="950" b="1" dirty="0">
                <a:solidFill>
                  <a:srgbClr val="FFFFFF"/>
                </a:solidFill>
                <a:latin typeface="Times New Roman" pitchFamily="34" charset="0"/>
              </a:rPr>
              <a:t>Security
Protection</a:t>
            </a:r>
            <a:endParaRPr lang="en-US" sz="950" dirty="0"/>
          </a:p>
        </p:txBody>
      </p:sp>
      <p:sp>
        <p:nvSpPr>
          <p:cNvPr id="56" name="LnSec"/>
          <p:cNvSpPr/>
          <p:nvPr/>
        </p:nvSpPr>
        <p:spPr>
          <a:xfrm>
            <a:off x="8019785" y="1731560"/>
            <a:ext cx="552340" cy="40000"/>
          </a:xfrm>
          <a:prstGeom prst="rect">
            <a:avLst/>
          </a:prstGeom>
          <a:solidFill>
            <a:srgbClr val="C9A84C"/>
          </a:solidFill>
        </p:spPr>
      </p:sp>
      <p:sp>
        <p:nvSpPr>
          <p:cNvPr id="57" name="SvcRev"/>
          <p:cNvSpPr/>
          <p:nvPr/>
        </p:nvSpPr>
        <p:spPr>
          <a:xfrm>
            <a:off x="5860720" y="3817720"/>
            <a:ext cx="950000" cy="400000"/>
          </a:xfrm>
          <a:prstGeom prst="rect">
            <a:avLst/>
          </a:prstGeom>
          <a:solidFill>
            <a:srgbClr val="2A1010"/>
          </a:solidFill>
          <a:ln w="19050">
            <a:solidFill>
              <a:srgbClr val="B85042"/>
            </a:solidFill>
            <a:prstDash val="solid"/>
          </a:ln>
        </p:spPr>
        <p:txBody>
          <a:bodyPr wrap="square" lIns="45720" tIns="45720" rIns="45720" bIns="45720" rtlCol="0" anchor="ctr"/>
          <a:lstStyle/>
          <a:p>
            <a:pPr marL="0" indent="0" algn="ctr">
              <a:buNone/>
            </a:pPr>
            <a:r>
              <a:rPr lang="en-US" sz="950" b="1" dirty="0">
                <a:solidFill>
                  <a:srgbClr val="FFFFFF"/>
                </a:solidFill>
                <a:latin typeface="Times New Roman" pitchFamily="34" charset="0"/>
              </a:rPr>
              <a:t>Revenue
Collection</a:t>
            </a:r>
            <a:endParaRPr lang="en-US" sz="950" dirty="0"/>
          </a:p>
        </p:txBody>
      </p:sp>
      <p:sp>
        <p:nvSpPr>
          <p:cNvPr id="58" name="LnRev"/>
          <p:cNvSpPr/>
          <p:nvPr/>
        </p:nvSpPr>
        <p:spPr>
          <a:xfrm>
            <a:off x="6029847" y="3997720"/>
            <a:ext cx="602340" cy="40000"/>
          </a:xfrm>
          <a:prstGeom prst="rect">
            <a:avLst/>
          </a:prstGeom>
          <a:solidFill>
            <a:srgbClr val="C9A84C"/>
          </a:solidFill>
        </p:spPr>
      </p:sp>
      <p:sp>
        <p:nvSpPr>
          <p:cNvPr id="59" name="SvcOrd"/>
          <p:cNvSpPr/>
          <p:nvPr/>
        </p:nvSpPr>
        <p:spPr>
          <a:xfrm>
            <a:off x="7815400" y="3817720"/>
            <a:ext cx="950000" cy="400000"/>
          </a:xfrm>
          <a:prstGeom prst="rect">
            <a:avLst/>
          </a:prstGeom>
          <a:solidFill>
            <a:srgbClr val="2A1010"/>
          </a:solidFill>
          <a:ln w="19050">
            <a:solidFill>
              <a:srgbClr val="B85042"/>
            </a:solidFill>
            <a:prstDash val="solid"/>
          </a:ln>
        </p:spPr>
        <p:txBody>
          <a:bodyPr wrap="square" lIns="45720" tIns="45720" rIns="45720" bIns="45720" rtlCol="0" anchor="ctr"/>
          <a:lstStyle/>
          <a:p>
            <a:pPr marL="0" indent="0" algn="ctr">
              <a:buNone/>
            </a:pPr>
            <a:r>
              <a:rPr lang="en-US" sz="950" b="1" dirty="0">
                <a:solidFill>
                  <a:srgbClr val="FFFFFF"/>
                </a:solidFill>
                <a:latin typeface="Times New Roman" pitchFamily="34" charset="0"/>
              </a:rPr>
              <a:t>Order
&amp; Roads</a:t>
            </a:r>
            <a:endParaRPr lang="en-US" sz="950" dirty="0"/>
          </a:p>
        </p:txBody>
      </p:sp>
      <p:sp>
        <p:nvSpPr>
          <p:cNvPr id="60" name="LnOrd"/>
          <p:cNvSpPr/>
          <p:nvPr/>
        </p:nvSpPr>
        <p:spPr>
          <a:xfrm>
            <a:off x="8011736" y="3997720"/>
            <a:ext cx="552340" cy="40000"/>
          </a:xfrm>
          <a:prstGeom prst="rect">
            <a:avLst/>
          </a:prstGeom>
          <a:solidFill>
            <a:srgbClr val="C9A84C"/>
          </a:solidFill>
        </p:spPr>
      </p:sp>
      <p:sp>
        <p:nvSpPr>
          <p:cNvPr id="61" name="StateAbsent"/>
          <p:cNvSpPr/>
          <p:nvPr/>
        </p:nvSpPr>
        <p:spPr>
          <a:xfrm>
            <a:off x="5810720" y="4377720"/>
            <a:ext cx="3054680" cy="180000"/>
          </a:xfrm>
          <a:prstGeom prst="rect">
            <a:avLst/>
          </a:prstGeom>
          <a:solidFill>
            <a:srgbClr val="1A1A2A"/>
          </a:solidFill>
          <a:ln w="12700">
            <a:solidFill>
              <a:srgbClr val="6B7A8D"/>
            </a:solidFill>
            <a:prstDash val="solid"/>
          </a:ln>
        </p:spPr>
        <p:txBody>
          <a:bodyPr wrap="square" lIns="45720" tIns="45720" rIns="45720" bIns="45720" rtlCol="0" anchor="ctr"/>
          <a:lstStyle/>
          <a:p>
            <a:pPr marL="0" indent="0" algn="ctr">
              <a:buNone/>
            </a:pPr>
            <a:r>
              <a:rPr lang="en-US" sz="950" dirty="0">
                <a:solidFill>
                  <a:srgbClr val="FFFFFF"/>
                </a:solidFill>
                <a:latin typeface="Times New Roman" pitchFamily="34" charset="0"/>
              </a:rPr>
              <a:t>State Absent → TTP Fills the Void</a:t>
            </a:r>
            <a:endParaRPr lang="en-US" sz="950" dirty="0"/>
          </a:p>
        </p:txBody>
      </p:sp>
      <p:sp>
        <p:nvSpPr>
          <p:cNvPr id="9900" name="SlideNum_23"/>
          <p:cNvSpPr txBox="1"/>
          <p:nvPr/>
        </p:nvSpPr>
        <p:spPr>
          <a:xfrm>
            <a:off x="8229600" y="4953500"/>
            <a:ext cx="685800" cy="190000"/>
          </a:xfrm>
          <a:prstGeom prst="rect">
            <a:avLst/>
          </a:prstGeom>
          <a:noFill/>
        </p:spPr>
        <p:txBody>
          <a:bodyPr wrap="square" rtlCol="0"/>
          <a:lstStyle/>
          <a:p>
            <a:pPr algn="r"/>
            <a:r>
              <a:rPr lang="en-US" sz="1050" b="0" dirty="0">
                <a:solidFill>
                  <a:srgbClr val="1A4731"/>
                </a:solidFill>
              </a:rPr>
              <a:t>23 / 26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119194"/>
            <a:ext cx="8686800" cy="640080"/>
          </a:xfrm>
          <a:prstGeom prst="rect">
            <a:avLst/>
          </a:prstGeom>
          <a:noFill/>
          <a:ln/>
        </p:spPr>
        <p:txBody>
          <a:bodyPr wrap="square" lIns="0" tIns="0" rIns="0" bIns="0" rtlCol="0" anchor="ctr"/>
          <a:lstStyle/>
          <a:p>
            <a:pPr marL="0" indent="0" algn="l">
              <a:buNone/>
            </a:pPr>
            <a:r>
              <a:rPr lang="en-US" sz="3800" b="1">
                <a:solidFill>
                  <a:srgbClr val="1A4731"/>
                </a:solidFill>
                <a:latin typeface="Times New Roman"/>
                <a:ea typeface="Times New Roman" pitchFamily="34" charset="-122"/>
                <a:cs typeface="Times New Roman"/>
              </a:rPr>
              <a:t>Defeating the Taliban? The Swat </a:t>
            </a:r>
            <a:r>
              <a:rPr lang="en-US" sz="3800" b="1" dirty="0">
                <a:solidFill>
                  <a:srgbClr val="1A4731"/>
                </a:solidFill>
                <a:latin typeface="Times New Roman"/>
                <a:ea typeface="Times New Roman" pitchFamily="34" charset="-122"/>
                <a:cs typeface="Times New Roman"/>
              </a:rPr>
              <a:t>Lesson</a:t>
            </a:r>
            <a:endParaRPr lang="en-US" sz="3800" dirty="0">
              <a:latin typeface="Times New Roman"/>
              <a:ea typeface="Calibri" panose="020F0502020204030204"/>
              <a:cs typeface="Calibri" panose="020F0502020204030204"/>
            </a:endParaRPr>
          </a:p>
        </p:txBody>
      </p:sp>
      <p:sp>
        <p:nvSpPr>
          <p:cNvPr id="3" name="Shape 1"/>
          <p:cNvSpPr/>
          <p:nvPr/>
        </p:nvSpPr>
        <p:spPr>
          <a:xfrm>
            <a:off x="228600" y="758888"/>
            <a:ext cx="8686800" cy="36576"/>
          </a:xfrm>
          <a:prstGeom prst="rect">
            <a:avLst/>
          </a:prstGeom>
          <a:solidFill>
            <a:srgbClr val="C9A84C"/>
          </a:solidFill>
          <a:ln w="12700">
            <a:solidFill>
              <a:srgbClr val="C9A84C"/>
            </a:solidFill>
            <a:prstDash val="solid"/>
          </a:ln>
        </p:spPr>
      </p:sp>
      <p:sp>
        <p:nvSpPr>
          <p:cNvPr id="5" name="Text 3"/>
          <p:cNvSpPr/>
          <p:nvPr/>
        </p:nvSpPr>
        <p:spPr>
          <a:xfrm>
            <a:off x="226024" y="785933"/>
            <a:ext cx="5349240" cy="3657600"/>
          </a:xfrm>
          <a:prstGeom prst="rect">
            <a:avLst/>
          </a:prstGeom>
          <a:noFill/>
          <a:ln/>
        </p:spPr>
        <p:txBody>
          <a:bodyPr wrap="square" lIns="91440" tIns="45720" rIns="91440" bIns="45720" rtlCol="0" anchor="t"/>
          <a:lstStyle/>
          <a:p>
            <a:pPr>
              <a:buSzPct val="100000"/>
            </a:pPr>
            <a:r>
              <a:rPr lang="en-US" sz="1500" b="1">
                <a:solidFill>
                  <a:srgbClr val="1A1A1A"/>
                </a:solidFill>
                <a:ea typeface="+mn-lt"/>
                <a:cs typeface="+mn-lt"/>
              </a:rPr>
              <a:t>The 2009 Swat Agreement &amp; The TTP's Downfall</a:t>
            </a:r>
            <a:endParaRPr lang="en-US" sz="1500">
              <a:solidFill>
                <a:srgbClr val="000000"/>
              </a:solidFill>
              <a:latin typeface="Calibri"/>
              <a:ea typeface="Calibri"/>
              <a:cs typeface="Calibri"/>
            </a:endParaRPr>
          </a:p>
          <a:p>
            <a:pPr>
              <a:buFont typeface="Arial"/>
              <a:buChar char="•"/>
            </a:pPr>
            <a:r>
              <a:rPr lang="en-US" sz="1500" b="1">
                <a:solidFill>
                  <a:srgbClr val="1A1A1A"/>
                </a:solidFill>
                <a:ea typeface="+mn-lt"/>
                <a:cs typeface="+mn-lt"/>
              </a:rPr>
              <a:t>The Compromise:</a:t>
            </a:r>
            <a:r>
              <a:rPr lang="en-US" sz="1500">
                <a:solidFill>
                  <a:srgbClr val="1A1A1A"/>
                </a:solidFill>
                <a:ea typeface="+mn-lt"/>
                <a:cs typeface="+mn-lt"/>
              </a:rPr>
              <a:t> The 2009 Nizam-e-Adl Agreement allowed Sharia courts in Swat to halt fighting. Locals backed it out of a desire for swift justice, not Taliban ideology.</a:t>
            </a:r>
            <a:endParaRPr lang="en-US" sz="1500">
              <a:ea typeface="Calibri"/>
              <a:cs typeface="Calibri"/>
            </a:endParaRPr>
          </a:p>
          <a:p>
            <a:pPr>
              <a:buFont typeface="Arial"/>
              <a:buChar char="•"/>
            </a:pPr>
            <a:r>
              <a:rPr lang="en-US" sz="1500" b="1">
                <a:solidFill>
                  <a:srgbClr val="1A1A1A"/>
                </a:solidFill>
                <a:ea typeface="+mn-lt"/>
                <a:cs typeface="+mn-lt"/>
              </a:rPr>
              <a:t>Two Fatal Mistakes:</a:t>
            </a:r>
            <a:endParaRPr lang="en-US" sz="1500">
              <a:ea typeface="Calibri"/>
              <a:cs typeface="Calibri"/>
            </a:endParaRPr>
          </a:p>
          <a:p>
            <a:pPr lvl="1">
              <a:buFont typeface="Arial"/>
              <a:buChar char="•"/>
            </a:pPr>
            <a:r>
              <a:rPr lang="en-US" sz="1500" i="1">
                <a:solidFill>
                  <a:srgbClr val="1A1A1A"/>
                </a:solidFill>
                <a:ea typeface="+mn-lt"/>
                <a:cs typeface="+mn-lt"/>
              </a:rPr>
              <a:t>The Flogging Video (Feb '09):</a:t>
            </a:r>
            <a:r>
              <a:rPr lang="en-US" sz="1500">
                <a:solidFill>
                  <a:srgbClr val="1A1A1A"/>
                </a:solidFill>
                <a:ea typeface="+mn-lt"/>
                <a:cs typeface="+mn-lt"/>
              </a:rPr>
              <a:t> Viral footage of a woman being flogged alienated the public and destroyed sympathy for the TTP.</a:t>
            </a:r>
            <a:endParaRPr lang="en-US" sz="1500">
              <a:ea typeface="Calibri"/>
              <a:cs typeface="Calibri"/>
            </a:endParaRPr>
          </a:p>
          <a:p>
            <a:pPr lvl="1">
              <a:buFont typeface="Arial"/>
              <a:buChar char="•"/>
            </a:pPr>
            <a:r>
              <a:rPr lang="en-US" sz="1500" i="1">
                <a:solidFill>
                  <a:srgbClr val="1A1A1A"/>
                </a:solidFill>
                <a:ea typeface="+mn-lt"/>
                <a:cs typeface="+mn-lt"/>
              </a:rPr>
              <a:t>The Buner Advance (Apr '09):</a:t>
            </a:r>
            <a:r>
              <a:rPr lang="en-US" sz="1500">
                <a:solidFill>
                  <a:srgbClr val="1A1A1A"/>
                </a:solidFill>
                <a:ea typeface="+mn-lt"/>
                <a:cs typeface="+mn-lt"/>
              </a:rPr>
              <a:t> Expanding toward Islamabad crossed a red line, triggering military intervention (Operation Rah-e-Rast).</a:t>
            </a:r>
            <a:endParaRPr lang="en-US" sz="1500">
              <a:ea typeface="Calibri"/>
              <a:cs typeface="Calibri"/>
            </a:endParaRPr>
          </a:p>
          <a:p>
            <a:pPr>
              <a:buFont typeface="Arial"/>
              <a:buChar char="•"/>
            </a:pPr>
            <a:r>
              <a:rPr lang="en-US" sz="1500" b="1">
                <a:solidFill>
                  <a:srgbClr val="1A1A1A"/>
                </a:solidFill>
                <a:ea typeface="+mn-lt"/>
                <a:cs typeface="+mn-lt"/>
              </a:rPr>
              <a:t>Three Core Lessons:</a:t>
            </a:r>
            <a:endParaRPr lang="en-US" sz="1500">
              <a:ea typeface="+mn-lt"/>
              <a:cs typeface="+mn-lt"/>
            </a:endParaRPr>
          </a:p>
          <a:p>
            <a:pPr lvl="1">
              <a:buFont typeface="Arial"/>
              <a:buChar char="•"/>
            </a:pPr>
            <a:r>
              <a:rPr lang="en-US" sz="1500">
                <a:solidFill>
                  <a:srgbClr val="1A1A1A"/>
                </a:solidFill>
                <a:ea typeface="+mn-lt"/>
                <a:cs typeface="+mn-lt"/>
              </a:rPr>
              <a:t>Public support for insurgents is conditional—driven by the need for basic governance, not extremist ideology.</a:t>
            </a:r>
            <a:endParaRPr lang="en-US" sz="1500">
              <a:ea typeface="Calibri"/>
              <a:cs typeface="Calibri"/>
            </a:endParaRPr>
          </a:p>
          <a:p>
            <a:pPr lvl="1">
              <a:buFont typeface="Arial"/>
              <a:buChar char="•"/>
            </a:pPr>
            <a:r>
              <a:rPr lang="en-US" sz="1500">
                <a:solidFill>
                  <a:srgbClr val="1A1A1A"/>
                </a:solidFill>
                <a:ea typeface="+mn-lt"/>
                <a:cs typeface="+mn-lt"/>
              </a:rPr>
              <a:t>Military operations only succeed once the local population withdraws its passive support for the insurgents.</a:t>
            </a:r>
            <a:endParaRPr lang="en-US" sz="1500">
              <a:ea typeface="Calibri"/>
              <a:cs typeface="Calibri"/>
            </a:endParaRPr>
          </a:p>
          <a:p>
            <a:pPr lvl="1">
              <a:buFont typeface="Arial"/>
              <a:buChar char="•"/>
            </a:pPr>
            <a:r>
              <a:rPr lang="en-US" sz="1500" dirty="0">
                <a:solidFill>
                  <a:srgbClr val="1A1A1A"/>
                </a:solidFill>
                <a:ea typeface="+mn-lt"/>
                <a:cs typeface="+mn-lt"/>
              </a:rPr>
              <a:t>Post-conflict reconstruction (rebuilding courts, schools, and services) is ultimately more decisive than the military victory itself.</a:t>
            </a:r>
            <a:endParaRPr lang="en-US" sz="1500" dirty="0">
              <a:ea typeface="Calibri"/>
              <a:cs typeface="Calibri"/>
            </a:endParaRPr>
          </a:p>
          <a:p>
            <a:pPr marL="342900" indent="-342900">
              <a:spcAft>
                <a:spcPts val="600"/>
              </a:spcAft>
              <a:buSzPct val="100000"/>
              <a:buChar char="•"/>
            </a:pPr>
            <a:endParaRPr lang="en-US" sz="1500" b="1" dirty="0">
              <a:solidFill>
                <a:srgbClr val="1A1A1A"/>
              </a:solidFill>
              <a:latin typeface="Times New Roman"/>
              <a:cs typeface="Times New Roman"/>
            </a:endParaRPr>
          </a:p>
        </p:txBody>
      </p:sp>
      <p:sp>
        <p:nvSpPr>
          <p:cNvPr id="6" name="Shape 4"/>
          <p:cNvSpPr/>
          <p:nvPr/>
        </p:nvSpPr>
        <p:spPr>
          <a:xfrm>
            <a:off x="5760720" y="1051560"/>
            <a:ext cx="3154680" cy="3566160"/>
          </a:xfrm>
          <a:prstGeom prst="rect">
            <a:avLst/>
          </a:prstGeom>
          <a:solidFill>
            <a:srgbClr val="3D4A5C"/>
          </a:solidFill>
          <a:ln w="12700">
            <a:solidFill>
              <a:srgbClr val="6B7A8D"/>
            </a:solidFill>
            <a:prstDash val="solid"/>
          </a:ln>
        </p:spPr>
      </p:sp>
      <p:sp>
        <p:nvSpPr>
          <p:cNvPr id="50" name="TLTitle"/>
          <p:cNvSpPr/>
          <p:nvPr/>
        </p:nvSpPr>
        <p:spPr>
          <a:xfrm>
            <a:off x="5810720" y="1131560"/>
            <a:ext cx="3054680" cy="200000"/>
          </a:xfrm>
          <a:prstGeom prst="rect">
            <a:avLst/>
          </a:prstGeom>
          <a:noFill/>
        </p:spPr>
        <p:txBody>
          <a:bodyPr wrap="square" lIns="45720" tIns="45720" rIns="45720" bIns="45720" rtlCol="0" anchor="ctr"/>
          <a:lstStyle/>
          <a:p>
            <a:pPr marL="0" indent="0" algn="ctr">
              <a:buNone/>
            </a:pPr>
            <a:r>
              <a:rPr lang="en-US" sz="1300" b="1" dirty="0">
                <a:solidFill>
                  <a:srgbClr val="C9A84C"/>
                </a:solidFill>
                <a:latin typeface="Times New Roman" pitchFamily="34" charset="0"/>
              </a:rPr>
              <a:t>The Swat Lesson — 2009</a:t>
            </a:r>
            <a:endParaRPr lang="en-US" sz="1300" dirty="0"/>
          </a:p>
        </p:txBody>
      </p:sp>
      <p:sp>
        <p:nvSpPr>
          <p:cNvPr id="51" name="Spine2"/>
          <p:cNvSpPr/>
          <p:nvPr/>
        </p:nvSpPr>
        <p:spPr>
          <a:xfrm>
            <a:off x="6195720" y="1411560"/>
            <a:ext cx="30000" cy="2966160"/>
          </a:xfrm>
          <a:prstGeom prst="rect">
            <a:avLst/>
          </a:prstGeom>
          <a:solidFill>
            <a:srgbClr val="C9A84C"/>
          </a:solidFill>
        </p:spPr>
      </p:sp>
      <p:sp>
        <p:nvSpPr>
          <p:cNvPr id="52" name="Dot0"/>
          <p:cNvSpPr/>
          <p:nvPr/>
        </p:nvSpPr>
        <p:spPr>
          <a:xfrm>
            <a:off x="6140720" y="1341560"/>
            <a:ext cx="140000" cy="140000"/>
          </a:xfrm>
          <a:prstGeom prst="rect">
            <a:avLst/>
          </a:prstGeom>
          <a:solidFill>
            <a:srgbClr val="1A4731"/>
          </a:solidFill>
          <a:ln w="12700">
            <a:solidFill>
              <a:srgbClr val="C9A84C"/>
            </a:solidFill>
            <a:prstDash val="solid"/>
          </a:ln>
        </p:spPr>
      </p:sp>
      <p:sp>
        <p:nvSpPr>
          <p:cNvPr id="53" name="Date0"/>
          <p:cNvSpPr/>
          <p:nvPr/>
        </p:nvSpPr>
        <p:spPr>
          <a:xfrm>
            <a:off x="5790720" y="1301560"/>
            <a:ext cx="400000" cy="200000"/>
          </a:xfrm>
          <a:prstGeom prst="rect">
            <a:avLst/>
          </a:prstGeom>
          <a:noFill/>
        </p:spPr>
        <p:txBody>
          <a:bodyPr wrap="square" lIns="45720" tIns="45720" rIns="45720" bIns="45720" rtlCol="0" anchor="ctr"/>
          <a:lstStyle/>
          <a:p>
            <a:pPr marL="0" indent="0" algn="r">
              <a:buNone/>
            </a:pPr>
            <a:r>
              <a:rPr lang="en-US" sz="1050" i="1" dirty="0">
                <a:solidFill>
                  <a:srgbClr val="6B7A8D"/>
                </a:solidFill>
                <a:latin typeface="Times New Roman" pitchFamily="34" charset="0"/>
              </a:rPr>
              <a:t>Feb 2009</a:t>
            </a:r>
            <a:endParaRPr lang="en-US" sz="1050" dirty="0"/>
          </a:p>
        </p:txBody>
      </p:sp>
      <p:sp>
        <p:nvSpPr>
          <p:cNvPr id="54" name="Ttl0"/>
          <p:cNvSpPr/>
          <p:nvPr/>
        </p:nvSpPr>
        <p:spPr>
          <a:xfrm>
            <a:off x="6290720" y="1301560"/>
            <a:ext cx="2554680" cy="200000"/>
          </a:xfrm>
          <a:prstGeom prst="rect">
            <a:avLst/>
          </a:prstGeom>
          <a:noFill/>
        </p:spPr>
        <p:txBody>
          <a:bodyPr wrap="square" lIns="45720" tIns="45720" rIns="45720" bIns="45720" rtlCol="0" anchor="ctr"/>
          <a:lstStyle/>
          <a:p>
            <a:pPr marL="0" indent="0" algn="l">
              <a:buNone/>
            </a:pPr>
            <a:r>
              <a:rPr lang="en-US" sz="1100" b="1" dirty="0">
                <a:solidFill>
                  <a:srgbClr val="FFFFFF"/>
                </a:solidFill>
                <a:latin typeface="Times New Roman" pitchFamily="34" charset="0"/>
              </a:rPr>
              <a:t>Nizam-e-Adl Signed</a:t>
            </a:r>
            <a:endParaRPr lang="en-US" sz="1100" dirty="0"/>
          </a:p>
        </p:txBody>
      </p:sp>
      <p:sp>
        <p:nvSpPr>
          <p:cNvPr id="55" name="Det0"/>
          <p:cNvSpPr/>
          <p:nvPr/>
        </p:nvSpPr>
        <p:spPr>
          <a:xfrm>
            <a:off x="6290720" y="1521560"/>
            <a:ext cx="2454680" cy="170000"/>
          </a:xfrm>
          <a:prstGeom prst="rect">
            <a:avLst/>
          </a:prstGeom>
          <a:noFill/>
        </p:spPr>
        <p:txBody>
          <a:bodyPr wrap="square" lIns="45720" tIns="45720" rIns="45720" bIns="45720" rtlCol="0" anchor="ctr"/>
          <a:lstStyle/>
          <a:p>
            <a:pPr marL="0" indent="0" algn="l">
              <a:buNone/>
            </a:pPr>
            <a:r>
              <a:rPr lang="en-US" sz="850" dirty="0">
                <a:solidFill>
                  <a:srgbClr val="6B7A8D"/>
                </a:solidFill>
                <a:latin typeface="Times New Roman" pitchFamily="34" charset="0"/>
              </a:rPr>
              <a:t>Public backed Sharia courts</a:t>
            </a:r>
            <a:endParaRPr lang="en-US" sz="850" dirty="0"/>
          </a:p>
        </p:txBody>
      </p:sp>
      <p:sp>
        <p:nvSpPr>
          <p:cNvPr id="57" name="Dot1"/>
          <p:cNvSpPr/>
          <p:nvPr/>
        </p:nvSpPr>
        <p:spPr>
          <a:xfrm>
            <a:off x="6140720" y="1934792"/>
            <a:ext cx="140000" cy="140000"/>
          </a:xfrm>
          <a:prstGeom prst="rect">
            <a:avLst/>
          </a:prstGeom>
          <a:solidFill>
            <a:srgbClr val="B85042"/>
          </a:solidFill>
          <a:ln w="12700">
            <a:solidFill>
              <a:srgbClr val="C9A84C"/>
            </a:solidFill>
            <a:prstDash val="solid"/>
          </a:ln>
        </p:spPr>
      </p:sp>
      <p:sp>
        <p:nvSpPr>
          <p:cNvPr id="58" name="Date1"/>
          <p:cNvSpPr/>
          <p:nvPr/>
        </p:nvSpPr>
        <p:spPr>
          <a:xfrm>
            <a:off x="5790720" y="1894792"/>
            <a:ext cx="400000" cy="200000"/>
          </a:xfrm>
          <a:prstGeom prst="rect">
            <a:avLst/>
          </a:prstGeom>
          <a:noFill/>
        </p:spPr>
        <p:txBody>
          <a:bodyPr wrap="square" lIns="45720" tIns="45720" rIns="45720" bIns="45720" rtlCol="0" anchor="ctr"/>
          <a:lstStyle/>
          <a:p>
            <a:pPr marL="0" indent="0" algn="r">
              <a:buNone/>
            </a:pPr>
            <a:r>
              <a:rPr lang="en-US" sz="1050" i="1" dirty="0">
                <a:solidFill>
                  <a:srgbClr val="6B7A8D"/>
                </a:solidFill>
                <a:latin typeface="Times New Roman" pitchFamily="34" charset="0"/>
              </a:rPr>
              <a:t>Feb 2009</a:t>
            </a:r>
            <a:endParaRPr lang="en-US" sz="1050" dirty="0"/>
          </a:p>
        </p:txBody>
      </p:sp>
      <p:sp>
        <p:nvSpPr>
          <p:cNvPr id="59" name="Ttl1"/>
          <p:cNvSpPr/>
          <p:nvPr/>
        </p:nvSpPr>
        <p:spPr>
          <a:xfrm>
            <a:off x="6290720" y="1894792"/>
            <a:ext cx="2554680" cy="200000"/>
          </a:xfrm>
          <a:prstGeom prst="rect">
            <a:avLst/>
          </a:prstGeom>
          <a:noFill/>
        </p:spPr>
        <p:txBody>
          <a:bodyPr wrap="square" lIns="45720" tIns="45720" rIns="45720" bIns="45720" rtlCol="0" anchor="ctr"/>
          <a:lstStyle/>
          <a:p>
            <a:pPr marL="0" indent="0" algn="l">
              <a:buNone/>
            </a:pPr>
            <a:r>
              <a:rPr lang="en-US" sz="1100" b="1" dirty="0">
                <a:solidFill>
                  <a:srgbClr val="FFFFFF"/>
                </a:solidFill>
                <a:latin typeface="Times New Roman" pitchFamily="34" charset="0"/>
              </a:rPr>
              <a:t>Flogging Video Leaks</a:t>
            </a:r>
            <a:endParaRPr lang="en-US" sz="1100" dirty="0"/>
          </a:p>
        </p:txBody>
      </p:sp>
      <p:sp>
        <p:nvSpPr>
          <p:cNvPr id="60" name="Det1"/>
          <p:cNvSpPr/>
          <p:nvPr/>
        </p:nvSpPr>
        <p:spPr>
          <a:xfrm>
            <a:off x="6290720" y="2114792"/>
            <a:ext cx="2454680" cy="170000"/>
          </a:xfrm>
          <a:prstGeom prst="rect">
            <a:avLst/>
          </a:prstGeom>
          <a:noFill/>
        </p:spPr>
        <p:txBody>
          <a:bodyPr wrap="square" lIns="45720" tIns="45720" rIns="45720" bIns="45720" rtlCol="0" anchor="ctr"/>
          <a:lstStyle/>
          <a:p>
            <a:pPr marL="0" indent="0" algn="l">
              <a:buNone/>
            </a:pPr>
            <a:r>
              <a:rPr lang="en-US" sz="850" dirty="0">
                <a:solidFill>
                  <a:srgbClr val="6B7A8D"/>
                </a:solidFill>
                <a:latin typeface="Times New Roman" pitchFamily="34" charset="0"/>
              </a:rPr>
              <a:t>Public opinion turns sharply</a:t>
            </a:r>
            <a:endParaRPr lang="en-US" sz="850" dirty="0"/>
          </a:p>
        </p:txBody>
      </p:sp>
      <p:sp>
        <p:nvSpPr>
          <p:cNvPr id="62" name="Dot2"/>
          <p:cNvSpPr/>
          <p:nvPr/>
        </p:nvSpPr>
        <p:spPr>
          <a:xfrm>
            <a:off x="6140720" y="2528024"/>
            <a:ext cx="140000" cy="140000"/>
          </a:xfrm>
          <a:prstGeom prst="rect">
            <a:avLst/>
          </a:prstGeom>
          <a:solidFill>
            <a:srgbClr val="5A2010"/>
          </a:solidFill>
          <a:ln w="12700">
            <a:solidFill>
              <a:srgbClr val="C9A84C"/>
            </a:solidFill>
            <a:prstDash val="solid"/>
          </a:ln>
        </p:spPr>
      </p:sp>
      <p:sp>
        <p:nvSpPr>
          <p:cNvPr id="63" name="Date2"/>
          <p:cNvSpPr/>
          <p:nvPr/>
        </p:nvSpPr>
        <p:spPr>
          <a:xfrm>
            <a:off x="5790720" y="2488024"/>
            <a:ext cx="400000" cy="200000"/>
          </a:xfrm>
          <a:prstGeom prst="rect">
            <a:avLst/>
          </a:prstGeom>
          <a:noFill/>
        </p:spPr>
        <p:txBody>
          <a:bodyPr wrap="square" lIns="45720" tIns="45720" rIns="45720" bIns="45720" rtlCol="0" anchor="ctr"/>
          <a:lstStyle/>
          <a:p>
            <a:pPr marL="0" indent="0" algn="r">
              <a:buNone/>
            </a:pPr>
            <a:r>
              <a:rPr lang="en-US" sz="1050" i="1" dirty="0">
                <a:solidFill>
                  <a:srgbClr val="6B7A8D"/>
                </a:solidFill>
                <a:latin typeface="Times New Roman" pitchFamily="34" charset="0"/>
              </a:rPr>
              <a:t>Apr 2009</a:t>
            </a:r>
            <a:endParaRPr lang="en-US" sz="1050" dirty="0"/>
          </a:p>
        </p:txBody>
      </p:sp>
      <p:sp>
        <p:nvSpPr>
          <p:cNvPr id="64" name="Ttl2"/>
          <p:cNvSpPr/>
          <p:nvPr/>
        </p:nvSpPr>
        <p:spPr>
          <a:xfrm>
            <a:off x="6290720" y="2488024"/>
            <a:ext cx="2554680" cy="200000"/>
          </a:xfrm>
          <a:prstGeom prst="rect">
            <a:avLst/>
          </a:prstGeom>
          <a:noFill/>
        </p:spPr>
        <p:txBody>
          <a:bodyPr wrap="square" lIns="45720" tIns="45720" rIns="45720" bIns="45720" rtlCol="0" anchor="ctr"/>
          <a:lstStyle/>
          <a:p>
            <a:pPr marL="0" indent="0" algn="l">
              <a:buNone/>
            </a:pPr>
            <a:r>
              <a:rPr lang="en-US" sz="1100" b="1" dirty="0">
                <a:solidFill>
                  <a:srgbClr val="FFFFFF"/>
                </a:solidFill>
                <a:latin typeface="Times New Roman" pitchFamily="34" charset="0"/>
              </a:rPr>
              <a:t>TTP moves into Buner</a:t>
            </a:r>
            <a:endParaRPr lang="en-US" sz="1100" dirty="0"/>
          </a:p>
        </p:txBody>
      </p:sp>
      <p:sp>
        <p:nvSpPr>
          <p:cNvPr id="65" name="Det2"/>
          <p:cNvSpPr/>
          <p:nvPr/>
        </p:nvSpPr>
        <p:spPr>
          <a:xfrm>
            <a:off x="6290720" y="2708024"/>
            <a:ext cx="2454680" cy="170000"/>
          </a:xfrm>
          <a:prstGeom prst="rect">
            <a:avLst/>
          </a:prstGeom>
          <a:noFill/>
        </p:spPr>
        <p:txBody>
          <a:bodyPr wrap="square" lIns="45720" tIns="45720" rIns="45720" bIns="45720" rtlCol="0" anchor="ctr"/>
          <a:lstStyle/>
          <a:p>
            <a:pPr marL="0" indent="0" algn="l">
              <a:buNone/>
            </a:pPr>
            <a:r>
              <a:rPr lang="en-US" sz="850" dirty="0">
                <a:solidFill>
                  <a:srgbClr val="6B7A8D"/>
                </a:solidFill>
                <a:latin typeface="Times New Roman" pitchFamily="34" charset="0"/>
              </a:rPr>
              <a:t>Threatens Islamabad</a:t>
            </a:r>
            <a:endParaRPr lang="en-US" sz="850" dirty="0"/>
          </a:p>
        </p:txBody>
      </p:sp>
      <p:sp>
        <p:nvSpPr>
          <p:cNvPr id="67" name="Dot3"/>
          <p:cNvSpPr/>
          <p:nvPr/>
        </p:nvSpPr>
        <p:spPr>
          <a:xfrm>
            <a:off x="6140720" y="3121256"/>
            <a:ext cx="140000" cy="140000"/>
          </a:xfrm>
          <a:prstGeom prst="rect">
            <a:avLst/>
          </a:prstGeom>
          <a:solidFill>
            <a:srgbClr val="1A3050"/>
          </a:solidFill>
          <a:ln w="12700">
            <a:solidFill>
              <a:srgbClr val="C9A84C"/>
            </a:solidFill>
            <a:prstDash val="solid"/>
          </a:ln>
        </p:spPr>
      </p:sp>
      <p:sp>
        <p:nvSpPr>
          <p:cNvPr id="68" name="Date3"/>
          <p:cNvSpPr/>
          <p:nvPr/>
        </p:nvSpPr>
        <p:spPr>
          <a:xfrm>
            <a:off x="5790720" y="3081256"/>
            <a:ext cx="400000" cy="200000"/>
          </a:xfrm>
          <a:prstGeom prst="rect">
            <a:avLst/>
          </a:prstGeom>
          <a:noFill/>
        </p:spPr>
        <p:txBody>
          <a:bodyPr wrap="square" lIns="45720" tIns="45720" rIns="45720" bIns="45720" rtlCol="0" anchor="ctr"/>
          <a:lstStyle/>
          <a:p>
            <a:pPr marL="0" indent="0" algn="r">
              <a:buNone/>
            </a:pPr>
            <a:r>
              <a:rPr lang="en-US" sz="1050" i="1" dirty="0">
                <a:solidFill>
                  <a:srgbClr val="6B7A8D"/>
                </a:solidFill>
                <a:latin typeface="Times New Roman" pitchFamily="34" charset="0"/>
              </a:rPr>
              <a:t>May 2009</a:t>
            </a:r>
            <a:endParaRPr lang="en-US" sz="1050" dirty="0"/>
          </a:p>
        </p:txBody>
      </p:sp>
      <p:sp>
        <p:nvSpPr>
          <p:cNvPr id="69" name="Ttl3"/>
          <p:cNvSpPr/>
          <p:nvPr/>
        </p:nvSpPr>
        <p:spPr>
          <a:xfrm>
            <a:off x="6290720" y="3081256"/>
            <a:ext cx="2554680" cy="200000"/>
          </a:xfrm>
          <a:prstGeom prst="rect">
            <a:avLst/>
          </a:prstGeom>
          <a:noFill/>
        </p:spPr>
        <p:txBody>
          <a:bodyPr wrap="square" lIns="45720" tIns="45720" rIns="45720" bIns="45720" rtlCol="0" anchor="ctr"/>
          <a:lstStyle/>
          <a:p>
            <a:pPr marL="0" indent="0" algn="l">
              <a:buNone/>
            </a:pPr>
            <a:r>
              <a:rPr lang="en-US" sz="1100" b="1" dirty="0">
                <a:solidFill>
                  <a:srgbClr val="FFFFFF"/>
                </a:solidFill>
                <a:latin typeface="Times New Roman" pitchFamily="34" charset="0"/>
              </a:rPr>
              <a:t>Rah-e-Rast Launched</a:t>
            </a:r>
            <a:endParaRPr lang="en-US" sz="1100" dirty="0"/>
          </a:p>
        </p:txBody>
      </p:sp>
      <p:sp>
        <p:nvSpPr>
          <p:cNvPr id="70" name="Det3"/>
          <p:cNvSpPr/>
          <p:nvPr/>
        </p:nvSpPr>
        <p:spPr>
          <a:xfrm>
            <a:off x="6290720" y="3301256"/>
            <a:ext cx="2454680" cy="170000"/>
          </a:xfrm>
          <a:prstGeom prst="rect">
            <a:avLst/>
          </a:prstGeom>
          <a:noFill/>
        </p:spPr>
        <p:txBody>
          <a:bodyPr wrap="square" lIns="45720" tIns="45720" rIns="45720" bIns="45720" rtlCol="0" anchor="ctr"/>
          <a:lstStyle/>
          <a:p>
            <a:pPr marL="0" indent="0" algn="l">
              <a:buNone/>
            </a:pPr>
            <a:r>
              <a:rPr lang="en-US" sz="850" dirty="0">
                <a:solidFill>
                  <a:srgbClr val="6B7A8D"/>
                </a:solidFill>
                <a:latin typeface="Times New Roman" pitchFamily="34" charset="0"/>
              </a:rPr>
              <a:t>Army operation begins</a:t>
            </a:r>
            <a:endParaRPr lang="en-US" sz="850" dirty="0"/>
          </a:p>
        </p:txBody>
      </p:sp>
      <p:sp>
        <p:nvSpPr>
          <p:cNvPr id="72" name="Dot4"/>
          <p:cNvSpPr/>
          <p:nvPr/>
        </p:nvSpPr>
        <p:spPr>
          <a:xfrm>
            <a:off x="6140720" y="3714488"/>
            <a:ext cx="140000" cy="140000"/>
          </a:xfrm>
          <a:prstGeom prst="rect">
            <a:avLst/>
          </a:prstGeom>
          <a:solidFill>
            <a:srgbClr val="1A4731"/>
          </a:solidFill>
          <a:ln w="12700">
            <a:solidFill>
              <a:srgbClr val="C9A84C"/>
            </a:solidFill>
            <a:prstDash val="solid"/>
          </a:ln>
        </p:spPr>
      </p:sp>
      <p:sp>
        <p:nvSpPr>
          <p:cNvPr id="73" name="Date4"/>
          <p:cNvSpPr/>
          <p:nvPr/>
        </p:nvSpPr>
        <p:spPr>
          <a:xfrm>
            <a:off x="5790720" y="3674488"/>
            <a:ext cx="400000" cy="200000"/>
          </a:xfrm>
          <a:prstGeom prst="rect">
            <a:avLst/>
          </a:prstGeom>
          <a:noFill/>
        </p:spPr>
        <p:txBody>
          <a:bodyPr wrap="square" lIns="45720" tIns="45720" rIns="45720" bIns="45720" rtlCol="0" anchor="ctr"/>
          <a:lstStyle/>
          <a:p>
            <a:pPr marL="0" indent="0" algn="r">
              <a:buNone/>
            </a:pPr>
            <a:r>
              <a:rPr lang="en-US" sz="1050" i="1" dirty="0">
                <a:solidFill>
                  <a:srgbClr val="6B7A8D"/>
                </a:solidFill>
                <a:latin typeface="Times New Roman" pitchFamily="34" charset="0"/>
              </a:rPr>
              <a:t>Jul 2009</a:t>
            </a:r>
            <a:endParaRPr lang="en-US" sz="1050" dirty="0"/>
          </a:p>
        </p:txBody>
      </p:sp>
      <p:sp>
        <p:nvSpPr>
          <p:cNvPr id="74" name="Ttl4"/>
          <p:cNvSpPr/>
          <p:nvPr/>
        </p:nvSpPr>
        <p:spPr>
          <a:xfrm>
            <a:off x="6290720" y="3674488"/>
            <a:ext cx="2554680" cy="200000"/>
          </a:xfrm>
          <a:prstGeom prst="rect">
            <a:avLst/>
          </a:prstGeom>
          <a:noFill/>
        </p:spPr>
        <p:txBody>
          <a:bodyPr wrap="square" lIns="45720" tIns="45720" rIns="45720" bIns="45720" rtlCol="0" anchor="ctr"/>
          <a:lstStyle/>
          <a:p>
            <a:pPr marL="0" indent="0" algn="l">
              <a:buNone/>
            </a:pPr>
            <a:r>
              <a:rPr lang="en-US" sz="1100" b="1" dirty="0">
                <a:solidFill>
                  <a:srgbClr val="FFFFFF"/>
                </a:solidFill>
                <a:latin typeface="Times New Roman" pitchFamily="34" charset="0"/>
              </a:rPr>
              <a:t>Swat Cleared</a:t>
            </a:r>
            <a:endParaRPr lang="en-US" sz="1100" dirty="0"/>
          </a:p>
        </p:txBody>
      </p:sp>
      <p:sp>
        <p:nvSpPr>
          <p:cNvPr id="75" name="Det4"/>
          <p:cNvSpPr/>
          <p:nvPr/>
        </p:nvSpPr>
        <p:spPr>
          <a:xfrm>
            <a:off x="6290720" y="3894488"/>
            <a:ext cx="2454680" cy="170000"/>
          </a:xfrm>
          <a:prstGeom prst="rect">
            <a:avLst/>
          </a:prstGeom>
          <a:noFill/>
        </p:spPr>
        <p:txBody>
          <a:bodyPr wrap="square" lIns="45720" tIns="45720" rIns="45720" bIns="45720" rtlCol="0" anchor="ctr"/>
          <a:lstStyle/>
          <a:p>
            <a:pPr marL="0" indent="0" algn="l">
              <a:buNone/>
            </a:pPr>
            <a:r>
              <a:rPr lang="en-US" sz="850" dirty="0">
                <a:solidFill>
                  <a:srgbClr val="6B7A8D"/>
                </a:solidFill>
                <a:latin typeface="Times New Roman" pitchFamily="34" charset="0"/>
              </a:rPr>
              <a:t>TTP expelled by army</a:t>
            </a:r>
            <a:endParaRPr lang="en-US" sz="850" dirty="0"/>
          </a:p>
        </p:txBody>
      </p:sp>
      <p:sp>
        <p:nvSpPr>
          <p:cNvPr id="77" name="TCap"/>
          <p:cNvSpPr/>
          <p:nvPr/>
        </p:nvSpPr>
        <p:spPr>
          <a:xfrm>
            <a:off x="5810720" y="4437720"/>
            <a:ext cx="3054680" cy="140000"/>
          </a:xfrm>
          <a:prstGeom prst="rect">
            <a:avLst/>
          </a:prstGeom>
          <a:noFill/>
        </p:spPr>
        <p:txBody>
          <a:bodyPr wrap="square" lIns="45720" tIns="45720" rIns="45720" bIns="45720" rtlCol="0" anchor="ctr"/>
          <a:lstStyle/>
          <a:p>
            <a:pPr marL="0" indent="0" algn="ctr">
              <a:buNone/>
            </a:pPr>
            <a:r>
              <a:rPr lang="en-US" sz="1050" i="1" dirty="0">
                <a:solidFill>
                  <a:srgbClr val="C9A84C"/>
                </a:solidFill>
                <a:latin typeface="Times New Roman" pitchFamily="34" charset="0"/>
              </a:rPr>
              <a:t>Support was conditional — not ideological</a:t>
            </a:r>
            <a:endParaRPr lang="en-US" sz="1050" dirty="0"/>
          </a:p>
        </p:txBody>
      </p:sp>
      <p:sp>
        <p:nvSpPr>
          <p:cNvPr id="9900" name="SlideNum_24"/>
          <p:cNvSpPr txBox="1"/>
          <p:nvPr/>
        </p:nvSpPr>
        <p:spPr>
          <a:xfrm>
            <a:off x="8229600" y="4953500"/>
            <a:ext cx="685800" cy="190000"/>
          </a:xfrm>
          <a:prstGeom prst="rect">
            <a:avLst/>
          </a:prstGeom>
          <a:noFill/>
        </p:spPr>
        <p:txBody>
          <a:bodyPr wrap="square" rtlCol="0"/>
          <a:lstStyle/>
          <a:p>
            <a:pPr algn="r"/>
            <a:r>
              <a:rPr lang="en-US" sz="1050" b="0" dirty="0">
                <a:solidFill>
                  <a:srgbClr val="1A4731"/>
                </a:solidFill>
              </a:rPr>
              <a:t>24 / 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256032"/>
            <a:ext cx="8686800" cy="640080"/>
          </a:xfrm>
          <a:prstGeom prst="rect">
            <a:avLst/>
          </a:prstGeom>
          <a:noFill/>
          <a:ln/>
        </p:spPr>
        <p:txBody>
          <a:bodyPr wrap="square" lIns="0" tIns="0" rIns="0" bIns="0" rtlCol="0" anchor="ctr"/>
          <a:lstStyle/>
          <a:p>
            <a:pPr marL="0" indent="0" algn="l">
              <a:buNone/>
            </a:pPr>
            <a:r>
              <a:rPr lang="en-US" sz="2200" b="1">
                <a:solidFill>
                  <a:srgbClr val="1A4731"/>
                </a:solidFill>
                <a:latin typeface="Times New Roman"/>
                <a:ea typeface="Times New Roman" pitchFamily="34" charset="-122"/>
                <a:cs typeface="Times New Roman"/>
              </a:rPr>
              <a:t>Concluding Assessment: Lieven's Predictions in 2026</a:t>
            </a:r>
            <a:endParaRPr lang="en-US" sz="2200" dirty="0">
              <a:latin typeface="Times New Roman"/>
              <a:ea typeface="Calibri" panose="020F0502020204030204"/>
              <a:cs typeface="Calibri" panose="020F0502020204030204"/>
            </a:endParaRPr>
          </a:p>
        </p:txBody>
      </p:sp>
      <p:sp>
        <p:nvSpPr>
          <p:cNvPr id="3" name="Shape 1"/>
          <p:cNvSpPr/>
          <p:nvPr/>
        </p:nvSpPr>
        <p:spPr>
          <a:xfrm>
            <a:off x="228600" y="960120"/>
            <a:ext cx="8686800" cy="36576"/>
          </a:xfrm>
          <a:prstGeom prst="rect">
            <a:avLst/>
          </a:prstGeom>
          <a:solidFill>
            <a:srgbClr val="C9A84C"/>
          </a:solidFill>
          <a:ln w="12700">
            <a:solidFill>
              <a:srgbClr val="C9A84C"/>
            </a:solidFill>
            <a:prstDash val="solid"/>
          </a:ln>
        </p:spPr>
      </p:sp>
      <p:sp>
        <p:nvSpPr>
          <p:cNvPr id="5" name="Text 3"/>
          <p:cNvSpPr/>
          <p:nvPr/>
        </p:nvSpPr>
        <p:spPr>
          <a:xfrm>
            <a:off x="274320" y="1051560"/>
            <a:ext cx="5349240" cy="3657600"/>
          </a:xfrm>
          <a:prstGeom prst="rect">
            <a:avLst/>
          </a:prstGeom>
          <a:noFill/>
          <a:ln/>
        </p:spPr>
        <p:txBody>
          <a:bodyPr wrap="square" lIns="91440" tIns="45720" rIns="91440" bIns="45720" rtlCol="0" anchor="t"/>
          <a:lstStyle/>
          <a:p>
            <a:pPr>
              <a:buSzPct val="100000"/>
            </a:pPr>
            <a:r>
              <a:rPr lang="en-US" sz="1600" b="1">
                <a:solidFill>
                  <a:srgbClr val="1A1A1A"/>
                </a:solidFill>
                <a:ea typeface="+mn-lt"/>
                <a:cs typeface="+mn-lt"/>
              </a:rPr>
              <a:t>The Limits of Force &amp; Verified Predictions</a:t>
            </a:r>
            <a:endParaRPr lang="en-US" sz="1600">
              <a:solidFill>
                <a:srgbClr val="000000"/>
              </a:solidFill>
              <a:latin typeface="Calibri"/>
              <a:ea typeface="Calibri"/>
              <a:cs typeface="Calibri"/>
            </a:endParaRPr>
          </a:p>
          <a:p>
            <a:pPr>
              <a:buFont typeface="Arial"/>
              <a:buChar char="•"/>
            </a:pPr>
            <a:r>
              <a:rPr lang="en-US" sz="1600" b="1" dirty="0">
                <a:solidFill>
                  <a:srgbClr val="1A1A1A"/>
                </a:solidFill>
                <a:ea typeface="+mn-lt"/>
                <a:cs typeface="+mn-lt"/>
              </a:rPr>
              <a:t>Governance Trumps Force:</a:t>
            </a:r>
            <a:r>
              <a:rPr lang="en-US" sz="1600" dirty="0">
                <a:solidFill>
                  <a:srgbClr val="1A1A1A"/>
                </a:solidFill>
                <a:ea typeface="+mn-lt"/>
                <a:cs typeface="+mn-lt"/>
              </a:rPr>
              <a:t> Military victories (like those in Swat or Waziristan) inevitably unravel if civilian administration fails to step in and govern effectively.</a:t>
            </a:r>
            <a:endParaRPr lang="en-US" sz="1600">
              <a:ea typeface="Calibri"/>
              <a:cs typeface="Calibri"/>
            </a:endParaRPr>
          </a:p>
          <a:p>
            <a:pPr>
              <a:buFont typeface="Arial"/>
              <a:buChar char="•"/>
            </a:pPr>
            <a:r>
              <a:rPr lang="en-US" sz="1600" b="1">
                <a:solidFill>
                  <a:srgbClr val="1A1A1A"/>
                </a:solidFill>
                <a:ea typeface="+mn-lt"/>
                <a:cs typeface="+mn-lt"/>
              </a:rPr>
              <a:t>Lieven’s Predictions Realized:</a:t>
            </a:r>
            <a:endParaRPr lang="en-US" sz="1600">
              <a:ea typeface="+mn-lt"/>
              <a:cs typeface="+mn-lt"/>
            </a:endParaRPr>
          </a:p>
          <a:p>
            <a:pPr lvl="1">
              <a:buFont typeface="Arial"/>
              <a:buChar char="•"/>
            </a:pPr>
            <a:r>
              <a:rPr lang="en-US" sz="1600" i="1">
                <a:solidFill>
                  <a:srgbClr val="1A1A1A"/>
                </a:solidFill>
                <a:ea typeface="+mn-lt"/>
                <a:cs typeface="+mn-lt"/>
              </a:rPr>
              <a:t>The Climate Crisis:</a:t>
            </a:r>
            <a:r>
              <a:rPr lang="en-US" sz="1600">
                <a:solidFill>
                  <a:srgbClr val="1A1A1A"/>
                </a:solidFill>
                <a:ea typeface="+mn-lt"/>
                <a:cs typeface="+mn-lt"/>
              </a:rPr>
              <a:t> The catastrophic 2022 floods exposed that feudal patronage systems are structurally incapable of effective disaster management.</a:t>
            </a:r>
            <a:endParaRPr lang="en-US" sz="1600">
              <a:ea typeface="Calibri"/>
              <a:cs typeface="Calibri"/>
            </a:endParaRPr>
          </a:p>
          <a:p>
            <a:pPr lvl="1">
              <a:buFont typeface="Arial"/>
              <a:buChar char="•"/>
            </a:pPr>
            <a:r>
              <a:rPr lang="en-US" sz="1600" i="1" dirty="0">
                <a:solidFill>
                  <a:srgbClr val="1A1A1A"/>
                </a:solidFill>
                <a:ea typeface="+mn-lt"/>
                <a:cs typeface="+mn-lt"/>
              </a:rPr>
              <a:t>Digital Mobilization vs. The State:</a:t>
            </a:r>
            <a:r>
              <a:rPr lang="en-US" sz="1600" dirty="0">
                <a:solidFill>
                  <a:srgbClr val="1A1A1A"/>
                </a:solidFill>
                <a:ea typeface="+mn-lt"/>
                <a:cs typeface="+mn-lt"/>
              </a:rPr>
              <a:t> PTI successfully used social media to bypass traditional political networks. However, the state's heavy-handed response (arrests, internet blackouts) proves the system will adapt to survive rather than actually reform.</a:t>
            </a:r>
            <a:endParaRPr lang="en-US" sz="1600">
              <a:ea typeface="Calibri"/>
              <a:cs typeface="Calibri"/>
            </a:endParaRPr>
          </a:p>
          <a:p>
            <a:pPr>
              <a:buFont typeface="Arial"/>
              <a:buChar char="•"/>
            </a:pPr>
            <a:r>
              <a:rPr lang="en-US" sz="1600" b="1" dirty="0">
                <a:solidFill>
                  <a:srgbClr val="1A1A1A"/>
                </a:solidFill>
                <a:ea typeface="+mn-lt"/>
                <a:cs typeface="+mn-lt"/>
              </a:rPr>
              <a:t>The Final Verdict:</a:t>
            </a:r>
            <a:r>
              <a:rPr lang="en-US" sz="1600" dirty="0">
                <a:solidFill>
                  <a:srgbClr val="1A1A1A"/>
                </a:solidFill>
                <a:ea typeface="+mn-lt"/>
                <a:cs typeface="+mn-lt"/>
              </a:rPr>
              <a:t> In 2026, Pakistan remains a "Hard Country"—infinitely harder to destroy than its enemies hope, yet far harder to reform than its citizens wish.</a:t>
            </a:r>
            <a:endParaRPr lang="en-US" sz="1600">
              <a:ea typeface="Calibri"/>
              <a:cs typeface="Calibri"/>
            </a:endParaRPr>
          </a:p>
          <a:p>
            <a:pPr marL="342900" indent="-342900">
              <a:spcAft>
                <a:spcPts val="600"/>
              </a:spcAft>
              <a:buSzPct val="100000"/>
              <a:buChar char="•"/>
            </a:pPr>
            <a:endParaRPr lang="en-US" sz="1600" b="1" dirty="0">
              <a:solidFill>
                <a:srgbClr val="1A1A1A"/>
              </a:solidFill>
              <a:latin typeface="Times New Roman"/>
              <a:cs typeface="Times New Roman"/>
            </a:endParaRPr>
          </a:p>
        </p:txBody>
      </p:sp>
      <p:sp>
        <p:nvSpPr>
          <p:cNvPr id="6" name="Shape 4"/>
          <p:cNvSpPr/>
          <p:nvPr/>
        </p:nvSpPr>
        <p:spPr>
          <a:xfrm>
            <a:off x="5760720" y="1051560"/>
            <a:ext cx="3154680" cy="3566160"/>
          </a:xfrm>
          <a:prstGeom prst="rect">
            <a:avLst/>
          </a:prstGeom>
          <a:solidFill>
            <a:srgbClr val="3D4A5C"/>
          </a:solidFill>
          <a:ln w="12700">
            <a:solidFill>
              <a:srgbClr val="6B7A8D"/>
            </a:solidFill>
            <a:prstDash val="solid"/>
          </a:ln>
        </p:spPr>
      </p:sp>
      <p:sp>
        <p:nvSpPr>
          <p:cNvPr id="50" name="STitle2"/>
          <p:cNvSpPr/>
          <p:nvPr/>
        </p:nvSpPr>
        <p:spPr>
          <a:xfrm>
            <a:off x="5810720" y="1131560"/>
            <a:ext cx="3054680" cy="200000"/>
          </a:xfrm>
          <a:prstGeom prst="rect">
            <a:avLst/>
          </a:prstGeom>
          <a:noFill/>
        </p:spPr>
        <p:txBody>
          <a:bodyPr wrap="square" lIns="45720" tIns="45720" rIns="45720" bIns="45720" rtlCol="0" anchor="ctr"/>
          <a:lstStyle/>
          <a:p>
            <a:pPr marL="0" indent="0" algn="ctr">
              <a:buNone/>
            </a:pPr>
            <a:r>
              <a:rPr lang="en-US" sz="1050" b="1" dirty="0">
                <a:solidFill>
                  <a:srgbClr val="C9A84C"/>
                </a:solidFill>
                <a:latin typeface="Times New Roman" pitchFamily="34" charset="0"/>
              </a:rPr>
              <a:t>Lieven's Two Predictions — Confirmed</a:t>
            </a:r>
            <a:endParaRPr lang="en-US" sz="1050" dirty="0"/>
          </a:p>
        </p:txBody>
      </p:sp>
      <p:sp>
        <p:nvSpPr>
          <p:cNvPr id="51" name="Flood"/>
          <p:cNvSpPr/>
          <p:nvPr/>
        </p:nvSpPr>
        <p:spPr>
          <a:xfrm>
            <a:off x="5810720" y="1371560"/>
            <a:ext cx="3054680" cy="1503080"/>
          </a:xfrm>
          <a:prstGeom prst="rect">
            <a:avLst/>
          </a:prstGeom>
          <a:solidFill>
            <a:srgbClr val="0A3050"/>
          </a:solidFill>
          <a:ln w="19050">
            <a:solidFill>
              <a:srgbClr val="C9A84C"/>
            </a:solidFill>
            <a:prstDash val="solid"/>
          </a:ln>
        </p:spPr>
      </p:sp>
      <p:sp>
        <p:nvSpPr>
          <p:cNvPr id="52" name="FloodIcon"/>
          <p:cNvSpPr/>
          <p:nvPr/>
        </p:nvSpPr>
        <p:spPr>
          <a:xfrm>
            <a:off x="5830720" y="1411560"/>
            <a:ext cx="300000" cy="300000"/>
          </a:xfrm>
          <a:prstGeom prst="rect">
            <a:avLst/>
          </a:prstGeom>
          <a:solidFill>
            <a:srgbClr val="0A5078"/>
          </a:solidFill>
          <a:ln w="19050">
            <a:solidFill>
              <a:srgbClr val="C9A84C"/>
            </a:solidFill>
            <a:prstDash val="solid"/>
          </a:ln>
        </p:spPr>
        <p:txBody>
          <a:bodyPr wrap="square" lIns="45720" tIns="45720" rIns="45720" bIns="45720" rtlCol="0" anchor="ctr"/>
          <a:lstStyle/>
          <a:p>
            <a:pPr marL="0" indent="0" algn="ctr">
              <a:buNone/>
            </a:pPr>
            <a:r>
              <a:rPr lang="en-US" sz="1800" dirty="0">
                <a:solidFill>
                  <a:srgbClr val="FFFFFF"/>
                </a:solidFill>
                <a:latin typeface="Times New Roman" pitchFamily="34" charset="0"/>
              </a:rPr>
              <a:t>≈</a:t>
            </a:r>
            <a:endParaRPr lang="en-US" sz="1800" dirty="0"/>
          </a:p>
        </p:txBody>
      </p:sp>
      <p:sp>
        <p:nvSpPr>
          <p:cNvPr id="53" name="FloodTitle"/>
          <p:cNvSpPr/>
          <p:nvPr/>
        </p:nvSpPr>
        <p:spPr>
          <a:xfrm>
            <a:off x="6170720" y="1411560"/>
            <a:ext cx="2654680" cy="200000"/>
          </a:xfrm>
          <a:prstGeom prst="rect">
            <a:avLst/>
          </a:prstGeom>
          <a:noFill/>
        </p:spPr>
        <p:txBody>
          <a:bodyPr wrap="square" lIns="45720" tIns="45720" rIns="45720" bIns="45720" rtlCol="0" anchor="ctr"/>
          <a:lstStyle/>
          <a:p>
            <a:pPr marL="0" indent="0" algn="l">
              <a:buNone/>
            </a:pPr>
            <a:r>
              <a:rPr lang="en-US" sz="1000" b="1" dirty="0">
                <a:solidFill>
                  <a:srgbClr val="C9A84C"/>
                </a:solidFill>
                <a:latin typeface="Times New Roman" pitchFamily="34" charset="0"/>
              </a:rPr>
              <a:t>2022 Floods: 1/3 of Pakistan Submerged</a:t>
            </a:r>
            <a:endParaRPr lang="en-US" sz="1000" dirty="0"/>
          </a:p>
        </p:txBody>
      </p:sp>
      <p:sp>
        <p:nvSpPr>
          <p:cNvPr id="54" name="FloodDetail"/>
          <p:cNvSpPr/>
          <p:nvPr/>
        </p:nvSpPr>
        <p:spPr>
          <a:xfrm>
            <a:off x="6074128" y="1953532"/>
            <a:ext cx="2654680" cy="350000"/>
          </a:xfrm>
          <a:prstGeom prst="rect">
            <a:avLst/>
          </a:prstGeom>
          <a:noFill/>
        </p:spPr>
        <p:txBody>
          <a:bodyPr wrap="square" lIns="45720" tIns="45720" rIns="45720" bIns="45720" rtlCol="0" anchor="t"/>
          <a:lstStyle/>
          <a:p>
            <a:pPr marL="0" indent="0" algn="l">
              <a:buNone/>
            </a:pPr>
            <a:r>
              <a:rPr lang="en-US" sz="900" dirty="0">
                <a:solidFill>
                  <a:srgbClr val="FFFFFF"/>
                </a:solidFill>
                <a:latin typeface="Times New Roman" pitchFamily="34" charset="0"/>
              </a:rPr>
              <a:t>Feudal &amp; patronage structures prevented effective disaster response — confirming Lieven's prediction</a:t>
            </a:r>
            <a:endParaRPr lang="en-US" sz="900" dirty="0"/>
          </a:p>
        </p:txBody>
      </p:sp>
      <p:sp>
        <p:nvSpPr>
          <p:cNvPr id="55" name="FloodVerif"/>
          <p:cNvSpPr/>
          <p:nvPr/>
        </p:nvSpPr>
        <p:spPr>
          <a:xfrm>
            <a:off x="6853837" y="1612794"/>
            <a:ext cx="1080041" cy="336837"/>
          </a:xfrm>
          <a:prstGeom prst="rect">
            <a:avLst/>
          </a:prstGeom>
          <a:solidFill>
            <a:srgbClr val="1A4731"/>
          </a:solidFill>
          <a:ln w="12700">
            <a:solidFill>
              <a:srgbClr val="C9A84C"/>
            </a:solidFill>
            <a:prstDash val="solid"/>
          </a:ln>
        </p:spPr>
        <p:txBody>
          <a:bodyPr wrap="square" lIns="45720" tIns="45720" rIns="45720" bIns="45720" rtlCol="0" anchor="ctr"/>
          <a:lstStyle/>
          <a:p>
            <a:pPr marL="0" indent="0" algn="ctr">
              <a:buNone/>
            </a:pPr>
            <a:r>
              <a:rPr lang="en-US" sz="900" b="1">
                <a:solidFill>
                  <a:srgbClr val="FFFFFF"/>
                </a:solidFill>
                <a:latin typeface="Times New Roman"/>
                <a:cs typeface="Times New Roman"/>
              </a:rPr>
              <a:t>✔VERIFIED</a:t>
            </a:r>
            <a:endParaRPr lang="en-US" sz="900">
              <a:latin typeface="Times New Roman"/>
              <a:cs typeface="Times New Roman"/>
            </a:endParaRPr>
          </a:p>
        </p:txBody>
      </p:sp>
      <p:sp>
        <p:nvSpPr>
          <p:cNvPr id="56" name="Divider"/>
          <p:cNvSpPr/>
          <p:nvPr/>
        </p:nvSpPr>
        <p:spPr>
          <a:xfrm>
            <a:off x="5810720" y="2904640"/>
            <a:ext cx="3054680" cy="40000"/>
          </a:xfrm>
          <a:prstGeom prst="rect">
            <a:avLst/>
          </a:prstGeom>
          <a:solidFill>
            <a:srgbClr val="C9A84C"/>
          </a:solidFill>
        </p:spPr>
      </p:sp>
      <p:sp>
        <p:nvSpPr>
          <p:cNvPr id="57" name="PTI"/>
          <p:cNvSpPr/>
          <p:nvPr/>
        </p:nvSpPr>
        <p:spPr>
          <a:xfrm>
            <a:off x="5810720" y="2964640"/>
            <a:ext cx="3054680" cy="1503080"/>
          </a:xfrm>
          <a:prstGeom prst="rect">
            <a:avLst/>
          </a:prstGeom>
          <a:solidFill>
            <a:srgbClr val="1A1A3A"/>
          </a:solidFill>
          <a:ln w="19050">
            <a:solidFill>
              <a:srgbClr val="C9A84C"/>
            </a:solidFill>
            <a:prstDash val="solid"/>
          </a:ln>
        </p:spPr>
      </p:sp>
      <p:sp>
        <p:nvSpPr>
          <p:cNvPr id="58" name="PTIIcon"/>
          <p:cNvSpPr/>
          <p:nvPr/>
        </p:nvSpPr>
        <p:spPr>
          <a:xfrm>
            <a:off x="5830720" y="3004640"/>
            <a:ext cx="300000" cy="300000"/>
          </a:xfrm>
          <a:prstGeom prst="rect">
            <a:avLst/>
          </a:prstGeom>
          <a:solidFill>
            <a:srgbClr val="2A2A5A"/>
          </a:solidFill>
          <a:ln w="19050">
            <a:solidFill>
              <a:srgbClr val="C9A84C"/>
            </a:solidFill>
            <a:prstDash val="solid"/>
          </a:ln>
        </p:spPr>
        <p:txBody>
          <a:bodyPr wrap="square" lIns="45720" tIns="45720" rIns="45720" bIns="45720" rtlCol="0" anchor="ctr"/>
          <a:lstStyle/>
          <a:p>
            <a:pPr marL="0" indent="0" algn="ctr">
              <a:buNone/>
            </a:pPr>
            <a:r>
              <a:rPr lang="en-US" sz="1800" dirty="0">
                <a:solidFill>
                  <a:srgbClr val="FFFFFF"/>
                </a:solidFill>
                <a:latin typeface="Times New Roman" pitchFamily="34" charset="0"/>
              </a:rPr>
              <a:t>■</a:t>
            </a:r>
            <a:endParaRPr lang="en-US" sz="1800" dirty="0"/>
          </a:p>
        </p:txBody>
      </p:sp>
      <p:sp>
        <p:nvSpPr>
          <p:cNvPr id="59" name="PTITitle"/>
          <p:cNvSpPr/>
          <p:nvPr/>
        </p:nvSpPr>
        <p:spPr>
          <a:xfrm>
            <a:off x="6170720" y="3004640"/>
            <a:ext cx="2654680" cy="200000"/>
          </a:xfrm>
          <a:prstGeom prst="rect">
            <a:avLst/>
          </a:prstGeom>
          <a:noFill/>
        </p:spPr>
        <p:txBody>
          <a:bodyPr wrap="square" lIns="45720" tIns="45720" rIns="45720" bIns="45720" rtlCol="0" anchor="ctr"/>
          <a:lstStyle/>
          <a:p>
            <a:pPr marL="0" indent="0" algn="l">
              <a:buNone/>
            </a:pPr>
            <a:r>
              <a:rPr lang="en-US" sz="1000" b="1" dirty="0">
                <a:solidFill>
                  <a:srgbClr val="C9A84C"/>
                </a:solidFill>
                <a:latin typeface="Times New Roman" pitchFamily="34" charset="0"/>
              </a:rPr>
              <a:t>PTI / Social Media: Urban Mobilization</a:t>
            </a:r>
            <a:endParaRPr lang="en-US" sz="1000" dirty="0"/>
          </a:p>
        </p:txBody>
      </p:sp>
      <p:sp>
        <p:nvSpPr>
          <p:cNvPr id="60" name="PTIDetail"/>
          <p:cNvSpPr/>
          <p:nvPr/>
        </p:nvSpPr>
        <p:spPr>
          <a:xfrm>
            <a:off x="6074128" y="3611006"/>
            <a:ext cx="2654680" cy="350000"/>
          </a:xfrm>
          <a:prstGeom prst="rect">
            <a:avLst/>
          </a:prstGeom>
          <a:noFill/>
        </p:spPr>
        <p:txBody>
          <a:bodyPr wrap="square" lIns="45720" tIns="45720" rIns="45720" bIns="45720" rtlCol="0" anchor="t"/>
          <a:lstStyle/>
          <a:p>
            <a:pPr marL="0" indent="0" algn="l">
              <a:buNone/>
            </a:pPr>
            <a:r>
              <a:rPr lang="en-US" sz="900" dirty="0">
                <a:solidFill>
                  <a:srgbClr val="FFFFFF"/>
                </a:solidFill>
                <a:latin typeface="Times New Roman" pitchFamily="34" charset="0"/>
              </a:rPr>
              <a:t>Middle class bypasses patronage via social media. State responds with internet shutdowns — adapts, does not reform.</a:t>
            </a:r>
            <a:endParaRPr lang="en-US" sz="900" dirty="0"/>
          </a:p>
        </p:txBody>
      </p:sp>
      <p:sp>
        <p:nvSpPr>
          <p:cNvPr id="61" name="PTIVerif"/>
          <p:cNvSpPr/>
          <p:nvPr/>
        </p:nvSpPr>
        <p:spPr>
          <a:xfrm>
            <a:off x="6853837" y="3310513"/>
            <a:ext cx="1080041" cy="296591"/>
          </a:xfrm>
          <a:prstGeom prst="rect">
            <a:avLst/>
          </a:prstGeom>
          <a:solidFill>
            <a:srgbClr val="1A4731"/>
          </a:solidFill>
          <a:ln w="12700">
            <a:solidFill>
              <a:srgbClr val="C9A84C"/>
            </a:solidFill>
            <a:prstDash val="solid"/>
          </a:ln>
        </p:spPr>
        <p:txBody>
          <a:bodyPr wrap="square" lIns="45720" tIns="45720" rIns="45720" bIns="45720" rtlCol="0" anchor="ctr"/>
          <a:lstStyle/>
          <a:p>
            <a:pPr marL="0" indent="0" algn="ctr">
              <a:buNone/>
            </a:pPr>
            <a:r>
              <a:rPr lang="en-US" sz="900" b="1">
                <a:solidFill>
                  <a:srgbClr val="FFFFFF"/>
                </a:solidFill>
                <a:latin typeface="Times New Roman"/>
                <a:cs typeface="Times New Roman"/>
              </a:rPr>
              <a:t>✔VERIFIED</a:t>
            </a:r>
            <a:endParaRPr lang="en-US" sz="900" dirty="0">
              <a:latin typeface="Calibri" panose="020F0502020204030204"/>
              <a:ea typeface="Calibri" panose="020F0502020204030204"/>
              <a:cs typeface="Calibri" panose="020F0502020204030204"/>
            </a:endParaRPr>
          </a:p>
        </p:txBody>
      </p:sp>
      <p:sp>
        <p:nvSpPr>
          <p:cNvPr id="62" name="FCap2"/>
          <p:cNvSpPr/>
          <p:nvPr/>
        </p:nvSpPr>
        <p:spPr>
          <a:xfrm>
            <a:off x="5810720" y="4417720"/>
            <a:ext cx="3054680" cy="160000"/>
          </a:xfrm>
          <a:prstGeom prst="rect">
            <a:avLst/>
          </a:prstGeom>
          <a:noFill/>
        </p:spPr>
        <p:txBody>
          <a:bodyPr wrap="square" lIns="45720" tIns="45720" rIns="45720" bIns="45720" rtlCol="0" anchor="ctr"/>
          <a:lstStyle/>
          <a:p>
            <a:pPr marL="0" indent="0" algn="ctr">
              <a:buNone/>
            </a:pPr>
            <a:r>
              <a:rPr lang="en-US" sz="900" i="1" dirty="0">
                <a:solidFill>
                  <a:srgbClr val="C9A84C"/>
                </a:solidFill>
                <a:latin typeface="Times New Roman" pitchFamily="34" charset="0"/>
              </a:rPr>
              <a:t>Water &amp; WiFi — Lieven's legacy confirmed</a:t>
            </a:r>
            <a:endParaRPr lang="en-US" sz="900" dirty="0"/>
          </a:p>
        </p:txBody>
      </p:sp>
      <p:sp>
        <p:nvSpPr>
          <p:cNvPr id="9900" name="SlideNum_25"/>
          <p:cNvSpPr txBox="1"/>
          <p:nvPr/>
        </p:nvSpPr>
        <p:spPr>
          <a:xfrm>
            <a:off x="8229600" y="4953500"/>
            <a:ext cx="685800" cy="190000"/>
          </a:xfrm>
          <a:prstGeom prst="rect">
            <a:avLst/>
          </a:prstGeom>
          <a:noFill/>
        </p:spPr>
        <p:txBody>
          <a:bodyPr wrap="square" rtlCol="0"/>
          <a:lstStyle/>
          <a:p>
            <a:pPr algn="r"/>
            <a:r>
              <a:rPr lang="en-US" sz="900" b="0" dirty="0">
                <a:solidFill>
                  <a:srgbClr val="1A4731"/>
                </a:solidFill>
              </a:rPr>
              <a:t>25 / 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w="12700">
            <a:solidFill>
              <a:srgbClr val="C9A84C"/>
            </a:solidFill>
            <a:prstDash val="solid"/>
          </a:ln>
        </p:spPr>
      </p:sp>
      <p:sp>
        <p:nvSpPr>
          <p:cNvPr id="3" name="Text 1"/>
          <p:cNvSpPr/>
          <p:nvPr/>
        </p:nvSpPr>
        <p:spPr>
          <a:xfrm>
            <a:off x="164592" y="1600000"/>
            <a:ext cx="8979408" cy="1100000"/>
          </a:xfrm>
          <a:prstGeom prst="rect">
            <a:avLst/>
          </a:prstGeom>
          <a:noFill/>
          <a:ln/>
        </p:spPr>
        <p:txBody>
          <a:bodyPr wrap="square" lIns="0" tIns="0" rIns="0" bIns="0" rtlCol="0" anchor="ctr"/>
          <a:lstStyle/>
          <a:p>
            <a:pPr marL="0" indent="0" algn="ctr">
              <a:buNone/>
            </a:pPr>
            <a:r>
              <a:rPr lang="en-US" sz="6400" b="1" kern="0" spc="1000" dirty="0">
                <a:solidFill>
                  <a:srgbClr val="C9A84C"/>
                </a:solidFill>
                <a:latin typeface="Times New Roman" pitchFamily="34" charset="0"/>
                <a:ea typeface="Times New Roman" pitchFamily="34" charset="-122"/>
                <a:cs typeface="Times New Roman" pitchFamily="34" charset="-120"/>
              </a:rPr>
              <a:t>THANK YOU</a:t>
            </a:r>
            <a:endParaRPr lang="en-US" sz="6400" dirty="0"/>
          </a:p>
        </p:txBody>
      </p:sp>
      <p:sp>
        <p:nvSpPr>
          <p:cNvPr id="10" name="Subtitle"/>
          <p:cNvSpPr/>
          <p:nvPr/>
        </p:nvSpPr>
        <p:spPr>
          <a:xfrm>
            <a:off x="164592" y="2900000"/>
            <a:ext cx="8979408" cy="457200"/>
          </a:xfrm>
          <a:prstGeom prst="rect">
            <a:avLst/>
          </a:prstGeom>
          <a:noFill/>
          <a:ln/>
        </p:spPr>
        <p:txBody>
          <a:bodyPr wrap="square" lIns="0" tIns="0" rIns="0" bIns="0" rtlCol="0" anchor="ctr"/>
          <a:lstStyle/>
          <a:p>
            <a:pPr marL="0" indent="0" algn="ctr">
              <a:buNone/>
            </a:pPr>
            <a:r>
              <a:rPr lang="en-US" sz="1800" i="1" dirty="0">
                <a:solidFill>
                  <a:srgbClr val="F8F4EC"/>
                </a:solidFill>
                <a:latin typeface="Times New Roman" pitchFamily="34" charset="0"/>
              </a:rPr>
              <a:t>Pakistan: A Hard Country  |  Anatol Lieven  |  Critical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Pakistan: A Hard Country — Anatol Lieven</dc:title>
  <dc:subject>PptxGenJS Presentation</dc:subject>
  <dc:creator>PptxGenJS</dc:creator>
  <cp:lastModifiedBy>Ibrahim Sanwal</cp:lastModifiedBy>
  <cp:revision>187</cp:revision>
  <dcterms:created xsi:type="dcterms:W3CDTF">2026-05-07T21:27:48Z</dcterms:created>
  <dcterms:modified xsi:type="dcterms:W3CDTF">2026-05-08T06:30:57Z</dcterms:modified>
</cp:coreProperties>
</file>