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305" r:id="rId5"/>
    <p:sldId id="313" r:id="rId6"/>
    <p:sldId id="306" r:id="rId7"/>
    <p:sldId id="307" r:id="rId8"/>
    <p:sldId id="314" r:id="rId9"/>
    <p:sldId id="315" r:id="rId10"/>
    <p:sldId id="308" r:id="rId11"/>
    <p:sldId id="309" r:id="rId12"/>
    <p:sldId id="316" r:id="rId13"/>
    <p:sldId id="310" r:id="rId14"/>
    <p:sldId id="311" r:id="rId15"/>
    <p:sldId id="317" r:id="rId16"/>
    <p:sldId id="312" r:id="rId17"/>
    <p:sldId id="318" r:id="rId18"/>
    <p:sldId id="260" r:id="rId19"/>
    <p:sldId id="281" r:id="rId20"/>
    <p:sldId id="282" r:id="rId21"/>
    <p:sldId id="283" r:id="rId22"/>
    <p:sldId id="284" r:id="rId23"/>
    <p:sldId id="319" r:id="rId24"/>
    <p:sldId id="285" r:id="rId25"/>
    <p:sldId id="286" r:id="rId26"/>
    <p:sldId id="320" r:id="rId27"/>
    <p:sldId id="324" r:id="rId28"/>
    <p:sldId id="288" r:id="rId29"/>
    <p:sldId id="289" r:id="rId30"/>
    <p:sldId id="321" r:id="rId31"/>
    <p:sldId id="290" r:id="rId32"/>
    <p:sldId id="291" r:id="rId33"/>
    <p:sldId id="322" r:id="rId34"/>
    <p:sldId id="292" r:id="rId35"/>
    <p:sldId id="293" r:id="rId36"/>
    <p:sldId id="323" r:id="rId37"/>
    <p:sldId id="294" r:id="rId38"/>
    <p:sldId id="295" r:id="rId39"/>
    <p:sldId id="298" r:id="rId40"/>
    <p:sldId id="300" r:id="rId41"/>
    <p:sldId id="301"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140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Today’s class is intentionally detailed. Students were confused previously, so we will use full company use cases, draw diagrams on the board, and clearly identify why one data structure is correct and others are wrong.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flexibility.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students to trace condition.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Programming for Business</a:t>
            </a:r>
          </a:p>
        </p:txBody>
      </p:sp>
      <p:sp>
        <p:nvSpPr>
          <p:cNvPr id="3" name="Subtitle 2"/>
          <p:cNvSpPr>
            <a:spLocks noGrp="1"/>
          </p:cNvSpPr>
          <p:nvPr>
            <p:ph type="subTitle" idx="1"/>
          </p:nvPr>
        </p:nvSpPr>
        <p:spPr/>
        <p:txBody>
          <a:bodyPr>
            <a:normAutofit fontScale="92500"/>
          </a:bodyPr>
          <a:lstStyle/>
          <a:p>
            <a:r>
              <a:t>Session 7–8 (LO3)</a:t>
            </a:r>
          </a:p>
          <a:p>
            <a:r>
              <a:t>Dictionaries, Sets &amp; Decision Structures</a:t>
            </a:r>
          </a:p>
          <a:p>
            <a:r>
              <a:t>FAST–NUCES | Semester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Outcomes</a:t>
            </a:r>
          </a:p>
        </p:txBody>
      </p:sp>
      <p:sp>
        <p:nvSpPr>
          <p:cNvPr id="3" name="Content Placeholder 2"/>
          <p:cNvSpPr>
            <a:spLocks noGrp="1"/>
          </p:cNvSpPr>
          <p:nvPr>
            <p:ph idx="1"/>
          </p:nvPr>
        </p:nvSpPr>
        <p:spPr/>
        <p:txBody>
          <a:bodyPr/>
          <a:lstStyle/>
          <a:p>
            <a:r>
              <a:rPr dirty="0"/>
              <a:t>After this class, students will be able to:</a:t>
            </a:r>
          </a:p>
          <a:p>
            <a:r>
              <a:rPr dirty="0"/>
              <a:t>Clearly explain tuples, lists, sets, and dictionaries</a:t>
            </a:r>
          </a:p>
          <a:p>
            <a:r>
              <a:rPr dirty="0"/>
              <a:t>Choose the correct data structure for a company scenario</a:t>
            </a:r>
          </a:p>
          <a:p>
            <a:r>
              <a:rPr dirty="0"/>
              <a:t>Apply decision structures using if and if-else</a:t>
            </a:r>
          </a:p>
          <a:p>
            <a:r>
              <a:rPr dirty="0"/>
              <a:t>Explain Boolean logic using real business rules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a:t>
            </a:r>
            <a:endParaRPr dirty="0"/>
          </a:p>
        </p:txBody>
      </p:sp>
      <p:sp>
        <p:nvSpPr>
          <p:cNvPr id="3" name="Content Placeholder 2"/>
          <p:cNvSpPr>
            <a:spLocks noGrp="1"/>
          </p:cNvSpPr>
          <p:nvPr>
            <p:ph idx="1"/>
          </p:nvPr>
        </p:nvSpPr>
        <p:spPr/>
        <p:txBody>
          <a:bodyPr/>
          <a:lstStyle/>
          <a:p>
            <a:r>
              <a:rPr dirty="0"/>
              <a:t>Tuple vs List</a:t>
            </a:r>
          </a:p>
          <a:p>
            <a:r>
              <a:rPr dirty="0"/>
              <a:t>Set vs List</a:t>
            </a:r>
          </a:p>
          <a:p>
            <a:r>
              <a:rPr dirty="0"/>
              <a:t>Dictionary vs Set</a:t>
            </a:r>
          </a:p>
          <a:p>
            <a:pPr marL="0" indent="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0E4C6-7869-7C16-1690-04EFF4C0C09A}"/>
              </a:ext>
            </a:extLst>
          </p:cNvPr>
          <p:cNvSpPr>
            <a:spLocks noGrp="1"/>
          </p:cNvSpPr>
          <p:nvPr>
            <p:ph idx="1"/>
          </p:nvPr>
        </p:nvSpPr>
        <p:spPr>
          <a:xfrm>
            <a:off x="457200" y="410548"/>
            <a:ext cx="8052318" cy="5715616"/>
          </a:xfrm>
        </p:spPr>
        <p:txBody>
          <a:bodyPr>
            <a:normAutofit fontScale="77500" lnSpcReduction="20000"/>
          </a:bodyPr>
          <a:lstStyle/>
          <a:p>
            <a:pPr marL="0" indent="0">
              <a:buNone/>
            </a:pPr>
            <a:r>
              <a:rPr lang="en-GB" b="1" dirty="0"/>
              <a:t>Example 1: Invoice Record</a:t>
            </a:r>
          </a:p>
          <a:p>
            <a:r>
              <a:rPr lang="en-GB" b="1" dirty="0"/>
              <a:t>Scenario:</a:t>
            </a:r>
            <a:br>
              <a:rPr lang="en-GB" dirty="0"/>
            </a:br>
            <a:r>
              <a:rPr lang="en-GB" dirty="0"/>
              <a:t>A company generates an invoice after a customer pays.</a:t>
            </a:r>
          </a:p>
          <a:p>
            <a:r>
              <a:rPr lang="en-GB" b="1" dirty="0"/>
              <a:t>Data stored:</a:t>
            </a:r>
            <a:endParaRPr lang="en-GB" dirty="0"/>
          </a:p>
          <a:p>
            <a:pPr lvl="1"/>
            <a:r>
              <a:rPr lang="en-GB" dirty="0"/>
              <a:t>Invoice Number</a:t>
            </a:r>
          </a:p>
          <a:p>
            <a:pPr lvl="1"/>
            <a:r>
              <a:rPr lang="en-GB" dirty="0"/>
              <a:t>Invoice Date</a:t>
            </a:r>
          </a:p>
          <a:p>
            <a:pPr lvl="1"/>
            <a:r>
              <a:rPr lang="en-GB" dirty="0"/>
              <a:t>Total Amount</a:t>
            </a:r>
          </a:p>
          <a:p>
            <a:r>
              <a:rPr lang="en-GB" b="1" dirty="0"/>
              <a:t>Why Tuple?</a:t>
            </a:r>
            <a:endParaRPr lang="en-GB" dirty="0"/>
          </a:p>
          <a:p>
            <a:r>
              <a:rPr lang="en-GB" dirty="0"/>
              <a:t>Invoice is a </a:t>
            </a:r>
            <a:r>
              <a:rPr lang="en-GB" b="1" dirty="0"/>
              <a:t>legal document</a:t>
            </a:r>
            <a:endParaRPr lang="en-GB" dirty="0"/>
          </a:p>
          <a:p>
            <a:r>
              <a:rPr lang="en-GB" dirty="0"/>
              <a:t>Data </a:t>
            </a:r>
            <a:r>
              <a:rPr lang="en-GB" b="1" dirty="0"/>
              <a:t>must not change</a:t>
            </a:r>
            <a:r>
              <a:rPr lang="en-GB" dirty="0"/>
              <a:t> after generation</a:t>
            </a:r>
          </a:p>
          <a:p>
            <a:r>
              <a:rPr lang="en-GB" dirty="0"/>
              <a:t>Changing amount/date can cause </a:t>
            </a:r>
            <a:r>
              <a:rPr lang="en-GB" b="1" dirty="0"/>
              <a:t>fraud and audit issues</a:t>
            </a:r>
          </a:p>
          <a:p>
            <a:pPr marL="0" indent="0">
              <a:buNone/>
            </a:pPr>
            <a:endParaRPr lang="en-GB" dirty="0"/>
          </a:p>
          <a:p>
            <a:pPr marL="0" indent="0">
              <a:buNone/>
            </a:pPr>
            <a:r>
              <a:rPr lang="en-GB" b="1" dirty="0"/>
              <a:t> Explanation:</a:t>
            </a:r>
            <a:endParaRPr lang="en-GB" dirty="0"/>
          </a:p>
          <a:p>
            <a:pPr marL="0" indent="0">
              <a:buNone/>
            </a:pPr>
            <a:r>
              <a:rPr lang="en-GB" dirty="0"/>
              <a:t>“Once an invoice is issued, it becomes official. We should not allow anyone to change its values, so we use a tuple.”</a:t>
            </a:r>
          </a:p>
          <a:p>
            <a:endParaRPr lang="en-PK" dirty="0"/>
          </a:p>
        </p:txBody>
      </p:sp>
    </p:spTree>
    <p:extLst>
      <p:ext uri="{BB962C8B-B14F-4D97-AF65-F5344CB8AC3E}">
        <p14:creationId xmlns:p14="http://schemas.microsoft.com/office/powerpoint/2010/main" val="2649465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4EE74-EAED-3A46-E21E-44511CDD6247}"/>
              </a:ext>
            </a:extLst>
          </p:cNvPr>
          <p:cNvSpPr>
            <a:spLocks noGrp="1"/>
          </p:cNvSpPr>
          <p:nvPr>
            <p:ph type="title"/>
          </p:nvPr>
        </p:nvSpPr>
        <p:spPr/>
        <p:txBody>
          <a:bodyPr/>
          <a:lstStyle/>
          <a:p>
            <a:r>
              <a:rPr lang="en-PK" dirty="0"/>
              <a:t>Python Code for using Tuples</a:t>
            </a:r>
          </a:p>
        </p:txBody>
      </p:sp>
      <p:pic>
        <p:nvPicPr>
          <p:cNvPr id="4" name="Content Placeholder 3">
            <a:extLst>
              <a:ext uri="{FF2B5EF4-FFF2-40B4-BE49-F238E27FC236}">
                <a16:creationId xmlns:a16="http://schemas.microsoft.com/office/drawing/2014/main" id="{C4BA8A70-18E4-9167-A056-79D88D91E4E2}"/>
              </a:ext>
            </a:extLst>
          </p:cNvPr>
          <p:cNvPicPr>
            <a:picLocks noGrp="1" noChangeAspect="1"/>
          </p:cNvPicPr>
          <p:nvPr>
            <p:ph idx="1"/>
          </p:nvPr>
        </p:nvPicPr>
        <p:blipFill>
          <a:blip r:embed="rId2"/>
          <a:stretch>
            <a:fillRect/>
          </a:stretch>
        </p:blipFill>
        <p:spPr>
          <a:xfrm>
            <a:off x="1690322" y="1600200"/>
            <a:ext cx="5763356" cy="4525963"/>
          </a:xfrm>
          <a:prstGeom prst="rect">
            <a:avLst/>
          </a:prstGeom>
        </p:spPr>
      </p:pic>
    </p:spTree>
    <p:extLst>
      <p:ext uri="{BB962C8B-B14F-4D97-AF65-F5344CB8AC3E}">
        <p14:creationId xmlns:p14="http://schemas.microsoft.com/office/powerpoint/2010/main" val="3235714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4523C0-EC7B-06DE-63A5-233BF22F7A39}"/>
              </a:ext>
            </a:extLst>
          </p:cNvPr>
          <p:cNvSpPr>
            <a:spLocks noGrp="1"/>
          </p:cNvSpPr>
          <p:nvPr>
            <p:ph idx="1"/>
          </p:nvPr>
        </p:nvSpPr>
        <p:spPr>
          <a:xfrm>
            <a:off x="457200" y="363894"/>
            <a:ext cx="8686800" cy="5762270"/>
          </a:xfrm>
        </p:spPr>
        <p:txBody>
          <a:bodyPr>
            <a:normAutofit/>
          </a:bodyPr>
          <a:lstStyle/>
          <a:p>
            <a:pPr marL="0" indent="0">
              <a:buNone/>
            </a:pPr>
            <a:r>
              <a:rPr lang="en-GB" b="1" dirty="0"/>
              <a:t>Example 2: Bank Transaction Record</a:t>
            </a:r>
          </a:p>
          <a:p>
            <a:r>
              <a:rPr lang="en-GB" b="1" dirty="0"/>
              <a:t>Data stored:</a:t>
            </a:r>
            <a:endParaRPr lang="en-GB" dirty="0"/>
          </a:p>
          <a:p>
            <a:pPr lvl="1"/>
            <a:r>
              <a:rPr lang="en-GB" dirty="0"/>
              <a:t>Transaction ID</a:t>
            </a:r>
          </a:p>
          <a:p>
            <a:pPr lvl="1"/>
            <a:r>
              <a:rPr lang="en-GB" dirty="0"/>
              <a:t>Transaction Date</a:t>
            </a:r>
          </a:p>
          <a:p>
            <a:pPr lvl="1"/>
            <a:r>
              <a:rPr lang="en-GB" dirty="0"/>
              <a:t>Amount Transferred</a:t>
            </a:r>
          </a:p>
          <a:p>
            <a:r>
              <a:rPr lang="en-GB" b="1" dirty="0"/>
              <a:t>Why Tuple?</a:t>
            </a:r>
            <a:endParaRPr lang="en-GB" dirty="0"/>
          </a:p>
          <a:p>
            <a:pPr lvl="1"/>
            <a:r>
              <a:rPr lang="en-GB" dirty="0"/>
              <a:t>Bank records must remain </a:t>
            </a:r>
            <a:r>
              <a:rPr lang="en-GB" b="1" dirty="0"/>
              <a:t>unchanged</a:t>
            </a:r>
            <a:endParaRPr lang="en-GB" dirty="0"/>
          </a:p>
          <a:p>
            <a:pPr lvl="1"/>
            <a:r>
              <a:rPr lang="en-GB" dirty="0"/>
              <a:t>Editing transactions breaks </a:t>
            </a:r>
            <a:r>
              <a:rPr lang="en-GB" b="1" dirty="0"/>
              <a:t>trust and compliance</a:t>
            </a:r>
            <a:endParaRPr lang="en-GB" dirty="0"/>
          </a:p>
          <a:p>
            <a:endParaRPr lang="en-PK" dirty="0"/>
          </a:p>
        </p:txBody>
      </p:sp>
    </p:spTree>
    <p:extLst>
      <p:ext uri="{BB962C8B-B14F-4D97-AF65-F5344CB8AC3E}">
        <p14:creationId xmlns:p14="http://schemas.microsoft.com/office/powerpoint/2010/main" val="260117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236C74-79C9-1A50-3452-F31361A6C60C}"/>
              </a:ext>
            </a:extLst>
          </p:cNvPr>
          <p:cNvSpPr>
            <a:spLocks noGrp="1"/>
          </p:cNvSpPr>
          <p:nvPr>
            <p:ph idx="1"/>
          </p:nvPr>
        </p:nvSpPr>
        <p:spPr>
          <a:xfrm>
            <a:off x="457200" y="261258"/>
            <a:ext cx="8528180" cy="5864906"/>
          </a:xfrm>
        </p:spPr>
        <p:txBody>
          <a:bodyPr>
            <a:normAutofit fontScale="77500" lnSpcReduction="20000"/>
          </a:bodyPr>
          <a:lstStyle/>
          <a:p>
            <a:pPr marL="0" indent="0">
              <a:buNone/>
            </a:pPr>
            <a:r>
              <a:rPr lang="en-GB" b="1" dirty="0"/>
              <a:t>Example 1: Daily Sales of a Store</a:t>
            </a:r>
          </a:p>
          <a:p>
            <a:r>
              <a:rPr lang="en-GB" b="1" dirty="0"/>
              <a:t>Scenario:</a:t>
            </a:r>
            <a:br>
              <a:rPr lang="en-GB" dirty="0"/>
            </a:br>
            <a:r>
              <a:rPr lang="en-GB" dirty="0"/>
              <a:t>A shop records sales every day.</a:t>
            </a:r>
          </a:p>
          <a:p>
            <a:r>
              <a:rPr lang="en-GB" b="1" dirty="0"/>
              <a:t>Data stored:</a:t>
            </a:r>
            <a:endParaRPr lang="en-GB" dirty="0"/>
          </a:p>
          <a:p>
            <a:pPr lvl="1"/>
            <a:r>
              <a:rPr lang="en-GB" dirty="0"/>
              <a:t>Sales of Day 1</a:t>
            </a:r>
          </a:p>
          <a:p>
            <a:pPr lvl="1"/>
            <a:r>
              <a:rPr lang="en-GB" dirty="0"/>
              <a:t>Sales of Day 2</a:t>
            </a:r>
          </a:p>
          <a:p>
            <a:pPr lvl="1"/>
            <a:r>
              <a:rPr lang="en-GB" dirty="0"/>
              <a:t>Sales of Day 3</a:t>
            </a:r>
          </a:p>
          <a:p>
            <a:pPr marL="0" indent="0">
              <a:buNone/>
            </a:pPr>
            <a:endParaRPr lang="en-GB" dirty="0"/>
          </a:p>
          <a:p>
            <a:r>
              <a:rPr lang="en-GB" b="1" dirty="0"/>
              <a:t>Why List?</a:t>
            </a:r>
            <a:endParaRPr lang="en-GB" dirty="0"/>
          </a:p>
          <a:p>
            <a:pPr lvl="1"/>
            <a:r>
              <a:rPr lang="en-GB" dirty="0"/>
              <a:t>New values are </a:t>
            </a:r>
            <a:r>
              <a:rPr lang="en-GB" b="1" dirty="0"/>
              <a:t>added daily</a:t>
            </a:r>
            <a:endParaRPr lang="en-GB" dirty="0"/>
          </a:p>
          <a:p>
            <a:pPr lvl="1"/>
            <a:r>
              <a:rPr lang="en-GB" dirty="0"/>
              <a:t>Old values may be </a:t>
            </a:r>
            <a:r>
              <a:rPr lang="en-GB" b="1" dirty="0"/>
              <a:t>corrected</a:t>
            </a:r>
            <a:endParaRPr lang="en-GB" dirty="0"/>
          </a:p>
          <a:p>
            <a:pPr lvl="1"/>
            <a:r>
              <a:rPr lang="en-GB" dirty="0"/>
              <a:t>Data is </a:t>
            </a:r>
            <a:r>
              <a:rPr lang="en-GB" b="1" dirty="0"/>
              <a:t>dynamic</a:t>
            </a:r>
            <a:endParaRPr lang="en-GB" dirty="0"/>
          </a:p>
          <a:p>
            <a:pPr marL="0" indent="0">
              <a:buNone/>
            </a:pPr>
            <a:endParaRPr lang="en-GB" b="1" dirty="0"/>
          </a:p>
          <a:p>
            <a:pPr marL="0" indent="0">
              <a:buNone/>
            </a:pPr>
            <a:r>
              <a:rPr lang="en-GB" b="1" dirty="0"/>
              <a:t>Explanation:</a:t>
            </a:r>
            <a:endParaRPr lang="en-GB" dirty="0"/>
          </a:p>
          <a:p>
            <a:pPr marL="0" indent="0">
              <a:buNone/>
            </a:pPr>
            <a:r>
              <a:rPr lang="en-GB" dirty="0"/>
              <a:t>“Sales keep changing, so we need a structure that allows adding and updating values. That’s why we use a list.”</a:t>
            </a:r>
          </a:p>
          <a:p>
            <a:endParaRPr lang="en-PK" dirty="0"/>
          </a:p>
        </p:txBody>
      </p:sp>
    </p:spTree>
    <p:extLst>
      <p:ext uri="{BB962C8B-B14F-4D97-AF65-F5344CB8AC3E}">
        <p14:creationId xmlns:p14="http://schemas.microsoft.com/office/powerpoint/2010/main" val="1245170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DE912-7633-385E-FB21-D7C7F4604AB7}"/>
              </a:ext>
            </a:extLst>
          </p:cNvPr>
          <p:cNvSpPr>
            <a:spLocks noGrp="1"/>
          </p:cNvSpPr>
          <p:nvPr>
            <p:ph type="title"/>
          </p:nvPr>
        </p:nvSpPr>
        <p:spPr/>
        <p:txBody>
          <a:bodyPr/>
          <a:lstStyle/>
          <a:p>
            <a:r>
              <a:rPr lang="en-PK" dirty="0"/>
              <a:t>Python code for using Lists</a:t>
            </a:r>
          </a:p>
        </p:txBody>
      </p:sp>
      <p:pic>
        <p:nvPicPr>
          <p:cNvPr id="4" name="Content Placeholder 3">
            <a:extLst>
              <a:ext uri="{FF2B5EF4-FFF2-40B4-BE49-F238E27FC236}">
                <a16:creationId xmlns:a16="http://schemas.microsoft.com/office/drawing/2014/main" id="{CEC2E9E5-8BA9-DA71-83AE-1804AC60123D}"/>
              </a:ext>
            </a:extLst>
          </p:cNvPr>
          <p:cNvPicPr>
            <a:picLocks noGrp="1" noChangeAspect="1"/>
          </p:cNvPicPr>
          <p:nvPr>
            <p:ph idx="1"/>
          </p:nvPr>
        </p:nvPicPr>
        <p:blipFill>
          <a:blip r:embed="rId2"/>
          <a:stretch>
            <a:fillRect/>
          </a:stretch>
        </p:blipFill>
        <p:spPr>
          <a:xfrm>
            <a:off x="2183629" y="1600200"/>
            <a:ext cx="4776741" cy="4525963"/>
          </a:xfrm>
          <a:prstGeom prst="rect">
            <a:avLst/>
          </a:prstGeom>
        </p:spPr>
      </p:pic>
    </p:spTree>
    <p:extLst>
      <p:ext uri="{BB962C8B-B14F-4D97-AF65-F5344CB8AC3E}">
        <p14:creationId xmlns:p14="http://schemas.microsoft.com/office/powerpoint/2010/main" val="3853032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68985-3452-F701-D7BE-DA0AA8D6CE4A}"/>
              </a:ext>
            </a:extLst>
          </p:cNvPr>
          <p:cNvSpPr>
            <a:spLocks noGrp="1"/>
          </p:cNvSpPr>
          <p:nvPr>
            <p:ph type="title"/>
          </p:nvPr>
        </p:nvSpPr>
        <p:spPr/>
        <p:txBody>
          <a:bodyPr/>
          <a:lstStyle/>
          <a:p>
            <a:r>
              <a:rPr lang="en-PK" dirty="0"/>
              <a:t>Python code for using Lists</a:t>
            </a:r>
          </a:p>
        </p:txBody>
      </p:sp>
      <p:pic>
        <p:nvPicPr>
          <p:cNvPr id="4" name="Content Placeholder 3">
            <a:extLst>
              <a:ext uri="{FF2B5EF4-FFF2-40B4-BE49-F238E27FC236}">
                <a16:creationId xmlns:a16="http://schemas.microsoft.com/office/drawing/2014/main" id="{28FA44F2-204D-87A9-ACDF-B1CD573DFF4A}"/>
              </a:ext>
            </a:extLst>
          </p:cNvPr>
          <p:cNvPicPr>
            <a:picLocks noGrp="1" noChangeAspect="1"/>
          </p:cNvPicPr>
          <p:nvPr>
            <p:ph idx="1"/>
          </p:nvPr>
        </p:nvPicPr>
        <p:blipFill>
          <a:blip r:embed="rId2"/>
          <a:stretch>
            <a:fillRect/>
          </a:stretch>
        </p:blipFill>
        <p:spPr>
          <a:xfrm>
            <a:off x="2222692" y="1600200"/>
            <a:ext cx="4698615" cy="4525963"/>
          </a:xfrm>
          <a:prstGeom prst="rect">
            <a:avLst/>
          </a:prstGeom>
        </p:spPr>
      </p:pic>
    </p:spTree>
    <p:extLst>
      <p:ext uri="{BB962C8B-B14F-4D97-AF65-F5344CB8AC3E}">
        <p14:creationId xmlns:p14="http://schemas.microsoft.com/office/powerpoint/2010/main" val="197107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37CE08-1E21-CB96-53A6-FB437378133D}"/>
              </a:ext>
            </a:extLst>
          </p:cNvPr>
          <p:cNvSpPr>
            <a:spLocks noGrp="1"/>
          </p:cNvSpPr>
          <p:nvPr>
            <p:ph idx="1"/>
          </p:nvPr>
        </p:nvSpPr>
        <p:spPr>
          <a:xfrm>
            <a:off x="457200" y="457200"/>
            <a:ext cx="8528180" cy="5668963"/>
          </a:xfrm>
        </p:spPr>
        <p:txBody>
          <a:bodyPr>
            <a:normAutofit/>
          </a:bodyPr>
          <a:lstStyle/>
          <a:p>
            <a:pPr marL="0" indent="0">
              <a:buNone/>
            </a:pPr>
            <a:r>
              <a:rPr lang="en-GB" b="1" dirty="0"/>
              <a:t>Example 2: Monthly Expenses</a:t>
            </a:r>
          </a:p>
          <a:p>
            <a:r>
              <a:rPr lang="en-GB" b="1" dirty="0"/>
              <a:t>Data stored:</a:t>
            </a:r>
            <a:endParaRPr lang="en-GB" dirty="0"/>
          </a:p>
          <a:p>
            <a:pPr lvl="1"/>
            <a:r>
              <a:rPr lang="en-GB" dirty="0"/>
              <a:t>Rent</a:t>
            </a:r>
          </a:p>
          <a:p>
            <a:pPr lvl="1"/>
            <a:r>
              <a:rPr lang="en-GB" dirty="0"/>
              <a:t>Electricity bill</a:t>
            </a:r>
          </a:p>
          <a:p>
            <a:pPr lvl="1"/>
            <a:r>
              <a:rPr lang="en-GB" dirty="0"/>
              <a:t>Internet bill</a:t>
            </a:r>
          </a:p>
          <a:p>
            <a:pPr lvl="1"/>
            <a:r>
              <a:rPr lang="en-GB" dirty="0"/>
              <a:t>Miscellaneous expenses</a:t>
            </a:r>
          </a:p>
          <a:p>
            <a:r>
              <a:rPr lang="en-GB" b="1" dirty="0"/>
              <a:t>Why List?</a:t>
            </a:r>
            <a:endParaRPr lang="en-GB" dirty="0"/>
          </a:p>
          <a:p>
            <a:pPr lvl="1"/>
            <a:r>
              <a:rPr lang="en-GB" dirty="0"/>
              <a:t>Expenses can be updated</a:t>
            </a:r>
          </a:p>
          <a:p>
            <a:pPr lvl="1"/>
            <a:r>
              <a:rPr lang="en-GB" dirty="0"/>
              <a:t>New expense categories can be added</a:t>
            </a:r>
          </a:p>
          <a:p>
            <a:endParaRPr lang="en-PK" dirty="0"/>
          </a:p>
        </p:txBody>
      </p:sp>
    </p:spTree>
    <p:extLst>
      <p:ext uri="{BB962C8B-B14F-4D97-AF65-F5344CB8AC3E}">
        <p14:creationId xmlns:p14="http://schemas.microsoft.com/office/powerpoint/2010/main" val="2409414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AF6BE-C3E6-E1A1-B1CE-CA96B2103BDA}"/>
              </a:ext>
            </a:extLst>
          </p:cNvPr>
          <p:cNvSpPr>
            <a:spLocks noGrp="1"/>
          </p:cNvSpPr>
          <p:nvPr>
            <p:ph idx="1"/>
          </p:nvPr>
        </p:nvSpPr>
        <p:spPr>
          <a:xfrm>
            <a:off x="457200" y="382556"/>
            <a:ext cx="8444204" cy="6046236"/>
          </a:xfrm>
        </p:spPr>
        <p:txBody>
          <a:bodyPr>
            <a:normAutofit fontScale="92500" lnSpcReduction="20000"/>
          </a:bodyPr>
          <a:lstStyle/>
          <a:p>
            <a:pPr marL="0" indent="0">
              <a:buNone/>
            </a:pPr>
            <a:r>
              <a:rPr lang="en-GB" b="1" dirty="0"/>
              <a:t>Example 1: Unique Customers Visiting a Store</a:t>
            </a:r>
          </a:p>
          <a:p>
            <a:r>
              <a:rPr lang="en-GB" b="1" dirty="0"/>
              <a:t>Scenario:</a:t>
            </a:r>
            <a:br>
              <a:rPr lang="en-GB" dirty="0"/>
            </a:br>
            <a:r>
              <a:rPr lang="en-GB" dirty="0"/>
              <a:t>A company wants to know </a:t>
            </a:r>
            <a:r>
              <a:rPr lang="en-GB" b="1" dirty="0"/>
              <a:t>how many different customers</a:t>
            </a:r>
            <a:r>
              <a:rPr lang="en-GB" dirty="0"/>
              <a:t> visited today.</a:t>
            </a:r>
          </a:p>
          <a:p>
            <a:r>
              <a:rPr lang="en-GB" b="1" dirty="0"/>
              <a:t>Data situation:</a:t>
            </a:r>
            <a:endParaRPr lang="en-GB" dirty="0"/>
          </a:p>
          <a:p>
            <a:pPr lvl="1"/>
            <a:r>
              <a:rPr lang="en-GB" dirty="0"/>
              <a:t>Same customer may visit multiple times</a:t>
            </a:r>
          </a:p>
          <a:p>
            <a:r>
              <a:rPr lang="en-GB" b="1" dirty="0"/>
              <a:t>Why Set?</a:t>
            </a:r>
            <a:endParaRPr lang="en-GB" dirty="0"/>
          </a:p>
          <a:p>
            <a:pPr lvl="1"/>
            <a:r>
              <a:rPr lang="en-GB" dirty="0"/>
              <a:t>Set automatically removes duplicates</a:t>
            </a:r>
          </a:p>
          <a:p>
            <a:pPr lvl="1"/>
            <a:r>
              <a:rPr lang="en-GB" dirty="0"/>
              <a:t>Each customer counted </a:t>
            </a:r>
            <a:r>
              <a:rPr lang="en-GB" b="1" dirty="0"/>
              <a:t>only once</a:t>
            </a:r>
            <a:endParaRPr lang="en-GB" dirty="0"/>
          </a:p>
          <a:p>
            <a:endParaRPr lang="en-GB" b="1" dirty="0"/>
          </a:p>
          <a:p>
            <a:pPr marL="0" indent="0">
              <a:buNone/>
            </a:pPr>
            <a:r>
              <a:rPr lang="en-GB" b="1" dirty="0"/>
              <a:t>Explanation:</a:t>
            </a:r>
            <a:endParaRPr lang="en-GB" dirty="0"/>
          </a:p>
          <a:p>
            <a:pPr marL="0" indent="0">
              <a:buNone/>
            </a:pPr>
            <a:r>
              <a:rPr lang="en-GB" dirty="0"/>
              <a:t>“We want unique customers, not number of visits. A set gives us uniqueness.”</a:t>
            </a:r>
          </a:p>
          <a:p>
            <a:endParaRPr lang="en-PK" dirty="0"/>
          </a:p>
        </p:txBody>
      </p:sp>
    </p:spTree>
    <p:extLst>
      <p:ext uri="{BB962C8B-B14F-4D97-AF65-F5344CB8AC3E}">
        <p14:creationId xmlns:p14="http://schemas.microsoft.com/office/powerpoint/2010/main" val="1513819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21340F-73A2-B065-5D0A-5B96012F0FED}"/>
              </a:ext>
            </a:extLst>
          </p:cNvPr>
          <p:cNvPicPr>
            <a:picLocks noChangeAspect="1"/>
          </p:cNvPicPr>
          <p:nvPr/>
        </p:nvPicPr>
        <p:blipFill>
          <a:blip r:embed="rId2"/>
          <a:stretch>
            <a:fillRect/>
          </a:stretch>
        </p:blipFill>
        <p:spPr>
          <a:xfrm>
            <a:off x="685800" y="529674"/>
            <a:ext cx="7772400" cy="5798651"/>
          </a:xfrm>
          <a:prstGeom prst="rect">
            <a:avLst/>
          </a:prstGeom>
        </p:spPr>
      </p:pic>
    </p:spTree>
    <p:extLst>
      <p:ext uri="{BB962C8B-B14F-4D97-AF65-F5344CB8AC3E}">
        <p14:creationId xmlns:p14="http://schemas.microsoft.com/office/powerpoint/2010/main" val="3148086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B6AEF1-F1B9-8B06-AEE2-2B9F2E6CF064}"/>
              </a:ext>
            </a:extLst>
          </p:cNvPr>
          <p:cNvSpPr>
            <a:spLocks noGrp="1"/>
          </p:cNvSpPr>
          <p:nvPr>
            <p:ph idx="1"/>
          </p:nvPr>
        </p:nvSpPr>
        <p:spPr>
          <a:xfrm>
            <a:off x="457199" y="429208"/>
            <a:ext cx="8481528" cy="5971592"/>
          </a:xfrm>
        </p:spPr>
        <p:txBody>
          <a:bodyPr>
            <a:normAutofit/>
          </a:bodyPr>
          <a:lstStyle/>
          <a:p>
            <a:pPr marL="0" indent="0">
              <a:buNone/>
            </a:pPr>
            <a:r>
              <a:rPr lang="en-GB" b="1" dirty="0"/>
              <a:t>Example 2: Registered Email Addresses</a:t>
            </a:r>
          </a:p>
          <a:p>
            <a:r>
              <a:rPr lang="en-GB" b="1" dirty="0"/>
              <a:t>Why Set?</a:t>
            </a:r>
            <a:endParaRPr lang="en-GB" dirty="0"/>
          </a:p>
          <a:p>
            <a:pPr lvl="1"/>
            <a:r>
              <a:rPr lang="en-GB" dirty="0"/>
              <a:t>Email addresses must be unique</a:t>
            </a:r>
          </a:p>
          <a:p>
            <a:pPr lvl="1"/>
            <a:r>
              <a:rPr lang="en-GB" dirty="0"/>
              <a:t>Duplicate emails cause login and marketing issues</a:t>
            </a:r>
          </a:p>
          <a:p>
            <a:endParaRPr lang="en-PK" dirty="0"/>
          </a:p>
          <a:p>
            <a:r>
              <a:rPr lang="en-GB" b="1" dirty="0"/>
              <a:t>Why not List ?</a:t>
            </a:r>
          </a:p>
          <a:p>
            <a:r>
              <a:rPr lang="en-GB" b="1" dirty="0"/>
              <a:t>Problem with List:</a:t>
            </a:r>
            <a:endParaRPr lang="en-GB" dirty="0"/>
          </a:p>
          <a:p>
            <a:pPr lvl="1"/>
            <a:r>
              <a:rPr lang="en-GB" dirty="0"/>
              <a:t>Allows duplicate entries</a:t>
            </a:r>
          </a:p>
          <a:p>
            <a:pPr lvl="1"/>
            <a:r>
              <a:rPr lang="en-GB" dirty="0"/>
              <a:t>Same customer counted multiple times</a:t>
            </a:r>
          </a:p>
          <a:p>
            <a:pPr lvl="1"/>
            <a:r>
              <a:rPr lang="en-GB" dirty="0"/>
              <a:t>Leads to </a:t>
            </a:r>
            <a:r>
              <a:rPr lang="en-GB" b="1" dirty="0"/>
              <a:t>wrong marketing decisions</a:t>
            </a:r>
            <a:endParaRPr lang="en-GB" dirty="0"/>
          </a:p>
          <a:p>
            <a:endParaRPr lang="en-PK" dirty="0"/>
          </a:p>
        </p:txBody>
      </p:sp>
    </p:spTree>
    <p:extLst>
      <p:ext uri="{BB962C8B-B14F-4D97-AF65-F5344CB8AC3E}">
        <p14:creationId xmlns:p14="http://schemas.microsoft.com/office/powerpoint/2010/main" val="4273148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FEE275-4334-ECE5-491D-5722539368A5}"/>
              </a:ext>
            </a:extLst>
          </p:cNvPr>
          <p:cNvSpPr>
            <a:spLocks noGrp="1"/>
          </p:cNvSpPr>
          <p:nvPr>
            <p:ph idx="1"/>
          </p:nvPr>
        </p:nvSpPr>
        <p:spPr>
          <a:xfrm>
            <a:off x="457199" y="270588"/>
            <a:ext cx="8546841" cy="5855575"/>
          </a:xfrm>
        </p:spPr>
        <p:txBody>
          <a:bodyPr>
            <a:normAutofit fontScale="85000" lnSpcReduction="10000"/>
          </a:bodyPr>
          <a:lstStyle/>
          <a:p>
            <a:pPr marL="0" indent="0">
              <a:buNone/>
            </a:pPr>
            <a:r>
              <a:rPr lang="en-GB" b="1" dirty="0"/>
              <a:t>Example 1: Employee Salary System</a:t>
            </a:r>
          </a:p>
          <a:p>
            <a:r>
              <a:rPr lang="en-GB" b="1" dirty="0"/>
              <a:t>Scenario:</a:t>
            </a:r>
            <a:br>
              <a:rPr lang="en-GB" dirty="0"/>
            </a:br>
            <a:r>
              <a:rPr lang="en-GB" dirty="0"/>
              <a:t>Human Resources needs to store employee salaries.</a:t>
            </a:r>
          </a:p>
          <a:p>
            <a:r>
              <a:rPr lang="en-GB" b="1" dirty="0"/>
              <a:t>Data stored:</a:t>
            </a:r>
            <a:endParaRPr lang="en-GB" dirty="0"/>
          </a:p>
          <a:p>
            <a:pPr lvl="1"/>
            <a:r>
              <a:rPr lang="en-GB" dirty="0"/>
              <a:t>Employee ID → Salary</a:t>
            </a:r>
          </a:p>
          <a:p>
            <a:r>
              <a:rPr lang="en-GB" b="1" dirty="0"/>
              <a:t>Why Dictionary?</a:t>
            </a:r>
            <a:endParaRPr lang="en-GB" dirty="0"/>
          </a:p>
          <a:p>
            <a:pPr lvl="1"/>
            <a:r>
              <a:rPr lang="en-GB" dirty="0"/>
              <a:t>Employee ID is unique (key)</a:t>
            </a:r>
          </a:p>
          <a:p>
            <a:pPr lvl="1"/>
            <a:r>
              <a:rPr lang="en-GB" dirty="0"/>
              <a:t>Salary is linked to that ID (value)</a:t>
            </a:r>
          </a:p>
          <a:p>
            <a:pPr lvl="1"/>
            <a:r>
              <a:rPr lang="en-GB" dirty="0"/>
              <a:t>Fast and clear lookup</a:t>
            </a:r>
          </a:p>
          <a:p>
            <a:endParaRPr lang="en-GB" b="1" dirty="0"/>
          </a:p>
          <a:p>
            <a:pPr marL="0" indent="0">
              <a:buNone/>
            </a:pPr>
            <a:r>
              <a:rPr lang="en-GB" b="1" dirty="0"/>
              <a:t>Explanation:</a:t>
            </a:r>
            <a:endParaRPr lang="en-GB" dirty="0"/>
          </a:p>
          <a:p>
            <a:pPr marL="0" indent="0">
              <a:buNone/>
            </a:pPr>
            <a:r>
              <a:rPr lang="en-GB" dirty="0"/>
              <a:t>“If I know the employee ID, I should immediately get the salary. That’s exactly what a dictionary does.”</a:t>
            </a:r>
          </a:p>
          <a:p>
            <a:endParaRPr lang="en-PK" dirty="0"/>
          </a:p>
        </p:txBody>
      </p:sp>
    </p:spTree>
    <p:extLst>
      <p:ext uri="{BB962C8B-B14F-4D97-AF65-F5344CB8AC3E}">
        <p14:creationId xmlns:p14="http://schemas.microsoft.com/office/powerpoint/2010/main" val="1020188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63473E8-AF08-1C31-D7DB-0B48319CF074}"/>
              </a:ext>
            </a:extLst>
          </p:cNvPr>
          <p:cNvPicPr>
            <a:picLocks noGrp="1" noChangeAspect="1"/>
          </p:cNvPicPr>
          <p:nvPr>
            <p:ph idx="1"/>
          </p:nvPr>
        </p:nvPicPr>
        <p:blipFill>
          <a:blip r:embed="rId2"/>
          <a:stretch>
            <a:fillRect/>
          </a:stretch>
        </p:blipFill>
        <p:spPr>
          <a:xfrm>
            <a:off x="525318" y="550506"/>
            <a:ext cx="7763403" cy="5510343"/>
          </a:xfrm>
          <a:prstGeom prst="rect">
            <a:avLst/>
          </a:prstGeom>
        </p:spPr>
      </p:pic>
    </p:spTree>
    <p:extLst>
      <p:ext uri="{BB962C8B-B14F-4D97-AF65-F5344CB8AC3E}">
        <p14:creationId xmlns:p14="http://schemas.microsoft.com/office/powerpoint/2010/main" val="3555862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51D117-488D-5BF8-82BD-406016524FD5}"/>
              </a:ext>
            </a:extLst>
          </p:cNvPr>
          <p:cNvSpPr>
            <a:spLocks noGrp="1"/>
          </p:cNvSpPr>
          <p:nvPr>
            <p:ph idx="1"/>
          </p:nvPr>
        </p:nvSpPr>
        <p:spPr>
          <a:xfrm>
            <a:off x="457199" y="298580"/>
            <a:ext cx="8518849" cy="5827583"/>
          </a:xfrm>
        </p:spPr>
        <p:txBody>
          <a:bodyPr>
            <a:normAutofit lnSpcReduction="10000"/>
          </a:bodyPr>
          <a:lstStyle/>
          <a:p>
            <a:pPr marL="0" indent="0">
              <a:buNone/>
            </a:pPr>
            <a:r>
              <a:rPr lang="en-GB" b="1" dirty="0"/>
              <a:t>Example 2: Product Code → Price</a:t>
            </a:r>
          </a:p>
          <a:p>
            <a:r>
              <a:rPr lang="en-GB" b="1" dirty="0"/>
              <a:t>Scenario:</a:t>
            </a:r>
            <a:br>
              <a:rPr lang="en-GB" dirty="0"/>
            </a:br>
            <a:r>
              <a:rPr lang="en-GB" dirty="0"/>
              <a:t>Retail system stores product prices.</a:t>
            </a:r>
          </a:p>
          <a:p>
            <a:r>
              <a:rPr lang="en-GB" b="1" dirty="0"/>
              <a:t>Why Dictionary?</a:t>
            </a:r>
            <a:endParaRPr lang="en-GB" dirty="0"/>
          </a:p>
          <a:p>
            <a:pPr lvl="1"/>
            <a:r>
              <a:rPr lang="en-GB" dirty="0"/>
              <a:t>Product code identifies price</a:t>
            </a:r>
          </a:p>
          <a:p>
            <a:pPr lvl="1"/>
            <a:r>
              <a:rPr lang="en-GB" dirty="0"/>
              <a:t>Easy price update without confusion</a:t>
            </a:r>
          </a:p>
          <a:p>
            <a:pPr marL="0" indent="0">
              <a:buNone/>
            </a:pPr>
            <a:br>
              <a:rPr lang="en-GB" dirty="0"/>
            </a:br>
            <a:endParaRPr lang="en-GB" dirty="0"/>
          </a:p>
          <a:p>
            <a:r>
              <a:rPr lang="en-PK" b="1" dirty="0"/>
              <a:t>❌ </a:t>
            </a:r>
            <a:r>
              <a:rPr lang="en-GB" b="1" dirty="0"/>
              <a:t>Why List and Set FAIL Here</a:t>
            </a:r>
          </a:p>
          <a:p>
            <a:pPr marL="0" indent="0">
              <a:buNone/>
            </a:pPr>
            <a:r>
              <a:rPr lang="en-GB" b="1" dirty="0"/>
              <a:t>	List:</a:t>
            </a:r>
            <a:r>
              <a:rPr lang="en-GB" dirty="0"/>
              <a:t> No label, just values → confusing</a:t>
            </a:r>
          </a:p>
          <a:p>
            <a:pPr marL="0" indent="0">
              <a:buNone/>
            </a:pPr>
            <a:r>
              <a:rPr lang="en-GB" b="1" dirty="0"/>
              <a:t>	Set:</a:t>
            </a:r>
            <a:r>
              <a:rPr lang="en-GB" dirty="0"/>
              <a:t> Cannot store salary against ID</a:t>
            </a:r>
          </a:p>
          <a:p>
            <a:endParaRPr lang="en-PK" dirty="0"/>
          </a:p>
        </p:txBody>
      </p:sp>
    </p:spTree>
    <p:extLst>
      <p:ext uri="{BB962C8B-B14F-4D97-AF65-F5344CB8AC3E}">
        <p14:creationId xmlns:p14="http://schemas.microsoft.com/office/powerpoint/2010/main" val="1710352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44D4F0B-FE64-8066-4885-D03E7F112226}"/>
              </a:ext>
            </a:extLst>
          </p:cNvPr>
          <p:cNvPicPr>
            <a:picLocks noGrp="1" noChangeAspect="1"/>
          </p:cNvPicPr>
          <p:nvPr>
            <p:ph idx="1"/>
          </p:nvPr>
        </p:nvPicPr>
        <p:blipFill>
          <a:blip r:embed="rId2"/>
          <a:stretch>
            <a:fillRect/>
          </a:stretch>
        </p:blipFill>
        <p:spPr>
          <a:xfrm>
            <a:off x="1039171" y="391887"/>
            <a:ext cx="7065657" cy="5584987"/>
          </a:xfrm>
          <a:prstGeom prst="rect">
            <a:avLst/>
          </a:prstGeom>
        </p:spPr>
      </p:pic>
    </p:spTree>
    <p:extLst>
      <p:ext uri="{BB962C8B-B14F-4D97-AF65-F5344CB8AC3E}">
        <p14:creationId xmlns:p14="http://schemas.microsoft.com/office/powerpoint/2010/main" val="1915554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High-Level Comparison</a:t>
            </a:r>
          </a:p>
        </p:txBody>
      </p:sp>
      <p:sp>
        <p:nvSpPr>
          <p:cNvPr id="3" name="Content Placeholder 2"/>
          <p:cNvSpPr>
            <a:spLocks noGrp="1"/>
          </p:cNvSpPr>
          <p:nvPr>
            <p:ph idx="1"/>
          </p:nvPr>
        </p:nvSpPr>
        <p:spPr>
          <a:xfrm>
            <a:off x="391886" y="1576874"/>
            <a:ext cx="8294914" cy="4633264"/>
          </a:xfrm>
        </p:spPr>
        <p:txBody>
          <a:bodyPr>
            <a:normAutofit fontScale="70000" lnSpcReduction="20000"/>
          </a:bodyPr>
          <a:lstStyle/>
          <a:p>
            <a:r>
              <a:rPr dirty="0"/>
              <a:t>List:</a:t>
            </a:r>
          </a:p>
          <a:p>
            <a:pPr marL="0" indent="0">
              <a:buNone/>
            </a:pPr>
            <a:r>
              <a:rPr lang="en-US" dirty="0"/>
              <a:t>	</a:t>
            </a:r>
            <a:r>
              <a:rPr dirty="0"/>
              <a:t>Multiple values</a:t>
            </a:r>
          </a:p>
          <a:p>
            <a:pPr marL="0" indent="0">
              <a:buNone/>
            </a:pPr>
            <a:r>
              <a:rPr lang="en-US" dirty="0"/>
              <a:t>	</a:t>
            </a:r>
            <a:r>
              <a:rPr dirty="0"/>
              <a:t>Can change</a:t>
            </a:r>
          </a:p>
          <a:p>
            <a:endParaRPr dirty="0"/>
          </a:p>
          <a:p>
            <a:r>
              <a:rPr dirty="0"/>
              <a:t>Tuple:</a:t>
            </a:r>
          </a:p>
          <a:p>
            <a:pPr marL="0" indent="0">
              <a:buNone/>
            </a:pPr>
            <a:r>
              <a:rPr lang="en-US" dirty="0"/>
              <a:t>	</a:t>
            </a:r>
            <a:r>
              <a:rPr dirty="0"/>
              <a:t>Multiple values</a:t>
            </a:r>
          </a:p>
          <a:p>
            <a:pPr marL="0" indent="0">
              <a:buNone/>
            </a:pPr>
            <a:r>
              <a:rPr lang="en-US" dirty="0"/>
              <a:t>	</a:t>
            </a:r>
            <a:r>
              <a:rPr dirty="0"/>
              <a:t>Cannot change</a:t>
            </a:r>
          </a:p>
          <a:p>
            <a:endParaRPr dirty="0"/>
          </a:p>
          <a:p>
            <a:r>
              <a:rPr dirty="0"/>
              <a:t>Set:</a:t>
            </a:r>
          </a:p>
          <a:p>
            <a:pPr marL="0" indent="0">
              <a:buNone/>
            </a:pPr>
            <a:r>
              <a:rPr lang="en-US" dirty="0"/>
              <a:t>	</a:t>
            </a:r>
            <a:r>
              <a:rPr dirty="0"/>
              <a:t>Unique values only</a:t>
            </a:r>
          </a:p>
          <a:p>
            <a:endParaRPr dirty="0"/>
          </a:p>
          <a:p>
            <a:r>
              <a:rPr dirty="0"/>
              <a:t>Dictionary:</a:t>
            </a:r>
          </a:p>
          <a:p>
            <a:pPr marL="0" indent="0">
              <a:buNone/>
            </a:pPr>
            <a:r>
              <a:rPr lang="en-US" dirty="0"/>
              <a:t>	</a:t>
            </a:r>
            <a:r>
              <a:rPr dirty="0"/>
              <a:t>Key → Value mapping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Decision Making in Programs</a:t>
            </a:r>
          </a:p>
        </p:txBody>
      </p:sp>
      <p:sp>
        <p:nvSpPr>
          <p:cNvPr id="3" name="Content Placeholder 2"/>
          <p:cNvSpPr>
            <a:spLocks noGrp="1"/>
          </p:cNvSpPr>
          <p:nvPr>
            <p:ph idx="1"/>
          </p:nvPr>
        </p:nvSpPr>
        <p:spPr/>
        <p:txBody>
          <a:bodyPr/>
          <a:lstStyle/>
          <a:p>
            <a:r>
              <a:rPr dirty="0"/>
              <a:t>Decision structures allow programs to behave differently</a:t>
            </a:r>
            <a:r>
              <a:rPr lang="en-US" dirty="0"/>
              <a:t> </a:t>
            </a:r>
            <a:r>
              <a:rPr dirty="0"/>
              <a:t>based on conditions.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Company Use Case: Loan Approval</a:t>
            </a:r>
          </a:p>
        </p:txBody>
      </p:sp>
      <p:sp>
        <p:nvSpPr>
          <p:cNvPr id="3" name="Content Placeholder 2"/>
          <p:cNvSpPr>
            <a:spLocks noGrp="1"/>
          </p:cNvSpPr>
          <p:nvPr>
            <p:ph idx="1"/>
          </p:nvPr>
        </p:nvSpPr>
        <p:spPr/>
        <p:txBody>
          <a:bodyPr/>
          <a:lstStyle/>
          <a:p>
            <a:r>
              <a:t>If customer income is sufficient → approve loan</a:t>
            </a:r>
          </a:p>
          <a:p>
            <a:r>
              <a:t>Else → reject loan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if Statement – Explained</a:t>
            </a:r>
          </a:p>
        </p:txBody>
      </p:sp>
      <p:sp>
        <p:nvSpPr>
          <p:cNvPr id="3" name="Content Placeholder 2"/>
          <p:cNvSpPr>
            <a:spLocks noGrp="1"/>
          </p:cNvSpPr>
          <p:nvPr>
            <p:ph idx="1"/>
          </p:nvPr>
        </p:nvSpPr>
        <p:spPr/>
        <p:txBody>
          <a:bodyPr/>
          <a:lstStyle/>
          <a:p>
            <a:r>
              <a:t>An if statement executes logic only when condition is 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if Example – Business</a:t>
            </a:r>
          </a:p>
        </p:txBody>
      </p:sp>
      <p:sp>
        <p:nvSpPr>
          <p:cNvPr id="3" name="Content Placeholder 2"/>
          <p:cNvSpPr>
            <a:spLocks noGrp="1"/>
          </p:cNvSpPr>
          <p:nvPr>
            <p:ph idx="1"/>
          </p:nvPr>
        </p:nvSpPr>
        <p:spPr/>
        <p:txBody>
          <a:bodyPr/>
          <a:lstStyle/>
          <a:p>
            <a:r>
              <a:rPr dirty="0"/>
              <a:t>If purchase amount &gt; 50,000</a:t>
            </a:r>
          </a:p>
          <a:p>
            <a:r>
              <a:rPr dirty="0"/>
              <a:t>Apply discount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C5254B-6A77-4C8A-EE21-7F6330390030}"/>
              </a:ext>
            </a:extLst>
          </p:cNvPr>
          <p:cNvPicPr>
            <a:picLocks noChangeAspect="1"/>
          </p:cNvPicPr>
          <p:nvPr/>
        </p:nvPicPr>
        <p:blipFill>
          <a:blip r:embed="rId2"/>
          <a:stretch>
            <a:fillRect/>
          </a:stretch>
        </p:blipFill>
        <p:spPr>
          <a:xfrm>
            <a:off x="1327149" y="531845"/>
            <a:ext cx="6891269" cy="5475255"/>
          </a:xfrm>
          <a:prstGeom prst="rect">
            <a:avLst/>
          </a:prstGeom>
        </p:spPr>
      </p:pic>
    </p:spTree>
    <p:extLst>
      <p:ext uri="{BB962C8B-B14F-4D97-AF65-F5344CB8AC3E}">
        <p14:creationId xmlns:p14="http://schemas.microsoft.com/office/powerpoint/2010/main" val="2048723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if-else Is Needed</a:t>
            </a:r>
          </a:p>
        </p:txBody>
      </p:sp>
      <p:sp>
        <p:nvSpPr>
          <p:cNvPr id="3" name="Content Placeholder 2"/>
          <p:cNvSpPr>
            <a:spLocks noGrp="1"/>
          </p:cNvSpPr>
          <p:nvPr>
            <p:ph idx="1"/>
          </p:nvPr>
        </p:nvSpPr>
        <p:spPr/>
        <p:txBody>
          <a:bodyPr/>
          <a:lstStyle/>
          <a:p>
            <a:r>
              <a:t>Businesses must handle both outcomes.</a:t>
            </a:r>
          </a:p>
          <a:p>
            <a:endParaRPr/>
          </a:p>
          <a:p>
            <a:r>
              <a:t>Missing else creates ambiguity.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if-else – Company Use Case</a:t>
            </a:r>
          </a:p>
        </p:txBody>
      </p:sp>
      <p:sp>
        <p:nvSpPr>
          <p:cNvPr id="3" name="Content Placeholder 2"/>
          <p:cNvSpPr>
            <a:spLocks noGrp="1"/>
          </p:cNvSpPr>
          <p:nvPr>
            <p:ph idx="1"/>
          </p:nvPr>
        </p:nvSpPr>
        <p:spPr/>
        <p:txBody>
          <a:bodyPr/>
          <a:lstStyle/>
          <a:p>
            <a:r>
              <a:t>If target achieved → bonus</a:t>
            </a:r>
          </a:p>
          <a:p>
            <a:r>
              <a:t>Else → no bonus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D180F0-76AE-E48B-E97C-144F37C8B6ED}"/>
              </a:ext>
            </a:extLst>
          </p:cNvPr>
          <p:cNvPicPr>
            <a:picLocks noGrp="1" noChangeAspect="1"/>
          </p:cNvPicPr>
          <p:nvPr>
            <p:ph idx="1"/>
          </p:nvPr>
        </p:nvPicPr>
        <p:blipFill>
          <a:blip r:embed="rId2"/>
          <a:stretch>
            <a:fillRect/>
          </a:stretch>
        </p:blipFill>
        <p:spPr>
          <a:xfrm>
            <a:off x="1142438" y="485193"/>
            <a:ext cx="6566548" cy="5538334"/>
          </a:xfrm>
          <a:prstGeom prst="rect">
            <a:avLst/>
          </a:prstGeom>
        </p:spPr>
      </p:pic>
    </p:spTree>
    <p:extLst>
      <p:ext uri="{BB962C8B-B14F-4D97-AF65-F5344CB8AC3E}">
        <p14:creationId xmlns:p14="http://schemas.microsoft.com/office/powerpoint/2010/main" val="1289938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1410F-9392-4F5A-81DE-5507969AF19C}"/>
              </a:ext>
            </a:extLst>
          </p:cNvPr>
          <p:cNvSpPr>
            <a:spLocks noGrp="1"/>
          </p:cNvSpPr>
          <p:nvPr>
            <p:ph type="title"/>
          </p:nvPr>
        </p:nvSpPr>
        <p:spPr/>
        <p:txBody>
          <a:bodyPr/>
          <a:lstStyle/>
          <a:p>
            <a:r>
              <a:rPr lang="en-PK" dirty="0"/>
              <a:t>Example for discount applied</a:t>
            </a:r>
          </a:p>
        </p:txBody>
      </p:sp>
      <p:pic>
        <p:nvPicPr>
          <p:cNvPr id="4" name="Content Placeholder 3">
            <a:extLst>
              <a:ext uri="{FF2B5EF4-FFF2-40B4-BE49-F238E27FC236}">
                <a16:creationId xmlns:a16="http://schemas.microsoft.com/office/drawing/2014/main" id="{18D14970-EB33-B5C8-6A8E-AF0445D189AB}"/>
              </a:ext>
            </a:extLst>
          </p:cNvPr>
          <p:cNvPicPr>
            <a:picLocks noGrp="1" noChangeAspect="1"/>
          </p:cNvPicPr>
          <p:nvPr>
            <p:ph idx="1"/>
          </p:nvPr>
        </p:nvPicPr>
        <p:blipFill>
          <a:blip r:embed="rId2"/>
          <a:stretch>
            <a:fillRect/>
          </a:stretch>
        </p:blipFill>
        <p:spPr>
          <a:xfrm>
            <a:off x="2044580" y="1600200"/>
            <a:ext cx="5054839" cy="4525963"/>
          </a:xfrm>
          <a:prstGeom prst="rect">
            <a:avLst/>
          </a:prstGeom>
        </p:spPr>
      </p:pic>
    </p:spTree>
    <p:extLst>
      <p:ext uri="{BB962C8B-B14F-4D97-AF65-F5344CB8AC3E}">
        <p14:creationId xmlns:p14="http://schemas.microsoft.com/office/powerpoint/2010/main" val="3919440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Boolean Values</a:t>
            </a:r>
          </a:p>
        </p:txBody>
      </p:sp>
      <p:sp>
        <p:nvSpPr>
          <p:cNvPr id="3" name="Content Placeholder 2"/>
          <p:cNvSpPr>
            <a:spLocks noGrp="1"/>
          </p:cNvSpPr>
          <p:nvPr>
            <p:ph idx="1"/>
          </p:nvPr>
        </p:nvSpPr>
        <p:spPr/>
        <p:txBody>
          <a:bodyPr/>
          <a:lstStyle/>
          <a:p>
            <a:r>
              <a:t>Boolean values represent:</a:t>
            </a:r>
          </a:p>
          <a:p>
            <a:r>
              <a:t>• True</a:t>
            </a:r>
          </a:p>
          <a:p>
            <a:r>
              <a:t>• False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06" y="265307"/>
            <a:ext cx="8229600" cy="1143000"/>
          </a:xfrm>
        </p:spPr>
        <p:txBody>
          <a:bodyPr>
            <a:normAutofit fontScale="90000"/>
          </a:bodyPr>
          <a:lstStyle/>
          <a:p>
            <a:r>
              <a:rPr dirty="0"/>
              <a:t>Company Use Case: Payment System</a:t>
            </a:r>
          </a:p>
        </p:txBody>
      </p:sp>
      <p:sp>
        <p:nvSpPr>
          <p:cNvPr id="3" name="Content Placeholder 2"/>
          <p:cNvSpPr>
            <a:spLocks noGrp="1"/>
          </p:cNvSpPr>
          <p:nvPr>
            <p:ph idx="1"/>
          </p:nvPr>
        </p:nvSpPr>
        <p:spPr/>
        <p:txBody>
          <a:bodyPr/>
          <a:lstStyle/>
          <a:p>
            <a:pPr marL="0" indent="0">
              <a:buNone/>
            </a:pPr>
            <a:r>
              <a:rPr lang="en-GB" b="1" dirty="0"/>
              <a:t>Example 1: Payment Status</a:t>
            </a:r>
          </a:p>
          <a:p>
            <a:r>
              <a:rPr lang="en-GB" dirty="0"/>
              <a:t>Payment successful → True</a:t>
            </a:r>
          </a:p>
          <a:p>
            <a:r>
              <a:rPr lang="en-GB" dirty="0"/>
              <a:t>Payment failed → False</a:t>
            </a:r>
          </a:p>
          <a:p>
            <a:pPr marL="0" indent="0">
              <a:buNone/>
            </a:pPr>
            <a:endParaRPr lang="en-GB" dirty="0"/>
          </a:p>
          <a:p>
            <a:pPr marL="0" indent="0">
              <a:buNone/>
            </a:pPr>
            <a:r>
              <a:rPr lang="en-GB" b="1" dirty="0"/>
              <a:t>Example 2: User Verification</a:t>
            </a:r>
          </a:p>
          <a:p>
            <a:r>
              <a:rPr lang="en-GB" dirty="0"/>
              <a:t>Verified user → True</a:t>
            </a:r>
          </a:p>
          <a:p>
            <a:r>
              <a:rPr lang="en-GB" dirty="0"/>
              <a:t>Not verified → False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D8C2132-469D-1256-F831-CDB94C1B4FDC}"/>
              </a:ext>
            </a:extLst>
          </p:cNvPr>
          <p:cNvPicPr>
            <a:picLocks noGrp="1" noChangeAspect="1"/>
          </p:cNvPicPr>
          <p:nvPr>
            <p:ph idx="1"/>
          </p:nvPr>
        </p:nvPicPr>
        <p:blipFill>
          <a:blip r:embed="rId2"/>
          <a:stretch>
            <a:fillRect/>
          </a:stretch>
        </p:blipFill>
        <p:spPr>
          <a:xfrm>
            <a:off x="2087283" y="419879"/>
            <a:ext cx="4969433" cy="5659632"/>
          </a:xfrm>
          <a:prstGeom prst="rect">
            <a:avLst/>
          </a:prstGeom>
        </p:spPr>
      </p:pic>
    </p:spTree>
    <p:extLst>
      <p:ext uri="{BB962C8B-B14F-4D97-AF65-F5344CB8AC3E}">
        <p14:creationId xmlns:p14="http://schemas.microsoft.com/office/powerpoint/2010/main" val="1995991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AND – Explained</a:t>
            </a:r>
          </a:p>
        </p:txBody>
      </p:sp>
      <p:sp>
        <p:nvSpPr>
          <p:cNvPr id="3" name="Content Placeholder 2"/>
          <p:cNvSpPr>
            <a:spLocks noGrp="1"/>
          </p:cNvSpPr>
          <p:nvPr>
            <p:ph idx="1"/>
          </p:nvPr>
        </p:nvSpPr>
        <p:spPr/>
        <p:txBody>
          <a:bodyPr/>
          <a:lstStyle/>
          <a:p>
            <a:r>
              <a:t>AND requires all conditions to be true.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AND</a:t>
            </a:r>
            <a:r>
              <a:rPr lang="en-US" dirty="0"/>
              <a:t> OPERATOR</a:t>
            </a:r>
            <a:endParaRPr dirty="0"/>
          </a:p>
        </p:txBody>
      </p:sp>
      <p:sp>
        <p:nvSpPr>
          <p:cNvPr id="3" name="Content Placeholder 2"/>
          <p:cNvSpPr>
            <a:spLocks noGrp="1"/>
          </p:cNvSpPr>
          <p:nvPr>
            <p:ph idx="1"/>
          </p:nvPr>
        </p:nvSpPr>
        <p:spPr/>
        <p:txBody>
          <a:bodyPr/>
          <a:lstStyle/>
          <a:p>
            <a:pPr marL="0" indent="0">
              <a:buNone/>
            </a:pPr>
            <a:r>
              <a:rPr lang="en-GB" b="1" dirty="0"/>
              <a:t>Example:</a:t>
            </a:r>
            <a:br>
              <a:rPr lang="en-GB" dirty="0"/>
            </a:br>
            <a:r>
              <a:rPr lang="en-GB" dirty="0"/>
              <a:t>If user is verified </a:t>
            </a:r>
            <a:r>
              <a:rPr lang="en-GB" b="1" dirty="0"/>
              <a:t>AND</a:t>
            </a:r>
            <a:r>
              <a:rPr lang="en-GB" dirty="0"/>
              <a:t> payment is successful</a:t>
            </a:r>
            <a:br>
              <a:rPr lang="en-GB" dirty="0"/>
            </a:br>
            <a:r>
              <a:rPr lang="en-GB" dirty="0"/>
              <a:t>→ Confirm order</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1E38A11-BAC1-FC45-8C6B-984CE7845A79}"/>
              </a:ext>
            </a:extLst>
          </p:cNvPr>
          <p:cNvPicPr>
            <a:picLocks noGrp="1" noChangeAspect="1"/>
          </p:cNvPicPr>
          <p:nvPr>
            <p:ph idx="1"/>
          </p:nvPr>
        </p:nvPicPr>
        <p:blipFill>
          <a:blip r:embed="rId2"/>
          <a:stretch>
            <a:fillRect/>
          </a:stretch>
        </p:blipFill>
        <p:spPr>
          <a:xfrm>
            <a:off x="1272350" y="391886"/>
            <a:ext cx="6599300" cy="5584987"/>
          </a:xfrm>
          <a:prstGeom prst="rect">
            <a:avLst/>
          </a:prstGeom>
        </p:spPr>
      </p:pic>
    </p:spTree>
    <p:extLst>
      <p:ext uri="{BB962C8B-B14F-4D97-AF65-F5344CB8AC3E}">
        <p14:creationId xmlns:p14="http://schemas.microsoft.com/office/powerpoint/2010/main" val="3252888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OR – Explained</a:t>
            </a:r>
          </a:p>
        </p:txBody>
      </p:sp>
      <p:sp>
        <p:nvSpPr>
          <p:cNvPr id="3" name="Content Placeholder 2"/>
          <p:cNvSpPr>
            <a:spLocks noGrp="1"/>
          </p:cNvSpPr>
          <p:nvPr>
            <p:ph idx="1"/>
          </p:nvPr>
        </p:nvSpPr>
        <p:spPr/>
        <p:txBody>
          <a:bodyPr/>
          <a:lstStyle/>
          <a:p>
            <a:r>
              <a:t>OR requires at least one condition to be true.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OR </a:t>
            </a:r>
            <a:r>
              <a:rPr lang="en-US" dirty="0"/>
              <a:t>OPERATOR</a:t>
            </a:r>
            <a:endParaRPr dirty="0"/>
          </a:p>
        </p:txBody>
      </p:sp>
      <p:sp>
        <p:nvSpPr>
          <p:cNvPr id="3" name="Content Placeholder 2"/>
          <p:cNvSpPr>
            <a:spLocks noGrp="1"/>
          </p:cNvSpPr>
          <p:nvPr>
            <p:ph idx="1"/>
          </p:nvPr>
        </p:nvSpPr>
        <p:spPr/>
        <p:txBody>
          <a:bodyPr/>
          <a:lstStyle/>
          <a:p>
            <a:pPr marL="0" indent="0">
              <a:buNone/>
            </a:pPr>
            <a:r>
              <a:rPr lang="en-GB" b="1" dirty="0"/>
              <a:t>Example:</a:t>
            </a:r>
            <a:br>
              <a:rPr lang="en-GB" dirty="0"/>
            </a:br>
            <a:r>
              <a:rPr lang="en-GB" dirty="0"/>
              <a:t>If customer is premium </a:t>
            </a:r>
            <a:r>
              <a:rPr lang="en-GB" b="1" dirty="0"/>
              <a:t>OR</a:t>
            </a:r>
            <a:r>
              <a:rPr lang="en-GB" dirty="0"/>
              <a:t> purchase &gt; 100,000</a:t>
            </a:r>
            <a:br>
              <a:rPr lang="en-GB" dirty="0"/>
            </a:br>
            <a:r>
              <a:rPr lang="en-GB" dirty="0"/>
              <a:t>→ Free delivery</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F8851D6-F7B6-7AAF-914E-83F7EB17FCC1}"/>
              </a:ext>
            </a:extLst>
          </p:cNvPr>
          <p:cNvPicPr>
            <a:picLocks noGrp="1" noChangeAspect="1"/>
          </p:cNvPicPr>
          <p:nvPr>
            <p:ph idx="1"/>
          </p:nvPr>
        </p:nvPicPr>
        <p:blipFill>
          <a:blip r:embed="rId2"/>
          <a:stretch>
            <a:fillRect/>
          </a:stretch>
        </p:blipFill>
        <p:spPr>
          <a:xfrm>
            <a:off x="1011715" y="475861"/>
            <a:ext cx="7120569" cy="5640971"/>
          </a:xfrm>
          <a:prstGeom prst="rect">
            <a:avLst/>
          </a:prstGeom>
        </p:spPr>
      </p:pic>
    </p:spTree>
    <p:extLst>
      <p:ext uri="{BB962C8B-B14F-4D97-AF65-F5344CB8AC3E}">
        <p14:creationId xmlns:p14="http://schemas.microsoft.com/office/powerpoint/2010/main" val="992447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NOT – Explained</a:t>
            </a:r>
          </a:p>
        </p:txBody>
      </p:sp>
      <p:sp>
        <p:nvSpPr>
          <p:cNvPr id="3" name="Content Placeholder 2"/>
          <p:cNvSpPr>
            <a:spLocks noGrp="1"/>
          </p:cNvSpPr>
          <p:nvPr>
            <p:ph idx="1"/>
          </p:nvPr>
        </p:nvSpPr>
        <p:spPr/>
        <p:txBody>
          <a:bodyPr/>
          <a:lstStyle/>
          <a:p>
            <a:r>
              <a:t>NOT reverses a condition.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NOT </a:t>
            </a:r>
            <a:r>
              <a:rPr lang="en-US" dirty="0"/>
              <a:t>OPERATOR</a:t>
            </a:r>
            <a:endParaRPr dirty="0"/>
          </a:p>
        </p:txBody>
      </p:sp>
      <p:sp>
        <p:nvSpPr>
          <p:cNvPr id="3" name="Content Placeholder 2"/>
          <p:cNvSpPr>
            <a:spLocks noGrp="1"/>
          </p:cNvSpPr>
          <p:nvPr>
            <p:ph idx="1"/>
          </p:nvPr>
        </p:nvSpPr>
        <p:spPr>
          <a:xfrm>
            <a:off x="307910" y="1320282"/>
            <a:ext cx="8229600" cy="4525963"/>
          </a:xfrm>
        </p:spPr>
        <p:txBody>
          <a:bodyPr/>
          <a:lstStyle/>
          <a:p>
            <a:pPr marL="0" indent="0">
              <a:buNone/>
            </a:pPr>
            <a:r>
              <a:rPr lang="en-GB" b="1" dirty="0"/>
              <a:t>Example:</a:t>
            </a:r>
            <a:br>
              <a:rPr lang="en-GB" dirty="0"/>
            </a:br>
            <a:r>
              <a:rPr lang="en-GB" dirty="0"/>
              <a:t>If user is </a:t>
            </a:r>
            <a:r>
              <a:rPr lang="en-GB" b="1" dirty="0"/>
              <a:t>NOT</a:t>
            </a:r>
            <a:r>
              <a:rPr lang="en-GB" dirty="0"/>
              <a:t> logged in</a:t>
            </a:r>
            <a:br>
              <a:rPr lang="en-GB" dirty="0"/>
            </a:br>
            <a:r>
              <a:rPr lang="en-GB" dirty="0"/>
              <a:t>→ Ask to login</a:t>
            </a:r>
          </a:p>
          <a:p>
            <a:pPr marL="0" indent="0">
              <a:buNone/>
            </a:pPr>
            <a:endParaRPr lang="en-GB" dirty="0"/>
          </a:p>
        </p:txBody>
      </p:sp>
      <p:pic>
        <p:nvPicPr>
          <p:cNvPr id="4" name="Picture 3">
            <a:extLst>
              <a:ext uri="{FF2B5EF4-FFF2-40B4-BE49-F238E27FC236}">
                <a16:creationId xmlns:a16="http://schemas.microsoft.com/office/drawing/2014/main" id="{7B6F5B65-FB9B-616C-D1B8-29CDF30A7988}"/>
              </a:ext>
            </a:extLst>
          </p:cNvPr>
          <p:cNvPicPr>
            <a:picLocks noChangeAspect="1"/>
          </p:cNvPicPr>
          <p:nvPr/>
        </p:nvPicPr>
        <p:blipFill>
          <a:blip r:embed="rId3"/>
          <a:stretch>
            <a:fillRect/>
          </a:stretch>
        </p:blipFill>
        <p:spPr>
          <a:xfrm>
            <a:off x="2979060" y="2463282"/>
            <a:ext cx="6164940" cy="422806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2 – Output Based</a:t>
            </a:r>
          </a:p>
        </p:txBody>
      </p:sp>
      <p:sp>
        <p:nvSpPr>
          <p:cNvPr id="3" name="Content Placeholder 2"/>
          <p:cNvSpPr>
            <a:spLocks noGrp="1"/>
          </p:cNvSpPr>
          <p:nvPr>
            <p:ph idx="1"/>
          </p:nvPr>
        </p:nvSpPr>
        <p:spPr/>
        <p:txBody>
          <a:bodyPr/>
          <a:lstStyle/>
          <a:p>
            <a:r>
              <a:rPr dirty="0"/>
              <a:t>sales = 120000</a:t>
            </a:r>
          </a:p>
          <a:p>
            <a:r>
              <a:rPr dirty="0"/>
              <a:t>if sales &gt; 100000:</a:t>
            </a:r>
          </a:p>
          <a:p>
            <a:r>
              <a:rPr dirty="0"/>
              <a:t>    discount = True</a:t>
            </a:r>
          </a:p>
          <a:p>
            <a:r>
              <a:rPr dirty="0"/>
              <a:t>else:</a:t>
            </a:r>
          </a:p>
          <a:p>
            <a:r>
              <a:rPr dirty="0"/>
              <a:t>    discount = False</a:t>
            </a:r>
            <a:endParaRPr lang="en-US" dirty="0"/>
          </a:p>
          <a:p>
            <a:pPr marL="0" indent="0">
              <a:buNone/>
            </a:pPr>
            <a:r>
              <a:rPr lang="en-GB" b="1" dirty="0"/>
              <a:t>Output: True</a:t>
            </a:r>
          </a:p>
          <a:p>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Assignment</a:t>
            </a:r>
          </a:p>
        </p:txBody>
      </p:sp>
      <p:sp>
        <p:nvSpPr>
          <p:cNvPr id="3" name="Content Placeholder 2"/>
          <p:cNvSpPr>
            <a:spLocks noGrp="1"/>
          </p:cNvSpPr>
          <p:nvPr>
            <p:ph idx="1"/>
          </p:nvPr>
        </p:nvSpPr>
        <p:spPr/>
        <p:txBody>
          <a:bodyPr/>
          <a:lstStyle/>
          <a:p>
            <a:r>
              <a:rPr dirty="0"/>
              <a:t>Design a simple system for:</a:t>
            </a:r>
          </a:p>
          <a:p>
            <a:r>
              <a:rPr dirty="0"/>
              <a:t>• Discount calculation</a:t>
            </a:r>
          </a:p>
          <a:p>
            <a:r>
              <a:rPr dirty="0"/>
              <a:t>• Employee salary lookup</a:t>
            </a:r>
          </a:p>
          <a:p>
            <a:r>
              <a:rPr dirty="0"/>
              <a:t>• Unique customer tracking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Assignment – How to Answer</a:t>
            </a:r>
          </a:p>
        </p:txBody>
      </p:sp>
      <p:sp>
        <p:nvSpPr>
          <p:cNvPr id="3" name="Content Placeholder 2"/>
          <p:cNvSpPr>
            <a:spLocks noGrp="1"/>
          </p:cNvSpPr>
          <p:nvPr>
            <p:ph idx="1"/>
          </p:nvPr>
        </p:nvSpPr>
        <p:spPr/>
        <p:txBody>
          <a:bodyPr/>
          <a:lstStyle/>
          <a:p>
            <a:r>
              <a:t>1. Describe data</a:t>
            </a:r>
          </a:p>
          <a:p>
            <a:r>
              <a:t>2. Choose structure</a:t>
            </a:r>
          </a:p>
          <a:p>
            <a:r>
              <a:t>3. Explain decision logic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7411</TotalTime>
  <Words>895</Words>
  <Application>Microsoft Macintosh PowerPoint</Application>
  <PresentationFormat>On-screen Show (4:3)</PresentationFormat>
  <Paragraphs>176</Paragraphs>
  <Slides>41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Programming for Business</vt:lpstr>
      <vt:lpstr>Learning Outcomes</vt:lpstr>
      <vt:lpstr>Difference?</vt:lpstr>
      <vt:lpstr>PowerPoint Presentation</vt:lpstr>
      <vt:lpstr>Python Code for using Tuples</vt:lpstr>
      <vt:lpstr>PowerPoint Presentation</vt:lpstr>
      <vt:lpstr>PowerPoint Presentation</vt:lpstr>
      <vt:lpstr>Python code for using Lists</vt:lpstr>
      <vt:lpstr>Python code for using Lists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High-Level Comparison</vt:lpstr>
      <vt:lpstr>Decision Making in Programs</vt:lpstr>
      <vt:lpstr>Company Use Case: Loan Approval</vt:lpstr>
      <vt:lpstr>if Statement – Explained</vt:lpstr>
      <vt:lpstr>if Example – Business</vt:lpstr>
      <vt:lpstr>PowerPoint Presentation</vt:lpstr>
      <vt:lpstr>Why if-else Is Needed</vt:lpstr>
      <vt:lpstr>if-else – Company Use Case</vt:lpstr>
      <vt:lpstr>PowerPoint Presentation</vt:lpstr>
      <vt:lpstr>Example for discount applied</vt:lpstr>
      <vt:lpstr>Boolean Values</vt:lpstr>
      <vt:lpstr>Company Use Case: Payment System</vt:lpstr>
      <vt:lpstr>PowerPoint Presentation</vt:lpstr>
      <vt:lpstr>Logical AND – Explained</vt:lpstr>
      <vt:lpstr>AND OPERATOR</vt:lpstr>
      <vt:lpstr>PowerPoint Presentation</vt:lpstr>
      <vt:lpstr>Logical OR – Explained</vt:lpstr>
      <vt:lpstr>OR OPERATOR</vt:lpstr>
      <vt:lpstr>PowerPoint Presentation</vt:lpstr>
      <vt:lpstr>Logical NOT – Explained</vt:lpstr>
      <vt:lpstr>NOT OPERATOR</vt:lpstr>
      <vt:lpstr>Activity 2 – Output Based</vt:lpstr>
      <vt:lpstr>Assignment</vt:lpstr>
      <vt:lpstr>Assignment – How to Answer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TK-LPT-865</cp:lastModifiedBy>
  <cp:revision>3</cp:revision>
  <dcterms:created xsi:type="dcterms:W3CDTF">2013-01-27T09:14:16Z</dcterms:created>
  <dcterms:modified xsi:type="dcterms:W3CDTF">2026-02-13T07:51:02Z</dcterms:modified>
  <cp:category/>
</cp:coreProperties>
</file>