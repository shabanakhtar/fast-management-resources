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9" r:id="rId17"/>
    <p:sldId id="282" r:id="rId18"/>
    <p:sldId id="281" r:id="rId19"/>
    <p:sldId id="280" r:id="rId20"/>
    <p:sldId id="270" r:id="rId21"/>
    <p:sldId id="271" r:id="rId2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5E59C-5271-A4A2-D80E-5E4D923D8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1DCF0-9D52-F90C-C5CA-EABA3790E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62E65-5AD4-D8C3-0E93-8FFB52F0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8DCA-B19E-4E43-A5CF-36FAFB415ABB}" type="datetimeFigureOut">
              <a:rPr lang="en-PK" smtClean="0"/>
              <a:t>14/05/2026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ED8D6-FB1E-41B2-B340-7F75580C9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17E2C-21CE-6A7B-94CE-BC3FE611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39E5-CC4B-3444-90E6-696B3CD970E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43122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5D66-3D1D-4A31-9025-91807631B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DAA66-2D09-470F-69B9-2FB7BBF53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981F1-5D1D-A66C-520D-C37DC4E29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8DCA-B19E-4E43-A5CF-36FAFB415ABB}" type="datetimeFigureOut">
              <a:rPr lang="en-PK" smtClean="0"/>
              <a:t>14/05/2026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9CDA6-1466-8E16-0FAA-ADAFB627E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737D9-6432-7DBD-95CA-F336CA985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39E5-CC4B-3444-90E6-696B3CD970E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88802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EFA23-8C16-2797-3CA9-06F1DCF8B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8088C-DA2D-BD52-7A8C-58ABC4B5D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AD1C0-77E3-102C-E376-261CBA607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8DCA-B19E-4E43-A5CF-36FAFB415ABB}" type="datetimeFigureOut">
              <a:rPr lang="en-PK" smtClean="0"/>
              <a:t>14/05/2026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4E4AE-0C40-BAE9-D3FC-9D4716992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7F293-AA08-7654-911D-BC1E8154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39E5-CC4B-3444-90E6-696B3CD970E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29101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5053-D55A-2006-7AC3-76C9B6820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3DF3B-C015-77E7-413F-1A7967DC1E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3F94C-7C0F-EECC-2544-B1AB73852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EA5D2-53C3-6D88-E07F-BE6B01A7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8DCA-B19E-4E43-A5CF-36FAFB415ABB}" type="datetimeFigureOut">
              <a:rPr lang="en-PK" smtClean="0"/>
              <a:t>14/05/2026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14582-1284-B44E-C33D-6CD03342F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B9517-566C-11B4-E693-0201403F3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39E5-CC4B-3444-90E6-696B3CD970E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373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7B843-D556-0BF5-910B-791F71BD3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9AAB9-613C-23D2-AC88-B2301B5B6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A8B08-EDDA-BA2D-9F31-E68777887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59791-61EF-CE2A-ED6C-80B22F592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69AD44-6808-8D37-36F7-8EAE358570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48EC1-AB6C-232B-1461-608D282A2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8DCA-B19E-4E43-A5CF-36FAFB415ABB}" type="datetimeFigureOut">
              <a:rPr lang="en-PK" smtClean="0"/>
              <a:t>14/05/2026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AA0F2D-6AE1-954E-7FEE-467576427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F66EC-980C-CBC8-509D-61EE73BB5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39E5-CC4B-3444-90E6-696B3CD970E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1526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3EE1C-FAB5-7379-A54F-20CBADD04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7415EC-1945-A034-51D8-C3025CC44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8DCA-B19E-4E43-A5CF-36FAFB415ABB}" type="datetimeFigureOut">
              <a:rPr lang="en-PK" smtClean="0"/>
              <a:t>14/05/2026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FF85EA-DF93-3254-2E91-C45B007F9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CE46D-0AA1-9656-0FAE-7BA42014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39E5-CC4B-3444-90E6-696B3CD970E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0592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35B965-962F-E54D-727E-DCC4A7B2E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8DCA-B19E-4E43-A5CF-36FAFB415ABB}" type="datetimeFigureOut">
              <a:rPr lang="en-PK" smtClean="0"/>
              <a:t>14/05/2026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F799C7-DFCE-4528-CC74-FF1D277DC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4DED4-F01F-D29B-75DC-0C8301D6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39E5-CC4B-3444-90E6-696B3CD970E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80905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F9D66-3A34-4935-9797-73D5034E9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3F00B-A352-17D8-35D3-A9C83E169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BAA0B-C61C-9DCB-CB56-35443ED9D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CBBD7-6869-8DB8-44D5-26EFD8C28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8DCA-B19E-4E43-A5CF-36FAFB415ABB}" type="datetimeFigureOut">
              <a:rPr lang="en-PK" smtClean="0"/>
              <a:t>14/05/2026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B102F-EBFB-FD21-7271-6321E09DB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B224D-72E2-2E3C-291F-689079255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39E5-CC4B-3444-90E6-696B3CD970E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81783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8B8F-00A3-5B09-C329-B842DDC70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DE8945-9974-280A-AEDA-D7866B2BF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F3100-6D14-8A48-2D5C-49E13C255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5EDD0-2290-E36D-0CC8-848DFFCB9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8DCA-B19E-4E43-A5CF-36FAFB415ABB}" type="datetimeFigureOut">
              <a:rPr lang="en-PK" smtClean="0"/>
              <a:t>14/05/2026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23CC5-E19C-7738-DD5C-7C35CB2E1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09C32-3F63-8E69-0FED-1005F88D0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39E5-CC4B-3444-90E6-696B3CD970E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617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94710-C9E8-AD94-F815-63D7B8CBC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74741-8FD5-B2EF-3816-77EC4E57D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2304A-A237-B26B-6F65-199527717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8DCA-B19E-4E43-A5CF-36FAFB415ABB}" type="datetimeFigureOut">
              <a:rPr lang="en-PK" smtClean="0"/>
              <a:t>14/05/2026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51ED9-2A75-0935-8CC4-2C42365C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778FE-88F0-CD52-D819-1BEE2791A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39E5-CC4B-3444-90E6-696B3CD970E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1941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92A02F-0B41-FA77-F1BC-27CB5182E2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90D8D-BB07-CF61-E269-AA0919F9A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24A2F-6927-063D-C264-E19AB21ED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8DCA-B19E-4E43-A5CF-36FAFB415ABB}" type="datetimeFigureOut">
              <a:rPr lang="en-PK" smtClean="0"/>
              <a:t>14/05/2026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6008E-413C-1478-83CD-ABD81686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5DCC5-22A8-DFBD-5398-B06886E7F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39E5-CC4B-3444-90E6-696B3CD970E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47530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D53B5B-53F7-0A3E-A1FF-02464C795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E15F4-951B-8C24-7DB4-40D07B8B6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BC452-2D22-BEBA-CB03-B896ADAB1B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E8DCA-B19E-4E43-A5CF-36FAFB415ABB}" type="datetimeFigureOut">
              <a:rPr lang="en-PK" smtClean="0"/>
              <a:t>14/05/2026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794C6-A841-C22A-D1E1-775887B3A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F6DD8-8035-5F55-9D9E-35F450340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739E5-CC4B-3444-90E6-696B3CD970E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47165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CD99-5D29-541B-80C2-90080555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7876" y="1040523"/>
            <a:ext cx="8954814" cy="4614042"/>
          </a:xfrm>
        </p:spPr>
        <p:txBody>
          <a:bodyPr>
            <a:noAutofit/>
          </a:bodyPr>
          <a:lstStyle/>
          <a:p>
            <a:r>
              <a:rPr lang="en-GB" sz="2800" b="1" dirty="0">
                <a:latin typeface="+mn-lt"/>
              </a:rPr>
              <a:t>Programming for Business</a:t>
            </a:r>
            <a:br>
              <a:rPr lang="en-GB" sz="2800" b="1" dirty="0">
                <a:latin typeface="+mn-lt"/>
              </a:rPr>
            </a:br>
            <a:br>
              <a:rPr lang="en-GB" sz="2800" b="1" dirty="0">
                <a:latin typeface="+mn-lt"/>
              </a:rPr>
            </a:br>
            <a:r>
              <a:rPr lang="en-GB" sz="2800" b="1" dirty="0">
                <a:latin typeface="+mn-lt"/>
              </a:rPr>
              <a:t>Classes, Object, Inheritance and Polymorphism</a:t>
            </a:r>
            <a:br>
              <a:rPr lang="en-GB" sz="2800" b="1" dirty="0">
                <a:latin typeface="+mn-lt"/>
              </a:rPr>
            </a:br>
            <a:br>
              <a:rPr lang="en-GB" sz="2800" b="1" dirty="0">
                <a:latin typeface="+mn-lt"/>
              </a:rPr>
            </a:br>
            <a:r>
              <a:rPr lang="en-GB" sz="2800" b="1" dirty="0">
                <a:latin typeface="+mn-lt"/>
              </a:rPr>
              <a:t>FAST–NUCES</a:t>
            </a:r>
            <a:br>
              <a:rPr lang="en-GB" sz="2800" b="1" dirty="0">
                <a:latin typeface="+mn-lt"/>
              </a:rPr>
            </a:br>
            <a:br>
              <a:rPr lang="en-GB" sz="2800" b="1" dirty="0">
                <a:latin typeface="+mn-lt"/>
              </a:rPr>
            </a:br>
            <a:br>
              <a:rPr lang="en-GB" sz="2800" b="1" dirty="0">
                <a:latin typeface="+mn-lt"/>
              </a:rPr>
            </a:br>
            <a:br>
              <a:rPr lang="en-GB" sz="2800" b="1" dirty="0">
                <a:latin typeface="+mn-lt"/>
              </a:rPr>
            </a:br>
            <a:r>
              <a:rPr lang="en-GB" sz="2800" b="1" dirty="0">
                <a:latin typeface="+mn-lt"/>
              </a:rPr>
              <a:t>Miss Shumaila Arshad</a:t>
            </a:r>
            <a:br>
              <a:rPr lang="en-GB" sz="2800" b="1" dirty="0">
                <a:latin typeface="+mn-lt"/>
              </a:rPr>
            </a:br>
            <a:endParaRPr lang="en-PK" sz="28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0243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DB8AE-6A9C-93B5-6B80-FE4C40E5A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Difference between Class and Object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59B0C7-2E9A-B72C-5B9E-AC4D6201B2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9492997"/>
              </p:ext>
            </p:extLst>
          </p:nvPr>
        </p:nvGraphicFramePr>
        <p:xfrm>
          <a:off x="838200" y="2291255"/>
          <a:ext cx="10515600" cy="3657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601161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8455736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Class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Object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0105116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Blueprint/template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Instance of class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7644729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Logical entity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Physical entity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6585568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Used to define structure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 dirty="0">
                          <a:effectLst/>
                        </a:rPr>
                        <a:t>Used to access data</a:t>
                      </a:r>
                      <a:endParaRPr lang="en-PK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2086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14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6532B-8362-CB52-388B-D1CAD6DA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CFD6C-934A-79D6-0EE6-74B552978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Inheritance allows a class to </a:t>
            </a:r>
            <a:r>
              <a:rPr lang="en-PK" b="1" dirty="0"/>
              <a:t>reuse properties and methods</a:t>
            </a:r>
            <a:r>
              <a:rPr lang="en-PK" dirty="0"/>
              <a:t> of  another class </a:t>
            </a:r>
          </a:p>
          <a:p>
            <a:r>
              <a:rPr lang="en-PK" dirty="0"/>
              <a:t>Promotes </a:t>
            </a:r>
            <a:r>
              <a:rPr lang="en-PK" b="1" dirty="0"/>
              <a:t>code reusability</a:t>
            </a:r>
            <a:r>
              <a:rPr lang="en-PK" dirty="0"/>
              <a:t> </a:t>
            </a:r>
          </a:p>
          <a:p>
            <a:r>
              <a:rPr lang="en-PK" dirty="0"/>
              <a:t>Parent class → Base class </a:t>
            </a:r>
          </a:p>
          <a:p>
            <a:r>
              <a:rPr lang="en-PK" dirty="0"/>
              <a:t>Child class → Derived class</a:t>
            </a:r>
          </a:p>
          <a:p>
            <a:pPr marL="0" indent="0">
              <a:buNone/>
            </a:pP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94365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C6D73-1968-B607-C7F3-42BE6E964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/>
              <a:t>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D15D4-FFF4-F441-192B-4DD0B0239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b="1" dirty="0"/>
              <a:t>Real-Life Example</a:t>
            </a:r>
            <a:endParaRPr lang="en-PK" dirty="0"/>
          </a:p>
          <a:p>
            <a:pPr marL="0" lvl="0" indent="0">
              <a:buNone/>
            </a:pPr>
            <a:r>
              <a:rPr lang="en-PK" dirty="0"/>
              <a:t>Parent: Human </a:t>
            </a:r>
          </a:p>
          <a:p>
            <a:pPr marL="0" lvl="0" indent="0">
              <a:buNone/>
            </a:pPr>
            <a:r>
              <a:rPr lang="en-PK" dirty="0"/>
              <a:t>Child: Student </a:t>
            </a:r>
          </a:p>
          <a:p>
            <a:pPr marL="0" indent="0">
              <a:buNone/>
            </a:pPr>
            <a:r>
              <a:rPr lang="en-PK" dirty="0"/>
              <a:t>Student inherits:</a:t>
            </a:r>
          </a:p>
          <a:p>
            <a:pPr lvl="0"/>
            <a:r>
              <a:rPr lang="en-PK" dirty="0"/>
              <a:t>name </a:t>
            </a:r>
          </a:p>
          <a:p>
            <a:pPr lvl="0"/>
            <a:r>
              <a:rPr lang="en-PK" dirty="0"/>
              <a:t>age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84557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69670-1D0E-1F78-CD6C-9A2CA38A7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56693-76B0-9F48-3A5F-5756B3632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PK" dirty="0"/>
              <a:t>class Person:</a:t>
            </a:r>
          </a:p>
          <a:p>
            <a:r>
              <a:rPr lang="en-PK" dirty="0"/>
              <a:t>    def __init__(self, name):</a:t>
            </a:r>
          </a:p>
          <a:p>
            <a:r>
              <a:rPr lang="en-PK" dirty="0"/>
              <a:t>        self.name = name</a:t>
            </a:r>
          </a:p>
          <a:p>
            <a:r>
              <a:rPr lang="en-PK" dirty="0"/>
              <a:t> </a:t>
            </a:r>
          </a:p>
          <a:p>
            <a:r>
              <a:rPr lang="en-PK" dirty="0"/>
              <a:t>class Student(Person):</a:t>
            </a:r>
          </a:p>
          <a:p>
            <a:r>
              <a:rPr lang="en-PK" dirty="0"/>
              <a:t>    def __init__(self, name, student_id):</a:t>
            </a:r>
          </a:p>
          <a:p>
            <a:r>
              <a:rPr lang="en-PK" dirty="0"/>
              <a:t>        super().__init__(name)</a:t>
            </a:r>
          </a:p>
          <a:p>
            <a:r>
              <a:rPr lang="en-PK" dirty="0"/>
              <a:t>        self.student_id = student_id</a:t>
            </a:r>
          </a:p>
          <a:p>
            <a:r>
              <a:rPr lang="en-PK" dirty="0"/>
              <a:t> </a:t>
            </a:r>
          </a:p>
          <a:p>
            <a:r>
              <a:rPr lang="en-PK" dirty="0"/>
              <a:t>s = Student("Ali", 101)</a:t>
            </a:r>
          </a:p>
          <a:p>
            <a:r>
              <a:rPr lang="en-PK" dirty="0"/>
              <a:t>print(s.name)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22007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D6A6-3FBE-7266-261C-24C67FC47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is super()?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E444A-4D3A-834B-B825-C99ECBB68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super() is a built-in Python function used to call methods or constructors of the parent class from the child class.</a:t>
            </a:r>
          </a:p>
          <a:p>
            <a:r>
              <a:rPr lang="en-GB" dirty="0"/>
              <a:t>It is mainly used in inheritance.</a:t>
            </a:r>
          </a:p>
          <a:p>
            <a:r>
              <a:rPr lang="en-GB" dirty="0"/>
              <a:t>super().__</a:t>
            </a:r>
            <a:r>
              <a:rPr lang="en-GB" dirty="0" err="1"/>
              <a:t>init</a:t>
            </a:r>
            <a:r>
              <a:rPr lang="en-GB" dirty="0"/>
              <a:t>__(name).     //from previous example in previous slide</a:t>
            </a:r>
          </a:p>
          <a:p>
            <a:pPr marL="0" indent="0">
              <a:buNone/>
            </a:pPr>
            <a:r>
              <a:rPr lang="en-GB" b="1" dirty="0"/>
              <a:t>Meaning:</a:t>
            </a:r>
          </a:p>
          <a:p>
            <a:r>
              <a:rPr lang="en-GB" dirty="0"/>
              <a:t>Call the constructor of the parent class (Person).</a:t>
            </a:r>
          </a:p>
          <a:p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64987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D3438-BD14-63A6-378B-D0910EB4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is self in Python?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11049-277E-7998-7277-C14F75573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586" y="1152962"/>
            <a:ext cx="10515600" cy="5184775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self refers to the </a:t>
            </a:r>
            <a:r>
              <a:rPr lang="en-GB" b="1" dirty="0"/>
              <a:t>current object</a:t>
            </a:r>
            <a:r>
              <a:rPr lang="en-GB" dirty="0"/>
              <a:t> of the class.</a:t>
            </a:r>
          </a:p>
          <a:p>
            <a:r>
              <a:rPr lang="en-GB" dirty="0"/>
              <a:t>It is used to access:</a:t>
            </a:r>
          </a:p>
          <a:p>
            <a:r>
              <a:rPr lang="en-GB" dirty="0"/>
              <a:t>Object variables (attributes) </a:t>
            </a:r>
          </a:p>
          <a:p>
            <a:r>
              <a:rPr lang="en-GB" dirty="0"/>
              <a:t>Object methods</a:t>
            </a:r>
          </a:p>
          <a:p>
            <a:r>
              <a:rPr lang="en-GB" dirty="0"/>
              <a:t>def __</a:t>
            </a:r>
            <a:r>
              <a:rPr lang="en-GB" dirty="0" err="1"/>
              <a:t>init</a:t>
            </a:r>
            <a:r>
              <a:rPr lang="en-GB" dirty="0"/>
              <a:t>__(self, name):</a:t>
            </a:r>
          </a:p>
          <a:p>
            <a:pPr marL="0" indent="0">
              <a:buNone/>
            </a:pPr>
            <a:r>
              <a:rPr lang="en-GB" dirty="0"/>
              <a:t>This runs automatically when object is created.</a:t>
            </a:r>
          </a:p>
          <a:p>
            <a:r>
              <a:rPr lang="en-GB" dirty="0" err="1"/>
              <a:t>self.name</a:t>
            </a:r>
            <a:r>
              <a:rPr lang="en-GB" dirty="0"/>
              <a:t> = name</a:t>
            </a:r>
          </a:p>
          <a:p>
            <a:pPr marL="0" indent="0">
              <a:buNone/>
            </a:pPr>
            <a:r>
              <a:rPr lang="en-GB" b="1" dirty="0"/>
              <a:t>Meaning:</a:t>
            </a:r>
          </a:p>
          <a:p>
            <a:r>
              <a:rPr lang="en-GB" dirty="0"/>
              <a:t>Store the value of name inside the current object.</a:t>
            </a:r>
          </a:p>
          <a:p>
            <a:pPr marL="0" indent="0">
              <a:buNone/>
            </a:pPr>
            <a:r>
              <a:rPr lang="en-GB" b="1" dirty="0"/>
              <a:t>Why is self Important?</a:t>
            </a:r>
          </a:p>
          <a:p>
            <a:r>
              <a:rPr lang="en-GB" dirty="0"/>
              <a:t>Without self, Python cannot distinguish object variables from local variables.</a:t>
            </a:r>
          </a:p>
          <a:p>
            <a:endParaRPr lang="en-GB" dirty="0"/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04115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D7175-E1A4-D7AC-3DAB-5D141212C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Difference between self and super()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E4B5AD-AA91-B471-F7D8-1F06C79EB0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6998026"/>
              </p:ext>
            </p:extLst>
          </p:nvPr>
        </p:nvGraphicFramePr>
        <p:xfrm>
          <a:off x="838200" y="1460938"/>
          <a:ext cx="10515600" cy="2606564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255565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50388620"/>
                    </a:ext>
                  </a:extLst>
                </a:gridCol>
              </a:tblGrid>
              <a:tr h="847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self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super()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644921"/>
                  </a:ext>
                </a:extLst>
              </a:tr>
              <a:tr h="586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Refers to current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Refers to parent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197877"/>
                  </a:ext>
                </a:extLst>
              </a:tr>
              <a:tr h="586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Accesses object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Accesses parent 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190231"/>
                  </a:ext>
                </a:extLst>
              </a:tr>
              <a:tr h="586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Used in every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Used in inheritance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882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16B3F65-5F02-C408-F54E-E7BFACD38818}"/>
              </a:ext>
            </a:extLst>
          </p:cNvPr>
          <p:cNvSpPr txBox="1"/>
          <p:nvPr/>
        </p:nvSpPr>
        <p:spPr>
          <a:xfrm>
            <a:off x="838200" y="4152036"/>
            <a:ext cx="70760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K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use super()?</a:t>
            </a:r>
            <a:endParaRPr lang="en-P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Reuses parent class code 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Avoids repetition 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Makes inheritance cleaner 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Easier to maintain large programs </a:t>
            </a:r>
          </a:p>
        </p:txBody>
      </p:sp>
    </p:spTree>
    <p:extLst>
      <p:ext uri="{BB962C8B-B14F-4D97-AF65-F5344CB8AC3E}">
        <p14:creationId xmlns:p14="http://schemas.microsoft.com/office/powerpoint/2010/main" val="505973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B3FBA-6954-71EB-34AD-1CF3E80A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/>
              <a:t>Types of Inheritance</a:t>
            </a:r>
            <a:br>
              <a:rPr lang="en-PK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FB9ED-27ED-1E99-9BA9-266C5CFDB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PK" dirty="0"/>
              <a:t>Single Inheritance </a:t>
            </a:r>
          </a:p>
          <a:p>
            <a:pPr lvl="0"/>
            <a:r>
              <a:rPr lang="en-PK" dirty="0"/>
              <a:t>Multiple Inheritance </a:t>
            </a:r>
          </a:p>
          <a:p>
            <a:pPr lvl="0"/>
            <a:r>
              <a:rPr lang="en-PK" dirty="0"/>
              <a:t>Multilevel Inheritance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45535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33A66-D086-5C17-3803-8EEF06BF9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/>
              <a:t>1. Single Inheritance</a:t>
            </a:r>
            <a:br>
              <a:rPr lang="en-PK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1B05-F17E-5776-6C3B-5ECCC452C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PK" dirty="0"/>
              <a:t>A child class inherits from </a:t>
            </a:r>
            <a:r>
              <a:rPr lang="en-PK" b="1" dirty="0"/>
              <a:t>only one parent class</a:t>
            </a:r>
            <a:r>
              <a:rPr lang="en-PK" dirty="0">
                <a:effectLst/>
              </a:rPr>
              <a:t> </a:t>
            </a:r>
          </a:p>
          <a:p>
            <a:r>
              <a:rPr lang="en-PK" b="1" dirty="0"/>
              <a:t>Example:</a:t>
            </a:r>
            <a:endParaRPr lang="en-PK" dirty="0"/>
          </a:p>
          <a:p>
            <a:pPr marL="0" indent="0">
              <a:buNone/>
            </a:pPr>
            <a:r>
              <a:rPr lang="en-PK" dirty="0"/>
              <a:t>class Parent:</a:t>
            </a:r>
            <a:br>
              <a:rPr lang="en-PK" dirty="0"/>
            </a:br>
            <a:r>
              <a:rPr lang="en-PK" dirty="0"/>
              <a:t>    def show(self):</a:t>
            </a:r>
            <a:br>
              <a:rPr lang="en-PK" dirty="0"/>
            </a:br>
            <a:r>
              <a:rPr lang="en-PK" dirty="0"/>
              <a:t>        print("This is Parent")</a:t>
            </a:r>
            <a:br>
              <a:rPr lang="en-PK" dirty="0"/>
            </a:br>
            <a:br>
              <a:rPr lang="en-PK" dirty="0"/>
            </a:br>
            <a:r>
              <a:rPr lang="en-PK" dirty="0"/>
              <a:t>class Child(Parent):</a:t>
            </a:r>
            <a:br>
              <a:rPr lang="en-PK" dirty="0"/>
            </a:br>
            <a:r>
              <a:rPr lang="en-PK" dirty="0"/>
              <a:t>    def display(self):</a:t>
            </a:r>
            <a:br>
              <a:rPr lang="en-PK" dirty="0"/>
            </a:br>
            <a:r>
              <a:rPr lang="en-PK" dirty="0"/>
              <a:t>        print("This is Child")</a:t>
            </a:r>
            <a:br>
              <a:rPr lang="en-PK" dirty="0"/>
            </a:br>
            <a:br>
              <a:rPr lang="en-PK" dirty="0"/>
            </a:br>
            <a:r>
              <a:rPr lang="en-PK" dirty="0"/>
              <a:t>c = Child()</a:t>
            </a:r>
            <a:br>
              <a:rPr lang="en-PK" dirty="0"/>
            </a:br>
            <a:r>
              <a:rPr lang="en-PK" dirty="0"/>
              <a:t>c.show()</a:t>
            </a:r>
            <a:br>
              <a:rPr lang="en-PK" dirty="0"/>
            </a:br>
            <a:r>
              <a:rPr lang="en-PK" dirty="0"/>
              <a:t>c.display()</a:t>
            </a:r>
          </a:p>
          <a:p>
            <a:endParaRPr lang="en-PK" dirty="0"/>
          </a:p>
          <a:p>
            <a:endParaRPr lang="en-PK" dirty="0"/>
          </a:p>
          <a:p>
            <a:pPr marL="0" indent="0">
              <a:buNone/>
            </a:pPr>
            <a:r>
              <a:rPr lang="en-PK" dirty="0"/>
              <a:t>Structure:</a:t>
            </a:r>
          </a:p>
          <a:p>
            <a:r>
              <a:rPr lang="en-PK" dirty="0"/>
              <a:t>Parent → Child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10045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5EDFD-E600-745D-10A9-45311072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/>
              <a:t>2. Multiple Inheritance</a:t>
            </a:r>
            <a:br>
              <a:rPr lang="en-PK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4C73B-0031-3DF6-E406-C0A4AA4CC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2056"/>
            <a:ext cx="10515600" cy="558099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PK" b="1" dirty="0"/>
              <a:t>Definition:</a:t>
            </a:r>
            <a:br>
              <a:rPr lang="en-PK" dirty="0"/>
            </a:br>
            <a:r>
              <a:rPr lang="en-PK" dirty="0"/>
              <a:t>A child class inherits from </a:t>
            </a:r>
            <a:r>
              <a:rPr lang="en-PK" b="1" dirty="0"/>
              <a:t>more than one parent class</a:t>
            </a:r>
          </a:p>
          <a:p>
            <a:pPr marL="0" indent="0">
              <a:buNone/>
            </a:pPr>
            <a:r>
              <a:rPr lang="en-PK" b="1" dirty="0"/>
              <a:t>Example:</a:t>
            </a:r>
            <a:endParaRPr lang="en-PK" dirty="0"/>
          </a:p>
          <a:p>
            <a:r>
              <a:rPr lang="en-PK" dirty="0"/>
              <a:t>class Father:</a:t>
            </a:r>
            <a:br>
              <a:rPr lang="en-PK" dirty="0"/>
            </a:br>
            <a:r>
              <a:rPr lang="en-PK" dirty="0"/>
              <a:t>    def skill1(self):</a:t>
            </a:r>
            <a:br>
              <a:rPr lang="en-PK" dirty="0"/>
            </a:br>
            <a:r>
              <a:rPr lang="en-PK" dirty="0"/>
              <a:t>        print("Driving")</a:t>
            </a:r>
            <a:br>
              <a:rPr lang="en-PK" dirty="0"/>
            </a:br>
            <a:br>
              <a:rPr lang="en-PK" dirty="0"/>
            </a:br>
            <a:r>
              <a:rPr lang="en-PK" dirty="0"/>
              <a:t>class Mother:</a:t>
            </a:r>
            <a:br>
              <a:rPr lang="en-PK" dirty="0"/>
            </a:br>
            <a:r>
              <a:rPr lang="en-PK" dirty="0"/>
              <a:t>    def skill2(self):</a:t>
            </a:r>
            <a:br>
              <a:rPr lang="en-PK" dirty="0"/>
            </a:br>
            <a:r>
              <a:rPr lang="en-PK" dirty="0"/>
              <a:t>        print("Cooking")</a:t>
            </a:r>
            <a:br>
              <a:rPr lang="en-PK" dirty="0"/>
            </a:br>
            <a:br>
              <a:rPr lang="en-PK" dirty="0"/>
            </a:br>
            <a:r>
              <a:rPr lang="en-PK" dirty="0"/>
              <a:t>class Child(Father, Mother):</a:t>
            </a:r>
            <a:br>
              <a:rPr lang="en-PK" dirty="0"/>
            </a:br>
            <a:r>
              <a:rPr lang="en-PK" dirty="0"/>
              <a:t>    pass</a:t>
            </a:r>
            <a:br>
              <a:rPr lang="en-PK" dirty="0"/>
            </a:br>
            <a:br>
              <a:rPr lang="en-PK" dirty="0"/>
            </a:br>
            <a:r>
              <a:rPr lang="en-PK" dirty="0"/>
              <a:t>c = Child()</a:t>
            </a:r>
            <a:br>
              <a:rPr lang="en-PK" dirty="0"/>
            </a:br>
            <a:r>
              <a:rPr lang="en-PK" dirty="0"/>
              <a:t>c.skill1()</a:t>
            </a:r>
            <a:br>
              <a:rPr lang="en-PK" dirty="0"/>
            </a:br>
            <a:r>
              <a:rPr lang="en-PK" dirty="0"/>
              <a:t>c.skill2()</a:t>
            </a:r>
          </a:p>
          <a:p>
            <a:pPr marL="0" indent="0">
              <a:buNone/>
            </a:pPr>
            <a:endParaRPr lang="en-PK" dirty="0"/>
          </a:p>
          <a:p>
            <a:r>
              <a:rPr lang="en-PK" dirty="0"/>
              <a:t>Structure:</a:t>
            </a:r>
          </a:p>
          <a:p>
            <a:r>
              <a:rPr lang="en-PK" dirty="0"/>
              <a:t>Father   Mother</a:t>
            </a:r>
            <a:br>
              <a:rPr lang="en-PK" dirty="0"/>
            </a:br>
            <a:r>
              <a:rPr lang="en-PK" dirty="0"/>
              <a:t>   \     /</a:t>
            </a:r>
            <a:br>
              <a:rPr lang="en-PK" dirty="0"/>
            </a:br>
            <a:r>
              <a:rPr lang="en-PK" dirty="0"/>
              <a:t>    Child</a:t>
            </a:r>
          </a:p>
          <a:p>
            <a:pPr marL="0" indent="0">
              <a:buNone/>
            </a:pP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60627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F79E1-C860-34CF-E567-71DB823A9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566" y="175939"/>
            <a:ext cx="10515600" cy="1325563"/>
          </a:xfrm>
        </p:spPr>
        <p:txBody>
          <a:bodyPr/>
          <a:lstStyle/>
          <a:p>
            <a:pPr algn="ctr"/>
            <a:r>
              <a:rPr lang="en-PK" b="1" dirty="0"/>
              <a:t>3. Multilevel Inheritance</a:t>
            </a:r>
            <a:br>
              <a:rPr lang="en-PK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B46B6-F3CC-49A3-C4A6-F866EEE99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566" y="945492"/>
            <a:ext cx="10515600" cy="591250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PK" b="1" dirty="0"/>
              <a:t>Definition:</a:t>
            </a:r>
            <a:br>
              <a:rPr lang="en-PK" dirty="0"/>
            </a:br>
            <a:r>
              <a:rPr lang="en-PK" dirty="0"/>
              <a:t>Inheritance happens in </a:t>
            </a:r>
            <a:r>
              <a:rPr lang="en-PK" b="1" dirty="0"/>
              <a:t>levels (chain).</a:t>
            </a:r>
            <a:br>
              <a:rPr lang="en-PK" b="1" dirty="0"/>
            </a:br>
            <a:r>
              <a:rPr lang="en-PK" dirty="0"/>
              <a:t>Multilevel inheritance occurs when a class inherits from another child class.</a:t>
            </a:r>
          </a:p>
          <a:p>
            <a:pPr marL="0" indent="0">
              <a:buNone/>
            </a:pPr>
            <a:r>
              <a:rPr lang="en-PK" b="1" dirty="0"/>
              <a:t>Another Definition</a:t>
            </a:r>
            <a:endParaRPr lang="en-PK" dirty="0"/>
          </a:p>
          <a:p>
            <a:pPr marL="0" indent="0">
              <a:buNone/>
            </a:pPr>
            <a:r>
              <a:rPr lang="en-PK" dirty="0"/>
              <a:t>A type of inheritance where inheritance happens in multiple levels forming a chain.</a:t>
            </a:r>
            <a:br>
              <a:rPr lang="en-PK" dirty="0"/>
            </a:br>
            <a:r>
              <a:rPr lang="en-PK" dirty="0"/>
              <a:t>Multilevel inheritance occurs when a class inherits from another derived class.</a:t>
            </a:r>
          </a:p>
          <a:p>
            <a:pPr marL="0" indent="0">
              <a:buNone/>
            </a:pPr>
            <a:endParaRPr lang="en-PK" dirty="0"/>
          </a:p>
          <a:p>
            <a:pPr marL="0" indent="0">
              <a:buNone/>
            </a:pPr>
            <a:endParaRPr lang="en-PK" dirty="0"/>
          </a:p>
          <a:p>
            <a:pPr marL="0" indent="0">
              <a:buNone/>
            </a:pPr>
            <a:r>
              <a:rPr lang="en-PK" b="1" dirty="0"/>
              <a:t>Example:</a:t>
            </a:r>
            <a:endParaRPr lang="en-PK" dirty="0"/>
          </a:p>
          <a:p>
            <a:pPr marL="0" indent="0">
              <a:buNone/>
            </a:pPr>
            <a:r>
              <a:rPr lang="en-PK" dirty="0"/>
              <a:t>class Grandparent:</a:t>
            </a:r>
            <a:br>
              <a:rPr lang="en-PK" dirty="0"/>
            </a:br>
            <a:r>
              <a:rPr lang="en-PK" dirty="0"/>
              <a:t>    def house(self):</a:t>
            </a:r>
            <a:br>
              <a:rPr lang="en-PK" dirty="0"/>
            </a:br>
            <a:r>
              <a:rPr lang="en-PK" dirty="0"/>
              <a:t>        print("Grandparent's House")</a:t>
            </a:r>
            <a:br>
              <a:rPr lang="en-PK" dirty="0"/>
            </a:br>
            <a:br>
              <a:rPr lang="en-PK" dirty="0"/>
            </a:br>
            <a:r>
              <a:rPr lang="en-PK" dirty="0"/>
              <a:t>class Parent(Grandparent):</a:t>
            </a:r>
            <a:br>
              <a:rPr lang="en-PK" dirty="0"/>
            </a:br>
            <a:r>
              <a:rPr lang="en-PK" dirty="0"/>
              <a:t>    def car(self):</a:t>
            </a:r>
            <a:br>
              <a:rPr lang="en-PK" dirty="0"/>
            </a:br>
            <a:r>
              <a:rPr lang="en-PK" dirty="0"/>
              <a:t>        print("Parent's Car")</a:t>
            </a:r>
            <a:br>
              <a:rPr lang="en-PK" dirty="0"/>
            </a:br>
            <a:br>
              <a:rPr lang="en-PK" dirty="0"/>
            </a:br>
            <a:r>
              <a:rPr lang="en-PK" dirty="0"/>
              <a:t>class Child(Parent):</a:t>
            </a:r>
            <a:br>
              <a:rPr lang="en-PK" dirty="0"/>
            </a:br>
            <a:r>
              <a:rPr lang="en-PK" dirty="0"/>
              <a:t>    def bike(self):</a:t>
            </a:r>
            <a:br>
              <a:rPr lang="en-PK" dirty="0"/>
            </a:br>
            <a:r>
              <a:rPr lang="en-PK" dirty="0"/>
              <a:t>        print("Child's Bike")</a:t>
            </a:r>
            <a:br>
              <a:rPr lang="en-PK" dirty="0"/>
            </a:br>
            <a:br>
              <a:rPr lang="en-PK" dirty="0"/>
            </a:br>
            <a:r>
              <a:rPr lang="en-PK" dirty="0"/>
              <a:t>c = Child()</a:t>
            </a:r>
            <a:br>
              <a:rPr lang="en-PK" dirty="0"/>
            </a:br>
            <a:r>
              <a:rPr lang="en-PK" dirty="0"/>
              <a:t>c.house()</a:t>
            </a:r>
            <a:br>
              <a:rPr lang="en-PK" dirty="0"/>
            </a:br>
            <a:r>
              <a:rPr lang="en-PK" dirty="0"/>
              <a:t>c.car()</a:t>
            </a:r>
            <a:br>
              <a:rPr lang="en-PK" dirty="0"/>
            </a:br>
            <a:r>
              <a:rPr lang="en-PK" dirty="0"/>
              <a:t>c.bike()</a:t>
            </a:r>
            <a:br>
              <a:rPr lang="en-PK" dirty="0"/>
            </a:br>
            <a:endParaRPr lang="en-PK" dirty="0"/>
          </a:p>
          <a:p>
            <a:pPr marL="0" indent="0">
              <a:buNone/>
            </a:pPr>
            <a:r>
              <a:rPr lang="en-PK" dirty="0"/>
              <a:t>Structure:</a:t>
            </a:r>
          </a:p>
          <a:p>
            <a:r>
              <a:rPr lang="en-PK" dirty="0"/>
              <a:t>Grandparent → Parent → Child</a:t>
            </a:r>
          </a:p>
          <a:p>
            <a:pPr marL="0" indent="0">
              <a:buNone/>
            </a:pP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85692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17A24-7710-FFD8-55E1-B14A63E3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/>
              <a:t>What is Polymorphism?</a:t>
            </a:r>
            <a:br>
              <a:rPr lang="en-PK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D4C69-2D40-D30B-A079-2BEC9BBFE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PK" dirty="0"/>
              <a:t>“Poly” = many </a:t>
            </a:r>
          </a:p>
          <a:p>
            <a:pPr lvl="0"/>
            <a:r>
              <a:rPr lang="en-PK" dirty="0"/>
              <a:t>“Morph” = forms </a:t>
            </a:r>
          </a:p>
          <a:p>
            <a:pPr marL="0" indent="0">
              <a:buNone/>
            </a:pPr>
            <a:r>
              <a:rPr lang="en-PK" dirty="0"/>
              <a:t>👉 Same function, different behavior</a:t>
            </a:r>
          </a:p>
          <a:p>
            <a:pPr marL="0" indent="0">
              <a:buNone/>
            </a:pPr>
            <a:r>
              <a:rPr lang="en-PK" dirty="0"/>
              <a:t>Polymorphism means one method can behave differently for different objects.</a:t>
            </a:r>
          </a:p>
          <a:p>
            <a:pPr marL="0" indent="0">
              <a:buNone/>
            </a:pPr>
            <a:r>
              <a:rPr lang="en-PK" dirty="0"/>
              <a:t>Example:</a:t>
            </a:r>
          </a:p>
          <a:p>
            <a:pPr marL="0" indent="0">
              <a:buNone/>
            </a:pPr>
            <a:r>
              <a:rPr lang="en-PK" dirty="0"/>
              <a:t>print(len("Hello"))   # String length</a:t>
            </a:r>
          </a:p>
          <a:p>
            <a:pPr marL="0" indent="0">
              <a:buNone/>
            </a:pPr>
            <a:r>
              <a:rPr lang="en-PK" dirty="0"/>
              <a:t>print(len([1,2,3]))  # List length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73515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D83EC-8847-98EB-F0B5-B542BF423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/>
              <a:t>Polymorphism with Classes</a:t>
            </a:r>
            <a:br>
              <a:rPr lang="en-PK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DC406-AFE8-F822-0EB2-A4F005969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324"/>
            <a:ext cx="10515600" cy="48316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dirty="0"/>
              <a:t>class Dog:</a:t>
            </a:r>
            <a:br>
              <a:rPr lang="en-PK" dirty="0"/>
            </a:br>
            <a:r>
              <a:rPr lang="en-PK" dirty="0"/>
              <a:t>    def sound(self):</a:t>
            </a:r>
            <a:br>
              <a:rPr lang="en-PK" dirty="0"/>
            </a:br>
            <a:r>
              <a:rPr lang="en-PK" dirty="0"/>
              <a:t>        print("Bark")</a:t>
            </a:r>
            <a:br>
              <a:rPr lang="en-PK" dirty="0"/>
            </a:br>
            <a:br>
              <a:rPr lang="en-PK" dirty="0"/>
            </a:br>
            <a:r>
              <a:rPr lang="en-PK" dirty="0"/>
              <a:t>class Cat:</a:t>
            </a:r>
            <a:br>
              <a:rPr lang="en-PK" dirty="0"/>
            </a:br>
            <a:r>
              <a:rPr lang="en-PK" dirty="0"/>
              <a:t>    def sound(self):</a:t>
            </a:r>
            <a:br>
              <a:rPr lang="en-PK" dirty="0"/>
            </a:br>
            <a:r>
              <a:rPr lang="en-PK" dirty="0"/>
              <a:t>        print("Meow")</a:t>
            </a:r>
            <a:br>
              <a:rPr lang="en-PK" dirty="0"/>
            </a:br>
            <a:br>
              <a:rPr lang="en-PK" dirty="0"/>
            </a:br>
            <a:r>
              <a:rPr lang="en-PK" dirty="0"/>
              <a:t>for animal in [Dog(), Cat()]:</a:t>
            </a:r>
            <a:br>
              <a:rPr lang="en-PK" dirty="0"/>
            </a:br>
            <a:r>
              <a:rPr lang="en-PK" dirty="0"/>
              <a:t>    animal.sound()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37260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F5E1C-92A7-B2C7-9D2F-92630CCBB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/>
              <a:t>Method Overriding</a:t>
            </a:r>
            <a:br>
              <a:rPr lang="en-PK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D9C2B-9112-7173-B4D3-7297676F2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979"/>
            <a:ext cx="10515600" cy="4673984"/>
          </a:xfrm>
        </p:spPr>
        <p:txBody>
          <a:bodyPr/>
          <a:lstStyle/>
          <a:p>
            <a:pPr marL="0" indent="0">
              <a:buNone/>
            </a:pPr>
            <a:r>
              <a:rPr lang="en-PK" dirty="0"/>
              <a:t>Method overriding occurs when a child class changes the behavior of a parent class method.</a:t>
            </a:r>
          </a:p>
          <a:p>
            <a:pPr marL="0" indent="0">
              <a:buNone/>
            </a:pPr>
            <a:br>
              <a:rPr lang="en-PK" dirty="0"/>
            </a:br>
            <a:r>
              <a:rPr lang="en-PK" dirty="0"/>
              <a:t>class Animal:</a:t>
            </a:r>
            <a:br>
              <a:rPr lang="en-PK" dirty="0"/>
            </a:br>
            <a:r>
              <a:rPr lang="en-PK" dirty="0"/>
              <a:t>    def sound(self):</a:t>
            </a:r>
            <a:br>
              <a:rPr lang="en-PK" dirty="0"/>
            </a:br>
            <a:r>
              <a:rPr lang="en-PK" dirty="0"/>
              <a:t>        print("Some sound")</a:t>
            </a:r>
            <a:br>
              <a:rPr lang="en-PK" dirty="0"/>
            </a:br>
            <a:br>
              <a:rPr lang="en-PK" dirty="0"/>
            </a:br>
            <a:r>
              <a:rPr lang="en-PK" dirty="0"/>
              <a:t>class Dog(Animal):</a:t>
            </a:r>
            <a:br>
              <a:rPr lang="en-PK" dirty="0"/>
            </a:br>
            <a:r>
              <a:rPr lang="en-PK" dirty="0"/>
              <a:t>    def sound(self):</a:t>
            </a:r>
            <a:br>
              <a:rPr lang="en-PK" dirty="0"/>
            </a:br>
            <a:r>
              <a:rPr lang="en-PK" dirty="0"/>
              <a:t>        print("Bark")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1469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160C-316A-2644-2951-CC5B2176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/>
              <a:t>Method Overloading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73647-0BE4-541C-625F-D55CD015E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PK" dirty="0"/>
              <a:t>Method overloading means using the same method name with different parameters.</a:t>
            </a:r>
          </a:p>
          <a:p>
            <a:pPr marL="0" indent="0">
              <a:buNone/>
            </a:pPr>
            <a:r>
              <a:rPr lang="en-PK" dirty="0"/>
              <a:t>Example:</a:t>
            </a:r>
          </a:p>
          <a:p>
            <a:pPr marL="0" indent="0">
              <a:buNone/>
            </a:pPr>
            <a:r>
              <a:rPr lang="en-GB" dirty="0"/>
              <a:t>class Calculator: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def add(self, a, b, c=0):</a:t>
            </a:r>
            <a:br>
              <a:rPr lang="en-GB" dirty="0"/>
            </a:br>
            <a:r>
              <a:rPr lang="en-GB" dirty="0"/>
              <a:t>return a + b + c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c1 = Calculator()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print(c1.add(2, 3))</a:t>
            </a:r>
            <a:br>
              <a:rPr lang="en-GB" dirty="0"/>
            </a:br>
            <a:r>
              <a:rPr lang="en-GB" dirty="0"/>
              <a:t>print(c1.add(2, 3, 4))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89148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EB65-B266-08BE-5468-F08860A88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689"/>
            <a:ext cx="10515600" cy="1325563"/>
          </a:xfrm>
        </p:spPr>
        <p:txBody>
          <a:bodyPr/>
          <a:lstStyle/>
          <a:p>
            <a:pPr algn="ctr"/>
            <a:r>
              <a:rPr lang="en-PK" b="1" dirty="0"/>
              <a:t>Method Overloading 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9FCE4-588D-14B1-0747-3577F3D73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252"/>
            <a:ext cx="10515600" cy="504562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class Student: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def info(self, name=None, age=None):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if name and age:</a:t>
            </a:r>
            <a:br>
              <a:rPr lang="en-GB" dirty="0"/>
            </a:br>
            <a:r>
              <a:rPr lang="en-GB" dirty="0"/>
              <a:t>print(name, age)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elif</a:t>
            </a:r>
            <a:r>
              <a:rPr lang="en-GB" dirty="0"/>
              <a:t> name:</a:t>
            </a:r>
            <a:br>
              <a:rPr lang="en-GB" dirty="0"/>
            </a:br>
            <a:r>
              <a:rPr lang="en-GB" dirty="0"/>
              <a:t>print(name)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else:</a:t>
            </a:r>
            <a:br>
              <a:rPr lang="en-GB" dirty="0"/>
            </a:br>
            <a:r>
              <a:rPr lang="en-GB" dirty="0"/>
              <a:t>print("No Data")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s1 = Student()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s1.info()</a:t>
            </a:r>
            <a:br>
              <a:rPr lang="en-GB" dirty="0"/>
            </a:br>
            <a:r>
              <a:rPr lang="en-GB" dirty="0"/>
              <a:t>s1.info("Ali")</a:t>
            </a:r>
            <a:br>
              <a:rPr lang="en-GB" dirty="0"/>
            </a:br>
            <a:r>
              <a:rPr lang="en-GB" dirty="0"/>
              <a:t>s1.info("Ali", 20)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Output:</a:t>
            </a:r>
            <a:br>
              <a:rPr lang="en-GB" dirty="0"/>
            </a:br>
            <a:r>
              <a:rPr lang="en-GB" dirty="0"/>
              <a:t>No Data</a:t>
            </a:r>
          </a:p>
          <a:p>
            <a:pPr marL="0" indent="0">
              <a:buNone/>
            </a:pPr>
            <a:r>
              <a:rPr lang="en-GB" dirty="0"/>
              <a:t>Ali</a:t>
            </a:r>
          </a:p>
          <a:p>
            <a:pPr marL="0" indent="0">
              <a:buNone/>
            </a:pPr>
            <a:r>
              <a:rPr lang="en-GB" dirty="0"/>
              <a:t>Ali 20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91064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FC6BE-629F-A15B-53E0-B12846D4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/>
              <a:t>Method Overloading 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0B222-775F-51D0-333D-57E46DD99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class Shape: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def area(self, length, width=None):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if width == None:</a:t>
            </a:r>
            <a:br>
              <a:rPr lang="en-GB" dirty="0"/>
            </a:br>
            <a:r>
              <a:rPr lang="en-GB" dirty="0"/>
              <a:t>return length * length</a:t>
            </a:r>
            <a:br>
              <a:rPr lang="en-GB" dirty="0"/>
            </a:br>
            <a:br>
              <a:rPr lang="en-GB" dirty="0"/>
            </a:br>
            <a:r>
              <a:rPr lang="en-GB" dirty="0"/>
              <a:t>else:</a:t>
            </a:r>
            <a:br>
              <a:rPr lang="en-GB" dirty="0"/>
            </a:br>
            <a:r>
              <a:rPr lang="en-GB" dirty="0"/>
              <a:t>return length * width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 = Shape()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print(</a:t>
            </a:r>
            <a:r>
              <a:rPr lang="en-GB" dirty="0" err="1"/>
              <a:t>s.area</a:t>
            </a:r>
            <a:r>
              <a:rPr lang="en-GB" dirty="0"/>
              <a:t>(4))</a:t>
            </a:r>
            <a:br>
              <a:rPr lang="en-GB" dirty="0"/>
            </a:br>
            <a:r>
              <a:rPr lang="en-GB" dirty="0"/>
              <a:t>print(</a:t>
            </a:r>
            <a:r>
              <a:rPr lang="en-GB" dirty="0" err="1"/>
              <a:t>s.area</a:t>
            </a:r>
            <a:r>
              <a:rPr lang="en-GB" dirty="0"/>
              <a:t>(4, 5))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7010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35E77-885F-5C81-AC9F-4986E6BB4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Method Overloading vs Method Overriding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C224C2-349B-294D-FD98-17D71C1070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4292572"/>
              </p:ext>
            </p:extLst>
          </p:nvPr>
        </p:nvGraphicFramePr>
        <p:xfrm>
          <a:off x="838200" y="2228193"/>
          <a:ext cx="10515600" cy="22123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798064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92601703"/>
                    </a:ext>
                  </a:extLst>
                </a:gridCol>
              </a:tblGrid>
              <a:tr h="5530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Overloading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Overriding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56635584"/>
                  </a:ext>
                </a:extLst>
              </a:tr>
              <a:tr h="553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Same method name, different parameters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Same method in parent and child class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09050551"/>
                  </a:ext>
                </a:extLst>
              </a:tr>
              <a:tr h="553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Occurs in same class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Occurs in inheritance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09477943"/>
                  </a:ext>
                </a:extLst>
              </a:tr>
              <a:tr h="553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Compile-time polymorphism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 dirty="0">
                          <a:effectLst/>
                        </a:rPr>
                        <a:t>Runtime polymorphism</a:t>
                      </a:r>
                      <a:endParaRPr lang="en-PK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30936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3073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A35D-EC47-1136-B465-C5D56BE3A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/>
              <a:t>Inheritance vs Polymorphism</a:t>
            </a:r>
            <a:br>
              <a:rPr lang="en-PK" dirty="0"/>
            </a:br>
            <a:endParaRPr lang="en-PK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EBDA016-E0D4-DF3E-1C6C-6220DE86C9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6526884"/>
              </p:ext>
            </p:extLst>
          </p:nvPr>
        </p:nvGraphicFramePr>
        <p:xfrm>
          <a:off x="838200" y="2039006"/>
          <a:ext cx="10515600" cy="3310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489364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9497156"/>
                    </a:ext>
                  </a:extLst>
                </a:gridCol>
              </a:tblGrid>
              <a:tr h="8276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Inheritance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Polymorphism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99874204"/>
                  </a:ext>
                </a:extLst>
              </a:tr>
              <a:tr h="8276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Reuse code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Same interface, different behavior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2285394"/>
                  </a:ext>
                </a:extLst>
              </a:tr>
              <a:tr h="8276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Parent → Child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One method, many forms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69495134"/>
                  </a:ext>
                </a:extLst>
              </a:tr>
              <a:tr h="8276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Structure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 dirty="0">
                          <a:effectLst/>
                        </a:rPr>
                        <a:t>Behavior</a:t>
                      </a:r>
                      <a:endParaRPr lang="en-PK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55331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63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A6394-5793-2995-0892-C56FEF784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/>
              <a:t>Benefits of Polymorphism</a:t>
            </a:r>
            <a:br>
              <a:rPr lang="en-PK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D07C0-6683-0167-8B7D-B4E2B4567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PK" dirty="0"/>
              <a:t>Code reusability </a:t>
            </a:r>
          </a:p>
          <a:p>
            <a:pPr lvl="0"/>
            <a:r>
              <a:rPr lang="en-PK" dirty="0"/>
              <a:t>Cleaner code </a:t>
            </a:r>
          </a:p>
          <a:p>
            <a:pPr lvl="0"/>
            <a:r>
              <a:rPr lang="en-PK" dirty="0"/>
              <a:t>Easy maintenance </a:t>
            </a:r>
          </a:p>
          <a:p>
            <a:pPr lvl="0"/>
            <a:r>
              <a:rPr lang="en-PK" dirty="0"/>
              <a:t>Flexibility</a:t>
            </a:r>
          </a:p>
          <a:p>
            <a:r>
              <a:rPr lang="en-PK" dirty="0"/>
              <a:t>Polymorphism increases flexibility, scalability, and code reusability.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42483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1145</Words>
  <Application>Microsoft Macintosh PowerPoint</Application>
  <PresentationFormat>Widescreen</PresentationFormat>
  <Paragraphs>142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Symbol</vt:lpstr>
      <vt:lpstr>Times New Roman</vt:lpstr>
      <vt:lpstr>Office Theme</vt:lpstr>
      <vt:lpstr>Programming for Business  Classes, Object, Inheritance and Polymorphism  FAST–NUCES    Miss Shumaila Arshad </vt:lpstr>
      <vt:lpstr>Difference between Class and Object</vt:lpstr>
      <vt:lpstr>Inheritance</vt:lpstr>
      <vt:lpstr>Inheritance</vt:lpstr>
      <vt:lpstr>Example:</vt:lpstr>
      <vt:lpstr>What is super()? </vt:lpstr>
      <vt:lpstr>What is self in Python? </vt:lpstr>
      <vt:lpstr>Difference between self and super()</vt:lpstr>
      <vt:lpstr>Types of Inheritance </vt:lpstr>
      <vt:lpstr>1. Single Inheritance </vt:lpstr>
      <vt:lpstr>2. Multiple Inheritance </vt:lpstr>
      <vt:lpstr>3. Multilevel Inheritance </vt:lpstr>
      <vt:lpstr>What is Polymorphism? </vt:lpstr>
      <vt:lpstr>Polymorphism with Classes </vt:lpstr>
      <vt:lpstr>Method Overriding </vt:lpstr>
      <vt:lpstr>Method Overloading</vt:lpstr>
      <vt:lpstr>Method Overloading Example</vt:lpstr>
      <vt:lpstr>Method Overloading Example</vt:lpstr>
      <vt:lpstr>Method Overloading vs Method Overriding</vt:lpstr>
      <vt:lpstr>Inheritance vs Polymorphism </vt:lpstr>
      <vt:lpstr>Benefits of Polymorphism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TK-LPT-865</dc:creator>
  <cp:lastModifiedBy>TK-LPT-865</cp:lastModifiedBy>
  <cp:revision>2</cp:revision>
  <dcterms:created xsi:type="dcterms:W3CDTF">2026-05-14T06:22:55Z</dcterms:created>
  <dcterms:modified xsi:type="dcterms:W3CDTF">2026-05-14T06:57:57Z</dcterms:modified>
</cp:coreProperties>
</file>