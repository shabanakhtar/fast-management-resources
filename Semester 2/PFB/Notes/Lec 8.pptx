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5" r:id="rId5"/>
    <p:sldId id="286" r:id="rId6"/>
    <p:sldId id="287" r:id="rId7"/>
    <p:sldId id="289" r:id="rId8"/>
    <p:sldId id="290" r:id="rId9"/>
    <p:sldId id="294" r:id="rId10"/>
    <p:sldId id="291" r:id="rId11"/>
    <p:sldId id="298" r:id="rId12"/>
    <p:sldId id="299" r:id="rId13"/>
    <p:sldId id="292" r:id="rId14"/>
    <p:sldId id="300" r:id="rId15"/>
    <p:sldId id="301" r:id="rId16"/>
    <p:sldId id="302" r:id="rId17"/>
    <p:sldId id="303" r:id="rId18"/>
    <p:sldId id="304" r:id="rId19"/>
    <p:sldId id="293" r:id="rId20"/>
    <p:sldId id="259" r:id="rId21"/>
    <p:sldId id="261" r:id="rId22"/>
    <p:sldId id="279" r:id="rId23"/>
    <p:sldId id="280" r:id="rId24"/>
    <p:sldId id="308" r:id="rId25"/>
    <p:sldId id="307" r:id="rId26"/>
    <p:sldId id="305" r:id="rId27"/>
    <p:sldId id="306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77483"/>
  </p:normalViewPr>
  <p:slideViewPr>
    <p:cSldViewPr snapToGrid="0" snapToObjects="1">
      <p:cViewPr>
        <p:scale>
          <a:sx n="109" d="100"/>
          <a:sy n="109" d="100"/>
        </p:scale>
        <p:origin x="2424" y="-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9E03F-F288-CC48-8199-033E3CA507D1}" type="datetimeFigureOut">
              <a:rPr lang="en-PK" smtClean="0"/>
              <a:t>20/04/2026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11772-579D-A04D-8149-AC79BC651C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00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students which value is different.</a:t>
            </a:r>
          </a:p>
          <a:p>
            <a:r>
              <a:rPr dirty="0"/>
              <a:t>Explain 500 is outlier.</a:t>
            </a:r>
          </a:p>
          <a:p>
            <a:r>
              <a:rPr dirty="0"/>
              <a:t>Outliers disturb average and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boxplot visually detects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relationship between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correlation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 of clean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https://images.openai.com/static-rsc-4/lT1zuJkGP1Sy8OoOFoAhIViT2BRx4y9J_8NYWSNNgp7_fQNhSYT2ucVacRZcdlql7PQQn-rdtLubh0d5r1b5Y_PAooVkW_6kadV6rhqnNXh-jMKyNHVau2MidOUwQrs1HN3PIZfbDiJbh-grRh0ZYKhXloT1HlbZvHCmYoQ2qCk?purpose=inline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0396"/>
            <a:ext cx="7772400" cy="1470025"/>
          </a:xfrm>
        </p:spPr>
        <p:txBody>
          <a:bodyPr/>
          <a:lstStyle/>
          <a:p>
            <a:r>
              <a:rPr lang="en-GB" b="1" dirty="0"/>
              <a:t>Programming for Business</a:t>
            </a:r>
            <a:r>
              <a:rPr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Exploratory Data Analysis (EDA)</a:t>
            </a:r>
            <a:br>
              <a:rPr lang="en-GB" b="1" dirty="0"/>
            </a:br>
            <a:r>
              <a:rPr lang="en-GB" b="1" dirty="0"/>
              <a:t>FAST–NUCES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Miss Shumaila Arshad</a:t>
            </a:r>
            <a:endParaRPr lang="en-GB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EDA?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EDA stands for: </a:t>
            </a:r>
            <a:r>
              <a:rPr lang="en-GB" i="1" dirty="0"/>
              <a:t>Exploratory Data Analysis</a:t>
            </a:r>
            <a:endParaRPr lang="en-US" dirty="0"/>
          </a:p>
          <a:p>
            <a:r>
              <a:rPr lang="en-GB" dirty="0"/>
              <a:t>EDA (Exploratory Data Analysis) is the process of analysing and summarizing data to understand its structure, patterns, and relationships before applying any model.</a:t>
            </a:r>
            <a:endParaRPr dirty="0"/>
          </a:p>
          <a:p>
            <a:r>
              <a:rPr b="1" dirty="0"/>
              <a:t>Goal:</a:t>
            </a:r>
            <a:r>
              <a:rPr dirty="0"/>
              <a:t> </a:t>
            </a:r>
            <a:r>
              <a:rPr lang="en-US" dirty="0"/>
              <a:t>To u</a:t>
            </a:r>
            <a:r>
              <a:rPr dirty="0"/>
              <a:t>nderstand data BEFORE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EDA</a:t>
            </a:r>
            <a:r>
              <a:rPr lang="en-US" b="1" dirty="0"/>
              <a:t> is important</a:t>
            </a:r>
            <a:r>
              <a:rPr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Detect missing values</a:t>
            </a:r>
          </a:p>
          <a:p>
            <a:pPr marL="0" indent="0">
              <a:buNone/>
            </a:pPr>
            <a:r>
              <a:rPr dirty="0"/>
              <a:t>• Identify outliers</a:t>
            </a:r>
          </a:p>
          <a:p>
            <a:pPr marL="0" indent="0">
              <a:buNone/>
            </a:pPr>
            <a:r>
              <a:rPr dirty="0"/>
              <a:t>• Understand distribution</a:t>
            </a:r>
          </a:p>
          <a:p>
            <a:pPr marL="0" indent="0">
              <a:buNone/>
            </a:pPr>
            <a:r>
              <a:rPr dirty="0"/>
              <a:t>• Improve ML models</a:t>
            </a:r>
          </a:p>
          <a:p>
            <a:pPr marL="0" indent="0">
              <a:buNone/>
            </a:pPr>
            <a:r>
              <a:rPr dirty="0"/>
              <a:t>Reason: Garbage in = Garbage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Missing Values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 | Salary</a:t>
            </a:r>
          </a:p>
          <a:p>
            <a:r>
              <a:rPr dirty="0"/>
              <a:t>25 | 50000</a:t>
            </a:r>
          </a:p>
          <a:p>
            <a:r>
              <a:rPr dirty="0"/>
              <a:t>30 | </a:t>
            </a:r>
            <a:r>
              <a:rPr dirty="0" err="1"/>
              <a:t>NaN</a:t>
            </a:r>
            <a:endParaRPr lang="en-US" dirty="0"/>
          </a:p>
          <a:p>
            <a:endParaRPr lang="en-PK" dirty="0"/>
          </a:p>
          <a:p>
            <a:r>
              <a:rPr lang="en-PK" b="1" dirty="0"/>
              <a:t>NaN</a:t>
            </a:r>
            <a:r>
              <a:rPr lang="en-PK" dirty="0"/>
              <a:t> -&gt; Not a Number</a:t>
            </a:r>
          </a:p>
          <a:p>
            <a:r>
              <a:rPr lang="en-PK" b="1" dirty="0"/>
              <a:t>Problem:</a:t>
            </a:r>
            <a:r>
              <a:rPr lang="en-PK" dirty="0"/>
              <a:t> Models cannot handle missing data.</a:t>
            </a:r>
            <a:br>
              <a:rPr lang="en-PK" dirty="0"/>
            </a:br>
            <a:r>
              <a:rPr lang="en-PK" b="1" dirty="0"/>
              <a:t>Solution:</a:t>
            </a:r>
            <a:r>
              <a:rPr lang="en-PK" dirty="0"/>
              <a:t> Fix it using mean, median, or remove a row with missing data.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Outliers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10, 12, 11, 500</a:t>
            </a:r>
            <a:endParaRPr lang="en-US" dirty="0"/>
          </a:p>
          <a:p>
            <a:pPr marL="0" indent="0">
              <a:buNone/>
            </a:pPr>
            <a:br>
              <a:rPr lang="en-PK" dirty="0"/>
            </a:br>
            <a:r>
              <a:rPr lang="en-PK" dirty="0"/>
              <a:t>500 is outlier</a:t>
            </a:r>
            <a:endParaRPr lang="en-US" dirty="0"/>
          </a:p>
          <a:p>
            <a:r>
              <a:rPr lang="en-GB" dirty="0"/>
              <a:t>Outliers disturb average and predictions.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523515" cy="5440362"/>
          </a:xfrm>
        </p:spPr>
        <p:txBody>
          <a:bodyPr/>
          <a:lstStyle/>
          <a:p>
            <a:r>
              <a:rPr dirty="0"/>
              <a:t>Normal vs Skewed</a:t>
            </a:r>
            <a:r>
              <a:rPr lang="en-US" dirty="0"/>
              <a:t> </a:t>
            </a:r>
            <a:r>
              <a:rPr dirty="0"/>
              <a:t>Data</a:t>
            </a:r>
            <a:endParaRPr lang="en-US" dirty="0"/>
          </a:p>
          <a:p>
            <a:endParaRPr dirty="0"/>
          </a:p>
        </p:txBody>
      </p:sp>
      <p:pic>
        <p:nvPicPr>
          <p:cNvPr id="4098" name="Picture 2" descr="How do we measure the degree of departure from normality? | Blogs | Sigma  Magic">
            <a:extLst>
              <a:ext uri="{FF2B5EF4-FFF2-40B4-BE49-F238E27FC236}">
                <a16:creationId xmlns:a16="http://schemas.microsoft.com/office/drawing/2014/main" id="{DA6A18BE-54FE-0743-5C4D-C703C3C02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229" y="1911547"/>
            <a:ext cx="3801485" cy="199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kew - BIOLOGY FOR LIFE">
            <a:extLst>
              <a:ext uri="{FF2B5EF4-FFF2-40B4-BE49-F238E27FC236}">
                <a16:creationId xmlns:a16="http://schemas.microsoft.com/office/drawing/2014/main" id="{3842AC52-AA40-3EB9-9F4D-C3C1E2F6E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8" y="3975343"/>
            <a:ext cx="6091723" cy="260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histogram</a:t>
            </a:r>
            <a:r>
              <a:rPr lang="en-GB" dirty="0"/>
              <a:t> shows:</a:t>
            </a:r>
          </a:p>
          <a:p>
            <a:r>
              <a:rPr lang="en-GB" dirty="0"/>
              <a:t>“How many values fall in different ranges”</a:t>
            </a:r>
          </a:p>
          <a:p>
            <a:r>
              <a:rPr lang="en-GB" dirty="0"/>
              <a:t>It shows Distribution of data</a:t>
            </a:r>
            <a:br>
              <a:rPr lang="en-GB" dirty="0"/>
            </a:br>
            <a:r>
              <a:rPr lang="en-GB" dirty="0"/>
              <a:t>✔ Frequency of values</a:t>
            </a:r>
          </a:p>
          <a:p>
            <a:endParaRPr dirty="0"/>
          </a:p>
        </p:txBody>
      </p:sp>
      <p:pic>
        <p:nvPicPr>
          <p:cNvPr id="5122" name="Picture 2" descr="Histograms - Understanding the properties of histograms, what they show,  and when and how to use them | Laerd Statistics">
            <a:extLst>
              <a:ext uri="{FF2B5EF4-FFF2-40B4-BE49-F238E27FC236}">
                <a16:creationId xmlns:a16="http://schemas.microsoft.com/office/drawing/2014/main" id="{64296BE3-7760-8253-E8CB-89D8871C4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692" y="3089030"/>
            <a:ext cx="3001108" cy="303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Boxplot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686800" cy="53114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1027" name="Picture 3" descr="Reading a Box and Whisker Plot">
            <a:extLst>
              <a:ext uri="{FF2B5EF4-FFF2-40B4-BE49-F238E27FC236}">
                <a16:creationId xmlns:a16="http://schemas.microsoft.com/office/drawing/2014/main" id="{2E50CDE7-AAB8-3F03-AE97-6DC824531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69" y="4028344"/>
            <a:ext cx="4384431" cy="240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How to Interpret Boxplots - LabXchange">
            <a:extLst>
              <a:ext uri="{FF2B5EF4-FFF2-40B4-BE49-F238E27FC236}">
                <a16:creationId xmlns:a16="http://schemas.microsoft.com/office/drawing/2014/main" id="{F6681ADF-50BF-BA27-B923-DADB23920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45" y="1255284"/>
            <a:ext cx="7344509" cy="277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EBB2-2503-70DA-A280-EEAAD7B2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Box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A1C1-8A1B-81D0-2240-46AE9026D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What does boxplot show?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✔ Spread of data</a:t>
            </a:r>
            <a:br>
              <a:rPr lang="en-GB" dirty="0"/>
            </a:br>
            <a:r>
              <a:rPr lang="en-GB" dirty="0"/>
              <a:t>✔ Median</a:t>
            </a:r>
            <a:br>
              <a:rPr lang="en-GB" dirty="0"/>
            </a:br>
            <a:r>
              <a:rPr lang="en-GB" dirty="0"/>
              <a:t>✔ Outliers</a:t>
            </a:r>
          </a:p>
          <a:p>
            <a:pPr marL="0" indent="0">
              <a:buNone/>
            </a:pPr>
            <a:r>
              <a:rPr lang="en-GB" b="1" dirty="0"/>
              <a:t>Real-Life Example</a:t>
            </a:r>
          </a:p>
          <a:p>
            <a:r>
              <a:rPr lang="en-GB" dirty="0"/>
              <a:t>Marks of students:</a:t>
            </a:r>
          </a:p>
          <a:p>
            <a:pPr marL="0" indent="0">
              <a:buNone/>
            </a:pPr>
            <a:r>
              <a:rPr lang="en-GB" dirty="0"/>
              <a:t>10, 12, 14, 16, 18, 20, 22, 30</a:t>
            </a:r>
          </a:p>
          <a:p>
            <a:r>
              <a:rPr lang="en-GB" dirty="0"/>
              <a:t>Boxplot shows where most data lies and helps detect unusual values.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2442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GB" dirty="0"/>
              <a:t>A </a:t>
            </a:r>
            <a:r>
              <a:rPr lang="en-GB" b="1" dirty="0"/>
              <a:t>scatter plot</a:t>
            </a:r>
            <a:r>
              <a:rPr lang="en-GB" dirty="0"/>
              <a:t> shows:</a:t>
            </a:r>
          </a:p>
          <a:p>
            <a:r>
              <a:rPr lang="en-GB" dirty="0"/>
              <a:t>“Relationship between two things”</a:t>
            </a:r>
          </a:p>
          <a:p>
            <a:r>
              <a:rPr lang="en-GB" dirty="0"/>
              <a:t>“Scatter plot shows how two variables are related”</a:t>
            </a:r>
          </a:p>
          <a:p>
            <a:endParaRPr dirty="0"/>
          </a:p>
        </p:txBody>
      </p:sp>
      <p:pic>
        <p:nvPicPr>
          <p:cNvPr id="4" name="Picture 3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284171"/>
            <a:ext cx="5791200" cy="30245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6942-40B1-55A8-E027-08951CAF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E4B66-E60F-0FE8-D948-D3C5583B2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Each row becomes a </a:t>
            </a:r>
            <a:r>
              <a:rPr lang="en-GB" b="1" dirty="0"/>
              <a:t>point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(1,2), (2,4), (3,6), (4,8), (5,10)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These are plotted as dots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D71192-D583-A4C5-3057-08833CEE9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43894"/>
              </p:ext>
            </p:extLst>
          </p:nvPr>
        </p:nvGraphicFramePr>
        <p:xfrm>
          <a:off x="457200" y="4114165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08210912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76285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280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5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23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53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46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78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46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065-C1AA-ACF2-99C7-DFD00408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Types of Relationships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590E1-79F2-FCFB-A059-7D582D6B0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9763"/>
            <a:ext cx="8229600" cy="59435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PK" b="1" dirty="0"/>
              <a:t>✅ </a:t>
            </a:r>
            <a:r>
              <a:rPr lang="en-GB" b="1" dirty="0"/>
              <a:t>Positive Relationship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As X increases → Y increases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Study ↑ → Marks ↑ 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PK" b="1" dirty="0"/>
              <a:t>❌ </a:t>
            </a:r>
            <a:r>
              <a:rPr lang="en-GB" b="1" dirty="0"/>
              <a:t>Negative Relationship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As X increases → Y decreases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Screen time ↑ → Grades ↓ 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⚖️ No Relationship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Points scattered randomly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Shoe size vs marks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3806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dirty="0"/>
              <a:t>👉 Correlation means:</a:t>
            </a:r>
          </a:p>
          <a:p>
            <a:pPr marL="0" indent="0">
              <a:buNone/>
            </a:pPr>
            <a:r>
              <a:rPr lang="en-PK" dirty="0"/>
              <a:t>“How two things are related”</a:t>
            </a:r>
          </a:p>
          <a:p>
            <a:endParaRPr lang="en-US" dirty="0"/>
          </a:p>
          <a:p>
            <a:r>
              <a:rPr lang="en-US" dirty="0"/>
              <a:t>Real Life Example</a:t>
            </a:r>
          </a:p>
          <a:p>
            <a:pPr marL="0" indent="0">
              <a:buNone/>
            </a:pPr>
            <a:r>
              <a:rPr lang="en-PK" dirty="0"/>
              <a:t>👉 As study increases → marks increase</a:t>
            </a:r>
          </a:p>
          <a:p>
            <a:pPr marL="0" indent="0">
              <a:buNone/>
            </a:pPr>
            <a:r>
              <a:rPr lang="en-PK" dirty="0"/>
              <a:t>✔ This is </a:t>
            </a:r>
            <a:r>
              <a:rPr lang="en-PK" b="1" dirty="0"/>
              <a:t>correlation</a:t>
            </a:r>
            <a:endParaRPr lang="en-PK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E07B-17ED-CDA6-2250-F7A0F7FC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1815B-E5D5-3378-9E9B-6DB3F0CE4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👉 Correlation is always between:</a:t>
            </a:r>
          </a:p>
          <a:p>
            <a:r>
              <a:rPr lang="en-PK" dirty="0"/>
              <a:t>-1  to  1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B4CB0F-FF07-69F5-CE1D-3E07DCBA0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37550"/>
              </p:ext>
            </p:extLst>
          </p:nvPr>
        </p:nvGraphicFramePr>
        <p:xfrm>
          <a:off x="457200" y="2965938"/>
          <a:ext cx="8229600" cy="2473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26018795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580761655"/>
                    </a:ext>
                  </a:extLst>
                </a:gridCol>
              </a:tblGrid>
              <a:tr h="6183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Value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Meaning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9273961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+1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>
                          <a:effectLst/>
                        </a:rPr>
                        <a:t>Perfect positive</a:t>
                      </a:r>
                      <a:endParaRPr lang="en-PK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2948788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0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No relation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4913266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-1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PK" sz="1200" kern="100" dirty="0">
                          <a:effectLst/>
                        </a:rPr>
                        <a:t>Perfect negative</a:t>
                      </a:r>
                      <a:endParaRPr lang="en-PK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9708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00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D3DC-EAB5-4F1A-64D7-19FB61EE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b="1" dirty="0"/>
              <a:t>Positive Correlation (+1)</a:t>
            </a:r>
            <a:br>
              <a:rPr lang="en-PK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7A455-C6DC-9C4A-5284-035037B93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Both increase together</a:t>
            </a:r>
          </a:p>
          <a:p>
            <a:pPr marL="0" indent="0">
              <a:buNone/>
            </a:pPr>
            <a:r>
              <a:rPr lang="en-PK" b="1" dirty="0"/>
              <a:t>Example:</a:t>
            </a:r>
          </a:p>
          <a:p>
            <a:pPr marL="0" lvl="0" indent="0">
              <a:buNone/>
            </a:pPr>
            <a:r>
              <a:rPr lang="en-PK" dirty="0"/>
              <a:t>Study ↑ → Marks ↑ </a:t>
            </a:r>
          </a:p>
          <a:p>
            <a:pPr marL="0" lvl="0" indent="0">
              <a:buNone/>
            </a:pPr>
            <a:r>
              <a:rPr lang="en-PK" dirty="0"/>
              <a:t>Exercise ↑ → Health ↑ </a:t>
            </a:r>
          </a:p>
          <a:p>
            <a:pPr marL="0" indent="0">
              <a:buNone/>
            </a:pPr>
            <a:r>
              <a:rPr lang="en-PK" dirty="0"/>
              <a:t>✔ Graph goes </a:t>
            </a:r>
            <a:r>
              <a:rPr lang="en-PK" b="1" dirty="0"/>
              <a:t>upward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6852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FC77-4E0D-D3D2-3660-2E4F586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b="1" dirty="0"/>
              <a:t>Negative Correlation (-1)</a:t>
            </a:r>
            <a:br>
              <a:rPr lang="en-PK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A0D6-0D73-217C-CF05-6840AAAAE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One increases, other decreases</a:t>
            </a:r>
          </a:p>
          <a:p>
            <a:pPr marL="0" indent="0">
              <a:buNone/>
            </a:pPr>
            <a:r>
              <a:rPr lang="en-PK" b="1" dirty="0"/>
              <a:t>Example:</a:t>
            </a:r>
          </a:p>
          <a:p>
            <a:pPr marL="0" lvl="0" indent="0">
              <a:buNone/>
            </a:pPr>
            <a:r>
              <a:rPr lang="en-PK" dirty="0"/>
              <a:t>Screen time ↑ → Marks ↓ </a:t>
            </a:r>
          </a:p>
          <a:p>
            <a:pPr marL="0" lvl="0" indent="0">
              <a:buNone/>
            </a:pPr>
            <a:r>
              <a:rPr lang="en-PK" dirty="0"/>
              <a:t>Price ↑ → Sales ↓ </a:t>
            </a:r>
          </a:p>
          <a:p>
            <a:pPr marL="0" indent="0">
              <a:buNone/>
            </a:pPr>
            <a:r>
              <a:rPr lang="en-PK" dirty="0"/>
              <a:t>✔ Graph goes </a:t>
            </a:r>
            <a:r>
              <a:rPr lang="en-PK" b="1" dirty="0"/>
              <a:t>downward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800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FE8B-C25E-C5E7-2C7A-53388888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b="1" dirty="0"/>
              <a:t>No Correlation (0)</a:t>
            </a:r>
            <a:br>
              <a:rPr lang="en-PK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8481-EBC7-6B89-459A-C398EDB2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No relationship</a:t>
            </a:r>
          </a:p>
          <a:p>
            <a:pPr marL="0" indent="0">
              <a:buNone/>
            </a:pPr>
            <a:r>
              <a:rPr lang="en-PK" b="1" dirty="0"/>
              <a:t>Example:</a:t>
            </a:r>
          </a:p>
          <a:p>
            <a:pPr marL="0" lvl="0" indent="0">
              <a:buNone/>
            </a:pPr>
            <a:r>
              <a:rPr lang="en-PK" dirty="0"/>
              <a:t>Shoe size vs marks </a:t>
            </a:r>
          </a:p>
          <a:p>
            <a:pPr marL="0" indent="0">
              <a:buNone/>
            </a:pPr>
            <a:r>
              <a:rPr lang="en-PK" dirty="0"/>
              <a:t>✔ Points scattered randomly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8272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BFE1-9D90-AE81-A927-0294CE79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Visual Understanding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3021F1-53C6-87A7-9FFE-63C34C4F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892" y="1417637"/>
            <a:ext cx="1079874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ABE1974D-DA14-1056-0BE8-0DD2A432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892" y="1417638"/>
            <a:ext cx="6764215" cy="475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949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Garbage in Garbage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Bad data → Bad results</a:t>
            </a:r>
            <a:endParaRPr lang="en-US" dirty="0"/>
          </a:p>
          <a:p>
            <a:pPr marL="0" indent="0">
              <a:buNone/>
            </a:pPr>
            <a:r>
              <a:rPr lang="en-PK" dirty="0"/>
              <a:t>If you give bad data so you will get bad results.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 Life Example</a:t>
            </a:r>
            <a:r>
              <a:rPr lang="en-US" b="1" dirty="0"/>
              <a:t> of EDA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E-commerce: Analyze customer purchases</a:t>
            </a:r>
          </a:p>
          <a:p>
            <a:r>
              <a:t>Bank: Detect fraud</a:t>
            </a:r>
          </a:p>
          <a:p>
            <a:r>
              <a:t>Healthcare: Analyze patient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Missing Values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Salary missing → affects model</a:t>
            </a:r>
          </a:p>
          <a:p>
            <a:r>
              <a:rPr dirty="0"/>
              <a:t>Solution: Mean/Median/Mode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Skipping EDA</a:t>
            </a:r>
          </a:p>
          <a:p>
            <a:r>
              <a:rPr dirty="0"/>
              <a:t>Ignoring outliers</a:t>
            </a:r>
          </a:p>
          <a:p>
            <a:r>
              <a:rPr dirty="0"/>
              <a:t>Wrong assumptions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Tools</a:t>
            </a:r>
            <a:r>
              <a:rPr lang="en-US" b="1" dirty="0"/>
              <a:t> based on EDA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Python, Pandas, NumPy, Seaborn, Excel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BDD8-7DC3-BBA4-FA49-1BB4377F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</a:t>
            </a:r>
            <a:r>
              <a:rPr lang="en-PK" b="1" dirty="0"/>
              <a:t>mport matplotlib (Explanation)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50F6-35C7-4F2E-4F07-1DCD1BA89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702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PK" b="1" dirty="0"/>
              <a:t>matplotlib.pyplot is a module (part of a library) used to create graphs in Python.</a:t>
            </a:r>
          </a:p>
          <a:p>
            <a:pPr marL="0" indent="0">
              <a:buNone/>
            </a:pPr>
            <a:endParaRPr lang="en-PK" b="1" dirty="0"/>
          </a:p>
          <a:p>
            <a:pPr marL="0" indent="0">
              <a:buNone/>
            </a:pPr>
            <a:r>
              <a:rPr lang="en-PK" b="1" dirty="0"/>
              <a:t>📦 matplotlib</a:t>
            </a:r>
            <a:endParaRPr lang="en-PK" dirty="0"/>
          </a:p>
          <a:p>
            <a:pPr marL="0" lvl="0" indent="0">
              <a:buNone/>
            </a:pPr>
            <a:r>
              <a:rPr lang="en-PK" dirty="0"/>
              <a:t>A </a:t>
            </a:r>
            <a:r>
              <a:rPr lang="en-PK" b="1" dirty="0"/>
              <a:t>Python library</a:t>
            </a:r>
            <a:r>
              <a:rPr lang="en-PK" dirty="0"/>
              <a:t> for data visualization </a:t>
            </a:r>
          </a:p>
          <a:p>
            <a:pPr marL="0" lvl="0" indent="0">
              <a:buNone/>
            </a:pPr>
            <a:r>
              <a:rPr lang="en-PK" dirty="0"/>
              <a:t>Used to create charts, graphs, plots </a:t>
            </a:r>
          </a:p>
          <a:p>
            <a:pPr marL="0" indent="0">
              <a:buNone/>
            </a:pPr>
            <a:r>
              <a:rPr lang="en-PK" sz="4800" b="1" dirty="0"/>
              <a:t>🎯 </a:t>
            </a:r>
            <a:r>
              <a:rPr lang="en-PK" b="1" dirty="0"/>
              <a:t>pyplot</a:t>
            </a:r>
            <a:endParaRPr lang="en-PK" sz="4400" dirty="0"/>
          </a:p>
          <a:p>
            <a:pPr marL="0" lvl="0" indent="0">
              <a:buNone/>
            </a:pPr>
            <a:r>
              <a:rPr lang="en-PK" dirty="0"/>
              <a:t>A </a:t>
            </a:r>
            <a:r>
              <a:rPr lang="en-PK" b="1" dirty="0"/>
              <a:t>sub-module inside matplotlib</a:t>
            </a:r>
            <a:r>
              <a:rPr lang="en-PK" dirty="0"/>
              <a:t> </a:t>
            </a:r>
          </a:p>
          <a:p>
            <a:pPr marL="0" lvl="0" indent="0">
              <a:buNone/>
            </a:pPr>
            <a:r>
              <a:rPr lang="en-PK" dirty="0"/>
              <a:t>Provides simple functions to: </a:t>
            </a:r>
          </a:p>
          <a:p>
            <a:pPr marL="457200" lvl="1" indent="0">
              <a:buNone/>
            </a:pPr>
            <a:r>
              <a:rPr lang="en-PK" dirty="0"/>
              <a:t>plot graphs </a:t>
            </a:r>
          </a:p>
          <a:p>
            <a:pPr marL="457200" lvl="1" indent="0">
              <a:buNone/>
            </a:pPr>
            <a:r>
              <a:rPr lang="en-PK" dirty="0"/>
              <a:t>show charts </a:t>
            </a:r>
          </a:p>
          <a:p>
            <a:pPr marL="457200" lvl="1" indent="0">
              <a:buNone/>
            </a:pPr>
            <a:r>
              <a:rPr lang="en-PK" dirty="0"/>
              <a:t>label axes </a:t>
            </a:r>
          </a:p>
          <a:p>
            <a:pPr marL="0" indent="0">
              <a:buNone/>
            </a:pP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61073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5303-D029-3A23-2BAF-120C451D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1CBD4-0675-A752-10BE-BABB8AB8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Using pyplot, you can create:</a:t>
            </a:r>
          </a:p>
          <a:p>
            <a:pPr lvl="0"/>
            <a:r>
              <a:rPr lang="en-PK" dirty="0"/>
              <a:t>Line graphs → plt.plot() </a:t>
            </a:r>
          </a:p>
          <a:p>
            <a:pPr lvl="0"/>
            <a:r>
              <a:rPr lang="en-PK" dirty="0"/>
              <a:t>Bar charts → plt.bar() </a:t>
            </a:r>
          </a:p>
          <a:p>
            <a:pPr lvl="0"/>
            <a:r>
              <a:rPr lang="en-PK" dirty="0"/>
              <a:t>Histograms → plt.hist() </a:t>
            </a:r>
          </a:p>
          <a:p>
            <a:pPr lvl="0"/>
            <a:r>
              <a:rPr lang="en-PK" dirty="0"/>
              <a:t>Scatter plots → plt.scatter()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30774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6292-C00F-9CCC-1EEC-7D52C160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Code Implementation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F185D-A740-5807-7D94-DC372FFD8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PK" dirty="0"/>
              <a:t>import numpy as np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import matplotlib.pyplot as plt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#plt is a shortcut name or alias</a:t>
            </a:r>
            <a:br>
              <a:rPr lang="en-PK" dirty="0"/>
            </a:br>
            <a:r>
              <a:rPr lang="en-PK" dirty="0"/>
              <a:t> </a:t>
            </a:r>
          </a:p>
          <a:p>
            <a:pPr marL="0" indent="0">
              <a:buNone/>
            </a:pPr>
            <a:r>
              <a:rPr lang="en-PK" dirty="0"/>
              <a:t># Create left skew manually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data = np.random.exponential(scale=2, size=1000)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data = -data  # flip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plt.hist(data)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plt.title("Left Skewed Distribution")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plt.show()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4671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4CA-DA54-57D0-8D99-97D69583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DE57-D983-DE4C-0694-3E65B148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import matplotlib.pyplot as plt</a:t>
            </a:r>
          </a:p>
          <a:p>
            <a:pPr marL="0" indent="0">
              <a:buNone/>
            </a:pPr>
            <a:endParaRPr lang="en-PK" dirty="0"/>
          </a:p>
          <a:p>
            <a:pPr marL="0" indent="0">
              <a:buNone/>
            </a:pPr>
            <a:r>
              <a:rPr lang="en-PK" dirty="0"/>
              <a:t>Hours = [1, 2, 3, 4]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Marks = [20, 40, 60, 80]</a:t>
            </a:r>
          </a:p>
          <a:p>
            <a:pPr marL="0" indent="0">
              <a:buNone/>
            </a:pPr>
            <a:r>
              <a:rPr lang="en-PK" dirty="0"/>
              <a:t>plt.scatter(Hours, Marks)</a:t>
            </a:r>
            <a:br>
              <a:rPr lang="en-PK" dirty="0"/>
            </a:br>
            <a:endParaRPr lang="en-PK" dirty="0"/>
          </a:p>
          <a:p>
            <a:pPr marL="0" indent="0">
              <a:buNone/>
            </a:pPr>
            <a:r>
              <a:rPr lang="en-PK" dirty="0"/>
              <a:t>plt.show()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2656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EDA improves data quality and model accuracy</a:t>
            </a:r>
            <a:endParaRPr lang="en-US" dirty="0"/>
          </a:p>
          <a:p>
            <a:r>
              <a:rPr lang="en-GB" dirty="0"/>
              <a:t>EDA cleans data, removes errors, helps better decisions.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19444</TotalTime>
  <Words>831</Words>
  <Application>Microsoft Macintosh PowerPoint</Application>
  <PresentationFormat>On-screen Show (4:3)</PresentationFormat>
  <Paragraphs>175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Programming for Business </vt:lpstr>
      <vt:lpstr>What is EDA?</vt:lpstr>
      <vt:lpstr>Why EDA is important?</vt:lpstr>
      <vt:lpstr>Missing Values Example</vt:lpstr>
      <vt:lpstr>Outliers Example</vt:lpstr>
      <vt:lpstr>Distribution</vt:lpstr>
      <vt:lpstr>Histogram</vt:lpstr>
      <vt:lpstr>Boxplot</vt:lpstr>
      <vt:lpstr>Box plot</vt:lpstr>
      <vt:lpstr>Scatter Plot</vt:lpstr>
      <vt:lpstr>Scatter Plot</vt:lpstr>
      <vt:lpstr>Types of Relationships </vt:lpstr>
      <vt:lpstr>Correlation</vt:lpstr>
      <vt:lpstr>Correlation</vt:lpstr>
      <vt:lpstr>Positive Correlation (+1) </vt:lpstr>
      <vt:lpstr>Negative Correlation (-1) </vt:lpstr>
      <vt:lpstr>No Correlation (0) </vt:lpstr>
      <vt:lpstr>Visual Understanding</vt:lpstr>
      <vt:lpstr>Garbage in Garbage out</vt:lpstr>
      <vt:lpstr>Real Life Example of EDA</vt:lpstr>
      <vt:lpstr>Missing Values Problem</vt:lpstr>
      <vt:lpstr>Common Mistakes</vt:lpstr>
      <vt:lpstr>Tools based on EDA</vt:lpstr>
      <vt:lpstr>Import matplotlib (Explanation)</vt:lpstr>
      <vt:lpstr>Syntax</vt:lpstr>
      <vt:lpstr>Code Implementation Example 1</vt:lpstr>
      <vt:lpstr>Example 2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TK-LPT-865</cp:lastModifiedBy>
  <cp:revision>4</cp:revision>
  <dcterms:created xsi:type="dcterms:W3CDTF">2013-01-27T09:14:16Z</dcterms:created>
  <dcterms:modified xsi:type="dcterms:W3CDTF">2026-04-28T07:51:20Z</dcterms:modified>
  <cp:category/>
</cp:coreProperties>
</file>