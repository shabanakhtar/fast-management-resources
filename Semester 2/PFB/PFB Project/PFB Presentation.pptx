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Times New Roman Bold" panose="02020803070505020304" pitchFamily="18" charset="0"/>
      <p:regular r:id="rId22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83" y="-3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433764" y="7682720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0" y="0"/>
                </a:moveTo>
                <a:lnTo>
                  <a:pt x="8412822" y="0"/>
                </a:lnTo>
                <a:lnTo>
                  <a:pt x="8412822" y="6669074"/>
                </a:lnTo>
                <a:lnTo>
                  <a:pt x="0" y="66690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177711" y="-4590294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8412822" y="6669074"/>
                </a:moveTo>
                <a:lnTo>
                  <a:pt x="0" y="6669074"/>
                </a:lnTo>
                <a:lnTo>
                  <a:pt x="0" y="0"/>
                </a:lnTo>
                <a:lnTo>
                  <a:pt x="8412822" y="0"/>
                </a:lnTo>
                <a:lnTo>
                  <a:pt x="8412822" y="66690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2190390" y="9258300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11408209" y="1203047"/>
                </a:moveTo>
                <a:lnTo>
                  <a:pt x="0" y="1203047"/>
                </a:lnTo>
                <a:lnTo>
                  <a:pt x="0" y="0"/>
                </a:lnTo>
                <a:lnTo>
                  <a:pt x="11408209" y="0"/>
                </a:lnTo>
                <a:lnTo>
                  <a:pt x="11408209" y="12030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070181" y="-174347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0" y="0"/>
                </a:moveTo>
                <a:lnTo>
                  <a:pt x="11408209" y="0"/>
                </a:lnTo>
                <a:lnTo>
                  <a:pt x="11408209" y="1203047"/>
                </a:lnTo>
                <a:lnTo>
                  <a:pt x="0" y="1203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838200"/>
            <a:ext cx="15679216" cy="2896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89"/>
              </a:lnSpc>
            </a:pPr>
            <a:r>
              <a:rPr lang="en-US" sz="8206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FREELANCING ECONOMY &amp; </a:t>
            </a:r>
          </a:p>
          <a:p>
            <a:pPr algn="ctr">
              <a:lnSpc>
                <a:spcPts val="11489"/>
              </a:lnSpc>
            </a:pPr>
            <a:r>
              <a:rPr lang="en-US" sz="8206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ONLINE EARNING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635532" y="4369377"/>
            <a:ext cx="6019674" cy="4694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2"/>
              </a:lnSpc>
            </a:pPr>
            <a:r>
              <a:rPr lang="en-US" sz="4502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By: </a:t>
            </a:r>
          </a:p>
          <a:p>
            <a:pPr algn="ctr">
              <a:lnSpc>
                <a:spcPts val="6302"/>
              </a:lnSpc>
            </a:pPr>
            <a:r>
              <a:rPr lang="en-US" sz="4502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Shaban Akhtar</a:t>
            </a:r>
          </a:p>
          <a:p>
            <a:pPr algn="ctr">
              <a:lnSpc>
                <a:spcPts val="6302"/>
              </a:lnSpc>
            </a:pPr>
            <a:r>
              <a:rPr lang="en-US" sz="4502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Salbia Zainab</a:t>
            </a:r>
          </a:p>
          <a:p>
            <a:pPr algn="ctr">
              <a:lnSpc>
                <a:spcPts val="6302"/>
              </a:lnSpc>
            </a:pPr>
            <a:r>
              <a:rPr lang="en-US" sz="4502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Syed Ali Hussani</a:t>
            </a:r>
          </a:p>
          <a:p>
            <a:pPr algn="ctr">
              <a:lnSpc>
                <a:spcPts val="6302"/>
              </a:lnSpc>
            </a:pPr>
            <a:r>
              <a:rPr lang="en-US" sz="4502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Nafia Haroon</a:t>
            </a:r>
          </a:p>
          <a:p>
            <a:pPr algn="ctr">
              <a:lnSpc>
                <a:spcPts val="5443"/>
              </a:lnSpc>
            </a:pPr>
            <a:endParaRPr lang="en-US" sz="4502">
              <a:solidFill>
                <a:srgbClr val="3331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254817" y="9840774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0146030" y="446226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052889" y="7625136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0" y="0"/>
                </a:moveTo>
                <a:lnTo>
                  <a:pt x="8412822" y="0"/>
                </a:lnTo>
                <a:lnTo>
                  <a:pt x="8412822" y="6669073"/>
                </a:lnTo>
                <a:lnTo>
                  <a:pt x="0" y="66690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514041" y="-4742675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8412822" y="6669074"/>
                </a:moveTo>
                <a:lnTo>
                  <a:pt x="0" y="6669074"/>
                </a:lnTo>
                <a:lnTo>
                  <a:pt x="0" y="0"/>
                </a:lnTo>
                <a:lnTo>
                  <a:pt x="8412822" y="0"/>
                </a:lnTo>
                <a:lnTo>
                  <a:pt x="8412822" y="66690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2190390" y="9258300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11408209" y="1203047"/>
                </a:moveTo>
                <a:lnTo>
                  <a:pt x="0" y="1203047"/>
                </a:lnTo>
                <a:lnTo>
                  <a:pt x="0" y="0"/>
                </a:lnTo>
                <a:lnTo>
                  <a:pt x="11408209" y="0"/>
                </a:lnTo>
                <a:lnTo>
                  <a:pt x="11408209" y="12030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070181" y="-174347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0" y="0"/>
                </a:moveTo>
                <a:lnTo>
                  <a:pt x="11408209" y="0"/>
                </a:lnTo>
                <a:lnTo>
                  <a:pt x="11408209" y="1203047"/>
                </a:lnTo>
                <a:lnTo>
                  <a:pt x="0" y="1203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363902" y="360822"/>
            <a:ext cx="10041137" cy="1565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08"/>
              </a:lnSpc>
            </a:pPr>
            <a:r>
              <a:rPr lang="en-US" sz="8863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CONTENT </a:t>
            </a:r>
          </a:p>
        </p:txBody>
      </p:sp>
      <p:sp>
        <p:nvSpPr>
          <p:cNvPr id="7" name="AutoShape 7"/>
          <p:cNvSpPr/>
          <p:nvPr/>
        </p:nvSpPr>
        <p:spPr>
          <a:xfrm>
            <a:off x="4254817" y="9840774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10146030" y="446226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647825" y="2196514"/>
            <a:ext cx="6268290" cy="639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60"/>
              </a:lnSpc>
            </a:pPr>
            <a:r>
              <a:rPr lang="en-US" sz="6043" b="1">
                <a:solidFill>
                  <a:srgbClr val="5B6C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01 </a:t>
            </a:r>
            <a:r>
              <a:rPr lang="en-US" sz="6043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  <a:p>
            <a:pPr algn="l">
              <a:lnSpc>
                <a:spcPts val="8460"/>
              </a:lnSpc>
            </a:pPr>
            <a:r>
              <a:rPr lang="en-US" sz="6043" b="1">
                <a:solidFill>
                  <a:srgbClr val="5B6C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</a:t>
            </a:r>
            <a:r>
              <a:rPr lang="en-US" sz="6043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Growth</a:t>
            </a:r>
          </a:p>
          <a:p>
            <a:pPr algn="l">
              <a:lnSpc>
                <a:spcPts val="8460"/>
              </a:lnSpc>
            </a:pPr>
            <a:r>
              <a:rPr lang="en-US" sz="6043" b="1">
                <a:solidFill>
                  <a:srgbClr val="5B6C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03</a:t>
            </a:r>
            <a:r>
              <a:rPr lang="en-US" sz="6043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6043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Platforms</a:t>
            </a:r>
          </a:p>
          <a:p>
            <a:pPr algn="l">
              <a:lnSpc>
                <a:spcPts val="8460"/>
              </a:lnSpc>
            </a:pPr>
            <a:r>
              <a:rPr lang="en-US" sz="6043" b="1">
                <a:solidFill>
                  <a:srgbClr val="5B6C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04 </a:t>
            </a:r>
            <a:r>
              <a:rPr lang="en-US" sz="6043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Types</a:t>
            </a:r>
          </a:p>
          <a:p>
            <a:pPr algn="l">
              <a:lnSpc>
                <a:spcPts val="8460"/>
              </a:lnSpc>
            </a:pPr>
            <a:r>
              <a:rPr lang="en-US" sz="6043" b="1">
                <a:solidFill>
                  <a:srgbClr val="5B6C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05</a:t>
            </a:r>
            <a:r>
              <a:rPr lang="en-US" sz="6043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Benefits</a:t>
            </a:r>
          </a:p>
          <a:p>
            <a:pPr algn="l">
              <a:lnSpc>
                <a:spcPts val="8460"/>
              </a:lnSpc>
            </a:pPr>
            <a:endParaRPr lang="en-US" sz="6043">
              <a:solidFill>
                <a:srgbClr val="3331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070181" y="2196514"/>
            <a:ext cx="7997988" cy="5323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34"/>
              </a:lnSpc>
            </a:pPr>
            <a:r>
              <a:rPr lang="en-US" sz="6024" b="1">
                <a:solidFill>
                  <a:srgbClr val="5B6C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06</a:t>
            </a:r>
            <a:r>
              <a:rPr lang="en-US" sz="6024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Challenges</a:t>
            </a:r>
          </a:p>
          <a:p>
            <a:pPr algn="l">
              <a:lnSpc>
                <a:spcPts val="8434"/>
              </a:lnSpc>
            </a:pPr>
            <a:r>
              <a:rPr lang="en-US" sz="6024" b="1">
                <a:solidFill>
                  <a:srgbClr val="5B6C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07</a:t>
            </a:r>
            <a:r>
              <a:rPr lang="en-US" sz="6024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Skills Required</a:t>
            </a:r>
          </a:p>
          <a:p>
            <a:pPr algn="l">
              <a:lnSpc>
                <a:spcPts val="8434"/>
              </a:lnSpc>
            </a:pPr>
            <a:r>
              <a:rPr lang="en-US" sz="6024" b="1">
                <a:solidFill>
                  <a:srgbClr val="5B6C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08</a:t>
            </a:r>
            <a:r>
              <a:rPr lang="en-US" sz="6024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Getting Started</a:t>
            </a:r>
          </a:p>
          <a:p>
            <a:pPr algn="l">
              <a:lnSpc>
                <a:spcPts val="8434"/>
              </a:lnSpc>
            </a:pPr>
            <a:r>
              <a:rPr lang="en-US" sz="6024" b="1">
                <a:solidFill>
                  <a:srgbClr val="5B6C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09 </a:t>
            </a:r>
            <a:r>
              <a:rPr lang="en-US" sz="6024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of Freelancing</a:t>
            </a:r>
          </a:p>
          <a:p>
            <a:pPr algn="l">
              <a:lnSpc>
                <a:spcPts val="8434"/>
              </a:lnSpc>
            </a:pPr>
            <a:r>
              <a:rPr lang="en-US" sz="6024" b="1">
                <a:solidFill>
                  <a:srgbClr val="5B6CC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10 </a:t>
            </a:r>
            <a:r>
              <a:rPr lang="en-US" sz="6024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052889" y="8064902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0" y="0"/>
                </a:moveTo>
                <a:lnTo>
                  <a:pt x="8412822" y="0"/>
                </a:lnTo>
                <a:lnTo>
                  <a:pt x="8412822" y="6669074"/>
                </a:lnTo>
                <a:lnTo>
                  <a:pt x="0" y="66690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558586" y="-4064794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8412822" y="6669074"/>
                </a:moveTo>
                <a:lnTo>
                  <a:pt x="0" y="6669074"/>
                </a:lnTo>
                <a:lnTo>
                  <a:pt x="0" y="0"/>
                </a:lnTo>
                <a:lnTo>
                  <a:pt x="8412822" y="0"/>
                </a:lnTo>
                <a:lnTo>
                  <a:pt x="8412822" y="66690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2190390" y="9258300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11408209" y="1203047"/>
                </a:moveTo>
                <a:lnTo>
                  <a:pt x="0" y="1203047"/>
                </a:lnTo>
                <a:lnTo>
                  <a:pt x="0" y="0"/>
                </a:lnTo>
                <a:lnTo>
                  <a:pt x="11408209" y="0"/>
                </a:lnTo>
                <a:lnTo>
                  <a:pt x="11408209" y="12030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070181" y="-174347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0" y="0"/>
                </a:moveTo>
                <a:lnTo>
                  <a:pt x="11408209" y="0"/>
                </a:lnTo>
                <a:lnTo>
                  <a:pt x="11408209" y="1203047"/>
                </a:lnTo>
                <a:lnTo>
                  <a:pt x="0" y="1203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254817" y="9840774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0146030" y="446226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11014584" y="3111049"/>
            <a:ext cx="6383202" cy="5378776"/>
          </a:xfrm>
          <a:custGeom>
            <a:avLst/>
            <a:gdLst/>
            <a:ahLst/>
            <a:cxnLst/>
            <a:rect l="l" t="t" r="r" b="b"/>
            <a:pathLst>
              <a:path w="6383202" h="5378776">
                <a:moveTo>
                  <a:pt x="0" y="0"/>
                </a:moveTo>
                <a:lnTo>
                  <a:pt x="6383202" y="0"/>
                </a:lnTo>
                <a:lnTo>
                  <a:pt x="6383202" y="5378776"/>
                </a:lnTo>
                <a:lnTo>
                  <a:pt x="0" y="53787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845711"/>
            <a:ext cx="16450032" cy="1315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48"/>
              </a:lnSpc>
            </a:pPr>
            <a:r>
              <a:rPr lang="en-US" sz="7463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IS FREELANCING?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7100" y="3153680"/>
            <a:ext cx="9461900" cy="5729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2654" lvl="1" indent="-421327" algn="l">
              <a:lnSpc>
                <a:spcPts val="6674"/>
              </a:lnSpc>
              <a:buFont typeface="Arial"/>
              <a:buChar char="•"/>
            </a:pPr>
            <a:r>
              <a:rPr lang="en-US" sz="3902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independently instead of being employed full-time</a:t>
            </a:r>
          </a:p>
          <a:p>
            <a:pPr marL="842654" lvl="1" indent="-421327" algn="l">
              <a:lnSpc>
                <a:spcPts val="6674"/>
              </a:lnSpc>
              <a:buFont typeface="Arial"/>
              <a:buChar char="•"/>
            </a:pPr>
            <a:r>
              <a:rPr lang="en-US" sz="3902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Offer skills as services to multiple clients</a:t>
            </a:r>
          </a:p>
          <a:p>
            <a:pPr marL="842654" lvl="1" indent="-421327" algn="l">
              <a:lnSpc>
                <a:spcPts val="6674"/>
              </a:lnSpc>
              <a:buFont typeface="Arial"/>
              <a:buChar char="•"/>
            </a:pPr>
            <a:r>
              <a:rPr lang="en-US" sz="3902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Projects are short-term or contract-based</a:t>
            </a:r>
          </a:p>
          <a:p>
            <a:pPr marL="842654" lvl="1" indent="-421327" algn="l">
              <a:lnSpc>
                <a:spcPts val="6674"/>
              </a:lnSpc>
              <a:buFont typeface="Arial"/>
              <a:buChar char="•"/>
            </a:pPr>
            <a:r>
              <a:rPr lang="en-US" sz="3902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is usually remote and global</a:t>
            </a:r>
          </a:p>
          <a:p>
            <a:pPr marL="842654" lvl="1" indent="-421327" algn="l">
              <a:lnSpc>
                <a:spcPts val="6674"/>
              </a:lnSpc>
              <a:buFont typeface="Arial"/>
              <a:buChar char="•"/>
            </a:pPr>
            <a:r>
              <a:rPr lang="en-US" sz="3902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Income depends on skills and demand</a:t>
            </a:r>
          </a:p>
          <a:p>
            <a:pPr algn="l">
              <a:lnSpc>
                <a:spcPts val="5648"/>
              </a:lnSpc>
            </a:pPr>
            <a:endParaRPr lang="en-US" sz="3902">
              <a:solidFill>
                <a:srgbClr val="3331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433764" y="7682720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0" y="0"/>
                </a:moveTo>
                <a:lnTo>
                  <a:pt x="8412822" y="0"/>
                </a:lnTo>
                <a:lnTo>
                  <a:pt x="8412822" y="6669074"/>
                </a:lnTo>
                <a:lnTo>
                  <a:pt x="0" y="66690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1510031" y="-1357672"/>
            <a:ext cx="3924043" cy="3110696"/>
          </a:xfrm>
          <a:custGeom>
            <a:avLst/>
            <a:gdLst/>
            <a:ahLst/>
            <a:cxnLst/>
            <a:rect l="l" t="t" r="r" b="b"/>
            <a:pathLst>
              <a:path w="3924043" h="3110696">
                <a:moveTo>
                  <a:pt x="3924044" y="3110696"/>
                </a:moveTo>
                <a:lnTo>
                  <a:pt x="0" y="3110696"/>
                </a:lnTo>
                <a:lnTo>
                  <a:pt x="0" y="0"/>
                </a:lnTo>
                <a:lnTo>
                  <a:pt x="3924044" y="0"/>
                </a:lnTo>
                <a:lnTo>
                  <a:pt x="3924044" y="311069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2190390" y="9258300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11408209" y="1203047"/>
                </a:moveTo>
                <a:lnTo>
                  <a:pt x="0" y="1203047"/>
                </a:lnTo>
                <a:lnTo>
                  <a:pt x="0" y="0"/>
                </a:lnTo>
                <a:lnTo>
                  <a:pt x="11408209" y="0"/>
                </a:lnTo>
                <a:lnTo>
                  <a:pt x="11408209" y="12030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217819" y="-403848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0" y="0"/>
                </a:moveTo>
                <a:lnTo>
                  <a:pt x="11408209" y="0"/>
                </a:lnTo>
                <a:lnTo>
                  <a:pt x="11408209" y="1203048"/>
                </a:lnTo>
                <a:lnTo>
                  <a:pt x="0" y="12030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254817" y="9840774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0018636" y="169101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611233" y="2677691"/>
            <a:ext cx="6196709" cy="6196709"/>
          </a:xfrm>
          <a:custGeom>
            <a:avLst/>
            <a:gdLst/>
            <a:ahLst/>
            <a:cxnLst/>
            <a:rect l="l" t="t" r="r" b="b"/>
            <a:pathLst>
              <a:path w="6196709" h="6196709">
                <a:moveTo>
                  <a:pt x="0" y="0"/>
                </a:moveTo>
                <a:lnTo>
                  <a:pt x="6196709" y="0"/>
                </a:lnTo>
                <a:lnTo>
                  <a:pt x="6196709" y="6196710"/>
                </a:lnTo>
                <a:lnTo>
                  <a:pt x="0" y="61967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81143" y="608700"/>
            <a:ext cx="17236381" cy="1439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83"/>
              </a:lnSpc>
            </a:pPr>
            <a:r>
              <a:rPr lang="en-US" sz="8202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GROWTH OF FREELANCING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334579" y="3052123"/>
            <a:ext cx="10730481" cy="5653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2008" lvl="1" indent="-421004" algn="l">
              <a:lnSpc>
                <a:spcPts val="7565"/>
              </a:lnSpc>
              <a:buFont typeface="Arial"/>
              <a:buChar char="•"/>
            </a:pPr>
            <a:r>
              <a:rPr lang="en-US" sz="38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Increasing demand for remote work worldwide</a:t>
            </a:r>
          </a:p>
          <a:p>
            <a:pPr marL="842008" lvl="1" indent="-421004" algn="l">
              <a:lnSpc>
                <a:spcPts val="7565"/>
              </a:lnSpc>
              <a:buFont typeface="Arial"/>
              <a:buChar char="•"/>
            </a:pPr>
            <a:r>
              <a:rPr lang="en-US" sz="38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Businesses prefer flexible, cost-effective hiring</a:t>
            </a:r>
          </a:p>
          <a:p>
            <a:pPr marL="842008" lvl="1" indent="-421004" algn="l">
              <a:lnSpc>
                <a:spcPts val="7565"/>
              </a:lnSpc>
              <a:buFont typeface="Arial"/>
              <a:buChar char="•"/>
            </a:pPr>
            <a:r>
              <a:rPr lang="en-US" sz="38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platforms make global work accessible</a:t>
            </a:r>
          </a:p>
          <a:p>
            <a:pPr marL="842008" lvl="1" indent="-421004" algn="l">
              <a:lnSpc>
                <a:spcPts val="7565"/>
              </a:lnSpc>
              <a:buFont typeface="Arial"/>
              <a:buChar char="•"/>
            </a:pPr>
            <a:r>
              <a:rPr lang="en-US" sz="38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Popular among students and professionals</a:t>
            </a:r>
          </a:p>
          <a:p>
            <a:pPr marL="842008" lvl="1" indent="-421004" algn="l">
              <a:lnSpc>
                <a:spcPts val="7565"/>
              </a:lnSpc>
              <a:buFont typeface="Arial"/>
              <a:buChar char="•"/>
            </a:pPr>
            <a:r>
              <a:rPr lang="en-US" sz="38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Continues to grow with technology</a:t>
            </a:r>
          </a:p>
          <a:p>
            <a:pPr algn="l">
              <a:lnSpc>
                <a:spcPts val="7565"/>
              </a:lnSpc>
            </a:pPr>
            <a:endParaRPr lang="en-US" sz="3899">
              <a:solidFill>
                <a:srgbClr val="3331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51022" y="8255993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0" y="0"/>
                </a:moveTo>
                <a:lnTo>
                  <a:pt x="8412822" y="0"/>
                </a:lnTo>
                <a:lnTo>
                  <a:pt x="8412822" y="6669074"/>
                </a:lnTo>
                <a:lnTo>
                  <a:pt x="0" y="66690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402571" y="-4399203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8412822" y="6669074"/>
                </a:moveTo>
                <a:lnTo>
                  <a:pt x="0" y="6669074"/>
                </a:lnTo>
                <a:lnTo>
                  <a:pt x="0" y="0"/>
                </a:lnTo>
                <a:lnTo>
                  <a:pt x="8412822" y="0"/>
                </a:lnTo>
                <a:lnTo>
                  <a:pt x="8412822" y="66690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2190390" y="9258300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11408209" y="1203047"/>
                </a:moveTo>
                <a:lnTo>
                  <a:pt x="0" y="1203047"/>
                </a:lnTo>
                <a:lnTo>
                  <a:pt x="0" y="0"/>
                </a:lnTo>
                <a:lnTo>
                  <a:pt x="11408209" y="0"/>
                </a:lnTo>
                <a:lnTo>
                  <a:pt x="11408209" y="12030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070181" y="-174347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0" y="0"/>
                </a:moveTo>
                <a:lnTo>
                  <a:pt x="11408209" y="0"/>
                </a:lnTo>
                <a:lnTo>
                  <a:pt x="11408209" y="1203047"/>
                </a:lnTo>
                <a:lnTo>
                  <a:pt x="0" y="1203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254817" y="9840774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0146030" y="446226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188276" y="586779"/>
            <a:ext cx="18125446" cy="1473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08"/>
              </a:lnSpc>
            </a:pPr>
            <a:r>
              <a:rPr lang="en-US" sz="8363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FREELANCING PLATFORMS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0" y="3097466"/>
            <a:ext cx="12010536" cy="5104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2008" lvl="1" indent="-421004" algn="l">
              <a:lnSpc>
                <a:spcPts val="6785"/>
              </a:lnSpc>
              <a:buFont typeface="Arial"/>
              <a:buChar char="•"/>
            </a:pPr>
            <a:r>
              <a:rPr lang="en-US" sz="38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marketplaces connecting clients and freelancers</a:t>
            </a:r>
          </a:p>
          <a:p>
            <a:pPr marL="842008" lvl="1" indent="-421004" algn="l">
              <a:lnSpc>
                <a:spcPts val="6785"/>
              </a:lnSpc>
              <a:buFont typeface="Arial"/>
              <a:buChar char="•"/>
            </a:pPr>
            <a:r>
              <a:rPr lang="en-US" sz="38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secure payments and job listings</a:t>
            </a:r>
          </a:p>
          <a:p>
            <a:pPr marL="842008" lvl="1" indent="-421004" algn="l">
              <a:lnSpc>
                <a:spcPts val="6785"/>
              </a:lnSpc>
              <a:buFont typeface="Arial"/>
              <a:buChar char="•"/>
            </a:pPr>
            <a:r>
              <a:rPr lang="en-US" sz="38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reputation through reviews and ratings</a:t>
            </a:r>
          </a:p>
          <a:p>
            <a:pPr marL="842008" lvl="1" indent="-421004" algn="l">
              <a:lnSpc>
                <a:spcPts val="6785"/>
              </a:lnSpc>
              <a:buFont typeface="Arial"/>
              <a:buChar char="•"/>
            </a:pPr>
            <a:r>
              <a:rPr lang="en-US" sz="38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Popular platforms: Fiverr, Upwork, Freelancer</a:t>
            </a:r>
          </a:p>
          <a:p>
            <a:pPr marL="842008" lvl="1" indent="-421004" algn="l">
              <a:lnSpc>
                <a:spcPts val="6785"/>
              </a:lnSpc>
              <a:buFont typeface="Arial"/>
              <a:buChar char="•"/>
            </a:pPr>
            <a:r>
              <a:rPr lang="en-US" sz="38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it easier to find work globally</a:t>
            </a:r>
          </a:p>
          <a:p>
            <a:pPr algn="l">
              <a:lnSpc>
                <a:spcPts val="6785"/>
              </a:lnSpc>
            </a:pPr>
            <a:endParaRPr lang="en-US" sz="3899">
              <a:solidFill>
                <a:srgbClr val="3331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12208217" y="2385567"/>
            <a:ext cx="4909199" cy="3293031"/>
          </a:xfrm>
          <a:custGeom>
            <a:avLst/>
            <a:gdLst/>
            <a:ahLst/>
            <a:cxnLst/>
            <a:rect l="l" t="t" r="r" b="b"/>
            <a:pathLst>
              <a:path w="4909199" h="3293031">
                <a:moveTo>
                  <a:pt x="0" y="0"/>
                </a:moveTo>
                <a:lnTo>
                  <a:pt x="4909198" y="0"/>
                </a:lnTo>
                <a:lnTo>
                  <a:pt x="4909198" y="3293031"/>
                </a:lnTo>
                <a:lnTo>
                  <a:pt x="0" y="32930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635" b="-5635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208217" y="6003887"/>
            <a:ext cx="4909199" cy="3254413"/>
          </a:xfrm>
          <a:custGeom>
            <a:avLst/>
            <a:gdLst/>
            <a:ahLst/>
            <a:cxnLst/>
            <a:rect l="l" t="t" r="r" b="b"/>
            <a:pathLst>
              <a:path w="4909199" h="3254413">
                <a:moveTo>
                  <a:pt x="0" y="0"/>
                </a:moveTo>
                <a:lnTo>
                  <a:pt x="4909198" y="0"/>
                </a:lnTo>
                <a:lnTo>
                  <a:pt x="4909198" y="3254413"/>
                </a:lnTo>
                <a:lnTo>
                  <a:pt x="0" y="3254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59931" y="8615001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0" y="0"/>
                </a:moveTo>
                <a:lnTo>
                  <a:pt x="8412822" y="0"/>
                </a:lnTo>
                <a:lnTo>
                  <a:pt x="8412822" y="6669073"/>
                </a:lnTo>
                <a:lnTo>
                  <a:pt x="0" y="66690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177711" y="-4431051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8412822" y="6669073"/>
                </a:moveTo>
                <a:lnTo>
                  <a:pt x="0" y="6669073"/>
                </a:lnTo>
                <a:lnTo>
                  <a:pt x="0" y="0"/>
                </a:lnTo>
                <a:lnTo>
                  <a:pt x="8412822" y="0"/>
                </a:lnTo>
                <a:lnTo>
                  <a:pt x="8412822" y="666907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2190390" y="9258300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11408209" y="1203047"/>
                </a:moveTo>
                <a:lnTo>
                  <a:pt x="0" y="1203047"/>
                </a:lnTo>
                <a:lnTo>
                  <a:pt x="0" y="0"/>
                </a:lnTo>
                <a:lnTo>
                  <a:pt x="11408209" y="0"/>
                </a:lnTo>
                <a:lnTo>
                  <a:pt x="11408209" y="12030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070181" y="-174347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0" y="0"/>
                </a:moveTo>
                <a:lnTo>
                  <a:pt x="11408209" y="0"/>
                </a:lnTo>
                <a:lnTo>
                  <a:pt x="11408209" y="1203047"/>
                </a:lnTo>
                <a:lnTo>
                  <a:pt x="0" y="1203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254817" y="9840774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0146030" y="446226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9217819" y="2387008"/>
            <a:ext cx="7963741" cy="7326642"/>
          </a:xfrm>
          <a:custGeom>
            <a:avLst/>
            <a:gdLst/>
            <a:ahLst/>
            <a:cxnLst/>
            <a:rect l="l" t="t" r="r" b="b"/>
            <a:pathLst>
              <a:path w="7963741" h="7326642">
                <a:moveTo>
                  <a:pt x="0" y="0"/>
                </a:moveTo>
                <a:lnTo>
                  <a:pt x="7963741" y="0"/>
                </a:lnTo>
                <a:lnTo>
                  <a:pt x="7963741" y="7326642"/>
                </a:lnTo>
                <a:lnTo>
                  <a:pt x="0" y="7326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09824" y="450825"/>
            <a:ext cx="11309870" cy="1473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08"/>
              </a:lnSpc>
            </a:pPr>
            <a:r>
              <a:rPr lang="en-US" sz="8363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FIVERR OVERVIEW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53102" y="2792676"/>
            <a:ext cx="8411657" cy="5321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2008" lvl="1" indent="-421004" algn="l">
              <a:lnSpc>
                <a:spcPts val="7253"/>
              </a:lnSpc>
              <a:buFont typeface="Arial"/>
              <a:buChar char="•"/>
            </a:pPr>
            <a:r>
              <a:rPr lang="en-US" sz="38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Service-based platform using </a:t>
            </a:r>
            <a:r>
              <a:rPr lang="en-US" sz="3899">
                <a:solidFill>
                  <a:srgbClr val="00BF6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“gigs”</a:t>
            </a:r>
          </a:p>
          <a:p>
            <a:pPr marL="842008" lvl="1" indent="-421004" algn="l">
              <a:lnSpc>
                <a:spcPts val="7253"/>
              </a:lnSpc>
              <a:buFont typeface="Arial"/>
              <a:buChar char="•"/>
            </a:pPr>
            <a:r>
              <a:rPr lang="en-US" sz="38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Freelancers set prices and offerings</a:t>
            </a:r>
          </a:p>
          <a:p>
            <a:pPr marL="842008" lvl="1" indent="-421004" algn="l">
              <a:lnSpc>
                <a:spcPts val="7253"/>
              </a:lnSpc>
              <a:buFont typeface="Arial"/>
              <a:buChar char="•"/>
            </a:pPr>
            <a:r>
              <a:rPr lang="en-US" sz="38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and beginner-friendly system</a:t>
            </a:r>
          </a:p>
          <a:p>
            <a:pPr marL="842008" lvl="1" indent="-421004" algn="l">
              <a:lnSpc>
                <a:spcPts val="7253"/>
              </a:lnSpc>
              <a:buFont typeface="Arial"/>
              <a:buChar char="•"/>
            </a:pPr>
            <a:r>
              <a:rPr lang="en-US" sz="38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for quick and smaller projects</a:t>
            </a:r>
          </a:p>
          <a:p>
            <a:pPr marL="842008" lvl="1" indent="-421004" algn="l">
              <a:lnSpc>
                <a:spcPts val="7253"/>
              </a:lnSpc>
              <a:buFont typeface="Arial"/>
              <a:buChar char="•"/>
            </a:pPr>
            <a:r>
              <a:rPr lang="en-US" sz="38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focus on fast delivery</a:t>
            </a:r>
          </a:p>
          <a:p>
            <a:pPr algn="l">
              <a:lnSpc>
                <a:spcPts val="5459"/>
              </a:lnSpc>
            </a:pPr>
            <a:endParaRPr lang="en-US" sz="3899">
              <a:solidFill>
                <a:srgbClr val="3331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16613" y="8287842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0" y="0"/>
                </a:moveTo>
                <a:lnTo>
                  <a:pt x="8412822" y="0"/>
                </a:lnTo>
                <a:lnTo>
                  <a:pt x="8412822" y="6669073"/>
                </a:lnTo>
                <a:lnTo>
                  <a:pt x="0" y="66690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036313" y="-4542521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8412822" y="6669073"/>
                </a:moveTo>
                <a:lnTo>
                  <a:pt x="0" y="6669073"/>
                </a:lnTo>
                <a:lnTo>
                  <a:pt x="0" y="0"/>
                </a:lnTo>
                <a:lnTo>
                  <a:pt x="8412822" y="0"/>
                </a:lnTo>
                <a:lnTo>
                  <a:pt x="8412822" y="666907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2190390" y="9258300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11408209" y="1203047"/>
                </a:moveTo>
                <a:lnTo>
                  <a:pt x="0" y="1203047"/>
                </a:lnTo>
                <a:lnTo>
                  <a:pt x="0" y="0"/>
                </a:lnTo>
                <a:lnTo>
                  <a:pt x="11408209" y="0"/>
                </a:lnTo>
                <a:lnTo>
                  <a:pt x="11408209" y="12030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070181" y="-174347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0" y="0"/>
                </a:moveTo>
                <a:lnTo>
                  <a:pt x="11408209" y="0"/>
                </a:lnTo>
                <a:lnTo>
                  <a:pt x="11408209" y="1203047"/>
                </a:lnTo>
                <a:lnTo>
                  <a:pt x="0" y="1203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254817" y="9840774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0146030" y="446226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9011445" y="2735506"/>
            <a:ext cx="8711578" cy="6522794"/>
          </a:xfrm>
          <a:custGeom>
            <a:avLst/>
            <a:gdLst/>
            <a:ahLst/>
            <a:cxnLst/>
            <a:rect l="l" t="t" r="r" b="b"/>
            <a:pathLst>
              <a:path w="8711578" h="6522794">
                <a:moveTo>
                  <a:pt x="0" y="0"/>
                </a:moveTo>
                <a:lnTo>
                  <a:pt x="8711579" y="0"/>
                </a:lnTo>
                <a:lnTo>
                  <a:pt x="8711579" y="6522794"/>
                </a:lnTo>
                <a:lnTo>
                  <a:pt x="0" y="6522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898354" y="769186"/>
            <a:ext cx="12026461" cy="1456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68"/>
              </a:lnSpc>
            </a:pPr>
            <a:r>
              <a:rPr lang="en-US" sz="8263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UPWORK OVERVIEW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0" y="2704333"/>
            <a:ext cx="8746066" cy="5932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2008" lvl="1" indent="-421004" algn="l">
              <a:lnSpc>
                <a:spcPts val="5888"/>
              </a:lnSpc>
              <a:buFont typeface="Arial"/>
              <a:buChar char="•"/>
            </a:pPr>
            <a:r>
              <a:rPr lang="en-US" sz="38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Job-based platform with client postings</a:t>
            </a:r>
          </a:p>
          <a:p>
            <a:pPr marL="842008" lvl="1" indent="-421004" algn="l">
              <a:lnSpc>
                <a:spcPts val="5888"/>
              </a:lnSpc>
              <a:buFont typeface="Arial"/>
              <a:buChar char="•"/>
            </a:pPr>
            <a:r>
              <a:rPr lang="en-US" sz="38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Freelancers submit proposals to apply</a:t>
            </a:r>
          </a:p>
          <a:p>
            <a:pPr marL="842008" lvl="1" indent="-421004" algn="l">
              <a:lnSpc>
                <a:spcPts val="5888"/>
              </a:lnSpc>
              <a:buFont typeface="Arial"/>
              <a:buChar char="•"/>
            </a:pPr>
            <a:r>
              <a:rPr lang="en-US" sz="38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Suitable for long-term and professional work</a:t>
            </a:r>
          </a:p>
          <a:p>
            <a:pPr marL="842008" lvl="1" indent="-421004" algn="l">
              <a:lnSpc>
                <a:spcPts val="5888"/>
              </a:lnSpc>
              <a:buFont typeface="Arial"/>
              <a:buChar char="•"/>
            </a:pPr>
            <a:r>
              <a:rPr lang="en-US" sz="38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Offers hourly and fixed-price projects</a:t>
            </a:r>
          </a:p>
          <a:p>
            <a:pPr marL="842008" lvl="1" indent="-421004" algn="l">
              <a:lnSpc>
                <a:spcPts val="5888"/>
              </a:lnSpc>
              <a:buFont typeface="Arial"/>
              <a:buChar char="•"/>
            </a:pPr>
            <a:r>
              <a:rPr lang="en-US" sz="38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competition but higher earning potential</a:t>
            </a:r>
          </a:p>
          <a:p>
            <a:pPr algn="l">
              <a:lnSpc>
                <a:spcPts val="5888"/>
              </a:lnSpc>
            </a:pPr>
            <a:endParaRPr lang="en-US" sz="3899">
              <a:solidFill>
                <a:srgbClr val="3331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29309" y="8383387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0" y="0"/>
                </a:moveTo>
                <a:lnTo>
                  <a:pt x="8412822" y="0"/>
                </a:lnTo>
                <a:lnTo>
                  <a:pt x="8412822" y="6669074"/>
                </a:lnTo>
                <a:lnTo>
                  <a:pt x="0" y="66690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196329" y="-4868730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8412822" y="6669073"/>
                </a:moveTo>
                <a:lnTo>
                  <a:pt x="0" y="6669073"/>
                </a:lnTo>
                <a:lnTo>
                  <a:pt x="0" y="0"/>
                </a:lnTo>
                <a:lnTo>
                  <a:pt x="8412822" y="0"/>
                </a:lnTo>
                <a:lnTo>
                  <a:pt x="8412822" y="666907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2190390" y="9258300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11408209" y="1203047"/>
                </a:moveTo>
                <a:lnTo>
                  <a:pt x="0" y="1203047"/>
                </a:lnTo>
                <a:lnTo>
                  <a:pt x="0" y="0"/>
                </a:lnTo>
                <a:lnTo>
                  <a:pt x="11408209" y="0"/>
                </a:lnTo>
                <a:lnTo>
                  <a:pt x="11408209" y="12030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070181" y="-174347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0" y="0"/>
                </a:moveTo>
                <a:lnTo>
                  <a:pt x="11408209" y="0"/>
                </a:lnTo>
                <a:lnTo>
                  <a:pt x="11408209" y="1203047"/>
                </a:lnTo>
                <a:lnTo>
                  <a:pt x="0" y="1203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254817" y="9840774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0146030" y="446226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11288271" y="2755322"/>
            <a:ext cx="6972030" cy="5443171"/>
          </a:xfrm>
          <a:custGeom>
            <a:avLst/>
            <a:gdLst/>
            <a:ahLst/>
            <a:cxnLst/>
            <a:rect l="l" t="t" r="r" b="b"/>
            <a:pathLst>
              <a:path w="6972030" h="5443171">
                <a:moveTo>
                  <a:pt x="0" y="0"/>
                </a:moveTo>
                <a:lnTo>
                  <a:pt x="6972030" y="0"/>
                </a:lnTo>
                <a:lnTo>
                  <a:pt x="6972030" y="5443171"/>
                </a:lnTo>
                <a:lnTo>
                  <a:pt x="0" y="54431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0" y="1975337"/>
            <a:ext cx="10953677" cy="6774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017"/>
              </a:lnSpc>
            </a:pPr>
            <a:endParaRPr/>
          </a:p>
          <a:p>
            <a:pPr marL="861522" lvl="1" indent="-430761" algn="l">
              <a:lnSpc>
                <a:spcPts val="6464"/>
              </a:lnSpc>
              <a:buFont typeface="Arial"/>
              <a:buChar char="•"/>
            </a:pPr>
            <a:r>
              <a:rPr lang="en-US" sz="3990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Graphic Design:</a:t>
            </a:r>
            <a:r>
              <a:rPr lang="en-US" sz="3990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logos, branding, UI/UX design</a:t>
            </a:r>
          </a:p>
          <a:p>
            <a:pPr marL="861522" lvl="1" indent="-430761" algn="l">
              <a:lnSpc>
                <a:spcPts val="6464"/>
              </a:lnSpc>
              <a:buFont typeface="Arial"/>
              <a:buChar char="•"/>
            </a:pPr>
            <a:r>
              <a:rPr lang="en-US" sz="3990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Content Writing:</a:t>
            </a:r>
            <a:r>
              <a:rPr lang="en-US" sz="3990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blogs, articles, copywriting</a:t>
            </a:r>
          </a:p>
          <a:p>
            <a:pPr marL="861522" lvl="1" indent="-430761" algn="l">
              <a:lnSpc>
                <a:spcPts val="6464"/>
              </a:lnSpc>
              <a:buFont typeface="Arial"/>
              <a:buChar char="•"/>
            </a:pPr>
            <a:r>
              <a:rPr lang="en-US" sz="3990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Web Development:</a:t>
            </a:r>
            <a:r>
              <a:rPr lang="en-US" sz="3990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websites, apps, coding</a:t>
            </a:r>
          </a:p>
          <a:p>
            <a:pPr marL="861522" lvl="1" indent="-430761" algn="l">
              <a:lnSpc>
                <a:spcPts val="6464"/>
              </a:lnSpc>
              <a:buFont typeface="Arial"/>
              <a:buChar char="•"/>
            </a:pPr>
            <a:r>
              <a:rPr lang="en-US" sz="3990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Digital Marketing: </a:t>
            </a:r>
            <a:r>
              <a:rPr lang="en-US" sz="3990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SEO, social media marketing</a:t>
            </a:r>
          </a:p>
          <a:p>
            <a:pPr marL="861522" lvl="1" indent="-430761" algn="l">
              <a:lnSpc>
                <a:spcPts val="6464"/>
              </a:lnSpc>
              <a:buFont typeface="Arial"/>
              <a:buChar char="•"/>
            </a:pPr>
            <a:r>
              <a:rPr lang="en-US" sz="3990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Video Editing: </a:t>
            </a:r>
            <a:r>
              <a:rPr lang="en-US" sz="3990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YouTube videos, ads, reels</a:t>
            </a:r>
          </a:p>
          <a:p>
            <a:pPr algn="l">
              <a:lnSpc>
                <a:spcPts val="6887"/>
              </a:lnSpc>
            </a:pPr>
            <a:endParaRPr lang="en-US" sz="3990">
              <a:solidFill>
                <a:srgbClr val="3331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523634" y="764399"/>
            <a:ext cx="12005295" cy="1439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80"/>
              </a:lnSpc>
            </a:pPr>
            <a:r>
              <a:rPr lang="en-US" sz="8200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Types of Freelancing Work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73122" y="8224145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0" y="0"/>
                </a:moveTo>
                <a:lnTo>
                  <a:pt x="8412822" y="0"/>
                </a:lnTo>
                <a:lnTo>
                  <a:pt x="8412822" y="6669073"/>
                </a:lnTo>
                <a:lnTo>
                  <a:pt x="0" y="66690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956692" y="-4810167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8412822" y="6669073"/>
                </a:moveTo>
                <a:lnTo>
                  <a:pt x="0" y="6669073"/>
                </a:lnTo>
                <a:lnTo>
                  <a:pt x="0" y="0"/>
                </a:lnTo>
                <a:lnTo>
                  <a:pt x="8412822" y="0"/>
                </a:lnTo>
                <a:lnTo>
                  <a:pt x="8412822" y="666907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2190390" y="9258300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11408209" y="1203047"/>
                </a:moveTo>
                <a:lnTo>
                  <a:pt x="0" y="1203047"/>
                </a:lnTo>
                <a:lnTo>
                  <a:pt x="0" y="0"/>
                </a:lnTo>
                <a:lnTo>
                  <a:pt x="11408209" y="0"/>
                </a:lnTo>
                <a:lnTo>
                  <a:pt x="11408209" y="12030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070181" y="-174347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0" y="0"/>
                </a:moveTo>
                <a:lnTo>
                  <a:pt x="11408209" y="0"/>
                </a:lnTo>
                <a:lnTo>
                  <a:pt x="11408209" y="1203047"/>
                </a:lnTo>
                <a:lnTo>
                  <a:pt x="0" y="1203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254817" y="9840774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0146030" y="446226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10786892" y="2439206"/>
            <a:ext cx="6981109" cy="6382424"/>
          </a:xfrm>
          <a:custGeom>
            <a:avLst/>
            <a:gdLst/>
            <a:ahLst/>
            <a:cxnLst/>
            <a:rect l="l" t="t" r="r" b="b"/>
            <a:pathLst>
              <a:path w="6981109" h="6382424">
                <a:moveTo>
                  <a:pt x="0" y="0"/>
                </a:moveTo>
                <a:lnTo>
                  <a:pt x="6981109" y="0"/>
                </a:lnTo>
                <a:lnTo>
                  <a:pt x="6981109" y="6382423"/>
                </a:lnTo>
                <a:lnTo>
                  <a:pt x="0" y="6382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8901" r="-40184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-97572" y="2472144"/>
            <a:ext cx="10884464" cy="5791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5187" lvl="1" indent="-442594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Earn in foreign currencies (USD, EUR, etc.)</a:t>
            </a:r>
          </a:p>
          <a:p>
            <a:pPr marL="885187" lvl="1" indent="-442594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Exchange rate benefits for countries like Pakistan</a:t>
            </a:r>
          </a:p>
          <a:p>
            <a:pPr marL="885187" lvl="1" indent="-442594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clients = multiple income streams</a:t>
            </a:r>
          </a:p>
          <a:p>
            <a:pPr marL="885187" lvl="1" indent="-442594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Opportunity for passive income (digital products, templates)</a:t>
            </a:r>
          </a:p>
          <a:p>
            <a:pPr marL="885187" lvl="1" indent="-442594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scale income over time</a:t>
            </a:r>
          </a:p>
          <a:p>
            <a:pPr algn="l">
              <a:lnSpc>
                <a:spcPts val="5739"/>
              </a:lnSpc>
            </a:pPr>
            <a:endParaRPr lang="en-US" sz="4099">
              <a:solidFill>
                <a:srgbClr val="3331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745311" y="692662"/>
            <a:ext cx="14235709" cy="1308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08"/>
              </a:lnSpc>
            </a:pPr>
            <a:r>
              <a:rPr lang="en-US" sz="7363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363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FINANCIAL OPPORTUNITIES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63547" y="8192296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0" y="0"/>
                </a:moveTo>
                <a:lnTo>
                  <a:pt x="8412822" y="0"/>
                </a:lnTo>
                <a:lnTo>
                  <a:pt x="8412822" y="6669074"/>
                </a:lnTo>
                <a:lnTo>
                  <a:pt x="0" y="66690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370722" y="-4717688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8412822" y="6669074"/>
                </a:moveTo>
                <a:lnTo>
                  <a:pt x="0" y="6669074"/>
                </a:lnTo>
                <a:lnTo>
                  <a:pt x="0" y="0"/>
                </a:lnTo>
                <a:lnTo>
                  <a:pt x="8412822" y="0"/>
                </a:lnTo>
                <a:lnTo>
                  <a:pt x="8412822" y="66690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2190390" y="9258300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11408209" y="1203047"/>
                </a:moveTo>
                <a:lnTo>
                  <a:pt x="0" y="1203047"/>
                </a:lnTo>
                <a:lnTo>
                  <a:pt x="0" y="0"/>
                </a:lnTo>
                <a:lnTo>
                  <a:pt x="11408209" y="0"/>
                </a:lnTo>
                <a:lnTo>
                  <a:pt x="11408209" y="12030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070181" y="-174347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0" y="0"/>
                </a:moveTo>
                <a:lnTo>
                  <a:pt x="11408209" y="0"/>
                </a:lnTo>
                <a:lnTo>
                  <a:pt x="11408209" y="1203047"/>
                </a:lnTo>
                <a:lnTo>
                  <a:pt x="0" y="1203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254817" y="9840774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0146030" y="446226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9966271" y="2173926"/>
            <a:ext cx="7552280" cy="7467317"/>
          </a:xfrm>
          <a:custGeom>
            <a:avLst/>
            <a:gdLst/>
            <a:ahLst/>
            <a:cxnLst/>
            <a:rect l="l" t="t" r="r" b="b"/>
            <a:pathLst>
              <a:path w="7552280" h="7467317">
                <a:moveTo>
                  <a:pt x="0" y="0"/>
                </a:moveTo>
                <a:lnTo>
                  <a:pt x="7552280" y="0"/>
                </a:lnTo>
                <a:lnTo>
                  <a:pt x="7552280" y="7467317"/>
                </a:lnTo>
                <a:lnTo>
                  <a:pt x="0" y="74673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-302561" y="2495729"/>
            <a:ext cx="10628003" cy="6633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8" lvl="1" indent="-431799" algn="l">
              <a:lnSpc>
                <a:spcPts val="6599"/>
              </a:lnSpc>
              <a:buFont typeface="Arial"/>
              <a:buChar char="•"/>
            </a:pPr>
            <a:r>
              <a:rPr lang="en-US" sz="3999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Logo Designer:</a:t>
            </a:r>
            <a:r>
              <a:rPr lang="en-US" sz="39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creates brand identities for businesses</a:t>
            </a:r>
          </a:p>
          <a:p>
            <a:pPr marL="863598" lvl="1" indent="-431799" algn="l">
              <a:lnSpc>
                <a:spcPts val="6599"/>
              </a:lnSpc>
              <a:buFont typeface="Arial"/>
              <a:buChar char="•"/>
            </a:pPr>
            <a:r>
              <a:rPr lang="en-US" sz="3999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Blog Writer: </a:t>
            </a:r>
            <a:r>
              <a:rPr lang="en-US" sz="39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writes articles for websites</a:t>
            </a:r>
          </a:p>
          <a:p>
            <a:pPr marL="863598" lvl="1" indent="-431799" algn="l">
              <a:lnSpc>
                <a:spcPts val="6599"/>
              </a:lnSpc>
              <a:buFont typeface="Arial"/>
              <a:buChar char="•"/>
            </a:pPr>
            <a:r>
              <a:rPr lang="en-US" sz="3999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Frontend Developer: </a:t>
            </a:r>
            <a:r>
              <a:rPr lang="en-US" sz="39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designs website interfaces</a:t>
            </a:r>
          </a:p>
          <a:p>
            <a:pPr marL="863598" lvl="1" indent="-431799" algn="l">
              <a:lnSpc>
                <a:spcPts val="6599"/>
              </a:lnSpc>
              <a:buFont typeface="Arial"/>
              <a:buChar char="•"/>
            </a:pPr>
            <a:r>
              <a:rPr lang="en-US" sz="3999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Social Media Manager: </a:t>
            </a:r>
            <a:r>
              <a:rPr lang="en-US" sz="39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manages online presence and content</a:t>
            </a:r>
          </a:p>
          <a:p>
            <a:pPr algn="l">
              <a:lnSpc>
                <a:spcPts val="6929"/>
              </a:lnSpc>
            </a:pPr>
            <a:endParaRPr lang="en-US" sz="3999">
              <a:solidFill>
                <a:srgbClr val="3331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29340" y="562494"/>
            <a:ext cx="10041137" cy="1440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28"/>
              </a:lnSpc>
            </a:pPr>
            <a:r>
              <a:rPr lang="en-US" sz="8163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EXAMPLE ROLES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081589" y="8033054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0" y="0"/>
                </a:moveTo>
                <a:lnTo>
                  <a:pt x="8412822" y="0"/>
                </a:lnTo>
                <a:lnTo>
                  <a:pt x="8412822" y="6669073"/>
                </a:lnTo>
                <a:lnTo>
                  <a:pt x="0" y="66690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558586" y="-4778319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8412822" y="6669074"/>
                </a:moveTo>
                <a:lnTo>
                  <a:pt x="0" y="6669074"/>
                </a:lnTo>
                <a:lnTo>
                  <a:pt x="0" y="0"/>
                </a:lnTo>
                <a:lnTo>
                  <a:pt x="8412822" y="0"/>
                </a:lnTo>
                <a:lnTo>
                  <a:pt x="8412822" y="66690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2190390" y="9258300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11408209" y="1203047"/>
                </a:moveTo>
                <a:lnTo>
                  <a:pt x="0" y="1203047"/>
                </a:lnTo>
                <a:lnTo>
                  <a:pt x="0" y="0"/>
                </a:lnTo>
                <a:lnTo>
                  <a:pt x="11408209" y="0"/>
                </a:lnTo>
                <a:lnTo>
                  <a:pt x="11408209" y="12030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070181" y="-174347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0" y="0"/>
                </a:moveTo>
                <a:lnTo>
                  <a:pt x="11408209" y="0"/>
                </a:lnTo>
                <a:lnTo>
                  <a:pt x="11408209" y="1203047"/>
                </a:lnTo>
                <a:lnTo>
                  <a:pt x="0" y="1203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254817" y="9840774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0146030" y="446226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9217819" y="2958098"/>
            <a:ext cx="8810760" cy="4647676"/>
          </a:xfrm>
          <a:custGeom>
            <a:avLst/>
            <a:gdLst/>
            <a:ahLst/>
            <a:cxnLst/>
            <a:rect l="l" t="t" r="r" b="b"/>
            <a:pathLst>
              <a:path w="8810760" h="4647676">
                <a:moveTo>
                  <a:pt x="0" y="0"/>
                </a:moveTo>
                <a:lnTo>
                  <a:pt x="8810760" y="0"/>
                </a:lnTo>
                <a:lnTo>
                  <a:pt x="8810760" y="4647676"/>
                </a:lnTo>
                <a:lnTo>
                  <a:pt x="0" y="46476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-166283" y="2312850"/>
            <a:ext cx="9734026" cy="6418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5187" lvl="1" indent="-442594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Flexible working hours and schedule</a:t>
            </a:r>
          </a:p>
          <a:p>
            <a:pPr marL="885187" lvl="1" indent="-442594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Ability to work from home or anywhere</a:t>
            </a:r>
          </a:p>
          <a:p>
            <a:pPr marL="885187" lvl="1" indent="-442594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Opportunity to work with international clients</a:t>
            </a:r>
          </a:p>
          <a:p>
            <a:pPr marL="885187" lvl="1" indent="-442594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Unlimited earning potential based on skills</a:t>
            </a:r>
          </a:p>
          <a:p>
            <a:pPr marL="885187" lvl="1" indent="-442594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Continuous learning and skill development</a:t>
            </a:r>
          </a:p>
          <a:p>
            <a:pPr algn="l">
              <a:lnSpc>
                <a:spcPts val="4900"/>
              </a:lnSpc>
            </a:pPr>
            <a:endParaRPr lang="en-US" sz="4099">
              <a:solidFill>
                <a:srgbClr val="3331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647825" y="553607"/>
            <a:ext cx="14007070" cy="1308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08"/>
              </a:lnSpc>
            </a:pPr>
            <a:r>
              <a:rPr lang="en-US" sz="7363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7363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BENEFITS OF FREELANCING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07704" y="8128599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0" y="0"/>
                </a:moveTo>
                <a:lnTo>
                  <a:pt x="8412822" y="0"/>
                </a:lnTo>
                <a:lnTo>
                  <a:pt x="8412822" y="6669074"/>
                </a:lnTo>
                <a:lnTo>
                  <a:pt x="0" y="66690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3322950" y="-4873864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8412822" y="6669073"/>
                </a:moveTo>
                <a:lnTo>
                  <a:pt x="0" y="6669073"/>
                </a:lnTo>
                <a:lnTo>
                  <a:pt x="0" y="0"/>
                </a:lnTo>
                <a:lnTo>
                  <a:pt x="8412822" y="0"/>
                </a:lnTo>
                <a:lnTo>
                  <a:pt x="8412822" y="666907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2190390" y="9258300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11408209" y="1203047"/>
                </a:moveTo>
                <a:lnTo>
                  <a:pt x="0" y="1203047"/>
                </a:lnTo>
                <a:lnTo>
                  <a:pt x="0" y="0"/>
                </a:lnTo>
                <a:lnTo>
                  <a:pt x="11408209" y="0"/>
                </a:lnTo>
                <a:lnTo>
                  <a:pt x="11408209" y="12030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070181" y="-174347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0" y="0"/>
                </a:moveTo>
                <a:lnTo>
                  <a:pt x="11408209" y="0"/>
                </a:lnTo>
                <a:lnTo>
                  <a:pt x="11408209" y="1203047"/>
                </a:lnTo>
                <a:lnTo>
                  <a:pt x="0" y="1203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254817" y="9840774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0146030" y="446226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10617352" y="2384406"/>
            <a:ext cx="6711541" cy="6685066"/>
          </a:xfrm>
          <a:custGeom>
            <a:avLst/>
            <a:gdLst/>
            <a:ahLst/>
            <a:cxnLst/>
            <a:rect l="l" t="t" r="r" b="b"/>
            <a:pathLst>
              <a:path w="6711541" h="6685066">
                <a:moveTo>
                  <a:pt x="0" y="0"/>
                </a:moveTo>
                <a:lnTo>
                  <a:pt x="6711541" y="0"/>
                </a:lnTo>
                <a:lnTo>
                  <a:pt x="6711541" y="6685066"/>
                </a:lnTo>
                <a:lnTo>
                  <a:pt x="0" y="66850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442730" y="682816"/>
            <a:ext cx="14898828" cy="1216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8"/>
              </a:lnSpc>
            </a:pPr>
            <a:r>
              <a:rPr lang="en-US" sz="6863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CHALLENGES OF FREELANCING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-143318" y="2687706"/>
            <a:ext cx="10013515" cy="5151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7304" lvl="1" indent="-413652" algn="l">
              <a:lnSpc>
                <a:spcPts val="6859"/>
              </a:lnSpc>
              <a:buFont typeface="Arial"/>
              <a:buChar char="•"/>
            </a:pPr>
            <a:r>
              <a:rPr lang="en-US" sz="3831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competition, especially for beginners</a:t>
            </a:r>
          </a:p>
          <a:p>
            <a:pPr marL="827304" lvl="1" indent="-413652" algn="l">
              <a:lnSpc>
                <a:spcPts val="6859"/>
              </a:lnSpc>
              <a:buFont typeface="Arial"/>
              <a:buChar char="•"/>
            </a:pPr>
            <a:r>
              <a:rPr lang="en-US" sz="3831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fixed or stable monthly income</a:t>
            </a:r>
          </a:p>
          <a:p>
            <a:pPr marL="827304" lvl="1" indent="-413652" algn="l">
              <a:lnSpc>
                <a:spcPts val="6859"/>
              </a:lnSpc>
              <a:buFont typeface="Arial"/>
              <a:buChar char="•"/>
            </a:pPr>
            <a:r>
              <a:rPr lang="en-US" sz="3831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Difficulty in finding initial clients</a:t>
            </a:r>
          </a:p>
          <a:p>
            <a:pPr marL="827304" lvl="1" indent="-413652" algn="l">
              <a:lnSpc>
                <a:spcPts val="6859"/>
              </a:lnSpc>
              <a:buFont typeface="Arial"/>
              <a:buChar char="•"/>
            </a:pPr>
            <a:r>
              <a:rPr lang="en-US" sz="3831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 gaps with international clients</a:t>
            </a:r>
          </a:p>
          <a:p>
            <a:pPr marL="827304" lvl="1" indent="-413652" algn="l">
              <a:lnSpc>
                <a:spcPts val="6859"/>
              </a:lnSpc>
              <a:buFont typeface="Arial"/>
              <a:buChar char="•"/>
            </a:pPr>
            <a:r>
              <a:rPr lang="en-US" sz="3831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job security and benefits</a:t>
            </a:r>
          </a:p>
          <a:p>
            <a:pPr algn="l">
              <a:lnSpc>
                <a:spcPts val="6859"/>
              </a:lnSpc>
            </a:pPr>
            <a:endParaRPr lang="en-US" sz="3831">
              <a:solidFill>
                <a:srgbClr val="3331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68970" y="8128599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0" y="0"/>
                </a:moveTo>
                <a:lnTo>
                  <a:pt x="8412822" y="0"/>
                </a:lnTo>
                <a:lnTo>
                  <a:pt x="8412822" y="6669074"/>
                </a:lnTo>
                <a:lnTo>
                  <a:pt x="0" y="66690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558586" y="-4064794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8412822" y="6669074"/>
                </a:moveTo>
                <a:lnTo>
                  <a:pt x="0" y="6669074"/>
                </a:lnTo>
                <a:lnTo>
                  <a:pt x="0" y="0"/>
                </a:lnTo>
                <a:lnTo>
                  <a:pt x="8412822" y="0"/>
                </a:lnTo>
                <a:lnTo>
                  <a:pt x="8412822" y="66690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2190390" y="9258300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11408209" y="1203047"/>
                </a:moveTo>
                <a:lnTo>
                  <a:pt x="0" y="1203047"/>
                </a:lnTo>
                <a:lnTo>
                  <a:pt x="0" y="0"/>
                </a:lnTo>
                <a:lnTo>
                  <a:pt x="11408209" y="0"/>
                </a:lnTo>
                <a:lnTo>
                  <a:pt x="11408209" y="12030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070181" y="-174347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0" y="0"/>
                </a:moveTo>
                <a:lnTo>
                  <a:pt x="11408209" y="0"/>
                </a:lnTo>
                <a:lnTo>
                  <a:pt x="11408209" y="1203047"/>
                </a:lnTo>
                <a:lnTo>
                  <a:pt x="0" y="1203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254817" y="9840774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0146030" y="446226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11104383" y="2781541"/>
            <a:ext cx="6528383" cy="5631586"/>
          </a:xfrm>
          <a:custGeom>
            <a:avLst/>
            <a:gdLst/>
            <a:ahLst/>
            <a:cxnLst/>
            <a:rect l="l" t="t" r="r" b="b"/>
            <a:pathLst>
              <a:path w="6528383" h="5631586">
                <a:moveTo>
                  <a:pt x="0" y="0"/>
                </a:moveTo>
                <a:lnTo>
                  <a:pt x="6528383" y="0"/>
                </a:lnTo>
                <a:lnTo>
                  <a:pt x="6528383" y="5631586"/>
                </a:lnTo>
                <a:lnTo>
                  <a:pt x="0" y="56315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10351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0" y="2928130"/>
            <a:ext cx="10884464" cy="506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5187" lvl="1" indent="-442594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Irregular flow of projects and work</a:t>
            </a:r>
          </a:p>
          <a:p>
            <a:pPr marL="885187" lvl="1" indent="-442594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Income can fluctuate month to month</a:t>
            </a:r>
          </a:p>
          <a:p>
            <a:pPr marL="885187" lvl="1" indent="-442594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strong self-discipline and motivation</a:t>
            </a:r>
          </a:p>
          <a:p>
            <a:pPr marL="885187" lvl="1" indent="-442594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Freelancers must constantly search for new clients</a:t>
            </a:r>
          </a:p>
          <a:p>
            <a:pPr marL="885187" lvl="1" indent="-442594" algn="l">
              <a:lnSpc>
                <a:spcPts val="5739"/>
              </a:lnSpc>
              <a:buFont typeface="Arial"/>
              <a:buChar char="•"/>
            </a:pPr>
            <a:r>
              <a:rPr lang="en-US" sz="40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“Dry periods” can occur with no projects</a:t>
            </a:r>
          </a:p>
          <a:p>
            <a:pPr algn="l">
              <a:lnSpc>
                <a:spcPts val="5739"/>
              </a:lnSpc>
            </a:pPr>
            <a:endParaRPr lang="en-US" sz="4099">
              <a:solidFill>
                <a:srgbClr val="3331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-615828" y="722477"/>
            <a:ext cx="16427556" cy="1282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68"/>
              </a:lnSpc>
            </a:pPr>
            <a:r>
              <a:rPr lang="en-US" sz="7263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CONSISTENCY ISSUES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68970" y="8128599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0" y="0"/>
                </a:moveTo>
                <a:lnTo>
                  <a:pt x="8412822" y="0"/>
                </a:lnTo>
                <a:lnTo>
                  <a:pt x="8412822" y="6669074"/>
                </a:lnTo>
                <a:lnTo>
                  <a:pt x="0" y="66690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558586" y="-4064794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8412822" y="6669074"/>
                </a:moveTo>
                <a:lnTo>
                  <a:pt x="0" y="6669074"/>
                </a:lnTo>
                <a:lnTo>
                  <a:pt x="0" y="0"/>
                </a:lnTo>
                <a:lnTo>
                  <a:pt x="8412822" y="0"/>
                </a:lnTo>
                <a:lnTo>
                  <a:pt x="8412822" y="66690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2190390" y="9258300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11408209" y="1203047"/>
                </a:moveTo>
                <a:lnTo>
                  <a:pt x="0" y="1203047"/>
                </a:lnTo>
                <a:lnTo>
                  <a:pt x="0" y="0"/>
                </a:lnTo>
                <a:lnTo>
                  <a:pt x="11408209" y="0"/>
                </a:lnTo>
                <a:lnTo>
                  <a:pt x="11408209" y="12030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070181" y="-174347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0" y="0"/>
                </a:moveTo>
                <a:lnTo>
                  <a:pt x="11408209" y="0"/>
                </a:lnTo>
                <a:lnTo>
                  <a:pt x="11408209" y="1203047"/>
                </a:lnTo>
                <a:lnTo>
                  <a:pt x="0" y="1203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254817" y="9840774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0146030" y="446226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-127394" y="3344380"/>
            <a:ext cx="11110618" cy="510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5626" lvl="1" indent="-362813" algn="l">
              <a:lnSpc>
                <a:spcPts val="5814"/>
              </a:lnSpc>
              <a:buFont typeface="Arial"/>
              <a:buChar char="•"/>
            </a:pPr>
            <a:r>
              <a:rPr lang="en-US" sz="3360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Skills</a:t>
            </a:r>
            <a:r>
              <a:rPr lang="en-US" sz="3360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Knowledge of coding or relevant tools</a:t>
            </a:r>
          </a:p>
          <a:p>
            <a:pPr marL="725626" lvl="1" indent="-362813" algn="l">
              <a:lnSpc>
                <a:spcPts val="5814"/>
              </a:lnSpc>
              <a:buFont typeface="Arial"/>
              <a:buChar char="•"/>
            </a:pPr>
            <a:r>
              <a:rPr lang="en-US" sz="3360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Communication Skills</a:t>
            </a:r>
            <a:r>
              <a:rPr lang="en-US" sz="3360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Clear interaction with clients</a:t>
            </a:r>
          </a:p>
          <a:p>
            <a:pPr marL="725626" lvl="1" indent="-362813" algn="l">
              <a:lnSpc>
                <a:spcPts val="5814"/>
              </a:lnSpc>
              <a:buFont typeface="Arial"/>
              <a:buChar char="•"/>
            </a:pPr>
            <a:r>
              <a:rPr lang="en-US" sz="3360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Problem-Solving Skills</a:t>
            </a:r>
            <a:r>
              <a:rPr lang="en-US" sz="3360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Ability to handle challenges efficiently</a:t>
            </a:r>
          </a:p>
          <a:p>
            <a:pPr marL="725626" lvl="1" indent="-362813" algn="l">
              <a:lnSpc>
                <a:spcPts val="5814"/>
              </a:lnSpc>
              <a:buFont typeface="Arial"/>
              <a:buChar char="•"/>
            </a:pPr>
            <a:r>
              <a:rPr lang="en-US" sz="3360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Time Management</a:t>
            </a:r>
            <a:r>
              <a:rPr lang="en-US" sz="3360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Managing multiple projects effectively</a:t>
            </a:r>
          </a:p>
          <a:p>
            <a:pPr algn="l">
              <a:lnSpc>
                <a:spcPts val="5814"/>
              </a:lnSpc>
            </a:pPr>
            <a:endParaRPr lang="en-US" sz="3360">
              <a:solidFill>
                <a:srgbClr val="3331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1541223" y="2433460"/>
            <a:ext cx="6534158" cy="6534158"/>
          </a:xfrm>
          <a:custGeom>
            <a:avLst/>
            <a:gdLst/>
            <a:ahLst/>
            <a:cxnLst/>
            <a:rect l="l" t="t" r="r" b="b"/>
            <a:pathLst>
              <a:path w="6534158" h="6534158">
                <a:moveTo>
                  <a:pt x="0" y="0"/>
                </a:moveTo>
                <a:lnTo>
                  <a:pt x="6534158" y="0"/>
                </a:lnTo>
                <a:lnTo>
                  <a:pt x="6534158" y="6534158"/>
                </a:lnTo>
                <a:lnTo>
                  <a:pt x="0" y="65341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-615828" y="722477"/>
            <a:ext cx="16427556" cy="1282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68"/>
              </a:lnSpc>
            </a:pPr>
            <a:r>
              <a:rPr lang="en-US" sz="7263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SKILLS REQUIRED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68970" y="8128599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0" y="0"/>
                </a:moveTo>
                <a:lnTo>
                  <a:pt x="8412822" y="0"/>
                </a:lnTo>
                <a:lnTo>
                  <a:pt x="8412822" y="6669074"/>
                </a:lnTo>
                <a:lnTo>
                  <a:pt x="0" y="66690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558586" y="-4064794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8412822" y="6669074"/>
                </a:moveTo>
                <a:lnTo>
                  <a:pt x="0" y="6669074"/>
                </a:lnTo>
                <a:lnTo>
                  <a:pt x="0" y="0"/>
                </a:lnTo>
                <a:lnTo>
                  <a:pt x="8412822" y="0"/>
                </a:lnTo>
                <a:lnTo>
                  <a:pt x="8412822" y="66690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2190390" y="9258300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11408209" y="1203047"/>
                </a:moveTo>
                <a:lnTo>
                  <a:pt x="0" y="1203047"/>
                </a:lnTo>
                <a:lnTo>
                  <a:pt x="0" y="0"/>
                </a:lnTo>
                <a:lnTo>
                  <a:pt x="11408209" y="0"/>
                </a:lnTo>
                <a:lnTo>
                  <a:pt x="11408209" y="12030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070181" y="-174347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0" y="0"/>
                </a:moveTo>
                <a:lnTo>
                  <a:pt x="11408209" y="0"/>
                </a:lnTo>
                <a:lnTo>
                  <a:pt x="11408209" y="1203047"/>
                </a:lnTo>
                <a:lnTo>
                  <a:pt x="0" y="1203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254817" y="9840774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0146030" y="446226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10146030" y="3007405"/>
            <a:ext cx="7526204" cy="5033149"/>
          </a:xfrm>
          <a:custGeom>
            <a:avLst/>
            <a:gdLst/>
            <a:ahLst/>
            <a:cxnLst/>
            <a:rect l="l" t="t" r="r" b="b"/>
            <a:pathLst>
              <a:path w="7526204" h="5033149">
                <a:moveTo>
                  <a:pt x="0" y="0"/>
                </a:moveTo>
                <a:lnTo>
                  <a:pt x="7526204" y="0"/>
                </a:lnTo>
                <a:lnTo>
                  <a:pt x="7526204" y="5033148"/>
                </a:lnTo>
                <a:lnTo>
                  <a:pt x="0" y="50331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-238864" y="3389687"/>
            <a:ext cx="10884464" cy="4650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1" lvl="1" indent="-367031" algn="l">
              <a:lnSpc>
                <a:spcPts val="6324"/>
              </a:lnSpc>
              <a:buFont typeface="Arial"/>
              <a:buChar char="•"/>
            </a:pPr>
            <a:r>
              <a:rPr lang="en-US" sz="3400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Choose a Skill</a:t>
            </a:r>
            <a:r>
              <a:rPr lang="en-US" sz="3400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Focus on a marketable ability</a:t>
            </a:r>
          </a:p>
          <a:p>
            <a:pPr marL="734061" lvl="1" indent="-367031" algn="l">
              <a:lnSpc>
                <a:spcPts val="6324"/>
              </a:lnSpc>
              <a:buFont typeface="Arial"/>
              <a:buChar char="•"/>
            </a:pPr>
            <a:r>
              <a:rPr lang="en-US" sz="3400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Create a Portfolio </a:t>
            </a:r>
            <a:r>
              <a:rPr lang="en-US" sz="3400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Highlight your best work</a:t>
            </a:r>
          </a:p>
          <a:p>
            <a:pPr marL="734061" lvl="1" indent="-367031" algn="l">
              <a:lnSpc>
                <a:spcPts val="6324"/>
              </a:lnSpc>
              <a:buFont typeface="Arial"/>
              <a:buChar char="•"/>
            </a:pPr>
            <a:r>
              <a:rPr lang="en-US" sz="3400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Join Platforms </a:t>
            </a:r>
            <a:r>
              <a:rPr lang="en-US" sz="3400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Set up professional profiles</a:t>
            </a:r>
          </a:p>
          <a:p>
            <a:pPr marL="734061" lvl="1" indent="-367031" algn="l">
              <a:lnSpc>
                <a:spcPts val="6324"/>
              </a:lnSpc>
              <a:buFont typeface="Arial"/>
              <a:buChar char="•"/>
            </a:pPr>
            <a:r>
              <a:rPr lang="en-US" sz="3400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Find Clients </a:t>
            </a:r>
            <a:r>
              <a:rPr lang="en-US" sz="3400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 Apply for jobs or list services</a:t>
            </a:r>
          </a:p>
          <a:p>
            <a:pPr marL="734061" lvl="1" indent="-367031" algn="l">
              <a:lnSpc>
                <a:spcPts val="6324"/>
              </a:lnSpc>
              <a:buFont typeface="Arial"/>
              <a:buChar char="•"/>
            </a:pPr>
            <a:r>
              <a:rPr lang="en-US" sz="3400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Deliver Quality</a:t>
            </a:r>
            <a:r>
              <a:rPr lang="en-US" sz="3400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Build trust and long-term clients</a:t>
            </a:r>
          </a:p>
          <a:p>
            <a:pPr algn="l">
              <a:lnSpc>
                <a:spcPts val="5394"/>
              </a:lnSpc>
            </a:pPr>
            <a:endParaRPr lang="en-US" sz="3400">
              <a:solidFill>
                <a:srgbClr val="3331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05210" y="1127707"/>
            <a:ext cx="16427556" cy="1282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68"/>
              </a:lnSpc>
            </a:pPr>
            <a:r>
              <a:rPr lang="en-US" sz="7263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HOW TO START FREELANCING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68970" y="8128599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0" y="0"/>
                </a:moveTo>
                <a:lnTo>
                  <a:pt x="8412822" y="0"/>
                </a:lnTo>
                <a:lnTo>
                  <a:pt x="8412822" y="6669074"/>
                </a:lnTo>
                <a:lnTo>
                  <a:pt x="0" y="66690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558586" y="-4064794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8412822" y="6669074"/>
                </a:moveTo>
                <a:lnTo>
                  <a:pt x="0" y="6669074"/>
                </a:lnTo>
                <a:lnTo>
                  <a:pt x="0" y="0"/>
                </a:lnTo>
                <a:lnTo>
                  <a:pt x="8412822" y="0"/>
                </a:lnTo>
                <a:lnTo>
                  <a:pt x="8412822" y="66690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2190390" y="9258300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11408209" y="1203047"/>
                </a:moveTo>
                <a:lnTo>
                  <a:pt x="0" y="1203047"/>
                </a:lnTo>
                <a:lnTo>
                  <a:pt x="0" y="0"/>
                </a:lnTo>
                <a:lnTo>
                  <a:pt x="11408209" y="0"/>
                </a:lnTo>
                <a:lnTo>
                  <a:pt x="11408209" y="12030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070181" y="-174347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0" y="0"/>
                </a:moveTo>
                <a:lnTo>
                  <a:pt x="11408209" y="0"/>
                </a:lnTo>
                <a:lnTo>
                  <a:pt x="11408209" y="1203047"/>
                </a:lnTo>
                <a:lnTo>
                  <a:pt x="0" y="1203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254817" y="9840774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0146030" y="446226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8839200" y="2843645"/>
            <a:ext cx="8686489" cy="5409235"/>
          </a:xfrm>
          <a:custGeom>
            <a:avLst/>
            <a:gdLst/>
            <a:ahLst/>
            <a:cxnLst/>
            <a:rect l="l" t="t" r="r" b="b"/>
            <a:pathLst>
              <a:path w="8686489" h="5409235">
                <a:moveTo>
                  <a:pt x="0" y="0"/>
                </a:moveTo>
                <a:lnTo>
                  <a:pt x="8686489" y="0"/>
                </a:lnTo>
                <a:lnTo>
                  <a:pt x="8686489" y="5409234"/>
                </a:lnTo>
                <a:lnTo>
                  <a:pt x="0" y="54092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052" b="-11269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52400" y="2890701"/>
            <a:ext cx="7696199" cy="5054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21088" lvl="1" indent="-410544" algn="l">
              <a:lnSpc>
                <a:spcPts val="6655"/>
              </a:lnSpc>
              <a:buFont typeface="Arial"/>
              <a:buChar char="•"/>
            </a:pPr>
            <a:r>
              <a:rPr lang="en-US" sz="3803" dirty="0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a strong profile</a:t>
            </a:r>
          </a:p>
          <a:p>
            <a:pPr marL="821088" lvl="1" indent="-410544" algn="l">
              <a:lnSpc>
                <a:spcPts val="6655"/>
              </a:lnSpc>
              <a:buFont typeface="Arial"/>
              <a:buChar char="•"/>
            </a:pPr>
            <a:r>
              <a:rPr lang="en-US" sz="3803" dirty="0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Communicate clearly</a:t>
            </a:r>
          </a:p>
          <a:p>
            <a:pPr marL="821088" lvl="1" indent="-410544" algn="l">
              <a:lnSpc>
                <a:spcPts val="6655"/>
              </a:lnSpc>
              <a:buFont typeface="Arial"/>
              <a:buChar char="•"/>
            </a:pPr>
            <a:r>
              <a:rPr lang="en-US" sz="3803" dirty="0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Keep learning new skills</a:t>
            </a:r>
          </a:p>
          <a:p>
            <a:pPr marL="821088" lvl="1" indent="-410544" algn="l">
              <a:lnSpc>
                <a:spcPts val="6655"/>
              </a:lnSpc>
              <a:buFont typeface="Arial"/>
              <a:buChar char="•"/>
            </a:pPr>
            <a:r>
              <a:rPr lang="en-US" sz="3803" dirty="0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 quality work</a:t>
            </a:r>
          </a:p>
          <a:p>
            <a:pPr marL="821088" lvl="1" indent="-410544" algn="l">
              <a:lnSpc>
                <a:spcPts val="6655"/>
              </a:lnSpc>
              <a:buFont typeface="Arial"/>
              <a:buChar char="•"/>
            </a:pPr>
            <a:r>
              <a:rPr lang="en-US" sz="3803" dirty="0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Stay consistent</a:t>
            </a:r>
          </a:p>
          <a:p>
            <a:pPr algn="l">
              <a:lnSpc>
                <a:spcPts val="6655"/>
              </a:lnSpc>
            </a:pPr>
            <a:endParaRPr lang="en-US" sz="3803" dirty="0">
              <a:solidFill>
                <a:srgbClr val="3331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04041" y="649980"/>
            <a:ext cx="16427556" cy="1282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68"/>
              </a:lnSpc>
            </a:pPr>
            <a:r>
              <a:rPr lang="en-US" sz="7263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TIPS FOR SUCCESS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68970" y="8128599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0" y="0"/>
                </a:moveTo>
                <a:lnTo>
                  <a:pt x="8412822" y="0"/>
                </a:lnTo>
                <a:lnTo>
                  <a:pt x="8412822" y="6669074"/>
                </a:lnTo>
                <a:lnTo>
                  <a:pt x="0" y="66690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558586" y="-4064794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8412822" y="6669074"/>
                </a:moveTo>
                <a:lnTo>
                  <a:pt x="0" y="6669074"/>
                </a:lnTo>
                <a:lnTo>
                  <a:pt x="0" y="0"/>
                </a:lnTo>
                <a:lnTo>
                  <a:pt x="8412822" y="0"/>
                </a:lnTo>
                <a:lnTo>
                  <a:pt x="8412822" y="66690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2190390" y="9258300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11408209" y="1203047"/>
                </a:moveTo>
                <a:lnTo>
                  <a:pt x="0" y="1203047"/>
                </a:lnTo>
                <a:lnTo>
                  <a:pt x="0" y="0"/>
                </a:lnTo>
                <a:lnTo>
                  <a:pt x="11408209" y="0"/>
                </a:lnTo>
                <a:lnTo>
                  <a:pt x="11408209" y="12030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070181" y="-174347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0" y="0"/>
                </a:moveTo>
                <a:lnTo>
                  <a:pt x="11408209" y="0"/>
                </a:lnTo>
                <a:lnTo>
                  <a:pt x="11408209" y="1203047"/>
                </a:lnTo>
                <a:lnTo>
                  <a:pt x="0" y="1203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254817" y="9840774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0146030" y="446226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9611606" y="3050042"/>
            <a:ext cx="8189119" cy="4687374"/>
          </a:xfrm>
          <a:custGeom>
            <a:avLst/>
            <a:gdLst/>
            <a:ahLst/>
            <a:cxnLst/>
            <a:rect l="l" t="t" r="r" b="b"/>
            <a:pathLst>
              <a:path w="8189119" h="4687374">
                <a:moveTo>
                  <a:pt x="0" y="0"/>
                </a:moveTo>
                <a:lnTo>
                  <a:pt x="8189118" y="0"/>
                </a:lnTo>
                <a:lnTo>
                  <a:pt x="8189118" y="4687374"/>
                </a:lnTo>
                <a:lnTo>
                  <a:pt x="0" y="46873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0" y="3095835"/>
            <a:ext cx="10884464" cy="5006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5187" lvl="1" indent="-442594" algn="l">
              <a:lnSpc>
                <a:spcPts val="6600"/>
              </a:lnSpc>
              <a:buFont typeface="Arial"/>
              <a:buChar char="•"/>
            </a:pPr>
            <a:r>
              <a:rPr lang="en-US" sz="40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Growing digital economy</a:t>
            </a:r>
          </a:p>
          <a:p>
            <a:pPr marL="885187" lvl="1" indent="-442594" algn="l">
              <a:lnSpc>
                <a:spcPts val="6600"/>
              </a:lnSpc>
              <a:buFont typeface="Arial"/>
              <a:buChar char="•"/>
            </a:pPr>
            <a:r>
              <a:rPr lang="en-US" sz="40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remote work opportunities</a:t>
            </a:r>
          </a:p>
          <a:p>
            <a:pPr marL="885187" lvl="1" indent="-442594" algn="l">
              <a:lnSpc>
                <a:spcPts val="6600"/>
              </a:lnSpc>
              <a:buFont typeface="Arial"/>
              <a:buChar char="•"/>
            </a:pPr>
            <a:r>
              <a:rPr lang="en-US" sz="40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Rise of AI and new technologies</a:t>
            </a:r>
          </a:p>
          <a:p>
            <a:pPr marL="885187" lvl="1" indent="-442594" algn="l">
              <a:lnSpc>
                <a:spcPts val="6600"/>
              </a:lnSpc>
              <a:buFont typeface="Arial"/>
              <a:buChar char="•"/>
            </a:pPr>
            <a:r>
              <a:rPr lang="en-US" sz="40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Access to global clients</a:t>
            </a:r>
          </a:p>
          <a:p>
            <a:pPr marL="885187" lvl="1" indent="-442594" algn="l">
              <a:lnSpc>
                <a:spcPts val="6600"/>
              </a:lnSpc>
              <a:buFont typeface="Arial"/>
              <a:buChar char="•"/>
            </a:pPr>
            <a:r>
              <a:rPr lang="en-US" sz="409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future growth</a:t>
            </a:r>
          </a:p>
          <a:p>
            <a:pPr algn="l">
              <a:lnSpc>
                <a:spcPts val="6600"/>
              </a:lnSpc>
            </a:pPr>
            <a:endParaRPr lang="en-US" sz="4099">
              <a:solidFill>
                <a:srgbClr val="3331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21135" y="847725"/>
            <a:ext cx="16427556" cy="1282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68"/>
              </a:lnSpc>
            </a:pPr>
            <a:r>
              <a:rPr lang="en-US" sz="7263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OF FREELANCING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868970" y="8128599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0" y="0"/>
                </a:moveTo>
                <a:lnTo>
                  <a:pt x="8412822" y="0"/>
                </a:lnTo>
                <a:lnTo>
                  <a:pt x="8412822" y="6669074"/>
                </a:lnTo>
                <a:lnTo>
                  <a:pt x="0" y="66690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558586" y="-4064794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8412822" y="6669074"/>
                </a:moveTo>
                <a:lnTo>
                  <a:pt x="0" y="6669074"/>
                </a:lnTo>
                <a:lnTo>
                  <a:pt x="0" y="0"/>
                </a:lnTo>
                <a:lnTo>
                  <a:pt x="8412822" y="0"/>
                </a:lnTo>
                <a:lnTo>
                  <a:pt x="8412822" y="66690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2190390" y="9258300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11408209" y="1203047"/>
                </a:moveTo>
                <a:lnTo>
                  <a:pt x="0" y="1203047"/>
                </a:lnTo>
                <a:lnTo>
                  <a:pt x="0" y="0"/>
                </a:lnTo>
                <a:lnTo>
                  <a:pt x="11408209" y="0"/>
                </a:lnTo>
                <a:lnTo>
                  <a:pt x="11408209" y="12030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070181" y="-174347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0" y="0"/>
                </a:moveTo>
                <a:lnTo>
                  <a:pt x="11408209" y="0"/>
                </a:lnTo>
                <a:lnTo>
                  <a:pt x="11408209" y="1203047"/>
                </a:lnTo>
                <a:lnTo>
                  <a:pt x="0" y="1203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254817" y="9840774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0146030" y="446226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-104153" y="3463430"/>
            <a:ext cx="13973122" cy="3861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2070" lvl="1" indent="-471035" algn="l">
              <a:lnSpc>
                <a:spcPts val="6108"/>
              </a:lnSpc>
              <a:buFont typeface="Arial"/>
              <a:buChar char="•"/>
            </a:pPr>
            <a:r>
              <a:rPr lang="en-US" sz="4363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Flexible way of working</a:t>
            </a:r>
          </a:p>
          <a:p>
            <a:pPr marL="942070" lvl="1" indent="-471035" algn="l">
              <a:lnSpc>
                <a:spcPts val="6108"/>
              </a:lnSpc>
              <a:buFont typeface="Arial"/>
              <a:buChar char="•"/>
            </a:pPr>
            <a:r>
              <a:rPr lang="en-US" sz="4363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Multiple income opportunities</a:t>
            </a:r>
          </a:p>
          <a:p>
            <a:pPr marL="942070" lvl="1" indent="-471035" algn="l">
              <a:lnSpc>
                <a:spcPts val="6108"/>
              </a:lnSpc>
              <a:buFont typeface="Arial"/>
              <a:buChar char="•"/>
            </a:pPr>
            <a:r>
              <a:rPr lang="en-US" sz="4363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Growing career option</a:t>
            </a:r>
          </a:p>
          <a:p>
            <a:pPr marL="942070" lvl="1" indent="-471035" algn="l">
              <a:lnSpc>
                <a:spcPts val="6108"/>
              </a:lnSpc>
              <a:buFont typeface="Arial"/>
              <a:buChar char="•"/>
            </a:pPr>
            <a:r>
              <a:rPr lang="en-US" sz="4363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skills and consistency</a:t>
            </a:r>
          </a:p>
          <a:p>
            <a:pPr algn="l">
              <a:lnSpc>
                <a:spcPts val="6108"/>
              </a:lnSpc>
            </a:pPr>
            <a:endParaRPr lang="en-US" sz="4363">
              <a:solidFill>
                <a:srgbClr val="3331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27483" y="618132"/>
            <a:ext cx="16427556" cy="1282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68"/>
              </a:lnSpc>
            </a:pPr>
            <a:r>
              <a:rPr lang="en-US" sz="7263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433764" y="7682720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0" y="0"/>
                </a:moveTo>
                <a:lnTo>
                  <a:pt x="8412822" y="0"/>
                </a:lnTo>
                <a:lnTo>
                  <a:pt x="8412822" y="6669074"/>
                </a:lnTo>
                <a:lnTo>
                  <a:pt x="0" y="66690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558586" y="-4064794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8412822" y="6669074"/>
                </a:moveTo>
                <a:lnTo>
                  <a:pt x="0" y="6669074"/>
                </a:lnTo>
                <a:lnTo>
                  <a:pt x="0" y="0"/>
                </a:lnTo>
                <a:lnTo>
                  <a:pt x="8412822" y="0"/>
                </a:lnTo>
                <a:lnTo>
                  <a:pt x="8412822" y="66690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2190390" y="9258300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11408209" y="1203047"/>
                </a:moveTo>
                <a:lnTo>
                  <a:pt x="0" y="1203047"/>
                </a:lnTo>
                <a:lnTo>
                  <a:pt x="0" y="0"/>
                </a:lnTo>
                <a:lnTo>
                  <a:pt x="11408209" y="0"/>
                </a:lnTo>
                <a:lnTo>
                  <a:pt x="11408209" y="12030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070181" y="-174347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0" y="0"/>
                </a:moveTo>
                <a:lnTo>
                  <a:pt x="11408209" y="0"/>
                </a:lnTo>
                <a:lnTo>
                  <a:pt x="11408209" y="1203047"/>
                </a:lnTo>
                <a:lnTo>
                  <a:pt x="0" y="1203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644288" y="822583"/>
            <a:ext cx="10222351" cy="1103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52"/>
              </a:lnSpc>
            </a:pPr>
            <a:r>
              <a:rPr lang="en-US" sz="7200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QNA SESSION</a:t>
            </a:r>
          </a:p>
        </p:txBody>
      </p:sp>
      <p:sp>
        <p:nvSpPr>
          <p:cNvPr id="7" name="AutoShape 7"/>
          <p:cNvSpPr/>
          <p:nvPr/>
        </p:nvSpPr>
        <p:spPr>
          <a:xfrm>
            <a:off x="4254817" y="9840774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10146030" y="446226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-731693" y="3318728"/>
            <a:ext cx="13171859" cy="590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23"/>
              </a:lnSpc>
            </a:pPr>
            <a:r>
              <a:rPr lang="en-US" sz="3813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HAVE YOU EVER TRIED FREELANCING?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44475" y="3242528"/>
            <a:ext cx="584225" cy="64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1757" y="4501515"/>
            <a:ext cx="584225" cy="64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b="1">
                <a:solidFill>
                  <a:srgbClr val="333137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4623977"/>
            <a:ext cx="12869298" cy="1143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23"/>
              </a:lnSpc>
            </a:pPr>
            <a:r>
              <a:rPr lang="en-US" sz="3813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DO YOU THINK AI IS CHANGING FREELANCING?</a:t>
            </a:r>
          </a:p>
          <a:p>
            <a:pPr algn="ctr">
              <a:lnSpc>
                <a:spcPts val="4423"/>
              </a:lnSpc>
            </a:pPr>
            <a:endParaRPr lang="en-US" sz="3813">
              <a:solidFill>
                <a:srgbClr val="3331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DD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433764" y="7682720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0" y="0"/>
                </a:moveTo>
                <a:lnTo>
                  <a:pt x="8412822" y="0"/>
                </a:lnTo>
                <a:lnTo>
                  <a:pt x="8412822" y="6669074"/>
                </a:lnTo>
                <a:lnTo>
                  <a:pt x="0" y="66690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558586" y="-4064794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8412822" y="6669074"/>
                </a:moveTo>
                <a:lnTo>
                  <a:pt x="0" y="6669074"/>
                </a:lnTo>
                <a:lnTo>
                  <a:pt x="0" y="0"/>
                </a:lnTo>
                <a:lnTo>
                  <a:pt x="8412822" y="0"/>
                </a:lnTo>
                <a:lnTo>
                  <a:pt x="8412822" y="6669074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2190390" y="9258300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11408209" y="1203047"/>
                </a:moveTo>
                <a:lnTo>
                  <a:pt x="0" y="1203047"/>
                </a:lnTo>
                <a:lnTo>
                  <a:pt x="0" y="0"/>
                </a:lnTo>
                <a:lnTo>
                  <a:pt x="11408209" y="0"/>
                </a:lnTo>
                <a:lnTo>
                  <a:pt x="11408209" y="120304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070181" y="-174347"/>
            <a:ext cx="11408209" cy="1203047"/>
          </a:xfrm>
          <a:custGeom>
            <a:avLst/>
            <a:gdLst/>
            <a:ahLst/>
            <a:cxnLst/>
            <a:rect l="l" t="t" r="r" b="b"/>
            <a:pathLst>
              <a:path w="11408209" h="1203047">
                <a:moveTo>
                  <a:pt x="0" y="0"/>
                </a:moveTo>
                <a:lnTo>
                  <a:pt x="11408209" y="0"/>
                </a:lnTo>
                <a:lnTo>
                  <a:pt x="11408209" y="1203047"/>
                </a:lnTo>
                <a:lnTo>
                  <a:pt x="0" y="12030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392627" y="3205836"/>
            <a:ext cx="13502745" cy="3856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17"/>
              </a:lnSpc>
            </a:pPr>
            <a:r>
              <a:rPr lang="en-US" sz="1285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</a:t>
            </a:r>
          </a:p>
          <a:p>
            <a:pPr algn="ctr">
              <a:lnSpc>
                <a:spcPts val="14917"/>
              </a:lnSpc>
            </a:pPr>
            <a:r>
              <a:rPr lang="en-US" sz="12859">
                <a:solidFill>
                  <a:srgbClr val="3331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</a:t>
            </a:r>
          </a:p>
        </p:txBody>
      </p:sp>
      <p:sp>
        <p:nvSpPr>
          <p:cNvPr id="7" name="AutoShape 7"/>
          <p:cNvSpPr/>
          <p:nvPr/>
        </p:nvSpPr>
        <p:spPr>
          <a:xfrm>
            <a:off x="4254817" y="9840774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10146030" y="446226"/>
            <a:ext cx="3827092" cy="0"/>
          </a:xfrm>
          <a:prstGeom prst="line">
            <a:avLst/>
          </a:prstGeom>
          <a:ln w="57150" cap="flat">
            <a:solidFill>
              <a:srgbClr val="3331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12586164" y="7835120"/>
            <a:ext cx="8412822" cy="6669073"/>
          </a:xfrm>
          <a:custGeom>
            <a:avLst/>
            <a:gdLst/>
            <a:ahLst/>
            <a:cxnLst/>
            <a:rect l="l" t="t" r="r" b="b"/>
            <a:pathLst>
              <a:path w="8412822" h="6669073">
                <a:moveTo>
                  <a:pt x="0" y="0"/>
                </a:moveTo>
                <a:lnTo>
                  <a:pt x="8412822" y="0"/>
                </a:lnTo>
                <a:lnTo>
                  <a:pt x="8412822" y="6669074"/>
                </a:lnTo>
                <a:lnTo>
                  <a:pt x="0" y="66690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580</Words>
  <Application>Microsoft Office PowerPoint</Application>
  <PresentationFormat>Custom</PresentationFormat>
  <Paragraphs>119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Times New Roman</vt:lpstr>
      <vt:lpstr>Calibri</vt:lpstr>
      <vt:lpstr>Times New Roman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By Jonathan Patterson</dc:title>
  <cp:lastModifiedBy>shaban akhtar</cp:lastModifiedBy>
  <cp:revision>2</cp:revision>
  <dcterms:created xsi:type="dcterms:W3CDTF">2006-08-16T00:00:00Z</dcterms:created>
  <dcterms:modified xsi:type="dcterms:W3CDTF">2026-04-28T14:08:21Z</dcterms:modified>
  <dc:identifier>DAHH8er-GOc</dc:identifier>
</cp:coreProperties>
</file>